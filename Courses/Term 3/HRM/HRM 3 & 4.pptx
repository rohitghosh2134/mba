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507" r:id="rId3"/>
    <p:sldId id="508" r:id="rId4"/>
    <p:sldId id="509" r:id="rId5"/>
    <p:sldId id="530" r:id="rId6"/>
    <p:sldId id="510" r:id="rId7"/>
    <p:sldId id="511" r:id="rId8"/>
    <p:sldId id="531" r:id="rId9"/>
    <p:sldId id="535" r:id="rId10"/>
    <p:sldId id="532" r:id="rId11"/>
    <p:sldId id="512" r:id="rId12"/>
    <p:sldId id="536" r:id="rId13"/>
    <p:sldId id="533" r:id="rId14"/>
    <p:sldId id="540" r:id="rId15"/>
    <p:sldId id="537" r:id="rId16"/>
    <p:sldId id="538" r:id="rId17"/>
    <p:sldId id="539" r:id="rId18"/>
    <p:sldId id="54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146" autoAdjust="0"/>
  </p:normalViewPr>
  <p:slideViewPr>
    <p:cSldViewPr snapToGrid="0">
      <p:cViewPr varScale="1">
        <p:scale>
          <a:sx n="79" d="100"/>
          <a:sy n="79" d="100"/>
        </p:scale>
        <p:origin x="18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AB6FEF-3A04-4781-9D58-2D71D7E6FD59}" type="datetimeFigureOut">
              <a:rPr lang="en-IN" smtClean="0"/>
              <a:t>20-01-2026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524507-0EC8-4EA3-B273-996B329D69FE}" type="slidenum">
              <a:rPr lang="en-IN" smtClean="0"/>
              <a:t>‹#›</a:t>
            </a:fld>
            <a:endParaRPr lang="en-IN"/>
          </a:p>
        </p:txBody>
      </p:sp>
    </p:spTree>
    <p:extLst>
      <p:ext uri="{BB962C8B-B14F-4D97-AF65-F5344CB8AC3E}">
        <p14:creationId xmlns:p14="http://schemas.microsoft.com/office/powerpoint/2010/main" val="1942161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timesofindia.indiatimes.com/articleshow/126397378.cms?utm_source=chatgpt.com&amp;utm_source=contentofinterest&amp;utm_medium=text&amp;utm_campaign=cppst" TargetMode="External" /><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336F4-E27D-F157-7835-301F0DC59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EBE75-470A-50BA-C849-E79E8081B7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619DC5-CFC0-5714-49A5-72CCE0C2C1BD}"/>
              </a:ext>
            </a:extLst>
          </p:cNvPr>
          <p:cNvSpPr>
            <a:spLocks noGrp="1"/>
          </p:cNvSpPr>
          <p:nvPr>
            <p:ph type="body" idx="1"/>
          </p:nvPr>
        </p:nvSpPr>
        <p:spPr/>
        <p:txBody>
          <a:bodyPr/>
          <a:lstStyle/>
          <a:p>
            <a:pPr marL="228600" indent="-228600">
              <a:buAutoNum type="arabicPeriod"/>
            </a:pPr>
            <a:r>
              <a:rPr lang="en-IN" dirty="0"/>
              <a:t>What is happening here?</a:t>
            </a:r>
          </a:p>
          <a:p>
            <a:pPr marL="228600" indent="-228600">
              <a:buAutoNum type="arabicPeriod"/>
            </a:pPr>
            <a:r>
              <a:rPr lang="en-IN" b="0" dirty="0"/>
              <a:t>Why is this happening?</a:t>
            </a:r>
          </a:p>
          <a:p>
            <a:pPr marL="0" indent="0">
              <a:buNone/>
            </a:pPr>
            <a:endParaRPr lang="en-US" dirty="0"/>
          </a:p>
          <a:p>
            <a:pPr marL="0" indent="0">
              <a:buNone/>
            </a:pPr>
            <a:r>
              <a:rPr lang="en-US" dirty="0"/>
              <a:t>So Amazon is not shrinking because business is failing.</a:t>
            </a:r>
            <a:br>
              <a:rPr lang="en-US" dirty="0"/>
            </a:br>
            <a:r>
              <a:rPr lang="en-US" dirty="0"/>
              <a:t>It is </a:t>
            </a:r>
            <a:r>
              <a:rPr lang="en-US" i="1" dirty="0"/>
              <a:t>restructuring</a:t>
            </a:r>
            <a:r>
              <a:rPr lang="en-US" dirty="0"/>
              <a:t> because technology has changed how work is done - </a:t>
            </a:r>
            <a:r>
              <a:rPr lang="en-US" b="0" dirty="0"/>
              <a:t>This is reactive workforce planning — responding to technological and strategic change</a:t>
            </a:r>
          </a:p>
          <a:p>
            <a:pPr marL="0" indent="0">
              <a:buNone/>
            </a:pPr>
            <a:endParaRPr lang="en-US" b="0" dirty="0"/>
          </a:p>
          <a:p>
            <a:pPr marL="0" indent="0">
              <a:buNone/>
            </a:pPr>
            <a:r>
              <a:rPr lang="en-US" dirty="0"/>
              <a:t>But if companies are laying off, why is demand increasing?</a:t>
            </a:r>
          </a:p>
          <a:p>
            <a:pPr marL="0" indent="0">
              <a:buNone/>
            </a:pPr>
            <a:endParaRPr lang="en-US" b="0" dirty="0"/>
          </a:p>
          <a:p>
            <a:r>
              <a:rPr lang="en-US" dirty="0"/>
              <a:t>New types of jobs are emerging</a:t>
            </a:r>
          </a:p>
          <a:p>
            <a:r>
              <a:rPr lang="en-US" dirty="0"/>
              <a:t>Companies still need people, but with different skills</a:t>
            </a:r>
          </a:p>
          <a:p>
            <a:r>
              <a:rPr lang="en-US" dirty="0"/>
              <a:t>Not all roles are being automated</a:t>
            </a:r>
          </a:p>
          <a:p>
            <a:pPr marL="0" indent="0">
              <a:buNone/>
            </a:pPr>
            <a:endParaRPr lang="en-US" b="0" dirty="0"/>
          </a:p>
          <a:p>
            <a:pPr marL="0" indent="0">
              <a:buNone/>
            </a:pPr>
            <a:r>
              <a:rPr lang="en-US" dirty="0"/>
              <a:t>So what kind of workers are in demand?</a:t>
            </a:r>
            <a:endParaRPr lang="en-US" b="0" dirty="0"/>
          </a:p>
          <a:p>
            <a:pPr marL="0" indent="0">
              <a:buNone/>
            </a:pPr>
            <a:endParaRPr lang="en-US" b="0" dirty="0"/>
          </a:p>
          <a:p>
            <a:pPr marL="0" indent="0">
              <a:buNone/>
            </a:pPr>
            <a:endParaRPr lang="en-IN" b="0" dirty="0"/>
          </a:p>
          <a:p>
            <a:pPr marL="0" indent="0">
              <a:buNone/>
            </a:pPr>
            <a:r>
              <a:rPr lang="en-IN" b="0" dirty="0"/>
              <a:t>If you were the HR head --- </a:t>
            </a:r>
          </a:p>
          <a:p>
            <a:pPr marL="0" indent="0">
              <a:buNone/>
            </a:pPr>
            <a:r>
              <a:rPr lang="en-IN" dirty="0"/>
              <a:t>Forecast future skill needs</a:t>
            </a:r>
          </a:p>
          <a:p>
            <a:pPr marL="0" indent="0">
              <a:buNone/>
            </a:pPr>
            <a:r>
              <a:rPr lang="en-US" dirty="0"/>
              <a:t>Identify roles at risk / becoming redundant</a:t>
            </a:r>
          </a:p>
          <a:p>
            <a:pPr marL="0" indent="0">
              <a:buNone/>
            </a:pPr>
            <a:r>
              <a:rPr lang="en-US" dirty="0"/>
              <a:t>Decide: who to reskill vs. who to redeploy vs. who to exit</a:t>
            </a:r>
          </a:p>
          <a:p>
            <a:pPr marL="0" indent="0">
              <a:buNone/>
            </a:pPr>
            <a:r>
              <a:rPr lang="en-US" dirty="0"/>
              <a:t>Plan recruitment for new critical skills</a:t>
            </a:r>
          </a:p>
          <a:p>
            <a:pPr marL="0" indent="0">
              <a:buNone/>
            </a:pPr>
            <a:r>
              <a:rPr lang="en-IN" dirty="0"/>
              <a:t>Design transition &amp; support systems</a:t>
            </a:r>
            <a:endParaRPr lang="en-IN" b="0" dirty="0"/>
          </a:p>
        </p:txBody>
      </p:sp>
      <p:sp>
        <p:nvSpPr>
          <p:cNvPr id="4" name="Slide Number Placeholder 3">
            <a:extLst>
              <a:ext uri="{FF2B5EF4-FFF2-40B4-BE49-F238E27FC236}">
                <a16:creationId xmlns:a16="http://schemas.microsoft.com/office/drawing/2014/main" id="{C4501094-E60A-12A9-F06F-66822AB6D5BC}"/>
              </a:ext>
            </a:extLst>
          </p:cNvPr>
          <p:cNvSpPr>
            <a:spLocks noGrp="1"/>
          </p:cNvSpPr>
          <p:nvPr>
            <p:ph type="sldNum" sz="quarter" idx="5"/>
          </p:nvPr>
        </p:nvSpPr>
        <p:spPr/>
        <p:txBody>
          <a:bodyPr/>
          <a:lstStyle/>
          <a:p>
            <a:fld id="{BF524507-0EC8-4EA3-B273-996B329D69FE}" type="slidenum">
              <a:rPr lang="en-IN" smtClean="0"/>
              <a:t>2</a:t>
            </a:fld>
            <a:endParaRPr lang="en-IN"/>
          </a:p>
        </p:txBody>
      </p:sp>
    </p:spTree>
    <p:extLst>
      <p:ext uri="{BB962C8B-B14F-4D97-AF65-F5344CB8AC3E}">
        <p14:creationId xmlns:p14="http://schemas.microsoft.com/office/powerpoint/2010/main" val="17896927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05A10-8E3C-B52F-B8C7-33AD457BB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E5F1F-7C73-EC0B-D90A-9EDDA3533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EF49C-F244-88A4-4D37-5DC45D6A6317}"/>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B2E6383-9B38-B205-E23D-CB7AF3B40D43}"/>
              </a:ext>
            </a:extLst>
          </p:cNvPr>
          <p:cNvSpPr>
            <a:spLocks noGrp="1"/>
          </p:cNvSpPr>
          <p:nvPr>
            <p:ph type="sldNum" sz="quarter" idx="5"/>
          </p:nvPr>
        </p:nvSpPr>
        <p:spPr/>
        <p:txBody>
          <a:bodyPr/>
          <a:lstStyle/>
          <a:p>
            <a:fld id="{BF524507-0EC8-4EA3-B273-996B329D69FE}" type="slidenum">
              <a:rPr lang="en-IN" smtClean="0"/>
              <a:t>3</a:t>
            </a:fld>
            <a:endParaRPr lang="en-IN"/>
          </a:p>
        </p:txBody>
      </p:sp>
    </p:spTree>
    <p:extLst>
      <p:ext uri="{BB962C8B-B14F-4D97-AF65-F5344CB8AC3E}">
        <p14:creationId xmlns:p14="http://schemas.microsoft.com/office/powerpoint/2010/main" val="4005351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ED6B0-ADAF-7177-6859-698A779A7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B9965-5D59-BFC2-85FE-22F8EC371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DC1B7A-DABB-0DCE-FDCB-7FECE5BCB0AB}"/>
              </a:ext>
            </a:extLst>
          </p:cNvPr>
          <p:cNvSpPr>
            <a:spLocks noGrp="1"/>
          </p:cNvSpPr>
          <p:nvPr>
            <p:ph type="body" idx="1"/>
          </p:nvPr>
        </p:nvSpPr>
        <p:spPr/>
        <p:txBody>
          <a:bodyPr/>
          <a:lstStyle/>
          <a:p>
            <a:r>
              <a:rPr lang="en-US" b="0" dirty="0"/>
              <a:t>Growth - </a:t>
            </a:r>
            <a:r>
              <a:rPr lang="en-US" dirty="0"/>
              <a:t>The quick commerce market — including players like </a:t>
            </a:r>
            <a:r>
              <a:rPr lang="en-US" b="0" dirty="0" err="1"/>
              <a:t>Blinkit</a:t>
            </a:r>
            <a:r>
              <a:rPr lang="en-US" b="0" dirty="0"/>
              <a:t>, </a:t>
            </a:r>
            <a:r>
              <a:rPr lang="en-US" b="0" dirty="0" err="1"/>
              <a:t>Zepto</a:t>
            </a:r>
            <a:r>
              <a:rPr lang="en-US" b="0" dirty="0"/>
              <a:t>, and Swiggy </a:t>
            </a:r>
            <a:r>
              <a:rPr lang="en-US" b="0" dirty="0" err="1"/>
              <a:t>Instamart</a:t>
            </a:r>
            <a:r>
              <a:rPr lang="en-US" b="0" dirty="0"/>
              <a:t> — is booming</a:t>
            </a:r>
            <a:r>
              <a:rPr lang="en-US" dirty="0"/>
              <a:t>, attracting heavy investment and rapid expansion of dark stores and logistics networks. </a:t>
            </a:r>
          </a:p>
          <a:p>
            <a:endParaRPr lang="en-US" b="0" dirty="0"/>
          </a:p>
          <a:p>
            <a:r>
              <a:rPr lang="en-US" sz="1200" b="0" i="0" kern="1200" dirty="0" err="1">
                <a:solidFill>
                  <a:schemeClr val="tx1"/>
                </a:solidFill>
                <a:effectLst/>
                <a:latin typeface="+mn-lt"/>
                <a:ea typeface="+mn-ea"/>
                <a:cs typeface="+mn-cs"/>
              </a:rPr>
              <a:t>Instamart</a:t>
            </a:r>
            <a:r>
              <a:rPr lang="en-US" sz="1200" b="0" i="0" kern="1200" dirty="0">
                <a:solidFill>
                  <a:schemeClr val="tx1"/>
                </a:solidFill>
                <a:effectLst/>
                <a:latin typeface="+mn-lt"/>
                <a:ea typeface="+mn-ea"/>
                <a:cs typeface="+mn-cs"/>
              </a:rPr>
              <a:t> and the Young India Skills University on Tuesday s ..</a:t>
            </a:r>
            <a:endParaRPr lang="en-US" dirty="0"/>
          </a:p>
          <a:p>
            <a:r>
              <a:rPr lang="en-US" sz="1200" b="0" i="0" kern="1200" dirty="0">
                <a:solidFill>
                  <a:schemeClr val="tx1"/>
                </a:solidFill>
                <a:effectLst/>
                <a:latin typeface="+mn-lt"/>
                <a:ea typeface="+mn-ea"/>
                <a:cs typeface="+mn-cs"/>
              </a:rPr>
              <a:t>Read more at:</a:t>
            </a:r>
            <a:br>
              <a:rPr lang="en-US" sz="1200" b="0" i="0"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hlinkClick r:id="rId3"/>
              </a:rPr>
              <a:t>http://timesofindia.indiatimes.com/articleshow/126397378.cms?utm_source=chatgpt.com&amp;utm_source=contentofinterest&amp;utm_medium=text&amp;utm_campaign=cppst</a:t>
            </a:r>
            <a:endParaRPr lang="en-US" sz="1200" b="0" i="0" kern="1200" dirty="0">
              <a:solidFill>
                <a:schemeClr val="tx1"/>
              </a:solidFill>
              <a:effectLst/>
              <a:latin typeface="+mn-lt"/>
              <a:ea typeface="+mn-ea"/>
              <a:cs typeface="+mn-cs"/>
            </a:endParaRPr>
          </a:p>
          <a:p>
            <a:endParaRPr lang="en-IN" b="0" dirty="0"/>
          </a:p>
          <a:p>
            <a:r>
              <a:rPr lang="en-IN" b="0" dirty="0"/>
              <a:t>Rapido in early launched 2015 – 2016 </a:t>
            </a:r>
            <a:r>
              <a:rPr lang="en-US" b="0" dirty="0"/>
              <a:t>It was an early-stage platform when no major competitor existed (at the time)</a:t>
            </a:r>
          </a:p>
          <a:p>
            <a:r>
              <a:rPr lang="en-US" b="0" dirty="0"/>
              <a:t>Hyperlocal mobility startup </a:t>
            </a:r>
          </a:p>
          <a:p>
            <a:r>
              <a:rPr lang="en-US" b="0" dirty="0"/>
              <a:t>This fits the introduction phase: new business model, uncertain market, tiny workforce planning.</a:t>
            </a:r>
            <a:endParaRPr lang="en-IN" b="0" dirty="0"/>
          </a:p>
          <a:p>
            <a:r>
              <a:rPr lang="en-IN" b="0" dirty="0"/>
              <a:t>Rapido today surpasses Uber, Ola in the two-wheeler segment.. And in four wheeler – Rapido 30 percent, uber 50, ola 20 </a:t>
            </a:r>
          </a:p>
          <a:p>
            <a:endParaRPr lang="en-IN" b="0" dirty="0"/>
          </a:p>
          <a:p>
            <a:r>
              <a:rPr lang="en-IN" b="0" dirty="0"/>
              <a:t>OLA – Employee count has dropped 57 percent in April 2024 while Uber, and Rapido workforce continues to expand </a:t>
            </a:r>
          </a:p>
          <a:p>
            <a:endParaRPr lang="en-IN" b="0" dirty="0"/>
          </a:p>
        </p:txBody>
      </p:sp>
      <p:sp>
        <p:nvSpPr>
          <p:cNvPr id="4" name="Slide Number Placeholder 3">
            <a:extLst>
              <a:ext uri="{FF2B5EF4-FFF2-40B4-BE49-F238E27FC236}">
                <a16:creationId xmlns:a16="http://schemas.microsoft.com/office/drawing/2014/main" id="{63AB7460-2E72-3F70-F7ED-1DB0FC78EE3C}"/>
              </a:ext>
            </a:extLst>
          </p:cNvPr>
          <p:cNvSpPr>
            <a:spLocks noGrp="1"/>
          </p:cNvSpPr>
          <p:nvPr>
            <p:ph type="sldNum" sz="quarter" idx="5"/>
          </p:nvPr>
        </p:nvSpPr>
        <p:spPr/>
        <p:txBody>
          <a:bodyPr/>
          <a:lstStyle/>
          <a:p>
            <a:fld id="{BF524507-0EC8-4EA3-B273-996B329D69FE}" type="slidenum">
              <a:rPr lang="en-IN" smtClean="0"/>
              <a:t>4</a:t>
            </a:fld>
            <a:endParaRPr lang="en-IN"/>
          </a:p>
        </p:txBody>
      </p:sp>
    </p:spTree>
    <p:extLst>
      <p:ext uri="{BB962C8B-B14F-4D97-AF65-F5344CB8AC3E}">
        <p14:creationId xmlns:p14="http://schemas.microsoft.com/office/powerpoint/2010/main" val="320160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E51B9-2C7C-1AF6-AA0B-68F49B0A0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C729E-888F-5CD7-B9B7-40E70EB00F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1A0CB-8068-2A79-F9E9-0FCAF26543CE}"/>
              </a:ext>
            </a:extLst>
          </p:cNvPr>
          <p:cNvSpPr>
            <a:spLocks noGrp="1"/>
          </p:cNvSpPr>
          <p:nvPr>
            <p:ph type="body" idx="1"/>
          </p:nvPr>
        </p:nvSpPr>
        <p:spPr/>
        <p:txBody>
          <a:bodyPr/>
          <a:lstStyle/>
          <a:p>
            <a:r>
              <a:rPr lang="en-US" dirty="0"/>
              <a:t>Strategy decides what kind of people are needed</a:t>
            </a:r>
          </a:p>
          <a:p>
            <a:r>
              <a:rPr lang="en-US" dirty="0"/>
              <a:t>When strategy changes, workforce must change</a:t>
            </a:r>
          </a:p>
          <a:p>
            <a:r>
              <a:rPr lang="en-US" dirty="0"/>
              <a:t>Growth needs hiring, decline needs restructuring, innovation needs new skills</a:t>
            </a:r>
          </a:p>
          <a:p>
            <a:endParaRPr lang="en-US" dirty="0"/>
          </a:p>
          <a:p>
            <a:endParaRPr lang="en-US" dirty="0"/>
          </a:p>
          <a:p>
            <a:r>
              <a:rPr lang="en-US" dirty="0"/>
              <a:t>In infancy → small, flexible teams</a:t>
            </a:r>
          </a:p>
          <a:p>
            <a:r>
              <a:rPr lang="en-US" dirty="0"/>
              <a:t>In growth → more hiring and specialization</a:t>
            </a:r>
          </a:p>
          <a:p>
            <a:r>
              <a:rPr lang="en-US" dirty="0"/>
              <a:t>In aging → restructuring, reskilling, or downsizing</a:t>
            </a:r>
          </a:p>
          <a:p>
            <a:endParaRPr lang="en-US" dirty="0"/>
          </a:p>
          <a:p>
            <a:endParaRPr lang="en-IN" b="0" dirty="0"/>
          </a:p>
        </p:txBody>
      </p:sp>
      <p:sp>
        <p:nvSpPr>
          <p:cNvPr id="4" name="Slide Number Placeholder 3">
            <a:extLst>
              <a:ext uri="{FF2B5EF4-FFF2-40B4-BE49-F238E27FC236}">
                <a16:creationId xmlns:a16="http://schemas.microsoft.com/office/drawing/2014/main" id="{F1FC2917-EF68-9EEC-8E44-32D3BDF37225}"/>
              </a:ext>
            </a:extLst>
          </p:cNvPr>
          <p:cNvSpPr>
            <a:spLocks noGrp="1"/>
          </p:cNvSpPr>
          <p:nvPr>
            <p:ph type="sldNum" sz="quarter" idx="5"/>
          </p:nvPr>
        </p:nvSpPr>
        <p:spPr/>
        <p:txBody>
          <a:bodyPr/>
          <a:lstStyle/>
          <a:p>
            <a:fld id="{BF524507-0EC8-4EA3-B273-996B329D69FE}" type="slidenum">
              <a:rPr lang="en-IN" smtClean="0"/>
              <a:t>5</a:t>
            </a:fld>
            <a:endParaRPr lang="en-IN"/>
          </a:p>
        </p:txBody>
      </p:sp>
    </p:spTree>
    <p:extLst>
      <p:ext uri="{BB962C8B-B14F-4D97-AF65-F5344CB8AC3E}">
        <p14:creationId xmlns:p14="http://schemas.microsoft.com/office/powerpoint/2010/main" val="4266495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F0A4A-0980-9742-5C2C-B47A83AA1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370BD-C428-1704-D2EE-8AB2FFF45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088B45-99E6-D427-FF85-B791919D751A}"/>
              </a:ext>
            </a:extLst>
          </p:cNvPr>
          <p:cNvSpPr>
            <a:spLocks noGrp="1"/>
          </p:cNvSpPr>
          <p:nvPr>
            <p:ph type="body" idx="1"/>
          </p:nvPr>
        </p:nvSpPr>
        <p:spPr/>
        <p:txBody>
          <a:bodyPr/>
          <a:lstStyle/>
          <a:p>
            <a:pPr marL="228600" indent="-228600">
              <a:buAutoNum type="arabicPeriod"/>
            </a:pPr>
            <a:r>
              <a:rPr lang="en-US" dirty="0"/>
              <a:t>Global economic pressures reduce IT spending by overseas clients, making Indian IT firms cautious about recruitment. Instead of expanding headcount, companies focus on controlling costs and reskilling current employees. Thus, workforce planning moves from hiring to capability building.</a:t>
            </a:r>
          </a:p>
          <a:p>
            <a:pPr marL="228600" indent="-228600">
              <a:buAutoNum type="arabicPeriod"/>
            </a:pPr>
            <a:r>
              <a:rPr lang="en-US" b="0" dirty="0"/>
              <a:t>It might sound dramatic, but according to the World Economic Forum’s Future of Jobs Report 2025, that’s the direction we’re headed. The report warns that 39% of core job skills will become outdated by 2030 because of the rapid evolution of technology, automation and changing business needs. </a:t>
            </a:r>
            <a:r>
              <a:rPr lang="en-US" sz="1200" b="0" i="0" kern="1200" dirty="0">
                <a:solidFill>
                  <a:schemeClr val="tx1"/>
                </a:solidFill>
                <a:effectLst/>
                <a:latin typeface="+mn-lt"/>
                <a:ea typeface="+mn-ea"/>
                <a:cs typeface="+mn-cs"/>
              </a:rPr>
              <a:t>Skills like critical thinking, creativity, emotional intelligence, and digital fluency are becoming the new currency of employment. On the flip side, repetitive, rules-based roles that once powered entire industries are losing their relevance. https://etedge-insights.com/technology/artificial-intelligence/careers-that-wont-survive-the-next-5-years-39-of-job-skills-will-be-obsolete-by-2030/</a:t>
            </a:r>
          </a:p>
          <a:p>
            <a:pPr marL="228600" indent="-228600">
              <a:buAutoNum type="arabicPeriod"/>
            </a:pPr>
            <a:r>
              <a:rPr lang="en-US" sz="1200" b="0" i="0" kern="1200" dirty="0">
                <a:solidFill>
                  <a:schemeClr val="tx1"/>
                </a:solidFill>
                <a:effectLst/>
                <a:latin typeface="+mn-lt"/>
                <a:ea typeface="+mn-ea"/>
                <a:cs typeface="+mn-cs"/>
              </a:rPr>
              <a:t>The Constitution of India and rules require reservation (affirmative action) for Scheduled Castes (SC) and Scheduled Tribes (ST) in public sector employment</a:t>
            </a:r>
          </a:p>
          <a:p>
            <a:r>
              <a:rPr lang="en-US" dirty="0"/>
              <a:t>Under the </a:t>
            </a:r>
            <a:r>
              <a:rPr lang="en-US" b="1" dirty="0"/>
              <a:t>Rights of Persons with Disabilities Act, 2016</a:t>
            </a:r>
            <a:r>
              <a:rPr lang="en-US" dirty="0"/>
              <a:t>, </a:t>
            </a:r>
            <a:r>
              <a:rPr lang="en-US" dirty="0" err="1"/>
              <a:t>organisations</a:t>
            </a:r>
            <a:r>
              <a:rPr lang="en-US" dirty="0"/>
              <a:t> with 20 or more employees must reserve at least </a:t>
            </a:r>
            <a:r>
              <a:rPr lang="en-US" b="1" dirty="0"/>
              <a:t>4% of jobs</a:t>
            </a:r>
            <a:r>
              <a:rPr lang="en-US" dirty="0"/>
              <a:t> for persons with benchmark disabilities, including:</a:t>
            </a:r>
          </a:p>
          <a:p>
            <a:r>
              <a:rPr lang="en-US" dirty="0"/>
              <a:t>Visual impairment</a:t>
            </a:r>
          </a:p>
          <a:p>
            <a:r>
              <a:rPr lang="en-US" dirty="0"/>
              <a:t>Hearing impairment</a:t>
            </a:r>
          </a:p>
          <a:p>
            <a:r>
              <a:rPr lang="en-US" dirty="0"/>
              <a:t>Locomotor disability</a:t>
            </a:r>
          </a:p>
          <a:p>
            <a:r>
              <a:rPr lang="en-US" dirty="0"/>
              <a:t>Intellectual disability</a:t>
            </a:r>
          </a:p>
          <a:p>
            <a:pPr marL="0" indent="0">
              <a:buNone/>
            </a:pPr>
            <a:r>
              <a:rPr lang="en-US" dirty="0"/>
              <a:t>Under the </a:t>
            </a:r>
            <a:r>
              <a:rPr lang="en-US" b="1" dirty="0"/>
              <a:t>Occupational Safety, Health and Working Conditions (OSH) Code, 2020, </a:t>
            </a:r>
            <a:r>
              <a:rPr lang="en-US" dirty="0"/>
              <a:t>The </a:t>
            </a:r>
            <a:r>
              <a:rPr lang="en-US" b="1" dirty="0"/>
              <a:t>new OSH Code generally </a:t>
            </a:r>
            <a:r>
              <a:rPr lang="en-US" b="1" i="1" dirty="0"/>
              <a:t>prohibits</a:t>
            </a:r>
            <a:r>
              <a:rPr lang="en-US" b="1" dirty="0"/>
              <a:t> engagement of contract </a:t>
            </a:r>
            <a:r>
              <a:rPr lang="en-US" b="1" dirty="0" err="1"/>
              <a:t>labour</a:t>
            </a:r>
            <a:r>
              <a:rPr lang="en-US" b="1" dirty="0"/>
              <a:t> in core activities</a:t>
            </a:r>
            <a:r>
              <a:rPr lang="en-US" dirty="0"/>
              <a:t>. This means that contract workers should not be used for permanent, essential business functions unless one of the </a:t>
            </a:r>
            <a:r>
              <a:rPr lang="en-US" i="1" dirty="0"/>
              <a:t>specified exceptions</a:t>
            </a:r>
            <a:r>
              <a:rPr lang="en-US" dirty="0"/>
              <a:t> applies (e.g., the nature of work is ordinarily done through contractors, intermittent task, or a sudden spike in workload requiring temporary help</a:t>
            </a:r>
          </a:p>
          <a:p>
            <a:pPr marL="0" indent="0">
              <a:buNone/>
            </a:pPr>
            <a:r>
              <a:rPr lang="en-US" sz="1200" b="0" i="0" kern="1200" dirty="0">
                <a:solidFill>
                  <a:schemeClr val="tx1"/>
                </a:solidFill>
                <a:effectLst/>
                <a:latin typeface="+mn-lt"/>
                <a:ea typeface="+mn-ea"/>
                <a:cs typeface="+mn-cs"/>
              </a:rPr>
              <a:t>4. </a:t>
            </a:r>
            <a:r>
              <a:rPr lang="en-US" sz="1200" b="0" i="0" kern="1200" dirty="0" err="1">
                <a:solidFill>
                  <a:schemeClr val="tx1"/>
                </a:solidFill>
                <a:effectLst/>
                <a:latin typeface="+mn-lt"/>
                <a:ea typeface="+mn-ea"/>
                <a:cs typeface="+mn-cs"/>
              </a:rPr>
              <a:t>Demograohic</a:t>
            </a:r>
            <a:r>
              <a:rPr lang="en-US" sz="1200" b="0" i="0" kern="1200" dirty="0">
                <a:solidFill>
                  <a:schemeClr val="tx1"/>
                </a:solidFill>
                <a:effectLst/>
                <a:latin typeface="+mn-lt"/>
                <a:ea typeface="+mn-ea"/>
                <a:cs typeface="+mn-cs"/>
              </a:rPr>
              <a:t> aging vs young </a:t>
            </a:r>
          </a:p>
          <a:p>
            <a:pPr marL="0" indent="0">
              <a:buNone/>
            </a:pPr>
            <a:r>
              <a:rPr lang="en-US" sz="1200" b="0" i="0" kern="1200" dirty="0">
                <a:solidFill>
                  <a:schemeClr val="tx1"/>
                </a:solidFill>
                <a:effectLst/>
                <a:latin typeface="+mn-lt"/>
                <a:ea typeface="+mn-ea"/>
                <a:cs typeface="+mn-cs"/>
              </a:rPr>
              <a:t>5. Geographic factors – cheap labor in India..</a:t>
            </a:r>
          </a:p>
          <a:p>
            <a:pPr marL="228600" indent="-228600">
              <a:buAutoNum type="arabicPeriod"/>
            </a:pPr>
            <a:endParaRPr lang="en-IN" b="0" dirty="0"/>
          </a:p>
        </p:txBody>
      </p:sp>
      <p:sp>
        <p:nvSpPr>
          <p:cNvPr id="4" name="Slide Number Placeholder 3">
            <a:extLst>
              <a:ext uri="{FF2B5EF4-FFF2-40B4-BE49-F238E27FC236}">
                <a16:creationId xmlns:a16="http://schemas.microsoft.com/office/drawing/2014/main" id="{B67F2A2E-5443-D409-8F38-14A524328546}"/>
              </a:ext>
            </a:extLst>
          </p:cNvPr>
          <p:cNvSpPr>
            <a:spLocks noGrp="1"/>
          </p:cNvSpPr>
          <p:nvPr>
            <p:ph type="sldNum" sz="quarter" idx="5"/>
          </p:nvPr>
        </p:nvSpPr>
        <p:spPr/>
        <p:txBody>
          <a:bodyPr/>
          <a:lstStyle/>
          <a:p>
            <a:fld id="{BF524507-0EC8-4EA3-B273-996B329D69FE}" type="slidenum">
              <a:rPr lang="en-IN" smtClean="0"/>
              <a:t>6</a:t>
            </a:fld>
            <a:endParaRPr lang="en-IN"/>
          </a:p>
        </p:txBody>
      </p:sp>
    </p:spTree>
    <p:extLst>
      <p:ext uri="{BB962C8B-B14F-4D97-AF65-F5344CB8AC3E}">
        <p14:creationId xmlns:p14="http://schemas.microsoft.com/office/powerpoint/2010/main" val="2920858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D70BF-F835-9EE3-B152-6A20BD3E9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C22E75-7FB8-4FDA-7B1B-718887A059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3166B5-6EB3-F7EC-8E94-05069A95C530}"/>
              </a:ext>
            </a:extLst>
          </p:cNvPr>
          <p:cNvSpPr>
            <a:spLocks noGrp="1"/>
          </p:cNvSpPr>
          <p:nvPr>
            <p:ph type="body" idx="1"/>
          </p:nvPr>
        </p:nvSpPr>
        <p:spPr/>
        <p:txBody>
          <a:bodyPr/>
          <a:lstStyle/>
          <a:p>
            <a:pPr>
              <a:buNone/>
            </a:pPr>
            <a:r>
              <a:rPr lang="en-IN" b="1" dirty="0" err="1"/>
              <a:t>Defender</a:t>
            </a:r>
            <a:r>
              <a:rPr lang="en-IN" dirty="0" err="1"/>
              <a:t>Efficiency</a:t>
            </a:r>
            <a:r>
              <a:rPr lang="en-IN" dirty="0"/>
              <a:t>, cost control, stable </a:t>
            </a:r>
            <a:r>
              <a:rPr lang="en-IN" dirty="0" err="1"/>
              <a:t>productsLimited</a:t>
            </a:r>
            <a:r>
              <a:rPr lang="en-IN" dirty="0"/>
              <a:t> product variety, predictable markets, process </a:t>
            </a:r>
            <a:r>
              <a:rPr lang="en-IN" dirty="0" err="1"/>
              <a:t>optimizationIndian</a:t>
            </a:r>
            <a:r>
              <a:rPr lang="en-IN" dirty="0"/>
              <a:t> Railways (core services), FMCG staple producers, Cement &amp; steel manufacturers, Utility companies (power, water) </a:t>
            </a:r>
            <a:r>
              <a:rPr lang="en-IN" b="1" dirty="0" err="1"/>
              <a:t>Prospector</a:t>
            </a:r>
            <a:r>
              <a:rPr lang="en-IN" dirty="0" err="1"/>
              <a:t>Innovation</a:t>
            </a:r>
            <a:r>
              <a:rPr lang="en-IN" dirty="0"/>
              <a:t>, new markets, </a:t>
            </a:r>
            <a:r>
              <a:rPr lang="en-IN" dirty="0" err="1"/>
              <a:t>experimentationHigh</a:t>
            </a:r>
            <a:r>
              <a:rPr lang="en-IN" dirty="0"/>
              <a:t> R&amp;D, frequent product launches, risk-</a:t>
            </a:r>
            <a:r>
              <a:rPr lang="en-IN" dirty="0" err="1"/>
              <a:t>takingStartups</a:t>
            </a:r>
            <a:r>
              <a:rPr lang="en-IN" dirty="0"/>
              <a:t>, EV startups, Fintech startups, New-age AI companies </a:t>
            </a:r>
            <a:r>
              <a:rPr lang="en-IN" b="1" dirty="0" err="1"/>
              <a:t>Analyzer</a:t>
            </a:r>
            <a:r>
              <a:rPr lang="en-IN" dirty="0" err="1"/>
              <a:t>Stable</a:t>
            </a:r>
            <a:r>
              <a:rPr lang="en-IN" dirty="0"/>
              <a:t> core + selective </a:t>
            </a:r>
            <a:r>
              <a:rPr lang="en-IN" dirty="0" err="1"/>
              <a:t>innovationMaintain</a:t>
            </a:r>
            <a:r>
              <a:rPr lang="en-IN" dirty="0"/>
              <a:t> efficiency in core business while innovating at </a:t>
            </a:r>
            <a:r>
              <a:rPr lang="en-IN" dirty="0" err="1"/>
              <a:t>edgesApple</a:t>
            </a:r>
            <a:r>
              <a:rPr lang="en-IN" dirty="0"/>
              <a:t>, Crocs, Large IT firms (legacy services + digital), Large banks with digital arms </a:t>
            </a:r>
            <a:r>
              <a:rPr lang="en-IN" b="1" dirty="0" err="1"/>
              <a:t>Reactor</a:t>
            </a:r>
            <a:r>
              <a:rPr lang="en-IN" dirty="0" err="1"/>
              <a:t>No</a:t>
            </a:r>
            <a:r>
              <a:rPr lang="en-IN" dirty="0"/>
              <a:t> clear long-term </a:t>
            </a:r>
            <a:r>
              <a:rPr lang="en-IN" dirty="0" err="1"/>
              <a:t>strategyRespond</a:t>
            </a:r>
            <a:r>
              <a:rPr lang="en-IN" dirty="0"/>
              <a:t> late to market changes, inconsistent </a:t>
            </a:r>
            <a:r>
              <a:rPr lang="en-IN" dirty="0" err="1"/>
              <a:t>decisionsNokia</a:t>
            </a:r>
            <a:r>
              <a:rPr lang="en-IN" dirty="0"/>
              <a:t> (late smartphone response), Kodak (late digital shift), Traditional retail chains facing e-commerce</a:t>
            </a:r>
          </a:p>
          <a:p>
            <a:endParaRPr lang="en-IN" b="0" dirty="0"/>
          </a:p>
        </p:txBody>
      </p:sp>
      <p:sp>
        <p:nvSpPr>
          <p:cNvPr id="4" name="Slide Number Placeholder 3">
            <a:extLst>
              <a:ext uri="{FF2B5EF4-FFF2-40B4-BE49-F238E27FC236}">
                <a16:creationId xmlns:a16="http://schemas.microsoft.com/office/drawing/2014/main" id="{C6005990-EF6E-DE4C-8519-7AB325E5EECB}"/>
              </a:ext>
            </a:extLst>
          </p:cNvPr>
          <p:cNvSpPr>
            <a:spLocks noGrp="1"/>
          </p:cNvSpPr>
          <p:nvPr>
            <p:ph type="sldNum" sz="quarter" idx="5"/>
          </p:nvPr>
        </p:nvSpPr>
        <p:spPr/>
        <p:txBody>
          <a:bodyPr/>
          <a:lstStyle/>
          <a:p>
            <a:fld id="{BF524507-0EC8-4EA3-B273-996B329D69FE}" type="slidenum">
              <a:rPr lang="en-IN" smtClean="0"/>
              <a:t>7</a:t>
            </a:fld>
            <a:endParaRPr lang="en-IN"/>
          </a:p>
        </p:txBody>
      </p:sp>
    </p:spTree>
    <p:extLst>
      <p:ext uri="{BB962C8B-B14F-4D97-AF65-F5344CB8AC3E}">
        <p14:creationId xmlns:p14="http://schemas.microsoft.com/office/powerpoint/2010/main" val="4156956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F5DA5-1F42-1E2E-9493-F23F71FFC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38C9FC-919B-CD0D-B1D3-9DB2B34614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BCA4B-56BA-6592-5FFF-EBB2E6A2111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9A35B995-622A-B276-5678-D47D9F4CA773}"/>
              </a:ext>
            </a:extLst>
          </p:cNvPr>
          <p:cNvSpPr>
            <a:spLocks noGrp="1"/>
          </p:cNvSpPr>
          <p:nvPr>
            <p:ph type="sldNum" sz="quarter" idx="5"/>
          </p:nvPr>
        </p:nvSpPr>
        <p:spPr/>
        <p:txBody>
          <a:bodyPr/>
          <a:lstStyle/>
          <a:p>
            <a:fld id="{BF524507-0EC8-4EA3-B273-996B329D69FE}" type="slidenum">
              <a:rPr lang="en-IN" smtClean="0"/>
              <a:t>8</a:t>
            </a:fld>
            <a:endParaRPr lang="en-IN"/>
          </a:p>
        </p:txBody>
      </p:sp>
    </p:spTree>
    <p:extLst>
      <p:ext uri="{BB962C8B-B14F-4D97-AF65-F5344CB8AC3E}">
        <p14:creationId xmlns:p14="http://schemas.microsoft.com/office/powerpoint/2010/main" val="3161243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829E4-912C-9C08-F7D6-DC3842EB7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BB9A8-EF1C-4A2F-F394-808F54820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6C6186-4386-72ED-55D9-9B4D0F4DCD9A}"/>
              </a:ext>
            </a:extLst>
          </p:cNvPr>
          <p:cNvSpPr>
            <a:spLocks noGrp="1"/>
          </p:cNvSpPr>
          <p:nvPr>
            <p:ph type="body" idx="1"/>
          </p:nvPr>
        </p:nvSpPr>
        <p:spPr/>
        <p:txBody>
          <a:bodyPr/>
          <a:lstStyle/>
          <a:p>
            <a:r>
              <a:rPr lang="en-IN" b="0" dirty="0"/>
              <a:t>https://hr.economictimes.indiatimes.com/news/industry/strategic-workforce-planning-reshape-your-talent-acquisition-with-analytics/119854249</a:t>
            </a:r>
          </a:p>
          <a:p>
            <a:endParaRPr lang="en-IN" b="0" dirty="0"/>
          </a:p>
          <a:p>
            <a:r>
              <a:rPr lang="en-US" b="1" dirty="0"/>
              <a:t>How LinkedIn Talent Insights Helps in Strategic Workforce Planning</a:t>
            </a:r>
          </a:p>
          <a:p>
            <a:r>
              <a:rPr lang="en-US" dirty="0"/>
              <a:t>When we say </a:t>
            </a:r>
            <a:r>
              <a:rPr lang="en-US" i="1" dirty="0"/>
              <a:t>“looking at future business environment (markets, technology, competition)”</a:t>
            </a:r>
            <a:r>
              <a:rPr lang="en-US" dirty="0"/>
              <a:t>, platforms like LinkedIn help by showing:</a:t>
            </a:r>
          </a:p>
          <a:p>
            <a:r>
              <a:rPr lang="en-US" b="1" dirty="0"/>
              <a:t>Emerging skills in the market</a:t>
            </a:r>
            <a:r>
              <a:rPr lang="en-US" dirty="0"/>
              <a:t> (e.g., AI, data engineering, cybersecurity)</a:t>
            </a:r>
          </a:p>
          <a:p>
            <a:r>
              <a:rPr lang="en-US" b="1" dirty="0"/>
              <a:t>Which companies are hiring for which skills</a:t>
            </a:r>
            <a:r>
              <a:rPr lang="en-US" dirty="0"/>
              <a:t> (competitive intelligence)</a:t>
            </a:r>
          </a:p>
          <a:p>
            <a:r>
              <a:rPr lang="en-US" b="1" dirty="0"/>
              <a:t>Where talent is located geographically</a:t>
            </a:r>
            <a:endParaRPr lang="en-US" dirty="0"/>
          </a:p>
          <a:p>
            <a:r>
              <a:rPr lang="en-US" b="1" dirty="0"/>
              <a:t>How fast certain roles are growing or declining</a:t>
            </a:r>
            <a:endParaRPr lang="en-US" dirty="0"/>
          </a:p>
          <a:p>
            <a:r>
              <a:rPr lang="en-US" b="1" dirty="0"/>
              <a:t>Talent supply vs demand trends</a:t>
            </a:r>
            <a:endParaRPr lang="en-US" dirty="0"/>
          </a:p>
          <a:p>
            <a:endParaRPr lang="en-IN" b="0" dirty="0"/>
          </a:p>
        </p:txBody>
      </p:sp>
      <p:sp>
        <p:nvSpPr>
          <p:cNvPr id="4" name="Slide Number Placeholder 3">
            <a:extLst>
              <a:ext uri="{FF2B5EF4-FFF2-40B4-BE49-F238E27FC236}">
                <a16:creationId xmlns:a16="http://schemas.microsoft.com/office/drawing/2014/main" id="{6E664ACC-3234-7E0D-43C8-06B5AE608711}"/>
              </a:ext>
            </a:extLst>
          </p:cNvPr>
          <p:cNvSpPr>
            <a:spLocks noGrp="1"/>
          </p:cNvSpPr>
          <p:nvPr>
            <p:ph type="sldNum" sz="quarter" idx="5"/>
          </p:nvPr>
        </p:nvSpPr>
        <p:spPr/>
        <p:txBody>
          <a:bodyPr/>
          <a:lstStyle/>
          <a:p>
            <a:fld id="{BF524507-0EC8-4EA3-B273-996B329D69FE}" type="slidenum">
              <a:rPr lang="en-IN" smtClean="0"/>
              <a:t>9</a:t>
            </a:fld>
            <a:endParaRPr lang="en-IN"/>
          </a:p>
        </p:txBody>
      </p:sp>
    </p:spTree>
    <p:extLst>
      <p:ext uri="{BB962C8B-B14F-4D97-AF65-F5344CB8AC3E}">
        <p14:creationId xmlns:p14="http://schemas.microsoft.com/office/powerpoint/2010/main" val="4046272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AFA16-82BE-A96D-DE2E-F018EE2F90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B8571-7A3F-BB04-A5B6-67B25F1318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B43C5-F04A-9E26-D524-C57A806785A6}"/>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30401246-6B6B-592F-5384-1EA43BE175F7}"/>
              </a:ext>
            </a:extLst>
          </p:cNvPr>
          <p:cNvSpPr>
            <a:spLocks noGrp="1"/>
          </p:cNvSpPr>
          <p:nvPr>
            <p:ph type="sldNum" sz="quarter" idx="5"/>
          </p:nvPr>
        </p:nvSpPr>
        <p:spPr/>
        <p:txBody>
          <a:bodyPr/>
          <a:lstStyle/>
          <a:p>
            <a:fld id="{BF524507-0EC8-4EA3-B273-996B329D69FE}" type="slidenum">
              <a:rPr lang="en-IN" smtClean="0"/>
              <a:t>10</a:t>
            </a:fld>
            <a:endParaRPr lang="en-IN"/>
          </a:p>
        </p:txBody>
      </p:sp>
    </p:spTree>
    <p:extLst>
      <p:ext uri="{BB962C8B-B14F-4D97-AF65-F5344CB8AC3E}">
        <p14:creationId xmlns:p14="http://schemas.microsoft.com/office/powerpoint/2010/main" val="3276696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E84AF-9865-2D45-8546-177A2875E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A0A13-2E0E-4285-F6D9-347AF09ADB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2C48E-200B-2430-FAD2-6F15337336A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15717EF0-6A17-93FE-2561-DBAC123FC371}"/>
              </a:ext>
            </a:extLst>
          </p:cNvPr>
          <p:cNvSpPr>
            <a:spLocks noGrp="1"/>
          </p:cNvSpPr>
          <p:nvPr>
            <p:ph type="sldNum" sz="quarter" idx="5"/>
          </p:nvPr>
        </p:nvSpPr>
        <p:spPr/>
        <p:txBody>
          <a:bodyPr/>
          <a:lstStyle/>
          <a:p>
            <a:fld id="{BF524507-0EC8-4EA3-B273-996B329D69FE}" type="slidenum">
              <a:rPr lang="en-IN" smtClean="0"/>
              <a:t>11</a:t>
            </a:fld>
            <a:endParaRPr lang="en-IN"/>
          </a:p>
        </p:txBody>
      </p:sp>
    </p:spTree>
    <p:extLst>
      <p:ext uri="{BB962C8B-B14F-4D97-AF65-F5344CB8AC3E}">
        <p14:creationId xmlns:p14="http://schemas.microsoft.com/office/powerpoint/2010/main" val="2242176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E5BBC-B09A-8B3C-6BA1-B3ECB441E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79AD6-854D-E4C9-5AC9-F1938F4D60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C1538A-38BA-01A2-4949-ECA80793670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BF576EB9-5FDD-D763-43E4-7344DE6E42D6}"/>
              </a:ext>
            </a:extLst>
          </p:cNvPr>
          <p:cNvSpPr>
            <a:spLocks noGrp="1"/>
          </p:cNvSpPr>
          <p:nvPr>
            <p:ph type="sldNum" sz="quarter" idx="5"/>
          </p:nvPr>
        </p:nvSpPr>
        <p:spPr/>
        <p:txBody>
          <a:bodyPr/>
          <a:lstStyle/>
          <a:p>
            <a:fld id="{BF524507-0EC8-4EA3-B273-996B329D69FE}" type="slidenum">
              <a:rPr lang="en-IN" smtClean="0"/>
              <a:t>12</a:t>
            </a:fld>
            <a:endParaRPr lang="en-IN"/>
          </a:p>
        </p:txBody>
      </p:sp>
    </p:spTree>
    <p:extLst>
      <p:ext uri="{BB962C8B-B14F-4D97-AF65-F5344CB8AC3E}">
        <p14:creationId xmlns:p14="http://schemas.microsoft.com/office/powerpoint/2010/main" val="2267386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20201-0DF5-16E5-7472-9CB23B7E8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43CE6-677F-7429-E217-0D9A3537A7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CF3837-B5D7-9FE7-96F8-9FEE6768A2B6}"/>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72EAC9C0-81F5-BF25-B3E2-C43F15F7E318}"/>
              </a:ext>
            </a:extLst>
          </p:cNvPr>
          <p:cNvSpPr>
            <a:spLocks noGrp="1"/>
          </p:cNvSpPr>
          <p:nvPr>
            <p:ph type="sldNum" sz="quarter" idx="5"/>
          </p:nvPr>
        </p:nvSpPr>
        <p:spPr/>
        <p:txBody>
          <a:bodyPr/>
          <a:lstStyle/>
          <a:p>
            <a:fld id="{BF524507-0EC8-4EA3-B273-996B329D69FE}" type="slidenum">
              <a:rPr lang="en-IN" smtClean="0"/>
              <a:t>13</a:t>
            </a:fld>
            <a:endParaRPr lang="en-IN"/>
          </a:p>
        </p:txBody>
      </p:sp>
    </p:spTree>
    <p:extLst>
      <p:ext uri="{BB962C8B-B14F-4D97-AF65-F5344CB8AC3E}">
        <p14:creationId xmlns:p14="http://schemas.microsoft.com/office/powerpoint/2010/main" val="2158529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1F1AD-0B2A-9DFF-D5A7-9FB16EEB0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5B382-DF5B-E9EA-ED3B-C9706B13A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F099F-B478-BAD5-D6D3-F85F5F99D567}"/>
              </a:ext>
            </a:extLst>
          </p:cNvPr>
          <p:cNvSpPr>
            <a:spLocks noGrp="1"/>
          </p:cNvSpPr>
          <p:nvPr>
            <p:ph type="body" idx="1"/>
          </p:nvPr>
        </p:nvSpPr>
        <p:spPr/>
        <p:txBody>
          <a:bodyPr/>
          <a:lstStyle/>
          <a:p>
            <a:r>
              <a:rPr lang="en-US" b="1" dirty="0"/>
              <a:t>Demand forecasting</a:t>
            </a:r>
            <a:r>
              <a:rPr lang="en-US" dirty="0"/>
              <a:t> → How many people and skills we </a:t>
            </a:r>
            <a:r>
              <a:rPr lang="en-US" i="1" dirty="0"/>
              <a:t>need</a:t>
            </a:r>
            <a:endParaRPr lang="en-US" dirty="0"/>
          </a:p>
          <a:p>
            <a:r>
              <a:rPr lang="en-US" b="1" dirty="0"/>
              <a:t>Supply forecasting</a:t>
            </a:r>
            <a:r>
              <a:rPr lang="en-US" dirty="0"/>
              <a:t> → How many people and skills we </a:t>
            </a:r>
            <a:r>
              <a:rPr lang="en-US" i="1" dirty="0"/>
              <a:t>will have</a:t>
            </a:r>
            <a:endParaRPr lang="en-US" dirty="0"/>
          </a:p>
          <a:p>
            <a:r>
              <a:rPr lang="en-US" b="1" dirty="0"/>
              <a:t>Gap between them</a:t>
            </a:r>
            <a:r>
              <a:rPr lang="en-US" dirty="0"/>
              <a:t> → Leads to hiring, training, redeployment, or succession planning</a:t>
            </a:r>
          </a:p>
          <a:p>
            <a:endParaRPr lang="en-IN" b="0" dirty="0"/>
          </a:p>
        </p:txBody>
      </p:sp>
      <p:sp>
        <p:nvSpPr>
          <p:cNvPr id="4" name="Slide Number Placeholder 3">
            <a:extLst>
              <a:ext uri="{FF2B5EF4-FFF2-40B4-BE49-F238E27FC236}">
                <a16:creationId xmlns:a16="http://schemas.microsoft.com/office/drawing/2014/main" id="{6BEA6976-4195-481D-6057-01C761546250}"/>
              </a:ext>
            </a:extLst>
          </p:cNvPr>
          <p:cNvSpPr>
            <a:spLocks noGrp="1"/>
          </p:cNvSpPr>
          <p:nvPr>
            <p:ph type="sldNum" sz="quarter" idx="5"/>
          </p:nvPr>
        </p:nvSpPr>
        <p:spPr/>
        <p:txBody>
          <a:bodyPr/>
          <a:lstStyle/>
          <a:p>
            <a:fld id="{BF524507-0EC8-4EA3-B273-996B329D69FE}" type="slidenum">
              <a:rPr lang="en-IN" smtClean="0"/>
              <a:t>14</a:t>
            </a:fld>
            <a:endParaRPr lang="en-IN"/>
          </a:p>
        </p:txBody>
      </p:sp>
    </p:spTree>
    <p:extLst>
      <p:ext uri="{BB962C8B-B14F-4D97-AF65-F5344CB8AC3E}">
        <p14:creationId xmlns:p14="http://schemas.microsoft.com/office/powerpoint/2010/main" val="1667814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C691F-1BA0-9EF1-60D9-01D71DF7E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AA3625-E08A-3DBA-9FCC-CE3B24E95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4EDC7-1337-25CD-C135-1C45E5BE380D}"/>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4E441DC8-EA7B-22D5-9C95-60C477F70E38}"/>
              </a:ext>
            </a:extLst>
          </p:cNvPr>
          <p:cNvSpPr>
            <a:spLocks noGrp="1"/>
          </p:cNvSpPr>
          <p:nvPr>
            <p:ph type="sldNum" sz="quarter" idx="5"/>
          </p:nvPr>
        </p:nvSpPr>
        <p:spPr/>
        <p:txBody>
          <a:bodyPr/>
          <a:lstStyle/>
          <a:p>
            <a:fld id="{BF524507-0EC8-4EA3-B273-996B329D69FE}" type="slidenum">
              <a:rPr lang="en-IN" smtClean="0"/>
              <a:t>15</a:t>
            </a:fld>
            <a:endParaRPr lang="en-IN"/>
          </a:p>
        </p:txBody>
      </p:sp>
    </p:spTree>
    <p:extLst>
      <p:ext uri="{BB962C8B-B14F-4D97-AF65-F5344CB8AC3E}">
        <p14:creationId xmlns:p14="http://schemas.microsoft.com/office/powerpoint/2010/main" val="15994721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CC67A-93CD-A6C3-ABC1-060B4295F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DC774-F3DA-3A71-0C1D-7D0FAD2A8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53A85-416A-76DF-C947-86E3705264BD}"/>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BF5F4EB7-6A93-6824-405F-9AD681F277E3}"/>
              </a:ext>
            </a:extLst>
          </p:cNvPr>
          <p:cNvSpPr>
            <a:spLocks noGrp="1"/>
          </p:cNvSpPr>
          <p:nvPr>
            <p:ph type="sldNum" sz="quarter" idx="5"/>
          </p:nvPr>
        </p:nvSpPr>
        <p:spPr/>
        <p:txBody>
          <a:bodyPr/>
          <a:lstStyle/>
          <a:p>
            <a:fld id="{BF524507-0EC8-4EA3-B273-996B329D69FE}" type="slidenum">
              <a:rPr lang="en-IN" smtClean="0"/>
              <a:t>16</a:t>
            </a:fld>
            <a:endParaRPr lang="en-IN"/>
          </a:p>
        </p:txBody>
      </p:sp>
    </p:spTree>
    <p:extLst>
      <p:ext uri="{BB962C8B-B14F-4D97-AF65-F5344CB8AC3E}">
        <p14:creationId xmlns:p14="http://schemas.microsoft.com/office/powerpoint/2010/main" val="22477119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D8359-8C84-2A6C-98C3-B5F9E4867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8AB824-0384-A778-9A1C-6966EC4F45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B19A9E-73FF-E58A-5719-9D0338DED65C}"/>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9E7F06C-3799-4B4E-78E0-C1FD2B8A13BC}"/>
              </a:ext>
            </a:extLst>
          </p:cNvPr>
          <p:cNvSpPr>
            <a:spLocks noGrp="1"/>
          </p:cNvSpPr>
          <p:nvPr>
            <p:ph type="sldNum" sz="quarter" idx="5"/>
          </p:nvPr>
        </p:nvSpPr>
        <p:spPr/>
        <p:txBody>
          <a:bodyPr/>
          <a:lstStyle/>
          <a:p>
            <a:fld id="{BF524507-0EC8-4EA3-B273-996B329D69FE}" type="slidenum">
              <a:rPr lang="en-IN" smtClean="0"/>
              <a:t>17</a:t>
            </a:fld>
            <a:endParaRPr lang="en-IN"/>
          </a:p>
        </p:txBody>
      </p:sp>
    </p:spTree>
    <p:extLst>
      <p:ext uri="{BB962C8B-B14F-4D97-AF65-F5344CB8AC3E}">
        <p14:creationId xmlns:p14="http://schemas.microsoft.com/office/powerpoint/2010/main" val="33837050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5EE2D-C6EA-1B93-A521-52442892B9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8DFC7-7946-87AD-59C8-7C0DE8E434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B1A564-A545-6644-40B4-90FEB7FEEF0C}"/>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84F9CC4B-2A7B-6882-C8E0-F5DA05926E23}"/>
              </a:ext>
            </a:extLst>
          </p:cNvPr>
          <p:cNvSpPr>
            <a:spLocks noGrp="1"/>
          </p:cNvSpPr>
          <p:nvPr>
            <p:ph type="sldNum" sz="quarter" idx="5"/>
          </p:nvPr>
        </p:nvSpPr>
        <p:spPr/>
        <p:txBody>
          <a:bodyPr/>
          <a:lstStyle/>
          <a:p>
            <a:fld id="{BF524507-0EC8-4EA3-B273-996B329D69FE}" type="slidenum">
              <a:rPr lang="en-IN" smtClean="0"/>
              <a:t>18</a:t>
            </a:fld>
            <a:endParaRPr lang="en-IN"/>
          </a:p>
        </p:txBody>
      </p:sp>
    </p:spTree>
    <p:extLst>
      <p:ext uri="{BB962C8B-B14F-4D97-AF65-F5344CB8AC3E}">
        <p14:creationId xmlns:p14="http://schemas.microsoft.com/office/powerpoint/2010/main" val="3302744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63FC3-2906-9E44-4B38-1B28A8E072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2962EA-4311-B72F-BC39-D55B7D2D06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D8BE3F6-B90D-8BE6-C8F4-38F8EA0774B5}"/>
              </a:ext>
            </a:extLst>
          </p:cNvPr>
          <p:cNvSpPr>
            <a:spLocks noGrp="1"/>
          </p:cNvSpPr>
          <p:nvPr>
            <p:ph type="dt" sz="half" idx="10"/>
          </p:nvPr>
        </p:nvSpPr>
        <p:spPr/>
        <p:txBody>
          <a:bodyPr/>
          <a:lstStyle/>
          <a:p>
            <a:fld id="{13B3CC07-08FA-4B68-A2D1-E2E1EFC81ECF}" type="datetime1">
              <a:rPr lang="en-IN" smtClean="0"/>
              <a:t>20-01-2026</a:t>
            </a:fld>
            <a:endParaRPr lang="en-IN"/>
          </a:p>
        </p:txBody>
      </p:sp>
      <p:sp>
        <p:nvSpPr>
          <p:cNvPr id="5" name="Footer Placeholder 4">
            <a:extLst>
              <a:ext uri="{FF2B5EF4-FFF2-40B4-BE49-F238E27FC236}">
                <a16:creationId xmlns:a16="http://schemas.microsoft.com/office/drawing/2014/main" id="{A6CA01C8-8157-480B-021F-A5DC54173D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8084B3-6800-7ED6-FD01-1BB4E29B6B85}"/>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3593749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1580-687F-8C25-CA63-9E987B6D7B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82359F-2536-1ECC-EE1F-53E35FE0AE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E25D0-3393-F15A-1E96-976E6254E158}"/>
              </a:ext>
            </a:extLst>
          </p:cNvPr>
          <p:cNvSpPr>
            <a:spLocks noGrp="1"/>
          </p:cNvSpPr>
          <p:nvPr>
            <p:ph type="dt" sz="half" idx="10"/>
          </p:nvPr>
        </p:nvSpPr>
        <p:spPr/>
        <p:txBody>
          <a:bodyPr/>
          <a:lstStyle/>
          <a:p>
            <a:fld id="{817B68BF-F4EE-4874-8706-CFE43D309819}" type="datetime1">
              <a:rPr lang="en-IN" smtClean="0"/>
              <a:t>20-01-2026</a:t>
            </a:fld>
            <a:endParaRPr lang="en-IN"/>
          </a:p>
        </p:txBody>
      </p:sp>
      <p:sp>
        <p:nvSpPr>
          <p:cNvPr id="5" name="Footer Placeholder 4">
            <a:extLst>
              <a:ext uri="{FF2B5EF4-FFF2-40B4-BE49-F238E27FC236}">
                <a16:creationId xmlns:a16="http://schemas.microsoft.com/office/drawing/2014/main" id="{E4A10498-C407-C056-9732-D8516B298D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D1C224-4F81-FFDE-F63D-33A63375E39A}"/>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322391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76BDE-F59D-3916-BE99-3F3CDA0369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E2B2885-254B-E748-0E63-CA04A0F866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C99BF4-B047-70BA-4467-D344CAD2D0F6}"/>
              </a:ext>
            </a:extLst>
          </p:cNvPr>
          <p:cNvSpPr>
            <a:spLocks noGrp="1"/>
          </p:cNvSpPr>
          <p:nvPr>
            <p:ph type="dt" sz="half" idx="10"/>
          </p:nvPr>
        </p:nvSpPr>
        <p:spPr/>
        <p:txBody>
          <a:bodyPr/>
          <a:lstStyle/>
          <a:p>
            <a:fld id="{46FF7A03-8140-4A91-8D82-7C898A4726F7}" type="datetime1">
              <a:rPr lang="en-IN" smtClean="0"/>
              <a:t>20-01-2026</a:t>
            </a:fld>
            <a:endParaRPr lang="en-IN"/>
          </a:p>
        </p:txBody>
      </p:sp>
      <p:sp>
        <p:nvSpPr>
          <p:cNvPr id="5" name="Footer Placeholder 4">
            <a:extLst>
              <a:ext uri="{FF2B5EF4-FFF2-40B4-BE49-F238E27FC236}">
                <a16:creationId xmlns:a16="http://schemas.microsoft.com/office/drawing/2014/main" id="{51DE6E3E-27D5-1CA4-73EF-17F33DC9B2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851235-9ABD-7D84-30F4-A8356A7E5BC4}"/>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164734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BECFE-8C1D-4A4F-02B7-34B209080B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959D67-F303-B979-D561-184F3C4F01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42FC5F-EB7D-CAB2-EF99-25A6C4B9EE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7934951-74DA-2E7F-9FA5-6C3A9A36687A}"/>
              </a:ext>
            </a:extLst>
          </p:cNvPr>
          <p:cNvSpPr>
            <a:spLocks noGrp="1"/>
          </p:cNvSpPr>
          <p:nvPr>
            <p:ph type="dt" sz="half" idx="10"/>
          </p:nvPr>
        </p:nvSpPr>
        <p:spPr/>
        <p:txBody>
          <a:bodyPr/>
          <a:lstStyle/>
          <a:p>
            <a:fld id="{3E174EAA-08B7-4950-8B84-898E3A5AD371}" type="datetime1">
              <a:rPr lang="en-IN" smtClean="0"/>
              <a:t>20-01-2026</a:t>
            </a:fld>
            <a:endParaRPr lang="en-IN"/>
          </a:p>
        </p:txBody>
      </p:sp>
      <p:sp>
        <p:nvSpPr>
          <p:cNvPr id="6" name="Footer Placeholder 5">
            <a:extLst>
              <a:ext uri="{FF2B5EF4-FFF2-40B4-BE49-F238E27FC236}">
                <a16:creationId xmlns:a16="http://schemas.microsoft.com/office/drawing/2014/main" id="{D6690BD2-400D-0F16-FDCF-F5F2C951D5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29E550-5877-60E6-029F-B040FD57F182}"/>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1796386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5D786-C368-C851-4121-E1D06633E5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41C2A0-87E0-13F3-D778-380E9886F6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345655-7B33-3FC6-29E6-35DF8F32EB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0E79D96-DAA8-182F-831D-DEB42766CF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47B391-5963-12AC-8D11-0586563CF5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167E0A7-2AC7-FDA8-D542-239B34C56996}"/>
              </a:ext>
            </a:extLst>
          </p:cNvPr>
          <p:cNvSpPr>
            <a:spLocks noGrp="1"/>
          </p:cNvSpPr>
          <p:nvPr>
            <p:ph type="dt" sz="half" idx="10"/>
          </p:nvPr>
        </p:nvSpPr>
        <p:spPr/>
        <p:txBody>
          <a:bodyPr/>
          <a:lstStyle/>
          <a:p>
            <a:fld id="{310A22C9-8E5A-47FE-926A-30DEE2E438E6}" type="datetime1">
              <a:rPr lang="en-IN" smtClean="0"/>
              <a:t>20-01-2026</a:t>
            </a:fld>
            <a:endParaRPr lang="en-IN"/>
          </a:p>
        </p:txBody>
      </p:sp>
      <p:sp>
        <p:nvSpPr>
          <p:cNvPr id="8" name="Footer Placeholder 7">
            <a:extLst>
              <a:ext uri="{FF2B5EF4-FFF2-40B4-BE49-F238E27FC236}">
                <a16:creationId xmlns:a16="http://schemas.microsoft.com/office/drawing/2014/main" id="{7EB81BDA-2F97-9BDC-35AC-EE4FE0EDC09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8839D4F-44C2-2BAE-AFF3-11949F40FC39}"/>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3878347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E9A6C-5787-E731-B168-B9A1370F8C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95A126-4EBA-7567-72C3-7E67C1735346}"/>
              </a:ext>
            </a:extLst>
          </p:cNvPr>
          <p:cNvSpPr>
            <a:spLocks noGrp="1"/>
          </p:cNvSpPr>
          <p:nvPr>
            <p:ph type="dt" sz="half" idx="10"/>
          </p:nvPr>
        </p:nvSpPr>
        <p:spPr/>
        <p:txBody>
          <a:bodyPr/>
          <a:lstStyle/>
          <a:p>
            <a:fld id="{662690BF-D8D9-4366-B8C0-F1F794FA1828}" type="datetime1">
              <a:rPr lang="en-IN" smtClean="0"/>
              <a:t>20-01-2026</a:t>
            </a:fld>
            <a:endParaRPr lang="en-IN"/>
          </a:p>
        </p:txBody>
      </p:sp>
      <p:sp>
        <p:nvSpPr>
          <p:cNvPr id="4" name="Footer Placeholder 3">
            <a:extLst>
              <a:ext uri="{FF2B5EF4-FFF2-40B4-BE49-F238E27FC236}">
                <a16:creationId xmlns:a16="http://schemas.microsoft.com/office/drawing/2014/main" id="{90AD2D22-ADE8-D22D-B176-62B73D5F735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CFCED58-60BD-8C2E-2B66-754A9E87FEE2}"/>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4174121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70A823-DC02-DA1C-6CAD-42893C89D4F7}"/>
              </a:ext>
            </a:extLst>
          </p:cNvPr>
          <p:cNvSpPr>
            <a:spLocks noGrp="1"/>
          </p:cNvSpPr>
          <p:nvPr>
            <p:ph type="dt" sz="half" idx="10"/>
          </p:nvPr>
        </p:nvSpPr>
        <p:spPr/>
        <p:txBody>
          <a:bodyPr/>
          <a:lstStyle/>
          <a:p>
            <a:fld id="{272A32BB-E79C-4767-9B0C-AB8A26636FED}" type="datetime1">
              <a:rPr lang="en-IN" smtClean="0"/>
              <a:t>20-01-2026</a:t>
            </a:fld>
            <a:endParaRPr lang="en-IN"/>
          </a:p>
        </p:txBody>
      </p:sp>
      <p:sp>
        <p:nvSpPr>
          <p:cNvPr id="3" name="Footer Placeholder 2">
            <a:extLst>
              <a:ext uri="{FF2B5EF4-FFF2-40B4-BE49-F238E27FC236}">
                <a16:creationId xmlns:a16="http://schemas.microsoft.com/office/drawing/2014/main" id="{A170F638-6ED6-5305-3998-3CCF385FBB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BDDF535-AC50-618F-7B03-96F720EE27CB}"/>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60729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F581-FE11-714E-06F1-0C44E2D077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A316040-CABE-5B25-9B44-4EFF7FB4DF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301784-2BB5-1A08-9A61-A3657BCCB9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005B02-578A-1552-92A1-D70501602A71}"/>
              </a:ext>
            </a:extLst>
          </p:cNvPr>
          <p:cNvSpPr>
            <a:spLocks noGrp="1"/>
          </p:cNvSpPr>
          <p:nvPr>
            <p:ph type="dt" sz="half" idx="10"/>
          </p:nvPr>
        </p:nvSpPr>
        <p:spPr/>
        <p:txBody>
          <a:bodyPr/>
          <a:lstStyle/>
          <a:p>
            <a:fld id="{94A5DEC9-A408-4673-BFCF-7D82B5420ABC}" type="datetime1">
              <a:rPr lang="en-IN" smtClean="0"/>
              <a:t>20-01-2026</a:t>
            </a:fld>
            <a:endParaRPr lang="en-IN"/>
          </a:p>
        </p:txBody>
      </p:sp>
      <p:sp>
        <p:nvSpPr>
          <p:cNvPr id="6" name="Footer Placeholder 5">
            <a:extLst>
              <a:ext uri="{FF2B5EF4-FFF2-40B4-BE49-F238E27FC236}">
                <a16:creationId xmlns:a16="http://schemas.microsoft.com/office/drawing/2014/main" id="{A7DC6980-2CCB-3550-C0F5-D6D6D76EAD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82C103-580B-84DE-74D6-65024C80A7FF}"/>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3097367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C442D-E7A5-B807-9CAB-61051A8F76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1AC2F4-A2D9-6A2D-EBEE-ED30E808F1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57D68BC-C80B-67B6-ACCB-9F12C645A6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3983E6-DFEF-7293-EE3A-0408091B8A38}"/>
              </a:ext>
            </a:extLst>
          </p:cNvPr>
          <p:cNvSpPr>
            <a:spLocks noGrp="1"/>
          </p:cNvSpPr>
          <p:nvPr>
            <p:ph type="dt" sz="half" idx="10"/>
          </p:nvPr>
        </p:nvSpPr>
        <p:spPr/>
        <p:txBody>
          <a:bodyPr/>
          <a:lstStyle/>
          <a:p>
            <a:fld id="{354A31D7-7267-4368-A106-5BE2ACE9666C}" type="datetime1">
              <a:rPr lang="en-IN" smtClean="0"/>
              <a:t>20-01-2026</a:t>
            </a:fld>
            <a:endParaRPr lang="en-IN"/>
          </a:p>
        </p:txBody>
      </p:sp>
      <p:sp>
        <p:nvSpPr>
          <p:cNvPr id="6" name="Footer Placeholder 5">
            <a:extLst>
              <a:ext uri="{FF2B5EF4-FFF2-40B4-BE49-F238E27FC236}">
                <a16:creationId xmlns:a16="http://schemas.microsoft.com/office/drawing/2014/main" id="{CDD28E54-1164-BCAB-8C83-0E32C6C56E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F25217-434C-4986-A1FA-11891B87BC80}"/>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2726468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5DE81-A5F9-3AE4-2CC7-F4DAC27226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B4C536-D4BC-D02B-084E-D216F21ECB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20050C-6EF6-A00A-A995-5AA8D5A6E95A}"/>
              </a:ext>
            </a:extLst>
          </p:cNvPr>
          <p:cNvSpPr>
            <a:spLocks noGrp="1"/>
          </p:cNvSpPr>
          <p:nvPr>
            <p:ph type="dt" sz="half" idx="10"/>
          </p:nvPr>
        </p:nvSpPr>
        <p:spPr/>
        <p:txBody>
          <a:bodyPr/>
          <a:lstStyle/>
          <a:p>
            <a:fld id="{5068F400-A559-4846-8343-27D33AEB51A9}" type="datetime1">
              <a:rPr lang="en-IN" smtClean="0"/>
              <a:t>20-01-2026</a:t>
            </a:fld>
            <a:endParaRPr lang="en-IN"/>
          </a:p>
        </p:txBody>
      </p:sp>
      <p:sp>
        <p:nvSpPr>
          <p:cNvPr id="5" name="Footer Placeholder 4">
            <a:extLst>
              <a:ext uri="{FF2B5EF4-FFF2-40B4-BE49-F238E27FC236}">
                <a16:creationId xmlns:a16="http://schemas.microsoft.com/office/drawing/2014/main" id="{E1DB0DAC-712A-9B15-20CF-67091F4991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6713AE-68E2-D0D2-9782-92852020342B}"/>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2045523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111C19-BAAA-EB2E-95BE-4E1779EC42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C91995-B4A4-E3B0-025A-661FA9B53F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75763D-55A4-E8FC-4A31-047532752CFE}"/>
              </a:ext>
            </a:extLst>
          </p:cNvPr>
          <p:cNvSpPr>
            <a:spLocks noGrp="1"/>
          </p:cNvSpPr>
          <p:nvPr>
            <p:ph type="dt" sz="half" idx="10"/>
          </p:nvPr>
        </p:nvSpPr>
        <p:spPr/>
        <p:txBody>
          <a:bodyPr/>
          <a:lstStyle/>
          <a:p>
            <a:fld id="{06092BC6-2F09-4874-9703-B8B99CEA4FBE}" type="datetime1">
              <a:rPr lang="en-IN" smtClean="0"/>
              <a:t>20-01-2026</a:t>
            </a:fld>
            <a:endParaRPr lang="en-IN"/>
          </a:p>
        </p:txBody>
      </p:sp>
      <p:sp>
        <p:nvSpPr>
          <p:cNvPr id="5" name="Footer Placeholder 4">
            <a:extLst>
              <a:ext uri="{FF2B5EF4-FFF2-40B4-BE49-F238E27FC236}">
                <a16:creationId xmlns:a16="http://schemas.microsoft.com/office/drawing/2014/main" id="{3CBB26FB-02DD-76C5-365A-C4D63F672C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F52ADF-3FFB-0B80-90E5-46567006EF79}"/>
              </a:ext>
            </a:extLst>
          </p:cNvPr>
          <p:cNvSpPr>
            <a:spLocks noGrp="1"/>
          </p:cNvSpPr>
          <p:nvPr>
            <p:ph type="sldNum" sz="quarter" idx="12"/>
          </p:nvPr>
        </p:nvSpPr>
        <p:spPr/>
        <p:txBody>
          <a:bodyPr/>
          <a:lstStyle/>
          <a:p>
            <a:fld id="{AADF62B3-C5AA-40A0-A9F3-B28CB0ADD062}" type="slidenum">
              <a:rPr lang="en-IN" smtClean="0"/>
              <a:t>‹#›</a:t>
            </a:fld>
            <a:endParaRPr lang="en-IN"/>
          </a:p>
        </p:txBody>
      </p:sp>
    </p:spTree>
    <p:extLst>
      <p:ext uri="{BB962C8B-B14F-4D97-AF65-F5344CB8AC3E}">
        <p14:creationId xmlns:p14="http://schemas.microsoft.com/office/powerpoint/2010/main" val="1829584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536D4F-1BF0-EB63-9C08-AFFCADE6AA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D12B87-A9BF-8BBA-9A3D-4A918163E5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951BFF-68C6-9F0C-375F-63BFA97432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3E590-56FD-4556-BEA9-796E5AC96765}" type="datetime1">
              <a:rPr lang="en-IN" smtClean="0"/>
              <a:t>20-01-2026</a:t>
            </a:fld>
            <a:endParaRPr lang="en-IN"/>
          </a:p>
        </p:txBody>
      </p:sp>
      <p:sp>
        <p:nvSpPr>
          <p:cNvPr id="5" name="Footer Placeholder 4">
            <a:extLst>
              <a:ext uri="{FF2B5EF4-FFF2-40B4-BE49-F238E27FC236}">
                <a16:creationId xmlns:a16="http://schemas.microsoft.com/office/drawing/2014/main" id="{3F66E782-B9B7-65CB-DCA8-5EDF33F54A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CC4CC99-D7DC-7342-A60E-01C9DFC795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DF62B3-C5AA-40A0-A9F3-B28CB0ADD062}" type="slidenum">
              <a:rPr lang="en-IN" smtClean="0"/>
              <a:t>‹#›</a:t>
            </a:fld>
            <a:endParaRPr lang="en-IN"/>
          </a:p>
        </p:txBody>
      </p:sp>
    </p:spTree>
    <p:extLst>
      <p:ext uri="{BB962C8B-B14F-4D97-AF65-F5344CB8AC3E}">
        <p14:creationId xmlns:p14="http://schemas.microsoft.com/office/powerpoint/2010/main" val="538921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2.xml" /><Relationship Id="rId4" Type="http://schemas.openxmlformats.org/officeDocument/2006/relationships/image" Target="../media/image2.png"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E9462-3872-25F0-827F-922019BA5AAE}"/>
              </a:ext>
            </a:extLst>
          </p:cNvPr>
          <p:cNvSpPr>
            <a:spLocks noGrp="1"/>
          </p:cNvSpPr>
          <p:nvPr>
            <p:ph type="ctrTitle"/>
          </p:nvPr>
        </p:nvSpPr>
        <p:spPr/>
        <p:txBody>
          <a:bodyPr>
            <a:normAutofit/>
          </a:bodyPr>
          <a:lstStyle/>
          <a:p>
            <a:r>
              <a:rPr lang="en-US" sz="4400" dirty="0">
                <a:solidFill>
                  <a:schemeClr val="accent1"/>
                </a:solidFill>
                <a:latin typeface="Tahoma" panose="020B0604030504040204" pitchFamily="34" charset="0"/>
                <a:ea typeface="Tahoma" panose="020B0604030504040204" pitchFamily="34" charset="0"/>
                <a:cs typeface="Tahoma" panose="020B0604030504040204" pitchFamily="34" charset="0"/>
              </a:rPr>
              <a:t>Human Resource Management  </a:t>
            </a:r>
            <a:endParaRPr lang="en-IN" sz="4400" dirty="0">
              <a:solidFill>
                <a:schemeClr val="accent1"/>
              </a:solidFill>
              <a:latin typeface="Tahoma" panose="020B0604030504040204" pitchFamily="34" charset="0"/>
              <a:ea typeface="Tahoma" panose="020B0604030504040204" pitchFamily="34" charset="0"/>
              <a:cs typeface="Tahoma" panose="020B0604030504040204" pitchFamily="34" charset="0"/>
            </a:endParaRPr>
          </a:p>
        </p:txBody>
      </p:sp>
      <p:sp>
        <p:nvSpPr>
          <p:cNvPr id="3" name="Subtitle 2">
            <a:extLst>
              <a:ext uri="{FF2B5EF4-FFF2-40B4-BE49-F238E27FC236}">
                <a16:creationId xmlns:a16="http://schemas.microsoft.com/office/drawing/2014/main" id="{D62ABCB2-B73F-64EA-61ED-D8B16CDB9DCF}"/>
              </a:ext>
            </a:extLst>
          </p:cNvPr>
          <p:cNvSpPr>
            <a:spLocks noGrp="1"/>
          </p:cNvSpPr>
          <p:nvPr>
            <p:ph type="subTitle" idx="1"/>
          </p:nvPr>
        </p:nvSpPr>
        <p:spPr/>
        <p:txBody>
          <a:bodyPr/>
          <a:lstStyle/>
          <a:p>
            <a:r>
              <a:rPr lang="en-US" dirty="0"/>
              <a:t>MBA</a:t>
            </a:r>
          </a:p>
          <a:p>
            <a:r>
              <a:rPr lang="en-US" dirty="0"/>
              <a:t>Dr. Sumagna Bhowmick </a:t>
            </a:r>
            <a:endParaRPr lang="en-IN" dirty="0"/>
          </a:p>
        </p:txBody>
      </p:sp>
      <p:sp>
        <p:nvSpPr>
          <p:cNvPr id="4" name="Slide Number Placeholder 3">
            <a:extLst>
              <a:ext uri="{FF2B5EF4-FFF2-40B4-BE49-F238E27FC236}">
                <a16:creationId xmlns:a16="http://schemas.microsoft.com/office/drawing/2014/main" id="{0A462558-45CD-7D5F-3BF2-D8892C0FB4EC}"/>
              </a:ext>
            </a:extLst>
          </p:cNvPr>
          <p:cNvSpPr>
            <a:spLocks noGrp="1"/>
          </p:cNvSpPr>
          <p:nvPr>
            <p:ph type="sldNum" sz="quarter" idx="12"/>
          </p:nvPr>
        </p:nvSpPr>
        <p:spPr/>
        <p:txBody>
          <a:bodyPr/>
          <a:lstStyle/>
          <a:p>
            <a:fld id="{AADF62B3-C5AA-40A0-A9F3-B28CB0ADD062}" type="slidenum">
              <a:rPr lang="en-IN" smtClean="0"/>
              <a:t>1</a:t>
            </a:fld>
            <a:endParaRPr lang="en-IN"/>
          </a:p>
        </p:txBody>
      </p:sp>
    </p:spTree>
    <p:extLst>
      <p:ext uri="{BB962C8B-B14F-4D97-AF65-F5344CB8AC3E}">
        <p14:creationId xmlns:p14="http://schemas.microsoft.com/office/powerpoint/2010/main" val="1611285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06155-2FF9-91B5-3204-5074E7A350E7}"/>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9CA6094-B198-2DA7-4EEF-7341BD956F75}"/>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B1B84DFC-0D9B-45A4-DB5D-025E7AA45A03}"/>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Reflect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2546F975-0F5C-77EE-C391-6219A1AAB08B}"/>
              </a:ext>
            </a:extLst>
          </p:cNvPr>
          <p:cNvSpPr>
            <a:spLocks noGrp="1"/>
          </p:cNvSpPr>
          <p:nvPr>
            <p:ph type="sldNum" sz="quarter" idx="12"/>
          </p:nvPr>
        </p:nvSpPr>
        <p:spPr/>
        <p:txBody>
          <a:bodyPr/>
          <a:lstStyle/>
          <a:p>
            <a:fld id="{AADF62B3-C5AA-40A0-A9F3-B28CB0ADD062}" type="slidenum">
              <a:rPr lang="en-IN" smtClean="0"/>
              <a:t>2</a:t>
            </a:fld>
            <a:endParaRPr lang="en-IN"/>
          </a:p>
        </p:txBody>
      </p:sp>
      <p:pic>
        <p:nvPicPr>
          <p:cNvPr id="7" name="Picture 6">
            <a:extLst>
              <a:ext uri="{FF2B5EF4-FFF2-40B4-BE49-F238E27FC236}">
                <a16:creationId xmlns:a16="http://schemas.microsoft.com/office/drawing/2014/main" id="{4FA44903-7223-EC69-A821-B535D1FC2C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813" y="1457378"/>
            <a:ext cx="5221352" cy="3387934"/>
          </a:xfrm>
          <a:prstGeom prst="rect">
            <a:avLst/>
          </a:prstGeom>
        </p:spPr>
      </p:pic>
      <p:pic>
        <p:nvPicPr>
          <p:cNvPr id="9" name="Picture 8">
            <a:extLst>
              <a:ext uri="{FF2B5EF4-FFF2-40B4-BE49-F238E27FC236}">
                <a16:creationId xmlns:a16="http://schemas.microsoft.com/office/drawing/2014/main" id="{5C724B53-E944-8BE6-4A33-E79B768278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1900" y="2775570"/>
            <a:ext cx="5896287" cy="3160155"/>
          </a:xfrm>
          <a:prstGeom prst="rect">
            <a:avLst/>
          </a:prstGeom>
        </p:spPr>
      </p:pic>
      <p:sp>
        <p:nvSpPr>
          <p:cNvPr id="10" name="TextBox 9">
            <a:extLst>
              <a:ext uri="{FF2B5EF4-FFF2-40B4-BE49-F238E27FC236}">
                <a16:creationId xmlns:a16="http://schemas.microsoft.com/office/drawing/2014/main" id="{162C38CD-41B3-641A-B338-8A1DDB336FAE}"/>
              </a:ext>
            </a:extLst>
          </p:cNvPr>
          <p:cNvSpPr txBox="1"/>
          <p:nvPr/>
        </p:nvSpPr>
        <p:spPr>
          <a:xfrm>
            <a:off x="393813" y="5696793"/>
            <a:ext cx="4955022" cy="584775"/>
          </a:xfrm>
          <a:prstGeom prst="rect">
            <a:avLst/>
          </a:prstGeom>
          <a:noFill/>
        </p:spPr>
        <p:txBody>
          <a:bodyPr wrap="square" rtlCol="0">
            <a:spAutoFit/>
          </a:bodyPr>
          <a:lstStyle/>
          <a:p>
            <a:r>
              <a:rPr lang="en-US" sz="1600" dirty="0">
                <a:solidFill>
                  <a:srgbClr val="FF0000"/>
                </a:solidFill>
                <a:latin typeface="Tahoma" panose="020B0604030504040204" pitchFamily="34" charset="0"/>
                <a:ea typeface="Tahoma" panose="020B0604030504040204" pitchFamily="34" charset="0"/>
                <a:cs typeface="Tahoma" panose="020B0604030504040204" pitchFamily="34" charset="0"/>
              </a:rPr>
              <a:t>If you were the HR Head at Amazon, what would workforce planning involve?</a:t>
            </a:r>
            <a:endParaRPr lang="en-IN" sz="16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21792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256D1-9669-9DA2-A942-3A00AB66CC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102F37-FED1-BB87-0C9B-278DE06BD4AF}"/>
              </a:ext>
            </a:extLst>
          </p:cNvPr>
          <p:cNvSpPr>
            <a:spLocks noGrp="1"/>
          </p:cNvSpPr>
          <p:nvPr>
            <p:ph idx="1"/>
          </p:nvPr>
        </p:nvSpPr>
        <p:spPr>
          <a:xfrm>
            <a:off x="838200" y="1825624"/>
            <a:ext cx="10820400" cy="877115"/>
          </a:xfrm>
          <a:ln>
            <a:solidFill>
              <a:schemeClr val="bg2">
                <a:lumMod val="90000"/>
              </a:schemeClr>
            </a:solidFill>
          </a:ln>
        </p:spPr>
        <p:txBody>
          <a:bodyPr>
            <a:noAutofit/>
          </a:bodyPr>
          <a:lstStyle/>
          <a:p>
            <a:pPr marL="0" indent="0">
              <a:lnSpc>
                <a:spcPct val="100000"/>
              </a:lnSpc>
              <a:buNone/>
            </a:pPr>
            <a:r>
              <a:rPr lang="en-US" sz="1800" dirty="0">
                <a:solidFill>
                  <a:srgbClr val="FF0000"/>
                </a:solidFill>
                <a:latin typeface="Tahoma" panose="020B0604030504040204" pitchFamily="34" charset="0"/>
                <a:ea typeface="Tahoma" panose="020B0604030504040204" pitchFamily="34" charset="0"/>
                <a:cs typeface="Tahoma" panose="020B0604030504040204" pitchFamily="34" charset="0"/>
              </a:rPr>
              <a:t>Is workforce planning just about cutting people?</a:t>
            </a:r>
          </a:p>
        </p:txBody>
      </p:sp>
      <p:cxnSp>
        <p:nvCxnSpPr>
          <p:cNvPr id="4" name="Straight Connector 3">
            <a:extLst>
              <a:ext uri="{FF2B5EF4-FFF2-40B4-BE49-F238E27FC236}">
                <a16:creationId xmlns:a16="http://schemas.microsoft.com/office/drawing/2014/main" id="{872542B5-C8F7-6F54-1043-44F529CDDF1D}"/>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62899E1B-4650-A2F7-A779-F4DDDE94A058}"/>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Reflect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58403864-3D64-2ED9-25D8-B609BD7E86E5}"/>
              </a:ext>
            </a:extLst>
          </p:cNvPr>
          <p:cNvSpPr>
            <a:spLocks noGrp="1"/>
          </p:cNvSpPr>
          <p:nvPr>
            <p:ph type="sldNum" sz="quarter" idx="12"/>
          </p:nvPr>
        </p:nvSpPr>
        <p:spPr/>
        <p:txBody>
          <a:bodyPr/>
          <a:lstStyle/>
          <a:p>
            <a:fld id="{AADF62B3-C5AA-40A0-A9F3-B28CB0ADD062}" type="slidenum">
              <a:rPr lang="en-IN" smtClean="0"/>
              <a:t>3</a:t>
            </a:fld>
            <a:endParaRPr lang="en-IN"/>
          </a:p>
        </p:txBody>
      </p:sp>
    </p:spTree>
    <p:extLst>
      <p:ext uri="{BB962C8B-B14F-4D97-AF65-F5344CB8AC3E}">
        <p14:creationId xmlns:p14="http://schemas.microsoft.com/office/powerpoint/2010/main" val="2939377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34F06-DD75-EFEB-3181-3E29A41904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CD142E-105C-6A42-BC4E-C6D7BAE799AA}"/>
              </a:ext>
            </a:extLst>
          </p:cNvPr>
          <p:cNvSpPr>
            <a:spLocks noGrp="1"/>
          </p:cNvSpPr>
          <p:nvPr>
            <p:ph idx="1"/>
          </p:nvPr>
        </p:nvSpPr>
        <p:spPr>
          <a:xfrm>
            <a:off x="637921" y="1509752"/>
            <a:ext cx="7114249" cy="4405526"/>
          </a:xfrm>
          <a:ln>
            <a:solidFill>
              <a:schemeClr val="bg2">
                <a:lumMod val="90000"/>
              </a:schemeClr>
            </a:solidFill>
          </a:ln>
        </p:spPr>
        <p:txBody>
          <a:bodyPr>
            <a:noAutofit/>
          </a:bodyPr>
          <a:lstStyle/>
          <a:p>
            <a:pPr marL="0" indent="0">
              <a:lnSpc>
                <a:spcPct val="200000"/>
              </a:lnSpc>
              <a:buNone/>
            </a:pPr>
            <a:r>
              <a:rPr lang="en-US" sz="1600" dirty="0">
                <a:latin typeface="Tahoma" panose="020B0604030504040204" pitchFamily="34" charset="0"/>
                <a:ea typeface="Tahoma" panose="020B0604030504040204" pitchFamily="34" charset="0"/>
                <a:cs typeface="Tahoma" panose="020B0604030504040204" pitchFamily="34" charset="0"/>
              </a:rPr>
              <a:t>Workforce Planning concentrates on assessing the human resources requirements by an organization through the different stages of the organization’s life cycle </a:t>
            </a:r>
          </a:p>
          <a:p>
            <a:pPr marL="0" indent="0">
              <a:lnSpc>
                <a:spcPct val="200000"/>
              </a:lnSpc>
              <a:buNone/>
            </a:pPr>
            <a:r>
              <a:rPr lang="en-US" sz="1600" dirty="0">
                <a:latin typeface="Tahoma" panose="020B0604030504040204" pitchFamily="34" charset="0"/>
                <a:ea typeface="Tahoma" panose="020B0604030504040204" pitchFamily="34" charset="0"/>
                <a:cs typeface="Tahoma" panose="020B0604030504040204" pitchFamily="34" charset="0"/>
              </a:rPr>
              <a:t>Workforce Planning makes sure that right kinds of people in right numbers are available at the right time and in the right places to help implement business strategies </a:t>
            </a:r>
          </a:p>
          <a:p>
            <a:pPr marL="0" indent="0">
              <a:lnSpc>
                <a:spcPct val="200000"/>
              </a:lnSpc>
              <a:buNone/>
            </a:pPr>
            <a:r>
              <a:rPr lang="en-US" sz="1600" dirty="0">
                <a:latin typeface="Tahoma" panose="020B0604030504040204" pitchFamily="34" charset="0"/>
                <a:ea typeface="Tahoma" panose="020B0604030504040204" pitchFamily="34" charset="0"/>
                <a:cs typeface="Tahoma" panose="020B0604030504040204" pitchFamily="34" charset="0"/>
              </a:rPr>
              <a:t>Workforce Planning occurs within the broad context of organizational and strategic business planning. </a:t>
            </a:r>
          </a:p>
          <a:p>
            <a:pPr marL="0" indent="0">
              <a:lnSpc>
                <a:spcPct val="200000"/>
              </a:lnSpc>
              <a:buNone/>
            </a:pPr>
            <a:endParaRPr lang="en-US" sz="1600" i="1" dirty="0">
              <a:latin typeface="Tahoma" panose="020B0604030504040204" pitchFamily="34" charset="0"/>
              <a:ea typeface="Tahoma" panose="020B0604030504040204" pitchFamily="34" charset="0"/>
              <a:cs typeface="Tahoma" panose="020B0604030504040204" pitchFamily="34" charset="0"/>
            </a:endParaRPr>
          </a:p>
          <a:p>
            <a:pPr marL="0" indent="0">
              <a:lnSpc>
                <a:spcPct val="200000"/>
              </a:lnSpc>
              <a:buNone/>
            </a:pPr>
            <a:endParaRPr lang="en-IN" sz="1600" i="1" dirty="0">
              <a:latin typeface="Tahoma" panose="020B0604030504040204" pitchFamily="34" charset="0"/>
              <a:ea typeface="Tahoma" panose="020B0604030504040204" pitchFamily="34" charset="0"/>
              <a:cs typeface="Tahoma" panose="020B0604030504040204" pitchFamily="34" charset="0"/>
            </a:endParaRPr>
          </a:p>
        </p:txBody>
      </p:sp>
      <p:cxnSp>
        <p:nvCxnSpPr>
          <p:cNvPr id="4" name="Straight Connector 3">
            <a:extLst>
              <a:ext uri="{FF2B5EF4-FFF2-40B4-BE49-F238E27FC236}">
                <a16:creationId xmlns:a16="http://schemas.microsoft.com/office/drawing/2014/main" id="{BE5CAE89-E531-AA57-C5FE-4B6E44778134}"/>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29D01AB-C123-813F-FB9D-15D1B0B5F443}"/>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Workforce Planning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16DB1D8B-18E8-CAA0-688E-E2B312D111CF}"/>
              </a:ext>
            </a:extLst>
          </p:cNvPr>
          <p:cNvSpPr>
            <a:spLocks noGrp="1"/>
          </p:cNvSpPr>
          <p:nvPr>
            <p:ph type="sldNum" sz="quarter" idx="12"/>
          </p:nvPr>
        </p:nvSpPr>
        <p:spPr/>
        <p:txBody>
          <a:bodyPr/>
          <a:lstStyle/>
          <a:p>
            <a:fld id="{AADF62B3-C5AA-40A0-A9F3-B28CB0ADD062}" type="slidenum">
              <a:rPr lang="en-IN" smtClean="0"/>
              <a:t>4</a:t>
            </a:fld>
            <a:endParaRPr lang="en-IN"/>
          </a:p>
        </p:txBody>
      </p:sp>
      <p:pic>
        <p:nvPicPr>
          <p:cNvPr id="8" name="Picture 7">
            <a:extLst>
              <a:ext uri="{FF2B5EF4-FFF2-40B4-BE49-F238E27FC236}">
                <a16:creationId xmlns:a16="http://schemas.microsoft.com/office/drawing/2014/main" id="{1429FDE7-E430-31C9-19CB-5F93B36616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78183" y="2673634"/>
            <a:ext cx="3275617" cy="22069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18611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48CFD-1D59-E2FE-FB05-4AF98CD2042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0D2CEC-11C0-38F2-D13C-EE24885CD64C}"/>
              </a:ext>
            </a:extLst>
          </p:cNvPr>
          <p:cNvSpPr>
            <a:spLocks noGrp="1"/>
          </p:cNvSpPr>
          <p:nvPr>
            <p:ph idx="1"/>
          </p:nvPr>
        </p:nvSpPr>
        <p:spPr>
          <a:xfrm>
            <a:off x="870568" y="2400156"/>
            <a:ext cx="10820400" cy="1265534"/>
          </a:xfrm>
          <a:ln>
            <a:solidFill>
              <a:schemeClr val="bg2">
                <a:lumMod val="90000"/>
              </a:schemeClr>
            </a:solidFill>
          </a:ln>
        </p:spPr>
        <p:txBody>
          <a:bodyPr>
            <a:noAutofit/>
          </a:bodyPr>
          <a:lstStyle/>
          <a:p>
            <a:pPr marL="0" indent="0" algn="ctr">
              <a:lnSpc>
                <a:spcPct val="100000"/>
              </a:lnSpc>
              <a:buNone/>
            </a:pPr>
            <a:r>
              <a:rPr lang="en-US" sz="1800" dirty="0">
                <a:solidFill>
                  <a:srgbClr val="FF0000"/>
                </a:solidFill>
                <a:latin typeface="Tahoma" panose="020B0604030504040204" pitchFamily="34" charset="0"/>
                <a:ea typeface="Tahoma" panose="020B0604030504040204" pitchFamily="34" charset="0"/>
                <a:cs typeface="Tahoma" panose="020B0604030504040204" pitchFamily="34" charset="0"/>
              </a:rPr>
              <a:t>From all these examples, what is the connection between business strategy and workforce planning?</a:t>
            </a:r>
          </a:p>
          <a:p>
            <a:pPr marL="0" indent="0" algn="ctr">
              <a:lnSpc>
                <a:spcPct val="100000"/>
              </a:lnSpc>
              <a:buNone/>
            </a:pPr>
            <a:endParaRPr lang="en-US" sz="18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buNone/>
            </a:pPr>
            <a:r>
              <a:rPr lang="en-US" sz="1800" dirty="0">
                <a:solidFill>
                  <a:srgbClr val="FF0000"/>
                </a:solidFill>
                <a:latin typeface="Tahoma" panose="020B0604030504040204" pitchFamily="34" charset="0"/>
                <a:ea typeface="Tahoma" panose="020B0604030504040204" pitchFamily="34" charset="0"/>
                <a:cs typeface="Tahoma" panose="020B0604030504040204" pitchFamily="34" charset="0"/>
              </a:rPr>
              <a:t>As a company moves from infancy to growth to aging, what must happen to its workforce?</a:t>
            </a:r>
          </a:p>
        </p:txBody>
      </p:sp>
      <p:cxnSp>
        <p:nvCxnSpPr>
          <p:cNvPr id="4" name="Straight Connector 3">
            <a:extLst>
              <a:ext uri="{FF2B5EF4-FFF2-40B4-BE49-F238E27FC236}">
                <a16:creationId xmlns:a16="http://schemas.microsoft.com/office/drawing/2014/main" id="{674176CD-C555-1809-1722-99A45CD437EA}"/>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1F7E58A2-C994-15DE-E4F5-DD53620941AF}"/>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Reflect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3D42C297-BA96-4158-F30B-E39231572C77}"/>
              </a:ext>
            </a:extLst>
          </p:cNvPr>
          <p:cNvSpPr>
            <a:spLocks noGrp="1"/>
          </p:cNvSpPr>
          <p:nvPr>
            <p:ph type="sldNum" sz="quarter" idx="12"/>
          </p:nvPr>
        </p:nvSpPr>
        <p:spPr/>
        <p:txBody>
          <a:bodyPr/>
          <a:lstStyle/>
          <a:p>
            <a:fld id="{AADF62B3-C5AA-40A0-A9F3-B28CB0ADD062}" type="slidenum">
              <a:rPr lang="en-IN" smtClean="0"/>
              <a:t>5</a:t>
            </a:fld>
            <a:endParaRPr lang="en-IN"/>
          </a:p>
        </p:txBody>
      </p:sp>
    </p:spTree>
    <p:extLst>
      <p:ext uri="{BB962C8B-B14F-4D97-AF65-F5344CB8AC3E}">
        <p14:creationId xmlns:p14="http://schemas.microsoft.com/office/powerpoint/2010/main" val="2541870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695E7-746C-76F4-E85F-822322BF602A}"/>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18E5BB-CEE8-30D1-8801-F12706D914D9}"/>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D48C1751-EDA3-C8EB-6233-86F5CB821052}"/>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Factors affecting workforce planning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A3783EC2-9C76-9595-68CB-899CEA0F9308}"/>
              </a:ext>
            </a:extLst>
          </p:cNvPr>
          <p:cNvSpPr>
            <a:spLocks noGrp="1"/>
          </p:cNvSpPr>
          <p:nvPr>
            <p:ph type="sldNum" sz="quarter" idx="12"/>
          </p:nvPr>
        </p:nvSpPr>
        <p:spPr/>
        <p:txBody>
          <a:bodyPr/>
          <a:lstStyle/>
          <a:p>
            <a:fld id="{AADF62B3-C5AA-40A0-A9F3-B28CB0ADD062}" type="slidenum">
              <a:rPr lang="en-IN" smtClean="0"/>
              <a:t>6</a:t>
            </a:fld>
            <a:endParaRPr lang="en-IN"/>
          </a:p>
        </p:txBody>
      </p:sp>
      <p:graphicFrame>
        <p:nvGraphicFramePr>
          <p:cNvPr id="9" name="Content Placeholder 8">
            <a:extLst>
              <a:ext uri="{FF2B5EF4-FFF2-40B4-BE49-F238E27FC236}">
                <a16:creationId xmlns:a16="http://schemas.microsoft.com/office/drawing/2014/main" id="{2324BF2C-40D3-E836-515A-F9EBCBD65AA8}"/>
              </a:ext>
            </a:extLst>
          </p:cNvPr>
          <p:cNvGraphicFramePr>
            <a:graphicFrameLocks noGrp="1"/>
          </p:cNvGraphicFramePr>
          <p:nvPr>
            <p:ph idx="1"/>
            <p:extLst>
              <p:ext uri="{D42A27DB-BD31-4B8C-83A1-F6EECF244321}">
                <p14:modId xmlns:p14="http://schemas.microsoft.com/office/powerpoint/2010/main" val="2162134317"/>
              </p:ext>
            </p:extLst>
          </p:nvPr>
        </p:nvGraphicFramePr>
        <p:xfrm>
          <a:off x="1731696" y="1704244"/>
          <a:ext cx="9152091" cy="4543612"/>
        </p:xfrm>
        <a:graphic>
          <a:graphicData uri="http://schemas.openxmlformats.org/drawingml/2006/table">
            <a:tbl>
              <a:tblPr/>
              <a:tblGrid>
                <a:gridCol w="1755971">
                  <a:extLst>
                    <a:ext uri="{9D8B030D-6E8A-4147-A177-3AD203B41FA5}">
                      <a16:colId xmlns:a16="http://schemas.microsoft.com/office/drawing/2014/main" val="749526554"/>
                    </a:ext>
                  </a:extLst>
                </a:gridCol>
                <a:gridCol w="4345423">
                  <a:extLst>
                    <a:ext uri="{9D8B030D-6E8A-4147-A177-3AD203B41FA5}">
                      <a16:colId xmlns:a16="http://schemas.microsoft.com/office/drawing/2014/main" val="2422815590"/>
                    </a:ext>
                  </a:extLst>
                </a:gridCol>
                <a:gridCol w="3050697">
                  <a:extLst>
                    <a:ext uri="{9D8B030D-6E8A-4147-A177-3AD203B41FA5}">
                      <a16:colId xmlns:a16="http://schemas.microsoft.com/office/drawing/2014/main" val="3336074023"/>
                    </a:ext>
                  </a:extLst>
                </a:gridCol>
              </a:tblGrid>
              <a:tr h="271959">
                <a:tc>
                  <a:txBody>
                    <a:bodyPr/>
                    <a:lstStyle/>
                    <a:p>
                      <a:pPr>
                        <a:buNone/>
                      </a:pPr>
                      <a:r>
                        <a:rPr lang="en-IN" sz="1300" b="1">
                          <a:latin typeface="Tahoma" panose="020B0604030504040204" pitchFamily="34" charset="0"/>
                          <a:ea typeface="Tahoma" panose="020B0604030504040204" pitchFamily="34" charset="0"/>
                          <a:cs typeface="Tahoma" panose="020B0604030504040204" pitchFamily="34" charset="0"/>
                        </a:rPr>
                        <a:t>External Factor</a:t>
                      </a:r>
                      <a:endParaRPr lang="en-IN" sz="1300">
                        <a:latin typeface="Tahoma" panose="020B0604030504040204" pitchFamily="34" charset="0"/>
                        <a:ea typeface="Tahoma" panose="020B0604030504040204" pitchFamily="34" charset="0"/>
                        <a:cs typeface="Tahoma" panose="020B0604030504040204" pitchFamily="34" charset="0"/>
                      </a:endParaRP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300" b="1">
                          <a:latin typeface="Tahoma" panose="020B0604030504040204" pitchFamily="34" charset="0"/>
                          <a:ea typeface="Tahoma" panose="020B0604030504040204" pitchFamily="34" charset="0"/>
                          <a:cs typeface="Tahoma" panose="020B0604030504040204" pitchFamily="34" charset="0"/>
                        </a:rPr>
                        <a:t>Description</a:t>
                      </a:r>
                      <a:endParaRPr lang="en-IN" sz="1300">
                        <a:latin typeface="Tahoma" panose="020B0604030504040204" pitchFamily="34" charset="0"/>
                        <a:ea typeface="Tahoma" panose="020B0604030504040204" pitchFamily="34" charset="0"/>
                        <a:cs typeface="Tahoma" panose="020B0604030504040204" pitchFamily="34" charset="0"/>
                      </a:endParaRP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300" b="1">
                          <a:latin typeface="Tahoma" panose="020B0604030504040204" pitchFamily="34" charset="0"/>
                          <a:ea typeface="Tahoma" panose="020B0604030504040204" pitchFamily="34" charset="0"/>
                          <a:cs typeface="Tahoma" panose="020B0604030504040204" pitchFamily="34" charset="0"/>
                        </a:rPr>
                        <a:t>Implication for Workforce Planning</a:t>
                      </a:r>
                      <a:endParaRPr lang="en-IN" sz="1300">
                        <a:latin typeface="Tahoma" panose="020B0604030504040204" pitchFamily="34" charset="0"/>
                        <a:ea typeface="Tahoma" panose="020B0604030504040204" pitchFamily="34" charset="0"/>
                        <a:cs typeface="Tahoma" panose="020B0604030504040204" pitchFamily="34" charset="0"/>
                      </a:endParaRP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086129"/>
                  </a:ext>
                </a:extLst>
              </a:tr>
              <a:tr h="679897">
                <a:tc>
                  <a:txBody>
                    <a:bodyPr/>
                    <a:lstStyle/>
                    <a:p>
                      <a:pPr>
                        <a:buNone/>
                      </a:pPr>
                      <a:r>
                        <a:rPr lang="en-IN" sz="1300" b="1">
                          <a:latin typeface="Tahoma" panose="020B0604030504040204" pitchFamily="34" charset="0"/>
                          <a:ea typeface="Tahoma" panose="020B0604030504040204" pitchFamily="34" charset="0"/>
                          <a:cs typeface="Tahoma" panose="020B0604030504040204" pitchFamily="34" charset="0"/>
                        </a:rPr>
                        <a:t>Economic Factors</a:t>
                      </a:r>
                      <a:endParaRPr lang="en-IN" sz="1300">
                        <a:latin typeface="Tahoma" panose="020B0604030504040204" pitchFamily="34" charset="0"/>
                        <a:ea typeface="Tahoma" panose="020B0604030504040204" pitchFamily="34" charset="0"/>
                        <a:cs typeface="Tahoma" panose="020B0604030504040204" pitchFamily="34" charset="0"/>
                      </a:endParaRP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300">
                          <a:latin typeface="Tahoma" panose="020B0604030504040204" pitchFamily="34" charset="0"/>
                          <a:ea typeface="Tahoma" panose="020B0604030504040204" pitchFamily="34" charset="0"/>
                          <a:cs typeface="Tahoma" panose="020B0604030504040204" pitchFamily="34" charset="0"/>
                        </a:rPr>
                        <a:t>Overall economic conditions such as growth, recession, inflation, and employment levels</a:t>
                      </a: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300">
                          <a:latin typeface="Tahoma" panose="020B0604030504040204" pitchFamily="34" charset="0"/>
                          <a:ea typeface="Tahoma" panose="020B0604030504040204" pitchFamily="34" charset="0"/>
                          <a:cs typeface="Tahoma" panose="020B0604030504040204" pitchFamily="34" charset="0"/>
                        </a:rPr>
                        <a:t>Determines hiring capacity, wage levels, and need for expansion or downsizing</a:t>
                      </a: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0119078"/>
                  </a:ext>
                </a:extLst>
              </a:tr>
              <a:tr h="679897">
                <a:tc>
                  <a:txBody>
                    <a:bodyPr/>
                    <a:lstStyle/>
                    <a:p>
                      <a:pPr>
                        <a:buNone/>
                      </a:pPr>
                      <a:r>
                        <a:rPr lang="en-IN" sz="1300" b="1">
                          <a:latin typeface="Tahoma" panose="020B0604030504040204" pitchFamily="34" charset="0"/>
                          <a:ea typeface="Tahoma" panose="020B0604030504040204" pitchFamily="34" charset="0"/>
                          <a:cs typeface="Tahoma" panose="020B0604030504040204" pitchFamily="34" charset="0"/>
                        </a:rPr>
                        <a:t>Technological Factors</a:t>
                      </a:r>
                      <a:endParaRPr lang="en-IN" sz="1300">
                        <a:latin typeface="Tahoma" panose="020B0604030504040204" pitchFamily="34" charset="0"/>
                        <a:ea typeface="Tahoma" panose="020B0604030504040204" pitchFamily="34" charset="0"/>
                        <a:cs typeface="Tahoma" panose="020B0604030504040204" pitchFamily="34" charset="0"/>
                      </a:endParaRP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300" dirty="0">
                          <a:latin typeface="Tahoma" panose="020B0604030504040204" pitchFamily="34" charset="0"/>
                          <a:ea typeface="Tahoma" panose="020B0604030504040204" pitchFamily="34" charset="0"/>
                          <a:cs typeface="Tahoma" panose="020B0604030504040204" pitchFamily="34" charset="0"/>
                        </a:rPr>
                        <a:t>Speed of technological change, automation, and digital transformation</a:t>
                      </a: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300">
                          <a:latin typeface="Tahoma" panose="020B0604030504040204" pitchFamily="34" charset="0"/>
                          <a:ea typeface="Tahoma" panose="020B0604030504040204" pitchFamily="34" charset="0"/>
                          <a:cs typeface="Tahoma" panose="020B0604030504040204" pitchFamily="34" charset="0"/>
                        </a:rPr>
                        <a:t>Leads to skill obsolescence, demand for new skills, and need for reskilling and upskilling</a:t>
                      </a: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1597387"/>
                  </a:ext>
                </a:extLst>
              </a:tr>
              <a:tr h="679897">
                <a:tc>
                  <a:txBody>
                    <a:bodyPr/>
                    <a:lstStyle/>
                    <a:p>
                      <a:pPr>
                        <a:buNone/>
                      </a:pPr>
                      <a:r>
                        <a:rPr lang="en-IN" sz="1300" b="1">
                          <a:latin typeface="Tahoma" panose="020B0604030504040204" pitchFamily="34" charset="0"/>
                          <a:ea typeface="Tahoma" panose="020B0604030504040204" pitchFamily="34" charset="0"/>
                          <a:cs typeface="Tahoma" panose="020B0604030504040204" pitchFamily="34" charset="0"/>
                        </a:rPr>
                        <a:t>Legal Factors</a:t>
                      </a:r>
                      <a:endParaRPr lang="en-IN" sz="1300">
                        <a:latin typeface="Tahoma" panose="020B0604030504040204" pitchFamily="34" charset="0"/>
                        <a:ea typeface="Tahoma" panose="020B0604030504040204" pitchFamily="34" charset="0"/>
                        <a:cs typeface="Tahoma" panose="020B0604030504040204" pitchFamily="34" charset="0"/>
                      </a:endParaRP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300" dirty="0" err="1">
                          <a:latin typeface="Tahoma" panose="020B0604030504040204" pitchFamily="34" charset="0"/>
                          <a:ea typeface="Tahoma" panose="020B0604030504040204" pitchFamily="34" charset="0"/>
                          <a:cs typeface="Tahoma" panose="020B0604030504040204" pitchFamily="34" charset="0"/>
                        </a:rPr>
                        <a:t>Labour</a:t>
                      </a:r>
                      <a:r>
                        <a:rPr lang="en-US" sz="1300" dirty="0">
                          <a:latin typeface="Tahoma" panose="020B0604030504040204" pitchFamily="34" charset="0"/>
                          <a:ea typeface="Tahoma" panose="020B0604030504040204" pitchFamily="34" charset="0"/>
                          <a:cs typeface="Tahoma" panose="020B0604030504040204" pitchFamily="34" charset="0"/>
                        </a:rPr>
                        <a:t> laws, judicial decisions, government regulations, and compliance requirements</a:t>
                      </a: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300">
                          <a:latin typeface="Tahoma" panose="020B0604030504040204" pitchFamily="34" charset="0"/>
                          <a:ea typeface="Tahoma" panose="020B0604030504040204" pitchFamily="34" charset="0"/>
                          <a:cs typeface="Tahoma" panose="020B0604030504040204" pitchFamily="34" charset="0"/>
                        </a:rPr>
                        <a:t>Sets limits on hiring, termination, contract labour, and working conditions</a:t>
                      </a: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18376"/>
                  </a:ext>
                </a:extLst>
              </a:tr>
              <a:tr h="679897">
                <a:tc>
                  <a:txBody>
                    <a:bodyPr/>
                    <a:lstStyle/>
                    <a:p>
                      <a:pPr>
                        <a:buNone/>
                      </a:pPr>
                      <a:r>
                        <a:rPr lang="en-IN" sz="1300" b="1">
                          <a:latin typeface="Tahoma" panose="020B0604030504040204" pitchFamily="34" charset="0"/>
                          <a:ea typeface="Tahoma" panose="020B0604030504040204" pitchFamily="34" charset="0"/>
                          <a:cs typeface="Tahoma" panose="020B0604030504040204" pitchFamily="34" charset="0"/>
                        </a:rPr>
                        <a:t>Demographic Factors</a:t>
                      </a:r>
                      <a:endParaRPr lang="en-IN" sz="1300">
                        <a:latin typeface="Tahoma" panose="020B0604030504040204" pitchFamily="34" charset="0"/>
                        <a:ea typeface="Tahoma" panose="020B0604030504040204" pitchFamily="34" charset="0"/>
                        <a:cs typeface="Tahoma" panose="020B0604030504040204" pitchFamily="34" charset="0"/>
                      </a:endParaRP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300">
                          <a:latin typeface="Tahoma" panose="020B0604030504040204" pitchFamily="34" charset="0"/>
                          <a:ea typeface="Tahoma" panose="020B0604030504040204" pitchFamily="34" charset="0"/>
                          <a:cs typeface="Tahoma" panose="020B0604030504040204" pitchFamily="34" charset="0"/>
                        </a:rPr>
                        <a:t>Age structure, education levels, gender composition, and workforce participation rates</a:t>
                      </a: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300">
                          <a:latin typeface="Tahoma" panose="020B0604030504040204" pitchFamily="34" charset="0"/>
                          <a:ea typeface="Tahoma" panose="020B0604030504040204" pitchFamily="34" charset="0"/>
                          <a:cs typeface="Tahoma" panose="020B0604030504040204" pitchFamily="34" charset="0"/>
                        </a:rPr>
                        <a:t>Influences availability of talent, succession planning, and training needs</a:t>
                      </a: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0685908"/>
                  </a:ext>
                </a:extLst>
              </a:tr>
              <a:tr h="679897">
                <a:tc>
                  <a:txBody>
                    <a:bodyPr/>
                    <a:lstStyle/>
                    <a:p>
                      <a:pPr>
                        <a:buNone/>
                      </a:pPr>
                      <a:r>
                        <a:rPr lang="en-IN" sz="1300" b="1">
                          <a:latin typeface="Tahoma" panose="020B0604030504040204" pitchFamily="34" charset="0"/>
                          <a:ea typeface="Tahoma" panose="020B0604030504040204" pitchFamily="34" charset="0"/>
                          <a:cs typeface="Tahoma" panose="020B0604030504040204" pitchFamily="34" charset="0"/>
                        </a:rPr>
                        <a:t>Geographic Factors</a:t>
                      </a:r>
                      <a:endParaRPr lang="en-IN" sz="1300">
                        <a:latin typeface="Tahoma" panose="020B0604030504040204" pitchFamily="34" charset="0"/>
                        <a:ea typeface="Tahoma" panose="020B0604030504040204" pitchFamily="34" charset="0"/>
                        <a:cs typeface="Tahoma" panose="020B0604030504040204" pitchFamily="34" charset="0"/>
                      </a:endParaRP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300">
                          <a:latin typeface="Tahoma" panose="020B0604030504040204" pitchFamily="34" charset="0"/>
                          <a:ea typeface="Tahoma" panose="020B0604030504040204" pitchFamily="34" charset="0"/>
                          <a:cs typeface="Tahoma" panose="020B0604030504040204" pitchFamily="34" charset="0"/>
                        </a:rPr>
                        <a:t>Location of operations and availability of local labour markets</a:t>
                      </a: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300">
                          <a:latin typeface="Tahoma" panose="020B0604030504040204" pitchFamily="34" charset="0"/>
                          <a:ea typeface="Tahoma" panose="020B0604030504040204" pitchFamily="34" charset="0"/>
                          <a:cs typeface="Tahoma" panose="020B0604030504040204" pitchFamily="34" charset="0"/>
                        </a:rPr>
                        <a:t>Affects recruitment sources, mobility, and workforce distribution</a:t>
                      </a: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9404997"/>
                  </a:ext>
                </a:extLst>
              </a:tr>
              <a:tr h="679897">
                <a:tc>
                  <a:txBody>
                    <a:bodyPr/>
                    <a:lstStyle/>
                    <a:p>
                      <a:pPr>
                        <a:buNone/>
                      </a:pPr>
                      <a:r>
                        <a:rPr lang="en-IN" sz="1300" b="1">
                          <a:latin typeface="Tahoma" panose="020B0604030504040204" pitchFamily="34" charset="0"/>
                          <a:ea typeface="Tahoma" panose="020B0604030504040204" pitchFamily="34" charset="0"/>
                          <a:cs typeface="Tahoma" panose="020B0604030504040204" pitchFamily="34" charset="0"/>
                        </a:rPr>
                        <a:t>Social Factors</a:t>
                      </a:r>
                      <a:endParaRPr lang="en-IN" sz="1300">
                        <a:latin typeface="Tahoma" panose="020B0604030504040204" pitchFamily="34" charset="0"/>
                        <a:ea typeface="Tahoma" panose="020B0604030504040204" pitchFamily="34" charset="0"/>
                        <a:cs typeface="Tahoma" panose="020B0604030504040204" pitchFamily="34" charset="0"/>
                      </a:endParaRP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300">
                          <a:latin typeface="Tahoma" panose="020B0604030504040204" pitchFamily="34" charset="0"/>
                          <a:ea typeface="Tahoma" panose="020B0604030504040204" pitchFamily="34" charset="0"/>
                          <a:cs typeface="Tahoma" panose="020B0604030504040204" pitchFamily="34" charset="0"/>
                        </a:rPr>
                        <a:t>Social values, cultural expectations, diversity norms, and work–life balance preferences</a:t>
                      </a: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300" dirty="0">
                          <a:latin typeface="Tahoma" panose="020B0604030504040204" pitchFamily="34" charset="0"/>
                          <a:ea typeface="Tahoma" panose="020B0604030504040204" pitchFamily="34" charset="0"/>
                          <a:cs typeface="Tahoma" panose="020B0604030504040204" pitchFamily="34" charset="0"/>
                        </a:rPr>
                        <a:t>Shapes HR policies related to inclusion, flexibility, and workplace practices</a:t>
                      </a:r>
                    </a:p>
                  </a:txBody>
                  <a:tcPr marL="67990" marR="67990" marT="33995" marB="3399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3657397"/>
                  </a:ext>
                </a:extLst>
              </a:tr>
            </a:tbl>
          </a:graphicData>
        </a:graphic>
      </p:graphicFrame>
    </p:spTree>
    <p:extLst>
      <p:ext uri="{BB962C8B-B14F-4D97-AF65-F5344CB8AC3E}">
        <p14:creationId xmlns:p14="http://schemas.microsoft.com/office/powerpoint/2010/main" val="2977796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CCCDA-0906-B2D4-7FF8-2BB96CDD3D49}"/>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0644C2E-C2B8-245A-6566-FEB8C2ED506E}"/>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C7B86D64-4714-0DED-EAEC-C84A01AC01B7}"/>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Factors affecting workforce planning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BC5FB800-1276-9DBB-6F50-5222F8D569F9}"/>
              </a:ext>
            </a:extLst>
          </p:cNvPr>
          <p:cNvSpPr>
            <a:spLocks noGrp="1"/>
          </p:cNvSpPr>
          <p:nvPr>
            <p:ph type="sldNum" sz="quarter" idx="12"/>
          </p:nvPr>
        </p:nvSpPr>
        <p:spPr/>
        <p:txBody>
          <a:bodyPr/>
          <a:lstStyle/>
          <a:p>
            <a:fld id="{AADF62B3-C5AA-40A0-A9F3-B28CB0ADD062}" type="slidenum">
              <a:rPr lang="en-IN" smtClean="0"/>
              <a:t>7</a:t>
            </a:fld>
            <a:endParaRPr lang="en-IN"/>
          </a:p>
        </p:txBody>
      </p:sp>
      <p:graphicFrame>
        <p:nvGraphicFramePr>
          <p:cNvPr id="7" name="Content Placeholder 6">
            <a:extLst>
              <a:ext uri="{FF2B5EF4-FFF2-40B4-BE49-F238E27FC236}">
                <a16:creationId xmlns:a16="http://schemas.microsoft.com/office/drawing/2014/main" id="{6F319812-F10C-891C-901F-B52951E7CAB7}"/>
              </a:ext>
            </a:extLst>
          </p:cNvPr>
          <p:cNvGraphicFramePr>
            <a:graphicFrameLocks noGrp="1"/>
          </p:cNvGraphicFramePr>
          <p:nvPr>
            <p:ph idx="1"/>
            <p:extLst>
              <p:ext uri="{D42A27DB-BD31-4B8C-83A1-F6EECF244321}">
                <p14:modId xmlns:p14="http://schemas.microsoft.com/office/powerpoint/2010/main" val="951914181"/>
              </p:ext>
            </p:extLst>
          </p:nvPr>
        </p:nvGraphicFramePr>
        <p:xfrm>
          <a:off x="1416104" y="1738436"/>
          <a:ext cx="9378666" cy="4366858"/>
        </p:xfrm>
        <a:graphic>
          <a:graphicData uri="http://schemas.openxmlformats.org/drawingml/2006/table">
            <a:tbl>
              <a:tblPr/>
              <a:tblGrid>
                <a:gridCol w="3126222">
                  <a:extLst>
                    <a:ext uri="{9D8B030D-6E8A-4147-A177-3AD203B41FA5}">
                      <a16:colId xmlns:a16="http://schemas.microsoft.com/office/drawing/2014/main" val="237162243"/>
                    </a:ext>
                  </a:extLst>
                </a:gridCol>
                <a:gridCol w="3126222">
                  <a:extLst>
                    <a:ext uri="{9D8B030D-6E8A-4147-A177-3AD203B41FA5}">
                      <a16:colId xmlns:a16="http://schemas.microsoft.com/office/drawing/2014/main" val="1103774550"/>
                    </a:ext>
                  </a:extLst>
                </a:gridCol>
                <a:gridCol w="3126222">
                  <a:extLst>
                    <a:ext uri="{9D8B030D-6E8A-4147-A177-3AD203B41FA5}">
                      <a16:colId xmlns:a16="http://schemas.microsoft.com/office/drawing/2014/main" val="2687774523"/>
                    </a:ext>
                  </a:extLst>
                </a:gridCol>
              </a:tblGrid>
              <a:tr h="223146">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Internal Factor</a:t>
                      </a:r>
                      <a:endParaRPr lang="en-IN" sz="1200">
                        <a:latin typeface="Tahoma" panose="020B0604030504040204" pitchFamily="34" charset="0"/>
                        <a:ea typeface="Tahoma" panose="020B0604030504040204" pitchFamily="34" charset="0"/>
                        <a:cs typeface="Tahoma" panose="020B0604030504040204" pitchFamily="34" charset="0"/>
                      </a:endParaRPr>
                    </a:p>
                  </a:txBody>
                  <a:tcPr marL="55786" marR="55786" marT="27893" marB="27893" anchor="ctr">
                    <a:lnL>
                      <a:noFill/>
                    </a:lnL>
                    <a:lnR>
                      <a:noFill/>
                    </a:lnR>
                    <a:lnT>
                      <a:noFill/>
                    </a:lnT>
                    <a:lnB>
                      <a:noFill/>
                    </a:lnB>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Description</a:t>
                      </a:r>
                      <a:endParaRPr lang="en-IN" sz="1200">
                        <a:latin typeface="Tahoma" panose="020B0604030504040204" pitchFamily="34" charset="0"/>
                        <a:ea typeface="Tahoma" panose="020B0604030504040204" pitchFamily="34" charset="0"/>
                        <a:cs typeface="Tahoma" panose="020B0604030504040204" pitchFamily="34" charset="0"/>
                      </a:endParaRPr>
                    </a:p>
                  </a:txBody>
                  <a:tcPr marL="55786" marR="55786" marT="27893" marB="27893" anchor="ctr">
                    <a:lnL>
                      <a:noFill/>
                    </a:lnL>
                    <a:lnR>
                      <a:noFill/>
                    </a:lnR>
                    <a:lnT>
                      <a:noFill/>
                    </a:lnT>
                    <a:lnB>
                      <a:noFill/>
                    </a:lnB>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Implication for Workforce Planning</a:t>
                      </a:r>
                      <a:endParaRPr lang="en-IN" sz="1200">
                        <a:latin typeface="Tahoma" panose="020B0604030504040204" pitchFamily="34" charset="0"/>
                        <a:ea typeface="Tahoma" panose="020B0604030504040204" pitchFamily="34" charset="0"/>
                        <a:cs typeface="Tahoma" panose="020B0604030504040204" pitchFamily="34" charset="0"/>
                      </a:endParaRPr>
                    </a:p>
                  </a:txBody>
                  <a:tcPr marL="55786" marR="55786" marT="27893" marB="27893" anchor="ctr">
                    <a:lnL>
                      <a:noFill/>
                    </a:lnL>
                    <a:lnR>
                      <a:noFill/>
                    </a:lnR>
                    <a:lnT>
                      <a:noFill/>
                    </a:lnT>
                    <a:lnB>
                      <a:noFill/>
                    </a:lnB>
                    <a:noFill/>
                  </a:tcPr>
                </a:tc>
                <a:extLst>
                  <a:ext uri="{0D108BD9-81ED-4DB2-BD59-A6C34878D82A}">
                    <a16:rowId xmlns:a16="http://schemas.microsoft.com/office/drawing/2014/main" val="2228138231"/>
                  </a:ext>
                </a:extLst>
              </a:tr>
              <a:tr h="892582">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Business Strategy</a:t>
                      </a:r>
                      <a:endParaRPr lang="en-IN" sz="1200">
                        <a:latin typeface="Tahoma" panose="020B0604030504040204" pitchFamily="34" charset="0"/>
                        <a:ea typeface="Tahoma" panose="020B0604030504040204" pitchFamily="34" charset="0"/>
                        <a:cs typeface="Tahoma" panose="020B0604030504040204" pitchFamily="34" charset="0"/>
                      </a:endParaRPr>
                    </a:p>
                  </a:txBody>
                  <a:tcPr marL="55786" marR="55786" marT="27893" marB="27893" anchor="ctr">
                    <a:lnL>
                      <a:noFill/>
                    </a:lnL>
                    <a:lnR>
                      <a:noFill/>
                    </a:lnR>
                    <a:lnT>
                      <a:noFill/>
                    </a:lnT>
                    <a:lnB>
                      <a:noFill/>
                    </a:lnB>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Workforce planning must align with the organization’s evolving business strategies such as expansion, diversification, mergers, acquisitions, or globalization.</a:t>
                      </a:r>
                    </a:p>
                  </a:txBody>
                  <a:tcPr marL="55786" marR="55786" marT="27893" marB="27893" anchor="ctr">
                    <a:lnL>
                      <a:noFill/>
                    </a:lnL>
                    <a:lnR>
                      <a:noFill/>
                    </a:lnR>
                    <a:lnT>
                      <a:noFill/>
                    </a:lnT>
                    <a:lnB>
                      <a:noFill/>
                    </a:lnB>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Changes in strategy require changes in workforce size, skill mix, structure, and deployment of employees.</a:t>
                      </a:r>
                    </a:p>
                  </a:txBody>
                  <a:tcPr marL="55786" marR="55786" marT="27893" marB="27893" anchor="ctr">
                    <a:lnL>
                      <a:noFill/>
                    </a:lnL>
                    <a:lnR>
                      <a:noFill/>
                    </a:lnR>
                    <a:lnT>
                      <a:noFill/>
                    </a:lnT>
                    <a:lnB>
                      <a:noFill/>
                    </a:lnB>
                    <a:noFill/>
                  </a:tcPr>
                </a:tc>
                <a:extLst>
                  <a:ext uri="{0D108BD9-81ED-4DB2-BD59-A6C34878D82A}">
                    <a16:rowId xmlns:a16="http://schemas.microsoft.com/office/drawing/2014/main" val="492061274"/>
                  </a:ext>
                </a:extLst>
              </a:tr>
              <a:tr h="892582">
                <a:tc>
                  <a:txBody>
                    <a:bodyPr/>
                    <a:lstStyle/>
                    <a:p>
                      <a:pPr>
                        <a:buNone/>
                      </a:pPr>
                      <a:r>
                        <a:rPr lang="en-US" sz="1200" b="1">
                          <a:latin typeface="Tahoma" panose="020B0604030504040204" pitchFamily="34" charset="0"/>
                          <a:ea typeface="Tahoma" panose="020B0604030504040204" pitchFamily="34" charset="0"/>
                          <a:cs typeface="Tahoma" panose="020B0604030504040204" pitchFamily="34" charset="0"/>
                        </a:rPr>
                        <a:t>Strategic Orientation (Miles &amp; Snow Typology)</a:t>
                      </a:r>
                      <a:endParaRPr lang="en-US" sz="1200">
                        <a:latin typeface="Tahoma" panose="020B0604030504040204" pitchFamily="34" charset="0"/>
                        <a:ea typeface="Tahoma" panose="020B0604030504040204" pitchFamily="34" charset="0"/>
                        <a:cs typeface="Tahoma" panose="020B0604030504040204" pitchFamily="34" charset="0"/>
                      </a:endParaRPr>
                    </a:p>
                  </a:txBody>
                  <a:tcPr marL="55786" marR="55786" marT="27893" marB="27893" anchor="ctr">
                    <a:lnL>
                      <a:noFill/>
                    </a:lnL>
                    <a:lnR>
                      <a:noFill/>
                    </a:lnR>
                    <a:lnT>
                      <a:noFill/>
                    </a:lnT>
                    <a:lnB>
                      <a:noFill/>
                    </a:lnB>
                    <a:noFill/>
                  </a:tcPr>
                </a:tc>
                <a:tc>
                  <a:txBody>
                    <a:bodyPr/>
                    <a:lstStyle/>
                    <a:p>
                      <a:pPr>
                        <a:buNone/>
                      </a:pPr>
                      <a:r>
                        <a:rPr lang="en-US" sz="1200" dirty="0">
                          <a:latin typeface="Tahoma" panose="020B0604030504040204" pitchFamily="34" charset="0"/>
                          <a:ea typeface="Tahoma" panose="020B0604030504040204" pitchFamily="34" charset="0"/>
                          <a:cs typeface="Tahoma" panose="020B0604030504040204" pitchFamily="34" charset="0"/>
                        </a:rPr>
                        <a:t>Organizations can be classified as </a:t>
                      </a:r>
                      <a:r>
                        <a:rPr lang="en-US" sz="1200" b="1" dirty="0">
                          <a:latin typeface="Tahoma" panose="020B0604030504040204" pitchFamily="34" charset="0"/>
                          <a:ea typeface="Tahoma" panose="020B0604030504040204" pitchFamily="34" charset="0"/>
                          <a:cs typeface="Tahoma" panose="020B0604030504040204" pitchFamily="34" charset="0"/>
                        </a:rPr>
                        <a:t>Defenders, Prospectors, Analyzers, or Reactors</a:t>
                      </a:r>
                      <a:r>
                        <a:rPr lang="en-US" sz="1200" dirty="0">
                          <a:latin typeface="Tahoma" panose="020B0604030504040204" pitchFamily="34" charset="0"/>
                          <a:ea typeface="Tahoma" panose="020B0604030504040204" pitchFamily="34" charset="0"/>
                          <a:cs typeface="Tahoma" panose="020B0604030504040204" pitchFamily="34" charset="0"/>
                        </a:rPr>
                        <a:t>, based on how they respond to market changes.</a:t>
                      </a:r>
                    </a:p>
                  </a:txBody>
                  <a:tcPr marL="55786" marR="55786" marT="27893" marB="27893" anchor="ctr">
                    <a:lnL>
                      <a:noFill/>
                    </a:lnL>
                    <a:lnR>
                      <a:noFill/>
                    </a:lnR>
                    <a:lnT>
                      <a:noFill/>
                    </a:lnT>
                    <a:lnB>
                      <a:noFill/>
                    </a:lnB>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Different strategies require different workforce profiles (e.g., innovation-focused vs efficiency-focused), affecting skill forecasting and staffing models.</a:t>
                      </a:r>
                    </a:p>
                  </a:txBody>
                  <a:tcPr marL="55786" marR="55786" marT="27893" marB="27893" anchor="ctr">
                    <a:lnL>
                      <a:noFill/>
                    </a:lnL>
                    <a:lnR>
                      <a:noFill/>
                    </a:lnR>
                    <a:lnT>
                      <a:noFill/>
                    </a:lnT>
                    <a:lnB>
                      <a:noFill/>
                    </a:lnB>
                    <a:noFill/>
                  </a:tcPr>
                </a:tc>
                <a:extLst>
                  <a:ext uri="{0D108BD9-81ED-4DB2-BD59-A6C34878D82A}">
                    <a16:rowId xmlns:a16="http://schemas.microsoft.com/office/drawing/2014/main" val="734356817"/>
                  </a:ext>
                </a:extLst>
              </a:tr>
              <a:tr h="892582">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Time Horizon</a:t>
                      </a:r>
                      <a:endParaRPr lang="en-IN" sz="1200">
                        <a:latin typeface="Tahoma" panose="020B0604030504040204" pitchFamily="34" charset="0"/>
                        <a:ea typeface="Tahoma" panose="020B0604030504040204" pitchFamily="34" charset="0"/>
                        <a:cs typeface="Tahoma" panose="020B0604030504040204" pitchFamily="34" charset="0"/>
                      </a:endParaRPr>
                    </a:p>
                  </a:txBody>
                  <a:tcPr marL="55786" marR="55786" marT="27893" marB="27893" anchor="ctr">
                    <a:lnL>
                      <a:noFill/>
                    </a:lnL>
                    <a:lnR>
                      <a:noFill/>
                    </a:lnR>
                    <a:lnT>
                      <a:noFill/>
                    </a:lnT>
                    <a:lnB>
                      <a:noFill/>
                    </a:lnB>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The length of planning period (short-term vs long-term) adopted by the organization.</a:t>
                      </a:r>
                    </a:p>
                  </a:txBody>
                  <a:tcPr marL="55786" marR="55786" marT="27893" marB="27893" anchor="ctr">
                    <a:lnL>
                      <a:noFill/>
                    </a:lnL>
                    <a:lnR>
                      <a:noFill/>
                    </a:lnR>
                    <a:lnT>
                      <a:noFill/>
                    </a:lnT>
                    <a:lnB>
                      <a:noFill/>
                    </a:lnB>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Long-term planning focuses on leadership development and succession; short-term planning focuses on immediate staffing needs.</a:t>
                      </a:r>
                    </a:p>
                  </a:txBody>
                  <a:tcPr marL="55786" marR="55786" marT="27893" marB="27893" anchor="ctr">
                    <a:lnL>
                      <a:noFill/>
                    </a:lnL>
                    <a:lnR>
                      <a:noFill/>
                    </a:lnR>
                    <a:lnT>
                      <a:noFill/>
                    </a:lnT>
                    <a:lnB>
                      <a:noFill/>
                    </a:lnB>
                    <a:noFill/>
                  </a:tcPr>
                </a:tc>
                <a:extLst>
                  <a:ext uri="{0D108BD9-81ED-4DB2-BD59-A6C34878D82A}">
                    <a16:rowId xmlns:a16="http://schemas.microsoft.com/office/drawing/2014/main" val="3664885923"/>
                  </a:ext>
                </a:extLst>
              </a:tr>
              <a:tr h="725223">
                <a:tc>
                  <a:txBody>
                    <a:bodyPr/>
                    <a:lstStyle/>
                    <a:p>
                      <a:pPr>
                        <a:buNone/>
                      </a:pPr>
                      <a:r>
                        <a:rPr lang="en-IN" sz="1200" b="1" dirty="0">
                          <a:latin typeface="Tahoma" panose="020B0604030504040204" pitchFamily="34" charset="0"/>
                          <a:ea typeface="Tahoma" panose="020B0604030504040204" pitchFamily="34" charset="0"/>
                          <a:cs typeface="Tahoma" panose="020B0604030504040204" pitchFamily="34" charset="0"/>
                        </a:rPr>
                        <a:t>Organizational Growth Cycle</a:t>
                      </a:r>
                      <a:endParaRPr lang="en-IN" sz="1200" dirty="0">
                        <a:latin typeface="Tahoma" panose="020B0604030504040204" pitchFamily="34" charset="0"/>
                        <a:ea typeface="Tahoma" panose="020B0604030504040204" pitchFamily="34" charset="0"/>
                        <a:cs typeface="Tahoma" panose="020B0604030504040204" pitchFamily="34" charset="0"/>
                      </a:endParaRPr>
                    </a:p>
                  </a:txBody>
                  <a:tcPr marL="55786" marR="55786" marT="27893" marB="27893" anchor="ctr">
                    <a:lnL>
                      <a:noFill/>
                    </a:lnL>
                    <a:lnR>
                      <a:noFill/>
                    </a:lnR>
                    <a:lnT>
                      <a:noFill/>
                    </a:lnT>
                    <a:lnB>
                      <a:noFill/>
                    </a:lnB>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Stage of organizational life cycle such as start-up, growth, maturity, or decline.</a:t>
                      </a:r>
                    </a:p>
                  </a:txBody>
                  <a:tcPr marL="55786" marR="55786" marT="27893" marB="27893" anchor="ctr">
                    <a:lnL>
                      <a:noFill/>
                    </a:lnL>
                    <a:lnR>
                      <a:noFill/>
                    </a:lnR>
                    <a:lnT>
                      <a:noFill/>
                    </a:lnT>
                    <a:lnB>
                      <a:noFill/>
                    </a:lnB>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Workforce needs shift from flexible generalists to specialized roles, then to optimization and restructuring.</a:t>
                      </a:r>
                    </a:p>
                  </a:txBody>
                  <a:tcPr marL="55786" marR="55786" marT="27893" marB="27893" anchor="ctr">
                    <a:lnL>
                      <a:noFill/>
                    </a:lnL>
                    <a:lnR>
                      <a:noFill/>
                    </a:lnR>
                    <a:lnT>
                      <a:noFill/>
                    </a:lnT>
                    <a:lnB>
                      <a:noFill/>
                    </a:lnB>
                    <a:noFill/>
                  </a:tcPr>
                </a:tc>
                <a:extLst>
                  <a:ext uri="{0D108BD9-81ED-4DB2-BD59-A6C34878D82A}">
                    <a16:rowId xmlns:a16="http://schemas.microsoft.com/office/drawing/2014/main" val="1952755509"/>
                  </a:ext>
                </a:extLst>
              </a:tr>
              <a:tr h="725223">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Quality of Information Systems</a:t>
                      </a:r>
                      <a:endParaRPr lang="en-IN" sz="1200">
                        <a:latin typeface="Tahoma" panose="020B0604030504040204" pitchFamily="34" charset="0"/>
                        <a:ea typeface="Tahoma" panose="020B0604030504040204" pitchFamily="34" charset="0"/>
                        <a:cs typeface="Tahoma" panose="020B0604030504040204" pitchFamily="34" charset="0"/>
                      </a:endParaRPr>
                    </a:p>
                  </a:txBody>
                  <a:tcPr marL="55786" marR="55786" marT="27893" marB="27893" anchor="ctr">
                    <a:lnL>
                      <a:noFill/>
                    </a:lnL>
                    <a:lnR>
                      <a:noFill/>
                    </a:lnR>
                    <a:lnT>
                      <a:noFill/>
                    </a:lnT>
                    <a:lnB>
                      <a:noFill/>
                    </a:lnB>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Availability and accuracy of workforce data related to skills, performance, turnover, and productivity.</a:t>
                      </a:r>
                    </a:p>
                  </a:txBody>
                  <a:tcPr marL="55786" marR="55786" marT="27893" marB="27893" anchor="ctr">
                    <a:lnL>
                      <a:noFill/>
                    </a:lnL>
                    <a:lnR>
                      <a:noFill/>
                    </a:lnR>
                    <a:lnT>
                      <a:noFill/>
                    </a:lnT>
                    <a:lnB>
                      <a:noFill/>
                    </a:lnB>
                    <a:noFill/>
                  </a:tcPr>
                </a:tc>
                <a:tc>
                  <a:txBody>
                    <a:bodyPr/>
                    <a:lstStyle/>
                    <a:p>
                      <a:pPr>
                        <a:buNone/>
                      </a:pPr>
                      <a:r>
                        <a:rPr lang="en-US" sz="1200" dirty="0">
                          <a:latin typeface="Tahoma" panose="020B0604030504040204" pitchFamily="34" charset="0"/>
                          <a:ea typeface="Tahoma" panose="020B0604030504040204" pitchFamily="34" charset="0"/>
                          <a:cs typeface="Tahoma" panose="020B0604030504040204" pitchFamily="34" charset="0"/>
                        </a:rPr>
                        <a:t>Better data enables accurate forecasting, skill-gap analysis, and informed workforce decisions.</a:t>
                      </a:r>
                    </a:p>
                  </a:txBody>
                  <a:tcPr marL="55786" marR="55786" marT="27893" marB="27893" anchor="ctr">
                    <a:lnL>
                      <a:noFill/>
                    </a:lnL>
                    <a:lnR>
                      <a:noFill/>
                    </a:lnR>
                    <a:lnT>
                      <a:noFill/>
                    </a:lnT>
                    <a:lnB>
                      <a:noFill/>
                    </a:lnB>
                    <a:noFill/>
                  </a:tcPr>
                </a:tc>
                <a:extLst>
                  <a:ext uri="{0D108BD9-81ED-4DB2-BD59-A6C34878D82A}">
                    <a16:rowId xmlns:a16="http://schemas.microsoft.com/office/drawing/2014/main" val="935033328"/>
                  </a:ext>
                </a:extLst>
              </a:tr>
            </a:tbl>
          </a:graphicData>
        </a:graphic>
      </p:graphicFrame>
    </p:spTree>
    <p:extLst>
      <p:ext uri="{BB962C8B-B14F-4D97-AF65-F5344CB8AC3E}">
        <p14:creationId xmlns:p14="http://schemas.microsoft.com/office/powerpoint/2010/main" val="761389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5BFAE-741B-2C8A-A7BD-1B8FEDB81F7E}"/>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EA36258-1D96-5765-7C09-5464282346FE}"/>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9B4BD9A-3BA8-C989-CF3C-E6CF2321CCDC}"/>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  Reflect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DF6EB28B-8E8C-536B-CCCE-A69A0413984F}"/>
              </a:ext>
            </a:extLst>
          </p:cNvPr>
          <p:cNvSpPr>
            <a:spLocks noGrp="1"/>
          </p:cNvSpPr>
          <p:nvPr>
            <p:ph type="sldNum" sz="quarter" idx="12"/>
          </p:nvPr>
        </p:nvSpPr>
        <p:spPr/>
        <p:txBody>
          <a:bodyPr/>
          <a:lstStyle/>
          <a:p>
            <a:fld id="{AADF62B3-C5AA-40A0-A9F3-B28CB0ADD062}" type="slidenum">
              <a:rPr lang="en-IN" smtClean="0"/>
              <a:t>8</a:t>
            </a:fld>
            <a:endParaRPr lang="en-IN"/>
          </a:p>
        </p:txBody>
      </p:sp>
      <p:sp>
        <p:nvSpPr>
          <p:cNvPr id="7" name="Content Placeholder 6">
            <a:extLst>
              <a:ext uri="{FF2B5EF4-FFF2-40B4-BE49-F238E27FC236}">
                <a16:creationId xmlns:a16="http://schemas.microsoft.com/office/drawing/2014/main" id="{238433CC-9DBA-6933-B6DC-43469C49E227}"/>
              </a:ext>
            </a:extLst>
          </p:cNvPr>
          <p:cNvSpPr>
            <a:spLocks noGrp="1"/>
          </p:cNvSpPr>
          <p:nvPr>
            <p:ph idx="1"/>
          </p:nvPr>
        </p:nvSpPr>
        <p:spPr>
          <a:xfrm>
            <a:off x="967672" y="2489169"/>
            <a:ext cx="10515600" cy="1257440"/>
          </a:xfrm>
        </p:spPr>
        <p:txBody>
          <a:bodyPr>
            <a:normAutofit/>
          </a:bodyPr>
          <a:lstStyle/>
          <a:p>
            <a:pPr marL="0" indent="0" algn="ctr">
              <a:buNone/>
            </a:pPr>
            <a:r>
              <a:rPr lang="en-US" sz="1800" dirty="0">
                <a:solidFill>
                  <a:srgbClr val="FF0000"/>
                </a:solidFill>
                <a:latin typeface="Tahoma" panose="020B0604030504040204" pitchFamily="34" charset="0"/>
                <a:ea typeface="Tahoma" panose="020B0604030504040204" pitchFamily="34" charset="0"/>
                <a:cs typeface="Tahoma" panose="020B0604030504040204" pitchFamily="34" charset="0"/>
              </a:rPr>
              <a:t>How can an organization achieve its future business goals if it plans its workforce only for today’s needs?</a:t>
            </a:r>
            <a:endParaRPr lang="en-IN" sz="18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11322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106D-4146-C21B-A775-B8623547C046}"/>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5CB0221-C539-AC66-0215-196227EA63F2}"/>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EDC78FF-2425-9536-AA23-CC820F81BE86}"/>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  Strategic Workforce Planning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C777BC93-4FB9-5D1A-664C-BDFE9D8BFDA6}"/>
              </a:ext>
            </a:extLst>
          </p:cNvPr>
          <p:cNvSpPr>
            <a:spLocks noGrp="1"/>
          </p:cNvSpPr>
          <p:nvPr>
            <p:ph type="sldNum" sz="quarter" idx="12"/>
          </p:nvPr>
        </p:nvSpPr>
        <p:spPr/>
        <p:txBody>
          <a:bodyPr/>
          <a:lstStyle/>
          <a:p>
            <a:fld id="{AADF62B3-C5AA-40A0-A9F3-B28CB0ADD062}" type="slidenum">
              <a:rPr lang="en-IN" smtClean="0"/>
              <a:t>9</a:t>
            </a:fld>
            <a:endParaRPr lang="en-IN"/>
          </a:p>
        </p:txBody>
      </p:sp>
      <p:sp>
        <p:nvSpPr>
          <p:cNvPr id="7" name="Content Placeholder 6">
            <a:extLst>
              <a:ext uri="{FF2B5EF4-FFF2-40B4-BE49-F238E27FC236}">
                <a16:creationId xmlns:a16="http://schemas.microsoft.com/office/drawing/2014/main" id="{60B85944-6137-4FAA-8A68-B0F97B9C8CD8}"/>
              </a:ext>
            </a:extLst>
          </p:cNvPr>
          <p:cNvSpPr>
            <a:spLocks noGrp="1"/>
          </p:cNvSpPr>
          <p:nvPr>
            <p:ph idx="1"/>
          </p:nvPr>
        </p:nvSpPr>
        <p:spPr>
          <a:xfrm>
            <a:off x="822016" y="1574773"/>
            <a:ext cx="10515600" cy="4235308"/>
          </a:xfrm>
        </p:spPr>
        <p:txBody>
          <a:bodyPr>
            <a:normAutofit fontScale="92500" lnSpcReduction="20000"/>
          </a:bodyPr>
          <a:lstStyle/>
          <a:p>
            <a:pPr marL="0" indent="0">
              <a:lnSpc>
                <a:spcPct val="200000"/>
              </a:lnSpc>
              <a:buNone/>
            </a:pPr>
            <a:r>
              <a:rPr lang="en-US" sz="1600" dirty="0">
                <a:latin typeface="Tahoma" panose="020B0604030504040204" pitchFamily="34" charset="0"/>
                <a:ea typeface="Tahoma" panose="020B0604030504040204" pitchFamily="34" charset="0"/>
                <a:cs typeface="Tahoma" panose="020B0604030504040204" pitchFamily="34" charset="0"/>
              </a:rPr>
              <a:t>Strategic planning is about understanding where the business is heading in the next few years and identifying the capabilities, roles, and leadership needed to succeed in that future.</a:t>
            </a:r>
          </a:p>
          <a:p>
            <a:pPr marL="0" indent="0">
              <a:lnSpc>
                <a:spcPct val="200000"/>
              </a:lnSpc>
              <a:buNone/>
            </a:pPr>
            <a:r>
              <a:rPr lang="en-US" sz="1600" dirty="0">
                <a:latin typeface="Tahoma" panose="020B0604030504040204" pitchFamily="34" charset="0"/>
                <a:ea typeface="Tahoma" panose="020B0604030504040204" pitchFamily="34" charset="0"/>
                <a:cs typeface="Tahoma" panose="020B0604030504040204" pitchFamily="34" charset="0"/>
              </a:rPr>
              <a:t>It involves:</a:t>
            </a:r>
          </a:p>
          <a:p>
            <a:pPr>
              <a:lnSpc>
                <a:spcPct val="200000"/>
              </a:lnSpc>
              <a:buFont typeface="Wingdings" panose="05000000000000000000" pitchFamily="2" charset="2"/>
              <a:buChar char="§"/>
            </a:pPr>
            <a:r>
              <a:rPr lang="en-US" sz="1600" dirty="0">
                <a:latin typeface="Tahoma" panose="020B0604030504040204" pitchFamily="34" charset="0"/>
                <a:ea typeface="Tahoma" panose="020B0604030504040204" pitchFamily="34" charset="0"/>
                <a:cs typeface="Tahoma" panose="020B0604030504040204" pitchFamily="34" charset="0"/>
              </a:rPr>
              <a:t>Looking at the future business environment (markets, technology, competition)</a:t>
            </a:r>
          </a:p>
          <a:p>
            <a:pPr>
              <a:lnSpc>
                <a:spcPct val="200000"/>
              </a:lnSpc>
              <a:buFont typeface="Wingdings" panose="05000000000000000000" pitchFamily="2" charset="2"/>
              <a:buChar char="§"/>
            </a:pPr>
            <a:r>
              <a:rPr lang="en-US" sz="1600" dirty="0">
                <a:latin typeface="Tahoma" panose="020B0604030504040204" pitchFamily="34" charset="0"/>
                <a:ea typeface="Tahoma" panose="020B0604030504040204" pitchFamily="34" charset="0"/>
                <a:cs typeface="Tahoma" panose="020B0604030504040204" pitchFamily="34" charset="0"/>
              </a:rPr>
              <a:t>Identifying critical positions that will drive business success</a:t>
            </a:r>
          </a:p>
          <a:p>
            <a:pPr>
              <a:lnSpc>
                <a:spcPct val="200000"/>
              </a:lnSpc>
              <a:buFont typeface="Wingdings" panose="05000000000000000000" pitchFamily="2" charset="2"/>
              <a:buChar char="§"/>
            </a:pPr>
            <a:r>
              <a:rPr lang="en-US" sz="1600" dirty="0">
                <a:latin typeface="Tahoma" panose="020B0604030504040204" pitchFamily="34" charset="0"/>
                <a:ea typeface="Tahoma" panose="020B0604030504040204" pitchFamily="34" charset="0"/>
                <a:cs typeface="Tahoma" panose="020B0604030504040204" pitchFamily="34" charset="0"/>
              </a:rPr>
              <a:t>Understanding what skills, leadership, and capabilities will be required</a:t>
            </a:r>
          </a:p>
          <a:p>
            <a:pPr>
              <a:lnSpc>
                <a:spcPct val="200000"/>
              </a:lnSpc>
              <a:buFont typeface="Wingdings" panose="05000000000000000000" pitchFamily="2" charset="2"/>
              <a:buChar char="§"/>
            </a:pPr>
            <a:r>
              <a:rPr lang="en-US" sz="1600" dirty="0">
                <a:latin typeface="Tahoma" panose="020B0604030504040204" pitchFamily="34" charset="0"/>
                <a:ea typeface="Tahoma" panose="020B0604030504040204" pitchFamily="34" charset="0"/>
                <a:cs typeface="Tahoma" panose="020B0604030504040204" pitchFamily="34" charset="0"/>
              </a:rPr>
              <a:t>Taking an external </a:t>
            </a:r>
            <a:r>
              <a:rPr lang="en-US" sz="1600" dirty="0" err="1">
                <a:latin typeface="Tahoma" panose="020B0604030504040204" pitchFamily="34" charset="0"/>
                <a:ea typeface="Tahoma" panose="020B0604030504040204" pitchFamily="34" charset="0"/>
                <a:cs typeface="Tahoma" panose="020B0604030504040204" pitchFamily="34" charset="0"/>
              </a:rPr>
              <a:t>labour</a:t>
            </a:r>
            <a:r>
              <a:rPr lang="en-US" sz="1600" dirty="0">
                <a:latin typeface="Tahoma" panose="020B0604030504040204" pitchFamily="34" charset="0"/>
                <a:ea typeface="Tahoma" panose="020B0604030504040204" pitchFamily="34" charset="0"/>
                <a:cs typeface="Tahoma" panose="020B0604030504040204" pitchFamily="34" charset="0"/>
              </a:rPr>
              <a:t> market view, what talent will be available or scarce in the future</a:t>
            </a:r>
          </a:p>
          <a:p>
            <a:pPr>
              <a:lnSpc>
                <a:spcPct val="200000"/>
              </a:lnSpc>
              <a:buFont typeface="Wingdings" panose="05000000000000000000" pitchFamily="2" charset="2"/>
              <a:buChar char="§"/>
            </a:pPr>
            <a:r>
              <a:rPr lang="en-US" sz="1600" dirty="0">
                <a:latin typeface="Tahoma" panose="020B0604030504040204" pitchFamily="34" charset="0"/>
                <a:ea typeface="Tahoma" panose="020B0604030504040204" pitchFamily="34" charset="0"/>
                <a:cs typeface="Tahoma" panose="020B0604030504040204" pitchFamily="34" charset="0"/>
              </a:rPr>
              <a:t>Designing a future organizational structure, not just filling current roles</a:t>
            </a:r>
            <a:endParaRPr lang="en-IN" sz="1600" dirty="0">
              <a:latin typeface="Tahoma" panose="020B0604030504040204" pitchFamily="34" charset="0"/>
              <a:ea typeface="Tahoma" panose="020B0604030504040204" pitchFamily="34" charset="0"/>
              <a:cs typeface="Tahoma" panose="020B0604030504040204" pitchFamily="34" charset="0"/>
            </a:endParaRPr>
          </a:p>
        </p:txBody>
      </p:sp>
      <p:sp>
        <p:nvSpPr>
          <p:cNvPr id="3" name="TextBox 2">
            <a:extLst>
              <a:ext uri="{FF2B5EF4-FFF2-40B4-BE49-F238E27FC236}">
                <a16:creationId xmlns:a16="http://schemas.microsoft.com/office/drawing/2014/main" id="{AF1D1235-5698-92EE-E73B-218E731C820D}"/>
              </a:ext>
            </a:extLst>
          </p:cNvPr>
          <p:cNvSpPr txBox="1"/>
          <p:nvPr/>
        </p:nvSpPr>
        <p:spPr>
          <a:xfrm>
            <a:off x="445062" y="5907459"/>
            <a:ext cx="10827143" cy="523220"/>
          </a:xfrm>
          <a:prstGeom prst="rect">
            <a:avLst/>
          </a:prstGeom>
          <a:noFill/>
        </p:spPr>
        <p:txBody>
          <a:bodyPr wrap="square" rtlCol="0">
            <a:spAutoFit/>
          </a:bodyPr>
          <a:lstStyle/>
          <a:p>
            <a:pPr algn="ctr"/>
            <a:r>
              <a:rPr lang="en-IN" sz="1400" dirty="0">
                <a:solidFill>
                  <a:srgbClr val="FF0000"/>
                </a:solidFill>
                <a:latin typeface="Tahoma" panose="020B0604030504040204" pitchFamily="34" charset="0"/>
                <a:ea typeface="Tahoma" panose="020B0604030504040204" pitchFamily="34" charset="0"/>
                <a:cs typeface="Tahoma" panose="020B0604030504040204" pitchFamily="34" charset="0"/>
              </a:rPr>
              <a:t>https://economictimes.indiatimes.com/jobs/how-philips-is-using-a-breakthrough-idea-to-show-employees-the-big-picture/articleshow/14843930.cms?from=mdr</a:t>
            </a:r>
          </a:p>
        </p:txBody>
      </p:sp>
    </p:spTree>
    <p:extLst>
      <p:ext uri="{BB962C8B-B14F-4D97-AF65-F5344CB8AC3E}">
        <p14:creationId xmlns:p14="http://schemas.microsoft.com/office/powerpoint/2010/main" val="3494242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A5BC1-39DD-3F03-4316-B914DD6B3689}"/>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2D0CC21-DFB5-93AC-EDB4-9B0F4E78695D}"/>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B55198B-7A22-3832-A1D2-9D59894B4F3C}"/>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  Difference between workforce planning and strategic workforce planning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944970B1-00ED-380B-9066-7B3B7477099B}"/>
              </a:ext>
            </a:extLst>
          </p:cNvPr>
          <p:cNvSpPr>
            <a:spLocks noGrp="1"/>
          </p:cNvSpPr>
          <p:nvPr>
            <p:ph type="sldNum" sz="quarter" idx="12"/>
          </p:nvPr>
        </p:nvSpPr>
        <p:spPr/>
        <p:txBody>
          <a:bodyPr/>
          <a:lstStyle/>
          <a:p>
            <a:fld id="{AADF62B3-C5AA-40A0-A9F3-B28CB0ADD062}" type="slidenum">
              <a:rPr lang="en-IN" smtClean="0"/>
              <a:t>10</a:t>
            </a:fld>
            <a:endParaRPr lang="en-IN"/>
          </a:p>
        </p:txBody>
      </p:sp>
      <p:graphicFrame>
        <p:nvGraphicFramePr>
          <p:cNvPr id="3" name="Content Placeholder 2">
            <a:extLst>
              <a:ext uri="{FF2B5EF4-FFF2-40B4-BE49-F238E27FC236}">
                <a16:creationId xmlns:a16="http://schemas.microsoft.com/office/drawing/2014/main" id="{FC5304E7-CC2F-79A6-BEB9-59021D54B9D4}"/>
              </a:ext>
            </a:extLst>
          </p:cNvPr>
          <p:cNvGraphicFramePr>
            <a:graphicFrameLocks noGrp="1"/>
          </p:cNvGraphicFramePr>
          <p:nvPr>
            <p:ph idx="1"/>
            <p:extLst>
              <p:ext uri="{D42A27DB-BD31-4B8C-83A1-F6EECF244321}">
                <p14:modId xmlns:p14="http://schemas.microsoft.com/office/powerpoint/2010/main" val="3214500777"/>
              </p:ext>
            </p:extLst>
          </p:nvPr>
        </p:nvGraphicFramePr>
        <p:xfrm>
          <a:off x="1319003" y="1497027"/>
          <a:ext cx="9880374" cy="4679937"/>
        </p:xfrm>
        <a:graphic>
          <a:graphicData uri="http://schemas.openxmlformats.org/drawingml/2006/table">
            <a:tbl>
              <a:tblPr/>
              <a:tblGrid>
                <a:gridCol w="2071522">
                  <a:extLst>
                    <a:ext uri="{9D8B030D-6E8A-4147-A177-3AD203B41FA5}">
                      <a16:colId xmlns:a16="http://schemas.microsoft.com/office/drawing/2014/main" val="395027275"/>
                    </a:ext>
                  </a:extLst>
                </a:gridCol>
                <a:gridCol w="4515394">
                  <a:extLst>
                    <a:ext uri="{9D8B030D-6E8A-4147-A177-3AD203B41FA5}">
                      <a16:colId xmlns:a16="http://schemas.microsoft.com/office/drawing/2014/main" val="2553929599"/>
                    </a:ext>
                  </a:extLst>
                </a:gridCol>
                <a:gridCol w="3293458">
                  <a:extLst>
                    <a:ext uri="{9D8B030D-6E8A-4147-A177-3AD203B41FA5}">
                      <a16:colId xmlns:a16="http://schemas.microsoft.com/office/drawing/2014/main" val="231751405"/>
                    </a:ext>
                  </a:extLst>
                </a:gridCol>
              </a:tblGrid>
              <a:tr h="537042">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Basis</a:t>
                      </a:r>
                      <a:endParaRPr lang="en-IN" sz="1400">
                        <a:latin typeface="Tahoma" panose="020B0604030504040204" pitchFamily="34" charset="0"/>
                        <a:ea typeface="Tahoma" panose="020B0604030504040204" pitchFamily="34" charset="0"/>
                        <a:cs typeface="Tahoma" panose="020B0604030504040204" pitchFamily="34" charset="0"/>
                      </a:endParaRP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Workforce Planning</a:t>
                      </a:r>
                      <a:endParaRPr lang="en-IN" sz="1400">
                        <a:latin typeface="Tahoma" panose="020B0604030504040204" pitchFamily="34" charset="0"/>
                        <a:ea typeface="Tahoma" panose="020B0604030504040204" pitchFamily="34" charset="0"/>
                        <a:cs typeface="Tahoma" panose="020B0604030504040204" pitchFamily="34" charset="0"/>
                      </a:endParaRP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Strategic Workforce Planning (SWP)</a:t>
                      </a:r>
                      <a:endParaRPr lang="en-IN" sz="1400">
                        <a:latin typeface="Tahoma" panose="020B0604030504040204" pitchFamily="34" charset="0"/>
                        <a:ea typeface="Tahoma" panose="020B0604030504040204" pitchFamily="34" charset="0"/>
                        <a:cs typeface="Tahoma" panose="020B0604030504040204" pitchFamily="34" charset="0"/>
                      </a:endParaRP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0496576"/>
                  </a:ext>
                </a:extLst>
              </a:tr>
              <a:tr h="537042">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Focus</a:t>
                      </a:r>
                      <a:endParaRPr lang="en-IN" sz="1400">
                        <a:latin typeface="Tahoma" panose="020B0604030504040204" pitchFamily="34" charset="0"/>
                        <a:ea typeface="Tahoma" panose="020B0604030504040204" pitchFamily="34" charset="0"/>
                        <a:cs typeface="Tahoma" panose="020B0604030504040204" pitchFamily="34" charset="0"/>
                      </a:endParaRP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Filling current and short-term manpower needs</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Preparing workforce for long-term business goals</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3093062"/>
                  </a:ext>
                </a:extLst>
              </a:tr>
              <a:tr h="306881">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Time Horizon</a:t>
                      </a:r>
                      <a:endParaRPr lang="en-IN" sz="1400">
                        <a:latin typeface="Tahoma" panose="020B0604030504040204" pitchFamily="34" charset="0"/>
                        <a:ea typeface="Tahoma" panose="020B0604030504040204" pitchFamily="34" charset="0"/>
                        <a:cs typeface="Tahoma" panose="020B0604030504040204" pitchFamily="34" charset="0"/>
                      </a:endParaRP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Short-term (usually 1 year)</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Long-term (3–5 years or more)</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8732146"/>
                  </a:ext>
                </a:extLst>
              </a:tr>
              <a:tr h="537042">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Driver</a:t>
                      </a:r>
                      <a:endParaRPr lang="en-IN" sz="1400">
                        <a:latin typeface="Tahoma" panose="020B0604030504040204" pitchFamily="34" charset="0"/>
                        <a:ea typeface="Tahoma" panose="020B0604030504040204" pitchFamily="34" charset="0"/>
                        <a:cs typeface="Tahoma" panose="020B0604030504040204" pitchFamily="34" charset="0"/>
                      </a:endParaRP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Current vacancies and operational needs</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Business strategy, market and technology trends</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9592821"/>
                  </a:ext>
                </a:extLst>
              </a:tr>
              <a:tr h="537042">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Key Question</a:t>
                      </a:r>
                      <a:endParaRPr lang="en-IN" sz="1400">
                        <a:latin typeface="Tahoma" panose="020B0604030504040204" pitchFamily="34" charset="0"/>
                        <a:ea typeface="Tahoma" panose="020B0604030504040204" pitchFamily="34" charset="0"/>
                        <a:cs typeface="Tahoma" panose="020B0604030504040204" pitchFamily="34" charset="0"/>
                      </a:endParaRP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How many people do we need now?</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What capabilities and leadership will we need in the future?</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6013897"/>
                  </a:ext>
                </a:extLst>
              </a:tr>
              <a:tr h="537042">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Scope</a:t>
                      </a:r>
                      <a:endParaRPr lang="en-IN" sz="1400">
                        <a:latin typeface="Tahoma" panose="020B0604030504040204" pitchFamily="34" charset="0"/>
                        <a:ea typeface="Tahoma" panose="020B0604030504040204" pitchFamily="34" charset="0"/>
                        <a:cs typeface="Tahoma" panose="020B0604030504040204" pitchFamily="34" charset="0"/>
                      </a:endParaRP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Headcount and basic skills</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Skills, leadership, critical roles, and capabilities</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4695034"/>
                  </a:ext>
                </a:extLst>
              </a:tr>
              <a:tr h="306881">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Approach</a:t>
                      </a:r>
                      <a:endParaRPr lang="en-IN" sz="1400">
                        <a:latin typeface="Tahoma" panose="020B0604030504040204" pitchFamily="34" charset="0"/>
                        <a:ea typeface="Tahoma" panose="020B0604030504040204" pitchFamily="34" charset="0"/>
                        <a:cs typeface="Tahoma" panose="020B0604030504040204" pitchFamily="34" charset="0"/>
                      </a:endParaRP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Reactive</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Proactive and predictive</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2697869"/>
                  </a:ext>
                </a:extLst>
              </a:tr>
              <a:tr h="537042">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Ownership</a:t>
                      </a:r>
                      <a:endParaRPr lang="en-IN" sz="1400">
                        <a:latin typeface="Tahoma" panose="020B0604030504040204" pitchFamily="34" charset="0"/>
                        <a:ea typeface="Tahoma" panose="020B0604030504040204" pitchFamily="34" charset="0"/>
                        <a:cs typeface="Tahoma" panose="020B0604030504040204" pitchFamily="34" charset="0"/>
                      </a:endParaRP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Mainly HR function</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Shared by HR and business leaders (line managers)</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0656285"/>
                  </a:ext>
                </a:extLst>
              </a:tr>
              <a:tr h="537042">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Tools Used</a:t>
                      </a:r>
                      <a:endParaRPr lang="en-IN" sz="1400">
                        <a:latin typeface="Tahoma" panose="020B0604030504040204" pitchFamily="34" charset="0"/>
                        <a:ea typeface="Tahoma" panose="020B0604030504040204" pitchFamily="34" charset="0"/>
                        <a:cs typeface="Tahoma" panose="020B0604030504040204" pitchFamily="34" charset="0"/>
                      </a:endParaRP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Manpower budgets, attrition data</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Scenario planning, talent analytics, labour-market insights</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4200112"/>
                  </a:ext>
                </a:extLst>
              </a:tr>
              <a:tr h="306881">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Outcome</a:t>
                      </a:r>
                      <a:endParaRPr lang="en-IN" sz="1400">
                        <a:latin typeface="Tahoma" panose="020B0604030504040204" pitchFamily="34" charset="0"/>
                        <a:ea typeface="Tahoma" panose="020B0604030504040204" pitchFamily="34" charset="0"/>
                        <a:cs typeface="Tahoma" panose="020B0604030504040204" pitchFamily="34" charset="0"/>
                      </a:endParaRP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Positions are filled</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dirty="0">
                          <a:latin typeface="Tahoma" panose="020B0604030504040204" pitchFamily="34" charset="0"/>
                          <a:ea typeface="Tahoma" panose="020B0604030504040204" pitchFamily="34" charset="0"/>
                          <a:cs typeface="Tahoma" panose="020B0604030504040204" pitchFamily="34" charset="0"/>
                        </a:rPr>
                        <a:t>Organization is future-ready</a:t>
                      </a:r>
                    </a:p>
                  </a:txBody>
                  <a:tcPr marL="71333" marR="71333" marT="35667" marB="3566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9819274"/>
                  </a:ext>
                </a:extLst>
              </a:tr>
            </a:tbl>
          </a:graphicData>
        </a:graphic>
      </p:graphicFrame>
    </p:spTree>
    <p:extLst>
      <p:ext uri="{BB962C8B-B14F-4D97-AF65-F5344CB8AC3E}">
        <p14:creationId xmlns:p14="http://schemas.microsoft.com/office/powerpoint/2010/main" val="3365306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9BBB9-B52A-26E2-7CA2-ED520317524B}"/>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B51CE8E-4098-D279-C70C-14A09FFB02C5}"/>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626062A-6D4B-2008-402C-309108DAE8DB}"/>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  Strategic Workforce Planning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BF8BC7FB-E416-D1A8-B8E9-74DBFD9F1771}"/>
              </a:ext>
            </a:extLst>
          </p:cNvPr>
          <p:cNvSpPr>
            <a:spLocks noGrp="1"/>
          </p:cNvSpPr>
          <p:nvPr>
            <p:ph type="sldNum" sz="quarter" idx="12"/>
          </p:nvPr>
        </p:nvSpPr>
        <p:spPr/>
        <p:txBody>
          <a:bodyPr/>
          <a:lstStyle/>
          <a:p>
            <a:fld id="{AADF62B3-C5AA-40A0-A9F3-B28CB0ADD062}" type="slidenum">
              <a:rPr lang="en-IN" smtClean="0"/>
              <a:t>11</a:t>
            </a:fld>
            <a:endParaRPr lang="en-IN"/>
          </a:p>
        </p:txBody>
      </p:sp>
      <p:graphicFrame>
        <p:nvGraphicFramePr>
          <p:cNvPr id="8" name="Content Placeholder 7">
            <a:extLst>
              <a:ext uri="{FF2B5EF4-FFF2-40B4-BE49-F238E27FC236}">
                <a16:creationId xmlns:a16="http://schemas.microsoft.com/office/drawing/2014/main" id="{FBD80756-6A72-95C1-91CC-9DBB8A9A8F1B}"/>
              </a:ext>
            </a:extLst>
          </p:cNvPr>
          <p:cNvGraphicFramePr>
            <a:graphicFrameLocks noGrp="1"/>
          </p:cNvGraphicFramePr>
          <p:nvPr>
            <p:ph idx="1"/>
            <p:extLst>
              <p:ext uri="{D42A27DB-BD31-4B8C-83A1-F6EECF244321}">
                <p14:modId xmlns:p14="http://schemas.microsoft.com/office/powerpoint/2010/main" val="3206836552"/>
              </p:ext>
            </p:extLst>
          </p:nvPr>
        </p:nvGraphicFramePr>
        <p:xfrm>
          <a:off x="1084333" y="1618489"/>
          <a:ext cx="9799452" cy="4558476"/>
        </p:xfrm>
        <a:graphic>
          <a:graphicData uri="http://schemas.openxmlformats.org/drawingml/2006/table">
            <a:tbl>
              <a:tblPr/>
              <a:tblGrid>
                <a:gridCol w="486983">
                  <a:extLst>
                    <a:ext uri="{9D8B030D-6E8A-4147-A177-3AD203B41FA5}">
                      <a16:colId xmlns:a16="http://schemas.microsoft.com/office/drawing/2014/main" val="1008722575"/>
                    </a:ext>
                  </a:extLst>
                </a:gridCol>
                <a:gridCol w="1811233">
                  <a:extLst>
                    <a:ext uri="{9D8B030D-6E8A-4147-A177-3AD203B41FA5}">
                      <a16:colId xmlns:a16="http://schemas.microsoft.com/office/drawing/2014/main" val="1595610750"/>
                    </a:ext>
                  </a:extLst>
                </a:gridCol>
                <a:gridCol w="4639148">
                  <a:extLst>
                    <a:ext uri="{9D8B030D-6E8A-4147-A177-3AD203B41FA5}">
                      <a16:colId xmlns:a16="http://schemas.microsoft.com/office/drawing/2014/main" val="2645132469"/>
                    </a:ext>
                  </a:extLst>
                </a:gridCol>
                <a:gridCol w="2862088">
                  <a:extLst>
                    <a:ext uri="{9D8B030D-6E8A-4147-A177-3AD203B41FA5}">
                      <a16:colId xmlns:a16="http://schemas.microsoft.com/office/drawing/2014/main" val="4144876654"/>
                    </a:ext>
                  </a:extLst>
                </a:gridCol>
              </a:tblGrid>
              <a:tr h="301032">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Step</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Stage</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b="1">
                          <a:latin typeface="Tahoma" panose="020B0604030504040204" pitchFamily="34" charset="0"/>
                          <a:ea typeface="Tahoma" panose="020B0604030504040204" pitchFamily="34" charset="0"/>
                          <a:cs typeface="Tahoma" panose="020B0604030504040204" pitchFamily="34" charset="0"/>
                        </a:rPr>
                        <a:t>What Is Done at This Stage</a:t>
                      </a:r>
                      <a:endParaRPr lang="en-US"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Purpose for Workforce Planning</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4150909"/>
                  </a:ext>
                </a:extLst>
              </a:tr>
              <a:tr h="817085">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1</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Strategic Planning</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Understand business goals, industry challenges, growth plans, and external pressures; review existing workforce data systems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Ensures workforce planning is aligned with business strategy and future direction</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9771351"/>
                  </a:ext>
                </a:extLst>
              </a:tr>
              <a:tr h="559058">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2</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Workforce Analysis</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Assess current workforce size, skills, experience, productivity, and critical roles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Creates a clear picture of existing human capital and current capabilities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4537473"/>
                  </a:ext>
                </a:extLst>
              </a:tr>
              <a:tr h="688072">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3</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Future Requirement Analysis</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Forecast future workforce needs in terms of skills, roles, numbers, and locations based on business roadmap</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Identifies what kind of workforce will be needed to execute future strategy</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4299863"/>
                  </a:ext>
                </a:extLst>
              </a:tr>
              <a:tr h="688072">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4</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Gap Analysis</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Compare current workforce with future requirements to identify skill gaps, performance gaps, and manpower gaps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Highlights areas where hiring, reskilling, redeployment, or restructuring is needed</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8546095"/>
                  </a:ext>
                </a:extLst>
              </a:tr>
              <a:tr h="817085">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5</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Workforce Action Planning</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Design interventions such as recruitment plans, training programs, succession planning, redeployment, or outsourcing</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Converts analysis into concrete HR and talent management actions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9922256"/>
                  </a:ext>
                </a:extLst>
              </a:tr>
              <a:tr h="688072">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6</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dirty="0">
                          <a:latin typeface="Tahoma" panose="020B0604030504040204" pitchFamily="34" charset="0"/>
                          <a:ea typeface="Tahoma" panose="020B0604030504040204" pitchFamily="34" charset="0"/>
                          <a:cs typeface="Tahoma" panose="020B0604030504040204" pitchFamily="34" charset="0"/>
                        </a:rPr>
                        <a:t>Execute and Evaluate</a:t>
                      </a:r>
                      <a:endParaRPr lang="en-IN" sz="1200" dirty="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Implement workforce plans, track outcomes, review metrics, and revise plans as business conditions change</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Tahoma" panose="020B0604030504040204" pitchFamily="34" charset="0"/>
                          <a:ea typeface="Tahoma" panose="020B0604030504040204" pitchFamily="34" charset="0"/>
                          <a:cs typeface="Tahoma" panose="020B0604030504040204" pitchFamily="34" charset="0"/>
                        </a:rPr>
                        <a:t>Ensures continuous alignment between workforce and business needs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5205532"/>
                  </a:ext>
                </a:extLst>
              </a:tr>
            </a:tbl>
          </a:graphicData>
        </a:graphic>
      </p:graphicFrame>
    </p:spTree>
    <p:extLst>
      <p:ext uri="{BB962C8B-B14F-4D97-AF65-F5344CB8AC3E}">
        <p14:creationId xmlns:p14="http://schemas.microsoft.com/office/powerpoint/2010/main" val="3977377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63472-B99B-A2F9-2927-B0C1C1FAEE0E}"/>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16DD6B4-4B78-8AE7-105F-012093FA5094}"/>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3F81E964-716A-A5F6-8C07-2DB0C85382D2}"/>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8586FF0C-9AEE-0E0D-35C6-31D18D37821C}"/>
              </a:ext>
            </a:extLst>
          </p:cNvPr>
          <p:cNvSpPr>
            <a:spLocks noGrp="1"/>
          </p:cNvSpPr>
          <p:nvPr>
            <p:ph type="sldNum" sz="quarter" idx="12"/>
          </p:nvPr>
        </p:nvSpPr>
        <p:spPr/>
        <p:txBody>
          <a:bodyPr/>
          <a:lstStyle/>
          <a:p>
            <a:fld id="{AADF62B3-C5AA-40A0-A9F3-B28CB0ADD062}" type="slidenum">
              <a:rPr lang="en-IN" smtClean="0"/>
              <a:t>12</a:t>
            </a:fld>
            <a:endParaRPr lang="en-IN"/>
          </a:p>
        </p:txBody>
      </p:sp>
      <p:graphicFrame>
        <p:nvGraphicFramePr>
          <p:cNvPr id="3" name="Content Placeholder 2">
            <a:extLst>
              <a:ext uri="{FF2B5EF4-FFF2-40B4-BE49-F238E27FC236}">
                <a16:creationId xmlns:a16="http://schemas.microsoft.com/office/drawing/2014/main" id="{D2364600-93BD-F6AB-A436-74ECD78BD39D}"/>
              </a:ext>
            </a:extLst>
          </p:cNvPr>
          <p:cNvGraphicFramePr>
            <a:graphicFrameLocks noGrp="1"/>
          </p:cNvGraphicFramePr>
          <p:nvPr>
            <p:ph idx="1"/>
            <p:extLst>
              <p:ext uri="{D42A27DB-BD31-4B8C-83A1-F6EECF244321}">
                <p14:modId xmlns:p14="http://schemas.microsoft.com/office/powerpoint/2010/main" val="2232511269"/>
              </p:ext>
            </p:extLst>
          </p:nvPr>
        </p:nvGraphicFramePr>
        <p:xfrm>
          <a:off x="1513211" y="1671878"/>
          <a:ext cx="9556693" cy="4439836"/>
        </p:xfrm>
        <a:graphic>
          <a:graphicData uri="http://schemas.openxmlformats.org/drawingml/2006/table">
            <a:tbl>
              <a:tblPr/>
              <a:tblGrid>
                <a:gridCol w="2195219">
                  <a:extLst>
                    <a:ext uri="{9D8B030D-6E8A-4147-A177-3AD203B41FA5}">
                      <a16:colId xmlns:a16="http://schemas.microsoft.com/office/drawing/2014/main" val="83230685"/>
                    </a:ext>
                  </a:extLst>
                </a:gridCol>
                <a:gridCol w="3501574">
                  <a:extLst>
                    <a:ext uri="{9D8B030D-6E8A-4147-A177-3AD203B41FA5}">
                      <a16:colId xmlns:a16="http://schemas.microsoft.com/office/drawing/2014/main" val="962575149"/>
                    </a:ext>
                  </a:extLst>
                </a:gridCol>
                <a:gridCol w="3859900">
                  <a:extLst>
                    <a:ext uri="{9D8B030D-6E8A-4147-A177-3AD203B41FA5}">
                      <a16:colId xmlns:a16="http://schemas.microsoft.com/office/drawing/2014/main" val="2017397903"/>
                    </a:ext>
                  </a:extLst>
                </a:gridCol>
              </a:tblGrid>
              <a:tr h="245146">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Area</a:t>
                      </a:r>
                      <a:endParaRPr lang="en-IN" sz="1400">
                        <a:latin typeface="Tahoma" panose="020B0604030504040204" pitchFamily="34" charset="0"/>
                        <a:ea typeface="Tahoma" panose="020B0604030504040204" pitchFamily="34" charset="0"/>
                        <a:cs typeface="Tahoma" panose="020B0604030504040204" pitchFamily="34" charset="0"/>
                      </a:endParaRP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Benefit</a:t>
                      </a:r>
                      <a:endParaRPr lang="en-IN" sz="1400">
                        <a:latin typeface="Tahoma" panose="020B0604030504040204" pitchFamily="34" charset="0"/>
                        <a:ea typeface="Tahoma" panose="020B0604030504040204" pitchFamily="34" charset="0"/>
                        <a:cs typeface="Tahoma" panose="020B0604030504040204" pitchFamily="34" charset="0"/>
                      </a:endParaRP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Explanation</a:t>
                      </a:r>
                      <a:endParaRPr lang="en-IN" sz="1400">
                        <a:latin typeface="Tahoma" panose="020B0604030504040204" pitchFamily="34" charset="0"/>
                        <a:ea typeface="Tahoma" panose="020B0604030504040204" pitchFamily="34" charset="0"/>
                        <a:cs typeface="Tahoma" panose="020B0604030504040204" pitchFamily="34" charset="0"/>
                      </a:endParaRP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770728"/>
                  </a:ext>
                </a:extLst>
              </a:tr>
              <a:tr h="612864">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Strategy Execution</a:t>
                      </a:r>
                      <a:endParaRPr lang="en-IN" sz="1400">
                        <a:latin typeface="Tahoma" panose="020B0604030504040204" pitchFamily="34" charset="0"/>
                        <a:ea typeface="Tahoma" panose="020B0604030504040204" pitchFamily="34" charset="0"/>
                        <a:cs typeface="Tahoma" panose="020B0604030504040204" pitchFamily="34" charset="0"/>
                      </a:endParaRP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Alignment with business goals</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Workforce capabilities are planned to directly support long-term business strategy.</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9439559"/>
                  </a:ext>
                </a:extLst>
              </a:tr>
              <a:tr h="612864">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Skill Readiness</a:t>
                      </a:r>
                      <a:endParaRPr lang="en-IN" sz="1400">
                        <a:latin typeface="Tahoma" panose="020B0604030504040204" pitchFamily="34" charset="0"/>
                        <a:ea typeface="Tahoma" panose="020B0604030504040204" pitchFamily="34" charset="0"/>
                        <a:cs typeface="Tahoma" panose="020B0604030504040204" pitchFamily="34" charset="0"/>
                      </a:endParaRP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dirty="0">
                          <a:latin typeface="Tahoma" panose="020B0604030504040204" pitchFamily="34" charset="0"/>
                          <a:ea typeface="Tahoma" panose="020B0604030504040204" pitchFamily="34" charset="0"/>
                          <a:cs typeface="Tahoma" panose="020B0604030504040204" pitchFamily="34" charset="0"/>
                        </a:rPr>
                        <a:t>Future-oriented skill development</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Anticipates emerging skills and prepares employees through reskilling and upskilling.</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175735"/>
                  </a:ext>
                </a:extLst>
              </a:tr>
              <a:tr h="612864">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Talent Stability</a:t>
                      </a:r>
                      <a:endParaRPr lang="en-IN" sz="1400">
                        <a:latin typeface="Tahoma" panose="020B0604030504040204" pitchFamily="34" charset="0"/>
                        <a:ea typeface="Tahoma" panose="020B0604030504040204" pitchFamily="34" charset="0"/>
                        <a:cs typeface="Tahoma" panose="020B0604030504040204" pitchFamily="34" charset="0"/>
                      </a:endParaRP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Reduced reactive hiring and layoffs</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Prevents crisis-driven recruitment or downsizing by forecasting needs in advance.</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4597730"/>
                  </a:ext>
                </a:extLst>
              </a:tr>
              <a:tr h="429005">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Leadership Continuity</a:t>
                      </a:r>
                      <a:endParaRPr lang="en-IN" sz="1400">
                        <a:latin typeface="Tahoma" panose="020B0604030504040204" pitchFamily="34" charset="0"/>
                        <a:ea typeface="Tahoma" panose="020B0604030504040204" pitchFamily="34" charset="0"/>
                        <a:cs typeface="Tahoma" panose="020B0604030504040204" pitchFamily="34" charset="0"/>
                      </a:endParaRP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Strong succession pipeline</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Identifies and develops future leaders for critical positions.</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1860777"/>
                  </a:ext>
                </a:extLst>
              </a:tr>
              <a:tr h="612864">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Cost Management</a:t>
                      </a:r>
                      <a:endParaRPr lang="en-IN" sz="1400">
                        <a:latin typeface="Tahoma" panose="020B0604030504040204" pitchFamily="34" charset="0"/>
                        <a:ea typeface="Tahoma" panose="020B0604030504040204" pitchFamily="34" charset="0"/>
                        <a:cs typeface="Tahoma" panose="020B0604030504040204" pitchFamily="34" charset="0"/>
                      </a:endParaRP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Optimized talent investment</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Helps choose between hiring, training, redeployment, or outsourcing.</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0455878"/>
                  </a:ext>
                </a:extLst>
              </a:tr>
              <a:tr h="612864">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Organizational Agility</a:t>
                      </a:r>
                      <a:endParaRPr lang="en-IN" sz="1400">
                        <a:latin typeface="Tahoma" panose="020B0604030504040204" pitchFamily="34" charset="0"/>
                        <a:ea typeface="Tahoma" panose="020B0604030504040204" pitchFamily="34" charset="0"/>
                        <a:cs typeface="Tahoma" panose="020B0604030504040204" pitchFamily="34" charset="0"/>
                      </a:endParaRP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Faster response to change</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Enables quick adjustment to market, technology, and competitive shifts.</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7824138"/>
                  </a:ext>
                </a:extLst>
              </a:tr>
              <a:tr h="612864">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Competitive Advantage</a:t>
                      </a:r>
                      <a:endParaRPr lang="en-IN" sz="1400">
                        <a:latin typeface="Tahoma" panose="020B0604030504040204" pitchFamily="34" charset="0"/>
                        <a:ea typeface="Tahoma" panose="020B0604030504040204" pitchFamily="34" charset="0"/>
                        <a:cs typeface="Tahoma" panose="020B0604030504040204" pitchFamily="34" charset="0"/>
                      </a:endParaRP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400">
                          <a:latin typeface="Tahoma" panose="020B0604030504040204" pitchFamily="34" charset="0"/>
                          <a:ea typeface="Tahoma" panose="020B0604030504040204" pitchFamily="34" charset="0"/>
                          <a:cs typeface="Tahoma" panose="020B0604030504040204" pitchFamily="34" charset="0"/>
                        </a:rPr>
                        <a:t>Sustainable performance</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Builds unique workforce capabilities that support long-term growth.</a:t>
                      </a:r>
                    </a:p>
                  </a:txBody>
                  <a:tcPr marL="61286" marR="61286" marT="30643" marB="30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7070445"/>
                  </a:ext>
                </a:extLst>
              </a:tr>
            </a:tbl>
          </a:graphicData>
        </a:graphic>
      </p:graphicFrame>
      <p:sp>
        <p:nvSpPr>
          <p:cNvPr id="6" name="Title 1">
            <a:extLst>
              <a:ext uri="{FF2B5EF4-FFF2-40B4-BE49-F238E27FC236}">
                <a16:creationId xmlns:a16="http://schemas.microsoft.com/office/drawing/2014/main" id="{D5D7A94D-57EA-5A77-60A8-557B71FF4BAD}"/>
              </a:ext>
            </a:extLst>
          </p:cNvPr>
          <p:cNvSpPr txBox="1">
            <a:spLocks/>
          </p:cNvSpPr>
          <p:nvPr/>
        </p:nvSpPr>
        <p:spPr>
          <a:xfrm>
            <a:off x="990600" y="508952"/>
            <a:ext cx="10515600" cy="4206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Tahoma" panose="020B0604030504040204" pitchFamily="34" charset="0"/>
                <a:ea typeface="Tahoma" panose="020B0604030504040204" pitchFamily="34" charset="0"/>
                <a:cs typeface="Tahoma" panose="020B0604030504040204" pitchFamily="34" charset="0"/>
              </a:rPr>
              <a:t>  Benefits of Strategic Workforce Planning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39864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76ACF-7D95-8289-7188-5385BED459A0}"/>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856EA22-AAA4-E7D3-B035-26916F345D3E}"/>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2F7CBCF5-DF05-95A6-A8B3-E5D90C284DC4}"/>
              </a:ext>
            </a:extLst>
          </p:cNvPr>
          <p:cNvSpPr>
            <a:spLocks noGrp="1"/>
          </p:cNvSpPr>
          <p:nvPr>
            <p:ph type="title"/>
          </p:nvPr>
        </p:nvSpPr>
        <p:spPr>
          <a:xfrm>
            <a:off x="838200" y="356552"/>
            <a:ext cx="10515600" cy="420688"/>
          </a:xfrm>
        </p:spPr>
        <p:txBody>
          <a:bodyPr>
            <a:noAutofit/>
          </a:bodyPr>
          <a:lstStyle/>
          <a:p>
            <a:r>
              <a:rPr lang="en-US" sz="2800">
                <a:latin typeface="Tahoma" panose="020B0604030504040204" pitchFamily="34" charset="0"/>
                <a:ea typeface="Tahoma" panose="020B0604030504040204" pitchFamily="34" charset="0"/>
                <a:cs typeface="Tahoma" panose="020B0604030504040204" pitchFamily="34" charset="0"/>
              </a:rPr>
              <a:t>Methods of Forecasting Personnel (Labour) Demand</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B7C3A2B7-0794-BBC9-53DA-77AD1AE25B7C}"/>
              </a:ext>
            </a:extLst>
          </p:cNvPr>
          <p:cNvSpPr>
            <a:spLocks noGrp="1"/>
          </p:cNvSpPr>
          <p:nvPr>
            <p:ph type="sldNum" sz="quarter" idx="12"/>
          </p:nvPr>
        </p:nvSpPr>
        <p:spPr/>
        <p:txBody>
          <a:bodyPr/>
          <a:lstStyle/>
          <a:p>
            <a:fld id="{AADF62B3-C5AA-40A0-A9F3-B28CB0ADD062}" type="slidenum">
              <a:rPr lang="en-IN" smtClean="0"/>
              <a:t>13</a:t>
            </a:fld>
            <a:endParaRPr lang="en-IN"/>
          </a:p>
        </p:txBody>
      </p:sp>
      <p:graphicFrame>
        <p:nvGraphicFramePr>
          <p:cNvPr id="3" name="Content Placeholder 2">
            <a:extLst>
              <a:ext uri="{FF2B5EF4-FFF2-40B4-BE49-F238E27FC236}">
                <a16:creationId xmlns:a16="http://schemas.microsoft.com/office/drawing/2014/main" id="{D899E7E8-93A6-E772-289C-73D68B693C8C}"/>
              </a:ext>
            </a:extLst>
          </p:cNvPr>
          <p:cNvGraphicFramePr>
            <a:graphicFrameLocks noGrp="1"/>
          </p:cNvGraphicFramePr>
          <p:nvPr>
            <p:ph idx="1"/>
            <p:extLst>
              <p:ext uri="{D42A27DB-BD31-4B8C-83A1-F6EECF244321}">
                <p14:modId xmlns:p14="http://schemas.microsoft.com/office/powerpoint/2010/main" val="332360004"/>
              </p:ext>
            </p:extLst>
          </p:nvPr>
        </p:nvGraphicFramePr>
        <p:xfrm>
          <a:off x="1440382" y="1618546"/>
          <a:ext cx="9313932" cy="4443635"/>
        </p:xfrm>
        <a:graphic>
          <a:graphicData uri="http://schemas.openxmlformats.org/drawingml/2006/table">
            <a:tbl>
              <a:tblPr/>
              <a:tblGrid>
                <a:gridCol w="2328483">
                  <a:extLst>
                    <a:ext uri="{9D8B030D-6E8A-4147-A177-3AD203B41FA5}">
                      <a16:colId xmlns:a16="http://schemas.microsoft.com/office/drawing/2014/main" val="1335506678"/>
                    </a:ext>
                  </a:extLst>
                </a:gridCol>
                <a:gridCol w="2328483">
                  <a:extLst>
                    <a:ext uri="{9D8B030D-6E8A-4147-A177-3AD203B41FA5}">
                      <a16:colId xmlns:a16="http://schemas.microsoft.com/office/drawing/2014/main" val="897998472"/>
                    </a:ext>
                  </a:extLst>
                </a:gridCol>
                <a:gridCol w="2328483">
                  <a:extLst>
                    <a:ext uri="{9D8B030D-6E8A-4147-A177-3AD203B41FA5}">
                      <a16:colId xmlns:a16="http://schemas.microsoft.com/office/drawing/2014/main" val="1573385301"/>
                    </a:ext>
                  </a:extLst>
                </a:gridCol>
                <a:gridCol w="2328483">
                  <a:extLst>
                    <a:ext uri="{9D8B030D-6E8A-4147-A177-3AD203B41FA5}">
                      <a16:colId xmlns:a16="http://schemas.microsoft.com/office/drawing/2014/main" val="772228812"/>
                    </a:ext>
                  </a:extLst>
                </a:gridCol>
              </a:tblGrid>
              <a:tr h="276275">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Method</a:t>
                      </a:r>
                      <a:endParaRPr lang="en-IN" sz="1400">
                        <a:latin typeface="Tahoma" panose="020B0604030504040204" pitchFamily="34" charset="0"/>
                        <a:ea typeface="Tahoma" panose="020B0604030504040204" pitchFamily="34" charset="0"/>
                        <a:cs typeface="Tahoma" panose="020B0604030504040204" pitchFamily="34" charset="0"/>
                      </a:endParaRPr>
                    </a:p>
                  </a:txBody>
                  <a:tcPr marL="69069" marR="69069" marT="34534" marB="34534" anchor="ctr">
                    <a:lnL>
                      <a:noFill/>
                    </a:lnL>
                    <a:lnR>
                      <a:noFill/>
                    </a:lnR>
                    <a:lnT>
                      <a:noFill/>
                    </a:lnT>
                    <a:lnB>
                      <a:noFill/>
                    </a:lnB>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What It Is</a:t>
                      </a:r>
                      <a:endParaRPr lang="en-IN" sz="1400">
                        <a:latin typeface="Tahoma" panose="020B0604030504040204" pitchFamily="34" charset="0"/>
                        <a:ea typeface="Tahoma" panose="020B0604030504040204" pitchFamily="34" charset="0"/>
                        <a:cs typeface="Tahoma" panose="020B0604030504040204" pitchFamily="34" charset="0"/>
                      </a:endParaRPr>
                    </a:p>
                  </a:txBody>
                  <a:tcPr marL="69069" marR="69069" marT="34534" marB="34534" anchor="ctr">
                    <a:lnL>
                      <a:noFill/>
                    </a:lnL>
                    <a:lnR>
                      <a:noFill/>
                    </a:lnR>
                    <a:lnT>
                      <a:noFill/>
                    </a:lnT>
                    <a:lnB>
                      <a:noFill/>
                    </a:lnB>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How It Works</a:t>
                      </a:r>
                      <a:endParaRPr lang="en-IN" sz="1400">
                        <a:latin typeface="Tahoma" panose="020B0604030504040204" pitchFamily="34" charset="0"/>
                        <a:ea typeface="Tahoma" panose="020B0604030504040204" pitchFamily="34" charset="0"/>
                        <a:cs typeface="Tahoma" panose="020B0604030504040204" pitchFamily="34" charset="0"/>
                      </a:endParaRPr>
                    </a:p>
                  </a:txBody>
                  <a:tcPr marL="69069" marR="69069" marT="34534" marB="34534" anchor="ctr">
                    <a:lnL>
                      <a:noFill/>
                    </a:lnL>
                    <a:lnR>
                      <a:noFill/>
                    </a:lnR>
                    <a:lnT>
                      <a:noFill/>
                    </a:lnT>
                    <a:lnB>
                      <a:noFill/>
                    </a:lnB>
                    <a:noFill/>
                  </a:tcPr>
                </a:tc>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When It Is Useful</a:t>
                      </a:r>
                      <a:endParaRPr lang="en-IN" sz="1400">
                        <a:latin typeface="Tahoma" panose="020B0604030504040204" pitchFamily="34" charset="0"/>
                        <a:ea typeface="Tahoma" panose="020B0604030504040204" pitchFamily="34" charset="0"/>
                        <a:cs typeface="Tahoma" panose="020B0604030504040204" pitchFamily="34" charset="0"/>
                      </a:endParaRPr>
                    </a:p>
                  </a:txBody>
                  <a:tcPr marL="69069" marR="69069" marT="34534" marB="34534" anchor="ctr">
                    <a:lnL>
                      <a:noFill/>
                    </a:lnL>
                    <a:lnR>
                      <a:noFill/>
                    </a:lnR>
                    <a:lnT>
                      <a:noFill/>
                    </a:lnT>
                    <a:lnB>
                      <a:noFill/>
                    </a:lnB>
                    <a:noFill/>
                  </a:tcPr>
                </a:tc>
                <a:extLst>
                  <a:ext uri="{0D108BD9-81ED-4DB2-BD59-A6C34878D82A}">
                    <a16:rowId xmlns:a16="http://schemas.microsoft.com/office/drawing/2014/main" val="412524063"/>
                  </a:ext>
                </a:extLst>
              </a:tr>
              <a:tr h="690689">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Trend Analysis</a:t>
                      </a:r>
                      <a:endParaRPr lang="en-IN" sz="1400">
                        <a:latin typeface="Tahoma" panose="020B0604030504040204" pitchFamily="34" charset="0"/>
                        <a:ea typeface="Tahoma" panose="020B0604030504040204" pitchFamily="34" charset="0"/>
                        <a:cs typeface="Tahoma" panose="020B0604030504040204" pitchFamily="34" charset="0"/>
                      </a:endParaRP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Uses past employment data to predict future needs</a:t>
                      </a: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Studies historical patterns of workforce growth and projects them forward</a:t>
                      </a: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Stable organizations with predictable growth patterns</a:t>
                      </a:r>
                    </a:p>
                  </a:txBody>
                  <a:tcPr marL="69069" marR="69069" marT="34534" marB="34534" anchor="ctr">
                    <a:lnL>
                      <a:noFill/>
                    </a:lnL>
                    <a:lnR>
                      <a:noFill/>
                    </a:lnR>
                    <a:lnT>
                      <a:noFill/>
                    </a:lnT>
                    <a:lnB>
                      <a:noFill/>
                    </a:lnB>
                    <a:noFill/>
                  </a:tcPr>
                </a:tc>
                <a:extLst>
                  <a:ext uri="{0D108BD9-81ED-4DB2-BD59-A6C34878D82A}">
                    <a16:rowId xmlns:a16="http://schemas.microsoft.com/office/drawing/2014/main" val="3174555570"/>
                  </a:ext>
                </a:extLst>
              </a:tr>
              <a:tr h="897895">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Ratio Analysis</a:t>
                      </a:r>
                      <a:endParaRPr lang="en-IN" sz="1400">
                        <a:latin typeface="Tahoma" panose="020B0604030504040204" pitchFamily="34" charset="0"/>
                        <a:ea typeface="Tahoma" panose="020B0604030504040204" pitchFamily="34" charset="0"/>
                        <a:cs typeface="Tahoma" panose="020B0604030504040204" pitchFamily="34" charset="0"/>
                      </a:endParaRP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Uses ratios between business activity and number of employees</a:t>
                      </a: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Calculates manpower based on output, sales, or workload ratios (e.g., sales per employee)</a:t>
                      </a: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When clear relationship exists between workload and staffing</a:t>
                      </a:r>
                    </a:p>
                  </a:txBody>
                  <a:tcPr marL="69069" marR="69069" marT="34534" marB="34534" anchor="ctr">
                    <a:lnL>
                      <a:noFill/>
                    </a:lnL>
                    <a:lnR>
                      <a:noFill/>
                    </a:lnR>
                    <a:lnT>
                      <a:noFill/>
                    </a:lnT>
                    <a:lnB>
                      <a:noFill/>
                    </a:lnB>
                    <a:noFill/>
                  </a:tcPr>
                </a:tc>
                <a:extLst>
                  <a:ext uri="{0D108BD9-81ED-4DB2-BD59-A6C34878D82A}">
                    <a16:rowId xmlns:a16="http://schemas.microsoft.com/office/drawing/2014/main" val="1614897509"/>
                  </a:ext>
                </a:extLst>
              </a:tr>
              <a:tr h="690689">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Managerial Judgment</a:t>
                      </a:r>
                      <a:endParaRPr lang="en-IN" sz="1400">
                        <a:latin typeface="Tahoma" panose="020B0604030504040204" pitchFamily="34" charset="0"/>
                        <a:ea typeface="Tahoma" panose="020B0604030504040204" pitchFamily="34" charset="0"/>
                        <a:cs typeface="Tahoma" panose="020B0604030504040204" pitchFamily="34" charset="0"/>
                      </a:endParaRP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Forecast based on managers’ experience and knowledge</a:t>
                      </a: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Managers estimate future manpower needs based on plans and expectations</a:t>
                      </a:r>
                    </a:p>
                  </a:txBody>
                  <a:tcPr marL="69069" marR="69069" marT="34534" marB="34534" anchor="ctr">
                    <a:lnL>
                      <a:noFill/>
                    </a:lnL>
                    <a:lnR>
                      <a:noFill/>
                    </a:lnR>
                    <a:lnT>
                      <a:noFill/>
                    </a:lnT>
                    <a:lnB>
                      <a:noFill/>
                    </a:lnB>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When quantitative data is limited or during major changes</a:t>
                      </a:r>
                    </a:p>
                  </a:txBody>
                  <a:tcPr marL="69069" marR="69069" marT="34534" marB="34534" anchor="ctr">
                    <a:lnL>
                      <a:noFill/>
                    </a:lnL>
                    <a:lnR>
                      <a:noFill/>
                    </a:lnR>
                    <a:lnT>
                      <a:noFill/>
                    </a:lnT>
                    <a:lnB>
                      <a:noFill/>
                    </a:lnB>
                    <a:noFill/>
                  </a:tcPr>
                </a:tc>
                <a:extLst>
                  <a:ext uri="{0D108BD9-81ED-4DB2-BD59-A6C34878D82A}">
                    <a16:rowId xmlns:a16="http://schemas.microsoft.com/office/drawing/2014/main" val="2643108554"/>
                  </a:ext>
                </a:extLst>
              </a:tr>
              <a:tr h="897895">
                <a:tc>
                  <a:txBody>
                    <a:bodyPr/>
                    <a:lstStyle/>
                    <a:p>
                      <a:pPr>
                        <a:buNone/>
                      </a:pPr>
                      <a:r>
                        <a:rPr lang="en-IN" sz="1400" b="1">
                          <a:latin typeface="Tahoma" panose="020B0604030504040204" pitchFamily="34" charset="0"/>
                          <a:ea typeface="Tahoma" panose="020B0604030504040204" pitchFamily="34" charset="0"/>
                          <a:cs typeface="Tahoma" panose="020B0604030504040204" pitchFamily="34" charset="0"/>
                        </a:rPr>
                        <a:t>Scatter Plot</a:t>
                      </a:r>
                      <a:endParaRPr lang="en-IN" sz="1400">
                        <a:latin typeface="Tahoma" panose="020B0604030504040204" pitchFamily="34" charset="0"/>
                        <a:ea typeface="Tahoma" panose="020B0604030504040204" pitchFamily="34" charset="0"/>
                        <a:cs typeface="Tahoma" panose="020B0604030504040204" pitchFamily="34" charset="0"/>
                      </a:endParaRP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Uses graphical relationship between business volume and staff size</a:t>
                      </a: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Plots business levels against workforce size to find correlation</a:t>
                      </a: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When manpower varies with production or service volume</a:t>
                      </a:r>
                    </a:p>
                  </a:txBody>
                  <a:tcPr marL="69069" marR="69069" marT="34534" marB="34534" anchor="ctr">
                    <a:lnL>
                      <a:noFill/>
                    </a:lnL>
                    <a:lnR>
                      <a:noFill/>
                    </a:lnR>
                    <a:lnT>
                      <a:noFill/>
                    </a:lnT>
                    <a:lnB>
                      <a:noFill/>
                    </a:lnB>
                    <a:noFill/>
                  </a:tcPr>
                </a:tc>
                <a:extLst>
                  <a:ext uri="{0D108BD9-81ED-4DB2-BD59-A6C34878D82A}">
                    <a16:rowId xmlns:a16="http://schemas.microsoft.com/office/drawing/2014/main" val="1823889815"/>
                  </a:ext>
                </a:extLst>
              </a:tr>
              <a:tr h="897895">
                <a:tc>
                  <a:txBody>
                    <a:bodyPr/>
                    <a:lstStyle/>
                    <a:p>
                      <a:pPr>
                        <a:buNone/>
                      </a:pPr>
                      <a:r>
                        <a:rPr lang="en-IN" sz="1400" b="1" dirty="0">
                          <a:latin typeface="Tahoma" panose="020B0604030504040204" pitchFamily="34" charset="0"/>
                          <a:ea typeface="Tahoma" panose="020B0604030504040204" pitchFamily="34" charset="0"/>
                          <a:cs typeface="Tahoma" panose="020B0604030504040204" pitchFamily="34" charset="0"/>
                        </a:rPr>
                        <a:t>Workload Analysis</a:t>
                      </a:r>
                      <a:r>
                        <a:rPr lang="en-IN" sz="1400" dirty="0">
                          <a:latin typeface="Tahoma" panose="020B0604030504040204" pitchFamily="34" charset="0"/>
                          <a:ea typeface="Tahoma" panose="020B0604030504040204" pitchFamily="34" charset="0"/>
                          <a:cs typeface="Tahoma" panose="020B0604030504040204" pitchFamily="34" charset="0"/>
                        </a:rPr>
                        <a:t> </a:t>
                      </a: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Estimates staff based on task time and volume of work</a:t>
                      </a:r>
                    </a:p>
                  </a:txBody>
                  <a:tcPr marL="69069" marR="69069" marT="34534" marB="34534" anchor="ctr">
                    <a:lnL>
                      <a:noFill/>
                    </a:lnL>
                    <a:lnR>
                      <a:noFill/>
                    </a:lnR>
                    <a:lnT>
                      <a:noFill/>
                    </a:lnT>
                    <a:lnB>
                      <a:noFill/>
                    </a:lnB>
                    <a:noFill/>
                  </a:tcPr>
                </a:tc>
                <a:tc>
                  <a:txBody>
                    <a:bodyPr/>
                    <a:lstStyle/>
                    <a:p>
                      <a:pPr>
                        <a:buNone/>
                      </a:pPr>
                      <a:r>
                        <a:rPr lang="en-US" sz="1400">
                          <a:latin typeface="Tahoma" panose="020B0604030504040204" pitchFamily="34" charset="0"/>
                          <a:ea typeface="Tahoma" panose="020B0604030504040204" pitchFamily="34" charset="0"/>
                          <a:cs typeface="Tahoma" panose="020B0604030504040204" pitchFamily="34" charset="0"/>
                        </a:rPr>
                        <a:t>Calculates total work hours required and divides by standard hours per employee</a:t>
                      </a:r>
                    </a:p>
                  </a:txBody>
                  <a:tcPr marL="69069" marR="69069" marT="34534" marB="34534" anchor="ctr">
                    <a:lnL>
                      <a:noFill/>
                    </a:lnL>
                    <a:lnR>
                      <a:noFill/>
                    </a:lnR>
                    <a:lnT>
                      <a:noFill/>
                    </a:lnT>
                    <a:lnB>
                      <a:noFill/>
                    </a:lnB>
                    <a:noFill/>
                  </a:tcPr>
                </a:tc>
                <a:tc>
                  <a:txBody>
                    <a:bodyPr/>
                    <a:lstStyle/>
                    <a:p>
                      <a:pPr>
                        <a:buNone/>
                      </a:pPr>
                      <a:r>
                        <a:rPr lang="en-US" sz="1400" dirty="0">
                          <a:latin typeface="Tahoma" panose="020B0604030504040204" pitchFamily="34" charset="0"/>
                          <a:ea typeface="Tahoma" panose="020B0604030504040204" pitchFamily="34" charset="0"/>
                          <a:cs typeface="Tahoma" panose="020B0604030504040204" pitchFamily="34" charset="0"/>
                        </a:rPr>
                        <a:t>Operational planning and staffing for service or production units</a:t>
                      </a:r>
                    </a:p>
                  </a:txBody>
                  <a:tcPr marL="69069" marR="69069" marT="34534" marB="34534" anchor="ctr">
                    <a:lnL>
                      <a:noFill/>
                    </a:lnL>
                    <a:lnR>
                      <a:noFill/>
                    </a:lnR>
                    <a:lnT>
                      <a:noFill/>
                    </a:lnT>
                    <a:lnB>
                      <a:noFill/>
                    </a:lnB>
                    <a:noFill/>
                  </a:tcPr>
                </a:tc>
                <a:extLst>
                  <a:ext uri="{0D108BD9-81ED-4DB2-BD59-A6C34878D82A}">
                    <a16:rowId xmlns:a16="http://schemas.microsoft.com/office/drawing/2014/main" val="658303478"/>
                  </a:ext>
                </a:extLst>
              </a:tr>
            </a:tbl>
          </a:graphicData>
        </a:graphic>
      </p:graphicFrame>
    </p:spTree>
    <p:extLst>
      <p:ext uri="{BB962C8B-B14F-4D97-AF65-F5344CB8AC3E}">
        <p14:creationId xmlns:p14="http://schemas.microsoft.com/office/powerpoint/2010/main" val="1189129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FAFFE-040F-16C4-E29C-2CBFA2B88D81}"/>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8C4C66A-6A0B-FFEF-4921-DECDD084E85A}"/>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21FB73D8-3B1D-D5DD-395B-4C7ECCA62BD3}"/>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Methods of Forecasting the Supply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250DED06-4695-1DA7-2E85-914EDF6FC6F3}"/>
              </a:ext>
            </a:extLst>
          </p:cNvPr>
          <p:cNvSpPr>
            <a:spLocks noGrp="1"/>
          </p:cNvSpPr>
          <p:nvPr>
            <p:ph type="sldNum" sz="quarter" idx="12"/>
          </p:nvPr>
        </p:nvSpPr>
        <p:spPr/>
        <p:txBody>
          <a:bodyPr/>
          <a:lstStyle/>
          <a:p>
            <a:fld id="{AADF62B3-C5AA-40A0-A9F3-B28CB0ADD062}" type="slidenum">
              <a:rPr lang="en-IN" smtClean="0"/>
              <a:t>14</a:t>
            </a:fld>
            <a:endParaRPr lang="en-IN"/>
          </a:p>
        </p:txBody>
      </p:sp>
      <p:graphicFrame>
        <p:nvGraphicFramePr>
          <p:cNvPr id="8" name="Content Placeholder 7">
            <a:extLst>
              <a:ext uri="{FF2B5EF4-FFF2-40B4-BE49-F238E27FC236}">
                <a16:creationId xmlns:a16="http://schemas.microsoft.com/office/drawing/2014/main" id="{9E8840A9-A8EF-8B04-470A-F2E50A8E4DC8}"/>
              </a:ext>
            </a:extLst>
          </p:cNvPr>
          <p:cNvGraphicFramePr>
            <a:graphicFrameLocks noGrp="1"/>
          </p:cNvGraphicFramePr>
          <p:nvPr>
            <p:ph idx="1"/>
            <p:extLst>
              <p:ext uri="{D42A27DB-BD31-4B8C-83A1-F6EECF244321}">
                <p14:modId xmlns:p14="http://schemas.microsoft.com/office/powerpoint/2010/main" val="1973230924"/>
              </p:ext>
            </p:extLst>
          </p:nvPr>
        </p:nvGraphicFramePr>
        <p:xfrm>
          <a:off x="574534" y="1437206"/>
          <a:ext cx="10916154" cy="5068086"/>
        </p:xfrm>
        <a:graphic>
          <a:graphicData uri="http://schemas.openxmlformats.org/drawingml/2006/table">
            <a:tbl>
              <a:tblPr/>
              <a:tblGrid>
                <a:gridCol w="1381020">
                  <a:extLst>
                    <a:ext uri="{9D8B030D-6E8A-4147-A177-3AD203B41FA5}">
                      <a16:colId xmlns:a16="http://schemas.microsoft.com/office/drawing/2014/main" val="3197694768"/>
                    </a:ext>
                  </a:extLst>
                </a:gridCol>
                <a:gridCol w="2904204">
                  <a:extLst>
                    <a:ext uri="{9D8B030D-6E8A-4147-A177-3AD203B41FA5}">
                      <a16:colId xmlns:a16="http://schemas.microsoft.com/office/drawing/2014/main" val="532767326"/>
                    </a:ext>
                  </a:extLst>
                </a:gridCol>
                <a:gridCol w="3901891">
                  <a:extLst>
                    <a:ext uri="{9D8B030D-6E8A-4147-A177-3AD203B41FA5}">
                      <a16:colId xmlns:a16="http://schemas.microsoft.com/office/drawing/2014/main" val="1738130595"/>
                    </a:ext>
                  </a:extLst>
                </a:gridCol>
                <a:gridCol w="2729039">
                  <a:extLst>
                    <a:ext uri="{9D8B030D-6E8A-4147-A177-3AD203B41FA5}">
                      <a16:colId xmlns:a16="http://schemas.microsoft.com/office/drawing/2014/main" val="3087054293"/>
                    </a:ext>
                  </a:extLst>
                </a:gridCol>
              </a:tblGrid>
              <a:tr h="287353">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Supply Source</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Method / Tool</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What It Measures</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Purpose in Workforce Planning</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986488"/>
                  </a:ext>
                </a:extLst>
              </a:tr>
              <a:tr h="287353">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Internal Supply</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Personnel Replacement Charts</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Identifies who can replace whom for key positions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Helps plan promotions and internal mobility</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9011197"/>
                  </a:ext>
                </a:extLst>
              </a:tr>
              <a:tr h="410504">
                <a:tc>
                  <a:txBody>
                    <a:bodyPr/>
                    <a:lstStyle/>
                    <a:p>
                      <a:pPr>
                        <a:buNone/>
                      </a:pP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Markov Analysis (Transition Matrices)</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Tracks employee movement between jobs, promotions, exits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Predicts future internal workforce distribution</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3577036"/>
                  </a:ext>
                </a:extLst>
              </a:tr>
              <a:tr h="410504">
                <a:tc>
                  <a:txBody>
                    <a:bodyPr/>
                    <a:lstStyle/>
                    <a:p>
                      <a:pPr>
                        <a:buNone/>
                      </a:pP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Skills Inventories</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Database of employees’ skills, qualifications, experience</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Matches existing skills with future role requirements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60184"/>
                  </a:ext>
                </a:extLst>
              </a:tr>
              <a:tr h="410504">
                <a:tc>
                  <a:txBody>
                    <a:bodyPr/>
                    <a:lstStyle/>
                    <a:p>
                      <a:pPr>
                        <a:buNone/>
                      </a:pP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dirty="0">
                          <a:latin typeface="Tahoma" panose="020B0604030504040204" pitchFamily="34" charset="0"/>
                          <a:ea typeface="Tahoma" panose="020B0604030504040204" pitchFamily="34" charset="0"/>
                          <a:cs typeface="Tahoma" panose="020B0604030504040204" pitchFamily="34" charset="0"/>
                        </a:rPr>
                        <a:t>Talent Pools</a:t>
                      </a:r>
                      <a:endParaRPr lang="en-IN" sz="1200" dirty="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Groups employees with high potential or scarce skills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Supports leadership and critical role pipelines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3525971"/>
                  </a:ext>
                </a:extLst>
              </a:tr>
              <a:tr h="287353">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External Supply</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Labour Market Analysis</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Availability of skills in external job market</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Helps decide feasibility of external hiring</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1537854"/>
                  </a:ext>
                </a:extLst>
              </a:tr>
              <a:tr h="287353">
                <a:tc>
                  <a:txBody>
                    <a:bodyPr/>
                    <a:lstStyle/>
                    <a:p>
                      <a:pPr>
                        <a:buNone/>
                      </a:pP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Educational Pipeline Data</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Number of graduates in relevant fields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Predicts future entry-level talent availability</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109912"/>
                  </a:ext>
                </a:extLst>
              </a:tr>
              <a:tr h="287353">
                <a:tc>
                  <a:txBody>
                    <a:bodyPr/>
                    <a:lstStyle/>
                    <a:p>
                      <a:pPr>
                        <a:buNone/>
                      </a:pP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Industry Hiring Trends</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Competitor hiring patterns and skill demand</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Indicates market competition for talent</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4599709"/>
                  </a:ext>
                </a:extLst>
              </a:tr>
              <a:tr h="410504">
                <a:tc>
                  <a:txBody>
                    <a:bodyPr/>
                    <a:lstStyle/>
                    <a:p>
                      <a:pPr>
                        <a:buNone/>
                      </a:pP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b="1">
                          <a:latin typeface="Tahoma" panose="020B0604030504040204" pitchFamily="34" charset="0"/>
                          <a:ea typeface="Tahoma" panose="020B0604030504040204" pitchFamily="34" charset="0"/>
                          <a:cs typeface="Tahoma" panose="020B0604030504040204" pitchFamily="34" charset="0"/>
                        </a:rPr>
                        <a:t>Talent Analytics Platforms</a:t>
                      </a:r>
                      <a:r>
                        <a:rPr lang="en-US" sz="1200">
                          <a:latin typeface="Tahoma" panose="020B0604030504040204" pitchFamily="34" charset="0"/>
                          <a:ea typeface="Tahoma" panose="020B0604030504040204" pitchFamily="34" charset="0"/>
                          <a:cs typeface="Tahoma" panose="020B0604030504040204" pitchFamily="34" charset="0"/>
                        </a:rPr>
                        <a:t> (e.g., labour market dashboards)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Skill demand, migration, and location trends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Supports location and hiring strategy decisions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3135165"/>
                  </a:ext>
                </a:extLst>
              </a:tr>
              <a:tr h="287353">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Predictive Monitoring</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Turnover &amp; Attrition Analysis</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Likely exits by role, level, or location</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a:latin typeface="Tahoma" panose="020B0604030504040204" pitchFamily="34" charset="0"/>
                          <a:ea typeface="Tahoma" panose="020B0604030504040204" pitchFamily="34" charset="0"/>
                          <a:cs typeface="Tahoma" panose="020B0604030504040204" pitchFamily="34" charset="0"/>
                        </a:rPr>
                        <a:t>Adjusts supply forecasts dynamically</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2464800"/>
                  </a:ext>
                </a:extLst>
              </a:tr>
              <a:tr h="287353">
                <a:tc>
                  <a:txBody>
                    <a:bodyPr/>
                    <a:lstStyle/>
                    <a:p>
                      <a:pPr>
                        <a:buNone/>
                      </a:pP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Retirement Forecasting</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Expected retirements based on age profiles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Anticipates experience and leadership gaps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5582516"/>
                  </a:ext>
                </a:extLst>
              </a:tr>
              <a:tr h="287353">
                <a:tc>
                  <a:txBody>
                    <a:bodyPr/>
                    <a:lstStyle/>
                    <a:p>
                      <a:pPr>
                        <a:buNone/>
                      </a:pP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Performance &amp; Potential Tracking</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Readiness of employees for future roles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Guides development and succession pipelines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736556"/>
                  </a:ext>
                </a:extLst>
              </a:tr>
              <a:tr h="410504">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Integration Stage</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b="1">
                          <a:latin typeface="Tahoma" panose="020B0604030504040204" pitchFamily="34" charset="0"/>
                          <a:ea typeface="Tahoma" panose="020B0604030504040204" pitchFamily="34" charset="0"/>
                          <a:cs typeface="Tahoma" panose="020B0604030504040204" pitchFamily="34" charset="0"/>
                        </a:rPr>
                        <a:t>Matching Supply with Demand</a:t>
                      </a:r>
                      <a:endParaRPr lang="en-IN" sz="1200">
                        <a:latin typeface="Tahoma" panose="020B0604030504040204" pitchFamily="34" charset="0"/>
                        <a:ea typeface="Tahoma" panose="020B0604030504040204" pitchFamily="34" charset="0"/>
                        <a:cs typeface="Tahoma" panose="020B0604030504040204" pitchFamily="34" charset="0"/>
                      </a:endParaRP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ahoma" panose="020B0604030504040204" pitchFamily="34" charset="0"/>
                          <a:ea typeface="Tahoma" panose="020B0604030504040204" pitchFamily="34" charset="0"/>
                          <a:cs typeface="Tahoma" panose="020B0604030504040204" pitchFamily="34" charset="0"/>
                        </a:rPr>
                        <a:t>Comparison of projected workforce supply and future needs</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Tahoma" panose="020B0604030504040204" pitchFamily="34" charset="0"/>
                          <a:ea typeface="Tahoma" panose="020B0604030504040204" pitchFamily="34" charset="0"/>
                          <a:cs typeface="Tahoma" panose="020B0604030504040204" pitchFamily="34" charset="0"/>
                        </a:rPr>
                        <a:t>Forms basis for hiring, training, redeployment, or succession planning</a:t>
                      </a:r>
                    </a:p>
                  </a:txBody>
                  <a:tcPr marL="41050" marR="41050" marT="20525" marB="20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6206421"/>
                  </a:ext>
                </a:extLst>
              </a:tr>
            </a:tbl>
          </a:graphicData>
        </a:graphic>
      </p:graphicFrame>
    </p:spTree>
    <p:extLst>
      <p:ext uri="{BB962C8B-B14F-4D97-AF65-F5344CB8AC3E}">
        <p14:creationId xmlns:p14="http://schemas.microsoft.com/office/powerpoint/2010/main" val="4058129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A4B3E-D244-1438-5962-EA36365B9E77}"/>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6E0B84A-BA72-51F3-BDD8-742A462BD9A0}"/>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1BAFEB8B-151D-4186-062E-6CC388FCBFEE}"/>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  Reflect</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19D6DDDF-8F69-AC7B-FAE0-46B2D177DFD2}"/>
              </a:ext>
            </a:extLst>
          </p:cNvPr>
          <p:cNvSpPr>
            <a:spLocks noGrp="1"/>
          </p:cNvSpPr>
          <p:nvPr>
            <p:ph type="sldNum" sz="quarter" idx="12"/>
          </p:nvPr>
        </p:nvSpPr>
        <p:spPr/>
        <p:txBody>
          <a:bodyPr/>
          <a:lstStyle/>
          <a:p>
            <a:fld id="{AADF62B3-C5AA-40A0-A9F3-B28CB0ADD062}" type="slidenum">
              <a:rPr lang="en-IN" smtClean="0"/>
              <a:t>15</a:t>
            </a:fld>
            <a:endParaRPr lang="en-IN"/>
          </a:p>
        </p:txBody>
      </p:sp>
      <p:sp>
        <p:nvSpPr>
          <p:cNvPr id="7" name="Content Placeholder 6">
            <a:extLst>
              <a:ext uri="{FF2B5EF4-FFF2-40B4-BE49-F238E27FC236}">
                <a16:creationId xmlns:a16="http://schemas.microsoft.com/office/drawing/2014/main" id="{DC63990C-2CAC-5715-6C7E-0E2895341522}"/>
              </a:ext>
            </a:extLst>
          </p:cNvPr>
          <p:cNvSpPr>
            <a:spLocks noGrp="1"/>
          </p:cNvSpPr>
          <p:nvPr>
            <p:ph idx="1"/>
          </p:nvPr>
        </p:nvSpPr>
        <p:spPr>
          <a:xfrm>
            <a:off x="951488" y="2076478"/>
            <a:ext cx="10515600" cy="1047048"/>
          </a:xfrm>
        </p:spPr>
        <p:txBody>
          <a:bodyPr>
            <a:normAutofit/>
          </a:bodyPr>
          <a:lstStyle/>
          <a:p>
            <a:pPr marL="0" indent="0" algn="ctr">
              <a:buNone/>
            </a:pPr>
            <a:r>
              <a:rPr lang="en-US" sz="1800" dirty="0">
                <a:solidFill>
                  <a:srgbClr val="FF0000"/>
                </a:solidFill>
                <a:latin typeface="Tahoma" panose="020B0604030504040204" pitchFamily="34" charset="0"/>
                <a:ea typeface="Tahoma" panose="020B0604030504040204" pitchFamily="34" charset="0"/>
                <a:cs typeface="Tahoma" panose="020B0604030504040204" pitchFamily="34" charset="0"/>
              </a:rPr>
              <a:t>Now that we know how many people we will need and where they will come from, what should the organization actually Do?</a:t>
            </a:r>
            <a:endParaRPr lang="en-IN" sz="18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23149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BAF7E-93BB-C252-216A-6DE00FB7C1E4}"/>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E6B8C32-4BD6-C221-37C1-8E3F642B4EA6}"/>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B681D933-EB58-5679-7877-DB0567621649}"/>
              </a:ext>
            </a:extLst>
          </p:cNvPr>
          <p:cNvSpPr>
            <a:spLocks noGrp="1"/>
          </p:cNvSpPr>
          <p:nvPr>
            <p:ph type="title"/>
          </p:nvPr>
        </p:nvSpPr>
        <p:spPr>
          <a:xfrm>
            <a:off x="838200" y="356552"/>
            <a:ext cx="10515600" cy="420688"/>
          </a:xfrm>
        </p:spPr>
        <p:txBody>
          <a:bodyPr>
            <a:noAutofit/>
          </a:bodyPr>
          <a:lstStyle/>
          <a:p>
            <a:r>
              <a:rPr lang="en-US" sz="2800">
                <a:latin typeface="Tahoma" panose="020B0604030504040204" pitchFamily="34" charset="0"/>
                <a:ea typeface="Tahoma" panose="020B0604030504040204" pitchFamily="34" charset="0"/>
                <a:cs typeface="Tahoma" panose="020B0604030504040204" pitchFamily="34" charset="0"/>
              </a:rPr>
              <a:t>Matching Supply and Demand – Workforce Action Plan</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3B0B9698-FDB8-818D-DD62-A8504639AD84}"/>
              </a:ext>
            </a:extLst>
          </p:cNvPr>
          <p:cNvSpPr>
            <a:spLocks noGrp="1"/>
          </p:cNvSpPr>
          <p:nvPr>
            <p:ph type="sldNum" sz="quarter" idx="12"/>
          </p:nvPr>
        </p:nvSpPr>
        <p:spPr/>
        <p:txBody>
          <a:bodyPr/>
          <a:lstStyle/>
          <a:p>
            <a:fld id="{AADF62B3-C5AA-40A0-A9F3-B28CB0ADD062}" type="slidenum">
              <a:rPr lang="en-IN" smtClean="0"/>
              <a:t>16</a:t>
            </a:fld>
            <a:endParaRPr lang="en-IN"/>
          </a:p>
        </p:txBody>
      </p:sp>
      <p:sp>
        <p:nvSpPr>
          <p:cNvPr id="3" name="Rectangle 1">
            <a:extLst>
              <a:ext uri="{FF2B5EF4-FFF2-40B4-BE49-F238E27FC236}">
                <a16:creationId xmlns:a16="http://schemas.microsoft.com/office/drawing/2014/main" id="{A68DF6D3-37F6-9C50-C9B1-60A2FF961382}"/>
              </a:ext>
            </a:extLst>
          </p:cNvPr>
          <p:cNvSpPr>
            <a:spLocks noGrp="1" noChangeArrowheads="1"/>
          </p:cNvSpPr>
          <p:nvPr>
            <p:ph idx="1"/>
          </p:nvPr>
        </p:nvSpPr>
        <p:spPr bwMode="auto">
          <a:xfrm>
            <a:off x="757280" y="1700409"/>
            <a:ext cx="10741503"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Promote (Succession Planning)</a:t>
            </a:r>
            <a:b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Filling critical and leadership roles through internal talent pipelines and readiness planning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Train / Reskill</a:t>
            </a:r>
            <a:b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Developing existing employees to meet future skill requirements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Hire</a:t>
            </a:r>
            <a:b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Recruiting from the external labor market when internal supply is insufficient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Redeploy</a:t>
            </a:r>
            <a:b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Transferring employees across roles, departments, or locations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Outsource / Automate</a:t>
            </a:r>
            <a:b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Using vendors or technology for non-core or efficiency-driven activities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Downsize / Hiring Freeze (if surplus exists)</a:t>
            </a:r>
            <a:b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br>
            <a:r>
              <a:rPr kumimoji="0" lang="en-US" altLang="en-US" sz="16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Managing excess workforce through attrition, restructuring, or cost controls</a:t>
            </a:r>
          </a:p>
        </p:txBody>
      </p:sp>
    </p:spTree>
    <p:extLst>
      <p:ext uri="{BB962C8B-B14F-4D97-AF65-F5344CB8AC3E}">
        <p14:creationId xmlns:p14="http://schemas.microsoft.com/office/powerpoint/2010/main" val="1807678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D333F-038E-0C53-73B1-B1DA443B5861}"/>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81D27D2-87F3-EDD6-E36E-D65305DABD42}"/>
              </a:ext>
            </a:extLst>
          </p:cNvPr>
          <p:cNvCxnSpPr/>
          <p:nvPr/>
        </p:nvCxnSpPr>
        <p:spPr>
          <a:xfrm>
            <a:off x="256032" y="1197864"/>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F81AF694-268A-060B-9114-D67A57C31D72}"/>
              </a:ext>
            </a:extLst>
          </p:cNvPr>
          <p:cNvSpPr>
            <a:spLocks noGrp="1"/>
          </p:cNvSpPr>
          <p:nvPr>
            <p:ph type="title"/>
          </p:nvPr>
        </p:nvSpPr>
        <p:spPr>
          <a:xfrm>
            <a:off x="838200" y="356552"/>
            <a:ext cx="10515600" cy="420688"/>
          </a:xfrm>
        </p:spPr>
        <p:txBody>
          <a:bodyPr>
            <a:noAutofit/>
          </a:bodyPr>
          <a:lstStyle/>
          <a:p>
            <a:r>
              <a:rPr lang="en-US" sz="2800" dirty="0">
                <a:latin typeface="Tahoma" panose="020B0604030504040204" pitchFamily="34" charset="0"/>
                <a:ea typeface="Tahoma" panose="020B0604030504040204" pitchFamily="34" charset="0"/>
                <a:cs typeface="Tahoma" panose="020B0604030504040204" pitchFamily="34" charset="0"/>
              </a:rPr>
              <a:t>  Discussion </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5B90DEB4-A946-E165-1FC6-20E3DCF850ED}"/>
              </a:ext>
            </a:extLst>
          </p:cNvPr>
          <p:cNvSpPr>
            <a:spLocks noGrp="1"/>
          </p:cNvSpPr>
          <p:nvPr>
            <p:ph type="sldNum" sz="quarter" idx="12"/>
          </p:nvPr>
        </p:nvSpPr>
        <p:spPr/>
        <p:txBody>
          <a:bodyPr/>
          <a:lstStyle/>
          <a:p>
            <a:fld id="{AADF62B3-C5AA-40A0-A9F3-B28CB0ADD062}" type="slidenum">
              <a:rPr lang="en-IN" smtClean="0"/>
              <a:t>17</a:t>
            </a:fld>
            <a:endParaRPr lang="en-IN"/>
          </a:p>
        </p:txBody>
      </p:sp>
      <p:pic>
        <p:nvPicPr>
          <p:cNvPr id="6" name="Content Placeholder 5">
            <a:extLst>
              <a:ext uri="{FF2B5EF4-FFF2-40B4-BE49-F238E27FC236}">
                <a16:creationId xmlns:a16="http://schemas.microsoft.com/office/drawing/2014/main" id="{DA14FD0F-CC10-BADB-03B2-5292B6C2A9F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702708"/>
            <a:ext cx="10515600" cy="3415739"/>
          </a:xfrm>
        </p:spPr>
      </p:pic>
      <p:sp>
        <p:nvSpPr>
          <p:cNvPr id="8" name="TextBox 7">
            <a:extLst>
              <a:ext uri="{FF2B5EF4-FFF2-40B4-BE49-F238E27FC236}">
                <a16:creationId xmlns:a16="http://schemas.microsoft.com/office/drawing/2014/main" id="{8ED98354-81EE-96CB-0259-36836485C242}"/>
              </a:ext>
            </a:extLst>
          </p:cNvPr>
          <p:cNvSpPr txBox="1"/>
          <p:nvPr/>
        </p:nvSpPr>
        <p:spPr>
          <a:xfrm>
            <a:off x="1273148" y="5474264"/>
            <a:ext cx="9372600" cy="381000"/>
          </a:xfrm>
          <a:prstGeom prst="rect">
            <a:avLst/>
          </a:prstGeom>
          <a:noFill/>
        </p:spPr>
        <p:txBody>
          <a:bodyPr wrap="square" rtlCol="0">
            <a:spAutoFit/>
          </a:bodyPr>
          <a:lstStyle/>
          <a:p>
            <a:pPr algn="ctr"/>
            <a:r>
              <a:rPr lang="en-GB" dirty="0">
                <a:solidFill>
                  <a:srgbClr val="FF0000"/>
                </a:solidFill>
                <a:latin typeface="Tahoma" panose="020B0604030504040204" pitchFamily="34" charset="0"/>
                <a:ea typeface="Tahoma" panose="020B0604030504040204" pitchFamily="34" charset="0"/>
                <a:cs typeface="Tahoma" panose="020B0604030504040204" pitchFamily="34" charset="0"/>
              </a:rPr>
              <a:t>As a HR professional how are you going to address the issue? </a:t>
            </a:r>
            <a:endParaRPr lang="en-IN"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808728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0A9E6-AA12-CADD-32D6-9E9BA88BA176}"/>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0AB6B79-5270-FAD1-8E8A-A91238157703}"/>
              </a:ext>
            </a:extLst>
          </p:cNvPr>
          <p:cNvCxnSpPr/>
          <p:nvPr/>
        </p:nvCxnSpPr>
        <p:spPr>
          <a:xfrm>
            <a:off x="256032" y="534320"/>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0950C889-4D7E-5826-A7D6-4DB424A1EF03}"/>
              </a:ext>
            </a:extLst>
          </p:cNvPr>
          <p:cNvSpPr>
            <a:spLocks noGrp="1"/>
          </p:cNvSpPr>
          <p:nvPr>
            <p:ph type="sldNum" sz="quarter" idx="12"/>
          </p:nvPr>
        </p:nvSpPr>
        <p:spPr/>
        <p:txBody>
          <a:bodyPr/>
          <a:lstStyle/>
          <a:p>
            <a:fld id="{AADF62B3-C5AA-40A0-A9F3-B28CB0ADD062}" type="slidenum">
              <a:rPr lang="en-IN" smtClean="0"/>
              <a:t>18</a:t>
            </a:fld>
            <a:endParaRPr lang="en-IN"/>
          </a:p>
        </p:txBody>
      </p:sp>
      <p:pic>
        <p:nvPicPr>
          <p:cNvPr id="3" name="Content Placeholder 5">
            <a:extLst>
              <a:ext uri="{FF2B5EF4-FFF2-40B4-BE49-F238E27FC236}">
                <a16:creationId xmlns:a16="http://schemas.microsoft.com/office/drawing/2014/main" id="{4E77A4E7-98B2-2253-56F2-D085C900BCDD}"/>
              </a:ext>
            </a:extLst>
          </p:cNvPr>
          <p:cNvPicPr>
            <a:picLocks noChangeAspect="1"/>
          </p:cNvPicPr>
          <p:nvPr/>
        </p:nvPicPr>
        <p:blipFill>
          <a:blip r:embed="rId3">
            <a:biLevel thresh="75000"/>
            <a:extLst>
              <a:ext uri="{28A0092B-C50C-407E-A947-70E740481C1C}">
                <a14:useLocalDpi xmlns:a14="http://schemas.microsoft.com/office/drawing/2010/main" val="0"/>
              </a:ext>
            </a:extLst>
          </a:blip>
          <a:stretch>
            <a:fillRect/>
          </a:stretch>
        </p:blipFill>
        <p:spPr>
          <a:xfrm>
            <a:off x="2254480" y="974689"/>
            <a:ext cx="7647676" cy="4973359"/>
          </a:xfrm>
          <a:prstGeom prst="rect">
            <a:avLst/>
          </a:prstGeom>
        </p:spPr>
      </p:pic>
      <p:cxnSp>
        <p:nvCxnSpPr>
          <p:cNvPr id="6" name="Straight Connector 5">
            <a:extLst>
              <a:ext uri="{FF2B5EF4-FFF2-40B4-BE49-F238E27FC236}">
                <a16:creationId xmlns:a16="http://schemas.microsoft.com/office/drawing/2014/main" id="{672EAC33-23DE-969E-E651-E03FC1FF3FCE}"/>
              </a:ext>
            </a:extLst>
          </p:cNvPr>
          <p:cNvCxnSpPr/>
          <p:nvPr/>
        </p:nvCxnSpPr>
        <p:spPr>
          <a:xfrm>
            <a:off x="400340" y="6399672"/>
            <a:ext cx="11786616"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6347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4739</TotalTime>
  <Words>2617</Words>
  <Application>Microsoft Office PowerPoint</Application>
  <PresentationFormat>Widescreen</PresentationFormat>
  <Paragraphs>337</Paragraphs>
  <Slides>18</Slides>
  <Notes>17</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Human Resource Management  </vt:lpstr>
      <vt:lpstr>Reflect    </vt:lpstr>
      <vt:lpstr>Reflect  </vt:lpstr>
      <vt:lpstr>Workforce Planning   </vt:lpstr>
      <vt:lpstr>Reflect  </vt:lpstr>
      <vt:lpstr>Factors affecting workforce planning   </vt:lpstr>
      <vt:lpstr>Factors affecting workforce planning    </vt:lpstr>
      <vt:lpstr>  Reflect </vt:lpstr>
      <vt:lpstr>  Strategic Workforce Planning </vt:lpstr>
      <vt:lpstr>  Difference between workforce planning and strategic workforce planning </vt:lpstr>
      <vt:lpstr>  Strategic Workforce Planning </vt:lpstr>
      <vt:lpstr>  </vt:lpstr>
      <vt:lpstr>Methods of Forecasting Personnel (Labour) Demand</vt:lpstr>
      <vt:lpstr>Methods of Forecasting the Supply </vt:lpstr>
      <vt:lpstr>  Reflect</vt:lpstr>
      <vt:lpstr>Matching Supply and Demand – Workforce Action Plan</vt:lpstr>
      <vt:lpstr>  Discussion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 Management  </dc:title>
  <dc:creator>Sumagna Bhowmick</dc:creator>
  <cp:lastModifiedBy>ROHIT GHOSH</cp:lastModifiedBy>
  <cp:revision>17</cp:revision>
  <dcterms:created xsi:type="dcterms:W3CDTF">2025-02-15T06:55:12Z</dcterms:created>
  <dcterms:modified xsi:type="dcterms:W3CDTF">2026-01-20T08:49:01Z</dcterms:modified>
</cp:coreProperties>
</file>