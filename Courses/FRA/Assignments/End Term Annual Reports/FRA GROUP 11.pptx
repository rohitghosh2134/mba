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6" r:id="rId10"/>
    <p:sldId id="264" r:id="rId11"/>
    <p:sldId id="265" r:id="rId12"/>
    <p:sldId id="267" r:id="rId13"/>
  </p:sldIdLst>
  <p:sldSz cx="18288000" cy="10287000"/>
  <p:notesSz cx="6858000" cy="9144000"/>
  <p:embeddedFontLs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  <p:embeddedFont>
      <p:font typeface="League Spartan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MBA\MBA\Courses\FRA\Assignments\FRA%20ANNUAL%20REPO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MBA\MBA\Courses\FRA\Assignments\FRA%20ANNUAL%20REPOR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MBA\MBA\Courses\FRA\Assignments\FRA%20ANNUAL%20REPOR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MBA\MBA\Courses\FRA\Assignments\FRA%20ANNUAL%20REPOR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MBA\MBA\Courses\FRA\Assignments\FRA%20ANNUAL%20REPOR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MBA\MBA\Courses\FRA\Assignments\FRA%20ANNUAL%20REPOR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MBA\MBA\Courses\FRA\Assignments\FRA%20ANNUAL%20REPOR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MBA\MBA\Courses\FRA\Assignments\FRA%20ANNUAL%20REPOR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'COMMON SIZE FINANCIAL STATMENT'!$A$11</c:f>
              <c:strCache>
                <c:ptCount val="1"/>
                <c:pt idx="0">
                  <c:v>TOTAL INCOME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'COMMON SIZE FINANCIAL STATMENT'!$B$6:$G$6</c:f>
              <c:numCache>
                <c:formatCode>d\-mmm\-yy</c:formatCode>
                <c:ptCount val="6"/>
                <c:pt idx="0">
                  <c:v>43921</c:v>
                </c:pt>
                <c:pt idx="1">
                  <c:v>44286</c:v>
                </c:pt>
                <c:pt idx="2">
                  <c:v>44651</c:v>
                </c:pt>
                <c:pt idx="3">
                  <c:v>45016</c:v>
                </c:pt>
                <c:pt idx="4">
                  <c:v>45382</c:v>
                </c:pt>
                <c:pt idx="5">
                  <c:v>45747</c:v>
                </c:pt>
              </c:numCache>
            </c:numRef>
          </c:cat>
          <c:val>
            <c:numRef>
              <c:f>'COMMON SIZE FINANCIAL STATMENT'!$B$11:$G$11</c:f>
              <c:numCache>
                <c:formatCode>0.00%</c:formatCode>
                <c:ptCount val="6"/>
                <c:pt idx="0">
                  <c:v>1.0239807093148301</c:v>
                </c:pt>
                <c:pt idx="1">
                  <c:v>1.0118220879522162</c:v>
                </c:pt>
                <c:pt idx="2">
                  <c:v>1.0044920983585179</c:v>
                </c:pt>
                <c:pt idx="3">
                  <c:v>1.0059488141533461</c:v>
                </c:pt>
                <c:pt idx="4">
                  <c:v>1.0148249704261765</c:v>
                </c:pt>
                <c:pt idx="5">
                  <c:v>1.0243806273658751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65-446B-AB2C-CC27AB2ECF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46202335"/>
        <c:axId val="646203775"/>
      </c:lineChart>
      <c:catAx>
        <c:axId val="646202335"/>
        <c:scaling>
          <c:orientation val="minMax"/>
          <c:max val="6"/>
          <c:min val="1"/>
        </c:scaling>
        <c:delete val="0"/>
        <c:axPos val="b"/>
        <c:numFmt formatCode="[$-809]dd\ mmmm\ yy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6203775"/>
        <c:crosses val="autoZero"/>
        <c:auto val="0"/>
        <c:lblAlgn val="ctr"/>
        <c:lblOffset val="100"/>
        <c:noMultiLvlLbl val="0"/>
      </c:catAx>
      <c:valAx>
        <c:axId val="646203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6202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PROFITABLITY</a:t>
            </a:r>
            <a:r>
              <a:rPr lang="en-IN" baseline="0"/>
              <a:t>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'COMMON SIZE FINANCIAL STATMENT'!$A$22</c:f>
              <c:strCache>
                <c:ptCount val="1"/>
                <c:pt idx="0">
                  <c:v>EBITDA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'COMMON SIZE FINANCIAL STATMENT'!$B$6:$G$6</c:f>
              <c:numCache>
                <c:formatCode>d\-mmm\-yy</c:formatCode>
                <c:ptCount val="6"/>
                <c:pt idx="0">
                  <c:v>43921</c:v>
                </c:pt>
                <c:pt idx="1">
                  <c:v>44286</c:v>
                </c:pt>
                <c:pt idx="2">
                  <c:v>44651</c:v>
                </c:pt>
                <c:pt idx="3">
                  <c:v>45016</c:v>
                </c:pt>
                <c:pt idx="4">
                  <c:v>45382</c:v>
                </c:pt>
                <c:pt idx="5">
                  <c:v>45747</c:v>
                </c:pt>
              </c:numCache>
            </c:numRef>
          </c:cat>
          <c:val>
            <c:numRef>
              <c:f>'COMMON SIZE FINANCIAL STATMENT'!$B$22:$G$22</c:f>
              <c:numCache>
                <c:formatCode>0.00%</c:formatCode>
                <c:ptCount val="6"/>
                <c:pt idx="0">
                  <c:v>0.25825452145172828</c:v>
                </c:pt>
                <c:pt idx="1">
                  <c:v>0.26079213941344798</c:v>
                </c:pt>
                <c:pt idx="2">
                  <c:v>0.20373622074683939</c:v>
                </c:pt>
                <c:pt idx="3">
                  <c:v>0.18101418599669541</c:v>
                </c:pt>
                <c:pt idx="4">
                  <c:v>0.24314832044860868</c:v>
                </c:pt>
                <c:pt idx="5">
                  <c:v>0.25919388372112284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DE-4F09-BF43-1E0224A89CB8}"/>
            </c:ext>
          </c:extLst>
        </c:ser>
        <c:ser>
          <c:idx val="1"/>
          <c:order val="1"/>
          <c:tx>
            <c:strRef>
              <c:f>'COMMON SIZE FINANCIAL STATMENT'!$A$24</c:f>
              <c:strCache>
                <c:ptCount val="1"/>
                <c:pt idx="0">
                  <c:v>EBIT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'COMMON SIZE FINANCIAL STATMENT'!$B$6:$G$6</c:f>
              <c:numCache>
                <c:formatCode>d\-mmm\-yy</c:formatCode>
                <c:ptCount val="6"/>
                <c:pt idx="0">
                  <c:v>43921</c:v>
                </c:pt>
                <c:pt idx="1">
                  <c:v>44286</c:v>
                </c:pt>
                <c:pt idx="2">
                  <c:v>44651</c:v>
                </c:pt>
                <c:pt idx="3">
                  <c:v>45016</c:v>
                </c:pt>
                <c:pt idx="4">
                  <c:v>45382</c:v>
                </c:pt>
                <c:pt idx="5">
                  <c:v>45747</c:v>
                </c:pt>
              </c:numCache>
            </c:numRef>
          </c:cat>
          <c:val>
            <c:numRef>
              <c:f>'COMMON SIZE FINANCIAL STATMENT'!$B$24:$G$24</c:f>
              <c:numCache>
                <c:formatCode>0.00%</c:formatCode>
                <c:ptCount val="6"/>
                <c:pt idx="0">
                  <c:v>0.23839061110856696</c:v>
                </c:pt>
                <c:pt idx="1">
                  <c:v>0.2371286595145366</c:v>
                </c:pt>
                <c:pt idx="2">
                  <c:v>0.1818850175704447</c:v>
                </c:pt>
                <c:pt idx="3">
                  <c:v>0.16006783007001002</c:v>
                </c:pt>
                <c:pt idx="4">
                  <c:v>0.21725857596107087</c:v>
                </c:pt>
                <c:pt idx="5">
                  <c:v>0.23364781697549017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DE-4F09-BF43-1E0224A89CB8}"/>
            </c:ext>
          </c:extLst>
        </c:ser>
        <c:ser>
          <c:idx val="2"/>
          <c:order val="2"/>
          <c:tx>
            <c:strRef>
              <c:f>'COMMON SIZE FINANCIAL STATMENT'!$A$27</c:f>
              <c:strCache>
                <c:ptCount val="1"/>
                <c:pt idx="0">
                  <c:v>PROFIT BEFORE TAX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'COMMON SIZE FINANCIAL STATMENT'!$B$6:$G$6</c:f>
              <c:numCache>
                <c:formatCode>d\-mmm\-yy</c:formatCode>
                <c:ptCount val="6"/>
                <c:pt idx="0">
                  <c:v>43921</c:v>
                </c:pt>
                <c:pt idx="1">
                  <c:v>44286</c:v>
                </c:pt>
                <c:pt idx="2">
                  <c:v>44651</c:v>
                </c:pt>
                <c:pt idx="3">
                  <c:v>45016</c:v>
                </c:pt>
                <c:pt idx="4">
                  <c:v>45382</c:v>
                </c:pt>
                <c:pt idx="5">
                  <c:v>45747</c:v>
                </c:pt>
              </c:numCache>
            </c:numRef>
          </c:cat>
          <c:val>
            <c:numRef>
              <c:f>'COMMON SIZE FINANCIAL STATMENT'!$B$27:$G$27</c:f>
              <c:numCache>
                <c:formatCode>0.00%</c:formatCode>
                <c:ptCount val="6"/>
                <c:pt idx="0">
                  <c:v>0.22691347458149036</c:v>
                </c:pt>
                <c:pt idx="1">
                  <c:v>0.23432314565024689</c:v>
                </c:pt>
                <c:pt idx="2">
                  <c:v>0.17882283640713065</c:v>
                </c:pt>
                <c:pt idx="3">
                  <c:v>0.15737557645651121</c:v>
                </c:pt>
                <c:pt idx="4">
                  <c:v>0.21526071978343272</c:v>
                </c:pt>
                <c:pt idx="5">
                  <c:v>0.22910202357384843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5DE-4F09-BF43-1E0224A89C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45022543"/>
        <c:axId val="645024943"/>
      </c:lineChart>
      <c:catAx>
        <c:axId val="645022543"/>
        <c:scaling>
          <c:orientation val="minMax"/>
        </c:scaling>
        <c:delete val="0"/>
        <c:axPos val="b"/>
        <c:numFmt formatCode="d\-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5024943"/>
        <c:crosses val="autoZero"/>
        <c:auto val="0"/>
        <c:lblAlgn val="ctr"/>
        <c:lblOffset val="100"/>
        <c:noMultiLvlLbl val="0"/>
      </c:catAx>
      <c:valAx>
        <c:axId val="645024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5022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'COMPARATIVE FINANCIAL STATEMENT'!$A$9</c:f>
              <c:strCache>
                <c:ptCount val="1"/>
                <c:pt idx="0">
                  <c:v>REVENUE FROM OPERATIONS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'COMPARATIVE FINANCIAL STATEMENT'!$B$6:$F$6</c:f>
              <c:numCache>
                <c:formatCode>d\-mmm\-yy</c:formatCode>
                <c:ptCount val="5"/>
                <c:pt idx="0">
                  <c:v>44286</c:v>
                </c:pt>
                <c:pt idx="1">
                  <c:v>44651</c:v>
                </c:pt>
                <c:pt idx="2">
                  <c:v>45016</c:v>
                </c:pt>
                <c:pt idx="3">
                  <c:v>45382</c:v>
                </c:pt>
                <c:pt idx="4">
                  <c:v>45747</c:v>
                </c:pt>
              </c:numCache>
            </c:numRef>
          </c:cat>
          <c:val>
            <c:numRef>
              <c:f>'COMPARATIVE FINANCIAL STATEMENT'!$B$9:$F$9</c:f>
              <c:numCache>
                <c:formatCode>0.00%</c:formatCode>
                <c:ptCount val="5"/>
                <c:pt idx="0">
                  <c:v>-1.8358996871738139E-2</c:v>
                </c:pt>
                <c:pt idx="1">
                  <c:v>0.43100832806495165</c:v>
                </c:pt>
                <c:pt idx="2">
                  <c:v>0.19126828708960125</c:v>
                </c:pt>
                <c:pt idx="3">
                  <c:v>5.3779016275253409E-2</c:v>
                </c:pt>
                <c:pt idx="4">
                  <c:v>8.1107946022958913E-2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DF-41EE-A0A6-113E3D275F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3429919"/>
        <c:axId val="723429439"/>
      </c:lineChart>
      <c:catAx>
        <c:axId val="723429919"/>
        <c:scaling>
          <c:orientation val="minMax"/>
        </c:scaling>
        <c:delete val="0"/>
        <c:axPos val="b"/>
        <c:numFmt formatCode="d\-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429439"/>
        <c:crosses val="autoZero"/>
        <c:auto val="0"/>
        <c:lblAlgn val="ctr"/>
        <c:lblOffset val="100"/>
        <c:noMultiLvlLbl val="0"/>
      </c:catAx>
      <c:valAx>
        <c:axId val="723429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429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PROFIT AFTER TAX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'COMPARATIVE FINANCIAL STATEMENT'!$A$36</c:f>
              <c:strCache>
                <c:ptCount val="1"/>
                <c:pt idx="0">
                  <c:v>TOTAL PROFIT FOR THE YEAR ( PROFIT AFTER TAX)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'COMPARATIVE FINANCIAL STATEMENT'!$B$6:$F$6</c:f>
              <c:numCache>
                <c:formatCode>d\-mmm\-yy</c:formatCode>
                <c:ptCount val="5"/>
                <c:pt idx="0">
                  <c:v>44286</c:v>
                </c:pt>
                <c:pt idx="1">
                  <c:v>44651</c:v>
                </c:pt>
                <c:pt idx="2">
                  <c:v>45016</c:v>
                </c:pt>
                <c:pt idx="3">
                  <c:v>45382</c:v>
                </c:pt>
                <c:pt idx="4">
                  <c:v>45747</c:v>
                </c:pt>
              </c:numCache>
            </c:numRef>
          </c:cat>
          <c:val>
            <c:numRef>
              <c:f>'COMPARATIVE FINANCIAL STATEMENT'!$B$36:$F$36</c:f>
              <c:numCache>
                <c:formatCode>0.00%</c:formatCode>
                <c:ptCount val="5"/>
                <c:pt idx="0">
                  <c:v>-1.8300321344929277E-2</c:v>
                </c:pt>
                <c:pt idx="1">
                  <c:v>0.10166811532557893</c:v>
                </c:pt>
                <c:pt idx="2">
                  <c:v>5.52034983758753E-2</c:v>
                </c:pt>
                <c:pt idx="3">
                  <c:v>0.43135430089565346</c:v>
                </c:pt>
                <c:pt idx="4">
                  <c:v>0.15246711531728824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A8-417A-B44B-A8D0BF95BE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28392511"/>
        <c:axId val="1528403071"/>
      </c:lineChart>
      <c:catAx>
        <c:axId val="1528392511"/>
        <c:scaling>
          <c:orientation val="minMax"/>
        </c:scaling>
        <c:delete val="0"/>
        <c:axPos val="b"/>
        <c:numFmt formatCode="d\-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8403071"/>
        <c:crosses val="autoZero"/>
        <c:auto val="0"/>
        <c:lblAlgn val="ctr"/>
        <c:lblOffset val="100"/>
        <c:noMultiLvlLbl val="0"/>
      </c:catAx>
      <c:valAx>
        <c:axId val="1528403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8392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/>
              <a:t>REVENUE AND PROFITABILITY TRENDS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'TREND ANALYSIS'!$A$9</c:f>
              <c:strCache>
                <c:ptCount val="1"/>
                <c:pt idx="0">
                  <c:v>REVENUE FROM OPERATIONS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'TREND ANALYSIS'!$B$6:$G$6</c:f>
              <c:numCache>
                <c:formatCode>d\-mmm\-yy</c:formatCode>
                <c:ptCount val="6"/>
                <c:pt idx="0">
                  <c:v>43921</c:v>
                </c:pt>
                <c:pt idx="1">
                  <c:v>44286</c:v>
                </c:pt>
                <c:pt idx="2">
                  <c:v>44651</c:v>
                </c:pt>
                <c:pt idx="3">
                  <c:v>45016</c:v>
                </c:pt>
                <c:pt idx="4">
                  <c:v>45382</c:v>
                </c:pt>
                <c:pt idx="5">
                  <c:v>45747</c:v>
                </c:pt>
              </c:numCache>
            </c:numRef>
          </c:cat>
          <c:val>
            <c:numRef>
              <c:f>'TREND ANALYSIS'!$B$9:$G$9</c:f>
              <c:numCache>
                <c:formatCode>0.00%</c:formatCode>
                <c:ptCount val="6"/>
                <c:pt idx="0">
                  <c:v>1</c:v>
                </c:pt>
                <c:pt idx="1">
                  <c:v>0.98164100312826186</c:v>
                </c:pt>
                <c:pt idx="2">
                  <c:v>1.404736450646576</c:v>
                </c:pt>
                <c:pt idx="3">
                  <c:v>1.6734179853740727</c:v>
                </c:pt>
                <c:pt idx="4">
                  <c:v>1.7634127584448067</c:v>
                </c:pt>
                <c:pt idx="5">
                  <c:v>1.9064395452729452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F9-4291-ABE1-781555485659}"/>
            </c:ext>
          </c:extLst>
        </c:ser>
        <c:ser>
          <c:idx val="1"/>
          <c:order val="1"/>
          <c:tx>
            <c:strRef>
              <c:f>'TREND ANALYSIS'!$A$36</c:f>
              <c:strCache>
                <c:ptCount val="1"/>
                <c:pt idx="0">
                  <c:v>TOTAL PROFIT FOR THE YEAR ( PROFIT AFTER TAX)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'TREND ANALYSIS'!$B$6:$G$6</c:f>
              <c:numCache>
                <c:formatCode>d\-mmm\-yy</c:formatCode>
                <c:ptCount val="6"/>
                <c:pt idx="0">
                  <c:v>43921</c:v>
                </c:pt>
                <c:pt idx="1">
                  <c:v>44286</c:v>
                </c:pt>
                <c:pt idx="2">
                  <c:v>44651</c:v>
                </c:pt>
                <c:pt idx="3">
                  <c:v>45016</c:v>
                </c:pt>
                <c:pt idx="4">
                  <c:v>45382</c:v>
                </c:pt>
                <c:pt idx="5">
                  <c:v>45747</c:v>
                </c:pt>
              </c:numCache>
            </c:numRef>
          </c:cat>
          <c:val>
            <c:numRef>
              <c:f>'TREND ANALYSIS'!$B$36:$G$36</c:f>
              <c:numCache>
                <c:formatCode>0.00%</c:formatCode>
                <c:ptCount val="6"/>
                <c:pt idx="0">
                  <c:v>1</c:v>
                </c:pt>
                <c:pt idx="1">
                  <c:v>0.98169967865507068</c:v>
                </c:pt>
                <c:pt idx="2">
                  <c:v>1.0815072347996582</c:v>
                </c:pt>
                <c:pt idx="3">
                  <c:v>1.1412102176794185</c:v>
                </c:pt>
                <c:pt idx="4">
                  <c:v>1.6334761533015008</c:v>
                </c:pt>
                <c:pt idx="5">
                  <c:v>1.882527550334961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F9-4291-ABE1-7815554856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08490575"/>
        <c:axId val="1108491055"/>
      </c:lineChart>
      <c:catAx>
        <c:axId val="1108490575"/>
        <c:scaling>
          <c:orientation val="minMax"/>
        </c:scaling>
        <c:delete val="0"/>
        <c:axPos val="b"/>
        <c:numFmt formatCode="d\-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8491055"/>
        <c:crosses val="autoZero"/>
        <c:auto val="0"/>
        <c:lblAlgn val="ctr"/>
        <c:lblOffset val="100"/>
        <c:noMultiLvlLbl val="0"/>
      </c:catAx>
      <c:valAx>
        <c:axId val="1108491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8490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BALANCE</a:t>
            </a:r>
            <a:r>
              <a:rPr lang="en-IN" baseline="0"/>
              <a:t> SHEET TRENDS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'TREND ANALYSIS'!$O$55</c:f>
              <c:strCache>
                <c:ptCount val="1"/>
                <c:pt idx="0">
                  <c:v>TOTAL ASSETS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'TREND ANALYSIS'!$P$54:$U$54</c:f>
              <c:numCache>
                <c:formatCode>d\-mmm\-yy</c:formatCode>
                <c:ptCount val="6"/>
                <c:pt idx="0">
                  <c:v>43921</c:v>
                </c:pt>
                <c:pt idx="1">
                  <c:v>44286</c:v>
                </c:pt>
                <c:pt idx="2">
                  <c:v>44651</c:v>
                </c:pt>
                <c:pt idx="3">
                  <c:v>45016</c:v>
                </c:pt>
                <c:pt idx="4">
                  <c:v>45382</c:v>
                </c:pt>
                <c:pt idx="5">
                  <c:v>45747</c:v>
                </c:pt>
              </c:numCache>
            </c:numRef>
          </c:cat>
          <c:val>
            <c:numRef>
              <c:f>'TREND ANALYSIS'!$P$55:$U$55</c:f>
              <c:numCache>
                <c:formatCode>0.00%</c:formatCode>
                <c:ptCount val="6"/>
                <c:pt idx="0">
                  <c:v>1</c:v>
                </c:pt>
                <c:pt idx="1">
                  <c:v>1.31007585417576</c:v>
                </c:pt>
                <c:pt idx="2">
                  <c:v>1.5016806838217853</c:v>
                </c:pt>
                <c:pt idx="3">
                  <c:v>1.6635212560104207</c:v>
                </c:pt>
                <c:pt idx="4">
                  <c:v>1.9540544349087308</c:v>
                </c:pt>
                <c:pt idx="5">
                  <c:v>2.2806312359728205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335-48F0-B5A6-7765D21BA99D}"/>
            </c:ext>
          </c:extLst>
        </c:ser>
        <c:ser>
          <c:idx val="1"/>
          <c:order val="1"/>
          <c:tx>
            <c:strRef>
              <c:f>'TREND ANALYSIS'!$O$56</c:f>
              <c:strCache>
                <c:ptCount val="1"/>
                <c:pt idx="0">
                  <c:v>TOTAL EQUITY AND LIABILITIES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'TREND ANALYSIS'!$P$54:$U$54</c:f>
              <c:numCache>
                <c:formatCode>d\-mmm\-yy</c:formatCode>
                <c:ptCount val="6"/>
                <c:pt idx="0">
                  <c:v>43921</c:v>
                </c:pt>
                <c:pt idx="1">
                  <c:v>44286</c:v>
                </c:pt>
                <c:pt idx="2">
                  <c:v>44651</c:v>
                </c:pt>
                <c:pt idx="3">
                  <c:v>45016</c:v>
                </c:pt>
                <c:pt idx="4">
                  <c:v>45382</c:v>
                </c:pt>
                <c:pt idx="5">
                  <c:v>45747</c:v>
                </c:pt>
              </c:numCache>
            </c:numRef>
          </c:cat>
          <c:val>
            <c:numRef>
              <c:f>'TREND ANALYSIS'!$P$56:$U$56</c:f>
              <c:numCache>
                <c:formatCode>0.00%</c:formatCode>
                <c:ptCount val="6"/>
                <c:pt idx="0">
                  <c:v>1</c:v>
                </c:pt>
                <c:pt idx="1">
                  <c:v>1.3100758541757602</c:v>
                </c:pt>
                <c:pt idx="2">
                  <c:v>1.5016806838217853</c:v>
                </c:pt>
                <c:pt idx="3">
                  <c:v>1.6635212560104209</c:v>
                </c:pt>
                <c:pt idx="4">
                  <c:v>1.9540544349087312</c:v>
                </c:pt>
                <c:pt idx="5">
                  <c:v>2.2806312359728205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335-48F0-B5A6-7765D21BA9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66403327"/>
        <c:axId val="1266402847"/>
      </c:lineChart>
      <c:catAx>
        <c:axId val="1266403327"/>
        <c:scaling>
          <c:orientation val="minMax"/>
        </c:scaling>
        <c:delete val="0"/>
        <c:axPos val="b"/>
        <c:numFmt formatCode="d\-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6402847"/>
        <c:crosses val="autoZero"/>
        <c:auto val="0"/>
        <c:lblAlgn val="ctr"/>
        <c:lblOffset val="100"/>
        <c:noMultiLvlLbl val="0"/>
      </c:catAx>
      <c:valAx>
        <c:axId val="1266402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6403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ACTIVITY</a:t>
            </a:r>
            <a:r>
              <a:rPr lang="en-IN" baseline="0"/>
              <a:t> RATIOS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'FINANCIAL STATEMENTS'!$A$178</c:f>
              <c:strCache>
                <c:ptCount val="1"/>
                <c:pt idx="0">
                  <c:v>CASH CONVERSION CYCLE [DAYS INVENT + DAYS RECEIV. - DAYS PAYABLE]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'FINANCIAL STATEMENTS'!$B$177:$G$177</c:f>
              <c:numCache>
                <c:formatCode>d\-mmm\-yy</c:formatCode>
                <c:ptCount val="6"/>
                <c:pt idx="0">
                  <c:v>43921</c:v>
                </c:pt>
                <c:pt idx="1">
                  <c:v>44286</c:v>
                </c:pt>
                <c:pt idx="2">
                  <c:v>44651</c:v>
                </c:pt>
                <c:pt idx="3">
                  <c:v>45016</c:v>
                </c:pt>
                <c:pt idx="4">
                  <c:v>45382</c:v>
                </c:pt>
                <c:pt idx="5">
                  <c:v>45747</c:v>
                </c:pt>
              </c:numCache>
            </c:numRef>
          </c:cat>
          <c:val>
            <c:numRef>
              <c:f>'FINANCIAL STATEMENTS'!$B$178:$G$178</c:f>
              <c:numCache>
                <c:formatCode>0.00</c:formatCode>
                <c:ptCount val="6"/>
                <c:pt idx="0">
                  <c:v>75.788380915077283</c:v>
                </c:pt>
                <c:pt idx="1">
                  <c:v>79.919891893146257</c:v>
                </c:pt>
                <c:pt idx="2">
                  <c:v>70.591875549453775</c:v>
                </c:pt>
                <c:pt idx="3">
                  <c:v>76.567985990762168</c:v>
                </c:pt>
                <c:pt idx="4">
                  <c:v>72.532773458452681</c:v>
                </c:pt>
                <c:pt idx="5">
                  <c:v>59.131745086835068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A1-4A18-AE6C-599B36FC9511}"/>
            </c:ext>
          </c:extLst>
        </c:ser>
        <c:ser>
          <c:idx val="1"/>
          <c:order val="1"/>
          <c:tx>
            <c:strRef>
              <c:f>'FINANCIAL STATEMENTS'!$A$179</c:f>
              <c:strCache>
                <c:ptCount val="1"/>
                <c:pt idx="0">
                  <c:v>WORKING CAPITAL TURNOVER (SALES / AVG. WC)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'FINANCIAL STATEMENTS'!$B$177:$G$177</c:f>
              <c:numCache>
                <c:formatCode>d\-mmm\-yy</c:formatCode>
                <c:ptCount val="6"/>
                <c:pt idx="0">
                  <c:v>43921</c:v>
                </c:pt>
                <c:pt idx="1">
                  <c:v>44286</c:v>
                </c:pt>
                <c:pt idx="2">
                  <c:v>44651</c:v>
                </c:pt>
                <c:pt idx="3">
                  <c:v>45016</c:v>
                </c:pt>
                <c:pt idx="4">
                  <c:v>45382</c:v>
                </c:pt>
                <c:pt idx="5">
                  <c:v>45747</c:v>
                </c:pt>
              </c:numCache>
            </c:numRef>
          </c:cat>
          <c:val>
            <c:numRef>
              <c:f>'FINANCIAL STATEMENTS'!$B$179:$G$179</c:f>
              <c:numCache>
                <c:formatCode>0.00</c:formatCode>
                <c:ptCount val="6"/>
                <c:pt idx="0">
                  <c:v>3.4281360299690342</c:v>
                </c:pt>
                <c:pt idx="1">
                  <c:v>5.2038658585587987</c:v>
                </c:pt>
                <c:pt idx="2">
                  <c:v>9.5480373952150472</c:v>
                </c:pt>
                <c:pt idx="3">
                  <c:v>7.0414530667029931</c:v>
                </c:pt>
                <c:pt idx="4">
                  <c:v>5.1998286431376934</c:v>
                </c:pt>
                <c:pt idx="5">
                  <c:v>3.8295759859666485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5A1-4A18-AE6C-599B36FC9511}"/>
            </c:ext>
          </c:extLst>
        </c:ser>
        <c:ser>
          <c:idx val="2"/>
          <c:order val="2"/>
          <c:tx>
            <c:strRef>
              <c:f>'FINANCIAL STATEMENTS'!$A$180</c:f>
              <c:strCache>
                <c:ptCount val="1"/>
                <c:pt idx="0">
                  <c:v>FIXED ASSET TURNOVER (SALES / TOTAL NON-CURRENT ASSETS)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'FINANCIAL STATEMENTS'!$B$177:$G$177</c:f>
              <c:numCache>
                <c:formatCode>d\-mmm\-yy</c:formatCode>
                <c:ptCount val="6"/>
                <c:pt idx="0">
                  <c:v>43921</c:v>
                </c:pt>
                <c:pt idx="1">
                  <c:v>44286</c:v>
                </c:pt>
                <c:pt idx="2">
                  <c:v>44651</c:v>
                </c:pt>
                <c:pt idx="3">
                  <c:v>45016</c:v>
                </c:pt>
                <c:pt idx="4">
                  <c:v>45382</c:v>
                </c:pt>
                <c:pt idx="5">
                  <c:v>45747</c:v>
                </c:pt>
              </c:numCache>
            </c:numRef>
          </c:cat>
          <c:val>
            <c:numRef>
              <c:f>'FINANCIAL STATEMENTS'!$B$180:$G$180</c:f>
              <c:numCache>
                <c:formatCode>0.00</c:formatCode>
                <c:ptCount val="6"/>
                <c:pt idx="0">
                  <c:v>2.2673075546007877</c:v>
                </c:pt>
                <c:pt idx="1">
                  <c:v>1.1948414651023329</c:v>
                </c:pt>
                <c:pt idx="2">
                  <c:v>1.6016975550381987</c:v>
                </c:pt>
                <c:pt idx="3">
                  <c:v>1.7607669096975296</c:v>
                </c:pt>
                <c:pt idx="4">
                  <c:v>1.7577198532999636</c:v>
                </c:pt>
                <c:pt idx="5">
                  <c:v>1.80204076149421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5A1-4A18-AE6C-599B36FC9511}"/>
            </c:ext>
          </c:extLst>
        </c:ser>
        <c:ser>
          <c:idx val="3"/>
          <c:order val="3"/>
          <c:tx>
            <c:strRef>
              <c:f>'FINANCIAL STATEMENTS'!$A$181</c:f>
              <c:strCache>
                <c:ptCount val="1"/>
                <c:pt idx="0">
                  <c:v>TOTAL ASSET TURNOVER (SALES / AVG. TA)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'FINANCIAL STATEMENTS'!$B$177:$G$177</c:f>
              <c:numCache>
                <c:formatCode>d\-mmm\-yy</c:formatCode>
                <c:ptCount val="6"/>
                <c:pt idx="0">
                  <c:v>43921</c:v>
                </c:pt>
                <c:pt idx="1">
                  <c:v>44286</c:v>
                </c:pt>
                <c:pt idx="2">
                  <c:v>44651</c:v>
                </c:pt>
                <c:pt idx="3">
                  <c:v>45016</c:v>
                </c:pt>
                <c:pt idx="4">
                  <c:v>45382</c:v>
                </c:pt>
                <c:pt idx="5">
                  <c:v>45747</c:v>
                </c:pt>
              </c:numCache>
            </c:numRef>
          </c:cat>
          <c:val>
            <c:numRef>
              <c:f>'FINANCIAL STATEMENTS'!$B$181:$G$181</c:f>
              <c:numCache>
                <c:formatCode>0.00</c:formatCode>
                <c:ptCount val="6"/>
                <c:pt idx="0">
                  <c:v>1.088249648568669</c:v>
                </c:pt>
                <c:pt idx="1">
                  <c:v>0.9248791330759899</c:v>
                </c:pt>
                <c:pt idx="2">
                  <c:v>1.0873658000535398</c:v>
                </c:pt>
                <c:pt idx="3">
                  <c:v>1.1506984825040041</c:v>
                </c:pt>
                <c:pt idx="4">
                  <c:v>1.0609499170818906</c:v>
                </c:pt>
                <c:pt idx="5">
                  <c:v>0.97985178896586267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5A1-4A18-AE6C-599B36FC95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3408335"/>
        <c:axId val="1253399695"/>
      </c:lineChart>
      <c:catAx>
        <c:axId val="1253408335"/>
        <c:scaling>
          <c:orientation val="minMax"/>
        </c:scaling>
        <c:delete val="0"/>
        <c:axPos val="b"/>
        <c:numFmt formatCode="d\-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3399695"/>
        <c:crosses val="autoZero"/>
        <c:auto val="0"/>
        <c:lblAlgn val="ctr"/>
        <c:lblOffset val="100"/>
        <c:noMultiLvlLbl val="0"/>
      </c:catAx>
      <c:valAx>
        <c:axId val="1253399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34083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PROFITABILITY</a:t>
            </a:r>
            <a:r>
              <a:rPr lang="en-IN" baseline="0"/>
              <a:t> RATIOS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'FINANCIAL STATEMENTS'!$A$167</c:f>
              <c:strCache>
                <c:ptCount val="1"/>
                <c:pt idx="0">
                  <c:v>NET PROFIT MARGIN (PAT / SALES)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'FINANCIAL STATEMENTS'!$B$166:$G$166</c:f>
              <c:numCache>
                <c:formatCode>d\-mmm\-yy</c:formatCode>
                <c:ptCount val="6"/>
                <c:pt idx="0">
                  <c:v>43921</c:v>
                </c:pt>
                <c:pt idx="1">
                  <c:v>44286</c:v>
                </c:pt>
                <c:pt idx="2">
                  <c:v>44651</c:v>
                </c:pt>
                <c:pt idx="3">
                  <c:v>45016</c:v>
                </c:pt>
                <c:pt idx="4">
                  <c:v>45382</c:v>
                </c:pt>
                <c:pt idx="5">
                  <c:v>45747</c:v>
                </c:pt>
              </c:numCache>
            </c:numRef>
          </c:cat>
          <c:val>
            <c:numRef>
              <c:f>'FINANCIAL STATEMENTS'!$B$167:$G$167</c:f>
              <c:numCache>
                <c:formatCode>0.00%</c:formatCode>
                <c:ptCount val="6"/>
                <c:pt idx="0">
                  <c:v>0.1739604174595229</c:v>
                </c:pt>
                <c:pt idx="1">
                  <c:v>0.17397081557767993</c:v>
                </c:pt>
                <c:pt idx="2">
                  <c:v>0.13393220483788645</c:v>
                </c:pt>
                <c:pt idx="3">
                  <c:v>0.11863467920849831</c:v>
                </c:pt>
                <c:pt idx="4">
                  <c:v>0.16114218986887216</c:v>
                </c:pt>
                <c:pt idx="5">
                  <c:v>0.17177847540318236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C1-40D6-883C-F0AF5D3F5D77}"/>
            </c:ext>
          </c:extLst>
        </c:ser>
        <c:ser>
          <c:idx val="1"/>
          <c:order val="1"/>
          <c:tx>
            <c:strRef>
              <c:f>'FINANCIAL STATEMENTS'!$A$168</c:f>
              <c:strCache>
                <c:ptCount val="1"/>
                <c:pt idx="0">
                  <c:v>GROSS PROFIT MARGIN (SALES - COGS) / SALES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'FINANCIAL STATEMENTS'!$B$166:$G$166</c:f>
              <c:numCache>
                <c:formatCode>d\-mmm\-yy</c:formatCode>
                <c:ptCount val="6"/>
                <c:pt idx="0">
                  <c:v>43921</c:v>
                </c:pt>
                <c:pt idx="1">
                  <c:v>44286</c:v>
                </c:pt>
                <c:pt idx="2">
                  <c:v>44651</c:v>
                </c:pt>
                <c:pt idx="3">
                  <c:v>45016</c:v>
                </c:pt>
                <c:pt idx="4">
                  <c:v>45382</c:v>
                </c:pt>
                <c:pt idx="5">
                  <c:v>45747</c:v>
                </c:pt>
              </c:numCache>
            </c:numRef>
          </c:cat>
          <c:val>
            <c:numRef>
              <c:f>'FINANCIAL STATEMENTS'!$B$168:$G$168</c:f>
              <c:numCache>
                <c:formatCode>0.00%</c:formatCode>
                <c:ptCount val="6"/>
                <c:pt idx="0">
                  <c:v>0.60194801810949394</c:v>
                </c:pt>
                <c:pt idx="1">
                  <c:v>0.60273505428444107</c:v>
                </c:pt>
                <c:pt idx="2">
                  <c:v>0.49152841510765977</c:v>
                </c:pt>
                <c:pt idx="3">
                  <c:v>0.49552376270044451</c:v>
                </c:pt>
                <c:pt idx="4">
                  <c:v>0.59521696574809457</c:v>
                </c:pt>
                <c:pt idx="5">
                  <c:v>0.59825888160891927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C1-40D6-883C-F0AF5D3F5D77}"/>
            </c:ext>
          </c:extLst>
        </c:ser>
        <c:ser>
          <c:idx val="2"/>
          <c:order val="2"/>
          <c:tx>
            <c:strRef>
              <c:f>'FINANCIAL STATEMENTS'!$A$169</c:f>
              <c:strCache>
                <c:ptCount val="1"/>
                <c:pt idx="0">
                  <c:v>RETURN ON TOTAL ASSETS [PAT + INT. EXP. (1 - TAX RATE)] / TOTAL AVG. ASSETS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'FINANCIAL STATEMENTS'!$B$166:$G$166</c:f>
              <c:numCache>
                <c:formatCode>d\-mmm\-yy</c:formatCode>
                <c:ptCount val="6"/>
                <c:pt idx="0">
                  <c:v>43921</c:v>
                </c:pt>
                <c:pt idx="1">
                  <c:v>44286</c:v>
                </c:pt>
                <c:pt idx="2">
                  <c:v>44651</c:v>
                </c:pt>
                <c:pt idx="3">
                  <c:v>45016</c:v>
                </c:pt>
                <c:pt idx="4">
                  <c:v>45382</c:v>
                </c:pt>
                <c:pt idx="5">
                  <c:v>45747</c:v>
                </c:pt>
              </c:numCache>
            </c:numRef>
          </c:cat>
          <c:val>
            <c:numRef>
              <c:f>'FINANCIAL STATEMENTS'!$B$169:$G$169</c:f>
              <c:numCache>
                <c:formatCode>0.00%</c:formatCode>
                <c:ptCount val="6"/>
                <c:pt idx="0">
                  <c:v>0.19107775908460681</c:v>
                </c:pt>
                <c:pt idx="1">
                  <c:v>0.16277872313650288</c:v>
                </c:pt>
                <c:pt idx="2">
                  <c:v>0.1481271390821807</c:v>
                </c:pt>
                <c:pt idx="3">
                  <c:v>0.13884809457154096</c:v>
                </c:pt>
                <c:pt idx="4">
                  <c:v>0.17305904732233213</c:v>
                </c:pt>
                <c:pt idx="5">
                  <c:v>0.17043032975792172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EC1-40D6-883C-F0AF5D3F5D77}"/>
            </c:ext>
          </c:extLst>
        </c:ser>
        <c:ser>
          <c:idx val="3"/>
          <c:order val="3"/>
          <c:tx>
            <c:strRef>
              <c:f>'FINANCIAL STATEMENTS'!$A$170</c:f>
              <c:strCache>
                <c:ptCount val="1"/>
                <c:pt idx="0">
                  <c:v>RETURN ON EQUITY [PAT / AVG. SE]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'FINANCIAL STATEMENTS'!$B$166:$G$166</c:f>
              <c:numCache>
                <c:formatCode>d\-mmm\-yy</c:formatCode>
                <c:ptCount val="6"/>
                <c:pt idx="0">
                  <c:v>43921</c:v>
                </c:pt>
                <c:pt idx="1">
                  <c:v>44286</c:v>
                </c:pt>
                <c:pt idx="2">
                  <c:v>44651</c:v>
                </c:pt>
                <c:pt idx="3">
                  <c:v>45016</c:v>
                </c:pt>
                <c:pt idx="4">
                  <c:v>45382</c:v>
                </c:pt>
                <c:pt idx="5">
                  <c:v>45747</c:v>
                </c:pt>
              </c:numCache>
            </c:numRef>
          </c:cat>
          <c:val>
            <c:numRef>
              <c:f>'FINANCIAL STATEMENTS'!$B$170:$G$170</c:f>
              <c:numCache>
                <c:formatCode>0.00%</c:formatCode>
                <c:ptCount val="6"/>
                <c:pt idx="0">
                  <c:v>0.24673335095255799</c:v>
                </c:pt>
                <c:pt idx="1">
                  <c:v>0.21573023845905243</c:v>
                </c:pt>
                <c:pt idx="2">
                  <c:v>0.20015422195193244</c:v>
                </c:pt>
                <c:pt idx="3">
                  <c:v>0.18691541541467144</c:v>
                </c:pt>
                <c:pt idx="4">
                  <c:v>0.23300821272146335</c:v>
                </c:pt>
                <c:pt idx="5">
                  <c:v>0.23024915911643246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EC1-40D6-883C-F0AF5D3F5D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43676447"/>
        <c:axId val="1143673567"/>
      </c:lineChart>
      <c:catAx>
        <c:axId val="1143676447"/>
        <c:scaling>
          <c:orientation val="minMax"/>
        </c:scaling>
        <c:delete val="0"/>
        <c:axPos val="b"/>
        <c:numFmt formatCode="d\-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3673567"/>
        <c:crosses val="autoZero"/>
        <c:auto val="0"/>
        <c:lblAlgn val="ctr"/>
        <c:lblOffset val="100"/>
        <c:noMultiLvlLbl val="0"/>
      </c:catAx>
      <c:valAx>
        <c:axId val="1143673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36764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4.svg"/><Relationship Id="rId7" Type="http://schemas.openxmlformats.org/officeDocument/2006/relationships/package" Target="../embeddings/Microsoft_Excel_Worksheet1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package" Target="../embeddings/Microsoft_Excel_Worksheet.xlsx"/><Relationship Id="rId10" Type="http://schemas.openxmlformats.org/officeDocument/2006/relationships/chart" Target="../charts/chart8.xml"/><Relationship Id="rId4" Type="http://schemas.openxmlformats.org/officeDocument/2006/relationships/image" Target="../media/image2.jpeg"/><Relationship Id="rId9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package" Target="../embeddings/Microsoft_Excel_Worksheet7.xlsx"/><Relationship Id="rId3" Type="http://schemas.openxmlformats.org/officeDocument/2006/relationships/package" Target="../embeddings/Microsoft_Excel_Worksheet2.xlsx"/><Relationship Id="rId7" Type="http://schemas.openxmlformats.org/officeDocument/2006/relationships/package" Target="../embeddings/Microsoft_Excel_Worksheet4.xlsx"/><Relationship Id="rId12" Type="http://schemas.openxmlformats.org/officeDocument/2006/relationships/image" Target="../media/image11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emf"/><Relationship Id="rId11" Type="http://schemas.openxmlformats.org/officeDocument/2006/relationships/package" Target="../embeddings/Microsoft_Excel_Worksheet6.xlsx"/><Relationship Id="rId5" Type="http://schemas.openxmlformats.org/officeDocument/2006/relationships/package" Target="../embeddings/Microsoft_Excel_Worksheet3.xlsx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package" Target="../embeddings/Microsoft_Excel_Worksheet5.xlsx"/><Relationship Id="rId1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6620" y="1688841"/>
            <a:ext cx="6909318" cy="69093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985939" y="3600450"/>
            <a:ext cx="10302062" cy="3086100"/>
            <a:chOff x="0" y="0"/>
            <a:chExt cx="2901295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01295" cy="812800"/>
            </a:xfrm>
            <a:custGeom>
              <a:avLst/>
              <a:gdLst/>
              <a:ahLst/>
              <a:cxnLst/>
              <a:rect l="l" t="t" r="r" b="b"/>
              <a:pathLst>
                <a:path w="2901295" h="812800">
                  <a:moveTo>
                    <a:pt x="0" y="0"/>
                  </a:moveTo>
                  <a:lnTo>
                    <a:pt x="2901295" y="0"/>
                  </a:lnTo>
                  <a:lnTo>
                    <a:pt x="29012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01295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10800000">
            <a:off x="8499298" y="3600450"/>
            <a:ext cx="970873" cy="3086100"/>
            <a:chOff x="0" y="0"/>
            <a:chExt cx="239051" cy="7598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9051" cy="759868"/>
            </a:xfrm>
            <a:custGeom>
              <a:avLst/>
              <a:gdLst/>
              <a:ahLst/>
              <a:cxnLst/>
              <a:rect l="l" t="t" r="r" b="b"/>
              <a:pathLst>
                <a:path w="239051" h="759868">
                  <a:moveTo>
                    <a:pt x="35851" y="0"/>
                  </a:moveTo>
                  <a:lnTo>
                    <a:pt x="0" y="0"/>
                  </a:lnTo>
                  <a:lnTo>
                    <a:pt x="0" y="759868"/>
                  </a:lnTo>
                  <a:lnTo>
                    <a:pt x="35851" y="759868"/>
                  </a:lnTo>
                  <a:lnTo>
                    <a:pt x="239051" y="379934"/>
                  </a:lnTo>
                  <a:lnTo>
                    <a:pt x="35851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4751" cy="797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238274" y="0"/>
            <a:ext cx="2081496" cy="1953953"/>
          </a:xfrm>
          <a:custGeom>
            <a:avLst/>
            <a:gdLst/>
            <a:ahLst/>
            <a:cxnLst/>
            <a:rect l="l" t="t" r="r" b="b"/>
            <a:pathLst>
              <a:path w="2081496" h="1953953">
                <a:moveTo>
                  <a:pt x="0" y="0"/>
                </a:moveTo>
                <a:lnTo>
                  <a:pt x="2081496" y="0"/>
                </a:lnTo>
                <a:lnTo>
                  <a:pt x="2081496" y="1953953"/>
                </a:lnTo>
                <a:lnTo>
                  <a:pt x="0" y="19539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9626751" y="1357053"/>
            <a:ext cx="45639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PIDILITE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81331" y="4318586"/>
            <a:ext cx="8454806" cy="1837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419"/>
              </a:lnSpc>
              <a:spcBef>
                <a:spcPct val="0"/>
              </a:spcBef>
            </a:pPr>
            <a:r>
              <a:rPr lang="en-US" sz="5299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Financial Report and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81866" y="278921"/>
            <a:ext cx="5003324" cy="3811431"/>
            <a:chOff x="0" y="-38100"/>
            <a:chExt cx="907402" cy="691241"/>
          </a:xfrm>
        </p:grpSpPr>
        <p:sp>
          <p:nvSpPr>
            <p:cNvPr id="3" name="Freeform 3"/>
            <p:cNvSpPr/>
            <p:nvPr/>
          </p:nvSpPr>
          <p:spPr>
            <a:xfrm>
              <a:off x="57496" y="0"/>
              <a:ext cx="849906" cy="653141"/>
            </a:xfrm>
            <a:custGeom>
              <a:avLst/>
              <a:gdLst/>
              <a:ahLst/>
              <a:cxnLst/>
              <a:rect l="l" t="t" r="r" b="b"/>
              <a:pathLst>
                <a:path w="1000907" h="653141">
                  <a:moveTo>
                    <a:pt x="797707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797707" y="653141"/>
                  </a:lnTo>
                  <a:lnTo>
                    <a:pt x="1000907" y="326570"/>
                  </a:lnTo>
                  <a:lnTo>
                    <a:pt x="797707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86607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90078" y="1407455"/>
            <a:ext cx="7053922" cy="90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SCOPE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32402" y="2206285"/>
            <a:ext cx="8652331" cy="444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Business Model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Vision and Mission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Common Size Financial Statements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Comparative Financial Statements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Trend Analysis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Ratio Analysis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Interpretations</a:t>
            </a:r>
          </a:p>
        </p:txBody>
      </p:sp>
      <p:sp>
        <p:nvSpPr>
          <p:cNvPr id="7" name="Freeform 7"/>
          <p:cNvSpPr/>
          <p:nvPr/>
        </p:nvSpPr>
        <p:spPr>
          <a:xfrm>
            <a:off x="16238274" y="0"/>
            <a:ext cx="2081496" cy="1953953"/>
          </a:xfrm>
          <a:custGeom>
            <a:avLst/>
            <a:gdLst/>
            <a:ahLst/>
            <a:cxnLst/>
            <a:rect l="l" t="t" r="r" b="b"/>
            <a:pathLst>
              <a:path w="2081496" h="1953953">
                <a:moveTo>
                  <a:pt x="0" y="0"/>
                </a:moveTo>
                <a:lnTo>
                  <a:pt x="2081496" y="0"/>
                </a:lnTo>
                <a:lnTo>
                  <a:pt x="2081496" y="1953953"/>
                </a:lnTo>
                <a:lnTo>
                  <a:pt x="0" y="1953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87093"/>
            <a:ext cx="7277100" cy="1577554"/>
            <a:chOff x="0" y="0"/>
            <a:chExt cx="2418659" cy="6531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59640" y="1313287"/>
            <a:ext cx="7053922" cy="90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MODEL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4529" y="3178785"/>
            <a:ext cx="379103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Operating Segment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33330" y="6549683"/>
            <a:ext cx="422447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Purpose of the Report</a:t>
            </a:r>
          </a:p>
        </p:txBody>
      </p:sp>
      <p:sp>
        <p:nvSpPr>
          <p:cNvPr id="8" name="Freeform 8"/>
          <p:cNvSpPr/>
          <p:nvPr/>
        </p:nvSpPr>
        <p:spPr>
          <a:xfrm rot="5400000">
            <a:off x="16429362" y="88843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990600" y="2912402"/>
            <a:ext cx="16230600" cy="683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Operating segments are Consumer &amp; Bazaar, Business to Business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Consumer &amp; Bazaar Products (Fevicol, Fevikwik, Dr. Fixit, Roff) – key revenue driver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Strong brand portfolio with market leadership in adhesives, sealants, and construction chemicals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Innovation-driven model – continuous R&amp;D for product development and improvement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Wide distribution network: urban, rural, and international presence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238274" y="0"/>
            <a:ext cx="2081496" cy="1953953"/>
          </a:xfrm>
          <a:custGeom>
            <a:avLst/>
            <a:gdLst/>
            <a:ahLst/>
            <a:cxnLst/>
            <a:rect l="l" t="t" r="r" b="b"/>
            <a:pathLst>
              <a:path w="2081496" h="1953953">
                <a:moveTo>
                  <a:pt x="0" y="0"/>
                </a:moveTo>
                <a:lnTo>
                  <a:pt x="2081496" y="0"/>
                </a:lnTo>
                <a:lnTo>
                  <a:pt x="2081496" y="1953953"/>
                </a:lnTo>
                <a:lnTo>
                  <a:pt x="0" y="1953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58817"/>
            <a:ext cx="8938941" cy="990272"/>
            <a:chOff x="0" y="0"/>
            <a:chExt cx="5136921" cy="6531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6921" cy="653141"/>
            </a:xfrm>
            <a:custGeom>
              <a:avLst/>
              <a:gdLst/>
              <a:ahLst/>
              <a:cxnLst/>
              <a:rect l="l" t="t" r="r" b="b"/>
              <a:pathLst>
                <a:path w="5136921" h="653141">
                  <a:moveTo>
                    <a:pt x="4933721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4933721" y="653141"/>
                  </a:lnTo>
                  <a:lnTo>
                    <a:pt x="5136921" y="326570"/>
                  </a:lnTo>
                  <a:lnTo>
                    <a:pt x="4933721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22621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228600" y="1502150"/>
            <a:ext cx="10926175" cy="90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VISION AND MISSION</a:t>
            </a:r>
          </a:p>
        </p:txBody>
      </p:sp>
      <p:sp>
        <p:nvSpPr>
          <p:cNvPr id="6" name="Freeform 6"/>
          <p:cNvSpPr/>
          <p:nvPr/>
        </p:nvSpPr>
        <p:spPr>
          <a:xfrm>
            <a:off x="16238274" y="0"/>
            <a:ext cx="2081496" cy="1953953"/>
          </a:xfrm>
          <a:custGeom>
            <a:avLst/>
            <a:gdLst/>
            <a:ahLst/>
            <a:cxnLst/>
            <a:rect l="l" t="t" r="r" b="b"/>
            <a:pathLst>
              <a:path w="2081496" h="1953953">
                <a:moveTo>
                  <a:pt x="0" y="0"/>
                </a:moveTo>
                <a:lnTo>
                  <a:pt x="2081496" y="0"/>
                </a:lnTo>
                <a:lnTo>
                  <a:pt x="2081496" y="1953953"/>
                </a:lnTo>
                <a:lnTo>
                  <a:pt x="0" y="1953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2550819"/>
            <a:ext cx="16878300" cy="8117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Vision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 Be The Most Innovative Research and Technical Competence Center for Sustaining “Innovation-Driven” Growths for Pidilite Group of Companies globally.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Mission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Invite, invest, and embrace talented people and scientists for great challenges ahead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Support, serve, and satisfy all valuable customers with our innovative products and excellent technical competency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Innovate with our customers to provide total product satisfactions and business growths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" y="1458817"/>
            <a:ext cx="15110214" cy="990272"/>
            <a:chOff x="0" y="0"/>
            <a:chExt cx="5136921" cy="6531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6921" cy="653141"/>
            </a:xfrm>
            <a:custGeom>
              <a:avLst/>
              <a:gdLst/>
              <a:ahLst/>
              <a:cxnLst/>
              <a:rect l="l" t="t" r="r" b="b"/>
              <a:pathLst>
                <a:path w="5136921" h="653141">
                  <a:moveTo>
                    <a:pt x="4933721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4933721" y="653141"/>
                  </a:lnTo>
                  <a:lnTo>
                    <a:pt x="5136921" y="326570"/>
                  </a:lnTo>
                  <a:lnTo>
                    <a:pt x="4933721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22621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0600" y="1545484"/>
            <a:ext cx="14416045" cy="90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COMMON SIZE FINANCIAL STATEMENTS</a:t>
            </a:r>
          </a:p>
        </p:txBody>
      </p:sp>
      <p:sp>
        <p:nvSpPr>
          <p:cNvPr id="6" name="Freeform 6"/>
          <p:cNvSpPr/>
          <p:nvPr/>
        </p:nvSpPr>
        <p:spPr>
          <a:xfrm>
            <a:off x="16238274" y="0"/>
            <a:ext cx="2081496" cy="1953953"/>
          </a:xfrm>
          <a:custGeom>
            <a:avLst/>
            <a:gdLst/>
            <a:ahLst/>
            <a:cxnLst/>
            <a:rect l="l" t="t" r="r" b="b"/>
            <a:pathLst>
              <a:path w="2081496" h="1953953">
                <a:moveTo>
                  <a:pt x="0" y="0"/>
                </a:moveTo>
                <a:lnTo>
                  <a:pt x="2081496" y="0"/>
                </a:lnTo>
                <a:lnTo>
                  <a:pt x="2081496" y="1953953"/>
                </a:lnTo>
                <a:lnTo>
                  <a:pt x="0" y="1953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0A7910D-BC33-888A-4AEE-CEC727E6CC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7564978"/>
              </p:ext>
            </p:extLst>
          </p:nvPr>
        </p:nvGraphicFramePr>
        <p:xfrm>
          <a:off x="960119" y="2558616"/>
          <a:ext cx="14446525" cy="3493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6B5E65BF-A640-802B-25F5-D34E1CA75F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3514858"/>
              </p:ext>
            </p:extLst>
          </p:nvPr>
        </p:nvGraphicFramePr>
        <p:xfrm>
          <a:off x="990600" y="6051984"/>
          <a:ext cx="14416044" cy="3968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0"/>
          <p:cNvGrpSpPr/>
          <p:nvPr/>
        </p:nvGrpSpPr>
        <p:grpSpPr>
          <a:xfrm>
            <a:off x="685799" y="1217694"/>
            <a:ext cx="14671637" cy="990272"/>
            <a:chOff x="0" y="0"/>
            <a:chExt cx="5136921" cy="65314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36921" cy="653141"/>
            </a:xfrm>
            <a:custGeom>
              <a:avLst/>
              <a:gdLst/>
              <a:ahLst/>
              <a:cxnLst/>
              <a:rect l="l" t="t" r="r" b="b"/>
              <a:pathLst>
                <a:path w="5136921" h="653141">
                  <a:moveTo>
                    <a:pt x="4933721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4933721" y="653141"/>
                  </a:lnTo>
                  <a:lnTo>
                    <a:pt x="5136921" y="326570"/>
                  </a:lnTo>
                  <a:lnTo>
                    <a:pt x="4933721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5022621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17684" y="1292331"/>
            <a:ext cx="14856941" cy="915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COMPARATIVE FINANCIAL STATEMENTS</a:t>
            </a:r>
          </a:p>
        </p:txBody>
      </p:sp>
      <p:sp>
        <p:nvSpPr>
          <p:cNvPr id="26" name="Freeform 6">
            <a:extLst>
              <a:ext uri="{FF2B5EF4-FFF2-40B4-BE49-F238E27FC236}">
                <a16:creationId xmlns:a16="http://schemas.microsoft.com/office/drawing/2014/main" id="{A748F625-F522-0F77-5758-0BE2F29BD27F}"/>
              </a:ext>
            </a:extLst>
          </p:cNvPr>
          <p:cNvSpPr/>
          <p:nvPr/>
        </p:nvSpPr>
        <p:spPr>
          <a:xfrm>
            <a:off x="16238274" y="0"/>
            <a:ext cx="2081496" cy="1953953"/>
          </a:xfrm>
          <a:custGeom>
            <a:avLst/>
            <a:gdLst/>
            <a:ahLst/>
            <a:cxnLst/>
            <a:rect l="l" t="t" r="r" b="b"/>
            <a:pathLst>
              <a:path w="2081496" h="1953953">
                <a:moveTo>
                  <a:pt x="0" y="0"/>
                </a:moveTo>
                <a:lnTo>
                  <a:pt x="2081496" y="0"/>
                </a:lnTo>
                <a:lnTo>
                  <a:pt x="2081496" y="1953953"/>
                </a:lnTo>
                <a:lnTo>
                  <a:pt x="0" y="1953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969C8D4D-6F83-514E-58D7-A3955EA081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0142315"/>
              </p:ext>
            </p:extLst>
          </p:nvPr>
        </p:nvGraphicFramePr>
        <p:xfrm>
          <a:off x="685798" y="2320703"/>
          <a:ext cx="15552476" cy="3554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BEC0E799-AEC4-57DE-2298-4A4573C22A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6175104"/>
              </p:ext>
            </p:extLst>
          </p:nvPr>
        </p:nvGraphicFramePr>
        <p:xfrm>
          <a:off x="836134" y="5852661"/>
          <a:ext cx="15402139" cy="3813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55167" y="918784"/>
            <a:ext cx="8484033" cy="1577554"/>
            <a:chOff x="0" y="0"/>
            <a:chExt cx="2418659" cy="6531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85800" y="1249743"/>
            <a:ext cx="748417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TREND ANALYSIS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3626307D-7FBE-4145-5399-2A433585D7D0}"/>
              </a:ext>
            </a:extLst>
          </p:cNvPr>
          <p:cNvSpPr/>
          <p:nvPr/>
        </p:nvSpPr>
        <p:spPr>
          <a:xfrm>
            <a:off x="16238274" y="0"/>
            <a:ext cx="2081496" cy="1953953"/>
          </a:xfrm>
          <a:custGeom>
            <a:avLst/>
            <a:gdLst/>
            <a:ahLst/>
            <a:cxnLst/>
            <a:rect l="l" t="t" r="r" b="b"/>
            <a:pathLst>
              <a:path w="2081496" h="1953953">
                <a:moveTo>
                  <a:pt x="0" y="0"/>
                </a:moveTo>
                <a:lnTo>
                  <a:pt x="2081496" y="0"/>
                </a:lnTo>
                <a:lnTo>
                  <a:pt x="2081496" y="1953953"/>
                </a:lnTo>
                <a:lnTo>
                  <a:pt x="0" y="1953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581E68B-AB3F-217A-62C0-0E9E836F3A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3215170"/>
              </p:ext>
            </p:extLst>
          </p:nvPr>
        </p:nvGraphicFramePr>
        <p:xfrm>
          <a:off x="355166" y="2803944"/>
          <a:ext cx="15883108" cy="3863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CB5A54-E36C-15FA-747C-C1DA65A83E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454275"/>
              </p:ext>
            </p:extLst>
          </p:nvPr>
        </p:nvGraphicFramePr>
        <p:xfrm>
          <a:off x="685799" y="6625016"/>
          <a:ext cx="15552475" cy="3242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1370797" y="1335200"/>
            <a:ext cx="7788442" cy="990272"/>
            <a:chOff x="0" y="0"/>
            <a:chExt cx="5136921" cy="65314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36921" cy="653141"/>
            </a:xfrm>
            <a:custGeom>
              <a:avLst/>
              <a:gdLst/>
              <a:ahLst/>
              <a:cxnLst/>
              <a:rect l="l" t="t" r="r" b="b"/>
              <a:pathLst>
                <a:path w="5136921" h="653141">
                  <a:moveTo>
                    <a:pt x="4933721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4933721" y="653141"/>
                  </a:lnTo>
                  <a:lnTo>
                    <a:pt x="5136921" y="326570"/>
                  </a:lnTo>
                  <a:lnTo>
                    <a:pt x="4933721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022621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-284719" y="1399007"/>
            <a:ext cx="10926175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RATIO ANALYSIS</a:t>
            </a:r>
          </a:p>
        </p:txBody>
      </p:sp>
      <p:sp>
        <p:nvSpPr>
          <p:cNvPr id="17" name="Freeform 17"/>
          <p:cNvSpPr/>
          <p:nvPr/>
        </p:nvSpPr>
        <p:spPr>
          <a:xfrm rot="5400000">
            <a:off x="17447994" y="9457062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 rot="5400000">
            <a:off x="373972" y="9457062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6">
            <a:extLst>
              <a:ext uri="{FF2B5EF4-FFF2-40B4-BE49-F238E27FC236}">
                <a16:creationId xmlns:a16="http://schemas.microsoft.com/office/drawing/2014/main" id="{82D16907-AE27-205F-BEC6-C2E784E0CC1F}"/>
              </a:ext>
            </a:extLst>
          </p:cNvPr>
          <p:cNvSpPr/>
          <p:nvPr/>
        </p:nvSpPr>
        <p:spPr>
          <a:xfrm>
            <a:off x="16238274" y="0"/>
            <a:ext cx="2081496" cy="1953953"/>
          </a:xfrm>
          <a:custGeom>
            <a:avLst/>
            <a:gdLst/>
            <a:ahLst/>
            <a:cxnLst/>
            <a:rect l="l" t="t" r="r" b="b"/>
            <a:pathLst>
              <a:path w="2081496" h="1953953">
                <a:moveTo>
                  <a:pt x="0" y="0"/>
                </a:moveTo>
                <a:lnTo>
                  <a:pt x="2081496" y="0"/>
                </a:lnTo>
                <a:lnTo>
                  <a:pt x="2081496" y="1953953"/>
                </a:lnTo>
                <a:lnTo>
                  <a:pt x="0" y="1953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4D2F08E3-B053-1DED-F2BB-A7B9AB8859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9037219"/>
              </p:ext>
            </p:extLst>
          </p:nvPr>
        </p:nvGraphicFramePr>
        <p:xfrm>
          <a:off x="1370796" y="2552700"/>
          <a:ext cx="7239802" cy="3516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79599" imgH="2758669" progId="Excel.Sheet.12">
                  <p:embed/>
                </p:oleObj>
              </mc:Choice>
              <mc:Fallback>
                <p:oleObj name="Worksheet" r:id="rId5" imgW="4579599" imgH="275866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0796" y="2552700"/>
                        <a:ext cx="7239802" cy="3516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F987D4A-A688-F8C5-98C4-897DF5DE35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5789575"/>
              </p:ext>
            </p:extLst>
          </p:nvPr>
        </p:nvGraphicFramePr>
        <p:xfrm>
          <a:off x="1370796" y="6357937"/>
          <a:ext cx="7239802" cy="3473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4581398" imgH="2752541" progId="Excel.Sheet.12">
                  <p:embed/>
                </p:oleObj>
              </mc:Choice>
              <mc:Fallback>
                <p:oleObj name="Worksheet" r:id="rId7" imgW="4581398" imgH="275254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70796" y="6357937"/>
                        <a:ext cx="7239802" cy="3473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659D4E4-C89E-8546-22BE-E3CF243F3D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8289866"/>
              </p:ext>
            </p:extLst>
          </p:nvPr>
        </p:nvGraphicFramePr>
        <p:xfrm>
          <a:off x="8985941" y="2552700"/>
          <a:ext cx="8616260" cy="3516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D016E16-825C-B9BD-9EA8-2DEA9532E5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4163052"/>
              </p:ext>
            </p:extLst>
          </p:nvPr>
        </p:nvGraphicFramePr>
        <p:xfrm>
          <a:off x="8985940" y="6330140"/>
          <a:ext cx="8616259" cy="3473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70689-A69B-BCD0-A2D6-EF4530D7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DEA7A36A-46CC-2B80-B9F4-749718D201B8}"/>
              </a:ext>
            </a:extLst>
          </p:cNvPr>
          <p:cNvGrpSpPr/>
          <p:nvPr/>
        </p:nvGrpSpPr>
        <p:grpSpPr>
          <a:xfrm>
            <a:off x="355167" y="918784"/>
            <a:ext cx="10389033" cy="1577554"/>
            <a:chOff x="0" y="0"/>
            <a:chExt cx="2418659" cy="65314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3610D3D-1E75-F7A5-93D7-D8EF65741639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B359B98-5526-B1DC-1A01-622A63FDE674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36C7D858-E95E-3302-9B66-B27FBCD615AA}"/>
              </a:ext>
            </a:extLst>
          </p:cNvPr>
          <p:cNvSpPr txBox="1"/>
          <p:nvPr/>
        </p:nvSpPr>
        <p:spPr>
          <a:xfrm>
            <a:off x="685800" y="1249743"/>
            <a:ext cx="10134600" cy="915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FINANCIAL HIGHLIGHTS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72A84761-32EC-E6F4-D18A-9AA7A8B71A7D}"/>
              </a:ext>
            </a:extLst>
          </p:cNvPr>
          <p:cNvSpPr/>
          <p:nvPr/>
        </p:nvSpPr>
        <p:spPr>
          <a:xfrm>
            <a:off x="16238274" y="0"/>
            <a:ext cx="2081496" cy="1953953"/>
          </a:xfrm>
          <a:custGeom>
            <a:avLst/>
            <a:gdLst/>
            <a:ahLst/>
            <a:cxnLst/>
            <a:rect l="l" t="t" r="r" b="b"/>
            <a:pathLst>
              <a:path w="2081496" h="1953953">
                <a:moveTo>
                  <a:pt x="0" y="0"/>
                </a:moveTo>
                <a:lnTo>
                  <a:pt x="2081496" y="0"/>
                </a:lnTo>
                <a:lnTo>
                  <a:pt x="2081496" y="1953953"/>
                </a:lnTo>
                <a:lnTo>
                  <a:pt x="0" y="1953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AA0141D-59EC-60E8-C367-F40C589C48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079810"/>
              </p:ext>
            </p:extLst>
          </p:nvPr>
        </p:nvGraphicFramePr>
        <p:xfrm>
          <a:off x="355167" y="2897352"/>
          <a:ext cx="16027833" cy="493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2893040" imgH="190603" progId="Excel.Sheet.12">
                  <p:embed/>
                </p:oleObj>
              </mc:Choice>
              <mc:Fallback>
                <p:oleObj name="Worksheet" r:id="rId3" imgW="12893040" imgH="19060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5167" y="2897352"/>
                        <a:ext cx="16027833" cy="4935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6954421-38F4-EB4A-40DC-BD7C316B1F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026547"/>
              </p:ext>
            </p:extLst>
          </p:nvPr>
        </p:nvGraphicFramePr>
        <p:xfrm>
          <a:off x="355167" y="3565661"/>
          <a:ext cx="16027833" cy="892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2893040" imgH="556457" progId="Excel.Sheet.12">
                  <p:embed/>
                </p:oleObj>
              </mc:Choice>
              <mc:Fallback>
                <p:oleObj name="Worksheet" r:id="rId5" imgW="12893040" imgH="556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5167" y="3565661"/>
                        <a:ext cx="16027833" cy="892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18FB56B2-0BD7-5B4D-3A32-1D52B73C41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688513"/>
              </p:ext>
            </p:extLst>
          </p:nvPr>
        </p:nvGraphicFramePr>
        <p:xfrm>
          <a:off x="347793" y="4906963"/>
          <a:ext cx="16035207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2893040" imgH="236228" progId="Excel.Sheet.12">
                  <p:embed/>
                </p:oleObj>
              </mc:Choice>
              <mc:Fallback>
                <p:oleObj name="Worksheet" r:id="rId7" imgW="12893040" imgH="23622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7793" y="4906963"/>
                        <a:ext cx="16035207" cy="617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0E35212E-76A6-E725-B28F-4593CD9845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802239"/>
              </p:ext>
            </p:extLst>
          </p:nvPr>
        </p:nvGraphicFramePr>
        <p:xfrm>
          <a:off x="355167" y="5801525"/>
          <a:ext cx="16027833" cy="78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12893040" imgH="373530" progId="Excel.Sheet.12">
                  <p:embed/>
                </p:oleObj>
              </mc:Choice>
              <mc:Fallback>
                <p:oleObj name="Worksheet" r:id="rId9" imgW="12893040" imgH="37353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5167" y="5801525"/>
                        <a:ext cx="16027833" cy="789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72D7643A-C22C-3F18-70F3-482B76B9F2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727840"/>
              </p:ext>
            </p:extLst>
          </p:nvPr>
        </p:nvGraphicFramePr>
        <p:xfrm>
          <a:off x="323212" y="7040563"/>
          <a:ext cx="16059788" cy="78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1" imgW="12893040" imgH="373530" progId="Excel.Sheet.12">
                  <p:embed/>
                </p:oleObj>
              </mc:Choice>
              <mc:Fallback>
                <p:oleObj name="Worksheet" r:id="rId11" imgW="12893040" imgH="37353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3212" y="7040563"/>
                        <a:ext cx="16059788" cy="789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3A8A89A-E2DA-7213-DF6D-90F1909740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770110"/>
              </p:ext>
            </p:extLst>
          </p:nvPr>
        </p:nvGraphicFramePr>
        <p:xfrm>
          <a:off x="323212" y="8255686"/>
          <a:ext cx="16059788" cy="39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3" imgW="12893040" imgH="190603" progId="Excel.Sheet.12">
                  <p:embed/>
                </p:oleObj>
              </mc:Choice>
              <mc:Fallback>
                <p:oleObj name="Worksheet" r:id="rId13" imgW="12893040" imgH="19060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3212" y="8255686"/>
                        <a:ext cx="16059788" cy="393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9460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706210" y="954123"/>
            <a:ext cx="7788442" cy="990272"/>
            <a:chOff x="0" y="0"/>
            <a:chExt cx="5136921" cy="6531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36921" cy="653141"/>
            </a:xfrm>
            <a:custGeom>
              <a:avLst/>
              <a:gdLst/>
              <a:ahLst/>
              <a:cxnLst/>
              <a:rect l="l" t="t" r="r" b="b"/>
              <a:pathLst>
                <a:path w="5136921" h="653141">
                  <a:moveTo>
                    <a:pt x="4933721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4933721" y="653141"/>
                  </a:lnTo>
                  <a:lnTo>
                    <a:pt x="5136921" y="326570"/>
                  </a:lnTo>
                  <a:lnTo>
                    <a:pt x="4933721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22621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-1156939" y="1051320"/>
            <a:ext cx="10926175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INTERPRETATIONS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27441" y="5479775"/>
            <a:ext cx="2945980" cy="58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Challenges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79199" y="6203225"/>
            <a:ext cx="3895464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Supply chain disruption</a:t>
            </a:r>
          </a:p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Rising ingredients costs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16046" y="5952491"/>
            <a:ext cx="3759596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Launching new products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Expanding into new markets</a:t>
            </a:r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B621BC18-876A-9EF1-2CD8-9BC2D4CF7D5C}"/>
              </a:ext>
            </a:extLst>
          </p:cNvPr>
          <p:cNvSpPr/>
          <p:nvPr/>
        </p:nvSpPr>
        <p:spPr>
          <a:xfrm>
            <a:off x="16238274" y="0"/>
            <a:ext cx="2081496" cy="1953953"/>
          </a:xfrm>
          <a:custGeom>
            <a:avLst/>
            <a:gdLst/>
            <a:ahLst/>
            <a:cxnLst/>
            <a:rect l="l" t="t" r="r" b="b"/>
            <a:pathLst>
              <a:path w="2081496" h="1953953">
                <a:moveTo>
                  <a:pt x="0" y="0"/>
                </a:moveTo>
                <a:lnTo>
                  <a:pt x="2081496" y="0"/>
                </a:lnTo>
                <a:lnTo>
                  <a:pt x="2081496" y="1953953"/>
                </a:lnTo>
                <a:lnTo>
                  <a:pt x="0" y="1953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195060-DB89-5CE2-770B-6733CC0222A4}"/>
              </a:ext>
            </a:extLst>
          </p:cNvPr>
          <p:cNvSpPr txBox="1"/>
          <p:nvPr/>
        </p:nvSpPr>
        <p:spPr>
          <a:xfrm>
            <a:off x="706210" y="2190292"/>
            <a:ext cx="17353190" cy="7940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400" b="1" dirty="0"/>
              <a:t>Strong Operational Performance</a:t>
            </a:r>
            <a:r>
              <a:rPr lang="en-US" sz="3400" dirty="0"/>
              <a:t>: Following the mergers in 2022-23, Pidilite showed a significant surge in both revenue and profit.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400" b="1" dirty="0"/>
              <a:t>Revenue from Operations</a:t>
            </a:r>
            <a:r>
              <a:rPr lang="en-US" sz="3400" dirty="0"/>
              <a:t>: Grew from ₹8,895.62 crore in 2022 to ₹12,072.70 crore in 2025.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400" b="1" dirty="0"/>
              <a:t>Profit After Tax (PAT): </a:t>
            </a:r>
            <a:r>
              <a:rPr lang="en-US" sz="3400" dirty="0"/>
              <a:t>Dramatically increased from ₹1,191.41 crore in 2022 to ₹2,073.83 crore in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400" b="1" dirty="0"/>
              <a:t>Strategic Investment Focus</a:t>
            </a:r>
            <a:r>
              <a:rPr lang="en-US" sz="3400" dirty="0"/>
              <a:t>: The mergers of Cipy Polyurethanes and Pidilite Adhesives in 2022-23 led to a significant increase in both </a:t>
            </a:r>
            <a:r>
              <a:rPr lang="en-US" sz="3400" b="1" dirty="0"/>
              <a:t>Goodwill</a:t>
            </a:r>
            <a:r>
              <a:rPr lang="en-US" sz="3400" dirty="0"/>
              <a:t> and </a:t>
            </a:r>
            <a:r>
              <a:rPr lang="en-US" sz="3400" b="1" dirty="0"/>
              <a:t>Other Intangible Assets</a:t>
            </a:r>
            <a:r>
              <a:rPr lang="en-US" sz="3400" dirty="0"/>
              <a:t>, reflecting a strategic focus on expanding market position and intellectual property through acquisitions.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400" b="1" dirty="0"/>
              <a:t>Prudent Financial Management</a:t>
            </a:r>
            <a:r>
              <a:rPr lang="en-US" sz="3400" dirty="0"/>
              <a:t>: The company demonstrates a successful shift in its financing strategy by reducing short-term debt. </a:t>
            </a:r>
            <a:r>
              <a:rPr lang="en-US" sz="3400" b="1" dirty="0"/>
              <a:t>Current Borrowings</a:t>
            </a:r>
            <a:r>
              <a:rPr lang="en-US" sz="3400" dirty="0"/>
              <a:t> fell to zero in 2024 and 2025, and the </a:t>
            </a:r>
            <a:r>
              <a:rPr lang="en-US" sz="3400" b="1" dirty="0"/>
              <a:t>Total Debt to Equity Ratio </a:t>
            </a:r>
            <a:r>
              <a:rPr lang="en-US" sz="3400" dirty="0"/>
              <a:t>remains stable, indicating a proactive approach to strengthening the balance sheet.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400" b="1" dirty="0"/>
              <a:t>Dynamic Cash Management</a:t>
            </a:r>
            <a:r>
              <a:rPr lang="en-US" sz="3400" dirty="0"/>
              <a:t>: The fluctuation in </a:t>
            </a:r>
            <a:r>
              <a:rPr lang="en-US" sz="3400" b="1" dirty="0"/>
              <a:t>Cash and Cash Equivalents</a:t>
            </a:r>
            <a:r>
              <a:rPr lang="en-US" sz="3400" dirty="0"/>
              <a:t> shows that the company is actively utilizing its cash for strategic purposes, rather than simply holding a static reserve.</a:t>
            </a:r>
            <a:endParaRPr lang="en-IN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6747" y="1811187"/>
            <a:ext cx="5841871" cy="1577554"/>
            <a:chOff x="0" y="0"/>
            <a:chExt cx="2418659" cy="6531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90078" y="2163579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33330" y="4505884"/>
            <a:ext cx="3791038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Revenue Projections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33330" y="6362624"/>
            <a:ext cx="42244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Profitability Outlook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89694" y="8218729"/>
            <a:ext cx="42244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Expense Forecast</a:t>
            </a: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150B4DCA-4F18-0D3D-A90F-53E928425ED7}"/>
              </a:ext>
            </a:extLst>
          </p:cNvPr>
          <p:cNvSpPr/>
          <p:nvPr/>
        </p:nvSpPr>
        <p:spPr>
          <a:xfrm>
            <a:off x="16238274" y="0"/>
            <a:ext cx="2081496" cy="1953953"/>
          </a:xfrm>
          <a:custGeom>
            <a:avLst/>
            <a:gdLst/>
            <a:ahLst/>
            <a:cxnLst/>
            <a:rect l="l" t="t" r="r" b="b"/>
            <a:pathLst>
              <a:path w="2081496" h="1953953">
                <a:moveTo>
                  <a:pt x="0" y="0"/>
                </a:moveTo>
                <a:lnTo>
                  <a:pt x="2081496" y="0"/>
                </a:lnTo>
                <a:lnTo>
                  <a:pt x="2081496" y="1953953"/>
                </a:lnTo>
                <a:lnTo>
                  <a:pt x="0" y="1953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4FEB692-415D-5A88-E8CC-4F8C12BEE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7250" y="3536560"/>
            <a:ext cx="15919297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Future Strategy for Sustained Growth: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Pidilite's strategy is built on key pillars to sustain growth and market leadership.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Digital and Technological Advancement: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Leveraging technology to enhance efficiency and customer experience.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Modernizing IT infrastructure and using analytics to drive growth.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Digital transformation in Bangladesh led to a 9% volume growth.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International Expansion: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Strengthening global footprint through strategic expansion.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Launch of a new Roff manufacturing facility in Bangladesh to localize production and increase market share.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Sustainability and Responsible Business: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Embedding ESG principles in the core business model.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Focus on reducing energy, water usage, and greenhouse gas emissions.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CSR programs support community well-being through education and skill development.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Brand Leadership and Innovation: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Continuing strong brand-building campaigns for products like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Fevicol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Dr. Fixit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Roff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Raising awareness about the importance of high-quality products, such as in the waterproofing campaign.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407A1-DDB3-AC87-404A-2DE9F343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6A09963-6E40-A7FD-8D03-22CCBD43213B}"/>
              </a:ext>
            </a:extLst>
          </p:cNvPr>
          <p:cNvGrpSpPr/>
          <p:nvPr/>
        </p:nvGrpSpPr>
        <p:grpSpPr>
          <a:xfrm>
            <a:off x="1766747" y="1811187"/>
            <a:ext cx="5841871" cy="1577554"/>
            <a:chOff x="0" y="0"/>
            <a:chExt cx="2418659" cy="65314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E8BC43-05E2-7EF8-47AD-1AA7778D0D03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4F03782-5364-4406-F1CD-4AA7ECAD826E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6A79C85F-5D30-3707-A488-0BE791B12C64}"/>
              </a:ext>
            </a:extLst>
          </p:cNvPr>
          <p:cNvSpPr txBox="1"/>
          <p:nvPr/>
        </p:nvSpPr>
        <p:spPr>
          <a:xfrm>
            <a:off x="2090078" y="2163579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802592C-1A72-269F-4494-06510FE97B8F}"/>
              </a:ext>
            </a:extLst>
          </p:cNvPr>
          <p:cNvSpPr txBox="1"/>
          <p:nvPr/>
        </p:nvSpPr>
        <p:spPr>
          <a:xfrm>
            <a:off x="2033330" y="4505884"/>
            <a:ext cx="3791038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Revenue Projections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B2B03D8-253D-3313-4792-826CEA5510DD}"/>
              </a:ext>
            </a:extLst>
          </p:cNvPr>
          <p:cNvSpPr txBox="1"/>
          <p:nvPr/>
        </p:nvSpPr>
        <p:spPr>
          <a:xfrm>
            <a:off x="2033330" y="6362624"/>
            <a:ext cx="42244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Profitability Outlook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B4F3299-B51E-DEEB-46B3-8D2E4E2FE51B}"/>
              </a:ext>
            </a:extLst>
          </p:cNvPr>
          <p:cNvSpPr txBox="1"/>
          <p:nvPr/>
        </p:nvSpPr>
        <p:spPr>
          <a:xfrm>
            <a:off x="1989694" y="8218729"/>
            <a:ext cx="42244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Expense Forecast</a:t>
            </a: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D992E520-6E98-D853-40B1-3515EE72369D}"/>
              </a:ext>
            </a:extLst>
          </p:cNvPr>
          <p:cNvSpPr/>
          <p:nvPr/>
        </p:nvSpPr>
        <p:spPr>
          <a:xfrm>
            <a:off x="16238274" y="0"/>
            <a:ext cx="2081496" cy="1953953"/>
          </a:xfrm>
          <a:custGeom>
            <a:avLst/>
            <a:gdLst/>
            <a:ahLst/>
            <a:cxnLst/>
            <a:rect l="l" t="t" r="r" b="b"/>
            <a:pathLst>
              <a:path w="2081496" h="1953953">
                <a:moveTo>
                  <a:pt x="0" y="0"/>
                </a:moveTo>
                <a:lnTo>
                  <a:pt x="2081496" y="0"/>
                </a:lnTo>
                <a:lnTo>
                  <a:pt x="2081496" y="1953953"/>
                </a:lnTo>
                <a:lnTo>
                  <a:pt x="0" y="1953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59383-5893-A4CE-41AF-1E17325D164D}"/>
              </a:ext>
            </a:extLst>
          </p:cNvPr>
          <p:cNvSpPr txBox="1"/>
          <p:nvPr/>
        </p:nvSpPr>
        <p:spPr>
          <a:xfrm>
            <a:off x="8153400" y="5143500"/>
            <a:ext cx="8084874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/>
              <a:t>TEAM MEMBERS :- </a:t>
            </a:r>
          </a:p>
          <a:p>
            <a:r>
              <a:rPr lang="en-US" sz="3500" dirty="0"/>
              <a:t>ADHIRAJ SINGH MBA25053</a:t>
            </a:r>
          </a:p>
          <a:p>
            <a:r>
              <a:rPr lang="en-US" sz="3500" dirty="0"/>
              <a:t>ANISH DEY MBA25058</a:t>
            </a:r>
          </a:p>
          <a:p>
            <a:r>
              <a:rPr lang="en-US" sz="3500" dirty="0"/>
              <a:t>ROHIT GHOSH MBA25084</a:t>
            </a:r>
          </a:p>
          <a:p>
            <a:r>
              <a:rPr lang="en-US" sz="3500" dirty="0"/>
              <a:t>SHASHANK KURNAL MBA25226</a:t>
            </a:r>
          </a:p>
          <a:p>
            <a:r>
              <a:rPr lang="en-US" sz="3500" dirty="0"/>
              <a:t>ADITYA DEEPAK MBA24003</a:t>
            </a:r>
          </a:p>
          <a:p>
            <a:r>
              <a:rPr lang="en-US" sz="3500" dirty="0"/>
              <a:t>REETANKAR MANDAL MBATTHM24008</a:t>
            </a:r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1731171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596</Words>
  <Application>Microsoft Office PowerPoint</Application>
  <PresentationFormat>Custom</PresentationFormat>
  <Paragraphs>81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Arial</vt:lpstr>
      <vt:lpstr>League Spartan</vt:lpstr>
      <vt:lpstr>Inter Bold</vt:lpstr>
      <vt:lpstr>Inter</vt:lpstr>
      <vt:lpstr>Office Theme</vt:lpstr>
      <vt:lpstr>Worksheet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Minimalist Financial Report Presentation</dc:title>
  <cp:lastModifiedBy>ROHIT GHOSH</cp:lastModifiedBy>
  <cp:revision>123</cp:revision>
  <dcterms:created xsi:type="dcterms:W3CDTF">2006-08-16T00:00:00Z</dcterms:created>
  <dcterms:modified xsi:type="dcterms:W3CDTF">2025-09-16T05:10:12Z</dcterms:modified>
  <dc:identifier>DAGy_Hb9UeU</dc:identifier>
</cp:coreProperties>
</file>