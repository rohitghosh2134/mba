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89A22E-9838-472E-93FF-A3AC71DDEF10}" v="30" dt="2025-08-14T06:48:26.2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91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05BDE-7B7B-BA69-527F-24F032816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2DF12-C70F-5AB2-764F-3D890BF8FA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099B9-2E71-83DE-9FEE-035448B6F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C400-E487-46FE-BC50-765A573F4213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CE7A2-BD9F-19A0-2FDA-F75F2A706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F0443-1598-5B91-7EA5-9C899CBDD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9B84-9D49-483E-B7C2-BEBF88D15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140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60B4C-8AB0-1227-F5D7-55471AC55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2C36D-CCA1-2306-9DA2-D7D3B7EAE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4D71F-44F8-28F3-1492-CA0AFCC22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C400-E487-46FE-BC50-765A573F4213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5FC0A-7A80-6C34-2009-C3261DD93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A51D7-0719-DBD8-F881-293B2D079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9B84-9D49-483E-B7C2-BEBF88D15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274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A2247-3EA7-B164-E454-AD11B3B84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DC019-9DF4-6777-1C11-BD4F01843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B8223-4089-0880-CE84-82C7713C6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C400-E487-46FE-BC50-765A573F4213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B56F7-EE79-8BE9-33AC-24231B415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1D476-36AF-88AF-B2E2-70B078EB7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9B84-9D49-483E-B7C2-BEBF88D15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818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38AE7-34A9-ECCA-58F1-320DB3682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74584-96D1-4060-3393-9B7A1E3F44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741645-D109-C187-DA7E-82E19598A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0769A-B8A1-614E-2B34-E4BF4F20A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C400-E487-46FE-BC50-765A573F4213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CA468F-02DD-5378-73DA-8BACF7E1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99215-5EF6-43B5-C0AC-3AA7AA6CE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9B84-9D49-483E-B7C2-BEBF88D15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149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E4D1A-676D-7FAF-695B-FCE0DE6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0C0FE-C267-42FA-D4CE-5129E9023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F5E06F-FC4E-F792-36DF-3A873B6BD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F4D7F1-5E44-F61D-3449-A9D245BDBB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B985B-4236-624E-220F-3619FE1CDD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062DFA-594D-BA7D-4EE4-BF4A28A25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C400-E487-46FE-BC50-765A573F4213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947051-AED0-E358-9A6C-3BAC53F07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EFBA20-6A43-C092-ECEB-8B53D3734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9B84-9D49-483E-B7C2-BEBF88D15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607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D137-5B11-5365-734C-F035A6C88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7B7736-CF25-CC42-E28E-B87A624B4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C400-E487-46FE-BC50-765A573F4213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7A28F6-F644-A805-1988-2928621A8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1053CA-E5FE-FCA6-0EE6-9C65501CA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9B84-9D49-483E-B7C2-BEBF88D15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237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8BA3C9-AB72-9E46-5567-E979ED097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C400-E487-46FE-BC50-765A573F4213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93C7C0-B094-6BE7-6432-206FA450B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A2736-E14A-7D97-E95F-97D6582A1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9B84-9D49-483E-B7C2-BEBF88D15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276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33BF1-13C4-9861-F729-0D6B5C948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D92CF-59AF-AD5C-6845-C727D9362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A42CB0-2E6C-5233-86BF-19B91FF8F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C4DD4A-0415-667E-593F-8315A92F8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C400-E487-46FE-BC50-765A573F4213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88CEB-3DFF-E547-29E4-77D3930E4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9B63C-8809-61CD-B153-6BF9331DE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9B84-9D49-483E-B7C2-BEBF88D15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045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7B430-A66D-CDA3-2AEF-7E4D1C7F6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293B60-D552-B235-4C2E-4C827881D3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362ECA-692C-367F-5BDC-732D799E6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D7C293-E2EA-2EDC-EB30-E75EE9D1E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C400-E487-46FE-BC50-765A573F4213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3B67B-74B2-6036-AC96-1242F887E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B585C-0811-28D4-7C6B-881F09AC5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9B84-9D49-483E-B7C2-BEBF88D15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54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2C66C-C2FB-D144-F38C-D384C7CBF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364A58-15A5-CCE1-C383-7DFB97997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07FE8-3B77-6A3B-9097-8B873AA1B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C400-E487-46FE-BC50-765A573F4213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F7039-9C8D-6C2A-DCC7-795A87963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C23EB-D83A-0305-55F2-E9E48A50D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9B84-9D49-483E-B7C2-BEBF88D15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197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EF1861-3983-C246-3D41-89F199312A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4A3F4F-532E-42B1-2D93-45846D603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D16CA-9EB1-13FD-81AC-65CF8ADAB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C400-E487-46FE-BC50-765A573F4213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450AF-39FD-5B8A-EBA5-D76E8F9B7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EAA46-2B58-2636-8BE7-0EE894D6C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9B84-9D49-483E-B7C2-BEBF88D15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077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243784-5D56-E223-8B60-4F90D120D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DE6C6-C818-B016-4F0F-DE58A72C2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D94A3-0931-A6ED-FDC1-F2979483D4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22C400-E487-46FE-BC50-765A573F4213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13AFF-068B-810C-DCF4-DECFED78C5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B3ABD-841B-D744-0F31-58B627244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D19B84-9D49-483E-B7C2-BEBF88D15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674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yscheme.gov.in/schemes/pmsgmb" TargetMode="External"/><Relationship Id="rId3" Type="http://schemas.openxmlformats.org/officeDocument/2006/relationships/hyperlink" Target="https://en.wikipedia.org/wiki/Sustainable_Development_Goal_13" TargetMode="External"/><Relationship Id="rId7" Type="http://schemas.openxmlformats.org/officeDocument/2006/relationships/hyperlink" Target="https://www.pib.gov.in/PressReleaseIframePage.aspx?PRID=1961797" TargetMode="External"/><Relationship Id="rId2" Type="http://schemas.openxmlformats.org/officeDocument/2006/relationships/hyperlink" Target="https://www.undp.org/sustainable-development-goal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rontiersin.org/journals/sustainability/articles/10.3389/frsus.2022.990173/full" TargetMode="External"/><Relationship Id="rId5" Type="http://schemas.openxmlformats.org/officeDocument/2006/relationships/hyperlink" Target="https://dcfmodeling.com/products/solarindsns-pestel-analysis" TargetMode="External"/><Relationship Id="rId10" Type="http://schemas.openxmlformats.org/officeDocument/2006/relationships/hyperlink" Target="https://cdnbbsr.s3waas.gov.in/s3716e1b8c6cd17b771da77391355749f3/uploads/2024/10/20241014958242917.pdf" TargetMode="External"/><Relationship Id="rId4" Type="http://schemas.openxmlformats.org/officeDocument/2006/relationships/hyperlink" Target="https://sdgs.un.org/goals/goal13#targets_and_indicators" TargetMode="External"/><Relationship Id="rId9" Type="http://schemas.openxmlformats.org/officeDocument/2006/relationships/hyperlink" Target="https://mnre.gov.in/en/solar-off-grid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38F65D-2D73-F650-3478-DF9DA0B5F2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810" y="2960716"/>
            <a:ext cx="4036334" cy="2387600"/>
          </a:xfrm>
        </p:spPr>
        <p:txBody>
          <a:bodyPr anchor="t">
            <a:normAutofit/>
          </a:bodyPr>
          <a:lstStyle/>
          <a:p>
            <a:pPr algn="l"/>
            <a:r>
              <a:rPr lang="en-IN" sz="5400" b="1" dirty="0" err="1"/>
              <a:t>SolNova</a:t>
            </a:r>
            <a:r>
              <a:rPr lang="en-IN" sz="5400" b="1" dirty="0"/>
              <a:t> Energy </a:t>
            </a:r>
            <a:r>
              <a:rPr lang="en-IN" sz="5400" b="1" dirty="0" err="1"/>
              <a:t>Pvt.</a:t>
            </a:r>
            <a:r>
              <a:rPr lang="en-IN" sz="5400" b="1" dirty="0"/>
              <a:t> Ltd.</a:t>
            </a:r>
            <a:endParaRPr lang="en-IN" sz="54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with a sun and a crown&#10;&#10;AI-generated content may be incorrect.">
            <a:extLst>
              <a:ext uri="{FF2B5EF4-FFF2-40B4-BE49-F238E27FC236}">
                <a16:creationId xmlns:a16="http://schemas.microsoft.com/office/drawing/2014/main" id="{D0EB4E04-89D4-2120-742D-186D84D58F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597" y="666728"/>
            <a:ext cx="5465791" cy="546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9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B784A-5A32-175D-E0C9-FFFCA13B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Industry Analysis: Rationale &amp; Classification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E2B8B-558A-D9A8-094A-F6E6EC212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Why Renewable Energy?</a:t>
            </a:r>
            <a:endParaRPr lang="en-IN" dirty="0"/>
          </a:p>
          <a:p>
            <a:pPr lvl="1"/>
            <a:r>
              <a:rPr lang="en-IN" b="1" dirty="0"/>
              <a:t>Direct Alignment with SDG 13: Climate Action: Solar energy is a direct substitute for fossil fuels, crucial for reducing greenhouse gas emissions.</a:t>
            </a:r>
            <a:endParaRPr lang="en-IN" dirty="0"/>
          </a:p>
          <a:p>
            <a:pPr lvl="1"/>
            <a:r>
              <a:rPr lang="en-IN" b="1" dirty="0"/>
              <a:t>Addressing India's Urgency: India is highly vulnerable to climate hazards like droughts and floods, making a clean energy transition essential.</a:t>
            </a:r>
            <a:endParaRPr lang="en-IN" dirty="0"/>
          </a:p>
          <a:p>
            <a:pPr lvl="1"/>
            <a:r>
              <a:rPr lang="en-IN" b="1" dirty="0"/>
              <a:t>Strong Business Potential: The growing demand for solar solutions offers both profitability and significant environmental impact.</a:t>
            </a:r>
            <a:endParaRPr lang="en-IN" dirty="0"/>
          </a:p>
          <a:p>
            <a:r>
              <a:rPr lang="en-IN" b="1" dirty="0"/>
              <a:t>Industry Classification</a:t>
            </a:r>
            <a:endParaRPr lang="en-IN" dirty="0"/>
          </a:p>
          <a:p>
            <a:pPr lvl="1"/>
            <a:r>
              <a:rPr lang="en-IN" b="1" dirty="0"/>
              <a:t>Sector: Energy</a:t>
            </a:r>
            <a:endParaRPr lang="en-IN" dirty="0"/>
          </a:p>
          <a:p>
            <a:pPr lvl="1"/>
            <a:r>
              <a:rPr lang="en-IN" b="1" dirty="0"/>
              <a:t>Sub-sector: Renewable Energy</a:t>
            </a:r>
            <a:endParaRPr lang="en-IN" dirty="0"/>
          </a:p>
          <a:p>
            <a:pPr lvl="1"/>
            <a:r>
              <a:rPr lang="en-IN" b="1" dirty="0"/>
              <a:t>Category: Solar-Powered Energy</a:t>
            </a:r>
            <a:endParaRPr lang="en-IN" dirty="0"/>
          </a:p>
          <a:p>
            <a:pPr lvl="1"/>
            <a:r>
              <a:rPr lang="en-IN" b="1" dirty="0"/>
              <a:t>NIC Code: 35105 (Electricity generation from solar photovoltaic (PV) and solar thermal sources)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2567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206F3-A4EE-2487-A440-B99B4502B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Industry Analysis: Scope &amp; Growth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5C44A-AF74-B613-9AE7-0A86ABFD7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Scope of the Solar Industry in India</a:t>
            </a:r>
            <a:endParaRPr lang="en-IN" dirty="0"/>
          </a:p>
          <a:p>
            <a:pPr lvl="1"/>
            <a:r>
              <a:rPr lang="en-IN" b="1" dirty="0"/>
              <a:t>Installed Capacity (2024): ~72 GW</a:t>
            </a:r>
            <a:endParaRPr lang="en-IN" dirty="0"/>
          </a:p>
          <a:p>
            <a:pPr lvl="1"/>
            <a:r>
              <a:rPr lang="en-IN" b="1" dirty="0"/>
              <a:t>Target by 2030: 280 GW</a:t>
            </a:r>
            <a:endParaRPr lang="en-IN" dirty="0"/>
          </a:p>
          <a:p>
            <a:pPr lvl="1"/>
            <a:r>
              <a:rPr lang="en-IN" b="1" dirty="0"/>
              <a:t>Key Applications: Grid-connected plants, rooftop systems, solar water pumps, and microgrids for rural areas.</a:t>
            </a:r>
            <a:endParaRPr lang="en-IN" dirty="0"/>
          </a:p>
          <a:p>
            <a:pPr lvl="1"/>
            <a:r>
              <a:rPr lang="en-IN" b="1" dirty="0"/>
              <a:t>Employment Potential: Over 1 million green jobs projected in installation, servicing, and manufacturing.</a:t>
            </a:r>
            <a:endParaRPr lang="en-IN" dirty="0"/>
          </a:p>
          <a:p>
            <a:r>
              <a:rPr lang="en-IN" b="1" dirty="0"/>
              <a:t>Market Growth &amp; Contribution</a:t>
            </a:r>
            <a:endParaRPr lang="en-IN" dirty="0"/>
          </a:p>
          <a:p>
            <a:pPr lvl="1"/>
            <a:r>
              <a:rPr lang="en-IN" b="1" dirty="0"/>
              <a:t>Global Market Size: Projected to grow from US $253.7 billion in 2023 to $436.4 billion by 2032, with a CAGR of ~6%.</a:t>
            </a:r>
            <a:endParaRPr lang="en-IN" dirty="0"/>
          </a:p>
          <a:p>
            <a:pPr lvl="1"/>
            <a:r>
              <a:rPr lang="en-IN" b="1" dirty="0"/>
              <a:t>Global Solar Contribution: Solar accounted for nearly 80% of all new renewable capacity added in 2024.</a:t>
            </a:r>
            <a:endParaRPr lang="en-IN" dirty="0"/>
          </a:p>
          <a:p>
            <a:pPr lvl="1"/>
            <a:r>
              <a:rPr lang="en-IN" b="1" dirty="0"/>
              <a:t>India's Contribution: Renewables represent about 30% of installed capacity, with solar (67 GW) making up approximately 54% of this total as of mid-2023.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7411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8E09F-5CE1-7E57-8ED7-18CCB1552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Industry Analysis: Competitive Landscape &amp; PESTEL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43727-CA02-1932-2E52-C02232C09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b="1" dirty="0"/>
              <a:t>Key Players &amp; Market Dynamics</a:t>
            </a:r>
            <a:endParaRPr lang="en-IN" dirty="0"/>
          </a:p>
          <a:p>
            <a:pPr lvl="1"/>
            <a:r>
              <a:rPr lang="en-IN" b="1" dirty="0"/>
              <a:t>Global Dominance: China controls over 80% of the solar PV supply chain.</a:t>
            </a:r>
            <a:endParaRPr lang="en-IN" dirty="0"/>
          </a:p>
          <a:p>
            <a:pPr lvl="1"/>
            <a:r>
              <a:rPr lang="en-IN" b="1" dirty="0"/>
              <a:t>Top Global Manufacturers (by shipped capacity): Jinko Solar, JA Solar, Trina Solar.</a:t>
            </a:r>
            <a:endParaRPr lang="en-IN" dirty="0"/>
          </a:p>
          <a:p>
            <a:pPr lvl="1"/>
            <a:r>
              <a:rPr lang="en-IN" b="1" dirty="0"/>
              <a:t>Indian Market: Vikram Solar is a major player with 4.5 GW/year production capacity.</a:t>
            </a:r>
            <a:endParaRPr lang="en-IN" dirty="0"/>
          </a:p>
          <a:p>
            <a:r>
              <a:rPr lang="en-IN" b="1" dirty="0"/>
              <a:t>PESTEL Analysis</a:t>
            </a:r>
            <a:endParaRPr lang="en-IN" dirty="0"/>
          </a:p>
          <a:p>
            <a:pPr lvl="1"/>
            <a:r>
              <a:rPr lang="en-IN" b="1" dirty="0"/>
              <a:t>Political: India's target of 500 GW renewable capacity by 2030, with capital subsidies.</a:t>
            </a:r>
            <a:endParaRPr lang="en-IN" dirty="0"/>
          </a:p>
          <a:p>
            <a:pPr lvl="1"/>
            <a:r>
              <a:rPr lang="en-IN" b="1" dirty="0"/>
              <a:t>Economic: Solar PV costs have fallen by 80% since 2010.</a:t>
            </a:r>
            <a:endParaRPr lang="en-IN" dirty="0"/>
          </a:p>
          <a:p>
            <a:pPr lvl="1"/>
            <a:r>
              <a:rPr lang="en-IN" b="1" dirty="0"/>
              <a:t>Social: Over 250,000 solar jobs as of 2023; projected to reach 1 million by 2025.</a:t>
            </a:r>
            <a:endParaRPr lang="en-IN" dirty="0"/>
          </a:p>
          <a:p>
            <a:pPr lvl="1"/>
            <a:r>
              <a:rPr lang="en-IN" b="1" dirty="0"/>
              <a:t>Technological: Panel efficiency has improved to 20-22%, and battery costs are down 89% since 2010.</a:t>
            </a:r>
            <a:endParaRPr lang="en-IN" dirty="0"/>
          </a:p>
          <a:p>
            <a:pPr lvl="1"/>
            <a:r>
              <a:rPr lang="en-IN" b="1" dirty="0"/>
              <a:t>Environmental: 37 million tons of CO₂ emissions avoided in 2021.</a:t>
            </a:r>
            <a:endParaRPr lang="en-IN" dirty="0"/>
          </a:p>
          <a:p>
            <a:pPr lvl="1"/>
            <a:r>
              <a:rPr lang="en-IN" b="1" dirty="0"/>
              <a:t>Legal: Supportive regulatory framework exists, though some tariff and payment delays can occur.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1469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0DCF8-E417-AE38-153E-1CED8EA39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UN SDG Overview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86394-4DCC-6349-D242-B4F86EAC8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The Sustainable Development Goals (SDGs)</a:t>
            </a:r>
            <a:endParaRPr lang="en-IN" dirty="0"/>
          </a:p>
          <a:p>
            <a:pPr lvl="1"/>
            <a:r>
              <a:rPr lang="en-IN" b="1" dirty="0"/>
              <a:t>Adopted by the UN in 2015, the 17 SDGs are a universal call to action to end poverty, protect the planet, and ensure prosperity for all.</a:t>
            </a:r>
            <a:endParaRPr lang="en-IN" dirty="0"/>
          </a:p>
          <a:p>
            <a:pPr lvl="1"/>
            <a:r>
              <a:rPr lang="en-IN" b="1" dirty="0"/>
              <a:t>They are integrated and recognize the balance between social, economic, and environmental sustainability.</a:t>
            </a:r>
            <a:endParaRPr lang="en-IN" dirty="0"/>
          </a:p>
          <a:p>
            <a:pPr lvl="1"/>
            <a:r>
              <a:rPr lang="en-IN" b="1" dirty="0"/>
              <a:t>Our Chosen Goal: SDG 13 - Climate Action</a:t>
            </a:r>
            <a:endParaRPr lang="en-IN" dirty="0"/>
          </a:p>
          <a:p>
            <a:pPr lvl="0"/>
            <a:r>
              <a:rPr lang="en-IN" b="1" dirty="0"/>
              <a:t>Mission Statement: "Take urgent action to combat climate change and its impacts."</a:t>
            </a:r>
            <a:endParaRPr lang="en-IN" dirty="0"/>
          </a:p>
          <a:p>
            <a:pPr lvl="0"/>
            <a:r>
              <a:rPr lang="en-IN" b="1" dirty="0"/>
              <a:t>Rationale for Choosing SDG 13:</a:t>
            </a:r>
            <a:endParaRPr lang="en-IN" dirty="0"/>
          </a:p>
          <a:p>
            <a:pPr lvl="1"/>
            <a:r>
              <a:rPr lang="en-IN" b="1" dirty="0"/>
              <a:t>Direct Connection: Solar energy is a primary tool for reducing greenhouse gas emissions.</a:t>
            </a:r>
            <a:endParaRPr lang="en-IN" dirty="0"/>
          </a:p>
          <a:p>
            <a:pPr lvl="1"/>
            <a:r>
              <a:rPr lang="en-IN" b="1" dirty="0"/>
              <a:t>Urgency: India's vulnerability to climate change necessitates urgent action.</a:t>
            </a:r>
            <a:endParaRPr lang="en-IN" dirty="0"/>
          </a:p>
          <a:p>
            <a:pPr lvl="1"/>
            <a:r>
              <a:rPr lang="en-IN" b="1" dirty="0"/>
              <a:t>Global Alignment: Our work helps India meet its Nationally Determined Contributions (NDCs) under the Paris Agreement.</a:t>
            </a:r>
            <a:endParaRPr lang="en-IN" dirty="0"/>
          </a:p>
          <a:p>
            <a:r>
              <a:rPr lang="en-IN" b="1" dirty="0"/>
              <a:t>Business Potential: The growing market allows us to create both profit and positive social and environmental impact.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2834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51E7C-FECA-267B-6C2B-44A2692A1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SDG 13: Targets &amp; Contribution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1B4B6-E0A9-3941-8E8A-5CD1C555B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SDG 13 Targets</a:t>
            </a:r>
            <a:endParaRPr lang="en-IN" dirty="0"/>
          </a:p>
          <a:p>
            <a:pPr lvl="1"/>
            <a:r>
              <a:rPr lang="en-IN" b="1" dirty="0"/>
              <a:t>Target 13.1: Strengthen resilience to climate hazards.</a:t>
            </a:r>
            <a:endParaRPr lang="en-IN" dirty="0"/>
          </a:p>
          <a:p>
            <a:pPr lvl="1"/>
            <a:r>
              <a:rPr lang="en-IN" b="1" dirty="0"/>
              <a:t>Target 13.2: Integrate climate change measures into policies.</a:t>
            </a:r>
            <a:endParaRPr lang="en-IN" dirty="0"/>
          </a:p>
          <a:p>
            <a:pPr lvl="1"/>
            <a:r>
              <a:rPr lang="en-IN" b="1" dirty="0"/>
              <a:t>Target 13.3: Improve education and awareness on climate change.</a:t>
            </a:r>
            <a:endParaRPr lang="en-IN" dirty="0"/>
          </a:p>
          <a:p>
            <a:pPr lvl="1"/>
            <a:r>
              <a:rPr lang="en-IN" b="1" dirty="0"/>
              <a:t>Target 13.a: Implement developed-country commitments to climate finance.</a:t>
            </a:r>
            <a:endParaRPr lang="en-IN" dirty="0"/>
          </a:p>
          <a:p>
            <a:pPr lvl="1"/>
            <a:r>
              <a:rPr lang="en-IN" b="1" dirty="0"/>
              <a:t>Target 13.b: Promote capacity for climate-related planning in developing countries.</a:t>
            </a:r>
            <a:endParaRPr lang="en-IN" dirty="0"/>
          </a:p>
          <a:p>
            <a:r>
              <a:rPr lang="en-IN" b="1" dirty="0"/>
              <a:t>Our Contribution Plan</a:t>
            </a:r>
            <a:endParaRPr lang="en-IN" dirty="0"/>
          </a:p>
          <a:p>
            <a:pPr lvl="1"/>
            <a:r>
              <a:rPr lang="en-IN" b="1" dirty="0"/>
              <a:t>Target 13.2:</a:t>
            </a:r>
            <a:endParaRPr lang="en-IN" dirty="0"/>
          </a:p>
          <a:p>
            <a:pPr lvl="2"/>
            <a:r>
              <a:rPr lang="en-IN" b="1" dirty="0"/>
              <a:t>Develop affordable rooftop solar kits for rural households.</a:t>
            </a:r>
            <a:endParaRPr lang="en-IN" dirty="0"/>
          </a:p>
          <a:p>
            <a:pPr lvl="2"/>
            <a:r>
              <a:rPr lang="en-IN" b="1" dirty="0"/>
              <a:t>Partner with state agencies to install solar tech in public buildings.</a:t>
            </a:r>
            <a:endParaRPr lang="en-IN" dirty="0"/>
          </a:p>
          <a:p>
            <a:pPr lvl="2"/>
            <a:r>
              <a:rPr lang="en-IN" b="1" dirty="0"/>
              <a:t>Advocate for policy incentives to accelerate solar adoption.</a:t>
            </a:r>
            <a:endParaRPr lang="en-IN" dirty="0"/>
          </a:p>
          <a:p>
            <a:pPr lvl="1"/>
            <a:r>
              <a:rPr lang="en-IN" b="1" dirty="0"/>
              <a:t>Target 13.3:</a:t>
            </a:r>
            <a:endParaRPr lang="en-IN" dirty="0"/>
          </a:p>
          <a:p>
            <a:pPr lvl="2"/>
            <a:r>
              <a:rPr lang="en-IN" b="1" dirty="0"/>
              <a:t>Launch a "Solar for Climate" awareness campaign in communities.</a:t>
            </a:r>
            <a:endParaRPr lang="en-IN" dirty="0"/>
          </a:p>
          <a:p>
            <a:pPr lvl="2"/>
            <a:r>
              <a:rPr lang="en-IN" b="1" dirty="0"/>
              <a:t>Create training programs for local youth to become certified solar technicians.</a:t>
            </a:r>
            <a:endParaRPr lang="en-IN" dirty="0"/>
          </a:p>
          <a:p>
            <a:pPr lvl="2"/>
            <a:r>
              <a:rPr lang="en-IN" b="1" dirty="0"/>
              <a:t>Build a mobile app to track a user's carbon footprint reduction.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8893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BD764-7738-7B69-2E03-EB056EA98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SolNova</a:t>
            </a:r>
            <a:r>
              <a:rPr lang="en-IN" b="1" dirty="0"/>
              <a:t> Energy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A0539-0C3A-7C55-2C72-91EB0652B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b="1" dirty="0"/>
              <a:t>Company Overview</a:t>
            </a:r>
          </a:p>
          <a:p>
            <a:pPr lvl="0"/>
            <a:r>
              <a:rPr lang="en-IN" b="1" dirty="0"/>
              <a:t>Name: </a:t>
            </a:r>
            <a:r>
              <a:rPr lang="en-IN" b="1" dirty="0" err="1"/>
              <a:t>SolNova</a:t>
            </a:r>
            <a:r>
              <a:rPr lang="en-IN" b="1" dirty="0"/>
              <a:t> Energy </a:t>
            </a:r>
            <a:r>
              <a:rPr lang="en-IN" b="1" dirty="0" err="1"/>
              <a:t>Pvt.</a:t>
            </a:r>
            <a:r>
              <a:rPr lang="en-IN" b="1" dirty="0"/>
              <a:t> Ltd.</a:t>
            </a:r>
          </a:p>
          <a:p>
            <a:pPr lvl="0"/>
            <a:r>
              <a:rPr lang="en-IN" b="1" dirty="0"/>
              <a:t>Founded: 2022</a:t>
            </a:r>
          </a:p>
          <a:p>
            <a:pPr lvl="0"/>
            <a:r>
              <a:rPr lang="en-IN" b="1" dirty="0"/>
              <a:t>Headquarters: Pune, India</a:t>
            </a:r>
          </a:p>
          <a:p>
            <a:pPr lvl="0"/>
            <a:r>
              <a:rPr lang="en-IN" b="1" dirty="0"/>
              <a:t>Business Scope:</a:t>
            </a:r>
          </a:p>
          <a:p>
            <a:pPr lvl="1"/>
            <a:r>
              <a:rPr lang="en-IN" b="1" dirty="0"/>
              <a:t>Manufacturing and installing solar panels.</a:t>
            </a:r>
          </a:p>
          <a:p>
            <a:pPr lvl="1"/>
            <a:r>
              <a:rPr lang="en-IN" b="1" dirty="0"/>
              <a:t>Providing solar-powered microgrid solutions.</a:t>
            </a:r>
          </a:p>
          <a:p>
            <a:pPr lvl="1"/>
            <a:r>
              <a:rPr lang="en-IN" b="1" dirty="0"/>
              <a:t>Offering consultancy for carbon footprint reduction.</a:t>
            </a:r>
          </a:p>
          <a:p>
            <a:pPr lvl="0"/>
            <a:r>
              <a:rPr lang="en-IN" b="1" dirty="0"/>
              <a:t>Goal: Make solar power affordable, accessible, and reliable to directly contribute to SDG 13.</a:t>
            </a:r>
          </a:p>
          <a:p>
            <a:r>
              <a:rPr lang="en-IN" b="1" dirty="0"/>
              <a:t>Logo Analysis</a:t>
            </a:r>
          </a:p>
          <a:p>
            <a:pPr lvl="0"/>
            <a:r>
              <a:rPr lang="en-IN" b="1" dirty="0"/>
              <a:t>Design: A stylized golden sun rising over a blue-green horizon, with rays forming a subtle infinity symbol.</a:t>
            </a:r>
          </a:p>
          <a:p>
            <a:pPr lvl="0"/>
            <a:r>
              <a:rPr lang="en-IN" b="1" dirty="0"/>
              <a:t>Meaning: Represents sustainability, endless renewable power, and optimism.</a:t>
            </a:r>
          </a:p>
          <a:p>
            <a:r>
              <a:rPr lang="en-US" b="1" dirty="0"/>
              <a:t>Color Palette</a:t>
            </a:r>
          </a:p>
          <a:p>
            <a:pPr lvl="1"/>
            <a:r>
              <a:rPr lang="en-US" b="1" dirty="0"/>
              <a:t>Sunburst Yellow (#f4b423): Represents energy, warmth, and the sun. </a:t>
            </a:r>
          </a:p>
          <a:p>
            <a:pPr lvl="1"/>
            <a:r>
              <a:rPr lang="en-US" b="1" dirty="0"/>
              <a:t>Ocean Teal (#256671): Symbolizes water, sustainability, and a calm horizon. </a:t>
            </a:r>
          </a:p>
          <a:p>
            <a:pPr lvl="1"/>
            <a:r>
              <a:rPr lang="en-US" b="1" dirty="0"/>
              <a:t>Deep Charcoal (#4b6d77): Used for the text, conveying a professional and grounded feel. </a:t>
            </a:r>
          </a:p>
          <a:p>
            <a:pPr lvl="1"/>
            <a:r>
              <a:rPr lang="en-US" b="1" dirty="0"/>
              <a:t>Pitch Black (#000000): The background, providing a sharp contrast and a modern look.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29937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340CA-5437-BCC4-26B1-744465D50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Mission, Vision, and Values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92232-E4EF-D295-6C6B-A48C78372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b="1" dirty="0"/>
              <a:t>Mission</a:t>
            </a:r>
            <a:endParaRPr lang="en-IN" dirty="0"/>
          </a:p>
          <a:p>
            <a:pPr lvl="1"/>
            <a:r>
              <a:rPr lang="en-IN" b="1" dirty="0"/>
              <a:t>"To empower communities and businesses with clean, affordable solar energy solutions, reducing carbon emissions and fostering a sustainable future."</a:t>
            </a:r>
            <a:endParaRPr lang="en-IN" dirty="0"/>
          </a:p>
          <a:p>
            <a:r>
              <a:rPr lang="en-IN" b="1" dirty="0"/>
              <a:t>Vision</a:t>
            </a:r>
            <a:endParaRPr lang="en-IN" dirty="0"/>
          </a:p>
          <a:p>
            <a:pPr lvl="1"/>
            <a:r>
              <a:rPr lang="en-IN" b="1" dirty="0"/>
              <a:t>"To be the leading force in making solar power the primary energy source in India, contributing significantly to a carbon-neutral world by 2040."</a:t>
            </a:r>
            <a:endParaRPr lang="en-IN" dirty="0"/>
          </a:p>
          <a:p>
            <a:r>
              <a:rPr lang="en-IN" b="1" dirty="0"/>
              <a:t>Core Values</a:t>
            </a:r>
            <a:endParaRPr lang="en-IN" dirty="0"/>
          </a:p>
          <a:p>
            <a:pPr lvl="1"/>
            <a:r>
              <a:rPr lang="en-IN" b="1" dirty="0"/>
              <a:t>Sustainability: Reducing environmental impact is at the core of every project.</a:t>
            </a:r>
            <a:endParaRPr lang="en-IN" dirty="0"/>
          </a:p>
          <a:p>
            <a:pPr lvl="1"/>
            <a:r>
              <a:rPr lang="en-IN" b="1" dirty="0"/>
              <a:t>Innovation: Continuous R&amp;D for more efficient and affordable solar solutions.</a:t>
            </a:r>
            <a:endParaRPr lang="en-IN" dirty="0"/>
          </a:p>
          <a:p>
            <a:pPr lvl="1"/>
            <a:r>
              <a:rPr lang="en-IN" b="1" dirty="0"/>
              <a:t>Accessibility: Bringing solar energy to even the most remote regions.</a:t>
            </a:r>
            <a:endParaRPr lang="en-IN" dirty="0"/>
          </a:p>
          <a:p>
            <a:pPr lvl="1"/>
            <a:r>
              <a:rPr lang="en-IN" b="1" dirty="0"/>
              <a:t>Integrity: Transparent operations with all stakeholders.</a:t>
            </a:r>
            <a:endParaRPr lang="en-IN" dirty="0"/>
          </a:p>
          <a:p>
            <a:pPr lvl="1"/>
            <a:r>
              <a:rPr lang="en-IN" b="1" dirty="0"/>
              <a:t>Collaboration: Partnering with stakeholders to amplify climate action.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0228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085B3-B0CE-F958-9FD3-FF87849B0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Stakeholders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5E8B7-ED74-1900-0D46-2BA4F964B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Internal Stakeholders</a:t>
            </a:r>
            <a:endParaRPr lang="en-IN" dirty="0"/>
          </a:p>
          <a:p>
            <a:pPr lvl="1"/>
            <a:r>
              <a:rPr lang="en-IN" b="1" dirty="0"/>
              <a:t>Founders &amp; Board of Directors</a:t>
            </a:r>
            <a:endParaRPr lang="en-IN" dirty="0"/>
          </a:p>
          <a:p>
            <a:pPr lvl="1"/>
            <a:r>
              <a:rPr lang="en-IN" b="1" dirty="0"/>
              <a:t>Employees (engineers, technicians, sales, admin)</a:t>
            </a:r>
            <a:endParaRPr lang="en-IN" dirty="0"/>
          </a:p>
          <a:p>
            <a:pPr lvl="1"/>
            <a:r>
              <a:rPr lang="en-IN" b="1" dirty="0"/>
              <a:t>R&amp;D Department</a:t>
            </a:r>
            <a:endParaRPr lang="en-IN" dirty="0"/>
          </a:p>
          <a:p>
            <a:pPr lvl="1"/>
            <a:r>
              <a:rPr lang="en-IN" b="1" dirty="0"/>
              <a:t>Operations Team</a:t>
            </a:r>
            <a:endParaRPr lang="en-IN" dirty="0"/>
          </a:p>
          <a:p>
            <a:pPr lvl="1"/>
            <a:r>
              <a:rPr lang="en-IN" b="1" dirty="0"/>
              <a:t>Finance &amp; Legal</a:t>
            </a:r>
            <a:endParaRPr lang="en-IN" dirty="0"/>
          </a:p>
          <a:p>
            <a:r>
              <a:rPr lang="en-IN" b="1" dirty="0"/>
              <a:t>External Stakeholders</a:t>
            </a:r>
            <a:endParaRPr lang="en-IN" dirty="0"/>
          </a:p>
          <a:p>
            <a:pPr lvl="1"/>
            <a:r>
              <a:rPr lang="en-IN" b="1" dirty="0"/>
              <a:t>Customers (households, businesses, rural communities)</a:t>
            </a:r>
            <a:endParaRPr lang="en-IN" dirty="0"/>
          </a:p>
          <a:p>
            <a:pPr lvl="1"/>
            <a:r>
              <a:rPr lang="en-IN" b="1" dirty="0"/>
              <a:t>Suppliers (photovoltaic cells, batteries)</a:t>
            </a:r>
            <a:endParaRPr lang="en-IN" dirty="0"/>
          </a:p>
          <a:p>
            <a:pPr lvl="1"/>
            <a:r>
              <a:rPr lang="en-IN" b="1" dirty="0"/>
              <a:t>Government &amp; Regulatory Bodies</a:t>
            </a:r>
            <a:endParaRPr lang="en-IN" dirty="0"/>
          </a:p>
          <a:p>
            <a:pPr lvl="1"/>
            <a:r>
              <a:rPr lang="en-IN" b="1" dirty="0"/>
              <a:t>NGOs &amp; Environmental Organizations</a:t>
            </a:r>
            <a:endParaRPr lang="en-IN" dirty="0"/>
          </a:p>
          <a:p>
            <a:pPr lvl="1"/>
            <a:r>
              <a:rPr lang="en-IN" b="1" dirty="0"/>
              <a:t>Investors</a:t>
            </a:r>
            <a:endParaRPr lang="en-IN" dirty="0"/>
          </a:p>
          <a:p>
            <a:pPr lvl="1"/>
            <a:r>
              <a:rPr lang="en-IN" b="1" dirty="0"/>
              <a:t>Local Communities</a:t>
            </a:r>
            <a:endParaRPr lang="en-IN" dirty="0"/>
          </a:p>
          <a:p>
            <a:pPr lvl="1"/>
            <a:r>
              <a:rPr lang="en-IN" b="1" dirty="0"/>
              <a:t>Educational Institutions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2455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D1CD1-C80E-BE0A-4974-F4FE7459A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References 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6BD22-6880-1163-AF1D-7BD40E2D8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5485"/>
            <a:ext cx="10515600" cy="4951478"/>
          </a:xfrm>
        </p:spPr>
        <p:txBody>
          <a:bodyPr>
            <a:noAutofit/>
          </a:bodyPr>
          <a:lstStyle/>
          <a:p>
            <a:r>
              <a:rPr lang="en-IN" sz="2000" b="1" dirty="0"/>
              <a:t>GDP and Economic Contribution:</a:t>
            </a:r>
            <a:endParaRPr lang="en-IN" sz="2000" dirty="0"/>
          </a:p>
          <a:p>
            <a:pPr lvl="1"/>
            <a:r>
              <a:rPr lang="en-IN" sz="1600" b="1" dirty="0"/>
              <a:t>The Guardian. (n.d.). </a:t>
            </a:r>
            <a:r>
              <a:rPr lang="en-IN" sz="1600" b="1" i="1" dirty="0"/>
              <a:t>Solar and wind generation together accounted for nearly 7% of global electricity generation in 2024</a:t>
            </a:r>
            <a:r>
              <a:rPr lang="en-IN" sz="1600" b="1" dirty="0"/>
              <a:t>. </a:t>
            </a:r>
            <a:endParaRPr lang="en-IN" sz="1600" dirty="0"/>
          </a:p>
          <a:p>
            <a:r>
              <a:rPr lang="en-IN" sz="2000" b="1" dirty="0"/>
              <a:t>Growth Rates &amp; Market Size:</a:t>
            </a:r>
            <a:endParaRPr lang="en-IN" sz="2000" dirty="0"/>
          </a:p>
          <a:p>
            <a:pPr lvl="1"/>
            <a:r>
              <a:rPr lang="en-IN" sz="1600" b="1" dirty="0"/>
              <a:t>Fortune Business Insights. (n.d.). </a:t>
            </a:r>
            <a:r>
              <a:rPr lang="en-IN" sz="1600" b="1" i="1" dirty="0"/>
              <a:t>Solar power market size, share &amp; COVID-19 impact analysis</a:t>
            </a:r>
            <a:r>
              <a:rPr lang="en-IN" sz="1600" b="1" dirty="0"/>
              <a:t>. </a:t>
            </a:r>
            <a:endParaRPr lang="en-IN" sz="1600" dirty="0"/>
          </a:p>
          <a:p>
            <a:pPr lvl="1"/>
            <a:r>
              <a:rPr lang="en-IN" sz="1600" b="1" dirty="0"/>
              <a:t>Grand View Research. (n.d.). </a:t>
            </a:r>
            <a:r>
              <a:rPr lang="en-IN" sz="1600" b="1" i="1" dirty="0"/>
              <a:t>Solar energy systems market size, share &amp; trends analysis report</a:t>
            </a:r>
            <a:r>
              <a:rPr lang="en-IN" sz="1600" b="1" dirty="0"/>
              <a:t>. </a:t>
            </a:r>
            <a:endParaRPr lang="en-IN" sz="1600" dirty="0"/>
          </a:p>
          <a:p>
            <a:pPr lvl="1"/>
            <a:r>
              <a:rPr lang="en-IN" sz="1600" b="1" dirty="0"/>
              <a:t>IBISWorld. (n.d.). </a:t>
            </a:r>
            <a:r>
              <a:rPr lang="en-IN" sz="1600" b="1" i="1" dirty="0"/>
              <a:t>Solar energy production in the US</a:t>
            </a:r>
            <a:r>
              <a:rPr lang="en-IN" sz="1600" b="1" dirty="0"/>
              <a:t>. </a:t>
            </a:r>
            <a:endParaRPr lang="en-IN" sz="1600" dirty="0"/>
          </a:p>
          <a:p>
            <a:pPr lvl="1"/>
            <a:r>
              <a:rPr lang="en-IN" sz="1600" b="1" dirty="0" err="1"/>
              <a:t>SolarPower</a:t>
            </a:r>
            <a:r>
              <a:rPr lang="en-IN" sz="1600" b="1" dirty="0"/>
              <a:t> Europe. (n.d.). </a:t>
            </a:r>
            <a:r>
              <a:rPr lang="en-IN" sz="1600" b="1" i="1" dirty="0"/>
              <a:t>Global solar market outlook 2024-2028</a:t>
            </a:r>
            <a:r>
              <a:rPr lang="en-IN" sz="1600" b="1" dirty="0"/>
              <a:t>. </a:t>
            </a:r>
            <a:endParaRPr lang="en-IN" sz="1600" dirty="0"/>
          </a:p>
          <a:p>
            <a:r>
              <a:rPr lang="en-IN" sz="2000" b="1" dirty="0"/>
              <a:t>Key Players &amp; Market Share:</a:t>
            </a:r>
            <a:endParaRPr lang="en-IN" sz="2000" dirty="0"/>
          </a:p>
          <a:p>
            <a:pPr lvl="1"/>
            <a:r>
              <a:rPr lang="en-IN" sz="1600" b="1" dirty="0"/>
              <a:t>Wikipedia. (n.d.). </a:t>
            </a:r>
            <a:r>
              <a:rPr lang="en-IN" sz="1600" b="1" i="1" dirty="0"/>
              <a:t>Jinko Solar</a:t>
            </a:r>
            <a:r>
              <a:rPr lang="en-IN" sz="1600" b="1" dirty="0"/>
              <a:t>. </a:t>
            </a:r>
          </a:p>
          <a:p>
            <a:pPr lvl="1"/>
            <a:r>
              <a:rPr lang="en-IN" sz="1600" b="1" dirty="0"/>
              <a:t>Wikipedia. (n.d.). </a:t>
            </a:r>
            <a:r>
              <a:rPr lang="en-IN" sz="1600" b="1" i="1" dirty="0"/>
              <a:t>JA Solar</a:t>
            </a:r>
            <a:r>
              <a:rPr lang="en-IN" sz="1600" b="1" dirty="0"/>
              <a:t>. </a:t>
            </a:r>
          </a:p>
          <a:p>
            <a:pPr lvl="1"/>
            <a:r>
              <a:rPr lang="en-IN" sz="1600" b="1" dirty="0"/>
              <a:t>Reuters. (n.d.). </a:t>
            </a:r>
            <a:r>
              <a:rPr lang="en-IN" sz="1600" b="1" i="1" dirty="0"/>
              <a:t>First Solar projects 2025 sales of $4.9–5.7 billion</a:t>
            </a:r>
            <a:r>
              <a:rPr lang="en-IN" sz="1600" b="1" dirty="0"/>
              <a:t>. </a:t>
            </a:r>
            <a:endParaRPr lang="en-IN" sz="1600" dirty="0"/>
          </a:p>
          <a:p>
            <a:pPr lvl="1"/>
            <a:r>
              <a:rPr lang="en-IN" sz="1600" b="1" dirty="0"/>
              <a:t>Wikipedia. (n.d.). </a:t>
            </a:r>
            <a:r>
              <a:rPr lang="en-IN" sz="1600" b="1" i="1" dirty="0"/>
              <a:t>Vikram Solar</a:t>
            </a:r>
            <a:r>
              <a:rPr lang="en-IN" sz="1600" b="1" dirty="0"/>
              <a:t>. </a:t>
            </a:r>
            <a:endParaRPr lang="en-IN" sz="1600" dirty="0"/>
          </a:p>
          <a:p>
            <a:pPr lvl="1"/>
            <a:r>
              <a:rPr lang="en-IN" sz="1600" b="1" dirty="0"/>
              <a:t>Trade.gov. (n.d.). </a:t>
            </a:r>
            <a:r>
              <a:rPr lang="en-IN" sz="1600" b="1" i="1" dirty="0"/>
              <a:t>India: Renewable energy</a:t>
            </a:r>
            <a:r>
              <a:rPr lang="en-IN" sz="1600" b="1" dirty="0"/>
              <a:t>.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769499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B0CC8-FCDA-0131-0436-28546FA8C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25849-A270-F050-F677-5D3B5AFF3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4338"/>
            <a:ext cx="10515600" cy="5448693"/>
          </a:xfrm>
        </p:spPr>
        <p:txBody>
          <a:bodyPr>
            <a:noAutofit/>
          </a:bodyPr>
          <a:lstStyle/>
          <a:p>
            <a:r>
              <a:rPr lang="en-IN" sz="1400" b="1" dirty="0"/>
              <a:t>UN SDG 13:</a:t>
            </a:r>
            <a:endParaRPr lang="en-IN" sz="1400" dirty="0"/>
          </a:p>
          <a:p>
            <a:pPr lvl="1"/>
            <a:r>
              <a:rPr lang="en-IN" sz="1400" b="1" dirty="0"/>
              <a:t>United Nations Development Programme (UNDP). (n.d.). </a:t>
            </a:r>
            <a:r>
              <a:rPr lang="en-IN" sz="1400" b="1" i="1" dirty="0"/>
              <a:t>Sustainable Development Goals</a:t>
            </a:r>
            <a:r>
              <a:rPr lang="en-IN" sz="1400" b="1" dirty="0"/>
              <a:t>. Retrieved from </a:t>
            </a:r>
            <a:r>
              <a:rPr lang="en-IN" sz="1400" b="1" u="sng" dirty="0">
                <a:hlinkClick r:id="rId2"/>
              </a:rPr>
              <a:t>https://www.undp.org/sustainable-development-goals</a:t>
            </a:r>
            <a:endParaRPr lang="en-IN" sz="1400" dirty="0"/>
          </a:p>
          <a:p>
            <a:pPr lvl="1"/>
            <a:r>
              <a:rPr lang="en-IN" sz="1400" b="1" dirty="0"/>
              <a:t>Wikipedia. (n.d.). </a:t>
            </a:r>
            <a:r>
              <a:rPr lang="en-IN" sz="1400" b="1" i="1" dirty="0"/>
              <a:t>Sustainable Development Goal 13</a:t>
            </a:r>
            <a:r>
              <a:rPr lang="en-IN" sz="1400" b="1" dirty="0"/>
              <a:t>. Retrieved from </a:t>
            </a:r>
            <a:r>
              <a:rPr lang="en-IN" sz="1400" b="1" u="sng" dirty="0">
                <a:hlinkClick r:id="rId3"/>
              </a:rPr>
              <a:t>https://en.wikipedia.org/wiki/Sustainable_Development_Goal_13</a:t>
            </a:r>
            <a:endParaRPr lang="en-IN" sz="1400" dirty="0"/>
          </a:p>
          <a:p>
            <a:pPr lvl="1"/>
            <a:r>
              <a:rPr lang="en-IN" sz="1400" b="1" dirty="0"/>
              <a:t>United Nations. (n.d.). </a:t>
            </a:r>
            <a:r>
              <a:rPr lang="en-IN" sz="1400" b="1" i="1" dirty="0"/>
              <a:t>Goal 13: Take urgent action to combat climate change and its impacts</a:t>
            </a:r>
            <a:r>
              <a:rPr lang="en-IN" sz="1400" b="1" dirty="0"/>
              <a:t>. Retrieved from </a:t>
            </a:r>
            <a:r>
              <a:rPr lang="en-IN" sz="1400" b="1" u="sng" dirty="0">
                <a:hlinkClick r:id="rId4"/>
              </a:rPr>
              <a:t>https://sdgs.un.org/goals/goal13#targets_and_indicators</a:t>
            </a:r>
            <a:endParaRPr lang="en-IN" sz="1400" dirty="0"/>
          </a:p>
          <a:p>
            <a:r>
              <a:rPr lang="en-IN" sz="1400" b="1" dirty="0"/>
              <a:t>PESTLE Analysis:</a:t>
            </a:r>
            <a:endParaRPr lang="en-IN" sz="1400" dirty="0"/>
          </a:p>
          <a:p>
            <a:pPr lvl="1"/>
            <a:r>
              <a:rPr lang="en-IN" sz="1400" b="1" dirty="0"/>
              <a:t>DCF </a:t>
            </a:r>
            <a:r>
              <a:rPr lang="en-IN" sz="1400" b="1" dirty="0" err="1"/>
              <a:t>Modeling</a:t>
            </a:r>
            <a:r>
              <a:rPr lang="en-IN" sz="1400" b="1" dirty="0"/>
              <a:t>. (n.d.). </a:t>
            </a:r>
            <a:r>
              <a:rPr lang="en-IN" sz="1400" b="1" i="1" dirty="0"/>
              <a:t>Solar industry PESTEL analysis</a:t>
            </a:r>
            <a:r>
              <a:rPr lang="en-IN" sz="1400" b="1" dirty="0"/>
              <a:t>. Retrieved from </a:t>
            </a:r>
            <a:r>
              <a:rPr lang="en-IN" sz="1400" b="1" u="sng" dirty="0">
                <a:hlinkClick r:id="rId5"/>
              </a:rPr>
              <a:t>https://dcfmodeling.com/products/solarindsns-pestel-analysis</a:t>
            </a:r>
            <a:endParaRPr lang="en-IN" sz="1400" dirty="0"/>
          </a:p>
          <a:p>
            <a:pPr lvl="1"/>
            <a:r>
              <a:rPr lang="en-IN" sz="1400" b="1" dirty="0"/>
              <a:t>Frontiers in Sustainability. (2022). </a:t>
            </a:r>
            <a:r>
              <a:rPr lang="en-IN" sz="1400" b="1" i="1" dirty="0"/>
              <a:t>A PESTEL analysis of India's renewable energy sector</a:t>
            </a:r>
            <a:r>
              <a:rPr lang="en-IN" sz="1400" b="1" dirty="0"/>
              <a:t>. Retrieved from </a:t>
            </a:r>
            <a:r>
              <a:rPr lang="en-IN" sz="1400" b="1" u="sng" dirty="0">
                <a:hlinkClick r:id="rId6"/>
              </a:rPr>
              <a:t>https://www.frontiersin.org/journals/sustainability/articles/10.3389/frsus.2022.990173/full</a:t>
            </a:r>
            <a:endParaRPr lang="en-IN" sz="1400" dirty="0"/>
          </a:p>
          <a:p>
            <a:r>
              <a:rPr lang="en-IN" sz="1400" b="1" dirty="0"/>
              <a:t>India's Commitments:</a:t>
            </a:r>
            <a:endParaRPr lang="en-IN" sz="1400" dirty="0"/>
          </a:p>
          <a:p>
            <a:pPr lvl="1"/>
            <a:r>
              <a:rPr lang="en-IN" sz="1400" b="1" dirty="0"/>
              <a:t>Press Information Bureau (PIB), Government of India. (n.d.). </a:t>
            </a:r>
            <a:r>
              <a:rPr lang="en-IN" sz="1400" b="1" i="1" dirty="0"/>
              <a:t>India's updated NDC to be submitted to UNFCCC</a:t>
            </a:r>
            <a:r>
              <a:rPr lang="en-IN" sz="1400" b="1" dirty="0"/>
              <a:t>. Retrieved from </a:t>
            </a:r>
            <a:r>
              <a:rPr lang="en-IN" sz="1400" b="1" u="sng" dirty="0">
                <a:hlinkClick r:id="rId7"/>
              </a:rPr>
              <a:t>https://www.pib.gov.in/PressReleaseIframePage.aspx?PRID=1961797</a:t>
            </a:r>
            <a:endParaRPr lang="en-IN" sz="1400" dirty="0"/>
          </a:p>
          <a:p>
            <a:r>
              <a:rPr lang="en-IN" sz="1400" b="1" dirty="0"/>
              <a:t>Sectoral Classification &amp; Scope of Industry:</a:t>
            </a:r>
            <a:endParaRPr lang="en-IN" sz="1400" dirty="0"/>
          </a:p>
          <a:p>
            <a:pPr lvl="1"/>
            <a:r>
              <a:rPr lang="en-IN" sz="1400" b="1" dirty="0" err="1"/>
              <a:t>MyScheme</a:t>
            </a:r>
            <a:r>
              <a:rPr lang="en-IN" sz="1400" b="1" dirty="0"/>
              <a:t>. (n.d.). </a:t>
            </a:r>
            <a:r>
              <a:rPr lang="en-IN" sz="1400" b="1" i="1" dirty="0"/>
              <a:t>PM Surya Ghar </a:t>
            </a:r>
            <a:r>
              <a:rPr lang="en-IN" sz="1400" b="1" i="1" dirty="0" err="1"/>
              <a:t>Muft</a:t>
            </a:r>
            <a:r>
              <a:rPr lang="en-IN" sz="1400" b="1" i="1" dirty="0"/>
              <a:t> Bijli Yojana</a:t>
            </a:r>
            <a:r>
              <a:rPr lang="en-IN" sz="1400" b="1" dirty="0"/>
              <a:t>. Retrieved from </a:t>
            </a:r>
            <a:r>
              <a:rPr lang="en-IN" sz="1400" b="1" u="sng" dirty="0">
                <a:hlinkClick r:id="rId8"/>
              </a:rPr>
              <a:t>https://www.myscheme.gov.in/schemes/pmsgmb</a:t>
            </a:r>
            <a:endParaRPr lang="en-IN" sz="1400" dirty="0"/>
          </a:p>
          <a:p>
            <a:pPr lvl="1"/>
            <a:r>
              <a:rPr lang="en-IN" sz="1400" b="1" dirty="0"/>
              <a:t>Ministry of New and Renewable Energy (MNRE). (n.d.). </a:t>
            </a:r>
            <a:r>
              <a:rPr lang="en-IN" sz="1400" b="1" i="1" dirty="0"/>
              <a:t>Solar off-grid programme</a:t>
            </a:r>
            <a:r>
              <a:rPr lang="en-IN" sz="1400" b="1" dirty="0"/>
              <a:t>. Retrieved from </a:t>
            </a:r>
            <a:r>
              <a:rPr lang="en-IN" sz="1400" b="1" u="sng" dirty="0">
                <a:hlinkClick r:id="rId9"/>
              </a:rPr>
              <a:t>https://mnre.gov.in/en/solar-off-grid/</a:t>
            </a:r>
            <a:endParaRPr lang="en-IN" sz="1400" dirty="0"/>
          </a:p>
          <a:p>
            <a:pPr lvl="1"/>
            <a:r>
              <a:rPr lang="en-IN" sz="1400" b="1" dirty="0"/>
              <a:t>Ministry of New and Renewable Energy (MNRE). (n.d.). </a:t>
            </a:r>
            <a:r>
              <a:rPr lang="en-IN" sz="1400" b="1" i="1" dirty="0"/>
              <a:t>Solar Park Scheme</a:t>
            </a:r>
            <a:r>
              <a:rPr lang="en-IN" sz="1400" b="1" dirty="0"/>
              <a:t>. Retrieved from </a:t>
            </a:r>
            <a:r>
              <a:rPr lang="en-IN" sz="1400" b="1" u="sng" dirty="0">
                <a:hlinkClick r:id="rId10"/>
              </a:rPr>
              <a:t>https://cdnbbsr.s3waas.gov.in/s3716e1b8c6cd17b771da77391355749f3/uploads/2024/10/20241014958242917.pdf</a:t>
            </a:r>
            <a:endParaRPr lang="en-IN" sz="1400" dirty="0"/>
          </a:p>
          <a:p>
            <a:endParaRPr lang="en-IN" sz="1400" dirty="0"/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597825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67D50F776ECA4AB40CD477C378130B" ma:contentTypeVersion="1" ma:contentTypeDescription="Create a new document." ma:contentTypeScope="" ma:versionID="dbc81d5b5819d7be908059da21f3f5c9">
  <xsd:schema xmlns:xsd="http://www.w3.org/2001/XMLSchema" xmlns:xs="http://www.w3.org/2001/XMLSchema" xmlns:p="http://schemas.microsoft.com/office/2006/metadata/properties" xmlns:ns3="b7b3611a-371e-4752-8c4c-567b661f73f2" targetNamespace="http://schemas.microsoft.com/office/2006/metadata/properties" ma:root="true" ma:fieldsID="6a9b7924c658832c22a940794d5618cc" ns3:_="">
    <xsd:import namespace="b7b3611a-371e-4752-8c4c-567b661f73f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b3611a-371e-4752-8c4c-567b661f73f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542702D-F61F-4CF3-B84A-FCE3DDB68B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7b3611a-371e-4752-8c4c-567b661f73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8261EC4-A90D-4EB4-930A-7C903552AE8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9B5C39-5689-443C-B779-E5F6262FDCB0}">
  <ds:schemaRefs>
    <ds:schemaRef ds:uri="http://purl.org/dc/dcmitype/"/>
    <ds:schemaRef ds:uri="http://schemas.microsoft.com/office/infopath/2007/PartnerControls"/>
    <ds:schemaRef ds:uri="http://purl.org/dc/terms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b7b3611a-371e-4752-8c4c-567b661f73f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1537</Words>
  <Application>Microsoft Office PowerPoint</Application>
  <PresentationFormat>Widescreen</PresentationFormat>
  <Paragraphs>132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SolNova Energy Pvt. Ltd.</vt:lpstr>
      <vt:lpstr>Industry Analysis: Rationale &amp; Classification</vt:lpstr>
      <vt:lpstr>Industry Analysis: Scope &amp; Growth</vt:lpstr>
      <vt:lpstr>Industry Analysis: Competitive Landscape &amp; PESTEL</vt:lpstr>
      <vt:lpstr>UN SDG Overview </vt:lpstr>
      <vt:lpstr>SDG 13: Targets &amp; Contribution </vt:lpstr>
      <vt:lpstr>SolNova Energy</vt:lpstr>
      <vt:lpstr>Mission, Vision, and Values</vt:lpstr>
      <vt:lpstr>Stakeholders</vt:lpstr>
      <vt:lpstr>References  </vt:lpstr>
      <vt:lpstr>References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GHOSH</dc:creator>
  <cp:lastModifiedBy>ROHIT GHOSH</cp:lastModifiedBy>
  <cp:revision>2</cp:revision>
  <dcterms:created xsi:type="dcterms:W3CDTF">2025-08-14T06:27:38Z</dcterms:created>
  <dcterms:modified xsi:type="dcterms:W3CDTF">2025-08-14T06:57:59Z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0x0101007867D50F776ECA4AB40CD477C378130B</vt:lpwstr>
  </property>
</Properties>
</file>