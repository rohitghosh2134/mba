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Lato" panose="020F0502020204030203" pitchFamily="34" charset="0"/>
      <p:regular r:id="rId12"/>
      <p:bold r:id="rId13"/>
      <p:italic r:id="rId14"/>
      <p:boldItalic r:id="rId15"/>
    </p:embeddedFont>
    <p:embeddedFont>
      <p:font typeface="Merriweather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6707CB9-48FD-47D1-B854-F7EFAAA520BE}">
  <a:tblStyle styleId="{96707CB9-48FD-47D1-B854-F7EFAAA520B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62000" y="1135287"/>
            <a:ext cx="7931100" cy="23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ABC Shipyard: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 Facility Layout &amp; Process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 Improvement Case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768675" y="3589625"/>
            <a:ext cx="4315800" cy="3767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Submitted by: </a:t>
            </a:r>
            <a:endParaRPr sz="1700" b="0" i="0" u="none" strike="noStrike" cap="none" dirty="0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ROHIT GHOSH MBA25084</a:t>
            </a:r>
            <a:endParaRPr sz="1700" dirty="0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ANISH DEY MBA25058</a:t>
            </a:r>
            <a:endParaRPr sz="1700" dirty="0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NAMAN SRIVASTAV MBATM25014</a:t>
            </a:r>
            <a:endParaRPr sz="1700" dirty="0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SHREYA YADAV MBA25090</a:t>
            </a:r>
            <a:endParaRPr sz="1700" dirty="0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ABHISHEK JOSHI MBA25051</a:t>
            </a:r>
            <a:endParaRPr sz="1700" dirty="0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YOGANSHI MBA25096</a:t>
            </a:r>
            <a:endParaRPr sz="1700" dirty="0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SHASHANK KURNAL MBA25226</a:t>
            </a:r>
            <a:endParaRPr sz="1700" dirty="0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91400" y="2043112"/>
            <a:ext cx="42291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788122"/>
            <a:ext cx="634365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What is Facility Layout?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2149822"/>
            <a:ext cx="666083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A580C"/>
                </a:solidFill>
                <a:latin typeface="Merriweather"/>
                <a:ea typeface="Merriweather"/>
                <a:cs typeface="Merriweather"/>
                <a:sym typeface="Merriweather"/>
              </a:rPr>
              <a:t>Definition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2683222"/>
            <a:ext cx="63436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Facility layout refers to the arrangement of physical facilities and resources such as machines, shops, equipment, and storage areas within a manufacturing system.</a:t>
            </a:r>
            <a:endParaRPr/>
          </a:p>
        </p:txBody>
      </p:sp>
      <p:pic>
        <p:nvPicPr>
          <p:cNvPr id="98" name="Google Shape;9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91400" y="2043112"/>
            <a:ext cx="42291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809625" y="4169122"/>
            <a:ext cx="59150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1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Goal:</a:t>
            </a:r>
            <a:r>
              <a:rPr lang="en-US" sz="1500" b="0" i="1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Ensure efficient material flow, minimal handling cost, high throughput, and production flexibility.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57425"/>
            <a:ext cx="5286375" cy="338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257425"/>
            <a:ext cx="5286375" cy="3381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Layout Types &amp; Selection Factors</a:t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914400" y="2600325"/>
            <a:ext cx="4830603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A580C"/>
                </a:solidFill>
                <a:latin typeface="Merriweather"/>
                <a:ea typeface="Merriweather"/>
                <a:cs typeface="Merriweather"/>
                <a:sym typeface="Merriweather"/>
              </a:rPr>
              <a:t>Types of Layout</a:t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914400" y="3038475"/>
            <a:ext cx="460057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6677025" y="2600325"/>
            <a:ext cx="4830603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A580C"/>
                </a:solidFill>
                <a:latin typeface="Merriweather"/>
                <a:ea typeface="Merriweather"/>
                <a:cs typeface="Merriweather"/>
                <a:sym typeface="Merriweather"/>
              </a:rPr>
              <a:t>Determining Factors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6677025" y="3038475"/>
            <a:ext cx="460057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4400" y="2638425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1034176" y="332689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15" name="Google Shape;115;p15"/>
          <p:cNvSpPr txBox="1"/>
          <p:nvPr/>
        </p:nvSpPr>
        <p:spPr>
          <a:xfrm>
            <a:off x="1152525" y="3238500"/>
            <a:ext cx="4362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Process-oriented: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Functional layout (grouping similar machines).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1034176" y="403288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17" name="Google Shape;117;p15"/>
          <p:cNvSpPr txBox="1"/>
          <p:nvPr/>
        </p:nvSpPr>
        <p:spPr>
          <a:xfrm>
            <a:off x="1152525" y="3943350"/>
            <a:ext cx="4362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Product-oriented: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Line or continuous flow.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1034176" y="44386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19" name="Google Shape;119;p15"/>
          <p:cNvSpPr txBox="1"/>
          <p:nvPr/>
        </p:nvSpPr>
        <p:spPr>
          <a:xfrm>
            <a:off x="1152525" y="4343400"/>
            <a:ext cx="4362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Fixed-position: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Product stays, resources come to it.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038225" y="49911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21" name="Google Shape;121;p15"/>
          <p:cNvSpPr txBox="1"/>
          <p:nvPr/>
        </p:nvSpPr>
        <p:spPr>
          <a:xfrm>
            <a:off x="1148476" y="4911852"/>
            <a:ext cx="4362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Cellular / Hybrid: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Combination for flexibility.</a:t>
            </a:r>
            <a:endParaRPr dirty="0"/>
          </a:p>
        </p:txBody>
      </p:sp>
      <p:pic>
        <p:nvPicPr>
          <p:cNvPr id="122" name="Google Shape;12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77025" y="263842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6800850" y="3339846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24" name="Google Shape;124;p15"/>
          <p:cNvSpPr txBox="1"/>
          <p:nvPr/>
        </p:nvSpPr>
        <p:spPr>
          <a:xfrm>
            <a:off x="6915150" y="3238500"/>
            <a:ext cx="4362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Volume and variety of production.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800850" y="3730371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26" name="Google Shape;126;p15"/>
          <p:cNvSpPr txBox="1"/>
          <p:nvPr/>
        </p:nvSpPr>
        <p:spPr>
          <a:xfrm>
            <a:off x="6915150" y="3638550"/>
            <a:ext cx="4362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Flow and movement of materials.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800850" y="412699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28" name="Google Shape;128;p15"/>
          <p:cNvSpPr txBox="1"/>
          <p:nvPr/>
        </p:nvSpPr>
        <p:spPr>
          <a:xfrm>
            <a:off x="6915150" y="4038600"/>
            <a:ext cx="4362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Space and handling constraints.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6800850" y="45339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30" name="Google Shape;130;p15"/>
          <p:cNvSpPr txBox="1"/>
          <p:nvPr/>
        </p:nvSpPr>
        <p:spPr>
          <a:xfrm>
            <a:off x="6915150" y="4438650"/>
            <a:ext cx="4362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Cost and investments required.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6810375" y="492709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32" name="Google Shape;132;p15"/>
          <p:cNvSpPr txBox="1"/>
          <p:nvPr/>
        </p:nvSpPr>
        <p:spPr>
          <a:xfrm>
            <a:off x="6915150" y="4838700"/>
            <a:ext cx="4362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Technology and labor intensity.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Layout Types Identified in ABC Shipyard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0" name="Google Shape;140;p16"/>
          <p:cNvGraphicFramePr/>
          <p:nvPr/>
        </p:nvGraphicFramePr>
        <p:xfrm>
          <a:off x="571500" y="1900237"/>
          <a:ext cx="11049000" cy="3409925"/>
        </p:xfrm>
        <a:graphic>
          <a:graphicData uri="http://schemas.openxmlformats.org/drawingml/2006/table">
            <a:tbl>
              <a:tblPr firstRow="1" bandRow="1">
                <a:noFill/>
                <a:tableStyleId>{96707CB9-48FD-47D1-B854-F7EFAAA520BE}</a:tableStyleId>
              </a:tblPr>
              <a:tblGrid>
                <a:gridCol w="605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52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Shop / Area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Type of Layout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2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Steel Shop, Pipe Shop, Paint Shop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Process-focused Layout</a:t>
                      </a:r>
                      <a:br>
                        <a:rPr lang="en-US" sz="18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1500" b="0" i="0" u="none" strike="noStrike" cap="none">
                          <a:solidFill>
                            <a:srgbClr val="64748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(Functional grouping)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2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Block Erection Area, Docks, Quay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Fixed-position Layout</a:t>
                      </a:r>
                      <a:br>
                        <a:rPr lang="en-US" sz="18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1500" b="0" i="0" u="none" strike="noStrike" cap="none">
                          <a:solidFill>
                            <a:srgbClr val="64748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(Large scale assembly)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2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Proposed Flat &amp; Curved Plate Cells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Product-oriented / Cellular</a:t>
                      </a:r>
                      <a:br>
                        <a:rPr lang="en-US" sz="18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1500" b="0" i="0" u="none" strike="noStrike" cap="none">
                          <a:solidFill>
                            <a:srgbClr val="64748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(Streamlined flow)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1" name="Google Shape;141;p16"/>
          <p:cNvSpPr/>
          <p:nvPr/>
        </p:nvSpPr>
        <p:spPr>
          <a:xfrm>
            <a:off x="571500" y="3457575"/>
            <a:ext cx="60596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6631185" y="3457575"/>
            <a:ext cx="49893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571500" y="4381500"/>
            <a:ext cx="60596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6631185" y="4381500"/>
            <a:ext cx="49893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510212"/>
            <a:ext cx="11049000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824037"/>
            <a:ext cx="5286375" cy="34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1824037"/>
            <a:ext cx="5286375" cy="349567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Impact of Product-Oriented Layout &amp; TOC</a:t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3209925" y="5700712"/>
            <a:ext cx="9906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TOC Principle: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914400" y="2166937"/>
            <a:ext cx="4830603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A580C"/>
                </a:solidFill>
                <a:latin typeface="Merriweather"/>
                <a:ea typeface="Merriweather"/>
                <a:cs typeface="Merriweather"/>
                <a:sym typeface="Merriweather"/>
              </a:rPr>
              <a:t>Impact on WIP</a:t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914400" y="2605087"/>
            <a:ext cx="460057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6677025" y="2166937"/>
            <a:ext cx="4830603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A580C"/>
                </a:solidFill>
                <a:latin typeface="Merriweather"/>
                <a:ea typeface="Merriweather"/>
                <a:cs typeface="Merriweather"/>
                <a:sym typeface="Merriweather"/>
              </a:rPr>
              <a:t>Impact on Throughput</a:t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6677025" y="2605087"/>
            <a:ext cx="460057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4400" y="2205037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1038225" y="289598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62" name="Google Shape;162;p17"/>
          <p:cNvSpPr txBox="1"/>
          <p:nvPr/>
        </p:nvSpPr>
        <p:spPr>
          <a:xfrm>
            <a:off x="1152525" y="2805112"/>
            <a:ext cx="4362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Better synchronization reduces WIP accumulation.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1054608" y="3307556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64" name="Google Shape;164;p17"/>
          <p:cNvSpPr txBox="1"/>
          <p:nvPr/>
        </p:nvSpPr>
        <p:spPr>
          <a:xfrm>
            <a:off x="1152525" y="3205162"/>
            <a:ext cx="4362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Prevents blocking and waiting due to missing plate types.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1038225" y="40052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66" name="Google Shape;166;p17"/>
          <p:cNvSpPr txBox="1"/>
          <p:nvPr/>
        </p:nvSpPr>
        <p:spPr>
          <a:xfrm>
            <a:off x="1152525" y="3910012"/>
            <a:ext cx="4362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Resolves semi-finished blocks congestion on the floor.</a:t>
            </a:r>
            <a:endParaRPr/>
          </a:p>
        </p:txBody>
      </p:sp>
      <p:pic>
        <p:nvPicPr>
          <p:cNvPr id="167" name="Google Shape;167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77025" y="2205037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 txBox="1"/>
          <p:nvPr/>
        </p:nvSpPr>
        <p:spPr>
          <a:xfrm>
            <a:off x="6809994" y="290645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69" name="Google Shape;169;p17"/>
          <p:cNvSpPr txBox="1"/>
          <p:nvPr/>
        </p:nvSpPr>
        <p:spPr>
          <a:xfrm>
            <a:off x="6915150" y="2805112"/>
            <a:ext cx="4362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Maximizes utilization of the constrained resource (Block Erection Area).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6809994" y="3595689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71" name="Google Shape;171;p17"/>
          <p:cNvSpPr txBox="1"/>
          <p:nvPr/>
        </p:nvSpPr>
        <p:spPr>
          <a:xfrm>
            <a:off x="6915150" y="3509962"/>
            <a:ext cx="4362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Ensures faster block completion and linear material flow.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6809994" y="43100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73" name="Google Shape;173;p17"/>
          <p:cNvSpPr txBox="1"/>
          <p:nvPr/>
        </p:nvSpPr>
        <p:spPr>
          <a:xfrm>
            <a:off x="6915150" y="4214812"/>
            <a:ext cx="4362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Reduces overall cycle time &amp; increases ship delivery rate.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0858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What is an REL Chart?</a:t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571500" y="1852612"/>
            <a:ext cx="666083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A580C"/>
                </a:solidFill>
                <a:latin typeface="Merriweather"/>
                <a:ea typeface="Merriweather"/>
                <a:cs typeface="Merriweather"/>
                <a:sym typeface="Merriweather"/>
              </a:rPr>
              <a:t>Definition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571500" y="2386012"/>
            <a:ext cx="63436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Relationship (REL) chart is a systematic layout planning tool used to evaluate and document the necessary closeness relationships between departments based on process flow and dependency.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571500" y="3490912"/>
            <a:ext cx="666083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A580C"/>
                </a:solidFill>
                <a:latin typeface="Merriweather"/>
                <a:ea typeface="Merriweather"/>
                <a:cs typeface="Merriweather"/>
                <a:sym typeface="Merriweather"/>
              </a:rPr>
              <a:t>Key Factors Considered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695706" y="4084319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85" name="Google Shape;185;p18"/>
          <p:cNvSpPr txBox="1"/>
          <p:nvPr/>
        </p:nvSpPr>
        <p:spPr>
          <a:xfrm>
            <a:off x="809625" y="3986212"/>
            <a:ext cx="61055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Frequency of material movement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695325" y="447789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87" name="Google Shape;187;p18"/>
          <p:cNvSpPr txBox="1"/>
          <p:nvPr/>
        </p:nvSpPr>
        <p:spPr>
          <a:xfrm>
            <a:off x="809625" y="4386262"/>
            <a:ext cx="61055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Handling cost reduction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695325" y="487508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809625" y="4786312"/>
            <a:ext cx="61055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Workflow sequence requirements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695325" y="527513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91" name="Google Shape;191;p18"/>
          <p:cNvSpPr txBox="1"/>
          <p:nvPr/>
        </p:nvSpPr>
        <p:spPr>
          <a:xfrm>
            <a:off x="809625" y="5186362"/>
            <a:ext cx="61055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Safety, supervision &amp; communication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695706" y="56816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93" name="Google Shape;193;p18"/>
          <p:cNvSpPr txBox="1"/>
          <p:nvPr/>
        </p:nvSpPr>
        <p:spPr>
          <a:xfrm>
            <a:off x="809625" y="5586412"/>
            <a:ext cx="61055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Utility and crane access constraints</a:t>
            </a:r>
            <a:endParaRPr/>
          </a:p>
        </p:txBody>
      </p:sp>
      <p:pic>
        <p:nvPicPr>
          <p:cNvPr id="194" name="Google Shape;194;p18"/>
          <p:cNvPicPr preferRelativeResize="0"/>
          <p:nvPr/>
        </p:nvPicPr>
        <p:blipFill rotWithShape="1">
          <a:blip r:embed="rId4">
            <a:alphaModFix/>
          </a:blip>
          <a:srcRect l="209" t="12219" r="209" b="17313"/>
          <a:stretch/>
        </p:blipFill>
        <p:spPr>
          <a:xfrm>
            <a:off x="6567475" y="1711575"/>
            <a:ext cx="5475226" cy="451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47032"/>
            <a:ext cx="3492549" cy="3002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447032"/>
            <a:ext cx="3492549" cy="3002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447032"/>
            <a:ext cx="3492549" cy="300216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Analysis &amp; Process Improvements</a:t>
            </a:r>
            <a:endParaRPr/>
          </a:p>
        </p:txBody>
      </p:sp>
      <p:sp>
        <p:nvSpPr>
          <p:cNvPr id="204" name="Google Shape;204;p19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 txBox="1"/>
          <p:nvPr/>
        </p:nvSpPr>
        <p:spPr>
          <a:xfrm>
            <a:off x="784223" y="3428107"/>
            <a:ext cx="306710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A580C"/>
                </a:solidFill>
                <a:latin typeface="Merriweather"/>
                <a:ea typeface="Merriweather"/>
                <a:cs typeface="Merriweather"/>
                <a:sym typeface="Merriweather"/>
              </a:rPr>
              <a:t>Steel ↔ Paint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857250" y="3894832"/>
            <a:ext cx="2921049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These shops should be closer. There is a major material flow from cutting (Steel) to priming (Paint) that is currently inefficient.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4562523" y="3428107"/>
            <a:ext cx="306710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A580C"/>
                </a:solidFill>
                <a:latin typeface="Merriweather"/>
                <a:ea typeface="Merriweather"/>
                <a:cs typeface="Merriweather"/>
                <a:sym typeface="Merriweather"/>
              </a:rPr>
              <a:t>Warehouse Location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4635549" y="3894832"/>
            <a:ext cx="2921049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Currently near the office (unnecessary). It should be moved closer to General Purpose &amp; Outfitting shops to reduce transport.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8340822" y="3428107"/>
            <a:ext cx="306710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A580C"/>
                </a:solidFill>
                <a:latin typeface="Merriweather"/>
                <a:ea typeface="Merriweather"/>
                <a:cs typeface="Merriweather"/>
                <a:sym typeface="Merriweather"/>
              </a:rPr>
              <a:t>Improvement Outcome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8413849" y="3894832"/>
            <a:ext cx="2921049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Reduce handling delays and transportation time.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Result: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Improved cycle time and overall throughput.</a:t>
            </a:r>
            <a:endParaRPr/>
          </a:p>
        </p:txBody>
      </p:sp>
      <p:pic>
        <p:nvPicPr>
          <p:cNvPr id="211" name="Google Shape;211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03387" y="2818507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57875" y="2818507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59987" y="2818507"/>
            <a:ext cx="42862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52650"/>
            <a:ext cx="5286375" cy="359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152650"/>
            <a:ext cx="5286375" cy="359092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0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Limitations in Restructuring</a:t>
            </a:r>
            <a:endParaRPr/>
          </a:p>
        </p:txBody>
      </p:sp>
      <p:sp>
        <p:nvSpPr>
          <p:cNvPr id="222" name="Google Shape;222;p20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914400" y="2495550"/>
            <a:ext cx="4830603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A580C"/>
                </a:solidFill>
                <a:latin typeface="Merriweather"/>
                <a:ea typeface="Merriweather"/>
                <a:cs typeface="Merriweather"/>
                <a:sym typeface="Merriweather"/>
              </a:rPr>
              <a:t>Practical Limitations</a:t>
            </a:r>
            <a:endParaRPr/>
          </a:p>
        </p:txBody>
      </p:sp>
      <p:sp>
        <p:nvSpPr>
          <p:cNvPr id="224" name="Google Shape;224;p20"/>
          <p:cNvSpPr/>
          <p:nvPr/>
        </p:nvSpPr>
        <p:spPr>
          <a:xfrm>
            <a:off x="914400" y="2933700"/>
            <a:ext cx="460057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6677025" y="2495550"/>
            <a:ext cx="4830603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A580C"/>
                </a:solidFill>
                <a:latin typeface="Merriweather"/>
                <a:ea typeface="Merriweather"/>
                <a:cs typeface="Merriweather"/>
                <a:sym typeface="Merriweather"/>
              </a:rPr>
              <a:t>Monetary Limitations</a:t>
            </a:r>
            <a:endParaRPr/>
          </a:p>
        </p:txBody>
      </p:sp>
      <p:sp>
        <p:nvSpPr>
          <p:cNvPr id="226" name="Google Shape;226;p20"/>
          <p:cNvSpPr/>
          <p:nvPr/>
        </p:nvSpPr>
        <p:spPr>
          <a:xfrm>
            <a:off x="6677025" y="2933700"/>
            <a:ext cx="460057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7" name="Google Shape;227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4400" y="25336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77025" y="253365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0"/>
          <p:cNvSpPr txBox="1"/>
          <p:nvPr/>
        </p:nvSpPr>
        <p:spPr>
          <a:xfrm>
            <a:off x="6810756" y="32385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238" name="Google Shape;238;p20"/>
          <p:cNvSpPr txBox="1"/>
          <p:nvPr/>
        </p:nvSpPr>
        <p:spPr>
          <a:xfrm>
            <a:off x="6915150" y="3133725"/>
            <a:ext cx="4362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High cost of relocating heavy equipment, cranes, and buildings.</a:t>
            </a:r>
            <a:endParaRPr dirty="0"/>
          </a:p>
        </p:txBody>
      </p:sp>
      <p:sp>
        <p:nvSpPr>
          <p:cNvPr id="239" name="Google Shape;239;p20"/>
          <p:cNvSpPr txBox="1"/>
          <p:nvPr/>
        </p:nvSpPr>
        <p:spPr>
          <a:xfrm>
            <a:off x="6811518" y="39283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240" name="Google Shape;240;p20"/>
          <p:cNvSpPr txBox="1"/>
          <p:nvPr/>
        </p:nvSpPr>
        <p:spPr>
          <a:xfrm>
            <a:off x="6915150" y="3838575"/>
            <a:ext cx="4362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Significant upfront investment in redesign and infrastructure.</a:t>
            </a:r>
            <a:endParaRPr dirty="0"/>
          </a:p>
        </p:txBody>
      </p:sp>
      <p:sp>
        <p:nvSpPr>
          <p:cNvPr id="241" name="Google Shape;241;p20"/>
          <p:cNvSpPr txBox="1"/>
          <p:nvPr/>
        </p:nvSpPr>
        <p:spPr>
          <a:xfrm>
            <a:off x="6810375" y="46331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242" name="Google Shape;242;p20"/>
          <p:cNvSpPr txBox="1"/>
          <p:nvPr/>
        </p:nvSpPr>
        <p:spPr>
          <a:xfrm>
            <a:off x="6915150" y="4543425"/>
            <a:ext cx="4362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Opportunity cost of lost production time during the transition.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325EE3-B289-BD3C-105D-9600C58F4300}"/>
              </a:ext>
            </a:extLst>
          </p:cNvPr>
          <p:cNvSpPr txBox="1"/>
          <p:nvPr/>
        </p:nvSpPr>
        <p:spPr>
          <a:xfrm>
            <a:off x="996696" y="3133725"/>
            <a:ext cx="4518279" cy="2958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Availability of skilled labor and training requirements.</a:t>
            </a: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Lack of physical space during the rearrangement phase.</a:t>
            </a:r>
            <a:endParaRPr lang="en-IN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Limited shutdown windows due to active ship orders.</a:t>
            </a:r>
            <a:endParaRPr lang="en-IN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Disruption to current production if heavy machinery is relocated.</a:t>
            </a:r>
            <a:endParaRPr lang="en-IN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91400" y="1804987"/>
            <a:ext cx="42291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000625"/>
            <a:ext cx="6343650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1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</a:t>
            </a:r>
            <a:endParaRPr/>
          </a:p>
        </p:txBody>
      </p:sp>
      <p:sp>
        <p:nvSpPr>
          <p:cNvPr id="251" name="Google Shape;251;p21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2" name="Google Shape;252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91400" y="1804987"/>
            <a:ext cx="42291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1"/>
          <p:cNvSpPr txBox="1"/>
          <p:nvPr/>
        </p:nvSpPr>
        <p:spPr>
          <a:xfrm>
            <a:off x="809625" y="2562225"/>
            <a:ext cx="61055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Challenge: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ABC Shipyard suffers from excess WIP and bottlenecks at block erection.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809625" y="3362325"/>
            <a:ext cx="61055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Solution: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Implementing TOC and a product-oriented layout can effectively resolve bottlenecks.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809625" y="4162425"/>
            <a:ext cx="61055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Tool: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REL-based layout redesign will significantly improve material flow and throughput.</a:t>
            </a:r>
            <a:endParaRPr/>
          </a:p>
        </p:txBody>
      </p:sp>
      <p:sp>
        <p:nvSpPr>
          <p:cNvPr id="256" name="Google Shape;256;p21"/>
          <p:cNvSpPr txBox="1"/>
          <p:nvPr/>
        </p:nvSpPr>
        <p:spPr>
          <a:xfrm>
            <a:off x="809625" y="5191125"/>
            <a:ext cx="5429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Verdict:</a:t>
            </a:r>
            <a:endParaRPr/>
          </a:p>
        </p:txBody>
      </p:sp>
      <p:pic>
        <p:nvPicPr>
          <p:cNvPr id="257" name="Google Shape;257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625" y="262890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625" y="342900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625" y="4229100"/>
            <a:ext cx="17145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559</Words>
  <Application>Microsoft Office PowerPoint</Application>
  <PresentationFormat>Widescreen</PresentationFormat>
  <Paragraphs>98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Calibri</vt:lpstr>
      <vt:lpstr>Arial</vt:lpstr>
      <vt:lpstr>Merriweather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ROHIT GHOSH</cp:lastModifiedBy>
  <cp:revision>8</cp:revision>
  <dcterms:modified xsi:type="dcterms:W3CDTF">2025-11-29T16:36:41Z</dcterms:modified>
</cp:coreProperties>
</file>