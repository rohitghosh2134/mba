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60"/>
  </p:notesMasterIdLst>
  <p:sldIdLst>
    <p:sldId id="256" r:id="rId2"/>
    <p:sldId id="317" r:id="rId3"/>
    <p:sldId id="388" r:id="rId4"/>
    <p:sldId id="390" r:id="rId5"/>
    <p:sldId id="409" r:id="rId6"/>
    <p:sldId id="410" r:id="rId7"/>
    <p:sldId id="392" r:id="rId8"/>
    <p:sldId id="387" r:id="rId9"/>
    <p:sldId id="411" r:id="rId10"/>
    <p:sldId id="375" r:id="rId11"/>
    <p:sldId id="394" r:id="rId12"/>
    <p:sldId id="395" r:id="rId13"/>
    <p:sldId id="396" r:id="rId14"/>
    <p:sldId id="428" r:id="rId15"/>
    <p:sldId id="397" r:id="rId16"/>
    <p:sldId id="444" r:id="rId17"/>
    <p:sldId id="398" r:id="rId18"/>
    <p:sldId id="443" r:id="rId19"/>
    <p:sldId id="429" r:id="rId20"/>
    <p:sldId id="401" r:id="rId21"/>
    <p:sldId id="442" r:id="rId22"/>
    <p:sldId id="402" r:id="rId23"/>
    <p:sldId id="403" r:id="rId24"/>
    <p:sldId id="412" r:id="rId25"/>
    <p:sldId id="413" r:id="rId26"/>
    <p:sldId id="414" r:id="rId27"/>
    <p:sldId id="404" r:id="rId28"/>
    <p:sldId id="405" r:id="rId29"/>
    <p:sldId id="406" r:id="rId30"/>
    <p:sldId id="415" r:id="rId31"/>
    <p:sldId id="416" r:id="rId32"/>
    <p:sldId id="417" r:id="rId33"/>
    <p:sldId id="418" r:id="rId34"/>
    <p:sldId id="419" r:id="rId35"/>
    <p:sldId id="420" r:id="rId36"/>
    <p:sldId id="421" r:id="rId37"/>
    <p:sldId id="422" r:id="rId38"/>
    <p:sldId id="423" r:id="rId39"/>
    <p:sldId id="424" r:id="rId40"/>
    <p:sldId id="425" r:id="rId41"/>
    <p:sldId id="426" r:id="rId42"/>
    <p:sldId id="427" r:id="rId43"/>
    <p:sldId id="430" r:id="rId44"/>
    <p:sldId id="389" r:id="rId45"/>
    <p:sldId id="407" r:id="rId46"/>
    <p:sldId id="408" r:id="rId47"/>
    <p:sldId id="431" r:id="rId48"/>
    <p:sldId id="432" r:id="rId49"/>
    <p:sldId id="433" r:id="rId50"/>
    <p:sldId id="434" r:id="rId51"/>
    <p:sldId id="435" r:id="rId52"/>
    <p:sldId id="436" r:id="rId53"/>
    <p:sldId id="437" r:id="rId54"/>
    <p:sldId id="438" r:id="rId55"/>
    <p:sldId id="439" r:id="rId56"/>
    <p:sldId id="440" r:id="rId57"/>
    <p:sldId id="441" r:id="rId58"/>
    <p:sldId id="295" r:id="rId59"/>
  </p:sldIdLst>
  <p:sldSz cx="12192000" cy="6858000"/>
  <p:notesSz cx="6400800" cy="11736388"/>
  <p:embeddedFontLst>
    <p:embeddedFont>
      <p:font typeface="Calibri" panose="020F0502020204030204" pitchFamily="34" charset="0"/>
      <p:regular r:id="rId61"/>
      <p:bold r:id="rId62"/>
      <p:italic r:id="rId63"/>
      <p:boldItalic r:id="rId64"/>
    </p:embeddedFont>
    <p:embeddedFont>
      <p:font typeface="Century Gothic" panose="020B0502020202020204" pitchFamily="34" charset="0"/>
      <p:regular r:id="rId65"/>
      <p:bold r:id="rId66"/>
      <p:italic r:id="rId67"/>
      <p:boldItalic r:id="rId68"/>
    </p:embeddedFont>
    <p:embeddedFont>
      <p:font typeface="Times" panose="02020603050405020304" pitchFamily="18"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iVhhpRSbsVfJTdG03n2He+SCFp9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057DFE-E6D9-463C-876A-ED63FAAF74D6}">
  <a:tblStyle styleId="{A6057DFE-E6D9-463C-876A-ED63FAAF74D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F0EA631-3CC5-4A67-AC19-FCB2EDBDCE2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67000" y="880225"/>
            <a:ext cx="4267400" cy="440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40075" y="5574775"/>
            <a:ext cx="5120625" cy="52813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46124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1:notes"/>
          <p:cNvSpPr txBox="1">
            <a:spLocks noGrp="1"/>
          </p:cNvSpPr>
          <p:nvPr>
            <p:ph type="body" idx="1"/>
          </p:nvPr>
        </p:nvSpPr>
        <p:spPr>
          <a:xfrm>
            <a:off x="640075" y="5574775"/>
            <a:ext cx="5120625" cy="5281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 name="Google Shape;22;p1:notes"/>
          <p:cNvSpPr>
            <a:spLocks noGrp="1" noRot="1" noChangeAspect="1"/>
          </p:cNvSpPr>
          <p:nvPr>
            <p:ph type="sldImg" idx="2"/>
          </p:nvPr>
        </p:nvSpPr>
        <p:spPr>
          <a:xfrm>
            <a:off x="-711200" y="879475"/>
            <a:ext cx="7823200" cy="4402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9965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8:notes"/>
          <p:cNvSpPr txBox="1">
            <a:spLocks noGrp="1"/>
          </p:cNvSpPr>
          <p:nvPr>
            <p:ph type="body" idx="1"/>
          </p:nvPr>
        </p:nvSpPr>
        <p:spPr>
          <a:xfrm>
            <a:off x="640075" y="5574775"/>
            <a:ext cx="5120625" cy="5281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8:notes"/>
          <p:cNvSpPr>
            <a:spLocks noGrp="1" noRot="1" noChangeAspect="1"/>
          </p:cNvSpPr>
          <p:nvPr>
            <p:ph type="sldImg" idx="2"/>
          </p:nvPr>
        </p:nvSpPr>
        <p:spPr>
          <a:xfrm>
            <a:off x="-711200" y="879475"/>
            <a:ext cx="7823200" cy="4402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61523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12"/>
        <p:cNvGrpSpPr/>
        <p:nvPr/>
      </p:nvGrpSpPr>
      <p:grpSpPr>
        <a:xfrm>
          <a:off x="0" y="0"/>
          <a:ext cx="0" cy="0"/>
          <a:chOff x="0" y="0"/>
          <a:chExt cx="0" cy="0"/>
        </a:xfrm>
      </p:grpSpPr>
      <p:sp>
        <p:nvSpPr>
          <p:cNvPr id="13" name="Google Shape;13;p20"/>
          <p:cNvSpPr txBox="1">
            <a:spLocks noGrp="1"/>
          </p:cNvSpPr>
          <p:nvPr>
            <p:ph type="ctrTitle"/>
          </p:nvPr>
        </p:nvSpPr>
        <p:spPr>
          <a:xfrm>
            <a:off x="596900" y="1317996"/>
            <a:ext cx="8610600" cy="1552204"/>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4" name="Google Shape;14;p20"/>
          <p:cNvSpPr txBox="1">
            <a:spLocks noGrp="1"/>
          </p:cNvSpPr>
          <p:nvPr>
            <p:ph type="subTitle" idx="1"/>
          </p:nvPr>
        </p:nvSpPr>
        <p:spPr>
          <a:xfrm>
            <a:off x="596900" y="3741803"/>
            <a:ext cx="8610600" cy="20747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cxnSp>
        <p:nvCxnSpPr>
          <p:cNvPr id="15" name="Google Shape;15;p20"/>
          <p:cNvCxnSpPr/>
          <p:nvPr/>
        </p:nvCxnSpPr>
        <p:spPr>
          <a:xfrm>
            <a:off x="-942" y="6214340"/>
            <a:ext cx="12196800" cy="193"/>
          </a:xfrm>
          <a:prstGeom prst="straightConnector1">
            <a:avLst/>
          </a:prstGeom>
          <a:noFill/>
          <a:ln w="19050" cap="flat" cmpd="sng">
            <a:solidFill>
              <a:srgbClr val="15438E"/>
            </a:solidFill>
            <a:prstDash val="solid"/>
            <a:miter lim="800000"/>
            <a:headEnd type="none" w="sm" len="sm"/>
            <a:tailEnd type="none" w="sm" len="sm"/>
          </a:ln>
        </p:spPr>
      </p:cxnSp>
      <p:sp>
        <p:nvSpPr>
          <p:cNvPr id="5"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62335CFD-B3E9-4812-AF47-A129F230FDF1}" type="datetime1">
              <a:rPr lang="en-IN" smtClean="0"/>
              <a:pPr/>
              <a:t>09-12-2025</a:t>
            </a:fld>
            <a:endParaRPr lang="en-IN" dirty="0"/>
          </a:p>
        </p:txBody>
      </p:sp>
      <p:sp>
        <p:nvSpPr>
          <p:cNvPr id="6"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Resource Planning</a:t>
            </a:r>
          </a:p>
        </p:txBody>
      </p:sp>
      <p:sp>
        <p:nvSpPr>
          <p:cNvPr id="7"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pic>
        <p:nvPicPr>
          <p:cNvPr id="1026" name="Picture 2" descr="https://www.iimsirmaur.ac.in/img/iim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Nur Titel">
  <p:cSld name="Nur Titel">
    <p:spTree>
      <p:nvGrpSpPr>
        <p:cNvPr id="1" name="Shape 16"/>
        <p:cNvGrpSpPr/>
        <p:nvPr/>
      </p:nvGrpSpPr>
      <p:grpSpPr>
        <a:xfrm>
          <a:off x="0" y="0"/>
          <a:ext cx="0" cy="0"/>
          <a:chOff x="0" y="0"/>
          <a:chExt cx="0" cy="0"/>
        </a:xfrm>
      </p:grpSpPr>
      <p:sp>
        <p:nvSpPr>
          <p:cNvPr id="17" name="Google Shape;17;p21"/>
          <p:cNvSpPr txBox="1">
            <a:spLocks noGrp="1"/>
          </p:cNvSpPr>
          <p:nvPr>
            <p:ph type="title"/>
          </p:nvPr>
        </p:nvSpPr>
        <p:spPr>
          <a:xfrm>
            <a:off x="407446" y="146869"/>
            <a:ext cx="10762781" cy="685801"/>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600"/>
              <a:buFont typeface="Century Gothic"/>
              <a:buNone/>
              <a:defRPr sz="3600" b="1"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cxnSp>
        <p:nvCxnSpPr>
          <p:cNvPr id="18" name="Google Shape;18;p21"/>
          <p:cNvCxnSpPr/>
          <p:nvPr/>
        </p:nvCxnSpPr>
        <p:spPr>
          <a:xfrm>
            <a:off x="-942" y="6214340"/>
            <a:ext cx="12196800" cy="193"/>
          </a:xfrm>
          <a:prstGeom prst="straightConnector1">
            <a:avLst/>
          </a:prstGeom>
          <a:noFill/>
          <a:ln w="19050" cap="flat" cmpd="sng">
            <a:solidFill>
              <a:srgbClr val="15438E"/>
            </a:solidFill>
            <a:prstDash val="solid"/>
            <a:miter lim="800000"/>
            <a:headEnd type="none" w="sm" len="sm"/>
            <a:tailEnd type="none" w="sm" len="sm"/>
          </a:ln>
        </p:spPr>
      </p:cxnSp>
      <p:sp>
        <p:nvSpPr>
          <p:cNvPr id="19" name="Google Shape;19;p21"/>
          <p:cNvSpPr txBox="1">
            <a:spLocks noGrp="1"/>
          </p:cNvSpPr>
          <p:nvPr>
            <p:ph type="body" idx="1"/>
          </p:nvPr>
        </p:nvSpPr>
        <p:spPr>
          <a:xfrm>
            <a:off x="407446" y="1035437"/>
            <a:ext cx="11596712" cy="50359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Times New Roman" panose="02020603050405020304" pitchFamily="18" charset="0"/>
                <a:cs typeface="Times New Roman" panose="02020603050405020304" pitchFamily="18" charset="0"/>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D1FBB12C-6AF2-404C-B802-656F1A988312}" type="datetime1">
              <a:rPr lang="en-IN" smtClean="0"/>
              <a:pPr/>
              <a:t>09-12-2025</a:t>
            </a:fld>
            <a:endParaRPr lang="en-IN" dirty="0"/>
          </a:p>
        </p:txBody>
      </p:sp>
      <p:sp>
        <p:nvSpPr>
          <p:cNvPr id="6"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Resource Planning</a:t>
            </a:r>
          </a:p>
        </p:txBody>
      </p:sp>
      <p:sp>
        <p:nvSpPr>
          <p:cNvPr id="7"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pic>
        <p:nvPicPr>
          <p:cNvPr id="10" name="Picture 2" descr="https://www.iimsirmaur.ac.in/img/iim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7"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4C8EE48C-6F84-430B-99C8-6D09B5D884B9}" type="datetime1">
              <a:rPr lang="en-IN" smtClean="0"/>
              <a:pPr/>
              <a:t>09-12-2025</a:t>
            </a:fld>
            <a:endParaRPr lang="en-IN" dirty="0"/>
          </a:p>
        </p:txBody>
      </p:sp>
      <p:sp>
        <p:nvSpPr>
          <p:cNvPr id="8"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Resource Planning</a:t>
            </a:r>
          </a:p>
        </p:txBody>
      </p:sp>
      <p:sp>
        <p:nvSpPr>
          <p:cNvPr id="9"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cxnSp>
        <p:nvCxnSpPr>
          <p:cNvPr id="10" name="Google Shape;10;p19"/>
          <p:cNvCxnSpPr/>
          <p:nvPr/>
        </p:nvCxnSpPr>
        <p:spPr>
          <a:xfrm>
            <a:off x="-942" y="931140"/>
            <a:ext cx="12196800" cy="193"/>
          </a:xfrm>
          <a:prstGeom prst="straightConnector1">
            <a:avLst/>
          </a:prstGeom>
          <a:noFill/>
          <a:ln w="38100" cap="flat" cmpd="sng">
            <a:solidFill>
              <a:srgbClr val="15438E"/>
            </a:solidFill>
            <a:prstDash val="solid"/>
            <a:miter lim="800000"/>
            <a:headEnd type="none" w="sm" len="sm"/>
            <a:tailEnd type="none" w="sm" len="sm"/>
          </a:ln>
        </p:spPr>
      </p:cxnSp>
      <p:sp>
        <p:nvSpPr>
          <p:cNvPr id="11" name="Google Shape;11;p19"/>
          <p:cNvSpPr txBox="1"/>
          <p:nvPr/>
        </p:nvSpPr>
        <p:spPr>
          <a:xfrm>
            <a:off x="838200" y="57869"/>
            <a:ext cx="8699500" cy="7059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pic>
        <p:nvPicPr>
          <p:cNvPr id="12" name="Picture 2" descr="https://www.iimsirmaur.ac.in/img/iimlogo.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5" name="Google Shape;25;p1"/>
          <p:cNvSpPr txBox="1"/>
          <p:nvPr/>
        </p:nvSpPr>
        <p:spPr>
          <a:xfrm>
            <a:off x="1308122" y="2688470"/>
            <a:ext cx="10343400" cy="718800"/>
          </a:xfrm>
          <a:prstGeom prst="rect">
            <a:avLst/>
          </a:prstGeom>
          <a:noFill/>
          <a:ln>
            <a:noFill/>
          </a:ln>
        </p:spPr>
        <p:txBody>
          <a:bodyPr spcFirstLastPara="1" wrap="square" lIns="91425" tIns="45700" rIns="91425" bIns="45700" anchor="t" anchorCtr="0">
            <a:normAutofit fontScale="85000" lnSpcReduction="20000"/>
          </a:bodyPr>
          <a:lstStyle/>
          <a:p>
            <a:pPr marL="0" lvl="0" indent="0" algn="ctr" rtl="0">
              <a:spcBef>
                <a:spcPts val="0"/>
              </a:spcBef>
              <a:spcAft>
                <a:spcPts val="0"/>
              </a:spcAft>
              <a:buClr>
                <a:srgbClr val="000000"/>
              </a:buClr>
              <a:buFont typeface="Arial"/>
              <a:buNone/>
            </a:pPr>
            <a:r>
              <a:rPr lang="en-IN" sz="5450" b="1" dirty="0">
                <a:solidFill>
                  <a:srgbClr val="0066A1"/>
                </a:solidFill>
                <a:latin typeface="Times New Roman"/>
                <a:ea typeface="Times New Roman"/>
                <a:cs typeface="Times New Roman"/>
                <a:sym typeface="Times New Roman"/>
              </a:rPr>
              <a:t>Resource Planning</a:t>
            </a:r>
            <a:endParaRPr sz="5450" b="1" dirty="0">
              <a:solidFill>
                <a:srgbClr val="0066A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ct val="100000"/>
              <a:buFont typeface="Arial"/>
              <a:buNone/>
            </a:pPr>
            <a:endParaRPr sz="3200" dirty="0">
              <a:solidFill>
                <a:schemeClr val="dk1"/>
              </a:solidFill>
              <a:latin typeface="Century Gothic"/>
              <a:ea typeface="Century Gothic"/>
              <a:cs typeface="Century Gothic"/>
              <a:sym typeface="Century Gothic"/>
            </a:endParaRPr>
          </a:p>
        </p:txBody>
      </p:sp>
      <p:sp>
        <p:nvSpPr>
          <p:cNvPr id="2" name="Google Shape;24;p1">
            <a:extLst>
              <a:ext uri="{FF2B5EF4-FFF2-40B4-BE49-F238E27FC236}">
                <a16:creationId xmlns:a16="http://schemas.microsoft.com/office/drawing/2014/main" id="{860CCB63-2A70-F201-CD44-E43234AE390C}"/>
              </a:ext>
            </a:extLst>
          </p:cNvPr>
          <p:cNvSpPr txBox="1">
            <a:spLocks noGrp="1"/>
          </p:cNvSpPr>
          <p:nvPr>
            <p:ph type="subTitle" idx="1"/>
          </p:nvPr>
        </p:nvSpPr>
        <p:spPr>
          <a:xfrm>
            <a:off x="7303911" y="4854223"/>
            <a:ext cx="4786489" cy="124177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000"/>
              <a:buNone/>
            </a:pPr>
            <a:r>
              <a:rPr lang="en-IN" sz="2000" b="1" dirty="0" err="1">
                <a:solidFill>
                  <a:srgbClr val="002060"/>
                </a:solidFill>
                <a:latin typeface="Times New Roman" panose="02020603050405020304" pitchFamily="18" charset="0"/>
                <a:cs typeface="Times New Roman" panose="02020603050405020304" pitchFamily="18" charset="0"/>
              </a:rPr>
              <a:t>Dr.</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err="1">
                <a:solidFill>
                  <a:srgbClr val="002060"/>
                </a:solidFill>
                <a:latin typeface="Times New Roman" panose="02020603050405020304" pitchFamily="18" charset="0"/>
                <a:cs typeface="Times New Roman" panose="02020603050405020304" pitchFamily="18" charset="0"/>
              </a:rPr>
              <a:t>Narpat</a:t>
            </a:r>
            <a:r>
              <a:rPr lang="en-IN" sz="2000" b="1" dirty="0">
                <a:solidFill>
                  <a:srgbClr val="002060"/>
                </a:solidFill>
                <a:latin typeface="Times New Roman" panose="02020603050405020304" pitchFamily="18" charset="0"/>
                <a:cs typeface="Times New Roman" panose="02020603050405020304" pitchFamily="18" charset="0"/>
              </a:rPr>
              <a:t> Ram </a:t>
            </a:r>
            <a:r>
              <a:rPr lang="en-IN" sz="2000" b="1" dirty="0" err="1">
                <a:solidFill>
                  <a:srgbClr val="002060"/>
                </a:solidFill>
                <a:latin typeface="Times New Roman" panose="02020603050405020304" pitchFamily="18" charset="0"/>
                <a:cs typeface="Times New Roman" panose="02020603050405020304" pitchFamily="18" charset="0"/>
              </a:rPr>
              <a:t>Sangwa</a:t>
            </a:r>
            <a:endParaRPr lang="en-IN" sz="2000" b="1" dirty="0">
              <a:solidFill>
                <a:srgbClr val="002060"/>
              </a:solidFill>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Assistant Professor</a:t>
            </a: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Operations &amp; Supply Chain Management</a:t>
            </a: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IIM </a:t>
            </a:r>
            <a:r>
              <a:rPr lang="en-IN" sz="2000" b="1" dirty="0" err="1">
                <a:solidFill>
                  <a:srgbClr val="002060"/>
                </a:solidFill>
                <a:latin typeface="Times New Roman" panose="02020603050405020304" pitchFamily="18" charset="0"/>
                <a:cs typeface="Times New Roman" panose="02020603050405020304" pitchFamily="18" charset="0"/>
              </a:rPr>
              <a:t>Sirmaur</a:t>
            </a:r>
            <a:endParaRPr sz="20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Learning Objectives</a:t>
            </a:r>
          </a:p>
        </p:txBody>
      </p:sp>
      <p:sp>
        <p:nvSpPr>
          <p:cNvPr id="3" name="Text Placeholder 2"/>
          <p:cNvSpPr>
            <a:spLocks noGrp="1"/>
          </p:cNvSpPr>
          <p:nvPr>
            <p:ph type="body" idx="1"/>
          </p:nvPr>
        </p:nvSpPr>
        <p:spPr/>
        <p:txBody>
          <a:bodyPr>
            <a:normAutofit/>
          </a:bodyPr>
          <a:lstStyle/>
          <a:p>
            <a:pPr marL="342900" indent="-342900">
              <a:spcBef>
                <a:spcPct val="20000"/>
              </a:spcBef>
              <a:buClr>
                <a:schemeClr val="tx1"/>
              </a:buClr>
              <a:buFont typeface="Wingdings" pitchFamily="2" charset="2"/>
              <a:buChar char="Ø"/>
            </a:pPr>
            <a:r>
              <a:rPr lang="en-US" sz="2800" dirty="0">
                <a:solidFill>
                  <a:srgbClr val="CC0066"/>
                </a:solidFill>
                <a:effectLst>
                  <a:outerShdw blurRad="38100" dist="38100" dir="2700000" algn="tl">
                    <a:srgbClr val="000000"/>
                  </a:outerShdw>
                </a:effectLst>
              </a:rPr>
              <a:t>How much </a:t>
            </a:r>
            <a:r>
              <a:rPr lang="en-US" sz="2800" dirty="0"/>
              <a:t>of an item is needed to meet demand?</a:t>
            </a:r>
          </a:p>
          <a:p>
            <a:pPr marL="342900">
              <a:spcBef>
                <a:spcPct val="20000"/>
              </a:spcBef>
              <a:buClr>
                <a:schemeClr val="tx1"/>
              </a:buClr>
              <a:buFont typeface="Wingdings" pitchFamily="2" charset="2"/>
              <a:buChar char="Ø"/>
            </a:pPr>
            <a:r>
              <a:rPr lang="en-US" sz="2800" dirty="0">
                <a:solidFill>
                  <a:srgbClr val="CC0066"/>
                </a:solidFill>
                <a:effectLst>
                  <a:outerShdw blurRad="38100" dist="38100" dir="2700000" algn="tl">
                    <a:srgbClr val="000000"/>
                  </a:outerShdw>
                </a:effectLst>
              </a:rPr>
              <a:t>What </a:t>
            </a:r>
            <a:r>
              <a:rPr lang="en-US" dirty="0"/>
              <a:t>are the various </a:t>
            </a:r>
            <a:r>
              <a:rPr lang="en-US" sz="2800" dirty="0"/>
              <a:t>parts and components required?</a:t>
            </a:r>
          </a:p>
          <a:p>
            <a:pPr marL="342900" indent="-342900">
              <a:spcBef>
                <a:spcPct val="20000"/>
              </a:spcBef>
              <a:buClr>
                <a:schemeClr val="tx1"/>
              </a:buClr>
              <a:buFont typeface="Wingdings" pitchFamily="2" charset="2"/>
              <a:buChar char="Ø"/>
            </a:pPr>
            <a:r>
              <a:rPr lang="en-US" sz="2800" dirty="0">
                <a:solidFill>
                  <a:srgbClr val="CC0066"/>
                </a:solidFill>
                <a:effectLst>
                  <a:outerShdw blurRad="38100" dist="38100" dir="2700000" algn="tl">
                    <a:srgbClr val="000000"/>
                  </a:outerShdw>
                </a:effectLst>
              </a:rPr>
              <a:t>When</a:t>
            </a:r>
            <a:r>
              <a:rPr lang="en-US" sz="2800" dirty="0"/>
              <a:t> to order parts and components?</a:t>
            </a:r>
            <a:endParaRPr lang="en-IN" kern="1200" dirty="0">
              <a:solidFill>
                <a:srgbClr val="000000"/>
              </a:solidFill>
            </a:endParaRPr>
          </a:p>
          <a:p>
            <a:endParaRPr lang="en-IN" dirty="0"/>
          </a:p>
          <a:p>
            <a:endParaRPr lang="en-IN" dirty="0"/>
          </a:p>
        </p:txBody>
      </p:sp>
      <p:sp>
        <p:nvSpPr>
          <p:cNvPr id="4" name="Date Placeholder 3"/>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p:cNvSpPr>
            <a:spLocks noGrp="1"/>
          </p:cNvSpPr>
          <p:nvPr>
            <p:ph type="ftr" idx="11"/>
          </p:nvPr>
        </p:nvSpPr>
        <p:spPr/>
        <p:txBody>
          <a:bodyPr/>
          <a:lstStyle/>
          <a:p>
            <a:r>
              <a:rPr lang="en-IN" dirty="0"/>
              <a:t>Resource Planning</a:t>
            </a:r>
          </a:p>
        </p:txBody>
      </p:sp>
      <p:sp>
        <p:nvSpPr>
          <p:cNvPr id="6" name="Slide Number Placeholder 5"/>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582327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5597-083B-4511-C58F-F3A2E1F587F5}"/>
              </a:ext>
            </a:extLst>
          </p:cNvPr>
          <p:cNvSpPr>
            <a:spLocks noGrp="1"/>
          </p:cNvSpPr>
          <p:nvPr>
            <p:ph type="title"/>
          </p:nvPr>
        </p:nvSpPr>
        <p:spPr/>
        <p:txBody>
          <a:bodyPr/>
          <a:lstStyle/>
          <a:p>
            <a:r>
              <a:rPr lang="en-IN" dirty="0"/>
              <a:t>Resource planning</a:t>
            </a:r>
          </a:p>
        </p:txBody>
      </p:sp>
      <p:sp>
        <p:nvSpPr>
          <p:cNvPr id="4" name="Date Placeholder 3">
            <a:extLst>
              <a:ext uri="{FF2B5EF4-FFF2-40B4-BE49-F238E27FC236}">
                <a16:creationId xmlns:a16="http://schemas.microsoft.com/office/drawing/2014/main" id="{75D632DF-0FEA-43B2-33BF-F75E277CA760}"/>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E6BA7D8A-7301-0403-3189-97B7126AA8B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A83087B4-A81A-83CC-FFB8-6879779DD101}"/>
              </a:ext>
            </a:extLst>
          </p:cNvPr>
          <p:cNvSpPr>
            <a:spLocks noGrp="1"/>
          </p:cNvSpPr>
          <p:nvPr>
            <p:ph type="sldNum" idx="12"/>
          </p:nvPr>
        </p:nvSpPr>
        <p:spPr/>
        <p:txBody>
          <a:bodyPr/>
          <a:lstStyle/>
          <a:p>
            <a:fld id="{00000000-1234-1234-1234-123412341234}" type="slidenum">
              <a:rPr lang="en-US" smtClean="0"/>
              <a:pPr/>
              <a:t>3</a:t>
            </a:fld>
            <a:endParaRPr lang="en-US" dirty="0"/>
          </a:p>
        </p:txBody>
      </p:sp>
      <p:sp>
        <p:nvSpPr>
          <p:cNvPr id="12" name="Oval 11">
            <a:extLst>
              <a:ext uri="{FF2B5EF4-FFF2-40B4-BE49-F238E27FC236}">
                <a16:creationId xmlns:a16="http://schemas.microsoft.com/office/drawing/2014/main" id="{4BCAFBFB-0DC6-832B-E7E5-5C3E857AABF1}"/>
              </a:ext>
            </a:extLst>
          </p:cNvPr>
          <p:cNvSpPr>
            <a:spLocks noChangeArrowheads="1"/>
          </p:cNvSpPr>
          <p:nvPr/>
        </p:nvSpPr>
        <p:spPr bwMode="auto">
          <a:xfrm>
            <a:off x="2154870" y="1109324"/>
            <a:ext cx="7620000" cy="4724400"/>
          </a:xfrm>
          <a:prstGeom prst="ellipse">
            <a:avLst/>
          </a:prstGeom>
          <a:solidFill>
            <a:srgbClr val="3366FF"/>
          </a:solidFill>
          <a:ln w="9525">
            <a:solidFill>
              <a:sysClr val="windowText" lastClr="000000"/>
            </a:solidFill>
            <a:round/>
            <a:headEnd/>
            <a:tailEnd/>
          </a:ln>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3" name="Oval 12">
            <a:extLst>
              <a:ext uri="{FF2B5EF4-FFF2-40B4-BE49-F238E27FC236}">
                <a16:creationId xmlns:a16="http://schemas.microsoft.com/office/drawing/2014/main" id="{C3F13B7C-1353-3F00-6669-E0B096399221}"/>
              </a:ext>
            </a:extLst>
          </p:cNvPr>
          <p:cNvSpPr>
            <a:spLocks noChangeArrowheads="1"/>
          </p:cNvSpPr>
          <p:nvPr/>
        </p:nvSpPr>
        <p:spPr bwMode="auto">
          <a:xfrm>
            <a:off x="3467996" y="2023724"/>
            <a:ext cx="5181600" cy="3352800"/>
          </a:xfrm>
          <a:prstGeom prst="ellipse">
            <a:avLst/>
          </a:prstGeom>
          <a:solidFill>
            <a:srgbClr val="99CCFF"/>
          </a:solidFill>
          <a:ln w="9525">
            <a:solidFill>
              <a:sysClr val="windowText" lastClr="000000"/>
            </a:solidFill>
            <a:round/>
            <a:headEnd/>
            <a:tailEnd/>
          </a:ln>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4" name="Oval 13">
            <a:extLst>
              <a:ext uri="{FF2B5EF4-FFF2-40B4-BE49-F238E27FC236}">
                <a16:creationId xmlns:a16="http://schemas.microsoft.com/office/drawing/2014/main" id="{9FAF81EF-E486-E0EF-8277-5E3BD8D5E431}"/>
              </a:ext>
            </a:extLst>
          </p:cNvPr>
          <p:cNvSpPr>
            <a:spLocks noChangeArrowheads="1"/>
          </p:cNvSpPr>
          <p:nvPr/>
        </p:nvSpPr>
        <p:spPr bwMode="auto">
          <a:xfrm>
            <a:off x="4669470" y="3090524"/>
            <a:ext cx="2819400" cy="1524000"/>
          </a:xfrm>
          <a:prstGeom prst="ellipse">
            <a:avLst/>
          </a:prstGeom>
          <a:solidFill>
            <a:srgbClr val="C0C0C0"/>
          </a:solidFill>
          <a:ln w="9525">
            <a:solidFill>
              <a:sysClr val="windowText" lastClr="000000"/>
            </a:solidFill>
            <a:round/>
            <a:headEnd/>
            <a:tailEnd/>
          </a:ln>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mn-cs"/>
              </a:rPr>
              <a:t>MRP – Material </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400" b="1" dirty="0">
                <a:solidFill>
                  <a:prstClr val="black"/>
                </a:solidFill>
                <a:latin typeface="Times New Roman" pitchFamily="18" charset="0"/>
              </a:rPr>
              <a:t>R</a:t>
            </a:r>
            <a:r>
              <a:rPr kumimoji="0" lang="en-US" sz="2400" b="1" i="0" u="none" strike="noStrike" kern="1200" cap="none" spc="0" normalizeH="0" baseline="0" noProof="0" dirty="0" err="1">
                <a:ln>
                  <a:noFill/>
                </a:ln>
                <a:solidFill>
                  <a:prstClr val="black"/>
                </a:solidFill>
                <a:effectLst/>
                <a:uLnTx/>
                <a:uFillTx/>
                <a:latin typeface="Times New Roman" pitchFamily="18" charset="0"/>
                <a:ea typeface="+mn-ea"/>
                <a:cs typeface="+mn-cs"/>
              </a:rPr>
              <a:t>equirements</a:t>
            </a: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mn-cs"/>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400" b="1" dirty="0">
                <a:solidFill>
                  <a:prstClr val="black"/>
                </a:solidFill>
                <a:latin typeface="Times New Roman" pitchFamily="18" charset="0"/>
              </a:rPr>
              <a:t>P</a:t>
            </a:r>
            <a:r>
              <a:rPr kumimoji="0" lang="en-US" sz="2400" b="1" i="0" u="none" strike="noStrike" kern="1200" cap="none" spc="0" normalizeH="0" baseline="0" noProof="0" dirty="0" err="1">
                <a:ln>
                  <a:noFill/>
                </a:ln>
                <a:solidFill>
                  <a:prstClr val="black"/>
                </a:solidFill>
                <a:effectLst/>
                <a:uLnTx/>
                <a:uFillTx/>
                <a:latin typeface="Times New Roman" pitchFamily="18" charset="0"/>
                <a:ea typeface="+mn-ea"/>
                <a:cs typeface="+mn-cs"/>
              </a:rPr>
              <a:t>lanning</a:t>
            </a: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mn-cs"/>
              </a:rPr>
              <a:t> </a:t>
            </a:r>
          </a:p>
        </p:txBody>
      </p:sp>
      <p:sp>
        <p:nvSpPr>
          <p:cNvPr id="15" name="Text Box 6">
            <a:extLst>
              <a:ext uri="{FF2B5EF4-FFF2-40B4-BE49-F238E27FC236}">
                <a16:creationId xmlns:a16="http://schemas.microsoft.com/office/drawing/2014/main" id="{51343E97-7E4B-3637-A5D0-2283C8094B99}"/>
              </a:ext>
            </a:extLst>
          </p:cNvPr>
          <p:cNvSpPr txBox="1">
            <a:spLocks noChangeArrowheads="1"/>
          </p:cNvSpPr>
          <p:nvPr/>
        </p:nvSpPr>
        <p:spPr bwMode="auto">
          <a:xfrm>
            <a:off x="4350497" y="2296625"/>
            <a:ext cx="3493905" cy="830997"/>
          </a:xfrm>
          <a:prstGeom prst="rect">
            <a:avLst/>
          </a:prstGeom>
          <a:noFill/>
          <a:ln w="9525">
            <a:noFill/>
            <a:miter lim="800000"/>
            <a:headEnd/>
            <a:tailEnd/>
          </a:ln>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buClrTx/>
              <a:buFontTx/>
              <a:buNone/>
            </a:pPr>
            <a:r>
              <a:rPr lang="en-US" sz="2400" b="1" dirty="0">
                <a:solidFill>
                  <a:prstClr val="black"/>
                </a:solidFill>
                <a:latin typeface="Times New Roman" pitchFamily="18" charset="0"/>
              </a:rPr>
              <a:t>MRP II – Manufacturing</a:t>
            </a:r>
          </a:p>
          <a:p>
            <a:pPr eaLnBrk="1" hangingPunct="1">
              <a:buClrTx/>
              <a:buFontTx/>
              <a:buNone/>
            </a:pPr>
            <a:r>
              <a:rPr lang="en-US" sz="2400" b="1" dirty="0">
                <a:solidFill>
                  <a:prstClr val="black"/>
                </a:solidFill>
                <a:latin typeface="Times New Roman" pitchFamily="18" charset="0"/>
              </a:rPr>
              <a:t>Resource Planning</a:t>
            </a:r>
          </a:p>
        </p:txBody>
      </p:sp>
      <p:sp>
        <p:nvSpPr>
          <p:cNvPr id="16" name="Text Box 7">
            <a:extLst>
              <a:ext uri="{FF2B5EF4-FFF2-40B4-BE49-F238E27FC236}">
                <a16:creationId xmlns:a16="http://schemas.microsoft.com/office/drawing/2014/main" id="{AD0335CD-B938-B054-3CE0-63B78D1A4B1E}"/>
              </a:ext>
            </a:extLst>
          </p:cNvPr>
          <p:cNvSpPr txBox="1">
            <a:spLocks noChangeArrowheads="1"/>
          </p:cNvSpPr>
          <p:nvPr/>
        </p:nvSpPr>
        <p:spPr bwMode="auto">
          <a:xfrm>
            <a:off x="4837808" y="1252860"/>
            <a:ext cx="2673136" cy="830997"/>
          </a:xfrm>
          <a:prstGeom prst="rect">
            <a:avLst/>
          </a:prstGeom>
          <a:noFill/>
          <a:ln w="9525">
            <a:no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buClrTx/>
              <a:buFontTx/>
              <a:buNone/>
            </a:pPr>
            <a:r>
              <a:rPr lang="en-US" sz="2400" b="1" dirty="0">
                <a:solidFill>
                  <a:prstClr val="white"/>
                </a:solidFill>
                <a:latin typeface="Times New Roman" pitchFamily="18" charset="0"/>
              </a:rPr>
              <a:t>ERP- Enterprise Resource Planning</a:t>
            </a:r>
          </a:p>
        </p:txBody>
      </p:sp>
    </p:spTree>
    <p:extLst>
      <p:ext uri="{BB962C8B-B14F-4D97-AF65-F5344CB8AC3E}">
        <p14:creationId xmlns:p14="http://schemas.microsoft.com/office/powerpoint/2010/main" val="243619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8069-9BA9-6276-CFBE-E9F73B276E9C}"/>
              </a:ext>
            </a:extLst>
          </p:cNvPr>
          <p:cNvSpPr>
            <a:spLocks noGrp="1"/>
          </p:cNvSpPr>
          <p:nvPr>
            <p:ph type="title"/>
          </p:nvPr>
        </p:nvSpPr>
        <p:spPr/>
        <p:txBody>
          <a:bodyPr/>
          <a:lstStyle/>
          <a:p>
            <a:r>
              <a:rPr lang="en-US" dirty="0"/>
              <a:t>Material Requirements Planning</a:t>
            </a:r>
            <a:endParaRPr lang="en-IN" dirty="0"/>
          </a:p>
        </p:txBody>
      </p:sp>
      <p:sp>
        <p:nvSpPr>
          <p:cNvPr id="3" name="Text Placeholder 2">
            <a:extLst>
              <a:ext uri="{FF2B5EF4-FFF2-40B4-BE49-F238E27FC236}">
                <a16:creationId xmlns:a16="http://schemas.microsoft.com/office/drawing/2014/main" id="{294F7384-207F-DDF1-962A-3803C2147083}"/>
              </a:ext>
            </a:extLst>
          </p:cNvPr>
          <p:cNvSpPr>
            <a:spLocks noGrp="1"/>
          </p:cNvSpPr>
          <p:nvPr>
            <p:ph type="body" idx="1"/>
          </p:nvPr>
        </p:nvSpPr>
        <p:spPr/>
        <p:txBody>
          <a:bodyPr/>
          <a:lstStyle/>
          <a:p>
            <a:pPr algn="just" eaLnBrk="0" hangingPunct="0">
              <a:lnSpc>
                <a:spcPct val="90000"/>
              </a:lnSpc>
              <a:spcAft>
                <a:spcPct val="35000"/>
              </a:spcAft>
              <a:buClr>
                <a:schemeClr val="tx1"/>
              </a:buClr>
              <a:buFont typeface="Arial" panose="020B0604020202020204" pitchFamily="34" charset="0"/>
              <a:buChar char="•"/>
            </a:pPr>
            <a:r>
              <a:rPr lang="en-US" dirty="0">
                <a:solidFill>
                  <a:srgbClr val="FF0000"/>
                </a:solidFill>
              </a:rPr>
              <a:t>Materials requirements planning (MRP) </a:t>
            </a:r>
            <a:r>
              <a:rPr lang="en-US" dirty="0"/>
              <a:t>is a </a:t>
            </a:r>
            <a:r>
              <a:rPr lang="tr-TR" dirty="0"/>
              <a:t>computerized  inventory planning and control system </a:t>
            </a:r>
            <a:r>
              <a:rPr lang="en-US" dirty="0"/>
              <a:t>for determining </a:t>
            </a:r>
            <a:r>
              <a:rPr lang="tr-TR" dirty="0"/>
              <a:t>when (no earlier and no later) and how many </a:t>
            </a:r>
            <a:r>
              <a:rPr lang="en-US" dirty="0"/>
              <a:t>of </a:t>
            </a:r>
            <a:r>
              <a:rPr lang="tr-TR" dirty="0"/>
              <a:t>each of the </a:t>
            </a:r>
            <a:r>
              <a:rPr lang="en-US" dirty="0"/>
              <a:t>parts, components, and materials </a:t>
            </a:r>
            <a:r>
              <a:rPr lang="tr-TR" dirty="0"/>
              <a:t>should be ordered or produced. </a:t>
            </a:r>
          </a:p>
          <a:p>
            <a:pPr algn="just" eaLnBrk="0" hangingPunct="0">
              <a:spcAft>
                <a:spcPct val="35000"/>
              </a:spcAft>
              <a:buClr>
                <a:schemeClr val="tx1"/>
              </a:buClr>
              <a:buFont typeface="Arial" panose="020B0604020202020204" pitchFamily="34" charset="0"/>
              <a:buChar char="•"/>
            </a:pPr>
            <a:r>
              <a:rPr lang="en-IN" dirty="0"/>
              <a:t>I</a:t>
            </a:r>
            <a:r>
              <a:rPr lang="tr-TR" dirty="0"/>
              <a:t>t translates master schedule requirements </a:t>
            </a:r>
            <a:r>
              <a:rPr lang="en-IN" dirty="0"/>
              <a:t>o</a:t>
            </a:r>
            <a:r>
              <a:rPr lang="tr-TR" dirty="0"/>
              <a:t>f end items into time-phased requirements for subassemblies, components and raw materials. </a:t>
            </a:r>
            <a:endParaRPr lang="en-US" dirty="0"/>
          </a:p>
        </p:txBody>
      </p:sp>
      <p:sp>
        <p:nvSpPr>
          <p:cNvPr id="4" name="Date Placeholder 3">
            <a:extLst>
              <a:ext uri="{FF2B5EF4-FFF2-40B4-BE49-F238E27FC236}">
                <a16:creationId xmlns:a16="http://schemas.microsoft.com/office/drawing/2014/main" id="{1420D275-C7A1-84BE-9EC9-EB0340371773}"/>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907F2EA4-AD1F-23E3-A5CF-CEBAAD2A20C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8DDA01DD-0B1C-A4B8-45A1-5BC701E965DF}"/>
              </a:ext>
            </a:extLst>
          </p:cNvPr>
          <p:cNvSpPr>
            <a:spLocks noGrp="1"/>
          </p:cNvSpPr>
          <p:nvPr>
            <p:ph type="sldNum" idx="12"/>
          </p:nvPr>
        </p:nvSpPr>
        <p:spPr/>
        <p:txBody>
          <a:bodyPr/>
          <a:lstStyle/>
          <a:p>
            <a:fld id="{00000000-1234-1234-1234-123412341234}" type="slidenum">
              <a:rPr lang="en-US" smtClean="0"/>
              <a:pPr/>
              <a:t>4</a:t>
            </a:fld>
            <a:endParaRPr lang="en-US" dirty="0"/>
          </a:p>
        </p:txBody>
      </p:sp>
    </p:spTree>
    <p:extLst>
      <p:ext uri="{BB962C8B-B14F-4D97-AF65-F5344CB8AC3E}">
        <p14:creationId xmlns:p14="http://schemas.microsoft.com/office/powerpoint/2010/main" val="184083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68C0-31F0-C550-8822-CF0ECFB3485A}"/>
              </a:ext>
            </a:extLst>
          </p:cNvPr>
          <p:cNvSpPr>
            <a:spLocks noGrp="1"/>
          </p:cNvSpPr>
          <p:nvPr>
            <p:ph type="title"/>
          </p:nvPr>
        </p:nvSpPr>
        <p:spPr/>
        <p:txBody>
          <a:bodyPr/>
          <a:lstStyle/>
          <a:p>
            <a:r>
              <a:rPr lang="en-IN" dirty="0"/>
              <a:t>Demand Characteristics</a:t>
            </a:r>
          </a:p>
        </p:txBody>
      </p:sp>
      <p:sp>
        <p:nvSpPr>
          <p:cNvPr id="4" name="Date Placeholder 3">
            <a:extLst>
              <a:ext uri="{FF2B5EF4-FFF2-40B4-BE49-F238E27FC236}">
                <a16:creationId xmlns:a16="http://schemas.microsoft.com/office/drawing/2014/main" id="{59D77731-E05A-0945-DC07-929F4212D58D}"/>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DB945A26-EE68-0928-AA40-E510961B1AE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240AB5B-DC38-5EBB-D1F6-AD089F0E61D7}"/>
              </a:ext>
            </a:extLst>
          </p:cNvPr>
          <p:cNvSpPr>
            <a:spLocks noGrp="1"/>
          </p:cNvSpPr>
          <p:nvPr>
            <p:ph type="sldNum" idx="12"/>
          </p:nvPr>
        </p:nvSpPr>
        <p:spPr/>
        <p:txBody>
          <a:bodyPr/>
          <a:lstStyle/>
          <a:p>
            <a:fld id="{00000000-1234-1234-1234-123412341234}" type="slidenum">
              <a:rPr lang="en-US" smtClean="0"/>
              <a:pPr/>
              <a:t>5</a:t>
            </a:fld>
            <a:endParaRPr lang="en-US" dirty="0"/>
          </a:p>
        </p:txBody>
      </p:sp>
      <p:grpSp>
        <p:nvGrpSpPr>
          <p:cNvPr id="48" name="Group 47">
            <a:extLst>
              <a:ext uri="{FF2B5EF4-FFF2-40B4-BE49-F238E27FC236}">
                <a16:creationId xmlns:a16="http://schemas.microsoft.com/office/drawing/2014/main" id="{40D34A0C-6225-7074-69A2-112A1B2311F4}"/>
              </a:ext>
            </a:extLst>
          </p:cNvPr>
          <p:cNvGrpSpPr>
            <a:grpSpLocks/>
          </p:cNvGrpSpPr>
          <p:nvPr/>
        </p:nvGrpSpPr>
        <p:grpSpPr bwMode="auto">
          <a:xfrm>
            <a:off x="606054" y="967563"/>
            <a:ext cx="9643730" cy="5167423"/>
            <a:chOff x="48" y="672"/>
            <a:chExt cx="5858" cy="3348"/>
          </a:xfrm>
        </p:grpSpPr>
        <p:sp>
          <p:nvSpPr>
            <p:cNvPr id="49" name="Oval 48">
              <a:extLst>
                <a:ext uri="{FF2B5EF4-FFF2-40B4-BE49-F238E27FC236}">
                  <a16:creationId xmlns:a16="http://schemas.microsoft.com/office/drawing/2014/main" id="{0DE15D49-4E7C-6117-32FE-400AE9C333F5}"/>
                </a:ext>
              </a:extLst>
            </p:cNvPr>
            <p:cNvSpPr>
              <a:spLocks noChangeArrowheads="1"/>
            </p:cNvSpPr>
            <p:nvPr/>
          </p:nvSpPr>
          <p:spPr bwMode="auto">
            <a:xfrm>
              <a:off x="1789" y="1155"/>
              <a:ext cx="1240" cy="520"/>
            </a:xfrm>
            <a:prstGeom prst="ellipse">
              <a:avLst/>
            </a:prstGeom>
            <a:solidFill>
              <a:srgbClr val="95CDBE"/>
            </a:solidFill>
            <a:ln w="12700">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0" name="Oval 49">
              <a:extLst>
                <a:ext uri="{FF2B5EF4-FFF2-40B4-BE49-F238E27FC236}">
                  <a16:creationId xmlns:a16="http://schemas.microsoft.com/office/drawing/2014/main" id="{FFE494F7-EF33-89ED-DA86-69DAAE392132}"/>
                </a:ext>
              </a:extLst>
            </p:cNvPr>
            <p:cNvSpPr>
              <a:spLocks noChangeArrowheads="1"/>
            </p:cNvSpPr>
            <p:nvPr/>
          </p:nvSpPr>
          <p:spPr bwMode="auto">
            <a:xfrm>
              <a:off x="433" y="1719"/>
              <a:ext cx="4024" cy="1720"/>
            </a:xfrm>
            <a:prstGeom prst="ellipse">
              <a:avLst/>
            </a:prstGeom>
            <a:solidFill>
              <a:srgbClr val="95CDBE"/>
            </a:solidFill>
            <a:ln w="12700">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51" name="Rectangle 50">
              <a:extLst>
                <a:ext uri="{FF2B5EF4-FFF2-40B4-BE49-F238E27FC236}">
                  <a16:creationId xmlns:a16="http://schemas.microsoft.com/office/drawing/2014/main" id="{58C4BFB6-35B4-EB54-4510-663FEBD62324}"/>
                </a:ext>
              </a:extLst>
            </p:cNvPr>
            <p:cNvSpPr>
              <a:spLocks noChangeArrowheads="1"/>
            </p:cNvSpPr>
            <p:nvPr/>
          </p:nvSpPr>
          <p:spPr bwMode="auto">
            <a:xfrm>
              <a:off x="3780" y="672"/>
              <a:ext cx="1789"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E2700"/>
                  </a:solidFill>
                  <a:effectLst/>
                  <a:uLnTx/>
                  <a:uFillTx/>
                  <a:latin typeface="Arial" charset="0"/>
                  <a:ea typeface="+mn-ea"/>
                  <a:cs typeface="+mn-cs"/>
                </a:rPr>
                <a:t>Independent Demand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(i.e. Finished goods)</a:t>
              </a: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p:txBody>
        </p:sp>
        <p:grpSp>
          <p:nvGrpSpPr>
            <p:cNvPr id="52" name="Group 51">
              <a:extLst>
                <a:ext uri="{FF2B5EF4-FFF2-40B4-BE49-F238E27FC236}">
                  <a16:creationId xmlns:a16="http://schemas.microsoft.com/office/drawing/2014/main" id="{1F919235-55AE-BB0E-DA36-A1D4F083E757}"/>
                </a:ext>
              </a:extLst>
            </p:cNvPr>
            <p:cNvGrpSpPr>
              <a:grpSpLocks/>
            </p:cNvGrpSpPr>
            <p:nvPr/>
          </p:nvGrpSpPr>
          <p:grpSpPr bwMode="auto">
            <a:xfrm>
              <a:off x="913" y="1365"/>
              <a:ext cx="2920" cy="1558"/>
              <a:chOff x="820" y="1474"/>
              <a:chExt cx="2920" cy="1558"/>
            </a:xfrm>
          </p:grpSpPr>
          <p:grpSp>
            <p:nvGrpSpPr>
              <p:cNvPr id="64" name="Group 63">
                <a:extLst>
                  <a:ext uri="{FF2B5EF4-FFF2-40B4-BE49-F238E27FC236}">
                    <a16:creationId xmlns:a16="http://schemas.microsoft.com/office/drawing/2014/main" id="{80537939-6DF9-9D68-5A7A-5B55180CC92C}"/>
                  </a:ext>
                </a:extLst>
              </p:cNvPr>
              <p:cNvGrpSpPr>
                <a:grpSpLocks/>
              </p:cNvGrpSpPr>
              <p:nvPr/>
            </p:nvGrpSpPr>
            <p:grpSpPr bwMode="auto">
              <a:xfrm>
                <a:off x="820" y="2128"/>
                <a:ext cx="1384" cy="904"/>
                <a:chOff x="820" y="2128"/>
                <a:chExt cx="1384" cy="904"/>
              </a:xfrm>
            </p:grpSpPr>
            <p:sp>
              <p:nvSpPr>
                <p:cNvPr id="81" name="Rectangle 80">
                  <a:extLst>
                    <a:ext uri="{FF2B5EF4-FFF2-40B4-BE49-F238E27FC236}">
                      <a16:creationId xmlns:a16="http://schemas.microsoft.com/office/drawing/2014/main" id="{870865DC-0E27-C027-33E9-2932FA70249D}"/>
                    </a:ext>
                  </a:extLst>
                </p:cNvPr>
                <p:cNvSpPr>
                  <a:spLocks noChangeArrowheads="1"/>
                </p:cNvSpPr>
                <p:nvPr/>
              </p:nvSpPr>
              <p:spPr bwMode="auto">
                <a:xfrm>
                  <a:off x="1270" y="2128"/>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82" name="Group 81">
                  <a:extLst>
                    <a:ext uri="{FF2B5EF4-FFF2-40B4-BE49-F238E27FC236}">
                      <a16:creationId xmlns:a16="http://schemas.microsoft.com/office/drawing/2014/main" id="{6C0EFF4F-C0DE-A963-D67C-921562BE0FA0}"/>
                    </a:ext>
                  </a:extLst>
                </p:cNvPr>
                <p:cNvGrpSpPr>
                  <a:grpSpLocks/>
                </p:cNvGrpSpPr>
                <p:nvPr/>
              </p:nvGrpSpPr>
              <p:grpSpPr bwMode="auto">
                <a:xfrm>
                  <a:off x="820" y="2776"/>
                  <a:ext cx="1384" cy="256"/>
                  <a:chOff x="820" y="2776"/>
                  <a:chExt cx="1384" cy="256"/>
                </a:xfrm>
              </p:grpSpPr>
              <p:sp>
                <p:nvSpPr>
                  <p:cNvPr id="87" name="Rectangle 86">
                    <a:extLst>
                      <a:ext uri="{FF2B5EF4-FFF2-40B4-BE49-F238E27FC236}">
                        <a16:creationId xmlns:a16="http://schemas.microsoft.com/office/drawing/2014/main" id="{572D8254-E02B-5191-D73A-CCFEE64E7479}"/>
                      </a:ext>
                    </a:extLst>
                  </p:cNvPr>
                  <p:cNvSpPr>
                    <a:spLocks noChangeArrowheads="1"/>
                  </p:cNvSpPr>
                  <p:nvPr/>
                </p:nvSpPr>
                <p:spPr bwMode="auto">
                  <a:xfrm>
                    <a:off x="1720"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8" name="Rectangle 87">
                    <a:extLst>
                      <a:ext uri="{FF2B5EF4-FFF2-40B4-BE49-F238E27FC236}">
                        <a16:creationId xmlns:a16="http://schemas.microsoft.com/office/drawing/2014/main" id="{A8C1CF85-D238-B410-4E06-369ADC64A38D}"/>
                      </a:ext>
                    </a:extLst>
                  </p:cNvPr>
                  <p:cNvSpPr>
                    <a:spLocks noChangeArrowheads="1"/>
                  </p:cNvSpPr>
                  <p:nvPr/>
                </p:nvSpPr>
                <p:spPr bwMode="auto">
                  <a:xfrm>
                    <a:off x="820"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83" name="Line 12">
                  <a:extLst>
                    <a:ext uri="{FF2B5EF4-FFF2-40B4-BE49-F238E27FC236}">
                      <a16:creationId xmlns:a16="http://schemas.microsoft.com/office/drawing/2014/main" id="{3E64DA42-6FEC-D004-D1D8-F1949CADCC11}"/>
                    </a:ext>
                  </a:extLst>
                </p:cNvPr>
                <p:cNvSpPr>
                  <a:spLocks noChangeShapeType="1"/>
                </p:cNvSpPr>
                <p:nvPr/>
              </p:nvSpPr>
              <p:spPr bwMode="auto">
                <a:xfrm>
                  <a:off x="1512" y="2397"/>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4" name="Line 13">
                  <a:extLst>
                    <a:ext uri="{FF2B5EF4-FFF2-40B4-BE49-F238E27FC236}">
                      <a16:creationId xmlns:a16="http://schemas.microsoft.com/office/drawing/2014/main" id="{B4CFFC54-4393-D255-2CB4-DBC6769377F8}"/>
                    </a:ext>
                  </a:extLst>
                </p:cNvPr>
                <p:cNvSpPr>
                  <a:spLocks noChangeShapeType="1"/>
                </p:cNvSpPr>
                <p:nvPr/>
              </p:nvSpPr>
              <p:spPr bwMode="auto">
                <a:xfrm>
                  <a:off x="1089" y="2580"/>
                  <a:ext cx="847" cy="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5" name="Line 14">
                  <a:extLst>
                    <a:ext uri="{FF2B5EF4-FFF2-40B4-BE49-F238E27FC236}">
                      <a16:creationId xmlns:a16="http://schemas.microsoft.com/office/drawing/2014/main" id="{140E56AB-A1D8-7BC7-5F5D-6F497ED9D5D9}"/>
                    </a:ext>
                  </a:extLst>
                </p:cNvPr>
                <p:cNvSpPr>
                  <a:spLocks noChangeShapeType="1"/>
                </p:cNvSpPr>
                <p:nvPr/>
              </p:nvSpPr>
              <p:spPr bwMode="auto">
                <a:xfrm>
                  <a:off x="1944"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6" name="Line 15">
                  <a:extLst>
                    <a:ext uri="{FF2B5EF4-FFF2-40B4-BE49-F238E27FC236}">
                      <a16:creationId xmlns:a16="http://schemas.microsoft.com/office/drawing/2014/main" id="{55AD8348-0A06-E926-9B0A-AF57D1516ABC}"/>
                    </a:ext>
                  </a:extLst>
                </p:cNvPr>
                <p:cNvSpPr>
                  <a:spLocks noChangeShapeType="1"/>
                </p:cNvSpPr>
                <p:nvPr/>
              </p:nvSpPr>
              <p:spPr bwMode="auto">
                <a:xfrm>
                  <a:off x="1080"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grpSp>
            <p:nvGrpSpPr>
              <p:cNvPr id="65" name="Group 64">
                <a:extLst>
                  <a:ext uri="{FF2B5EF4-FFF2-40B4-BE49-F238E27FC236}">
                    <a16:creationId xmlns:a16="http://schemas.microsoft.com/office/drawing/2014/main" id="{D7B14B52-C133-5D97-F654-309F736C0BAC}"/>
                  </a:ext>
                </a:extLst>
              </p:cNvPr>
              <p:cNvGrpSpPr>
                <a:grpSpLocks/>
              </p:cNvGrpSpPr>
              <p:nvPr/>
            </p:nvGrpSpPr>
            <p:grpSpPr bwMode="auto">
              <a:xfrm>
                <a:off x="2356" y="2128"/>
                <a:ext cx="1384" cy="904"/>
                <a:chOff x="2356" y="2128"/>
                <a:chExt cx="1384" cy="904"/>
              </a:xfrm>
            </p:grpSpPr>
            <p:sp>
              <p:nvSpPr>
                <p:cNvPr id="73" name="Rectangle 72">
                  <a:extLst>
                    <a:ext uri="{FF2B5EF4-FFF2-40B4-BE49-F238E27FC236}">
                      <a16:creationId xmlns:a16="http://schemas.microsoft.com/office/drawing/2014/main" id="{2B3640F4-2C53-E777-3949-AF3E6204EC59}"/>
                    </a:ext>
                  </a:extLst>
                </p:cNvPr>
                <p:cNvSpPr>
                  <a:spLocks noChangeArrowheads="1"/>
                </p:cNvSpPr>
                <p:nvPr/>
              </p:nvSpPr>
              <p:spPr bwMode="auto">
                <a:xfrm>
                  <a:off x="2806" y="2128"/>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74" name="Group 73">
                  <a:extLst>
                    <a:ext uri="{FF2B5EF4-FFF2-40B4-BE49-F238E27FC236}">
                      <a16:creationId xmlns:a16="http://schemas.microsoft.com/office/drawing/2014/main" id="{6679B1C7-E6CA-07FA-9D8A-E3F6573BEB9E}"/>
                    </a:ext>
                  </a:extLst>
                </p:cNvPr>
                <p:cNvGrpSpPr>
                  <a:grpSpLocks/>
                </p:cNvGrpSpPr>
                <p:nvPr/>
              </p:nvGrpSpPr>
              <p:grpSpPr bwMode="auto">
                <a:xfrm>
                  <a:off x="2356" y="2776"/>
                  <a:ext cx="1384" cy="256"/>
                  <a:chOff x="2356" y="2776"/>
                  <a:chExt cx="1384" cy="256"/>
                </a:xfrm>
              </p:grpSpPr>
              <p:sp>
                <p:nvSpPr>
                  <p:cNvPr id="79" name="Rectangle 78">
                    <a:extLst>
                      <a:ext uri="{FF2B5EF4-FFF2-40B4-BE49-F238E27FC236}">
                        <a16:creationId xmlns:a16="http://schemas.microsoft.com/office/drawing/2014/main" id="{60878834-D32F-BBE3-69CE-920130075B9F}"/>
                      </a:ext>
                    </a:extLst>
                  </p:cNvPr>
                  <p:cNvSpPr>
                    <a:spLocks noChangeArrowheads="1"/>
                  </p:cNvSpPr>
                  <p:nvPr/>
                </p:nvSpPr>
                <p:spPr bwMode="auto">
                  <a:xfrm>
                    <a:off x="3256"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0" name="Rectangle 79">
                    <a:extLst>
                      <a:ext uri="{FF2B5EF4-FFF2-40B4-BE49-F238E27FC236}">
                        <a16:creationId xmlns:a16="http://schemas.microsoft.com/office/drawing/2014/main" id="{DB6A2AA6-9573-4AF9-13BE-EAE19E15D2D2}"/>
                      </a:ext>
                    </a:extLst>
                  </p:cNvPr>
                  <p:cNvSpPr>
                    <a:spLocks noChangeArrowheads="1"/>
                  </p:cNvSpPr>
                  <p:nvPr/>
                </p:nvSpPr>
                <p:spPr bwMode="auto">
                  <a:xfrm>
                    <a:off x="2356"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75" name="Line 21">
                  <a:extLst>
                    <a:ext uri="{FF2B5EF4-FFF2-40B4-BE49-F238E27FC236}">
                      <a16:creationId xmlns:a16="http://schemas.microsoft.com/office/drawing/2014/main" id="{32B053F8-C7ED-2375-B19D-DBB3853C5D6D}"/>
                    </a:ext>
                  </a:extLst>
                </p:cNvPr>
                <p:cNvSpPr>
                  <a:spLocks noChangeShapeType="1"/>
                </p:cNvSpPr>
                <p:nvPr/>
              </p:nvSpPr>
              <p:spPr bwMode="auto">
                <a:xfrm>
                  <a:off x="3048" y="2397"/>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6" name="Line 22">
                  <a:extLst>
                    <a:ext uri="{FF2B5EF4-FFF2-40B4-BE49-F238E27FC236}">
                      <a16:creationId xmlns:a16="http://schemas.microsoft.com/office/drawing/2014/main" id="{8A2AB216-4ED4-C499-7AC3-701672315044}"/>
                    </a:ext>
                  </a:extLst>
                </p:cNvPr>
                <p:cNvSpPr>
                  <a:spLocks noChangeShapeType="1"/>
                </p:cNvSpPr>
                <p:nvPr/>
              </p:nvSpPr>
              <p:spPr bwMode="auto">
                <a:xfrm>
                  <a:off x="2625" y="2580"/>
                  <a:ext cx="847" cy="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7" name="Line 23">
                  <a:extLst>
                    <a:ext uri="{FF2B5EF4-FFF2-40B4-BE49-F238E27FC236}">
                      <a16:creationId xmlns:a16="http://schemas.microsoft.com/office/drawing/2014/main" id="{1B96B040-0254-0939-FEF8-22FF700EBE13}"/>
                    </a:ext>
                  </a:extLst>
                </p:cNvPr>
                <p:cNvSpPr>
                  <a:spLocks noChangeShapeType="1"/>
                </p:cNvSpPr>
                <p:nvPr/>
              </p:nvSpPr>
              <p:spPr bwMode="auto">
                <a:xfrm>
                  <a:off x="3480"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8" name="Line 24">
                  <a:extLst>
                    <a:ext uri="{FF2B5EF4-FFF2-40B4-BE49-F238E27FC236}">
                      <a16:creationId xmlns:a16="http://schemas.microsoft.com/office/drawing/2014/main" id="{5B9F796F-08A0-DC0A-09DC-151D13171D92}"/>
                    </a:ext>
                  </a:extLst>
                </p:cNvPr>
                <p:cNvSpPr>
                  <a:spLocks noChangeShapeType="1"/>
                </p:cNvSpPr>
                <p:nvPr/>
              </p:nvSpPr>
              <p:spPr bwMode="auto">
                <a:xfrm>
                  <a:off x="2616"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grpSp>
            <p:nvGrpSpPr>
              <p:cNvPr id="66" name="Group 65">
                <a:extLst>
                  <a:ext uri="{FF2B5EF4-FFF2-40B4-BE49-F238E27FC236}">
                    <a16:creationId xmlns:a16="http://schemas.microsoft.com/office/drawing/2014/main" id="{B9DA582E-8B92-5579-CEFD-E43BDC225AC3}"/>
                  </a:ext>
                </a:extLst>
              </p:cNvPr>
              <p:cNvGrpSpPr>
                <a:grpSpLocks/>
              </p:cNvGrpSpPr>
              <p:nvPr/>
            </p:nvGrpSpPr>
            <p:grpSpPr bwMode="auto">
              <a:xfrm>
                <a:off x="1512" y="1474"/>
                <a:ext cx="1536" cy="636"/>
                <a:chOff x="1512" y="1474"/>
                <a:chExt cx="1536" cy="636"/>
              </a:xfrm>
            </p:grpSpPr>
            <p:sp>
              <p:nvSpPr>
                <p:cNvPr id="67" name="Rectangle 66">
                  <a:extLst>
                    <a:ext uri="{FF2B5EF4-FFF2-40B4-BE49-F238E27FC236}">
                      <a16:creationId xmlns:a16="http://schemas.microsoft.com/office/drawing/2014/main" id="{590A2DA7-C5ED-6407-1F34-28D981F66AE6}"/>
                    </a:ext>
                  </a:extLst>
                </p:cNvPr>
                <p:cNvSpPr>
                  <a:spLocks noChangeArrowheads="1"/>
                </p:cNvSpPr>
                <p:nvPr/>
              </p:nvSpPr>
              <p:spPr bwMode="auto">
                <a:xfrm>
                  <a:off x="2086" y="1474"/>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68" name="Line 27">
                  <a:extLst>
                    <a:ext uri="{FF2B5EF4-FFF2-40B4-BE49-F238E27FC236}">
                      <a16:creationId xmlns:a16="http://schemas.microsoft.com/office/drawing/2014/main" id="{89754A8E-E557-9300-27C9-CB14CBF4304E}"/>
                    </a:ext>
                  </a:extLst>
                </p:cNvPr>
                <p:cNvSpPr>
                  <a:spLocks noChangeShapeType="1"/>
                </p:cNvSpPr>
                <p:nvPr/>
              </p:nvSpPr>
              <p:spPr bwMode="auto">
                <a:xfrm>
                  <a:off x="2328" y="1743"/>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69" name="Group 68">
                  <a:extLst>
                    <a:ext uri="{FF2B5EF4-FFF2-40B4-BE49-F238E27FC236}">
                      <a16:creationId xmlns:a16="http://schemas.microsoft.com/office/drawing/2014/main" id="{B40EF318-A30E-3ED9-D2EE-80FE4EC1511F}"/>
                    </a:ext>
                  </a:extLst>
                </p:cNvPr>
                <p:cNvGrpSpPr>
                  <a:grpSpLocks/>
                </p:cNvGrpSpPr>
                <p:nvPr/>
              </p:nvGrpSpPr>
              <p:grpSpPr bwMode="auto">
                <a:xfrm>
                  <a:off x="1512" y="1926"/>
                  <a:ext cx="1536" cy="184"/>
                  <a:chOff x="1512" y="1926"/>
                  <a:chExt cx="1536" cy="184"/>
                </a:xfrm>
              </p:grpSpPr>
              <p:sp>
                <p:nvSpPr>
                  <p:cNvPr id="70" name="Line 29">
                    <a:extLst>
                      <a:ext uri="{FF2B5EF4-FFF2-40B4-BE49-F238E27FC236}">
                        <a16:creationId xmlns:a16="http://schemas.microsoft.com/office/drawing/2014/main" id="{84FA4DF0-F535-AF77-F956-3FC040E33468}"/>
                      </a:ext>
                    </a:extLst>
                  </p:cNvPr>
                  <p:cNvSpPr>
                    <a:spLocks noChangeShapeType="1"/>
                  </p:cNvSpPr>
                  <p:nvPr/>
                </p:nvSpPr>
                <p:spPr bwMode="auto">
                  <a:xfrm>
                    <a:off x="1521" y="1926"/>
                    <a:ext cx="1519" cy="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1" name="Line 30">
                    <a:extLst>
                      <a:ext uri="{FF2B5EF4-FFF2-40B4-BE49-F238E27FC236}">
                        <a16:creationId xmlns:a16="http://schemas.microsoft.com/office/drawing/2014/main" id="{8C2FB5D8-8A1D-7193-EB81-F23444A9D429}"/>
                      </a:ext>
                    </a:extLst>
                  </p:cNvPr>
                  <p:cNvSpPr>
                    <a:spLocks noChangeShapeType="1"/>
                  </p:cNvSpPr>
                  <p:nvPr/>
                </p:nvSpPr>
                <p:spPr bwMode="auto">
                  <a:xfrm>
                    <a:off x="3048" y="1935"/>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2" name="Line 31">
                    <a:extLst>
                      <a:ext uri="{FF2B5EF4-FFF2-40B4-BE49-F238E27FC236}">
                        <a16:creationId xmlns:a16="http://schemas.microsoft.com/office/drawing/2014/main" id="{9DE30163-4030-A805-50CE-0F8101C790A1}"/>
                      </a:ext>
                    </a:extLst>
                  </p:cNvPr>
                  <p:cNvSpPr>
                    <a:spLocks noChangeShapeType="1"/>
                  </p:cNvSpPr>
                  <p:nvPr/>
                </p:nvSpPr>
                <p:spPr bwMode="auto">
                  <a:xfrm>
                    <a:off x="1512" y="1935"/>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grpSp>
        </p:grpSp>
        <p:sp>
          <p:nvSpPr>
            <p:cNvPr id="53" name="Rectangle 52">
              <a:extLst>
                <a:ext uri="{FF2B5EF4-FFF2-40B4-BE49-F238E27FC236}">
                  <a16:creationId xmlns:a16="http://schemas.microsoft.com/office/drawing/2014/main" id="{E4036622-808D-A823-9DEC-04F1FA48D95E}"/>
                </a:ext>
              </a:extLst>
            </p:cNvPr>
            <p:cNvSpPr>
              <a:spLocks noChangeArrowheads="1"/>
            </p:cNvSpPr>
            <p:nvPr/>
          </p:nvSpPr>
          <p:spPr bwMode="auto">
            <a:xfrm>
              <a:off x="2304" y="1383"/>
              <a:ext cx="23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A</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4" name="Rectangle 53">
              <a:extLst>
                <a:ext uri="{FF2B5EF4-FFF2-40B4-BE49-F238E27FC236}">
                  <a16:creationId xmlns:a16="http://schemas.microsoft.com/office/drawing/2014/main" id="{7D259C8F-342E-4809-684F-1885081F3543}"/>
                </a:ext>
              </a:extLst>
            </p:cNvPr>
            <p:cNvSpPr>
              <a:spLocks noChangeArrowheads="1"/>
            </p:cNvSpPr>
            <p:nvPr/>
          </p:nvSpPr>
          <p:spPr bwMode="auto">
            <a:xfrm>
              <a:off x="1422" y="2031"/>
              <a:ext cx="40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B(4)</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5" name="Rectangle 54">
              <a:extLst>
                <a:ext uri="{FF2B5EF4-FFF2-40B4-BE49-F238E27FC236}">
                  <a16:creationId xmlns:a16="http://schemas.microsoft.com/office/drawing/2014/main" id="{58BBCC66-7F64-7DC5-5FB9-E426E539674C}"/>
                </a:ext>
              </a:extLst>
            </p:cNvPr>
            <p:cNvSpPr>
              <a:spLocks noChangeArrowheads="1"/>
            </p:cNvSpPr>
            <p:nvPr/>
          </p:nvSpPr>
          <p:spPr bwMode="auto">
            <a:xfrm>
              <a:off x="2958" y="2025"/>
              <a:ext cx="4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C(2)</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6" name="Rectangle 55">
              <a:extLst>
                <a:ext uri="{FF2B5EF4-FFF2-40B4-BE49-F238E27FC236}">
                  <a16:creationId xmlns:a16="http://schemas.microsoft.com/office/drawing/2014/main" id="{475AA00C-97CD-5A85-0E31-2C33A8D93350}"/>
                </a:ext>
              </a:extLst>
            </p:cNvPr>
            <p:cNvSpPr>
              <a:spLocks noChangeArrowheads="1"/>
            </p:cNvSpPr>
            <p:nvPr/>
          </p:nvSpPr>
          <p:spPr bwMode="auto">
            <a:xfrm>
              <a:off x="936" y="2673"/>
              <a:ext cx="4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D(2)</a:t>
              </a:r>
            </a:p>
          </p:txBody>
        </p:sp>
        <p:sp>
          <p:nvSpPr>
            <p:cNvPr id="57" name="Rectangle 56">
              <a:extLst>
                <a:ext uri="{FF2B5EF4-FFF2-40B4-BE49-F238E27FC236}">
                  <a16:creationId xmlns:a16="http://schemas.microsoft.com/office/drawing/2014/main" id="{3DEDB534-733A-5C65-7DA6-AB45D18F9853}"/>
                </a:ext>
              </a:extLst>
            </p:cNvPr>
            <p:cNvSpPr>
              <a:spLocks noChangeArrowheads="1"/>
            </p:cNvSpPr>
            <p:nvPr/>
          </p:nvSpPr>
          <p:spPr bwMode="auto">
            <a:xfrm>
              <a:off x="1830" y="2673"/>
              <a:ext cx="40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E(1)</a:t>
              </a:r>
            </a:p>
          </p:txBody>
        </p:sp>
        <p:sp>
          <p:nvSpPr>
            <p:cNvPr id="58" name="Rectangle 57">
              <a:extLst>
                <a:ext uri="{FF2B5EF4-FFF2-40B4-BE49-F238E27FC236}">
                  <a16:creationId xmlns:a16="http://schemas.microsoft.com/office/drawing/2014/main" id="{1F596493-4BB1-AD1B-493D-D4911EB69A20}"/>
                </a:ext>
              </a:extLst>
            </p:cNvPr>
            <p:cNvSpPr>
              <a:spLocks noChangeArrowheads="1"/>
            </p:cNvSpPr>
            <p:nvPr/>
          </p:nvSpPr>
          <p:spPr bwMode="auto">
            <a:xfrm>
              <a:off x="2484" y="2679"/>
              <a:ext cx="4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D(3)</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9" name="Rectangle 58">
              <a:extLst>
                <a:ext uri="{FF2B5EF4-FFF2-40B4-BE49-F238E27FC236}">
                  <a16:creationId xmlns:a16="http://schemas.microsoft.com/office/drawing/2014/main" id="{31468DFD-1A6F-9F00-1298-B422493F1B29}"/>
                </a:ext>
              </a:extLst>
            </p:cNvPr>
            <p:cNvSpPr>
              <a:spLocks noChangeArrowheads="1"/>
            </p:cNvSpPr>
            <p:nvPr/>
          </p:nvSpPr>
          <p:spPr bwMode="auto">
            <a:xfrm>
              <a:off x="3408" y="2679"/>
              <a:ext cx="37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rPr>
                <a:t>F(2)</a:t>
              </a:r>
            </a:p>
          </p:txBody>
        </p:sp>
        <p:sp>
          <p:nvSpPr>
            <p:cNvPr id="60" name="Line 39">
              <a:extLst>
                <a:ext uri="{FF2B5EF4-FFF2-40B4-BE49-F238E27FC236}">
                  <a16:creationId xmlns:a16="http://schemas.microsoft.com/office/drawing/2014/main" id="{DAE6744E-805D-5C13-795C-EBE022D885D0}"/>
                </a:ext>
              </a:extLst>
            </p:cNvPr>
            <p:cNvSpPr>
              <a:spLocks noChangeShapeType="1"/>
            </p:cNvSpPr>
            <p:nvPr/>
          </p:nvSpPr>
          <p:spPr bwMode="auto">
            <a:xfrm flipV="1">
              <a:off x="2934" y="892"/>
              <a:ext cx="703" cy="351"/>
            </a:xfrm>
            <a:prstGeom prst="line">
              <a:avLst/>
            </a:prstGeom>
            <a:noFill/>
            <a:ln w="12700">
              <a:solidFill>
                <a:sysClr val="windowText" lastClr="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61" name="Line 40">
              <a:extLst>
                <a:ext uri="{FF2B5EF4-FFF2-40B4-BE49-F238E27FC236}">
                  <a16:creationId xmlns:a16="http://schemas.microsoft.com/office/drawing/2014/main" id="{02A1B1CB-F824-1560-4C88-DA225E447C41}"/>
                </a:ext>
              </a:extLst>
            </p:cNvPr>
            <p:cNvSpPr>
              <a:spLocks noChangeShapeType="1"/>
            </p:cNvSpPr>
            <p:nvPr/>
          </p:nvSpPr>
          <p:spPr bwMode="auto">
            <a:xfrm flipV="1">
              <a:off x="3414" y="1516"/>
              <a:ext cx="559" cy="303"/>
            </a:xfrm>
            <a:prstGeom prst="line">
              <a:avLst/>
            </a:prstGeom>
            <a:noFill/>
            <a:ln w="12700">
              <a:solidFill>
                <a:sysClr val="windowText" lastClr="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62" name="Rectangle 61">
              <a:extLst>
                <a:ext uri="{FF2B5EF4-FFF2-40B4-BE49-F238E27FC236}">
                  <a16:creationId xmlns:a16="http://schemas.microsoft.com/office/drawing/2014/main" id="{F6751537-1FD9-1707-4223-4F3F89B940DF}"/>
                </a:ext>
              </a:extLst>
            </p:cNvPr>
            <p:cNvSpPr>
              <a:spLocks noChangeArrowheads="1"/>
            </p:cNvSpPr>
            <p:nvPr/>
          </p:nvSpPr>
          <p:spPr bwMode="auto">
            <a:xfrm>
              <a:off x="4020" y="1365"/>
              <a:ext cx="1886" cy="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E2700"/>
                  </a:solidFill>
                  <a:effectLst/>
                  <a:uLnTx/>
                  <a:uFillTx/>
                  <a:latin typeface="Arial" charset="0"/>
                  <a:ea typeface="+mn-ea"/>
                  <a:cs typeface="+mn-cs"/>
                </a:rPr>
                <a:t>Dependent Demand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(i.e. C</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omponents of finished goods)</a:t>
              </a:r>
            </a:p>
          </p:txBody>
        </p:sp>
        <p:sp>
          <p:nvSpPr>
            <p:cNvPr id="63" name="Rectangle 62">
              <a:extLst>
                <a:ext uri="{FF2B5EF4-FFF2-40B4-BE49-F238E27FC236}">
                  <a16:creationId xmlns:a16="http://schemas.microsoft.com/office/drawing/2014/main" id="{7DC2D9D6-7D68-621A-B3EF-A0D3CA51A9C1}"/>
                </a:ext>
              </a:extLst>
            </p:cNvPr>
            <p:cNvSpPr>
              <a:spLocks noChangeArrowheads="1"/>
            </p:cNvSpPr>
            <p:nvPr/>
          </p:nvSpPr>
          <p:spPr bwMode="auto">
            <a:xfrm>
              <a:off x="48" y="3542"/>
              <a:ext cx="5760"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200" b="1" i="0" u="none" strike="noStrike" kern="1200" cap="none" spc="0" normalizeH="0" baseline="0" noProof="0" dirty="0">
                  <a:ln>
                    <a:noFill/>
                  </a:ln>
                  <a:solidFill>
                    <a:srgbClr val="CE2700"/>
                  </a:solidFill>
                  <a:effectLst/>
                  <a:uLnTx/>
                  <a:uFillTx/>
                  <a:latin typeface="Arial" charset="0"/>
                  <a:ea typeface="+mn-ea"/>
                  <a:cs typeface="+mn-cs"/>
                </a:rPr>
                <a:t>Independent demand is uncertain.  </a:t>
              </a:r>
              <a:br>
                <a:rPr kumimoji="0" lang="en-US" sz="2200" b="1" i="0" u="none" strike="noStrike" kern="1200" cap="none" spc="0" normalizeH="0" baseline="0" noProof="0" dirty="0">
                  <a:ln>
                    <a:noFill/>
                  </a:ln>
                  <a:solidFill>
                    <a:srgbClr val="CE2700"/>
                  </a:solidFill>
                  <a:effectLst/>
                  <a:uLnTx/>
                  <a:uFillTx/>
                  <a:latin typeface="Arial" charset="0"/>
                  <a:ea typeface="+mn-ea"/>
                  <a:cs typeface="+mn-cs"/>
                </a:rPr>
              </a:br>
              <a:r>
                <a:rPr kumimoji="0" lang="en-US" sz="2200" b="1" i="0" u="none" strike="noStrike" kern="1200" cap="none" spc="0" normalizeH="0" baseline="0" noProof="0" dirty="0">
                  <a:ln>
                    <a:noFill/>
                  </a:ln>
                  <a:solidFill>
                    <a:srgbClr val="CE2700"/>
                  </a:solidFill>
                  <a:effectLst/>
                  <a:uLnTx/>
                  <a:uFillTx/>
                  <a:latin typeface="Arial" charset="0"/>
                  <a:ea typeface="+mn-ea"/>
                  <a:cs typeface="+mn-cs"/>
                </a:rPr>
                <a:t>Dependent demand is certain.</a:t>
              </a:r>
              <a:r>
                <a:rPr kumimoji="0" lang="en-US" sz="2000" b="1" i="0" u="none" strike="noStrike" kern="1200" cap="none" spc="0" normalizeH="0" baseline="0" noProof="0" dirty="0">
                  <a:ln>
                    <a:noFill/>
                  </a:ln>
                  <a:solidFill>
                    <a:srgbClr val="CE2700"/>
                  </a:solidFill>
                  <a:effectLst/>
                  <a:uLnTx/>
                  <a:uFillTx/>
                  <a:latin typeface="Arial" charset="0"/>
                  <a:ea typeface="+mn-ea"/>
                  <a:cs typeface="+mn-cs"/>
                </a:rPr>
                <a:t>  </a:t>
              </a:r>
            </a:p>
          </p:txBody>
        </p:sp>
      </p:grpSp>
      <p:sp>
        <p:nvSpPr>
          <p:cNvPr id="7" name="TextBox 6">
            <a:extLst>
              <a:ext uri="{FF2B5EF4-FFF2-40B4-BE49-F238E27FC236}">
                <a16:creationId xmlns:a16="http://schemas.microsoft.com/office/drawing/2014/main" id="{75B25460-A9F7-0A11-EECD-45B7C1AFC724}"/>
              </a:ext>
            </a:extLst>
          </p:cNvPr>
          <p:cNvSpPr txBox="1"/>
          <p:nvPr/>
        </p:nvSpPr>
        <p:spPr>
          <a:xfrm>
            <a:off x="7410891" y="5744838"/>
            <a:ext cx="4678328" cy="424732"/>
          </a:xfrm>
          <a:prstGeom prst="rect">
            <a:avLst/>
          </a:prstGeom>
          <a:solidFill>
            <a:schemeClr val="accent6">
              <a:lumMod val="60000"/>
              <a:lumOff val="40000"/>
            </a:schemeClr>
          </a:solidFill>
          <a:ln>
            <a:solidFill>
              <a:schemeClr val="tx1"/>
            </a:solidFill>
          </a:ln>
        </p:spPr>
        <p:txBody>
          <a:bodyPr wrap="square">
            <a:spAutoFit/>
          </a:bodyPr>
          <a:lstStyle/>
          <a:p>
            <a:pPr algn="just" eaLnBrk="0" hangingPunct="0">
              <a:lnSpc>
                <a:spcPct val="90000"/>
              </a:lnSpc>
              <a:spcAft>
                <a:spcPct val="35000"/>
              </a:spcAft>
              <a:buClr>
                <a:schemeClr val="tx1"/>
              </a:buClr>
              <a:buFont typeface="Arial" panose="020B0604020202020204" pitchFamily="34" charset="0"/>
              <a:buChar char="•"/>
            </a:pPr>
            <a:r>
              <a:rPr lang="en-US" sz="2400" b="1" dirty="0">
                <a:latin typeface="Times New Roman" panose="02020603050405020304" pitchFamily="18" charset="0"/>
                <a:ea typeface="Tahoma" panose="020B0604030504040204" pitchFamily="34" charset="0"/>
                <a:cs typeface="Times New Roman" panose="02020603050405020304" pitchFamily="18" charset="0"/>
              </a:rPr>
              <a:t>Dependent demand drives MRP.</a:t>
            </a:r>
          </a:p>
        </p:txBody>
      </p:sp>
    </p:spTree>
    <p:extLst>
      <p:ext uri="{BB962C8B-B14F-4D97-AF65-F5344CB8AC3E}">
        <p14:creationId xmlns:p14="http://schemas.microsoft.com/office/powerpoint/2010/main" val="322757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AB46-E8FE-A5B0-2473-8E962957F805}"/>
              </a:ext>
            </a:extLst>
          </p:cNvPr>
          <p:cNvSpPr>
            <a:spLocks noGrp="1"/>
          </p:cNvSpPr>
          <p:nvPr>
            <p:ph type="title"/>
          </p:nvPr>
        </p:nvSpPr>
        <p:spPr/>
        <p:txBody>
          <a:bodyPr/>
          <a:lstStyle/>
          <a:p>
            <a:r>
              <a:rPr lang="en-IN" dirty="0"/>
              <a:t>Demand Characteristics</a:t>
            </a:r>
          </a:p>
        </p:txBody>
      </p:sp>
      <p:sp>
        <p:nvSpPr>
          <p:cNvPr id="4" name="Date Placeholder 3">
            <a:extLst>
              <a:ext uri="{FF2B5EF4-FFF2-40B4-BE49-F238E27FC236}">
                <a16:creationId xmlns:a16="http://schemas.microsoft.com/office/drawing/2014/main" id="{FA6C3289-0A3E-DA98-EA9C-0F2FAACF61F1}"/>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BE7550A8-0C9E-F56B-C659-5BF792B1404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17D86550-5AA0-CBDC-9DAA-4F52E6F14ABE}"/>
              </a:ext>
            </a:extLst>
          </p:cNvPr>
          <p:cNvSpPr>
            <a:spLocks noGrp="1"/>
          </p:cNvSpPr>
          <p:nvPr>
            <p:ph type="sldNum" idx="12"/>
          </p:nvPr>
        </p:nvSpPr>
        <p:spPr/>
        <p:txBody>
          <a:bodyPr/>
          <a:lstStyle/>
          <a:p>
            <a:fld id="{00000000-1234-1234-1234-123412341234}" type="slidenum">
              <a:rPr lang="en-US" smtClean="0"/>
              <a:pPr/>
              <a:t>6</a:t>
            </a:fld>
            <a:endParaRPr lang="en-US" dirty="0"/>
          </a:p>
        </p:txBody>
      </p:sp>
      <p:grpSp>
        <p:nvGrpSpPr>
          <p:cNvPr id="49" name="Group 45">
            <a:extLst>
              <a:ext uri="{FF2B5EF4-FFF2-40B4-BE49-F238E27FC236}">
                <a16:creationId xmlns:a16="http://schemas.microsoft.com/office/drawing/2014/main" id="{CE53A08C-8194-799E-2E95-F688F80D37A3}"/>
              </a:ext>
            </a:extLst>
          </p:cNvPr>
          <p:cNvGrpSpPr>
            <a:grpSpLocks/>
          </p:cNvGrpSpPr>
          <p:nvPr/>
        </p:nvGrpSpPr>
        <p:grpSpPr bwMode="auto">
          <a:xfrm>
            <a:off x="2261189" y="1008317"/>
            <a:ext cx="7772400" cy="5105400"/>
            <a:chOff x="480" y="816"/>
            <a:chExt cx="4896" cy="3216"/>
          </a:xfrm>
        </p:grpSpPr>
        <p:sp>
          <p:nvSpPr>
            <p:cNvPr id="50" name="Rectangle 44">
              <a:extLst>
                <a:ext uri="{FF2B5EF4-FFF2-40B4-BE49-F238E27FC236}">
                  <a16:creationId xmlns:a16="http://schemas.microsoft.com/office/drawing/2014/main" id="{58B95063-025B-B706-A444-8A0745290E62}"/>
                </a:ext>
              </a:extLst>
            </p:cNvPr>
            <p:cNvSpPr>
              <a:spLocks noChangeArrowheads="1"/>
            </p:cNvSpPr>
            <p:nvPr/>
          </p:nvSpPr>
          <p:spPr bwMode="auto">
            <a:xfrm>
              <a:off x="480" y="816"/>
              <a:ext cx="4896" cy="3216"/>
            </a:xfrm>
            <a:prstGeom prst="rect">
              <a:avLst/>
            </a:prstGeom>
            <a:solidFill>
              <a:srgbClr val="CCCC99"/>
            </a:solidFill>
            <a:ln w="25400" algn="ctr">
              <a:solidFill>
                <a:srgbClr val="003366"/>
              </a:solidFill>
              <a:miter lim="800000"/>
              <a:headEnd/>
              <a:tailEnd/>
            </a:ln>
            <a:effectLst/>
          </p:spPr>
          <p:txBody>
            <a:bodyPr wrap="none" anchor="ctr">
              <a:spAutoFit/>
            </a:body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grpSp>
          <p:nvGrpSpPr>
            <p:cNvPr id="51" name="Group 3">
              <a:extLst>
                <a:ext uri="{FF2B5EF4-FFF2-40B4-BE49-F238E27FC236}">
                  <a16:creationId xmlns:a16="http://schemas.microsoft.com/office/drawing/2014/main" id="{CD69B3FF-FEB5-BDFB-9C5E-81416C17BCE8}"/>
                </a:ext>
              </a:extLst>
            </p:cNvPr>
            <p:cNvGrpSpPr>
              <a:grpSpLocks/>
            </p:cNvGrpSpPr>
            <p:nvPr/>
          </p:nvGrpSpPr>
          <p:grpSpPr bwMode="auto">
            <a:xfrm>
              <a:off x="786" y="876"/>
              <a:ext cx="4369" cy="3079"/>
              <a:chOff x="786" y="876"/>
              <a:chExt cx="4369" cy="3079"/>
            </a:xfrm>
          </p:grpSpPr>
          <p:grpSp>
            <p:nvGrpSpPr>
              <p:cNvPr id="52" name="Group 4">
                <a:extLst>
                  <a:ext uri="{FF2B5EF4-FFF2-40B4-BE49-F238E27FC236}">
                    <a16:creationId xmlns:a16="http://schemas.microsoft.com/office/drawing/2014/main" id="{FFB2A9A9-7CC6-C037-4216-3F90A1F90776}"/>
                  </a:ext>
                </a:extLst>
              </p:cNvPr>
              <p:cNvGrpSpPr>
                <a:grpSpLocks/>
              </p:cNvGrpSpPr>
              <p:nvPr/>
            </p:nvGrpSpPr>
            <p:grpSpPr bwMode="auto">
              <a:xfrm>
                <a:off x="786" y="2494"/>
                <a:ext cx="1920" cy="1461"/>
                <a:chOff x="786" y="2683"/>
                <a:chExt cx="1920" cy="1461"/>
              </a:xfrm>
            </p:grpSpPr>
            <p:sp>
              <p:nvSpPr>
                <p:cNvPr id="80" name="Rectangle 5">
                  <a:extLst>
                    <a:ext uri="{FF2B5EF4-FFF2-40B4-BE49-F238E27FC236}">
                      <a16:creationId xmlns:a16="http://schemas.microsoft.com/office/drawing/2014/main" id="{2D59F1E0-3393-9369-0D71-F88185858E1C}"/>
                    </a:ext>
                  </a:extLst>
                </p:cNvPr>
                <p:cNvSpPr>
                  <a:spLocks noChangeArrowheads="1"/>
                </p:cNvSpPr>
                <p:nvPr/>
              </p:nvSpPr>
              <p:spPr bwMode="auto">
                <a:xfrm>
                  <a:off x="1168" y="3672"/>
                  <a:ext cx="1528" cy="240"/>
                </a:xfrm>
                <a:prstGeom prst="rect">
                  <a:avLst/>
                </a:prstGeom>
                <a:solidFill>
                  <a:srgbClr val="FF99FF"/>
                </a:solidFill>
                <a:ln w="9525">
                  <a:no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1" name="Rectangle 6">
                  <a:extLst>
                    <a:ext uri="{FF2B5EF4-FFF2-40B4-BE49-F238E27FC236}">
                      <a16:creationId xmlns:a16="http://schemas.microsoft.com/office/drawing/2014/main" id="{68281A8E-8FFE-1C2D-22BE-87A463805B0D}"/>
                    </a:ext>
                  </a:extLst>
                </p:cNvPr>
                <p:cNvSpPr>
                  <a:spLocks noChangeArrowheads="1"/>
                </p:cNvSpPr>
                <p:nvPr/>
              </p:nvSpPr>
              <p:spPr bwMode="auto">
                <a:xfrm>
                  <a:off x="1162" y="3894"/>
                  <a:ext cx="1534" cy="250"/>
                </a:xfrm>
                <a:prstGeom prst="rect">
                  <a:avLst/>
                </a:prstGeom>
                <a:noFill/>
                <a:ln w="9525">
                  <a:noFill/>
                  <a:miter lim="800000"/>
                  <a:headEnd/>
                  <a:tailEnd/>
                </a:ln>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tab pos="190500" algn="ctr"/>
                      <a:tab pos="668338" algn="ctr"/>
                      <a:tab pos="1143000" algn="ctr"/>
                      <a:tab pos="1620838" algn="ctr"/>
                      <a:tab pos="2095500" algn="ctr"/>
                    </a:tabLst>
                    <a:defRPr/>
                  </a:pPr>
                  <a:r>
                    <a:rPr kumimoji="0" lang="en-US" sz="10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	1	2	3	4	5</a:t>
                  </a:r>
                </a:p>
                <a:p>
                  <a:pPr marL="0" marR="0" lvl="0" indent="0" defTabSz="914400" eaLnBrk="0" fontAlgn="base" latinLnBrk="0" hangingPunct="0">
                    <a:lnSpc>
                      <a:spcPct val="100000"/>
                    </a:lnSpc>
                    <a:spcBef>
                      <a:spcPct val="0"/>
                    </a:spcBef>
                    <a:spcAft>
                      <a:spcPct val="0"/>
                    </a:spcAft>
                    <a:buClrTx/>
                    <a:buSzTx/>
                    <a:buFontTx/>
                    <a:buNone/>
                    <a:tabLst>
                      <a:tab pos="190500" algn="ctr"/>
                      <a:tab pos="668338" algn="ctr"/>
                      <a:tab pos="1143000" algn="ctr"/>
                      <a:tab pos="1620838" algn="ctr"/>
                      <a:tab pos="2095500" algn="ctr"/>
                    </a:tabLst>
                    <a:defRPr/>
                  </a:pPr>
                  <a:r>
                    <a:rPr kumimoji="0" lang="en-US" sz="10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			Week</a:t>
                  </a:r>
                </a:p>
              </p:txBody>
            </p:sp>
            <p:sp>
              <p:nvSpPr>
                <p:cNvPr id="82" name="Line 7">
                  <a:extLst>
                    <a:ext uri="{FF2B5EF4-FFF2-40B4-BE49-F238E27FC236}">
                      <a16:creationId xmlns:a16="http://schemas.microsoft.com/office/drawing/2014/main" id="{DF77783A-2A93-8022-D1F3-2394294D0804}"/>
                    </a:ext>
                  </a:extLst>
                </p:cNvPr>
                <p:cNvSpPr>
                  <a:spLocks noChangeShapeType="1"/>
                </p:cNvSpPr>
                <p:nvPr/>
              </p:nvSpPr>
              <p:spPr bwMode="auto">
                <a:xfrm>
                  <a:off x="1480"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3" name="Line 8">
                  <a:extLst>
                    <a:ext uri="{FF2B5EF4-FFF2-40B4-BE49-F238E27FC236}">
                      <a16:creationId xmlns:a16="http://schemas.microsoft.com/office/drawing/2014/main" id="{4AE9FA25-E213-2083-782A-EA7CFA058A65}"/>
                    </a:ext>
                  </a:extLst>
                </p:cNvPr>
                <p:cNvSpPr>
                  <a:spLocks noChangeShapeType="1"/>
                </p:cNvSpPr>
                <p:nvPr/>
              </p:nvSpPr>
              <p:spPr bwMode="auto">
                <a:xfrm>
                  <a:off x="1788"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4" name="Line 9">
                  <a:extLst>
                    <a:ext uri="{FF2B5EF4-FFF2-40B4-BE49-F238E27FC236}">
                      <a16:creationId xmlns:a16="http://schemas.microsoft.com/office/drawing/2014/main" id="{E7C0210B-631C-ADA0-EDB0-6094AC54D060}"/>
                    </a:ext>
                  </a:extLst>
                </p:cNvPr>
                <p:cNvSpPr>
                  <a:spLocks noChangeShapeType="1"/>
                </p:cNvSpPr>
                <p:nvPr/>
              </p:nvSpPr>
              <p:spPr bwMode="auto">
                <a:xfrm>
                  <a:off x="2092"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5" name="Line 10">
                  <a:extLst>
                    <a:ext uri="{FF2B5EF4-FFF2-40B4-BE49-F238E27FC236}">
                      <a16:creationId xmlns:a16="http://schemas.microsoft.com/office/drawing/2014/main" id="{8079152B-B487-8175-BB25-BC9F4F418A68}"/>
                    </a:ext>
                  </a:extLst>
                </p:cNvPr>
                <p:cNvSpPr>
                  <a:spLocks noChangeShapeType="1"/>
                </p:cNvSpPr>
                <p:nvPr/>
              </p:nvSpPr>
              <p:spPr bwMode="auto">
                <a:xfrm>
                  <a:off x="2400"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6" name="Line 11">
                  <a:extLst>
                    <a:ext uri="{FF2B5EF4-FFF2-40B4-BE49-F238E27FC236}">
                      <a16:creationId xmlns:a16="http://schemas.microsoft.com/office/drawing/2014/main" id="{FB4B3854-5FF5-EDD8-8D35-952E0D4330D3}"/>
                    </a:ext>
                  </a:extLst>
                </p:cNvPr>
                <p:cNvSpPr>
                  <a:spLocks noChangeShapeType="1"/>
                </p:cNvSpPr>
                <p:nvPr/>
              </p:nvSpPr>
              <p:spPr bwMode="auto">
                <a:xfrm>
                  <a:off x="1180" y="3672"/>
                  <a:ext cx="1516" cy="0"/>
                </a:xfrm>
                <a:prstGeom prst="line">
                  <a:avLst/>
                </a:prstGeom>
                <a:noFill/>
                <a:ln w="38100">
                  <a:solidFill>
                    <a:srgbClr val="FF00FF"/>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7" name="Freeform 12">
                  <a:extLst>
                    <a:ext uri="{FF2B5EF4-FFF2-40B4-BE49-F238E27FC236}">
                      <a16:creationId xmlns:a16="http://schemas.microsoft.com/office/drawing/2014/main" id="{50647798-06EA-88AD-BC4A-556B3F6534F0}"/>
                    </a:ext>
                  </a:extLst>
                </p:cNvPr>
                <p:cNvSpPr>
                  <a:spLocks/>
                </p:cNvSpPr>
                <p:nvPr/>
              </p:nvSpPr>
              <p:spPr bwMode="auto">
                <a:xfrm>
                  <a:off x="1173" y="2942"/>
                  <a:ext cx="1533" cy="969"/>
                </a:xfrm>
                <a:custGeom>
                  <a:avLst/>
                  <a:gdLst/>
                  <a:ahLst/>
                  <a:cxnLst>
                    <a:cxn ang="0">
                      <a:pos x="0" y="0"/>
                    </a:cxn>
                    <a:cxn ang="0">
                      <a:pos x="0" y="969"/>
                    </a:cxn>
                    <a:cxn ang="0">
                      <a:pos x="1520" y="969"/>
                    </a:cxn>
                  </a:cxnLst>
                  <a:rect l="0" t="0" r="r" b="b"/>
                  <a:pathLst>
                    <a:path w="1520" h="969">
                      <a:moveTo>
                        <a:pt x="0" y="0"/>
                      </a:moveTo>
                      <a:lnTo>
                        <a:pt x="0" y="969"/>
                      </a:lnTo>
                      <a:lnTo>
                        <a:pt x="1520" y="969"/>
                      </a:lnTo>
                    </a:path>
                  </a:pathLst>
                </a:custGeom>
                <a:noFill/>
                <a:ln w="38100" cap="flat" cmpd="sng">
                  <a:solidFill>
                    <a:srgbClr val="EEEEEE"/>
                  </a:solidFill>
                  <a:prstDash val="solid"/>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8" name="Rectangle 13">
                  <a:extLst>
                    <a:ext uri="{FF2B5EF4-FFF2-40B4-BE49-F238E27FC236}">
                      <a16:creationId xmlns:a16="http://schemas.microsoft.com/office/drawing/2014/main" id="{7D070E4A-4612-6AE8-E1AC-78666D7D534C}"/>
                    </a:ext>
                  </a:extLst>
                </p:cNvPr>
                <p:cNvSpPr>
                  <a:spLocks noChangeArrowheads="1"/>
                </p:cNvSpPr>
                <p:nvPr/>
              </p:nvSpPr>
              <p:spPr bwMode="auto">
                <a:xfrm>
                  <a:off x="929" y="2749"/>
                  <a:ext cx="355" cy="1026"/>
                </a:xfrm>
                <a:prstGeom prst="rect">
                  <a:avLst/>
                </a:prstGeom>
                <a:noFill/>
                <a:ln w="9525">
                  <a:noFill/>
                  <a:miter lim="800000"/>
                  <a:headEnd/>
                  <a:tailEnd/>
                </a:ln>
                <a:effectLst/>
              </p:spPr>
              <p:txBody>
                <a:bodyPr wrap="none">
                  <a:spAutoFit/>
                </a:bodyPr>
                <a:lstStyle/>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400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300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200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p>
              </p:txBody>
            </p:sp>
            <p:sp>
              <p:nvSpPr>
                <p:cNvPr id="89" name="Rectangle 14">
                  <a:extLst>
                    <a:ext uri="{FF2B5EF4-FFF2-40B4-BE49-F238E27FC236}">
                      <a16:creationId xmlns:a16="http://schemas.microsoft.com/office/drawing/2014/main" id="{1CABDAEA-1733-4C06-74AB-1D7D0C95673F}"/>
                    </a:ext>
                  </a:extLst>
                </p:cNvPr>
                <p:cNvSpPr>
                  <a:spLocks noChangeArrowheads="1"/>
                </p:cNvSpPr>
                <p:nvPr/>
              </p:nvSpPr>
              <p:spPr bwMode="auto">
                <a:xfrm rot="-5400000">
                  <a:off x="526" y="3341"/>
                  <a:ext cx="693"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No. of tables</a:t>
                  </a:r>
                </a:p>
              </p:txBody>
            </p:sp>
            <p:sp>
              <p:nvSpPr>
                <p:cNvPr id="90" name="Rectangle 15">
                  <a:extLst>
                    <a:ext uri="{FF2B5EF4-FFF2-40B4-BE49-F238E27FC236}">
                      <a16:creationId xmlns:a16="http://schemas.microsoft.com/office/drawing/2014/main" id="{621FE8D1-E73A-6CA3-AA05-8A70CDDA55A1}"/>
                    </a:ext>
                  </a:extLst>
                </p:cNvPr>
                <p:cNvSpPr>
                  <a:spLocks noChangeArrowheads="1"/>
                </p:cNvSpPr>
                <p:nvPr/>
              </p:nvSpPr>
              <p:spPr bwMode="auto">
                <a:xfrm>
                  <a:off x="1291" y="2683"/>
                  <a:ext cx="1194"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Continuous demand</a:t>
                  </a:r>
                </a:p>
              </p:txBody>
            </p:sp>
          </p:grpSp>
          <p:grpSp>
            <p:nvGrpSpPr>
              <p:cNvPr id="53" name="Group 16">
                <a:extLst>
                  <a:ext uri="{FF2B5EF4-FFF2-40B4-BE49-F238E27FC236}">
                    <a16:creationId xmlns:a16="http://schemas.microsoft.com/office/drawing/2014/main" id="{FFFDDD3A-CBC8-AAF9-3D51-386F03DF457B}"/>
                  </a:ext>
                </a:extLst>
              </p:cNvPr>
              <p:cNvGrpSpPr>
                <a:grpSpLocks/>
              </p:cNvGrpSpPr>
              <p:nvPr/>
            </p:nvGrpSpPr>
            <p:grpSpPr bwMode="auto">
              <a:xfrm>
                <a:off x="3072" y="2588"/>
                <a:ext cx="1920" cy="1367"/>
                <a:chOff x="2944" y="2681"/>
                <a:chExt cx="1920" cy="1367"/>
              </a:xfrm>
            </p:grpSpPr>
            <p:sp>
              <p:nvSpPr>
                <p:cNvPr id="73" name="Rectangle 17">
                  <a:extLst>
                    <a:ext uri="{FF2B5EF4-FFF2-40B4-BE49-F238E27FC236}">
                      <a16:creationId xmlns:a16="http://schemas.microsoft.com/office/drawing/2014/main" id="{B19300A5-D978-6939-974A-146D5F6E753E}"/>
                    </a:ext>
                  </a:extLst>
                </p:cNvPr>
                <p:cNvSpPr>
                  <a:spLocks noChangeArrowheads="1"/>
                </p:cNvSpPr>
                <p:nvPr/>
              </p:nvSpPr>
              <p:spPr bwMode="auto">
                <a:xfrm>
                  <a:off x="3884" y="2952"/>
                  <a:ext cx="140" cy="956"/>
                </a:xfrm>
                <a:prstGeom prst="rect">
                  <a:avLst/>
                </a:prstGeom>
                <a:solidFill>
                  <a:srgbClr val="FF99FF"/>
                </a:solidFill>
                <a:ln w="28575">
                  <a:solidFill>
                    <a:srgbClr val="FF00FF"/>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4" name="Rectangle 18">
                  <a:extLst>
                    <a:ext uri="{FF2B5EF4-FFF2-40B4-BE49-F238E27FC236}">
                      <a16:creationId xmlns:a16="http://schemas.microsoft.com/office/drawing/2014/main" id="{2D9181C1-E842-6690-3AD8-2C048F6D39AC}"/>
                    </a:ext>
                  </a:extLst>
                </p:cNvPr>
                <p:cNvSpPr>
                  <a:spLocks noChangeArrowheads="1"/>
                </p:cNvSpPr>
                <p:nvPr/>
              </p:nvSpPr>
              <p:spPr bwMode="auto">
                <a:xfrm>
                  <a:off x="4568" y="2952"/>
                  <a:ext cx="140" cy="956"/>
                </a:xfrm>
                <a:prstGeom prst="rect">
                  <a:avLst/>
                </a:prstGeom>
                <a:solidFill>
                  <a:srgbClr val="FF99FF"/>
                </a:solidFill>
                <a:ln w="28575">
                  <a:solidFill>
                    <a:srgbClr val="FF00FF"/>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5" name="Rectangle 19">
                  <a:extLst>
                    <a:ext uri="{FF2B5EF4-FFF2-40B4-BE49-F238E27FC236}">
                      <a16:creationId xmlns:a16="http://schemas.microsoft.com/office/drawing/2014/main" id="{954D12A7-3B38-2828-80C6-D19218808ABF}"/>
                    </a:ext>
                  </a:extLst>
                </p:cNvPr>
                <p:cNvSpPr>
                  <a:spLocks noChangeArrowheads="1"/>
                </p:cNvSpPr>
                <p:nvPr/>
              </p:nvSpPr>
              <p:spPr bwMode="auto">
                <a:xfrm>
                  <a:off x="3320" y="3894"/>
                  <a:ext cx="1534" cy="154"/>
                </a:xfrm>
                <a:prstGeom prst="rect">
                  <a:avLst/>
                </a:prstGeom>
                <a:noFill/>
                <a:ln w="9525">
                  <a:noFill/>
                  <a:miter lim="800000"/>
                  <a:headEnd/>
                  <a:tailEnd/>
                </a:ln>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tab pos="95250" algn="ctr"/>
                      <a:tab pos="285750" algn="ctr"/>
                      <a:tab pos="476250" algn="ctr"/>
                      <a:tab pos="666750" algn="ctr"/>
                      <a:tab pos="952500" algn="ctr"/>
                      <a:tab pos="1238250" algn="ctr"/>
                      <a:tab pos="1428750" algn="ctr"/>
                      <a:tab pos="1619250" algn="ctr"/>
                      <a:tab pos="1809750" algn="ctr"/>
                      <a:tab pos="2000250" algn="ctr"/>
                    </a:tabLst>
                    <a:defRPr/>
                  </a:pPr>
                  <a:r>
                    <a:rPr kumimoji="0" lang="en-US" sz="10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M   T   W   Th   F    M   T   W   Th   F</a:t>
                  </a:r>
                </a:p>
              </p:txBody>
            </p:sp>
            <p:sp>
              <p:nvSpPr>
                <p:cNvPr id="76" name="Freeform 20">
                  <a:extLst>
                    <a:ext uri="{FF2B5EF4-FFF2-40B4-BE49-F238E27FC236}">
                      <a16:creationId xmlns:a16="http://schemas.microsoft.com/office/drawing/2014/main" id="{60478603-3399-D4A6-A7FE-8ACEB27D1807}"/>
                    </a:ext>
                  </a:extLst>
                </p:cNvPr>
                <p:cNvSpPr>
                  <a:spLocks/>
                </p:cNvSpPr>
                <p:nvPr/>
              </p:nvSpPr>
              <p:spPr bwMode="auto">
                <a:xfrm>
                  <a:off x="3331" y="2940"/>
                  <a:ext cx="1533" cy="969"/>
                </a:xfrm>
                <a:custGeom>
                  <a:avLst/>
                  <a:gdLst/>
                  <a:ahLst/>
                  <a:cxnLst>
                    <a:cxn ang="0">
                      <a:pos x="0" y="0"/>
                    </a:cxn>
                    <a:cxn ang="0">
                      <a:pos x="0" y="969"/>
                    </a:cxn>
                    <a:cxn ang="0">
                      <a:pos x="1520" y="969"/>
                    </a:cxn>
                  </a:cxnLst>
                  <a:rect l="0" t="0" r="r" b="b"/>
                  <a:pathLst>
                    <a:path w="1520" h="969">
                      <a:moveTo>
                        <a:pt x="0" y="0"/>
                      </a:moveTo>
                      <a:lnTo>
                        <a:pt x="0" y="969"/>
                      </a:lnTo>
                      <a:lnTo>
                        <a:pt x="1520" y="969"/>
                      </a:lnTo>
                    </a:path>
                  </a:pathLst>
                </a:custGeom>
                <a:noFill/>
                <a:ln w="38100" cap="flat" cmpd="sng">
                  <a:solidFill>
                    <a:srgbClr val="EEEEEE"/>
                  </a:solidFill>
                  <a:prstDash val="solid"/>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7" name="Rectangle 21">
                  <a:extLst>
                    <a:ext uri="{FF2B5EF4-FFF2-40B4-BE49-F238E27FC236}">
                      <a16:creationId xmlns:a16="http://schemas.microsoft.com/office/drawing/2014/main" id="{D7BCC952-E0B6-FBCF-326A-6FDEE46E577C}"/>
                    </a:ext>
                  </a:extLst>
                </p:cNvPr>
                <p:cNvSpPr>
                  <a:spLocks noChangeArrowheads="1"/>
                </p:cNvSpPr>
                <p:nvPr/>
              </p:nvSpPr>
              <p:spPr bwMode="auto">
                <a:xfrm>
                  <a:off x="3087" y="2747"/>
                  <a:ext cx="355" cy="1026"/>
                </a:xfrm>
                <a:prstGeom prst="rect">
                  <a:avLst/>
                </a:prstGeom>
                <a:noFill/>
                <a:ln w="9525">
                  <a:noFill/>
                  <a:miter lim="800000"/>
                  <a:headEnd/>
                  <a:tailEnd/>
                </a:ln>
                <a:effectLst/>
              </p:spPr>
              <p:txBody>
                <a:bodyPr wrap="none">
                  <a:spAutoFit/>
                </a:bodyPr>
                <a:lstStyle/>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400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300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200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p>
              </p:txBody>
            </p:sp>
            <p:sp>
              <p:nvSpPr>
                <p:cNvPr id="78" name="Rectangle 22">
                  <a:extLst>
                    <a:ext uri="{FF2B5EF4-FFF2-40B4-BE49-F238E27FC236}">
                      <a16:creationId xmlns:a16="http://schemas.microsoft.com/office/drawing/2014/main" id="{E2C08AD2-9094-9FE8-1017-C3B31D359CDD}"/>
                    </a:ext>
                  </a:extLst>
                </p:cNvPr>
                <p:cNvSpPr>
                  <a:spLocks noChangeArrowheads="1"/>
                </p:cNvSpPr>
                <p:nvPr/>
              </p:nvSpPr>
              <p:spPr bwMode="auto">
                <a:xfrm rot="-5400000">
                  <a:off x="2684" y="3339"/>
                  <a:ext cx="693"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No. of tables</a:t>
                  </a:r>
                </a:p>
              </p:txBody>
            </p:sp>
            <p:sp>
              <p:nvSpPr>
                <p:cNvPr id="79" name="Rectangle 23">
                  <a:extLst>
                    <a:ext uri="{FF2B5EF4-FFF2-40B4-BE49-F238E27FC236}">
                      <a16:creationId xmlns:a16="http://schemas.microsoft.com/office/drawing/2014/main" id="{A8B82B4B-2800-82B3-AC7A-5F12C0B323BA}"/>
                    </a:ext>
                  </a:extLst>
                </p:cNvPr>
                <p:cNvSpPr>
                  <a:spLocks noChangeArrowheads="1"/>
                </p:cNvSpPr>
                <p:nvPr/>
              </p:nvSpPr>
              <p:spPr bwMode="auto">
                <a:xfrm>
                  <a:off x="3494" y="2681"/>
                  <a:ext cx="1016"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Discrete demand</a:t>
                  </a:r>
                </a:p>
              </p:txBody>
            </p:sp>
          </p:grpSp>
          <p:grpSp>
            <p:nvGrpSpPr>
              <p:cNvPr id="54" name="Group 24">
                <a:extLst>
                  <a:ext uri="{FF2B5EF4-FFF2-40B4-BE49-F238E27FC236}">
                    <a16:creationId xmlns:a16="http://schemas.microsoft.com/office/drawing/2014/main" id="{F09B9856-3C41-B484-F52C-DBAD5CB905A3}"/>
                  </a:ext>
                </a:extLst>
              </p:cNvPr>
              <p:cNvGrpSpPr>
                <a:grpSpLocks/>
              </p:cNvGrpSpPr>
              <p:nvPr/>
            </p:nvGrpSpPr>
            <p:grpSpPr bwMode="auto">
              <a:xfrm>
                <a:off x="1046" y="876"/>
                <a:ext cx="1653" cy="1520"/>
                <a:chOff x="953" y="984"/>
                <a:chExt cx="1653" cy="1520"/>
              </a:xfrm>
            </p:grpSpPr>
            <p:grpSp>
              <p:nvGrpSpPr>
                <p:cNvPr id="65" name="Group 25">
                  <a:extLst>
                    <a:ext uri="{FF2B5EF4-FFF2-40B4-BE49-F238E27FC236}">
                      <a16:creationId xmlns:a16="http://schemas.microsoft.com/office/drawing/2014/main" id="{01D33AD4-654E-7834-FF76-AFB8091CF0FD}"/>
                    </a:ext>
                  </a:extLst>
                </p:cNvPr>
                <p:cNvGrpSpPr>
                  <a:grpSpLocks/>
                </p:cNvGrpSpPr>
                <p:nvPr/>
              </p:nvGrpSpPr>
              <p:grpSpPr bwMode="auto">
                <a:xfrm>
                  <a:off x="953" y="1393"/>
                  <a:ext cx="1653" cy="918"/>
                  <a:chOff x="953" y="1393"/>
                  <a:chExt cx="1653" cy="918"/>
                </a:xfrm>
              </p:grpSpPr>
              <p:sp>
                <p:nvSpPr>
                  <p:cNvPr id="68" name="AutoShape 26" descr="Oak">
                    <a:extLst>
                      <a:ext uri="{FF2B5EF4-FFF2-40B4-BE49-F238E27FC236}">
                        <a16:creationId xmlns:a16="http://schemas.microsoft.com/office/drawing/2014/main" id="{19E33742-ACB9-6D89-8E38-31B1B6CF9443}"/>
                      </a:ext>
                    </a:extLst>
                  </p:cNvPr>
                  <p:cNvSpPr>
                    <a:spLocks noChangeArrowheads="1"/>
                  </p:cNvSpPr>
                  <p:nvPr/>
                </p:nvSpPr>
                <p:spPr bwMode="auto">
                  <a:xfrm flipH="1">
                    <a:off x="2296" y="1658"/>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9" name="AutoShape 27" descr="Oak">
                    <a:extLst>
                      <a:ext uri="{FF2B5EF4-FFF2-40B4-BE49-F238E27FC236}">
                        <a16:creationId xmlns:a16="http://schemas.microsoft.com/office/drawing/2014/main" id="{C03168AE-C757-D169-DC20-1AC34BAE8ECB}"/>
                      </a:ext>
                    </a:extLst>
                  </p:cNvPr>
                  <p:cNvSpPr>
                    <a:spLocks noChangeArrowheads="1"/>
                  </p:cNvSpPr>
                  <p:nvPr/>
                </p:nvSpPr>
                <p:spPr bwMode="auto">
                  <a:xfrm flipH="1">
                    <a:off x="1996" y="146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0" name="AutoShape 28" descr="Oak">
                    <a:extLst>
                      <a:ext uri="{FF2B5EF4-FFF2-40B4-BE49-F238E27FC236}">
                        <a16:creationId xmlns:a16="http://schemas.microsoft.com/office/drawing/2014/main" id="{7A0F1666-49A9-BD2A-D819-8CC1BB121C81}"/>
                      </a:ext>
                    </a:extLst>
                  </p:cNvPr>
                  <p:cNvSpPr>
                    <a:spLocks noChangeArrowheads="1"/>
                  </p:cNvSpPr>
                  <p:nvPr/>
                </p:nvSpPr>
                <p:spPr bwMode="auto">
                  <a:xfrm flipH="1">
                    <a:off x="1514" y="1844"/>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1" name="AutoShape 29" descr="Oak">
                    <a:extLst>
                      <a:ext uri="{FF2B5EF4-FFF2-40B4-BE49-F238E27FC236}">
                        <a16:creationId xmlns:a16="http://schemas.microsoft.com/office/drawing/2014/main" id="{1CC48D41-A6D2-489C-AE17-7E3CAC39A28B}"/>
                      </a:ext>
                    </a:extLst>
                  </p:cNvPr>
                  <p:cNvSpPr>
                    <a:spLocks noChangeArrowheads="1"/>
                  </p:cNvSpPr>
                  <p:nvPr/>
                </p:nvSpPr>
                <p:spPr bwMode="auto">
                  <a:xfrm flipH="1">
                    <a:off x="1240" y="1626"/>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2" name="Oval 30" descr="Oak">
                    <a:extLst>
                      <a:ext uri="{FF2B5EF4-FFF2-40B4-BE49-F238E27FC236}">
                        <a16:creationId xmlns:a16="http://schemas.microsoft.com/office/drawing/2014/main" id="{0CB0A46B-4FEF-48B1-8D61-A3991229068F}"/>
                      </a:ext>
                    </a:extLst>
                  </p:cNvPr>
                  <p:cNvSpPr>
                    <a:spLocks noChangeArrowheads="1"/>
                  </p:cNvSpPr>
                  <p:nvPr/>
                </p:nvSpPr>
                <p:spPr bwMode="auto">
                  <a:xfrm rot="-503947">
                    <a:off x="953" y="1393"/>
                    <a:ext cx="1653" cy="524"/>
                  </a:xfrm>
                  <a:prstGeom prst="ellipse">
                    <a:avLst/>
                  </a:prstGeom>
                  <a:blipFill dpi="0" rotWithShape="0">
                    <a:blip r:embed="rId2" cstate="print"/>
                    <a:srcRect/>
                    <a:tile tx="0" ty="0" sx="100000" sy="100000" flip="none" algn="tl"/>
                  </a:blipFill>
                  <a:ln w="19050">
                    <a:solidFill>
                      <a:srgbClr val="000000"/>
                    </a:solidFill>
                    <a:round/>
                    <a:headEnd/>
                    <a:tailEnd/>
                  </a:ln>
                  <a:effectLst>
                    <a:outerShdw dist="53882" dir="2700000" algn="ctr" rotWithShape="0">
                      <a:srgbClr val="8C6136"/>
                    </a:outerShdw>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grpSp>
            <p:sp>
              <p:nvSpPr>
                <p:cNvPr id="66" name="Rectangle 31">
                  <a:extLst>
                    <a:ext uri="{FF2B5EF4-FFF2-40B4-BE49-F238E27FC236}">
                      <a16:creationId xmlns:a16="http://schemas.microsoft.com/office/drawing/2014/main" id="{29ECC9CC-EB28-4072-4974-88B3E8F57009}"/>
                    </a:ext>
                  </a:extLst>
                </p:cNvPr>
                <p:cNvSpPr>
                  <a:spLocks noChangeArrowheads="1"/>
                </p:cNvSpPr>
                <p:nvPr/>
              </p:nvSpPr>
              <p:spPr bwMode="auto">
                <a:xfrm>
                  <a:off x="1236" y="984"/>
                  <a:ext cx="1237"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Independent demand</a:t>
                  </a:r>
                </a:p>
              </p:txBody>
            </p:sp>
            <p:sp>
              <p:nvSpPr>
                <p:cNvPr id="67" name="Rectangle 32">
                  <a:extLst>
                    <a:ext uri="{FF2B5EF4-FFF2-40B4-BE49-F238E27FC236}">
                      <a16:creationId xmlns:a16="http://schemas.microsoft.com/office/drawing/2014/main" id="{9D19E174-1F50-81EF-22EB-AECF270AEF26}"/>
                    </a:ext>
                  </a:extLst>
                </p:cNvPr>
                <p:cNvSpPr>
                  <a:spLocks noChangeArrowheads="1"/>
                </p:cNvSpPr>
                <p:nvPr/>
              </p:nvSpPr>
              <p:spPr bwMode="auto">
                <a:xfrm>
                  <a:off x="1882" y="2331"/>
                  <a:ext cx="579"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tables</a:t>
                  </a:r>
                </a:p>
              </p:txBody>
            </p:sp>
          </p:grpSp>
          <p:grpSp>
            <p:nvGrpSpPr>
              <p:cNvPr id="55" name="Group 33">
                <a:extLst>
                  <a:ext uri="{FF2B5EF4-FFF2-40B4-BE49-F238E27FC236}">
                    <a16:creationId xmlns:a16="http://schemas.microsoft.com/office/drawing/2014/main" id="{A9924E7F-55FA-612A-C0D5-7B05ADF8CFAB}"/>
                  </a:ext>
                </a:extLst>
              </p:cNvPr>
              <p:cNvGrpSpPr>
                <a:grpSpLocks/>
              </p:cNvGrpSpPr>
              <p:nvPr/>
            </p:nvGrpSpPr>
            <p:grpSpPr bwMode="auto">
              <a:xfrm>
                <a:off x="3235" y="876"/>
                <a:ext cx="1920" cy="1519"/>
                <a:chOff x="3021" y="984"/>
                <a:chExt cx="1920" cy="1519"/>
              </a:xfrm>
            </p:grpSpPr>
            <p:grpSp>
              <p:nvGrpSpPr>
                <p:cNvPr id="56" name="Group 34">
                  <a:extLst>
                    <a:ext uri="{FF2B5EF4-FFF2-40B4-BE49-F238E27FC236}">
                      <a16:creationId xmlns:a16="http://schemas.microsoft.com/office/drawing/2014/main" id="{7CE896A7-7B85-6D02-40B7-57A1A86C8A1F}"/>
                    </a:ext>
                  </a:extLst>
                </p:cNvPr>
                <p:cNvGrpSpPr>
                  <a:grpSpLocks/>
                </p:cNvGrpSpPr>
                <p:nvPr/>
              </p:nvGrpSpPr>
              <p:grpSpPr bwMode="auto">
                <a:xfrm>
                  <a:off x="3067" y="1241"/>
                  <a:ext cx="1653" cy="1098"/>
                  <a:chOff x="3067" y="1241"/>
                  <a:chExt cx="1653" cy="1098"/>
                </a:xfrm>
              </p:grpSpPr>
              <p:sp>
                <p:nvSpPr>
                  <p:cNvPr id="60" name="Oval 35" descr="Oak">
                    <a:extLst>
                      <a:ext uri="{FF2B5EF4-FFF2-40B4-BE49-F238E27FC236}">
                        <a16:creationId xmlns:a16="http://schemas.microsoft.com/office/drawing/2014/main" id="{075C37AC-551E-251F-4461-0810D15CEDFF}"/>
                      </a:ext>
                    </a:extLst>
                  </p:cNvPr>
                  <p:cNvSpPr>
                    <a:spLocks noChangeArrowheads="1"/>
                  </p:cNvSpPr>
                  <p:nvPr/>
                </p:nvSpPr>
                <p:spPr bwMode="auto">
                  <a:xfrm rot="-503947">
                    <a:off x="3067" y="1241"/>
                    <a:ext cx="1653" cy="524"/>
                  </a:xfrm>
                  <a:prstGeom prst="ellipse">
                    <a:avLst/>
                  </a:prstGeom>
                  <a:blipFill dpi="0" rotWithShape="0">
                    <a:blip r:embed="rId2" cstate="print"/>
                    <a:srcRect/>
                    <a:tile tx="0" ty="0" sx="100000" sy="100000" flip="none" algn="tl"/>
                  </a:blipFill>
                  <a:ln w="19050">
                    <a:solidFill>
                      <a:srgbClr val="000000"/>
                    </a:solidFill>
                    <a:round/>
                    <a:headEnd/>
                    <a:tailEnd/>
                  </a:ln>
                  <a:effectLst>
                    <a:outerShdw dist="53882" dir="2700000" algn="ctr" rotWithShape="0">
                      <a:srgbClr val="8C6136"/>
                    </a:outerShdw>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1" name="AutoShape 36" descr="Oak">
                    <a:extLst>
                      <a:ext uri="{FF2B5EF4-FFF2-40B4-BE49-F238E27FC236}">
                        <a16:creationId xmlns:a16="http://schemas.microsoft.com/office/drawing/2014/main" id="{52261983-D06C-4834-EC41-3554EDD96E9A}"/>
                      </a:ext>
                    </a:extLst>
                  </p:cNvPr>
                  <p:cNvSpPr>
                    <a:spLocks noChangeArrowheads="1"/>
                  </p:cNvSpPr>
                  <p:nvPr/>
                </p:nvSpPr>
                <p:spPr bwMode="auto">
                  <a:xfrm flipH="1">
                    <a:off x="4124"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2" name="AutoShape 37" descr="Oak">
                    <a:extLst>
                      <a:ext uri="{FF2B5EF4-FFF2-40B4-BE49-F238E27FC236}">
                        <a16:creationId xmlns:a16="http://schemas.microsoft.com/office/drawing/2014/main" id="{F880F8D1-CA0C-36EF-D087-628BEAC1C02D}"/>
                      </a:ext>
                    </a:extLst>
                  </p:cNvPr>
                  <p:cNvSpPr>
                    <a:spLocks noChangeArrowheads="1"/>
                  </p:cNvSpPr>
                  <p:nvPr/>
                </p:nvSpPr>
                <p:spPr bwMode="auto">
                  <a:xfrm flipH="1">
                    <a:off x="4256"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3" name="AutoShape 38" descr="Oak">
                    <a:extLst>
                      <a:ext uri="{FF2B5EF4-FFF2-40B4-BE49-F238E27FC236}">
                        <a16:creationId xmlns:a16="http://schemas.microsoft.com/office/drawing/2014/main" id="{1C5CC3B6-DAE1-7F84-5D26-DFD3FD81FC9F}"/>
                      </a:ext>
                    </a:extLst>
                  </p:cNvPr>
                  <p:cNvSpPr>
                    <a:spLocks noChangeArrowheads="1"/>
                  </p:cNvSpPr>
                  <p:nvPr/>
                </p:nvSpPr>
                <p:spPr bwMode="auto">
                  <a:xfrm flipH="1">
                    <a:off x="4378"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4" name="AutoShape 39" descr="Oak">
                    <a:extLst>
                      <a:ext uri="{FF2B5EF4-FFF2-40B4-BE49-F238E27FC236}">
                        <a16:creationId xmlns:a16="http://schemas.microsoft.com/office/drawing/2014/main" id="{D0A02A1A-75E0-A40F-4C73-5A2F726DD358}"/>
                      </a:ext>
                    </a:extLst>
                  </p:cNvPr>
                  <p:cNvSpPr>
                    <a:spLocks noChangeArrowheads="1"/>
                  </p:cNvSpPr>
                  <p:nvPr/>
                </p:nvSpPr>
                <p:spPr bwMode="auto">
                  <a:xfrm flipH="1">
                    <a:off x="4510"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grpSp>
            <p:sp>
              <p:nvSpPr>
                <p:cNvPr id="57" name="Rectangle 40">
                  <a:extLst>
                    <a:ext uri="{FF2B5EF4-FFF2-40B4-BE49-F238E27FC236}">
                      <a16:creationId xmlns:a16="http://schemas.microsoft.com/office/drawing/2014/main" id="{3C2B420A-AD6B-C8A7-B747-540E2F7A856C}"/>
                    </a:ext>
                  </a:extLst>
                </p:cNvPr>
                <p:cNvSpPr>
                  <a:spLocks noChangeArrowheads="1"/>
                </p:cNvSpPr>
                <p:nvPr/>
              </p:nvSpPr>
              <p:spPr bwMode="auto">
                <a:xfrm>
                  <a:off x="3448" y="984"/>
                  <a:ext cx="1151"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Dependent demand</a:t>
                  </a:r>
                </a:p>
              </p:txBody>
            </p:sp>
            <p:sp>
              <p:nvSpPr>
                <p:cNvPr id="58" name="Rectangle 41">
                  <a:extLst>
                    <a:ext uri="{FF2B5EF4-FFF2-40B4-BE49-F238E27FC236}">
                      <a16:creationId xmlns:a16="http://schemas.microsoft.com/office/drawing/2014/main" id="{EFD71CBD-4ACA-6A83-FEE0-06599A21A111}"/>
                    </a:ext>
                  </a:extLst>
                </p:cNvPr>
                <p:cNvSpPr>
                  <a:spLocks noChangeArrowheads="1"/>
                </p:cNvSpPr>
                <p:nvPr/>
              </p:nvSpPr>
              <p:spPr bwMode="auto">
                <a:xfrm>
                  <a:off x="3021" y="1788"/>
                  <a:ext cx="740" cy="254"/>
                </a:xfrm>
                <a:prstGeom prst="rect">
                  <a:avLst/>
                </a:prstGeom>
                <a:noFill/>
                <a:ln w="9525">
                  <a:noFill/>
                  <a:miter lim="800000"/>
                  <a:headEnd/>
                  <a:tailEnd/>
                </a:ln>
                <a:effectLst/>
              </p:spPr>
              <p:txBody>
                <a:bodyPr>
                  <a:spAutoFit/>
                </a:body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x 1 = </a:t>
                  </a:r>
                </a:p>
                <a:p>
                  <a:pPr marL="0" marR="0" lvl="0" indent="0" defTabSz="914400" eaLnBrk="0" fontAlgn="base" latinLnBrk="0" hangingPunct="0">
                    <a:lnSpc>
                      <a:spcPct val="85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tabletops</a:t>
                  </a:r>
                </a:p>
              </p:txBody>
            </p:sp>
            <p:sp>
              <p:nvSpPr>
                <p:cNvPr id="59" name="Rectangle 42">
                  <a:extLst>
                    <a:ext uri="{FF2B5EF4-FFF2-40B4-BE49-F238E27FC236}">
                      <a16:creationId xmlns:a16="http://schemas.microsoft.com/office/drawing/2014/main" id="{2B6EFADD-A3EC-A678-2765-1E4CBF46DADA}"/>
                    </a:ext>
                  </a:extLst>
                </p:cNvPr>
                <p:cNvSpPr>
                  <a:spLocks noChangeArrowheads="1"/>
                </p:cNvSpPr>
                <p:nvPr/>
              </p:nvSpPr>
              <p:spPr bwMode="auto">
                <a:xfrm>
                  <a:off x="3767" y="2330"/>
                  <a:ext cx="1174"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x 4 = 400 table legs</a:t>
                  </a:r>
                </a:p>
              </p:txBody>
            </p:sp>
          </p:grpSp>
        </p:grpSp>
      </p:grpSp>
    </p:spTree>
    <p:extLst>
      <p:ext uri="{BB962C8B-B14F-4D97-AF65-F5344CB8AC3E}">
        <p14:creationId xmlns:p14="http://schemas.microsoft.com/office/powerpoint/2010/main" val="375782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F042-E46A-05C2-9F51-2C2804A8F1EB}"/>
              </a:ext>
            </a:extLst>
          </p:cNvPr>
          <p:cNvSpPr>
            <a:spLocks noGrp="1"/>
          </p:cNvSpPr>
          <p:nvPr>
            <p:ph type="title"/>
          </p:nvPr>
        </p:nvSpPr>
        <p:spPr/>
        <p:txBody>
          <a:bodyPr/>
          <a:lstStyle/>
          <a:p>
            <a:r>
              <a:rPr lang="en-US" dirty="0"/>
              <a:t>MRP </a:t>
            </a:r>
            <a:r>
              <a:rPr lang="en-US" i="1" dirty="0"/>
              <a:t>Core Concepts</a:t>
            </a:r>
            <a:endParaRPr lang="en-IN" dirty="0"/>
          </a:p>
        </p:txBody>
      </p:sp>
      <p:sp>
        <p:nvSpPr>
          <p:cNvPr id="3" name="Text Placeholder 2">
            <a:extLst>
              <a:ext uri="{FF2B5EF4-FFF2-40B4-BE49-F238E27FC236}">
                <a16:creationId xmlns:a16="http://schemas.microsoft.com/office/drawing/2014/main" id="{B7A45821-013B-42B1-E910-83F151D28A9E}"/>
              </a:ext>
            </a:extLst>
          </p:cNvPr>
          <p:cNvSpPr>
            <a:spLocks noGrp="1"/>
          </p:cNvSpPr>
          <p:nvPr>
            <p:ph type="body" idx="1"/>
          </p:nvPr>
        </p:nvSpPr>
        <p:spPr/>
        <p:txBody>
          <a:bodyPr/>
          <a:lstStyle/>
          <a:p>
            <a:r>
              <a:rPr lang="en-US" b="1" dirty="0"/>
              <a:t>Dependent Demand</a:t>
            </a:r>
          </a:p>
          <a:p>
            <a:pPr marL="808038">
              <a:buFont typeface="Wingdings" panose="05000000000000000000" pitchFamily="2" charset="2"/>
              <a:buChar char="Ø"/>
            </a:pPr>
            <a:r>
              <a:rPr lang="en-US" sz="2400" dirty="0"/>
              <a:t>Production (or procurement) of parts and materials is directly linked to demand for the final product</a:t>
            </a:r>
            <a:br>
              <a:rPr lang="en-US" dirty="0"/>
            </a:br>
            <a:endParaRPr lang="en-US" dirty="0"/>
          </a:p>
          <a:p>
            <a:r>
              <a:rPr lang="en-US" b="1" dirty="0"/>
              <a:t>Time-phased Scheduling</a:t>
            </a:r>
          </a:p>
          <a:p>
            <a:pPr marL="808038">
              <a:buFont typeface="Wingdings" panose="05000000000000000000" pitchFamily="2" charset="2"/>
              <a:buChar char="Ø"/>
            </a:pPr>
            <a:r>
              <a:rPr lang="en-US" sz="2400" dirty="0"/>
              <a:t>Parts and components must be ordered in advance to accommodate lead times between order placement and receipt</a:t>
            </a:r>
          </a:p>
        </p:txBody>
      </p:sp>
      <p:sp>
        <p:nvSpPr>
          <p:cNvPr id="4" name="Date Placeholder 3">
            <a:extLst>
              <a:ext uri="{FF2B5EF4-FFF2-40B4-BE49-F238E27FC236}">
                <a16:creationId xmlns:a16="http://schemas.microsoft.com/office/drawing/2014/main" id="{88E62861-5A6E-E947-B3A6-01BD919D0477}"/>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0CBA835-2393-93BB-3833-9C7A505B4A94}"/>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E3EF557A-6B09-424D-798B-3F7C500F5BA3}"/>
              </a:ext>
            </a:extLst>
          </p:cNvPr>
          <p:cNvSpPr>
            <a:spLocks noGrp="1"/>
          </p:cNvSpPr>
          <p:nvPr>
            <p:ph type="sldNum" idx="12"/>
          </p:nvPr>
        </p:nvSpPr>
        <p:spPr/>
        <p:txBody>
          <a:bodyPr/>
          <a:lstStyle/>
          <a:p>
            <a:fld id="{00000000-1234-1234-1234-123412341234}" type="slidenum">
              <a:rPr lang="en-US" smtClean="0"/>
              <a:pPr/>
              <a:t>7</a:t>
            </a:fld>
            <a:endParaRPr lang="en-US" dirty="0"/>
          </a:p>
        </p:txBody>
      </p:sp>
    </p:spTree>
    <p:extLst>
      <p:ext uri="{BB962C8B-B14F-4D97-AF65-F5344CB8AC3E}">
        <p14:creationId xmlns:p14="http://schemas.microsoft.com/office/powerpoint/2010/main" val="181785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8</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523220"/>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MRP is generally applicable to items with dependent demand.</a:t>
            </a:r>
            <a:endParaRPr lang="en-IN" sz="2800" dirty="0"/>
          </a:p>
        </p:txBody>
      </p:sp>
    </p:spTree>
    <p:extLst>
      <p:ext uri="{BB962C8B-B14F-4D97-AF65-F5344CB8AC3E}">
        <p14:creationId xmlns:p14="http://schemas.microsoft.com/office/powerpoint/2010/main" val="34107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9</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False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A dependent demand item is so called because its demand is dependent on customer preferences.</a:t>
            </a:r>
            <a:endParaRPr lang="en-IN" sz="2800" dirty="0"/>
          </a:p>
        </p:txBody>
      </p:sp>
    </p:spTree>
    <p:extLst>
      <p:ext uri="{BB962C8B-B14F-4D97-AF65-F5344CB8AC3E}">
        <p14:creationId xmlns:p14="http://schemas.microsoft.com/office/powerpoint/2010/main" val="353599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MCQ</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10</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D</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1474821" cy="2246769"/>
          </a:xfrm>
          <a:prstGeom prst="rect">
            <a:avLst/>
          </a:prstGeom>
          <a:noFill/>
          <a:ln>
            <a:solidFill>
              <a:schemeClr val="tx1"/>
            </a:solidFill>
          </a:ln>
        </p:spPr>
        <p:txBody>
          <a:bodyPr wrap="square">
            <a:spAutoFit/>
          </a:bodyPr>
          <a:lstStyle/>
          <a:p>
            <a:r>
              <a:rPr lang="en-US" sz="2800" b="1" i="0" u="none" strike="noStrike" baseline="0" dirty="0">
                <a:solidFill>
                  <a:srgbClr val="000000"/>
                </a:solidFill>
                <a:latin typeface="Times New Roman" panose="02020603050405020304" pitchFamily="18" charset="0"/>
              </a:rPr>
              <a:t>Dependent demand and independent demand items differ in that:</a:t>
            </a:r>
          </a:p>
          <a:p>
            <a:r>
              <a:rPr lang="en-US" sz="2800" i="0" u="none" strike="noStrike" baseline="0" dirty="0">
                <a:solidFill>
                  <a:srgbClr val="000000"/>
                </a:solidFill>
                <a:latin typeface="Times New Roman" panose="02020603050405020304" pitchFamily="18" charset="0"/>
              </a:rPr>
              <a:t>A) for any product, all components are dependent-demand items.</a:t>
            </a:r>
          </a:p>
          <a:p>
            <a:r>
              <a:rPr lang="en-US" sz="2800" i="0" u="none" strike="noStrike" baseline="0" dirty="0">
                <a:solidFill>
                  <a:srgbClr val="000000"/>
                </a:solidFill>
                <a:latin typeface="Times New Roman" panose="02020603050405020304" pitchFamily="18" charset="0"/>
              </a:rPr>
              <a:t>B) the need for independent-demand items is forecast.</a:t>
            </a:r>
          </a:p>
          <a:p>
            <a:r>
              <a:rPr lang="en-US" sz="2800" i="0" u="none" strike="noStrike" baseline="0" dirty="0">
                <a:solidFill>
                  <a:srgbClr val="000000"/>
                </a:solidFill>
                <a:latin typeface="Times New Roman" panose="02020603050405020304" pitchFamily="18" charset="0"/>
              </a:rPr>
              <a:t>C) the need for dependent-demand items is calculated.</a:t>
            </a:r>
          </a:p>
          <a:p>
            <a:r>
              <a:rPr lang="en-US" sz="2800" i="0" u="none" strike="noStrike" baseline="0" dirty="0">
                <a:solidFill>
                  <a:srgbClr val="000000"/>
                </a:solidFill>
                <a:latin typeface="Times New Roman" panose="02020603050405020304" pitchFamily="18" charset="0"/>
              </a:rPr>
              <a:t>D) All of the above are true.</a:t>
            </a:r>
          </a:p>
        </p:txBody>
      </p:sp>
    </p:spTree>
    <p:extLst>
      <p:ext uri="{BB962C8B-B14F-4D97-AF65-F5344CB8AC3E}">
        <p14:creationId xmlns:p14="http://schemas.microsoft.com/office/powerpoint/2010/main" val="377208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516FF-0FC3-6315-F198-CABFE9E4D6FE}"/>
              </a:ext>
            </a:extLst>
          </p:cNvPr>
          <p:cNvSpPr>
            <a:spLocks noGrp="1"/>
          </p:cNvSpPr>
          <p:nvPr>
            <p:ph type="title"/>
          </p:nvPr>
        </p:nvSpPr>
        <p:spPr/>
        <p:txBody>
          <a:bodyPr/>
          <a:lstStyle/>
          <a:p>
            <a:r>
              <a:rPr lang="en-US" dirty="0">
                <a:solidFill>
                  <a:schemeClr val="tx1"/>
                </a:solidFill>
              </a:rPr>
              <a:t>MRP Inputs and Outputs</a:t>
            </a:r>
            <a:endParaRPr lang="en-IN" dirty="0"/>
          </a:p>
        </p:txBody>
      </p:sp>
      <p:sp>
        <p:nvSpPr>
          <p:cNvPr id="4" name="Date Placeholder 3">
            <a:extLst>
              <a:ext uri="{FF2B5EF4-FFF2-40B4-BE49-F238E27FC236}">
                <a16:creationId xmlns:a16="http://schemas.microsoft.com/office/drawing/2014/main" id="{952E2B1D-CFD9-9A80-3DF0-C9F5A1205CE5}"/>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E5B68724-A54F-5808-65BC-2551EDFCFE4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81FB93AB-A979-201A-C247-0C0882AA216E}"/>
              </a:ext>
            </a:extLst>
          </p:cNvPr>
          <p:cNvSpPr>
            <a:spLocks noGrp="1"/>
          </p:cNvSpPr>
          <p:nvPr>
            <p:ph type="sldNum" idx="12"/>
          </p:nvPr>
        </p:nvSpPr>
        <p:spPr/>
        <p:txBody>
          <a:bodyPr/>
          <a:lstStyle/>
          <a:p>
            <a:fld id="{00000000-1234-1234-1234-123412341234}" type="slidenum">
              <a:rPr lang="en-US" smtClean="0"/>
              <a:pPr/>
              <a:t>11</a:t>
            </a:fld>
            <a:endParaRPr lang="en-US" dirty="0"/>
          </a:p>
        </p:txBody>
      </p:sp>
      <p:pic>
        <p:nvPicPr>
          <p:cNvPr id="12" name="Picture 2">
            <a:extLst>
              <a:ext uri="{FF2B5EF4-FFF2-40B4-BE49-F238E27FC236}">
                <a16:creationId xmlns:a16="http://schemas.microsoft.com/office/drawing/2014/main" id="{B6AE1A91-EA3C-9951-92D4-BB7C1CF277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09" b="2904"/>
          <a:stretch/>
        </p:blipFill>
        <p:spPr bwMode="auto">
          <a:xfrm>
            <a:off x="348777" y="1105786"/>
            <a:ext cx="11445777" cy="49441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420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78C0-8ADB-7477-C667-714366ED1C2B}"/>
              </a:ext>
            </a:extLst>
          </p:cNvPr>
          <p:cNvSpPr>
            <a:spLocks noGrp="1"/>
          </p:cNvSpPr>
          <p:nvPr>
            <p:ph type="title"/>
          </p:nvPr>
        </p:nvSpPr>
        <p:spPr/>
        <p:txBody>
          <a:bodyPr/>
          <a:lstStyle/>
          <a:p>
            <a:r>
              <a:rPr lang="en-IN" dirty="0"/>
              <a:t>Master Production Schedule</a:t>
            </a:r>
          </a:p>
        </p:txBody>
      </p:sp>
      <p:sp>
        <p:nvSpPr>
          <p:cNvPr id="3" name="Text Placeholder 2">
            <a:extLst>
              <a:ext uri="{FF2B5EF4-FFF2-40B4-BE49-F238E27FC236}">
                <a16:creationId xmlns:a16="http://schemas.microsoft.com/office/drawing/2014/main" id="{4C1DC1C8-7DCA-43E4-92B2-8EABD83C3835}"/>
              </a:ext>
            </a:extLst>
          </p:cNvPr>
          <p:cNvSpPr>
            <a:spLocks noGrp="1"/>
          </p:cNvSpPr>
          <p:nvPr>
            <p:ph type="body" idx="1"/>
          </p:nvPr>
        </p:nvSpPr>
        <p:spPr>
          <a:xfrm>
            <a:off x="276447" y="935665"/>
            <a:ext cx="11727711" cy="5135700"/>
          </a:xfrm>
        </p:spPr>
        <p:txBody>
          <a:bodyPr/>
          <a:lstStyle/>
          <a:p>
            <a:pPr algn="just"/>
            <a:r>
              <a:rPr lang="en-IN" dirty="0"/>
              <a:t>The </a:t>
            </a:r>
            <a:r>
              <a:rPr lang="en-IN" b="1" dirty="0"/>
              <a:t>master production schedule (MPS)</a:t>
            </a:r>
            <a:r>
              <a:rPr lang="en-IN" dirty="0"/>
              <a:t>, also called the </a:t>
            </a:r>
            <a:r>
              <a:rPr lang="en-IN" i="1" dirty="0"/>
              <a:t>master schedule</a:t>
            </a:r>
            <a:r>
              <a:rPr lang="en-IN" dirty="0"/>
              <a:t>, specifies which end items or finished products a firm is to produce, how many are needed, and when they are needed.</a:t>
            </a:r>
          </a:p>
          <a:p>
            <a:pPr algn="just"/>
            <a:r>
              <a:rPr lang="en-IN" dirty="0"/>
              <a:t>The master production schedule works within the constraints of the aggregate production plan but produces a more specific schedule by individual products.</a:t>
            </a:r>
          </a:p>
          <a:p>
            <a:pPr algn="just"/>
            <a:r>
              <a:rPr lang="en-IN" dirty="0"/>
              <a:t>The time frame is more specific, too.</a:t>
            </a:r>
          </a:p>
          <a:p>
            <a:pPr algn="just"/>
            <a:r>
              <a:rPr lang="en-IN" dirty="0"/>
              <a:t>The total length of time required to manufacture a product is called its </a:t>
            </a:r>
            <a:r>
              <a:rPr lang="en-IN" b="1" dirty="0"/>
              <a:t>cumulative lead time</a:t>
            </a:r>
            <a:r>
              <a:rPr lang="en-IN" dirty="0"/>
              <a:t>.</a:t>
            </a:r>
          </a:p>
        </p:txBody>
      </p:sp>
      <p:sp>
        <p:nvSpPr>
          <p:cNvPr id="4" name="Date Placeholder 3">
            <a:extLst>
              <a:ext uri="{FF2B5EF4-FFF2-40B4-BE49-F238E27FC236}">
                <a16:creationId xmlns:a16="http://schemas.microsoft.com/office/drawing/2014/main" id="{88AAF746-1931-74D8-B1A3-15AE45BB954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91FF6837-F363-1A6C-99E4-1440E7D7AFFE}"/>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178A9BC-FEBD-320D-F5B8-40677D1AAE1C}"/>
              </a:ext>
            </a:extLst>
          </p:cNvPr>
          <p:cNvSpPr>
            <a:spLocks noGrp="1"/>
          </p:cNvSpPr>
          <p:nvPr>
            <p:ph type="sldNum" idx="12"/>
          </p:nvPr>
        </p:nvSpPr>
        <p:spPr/>
        <p:txBody>
          <a:bodyPr/>
          <a:lstStyle/>
          <a:p>
            <a:fld id="{00000000-1234-1234-1234-123412341234}" type="slidenum">
              <a:rPr lang="en-US" smtClean="0"/>
              <a:pPr/>
              <a:t>12</a:t>
            </a:fld>
            <a:endParaRPr lang="en-US" dirty="0"/>
          </a:p>
        </p:txBody>
      </p:sp>
    </p:spTree>
    <p:extLst>
      <p:ext uri="{BB962C8B-B14F-4D97-AF65-F5344CB8AC3E}">
        <p14:creationId xmlns:p14="http://schemas.microsoft.com/office/powerpoint/2010/main" val="10656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78FE-6796-42E6-03C3-EDE02834D9FB}"/>
              </a:ext>
            </a:extLst>
          </p:cNvPr>
          <p:cNvSpPr>
            <a:spLocks noGrp="1"/>
          </p:cNvSpPr>
          <p:nvPr>
            <p:ph type="title"/>
          </p:nvPr>
        </p:nvSpPr>
        <p:spPr/>
        <p:txBody>
          <a:bodyPr/>
          <a:lstStyle/>
          <a:p>
            <a:r>
              <a:rPr lang="en-IN" dirty="0"/>
              <a:t>Master Production Schedule</a:t>
            </a:r>
          </a:p>
        </p:txBody>
      </p:sp>
      <p:sp>
        <p:nvSpPr>
          <p:cNvPr id="3" name="Text Placeholder 2">
            <a:extLst>
              <a:ext uri="{FF2B5EF4-FFF2-40B4-BE49-F238E27FC236}">
                <a16:creationId xmlns:a16="http://schemas.microsoft.com/office/drawing/2014/main" id="{D8DE5317-11B1-4CEF-ED6A-F132DFE4364B}"/>
              </a:ext>
            </a:extLst>
          </p:cNvPr>
          <p:cNvSpPr>
            <a:spLocks noGrp="1"/>
          </p:cNvSpPr>
          <p:nvPr>
            <p:ph type="body" idx="1"/>
          </p:nvPr>
        </p:nvSpPr>
        <p:spPr/>
        <p:txBody>
          <a:bodyPr/>
          <a:lstStyle/>
          <a:p>
            <a:pPr algn="just">
              <a:lnSpc>
                <a:spcPct val="100000"/>
              </a:lnSpc>
              <a:buFont typeface="Arial" panose="020B0604020202020204" pitchFamily="34" charset="0"/>
              <a:buChar char="•"/>
              <a:defRPr/>
            </a:pPr>
            <a:r>
              <a:rPr lang="en-US" dirty="0"/>
              <a:t>Drives MRP process with a schedule of finished products</a:t>
            </a:r>
          </a:p>
          <a:p>
            <a:pPr algn="just">
              <a:lnSpc>
                <a:spcPct val="100000"/>
              </a:lnSpc>
              <a:buFont typeface="Arial" panose="020B0604020202020204" pitchFamily="34" charset="0"/>
              <a:buChar char="•"/>
              <a:defRPr/>
            </a:pPr>
            <a:r>
              <a:rPr lang="en-US" dirty="0"/>
              <a:t>Quantities represent production not demand</a:t>
            </a:r>
          </a:p>
          <a:p>
            <a:pPr algn="just">
              <a:lnSpc>
                <a:spcPct val="100000"/>
              </a:lnSpc>
              <a:buFont typeface="Arial" panose="020B0604020202020204" pitchFamily="34" charset="0"/>
              <a:buChar char="•"/>
              <a:defRPr/>
            </a:pPr>
            <a:r>
              <a:rPr lang="en-US" dirty="0"/>
              <a:t>Quantities may consist of a combination of customer orders and demand forecasts</a:t>
            </a:r>
          </a:p>
          <a:p>
            <a:pPr algn="just">
              <a:lnSpc>
                <a:spcPct val="100000"/>
              </a:lnSpc>
              <a:buFont typeface="Arial" panose="020B0604020202020204" pitchFamily="34" charset="0"/>
              <a:buChar char="•"/>
              <a:defRPr/>
            </a:pPr>
            <a:r>
              <a:rPr lang="en-US" dirty="0"/>
              <a:t>Quantities represent what needs to be produced, not what can be produced</a:t>
            </a:r>
          </a:p>
          <a:p>
            <a:pPr algn="just">
              <a:lnSpc>
                <a:spcPct val="100000"/>
              </a:lnSpc>
              <a:buFont typeface="Arial" panose="020B0604020202020204" pitchFamily="34" charset="0"/>
              <a:buChar char="•"/>
              <a:defRPr/>
            </a:pPr>
            <a:r>
              <a:rPr lang="en-US" dirty="0"/>
              <a:t>Quantities represent end items that may or may not be finished products</a:t>
            </a:r>
          </a:p>
        </p:txBody>
      </p:sp>
      <p:sp>
        <p:nvSpPr>
          <p:cNvPr id="4" name="Date Placeholder 3">
            <a:extLst>
              <a:ext uri="{FF2B5EF4-FFF2-40B4-BE49-F238E27FC236}">
                <a16:creationId xmlns:a16="http://schemas.microsoft.com/office/drawing/2014/main" id="{F4ED9788-571A-58E4-B249-6B92622E7C1E}"/>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E6CB6EC4-FA94-542A-4CCB-1F2905AD48D1}"/>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2ECD40B-21A5-E797-9D26-7474D25D0C94}"/>
              </a:ext>
            </a:extLst>
          </p:cNvPr>
          <p:cNvSpPr>
            <a:spLocks noGrp="1"/>
          </p:cNvSpPr>
          <p:nvPr>
            <p:ph type="sldNum" idx="12"/>
          </p:nvPr>
        </p:nvSpPr>
        <p:spPr/>
        <p:txBody>
          <a:bodyPr/>
          <a:lstStyle/>
          <a:p>
            <a:fld id="{00000000-1234-1234-1234-123412341234}" type="slidenum">
              <a:rPr lang="en-US" smtClean="0"/>
              <a:pPr/>
              <a:t>13</a:t>
            </a:fld>
            <a:endParaRPr lang="en-US" dirty="0"/>
          </a:p>
        </p:txBody>
      </p:sp>
    </p:spTree>
    <p:extLst>
      <p:ext uri="{BB962C8B-B14F-4D97-AF65-F5344CB8AC3E}">
        <p14:creationId xmlns:p14="http://schemas.microsoft.com/office/powerpoint/2010/main" val="138264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ABAC8-F4DD-A105-0CEA-E2C7A195E09E}"/>
              </a:ext>
            </a:extLst>
          </p:cNvPr>
          <p:cNvSpPr>
            <a:spLocks noGrp="1"/>
          </p:cNvSpPr>
          <p:nvPr>
            <p:ph type="title"/>
          </p:nvPr>
        </p:nvSpPr>
        <p:spPr/>
        <p:txBody>
          <a:bodyPr/>
          <a:lstStyle/>
          <a:p>
            <a:r>
              <a:rPr lang="en-US" sz="3600" dirty="0"/>
              <a:t>Aggregate Production Plan</a:t>
            </a:r>
            <a:endParaRPr lang="en-IN" dirty="0"/>
          </a:p>
        </p:txBody>
      </p:sp>
      <p:sp>
        <p:nvSpPr>
          <p:cNvPr id="4" name="Date Placeholder 3">
            <a:extLst>
              <a:ext uri="{FF2B5EF4-FFF2-40B4-BE49-F238E27FC236}">
                <a16:creationId xmlns:a16="http://schemas.microsoft.com/office/drawing/2014/main" id="{C7792AF5-F893-4404-FB50-24C724415DB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6FA69B3E-6524-7D4F-26CB-099F737AC46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6272EF7-4F40-2462-FC1B-7180DF005395}"/>
              </a:ext>
            </a:extLst>
          </p:cNvPr>
          <p:cNvSpPr>
            <a:spLocks noGrp="1"/>
          </p:cNvSpPr>
          <p:nvPr>
            <p:ph type="sldNum" idx="12"/>
          </p:nvPr>
        </p:nvSpPr>
        <p:spPr/>
        <p:txBody>
          <a:bodyPr/>
          <a:lstStyle/>
          <a:p>
            <a:fld id="{00000000-1234-1234-1234-123412341234}" type="slidenum">
              <a:rPr lang="en-US" smtClean="0"/>
              <a:pPr/>
              <a:t>14</a:t>
            </a:fld>
            <a:endParaRPr lang="en-US" dirty="0"/>
          </a:p>
        </p:txBody>
      </p:sp>
      <p:grpSp>
        <p:nvGrpSpPr>
          <p:cNvPr id="29" name="Group 3">
            <a:extLst>
              <a:ext uri="{FF2B5EF4-FFF2-40B4-BE49-F238E27FC236}">
                <a16:creationId xmlns:a16="http://schemas.microsoft.com/office/drawing/2014/main" id="{ACD03481-3908-BB24-10CF-2E566D202479}"/>
              </a:ext>
            </a:extLst>
          </p:cNvPr>
          <p:cNvGrpSpPr>
            <a:grpSpLocks/>
          </p:cNvGrpSpPr>
          <p:nvPr/>
        </p:nvGrpSpPr>
        <p:grpSpPr bwMode="auto">
          <a:xfrm>
            <a:off x="1743887" y="1488265"/>
            <a:ext cx="8496300" cy="3721100"/>
            <a:chOff x="268" y="1368"/>
            <a:chExt cx="5352" cy="2344"/>
          </a:xfrm>
        </p:grpSpPr>
        <p:sp>
          <p:nvSpPr>
            <p:cNvPr id="30" name="Rectangle 4">
              <a:extLst>
                <a:ext uri="{FF2B5EF4-FFF2-40B4-BE49-F238E27FC236}">
                  <a16:creationId xmlns:a16="http://schemas.microsoft.com/office/drawing/2014/main" id="{8CD3B31A-4583-881E-C2D3-87E2399333E8}"/>
                </a:ext>
              </a:extLst>
            </p:cNvPr>
            <p:cNvSpPr>
              <a:spLocks noChangeArrowheads="1"/>
            </p:cNvSpPr>
            <p:nvPr/>
          </p:nvSpPr>
          <p:spPr bwMode="auto">
            <a:xfrm>
              <a:off x="272" y="1376"/>
              <a:ext cx="5192" cy="2336"/>
            </a:xfrm>
            <a:prstGeom prst="rect">
              <a:avLst/>
            </a:prstGeom>
            <a:solidFill>
              <a:srgbClr val="F7D7AC"/>
            </a:solidFill>
            <a:ln w="28575">
              <a:solidFill>
                <a:srgbClr val="000000"/>
              </a:solidFill>
              <a:miter lim="800000"/>
              <a:headEnd/>
              <a:tailEn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ＭＳ Ｐゴシック" charset="0"/>
                <a:cs typeface="Arial" charset="0"/>
              </a:endParaRPr>
            </a:p>
          </p:txBody>
        </p:sp>
        <p:sp>
          <p:nvSpPr>
            <p:cNvPr id="31" name="Rectangle 5">
              <a:extLst>
                <a:ext uri="{FF2B5EF4-FFF2-40B4-BE49-F238E27FC236}">
                  <a16:creationId xmlns:a16="http://schemas.microsoft.com/office/drawing/2014/main" id="{20BA022A-2EC2-2ACB-0174-1A7CE5F75CA0}"/>
                </a:ext>
              </a:extLst>
            </p:cNvPr>
            <p:cNvSpPr>
              <a:spLocks noChangeArrowheads="1"/>
            </p:cNvSpPr>
            <p:nvPr/>
          </p:nvSpPr>
          <p:spPr bwMode="auto">
            <a:xfrm>
              <a:off x="272" y="1376"/>
              <a:ext cx="5192" cy="240"/>
            </a:xfrm>
            <a:prstGeom prst="rect">
              <a:avLst/>
            </a:prstGeom>
            <a:solidFill>
              <a:srgbClr val="9FACC7"/>
            </a:solidFill>
            <a:ln w="28575">
              <a:solidFill>
                <a:srgbClr val="000000"/>
              </a:solidFill>
              <a:miter lim="800000"/>
              <a:headEnd/>
              <a:tailEnd/>
            </a:ln>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2" name="Rectangle 6">
              <a:extLst>
                <a:ext uri="{FF2B5EF4-FFF2-40B4-BE49-F238E27FC236}">
                  <a16:creationId xmlns:a16="http://schemas.microsoft.com/office/drawing/2014/main" id="{FF78FAC9-0F1F-345D-8474-E06687476453}"/>
                </a:ext>
              </a:extLst>
            </p:cNvPr>
            <p:cNvSpPr>
              <a:spLocks noChangeArrowheads="1"/>
            </p:cNvSpPr>
            <p:nvPr/>
          </p:nvSpPr>
          <p:spPr bwMode="auto">
            <a:xfrm>
              <a:off x="302" y="1407"/>
              <a:ext cx="4842" cy="7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defTabSz="457200" eaLnBrk="1" fontAlgn="base" latinLnBrk="0" hangingPunct="1">
                <a:lnSpc>
                  <a:spcPct val="85000"/>
                </a:lnSpc>
                <a:spcBef>
                  <a:spcPct val="0"/>
                </a:spcBef>
                <a:spcAft>
                  <a:spcPct val="40000"/>
                </a:spcAft>
                <a:buClrTx/>
                <a:buSzTx/>
                <a:buFontTx/>
                <a:buNone/>
                <a:tabLst>
                  <a:tab pos="4673600" algn="ctr"/>
                  <a:tab pos="69596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Months	January	February</a:t>
              </a:r>
            </a:p>
            <a:p>
              <a:pPr marL="0" marR="0" lvl="0" indent="0" defTabSz="457200" eaLnBrk="1" fontAlgn="base" latinLnBrk="0" hangingPunct="1">
                <a:lnSpc>
                  <a:spcPct val="85000"/>
                </a:lnSpc>
                <a:spcBef>
                  <a:spcPct val="0"/>
                </a:spcBef>
                <a:spcAft>
                  <a:spcPct val="40000"/>
                </a:spcAft>
                <a:buClrTx/>
                <a:buSzTx/>
                <a:buFontTx/>
                <a:buNone/>
                <a:tabLst>
                  <a:tab pos="4673600" algn="ctr"/>
                  <a:tab pos="6959600" algn="ctr"/>
                </a:tabLst>
                <a:defRPr/>
              </a:pPr>
              <a:r>
                <a:rPr kumimoji="0" lang="en-US" sz="1800" b="1"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Aggregate Plan</a:t>
              </a: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	1,500	1,200</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(Shows the total</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quantity of amplifiers)</a:t>
              </a:r>
            </a:p>
          </p:txBody>
        </p:sp>
        <p:sp>
          <p:nvSpPr>
            <p:cNvPr id="33" name="Rectangle 7">
              <a:extLst>
                <a:ext uri="{FF2B5EF4-FFF2-40B4-BE49-F238E27FC236}">
                  <a16:creationId xmlns:a16="http://schemas.microsoft.com/office/drawing/2014/main" id="{0A384532-B5CB-8C30-0C4D-C1835AEFE653}"/>
                </a:ext>
              </a:extLst>
            </p:cNvPr>
            <p:cNvSpPr>
              <a:spLocks noChangeArrowheads="1"/>
            </p:cNvSpPr>
            <p:nvPr/>
          </p:nvSpPr>
          <p:spPr bwMode="auto">
            <a:xfrm>
              <a:off x="268" y="2128"/>
              <a:ext cx="5196" cy="240"/>
            </a:xfrm>
            <a:prstGeom prst="rect">
              <a:avLst/>
            </a:prstGeom>
            <a:solidFill>
              <a:srgbClr val="9FACC7"/>
            </a:solidFill>
            <a:ln w="28575">
              <a:solidFill>
                <a:srgbClr val="000000"/>
              </a:solidFill>
              <a:miter lim="800000"/>
              <a:headEnd/>
              <a:tailEnd/>
            </a:ln>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4" name="Rectangle 8">
              <a:extLst>
                <a:ext uri="{FF2B5EF4-FFF2-40B4-BE49-F238E27FC236}">
                  <a16:creationId xmlns:a16="http://schemas.microsoft.com/office/drawing/2014/main" id="{9417B311-F327-7806-C4E9-942A23204D23}"/>
                </a:ext>
              </a:extLst>
            </p:cNvPr>
            <p:cNvSpPr>
              <a:spLocks noChangeArrowheads="1"/>
            </p:cNvSpPr>
            <p:nvPr/>
          </p:nvSpPr>
          <p:spPr bwMode="auto">
            <a:xfrm>
              <a:off x="302" y="2148"/>
              <a:ext cx="5206" cy="1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Weeks	1	2	3	4	5	6	7	8</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1"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Master Production Schedule</a:t>
              </a:r>
              <a:br>
                <a:rPr kumimoji="0" lang="en-US" sz="1800" b="1"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(Shows the specific type and</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quantity of amplifier to be</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produced)</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240-watt amplifier	100		100		100		100</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150-watt amplifier		500		500		450		450</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75-watt amplifier			300				100</a:t>
              </a:r>
            </a:p>
          </p:txBody>
        </p:sp>
        <p:sp>
          <p:nvSpPr>
            <p:cNvPr id="35" name="Line 9">
              <a:extLst>
                <a:ext uri="{FF2B5EF4-FFF2-40B4-BE49-F238E27FC236}">
                  <a16:creationId xmlns:a16="http://schemas.microsoft.com/office/drawing/2014/main" id="{17BD7358-34AE-22F3-754A-24F7A70A0284}"/>
                </a:ext>
              </a:extLst>
            </p:cNvPr>
            <p:cNvSpPr>
              <a:spLocks noChangeShapeType="1"/>
            </p:cNvSpPr>
            <p:nvPr/>
          </p:nvSpPr>
          <p:spPr bwMode="auto">
            <a:xfrm>
              <a:off x="2576" y="1376"/>
              <a:ext cx="0" cy="2336"/>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6" name="Line 10">
              <a:extLst>
                <a:ext uri="{FF2B5EF4-FFF2-40B4-BE49-F238E27FC236}">
                  <a16:creationId xmlns:a16="http://schemas.microsoft.com/office/drawing/2014/main" id="{AE419700-1E6A-246C-29F4-47BBDC2347DC}"/>
                </a:ext>
              </a:extLst>
            </p:cNvPr>
            <p:cNvSpPr>
              <a:spLocks noChangeShapeType="1"/>
            </p:cNvSpPr>
            <p:nvPr/>
          </p:nvSpPr>
          <p:spPr bwMode="auto">
            <a:xfrm>
              <a:off x="4020" y="1368"/>
              <a:ext cx="0" cy="2344"/>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grpSp>
          <p:nvGrpSpPr>
            <p:cNvPr id="37" name="Group 11">
              <a:extLst>
                <a:ext uri="{FF2B5EF4-FFF2-40B4-BE49-F238E27FC236}">
                  <a16:creationId xmlns:a16="http://schemas.microsoft.com/office/drawing/2014/main" id="{5C9FD6DB-0AF8-A8BB-98CD-F5F41E85E2A2}"/>
                </a:ext>
              </a:extLst>
            </p:cNvPr>
            <p:cNvGrpSpPr>
              <a:grpSpLocks/>
            </p:cNvGrpSpPr>
            <p:nvPr/>
          </p:nvGrpSpPr>
          <p:grpSpPr bwMode="auto">
            <a:xfrm>
              <a:off x="2937" y="2120"/>
              <a:ext cx="2166" cy="1592"/>
              <a:chOff x="2937" y="2105"/>
              <a:chExt cx="2166" cy="1607"/>
            </a:xfrm>
          </p:grpSpPr>
          <p:sp>
            <p:nvSpPr>
              <p:cNvPr id="45" name="Line 12">
                <a:extLst>
                  <a:ext uri="{FF2B5EF4-FFF2-40B4-BE49-F238E27FC236}">
                    <a16:creationId xmlns:a16="http://schemas.microsoft.com/office/drawing/2014/main" id="{FE13EBA1-15FC-7F21-7025-37157AC3E49F}"/>
                  </a:ext>
                </a:extLst>
              </p:cNvPr>
              <p:cNvSpPr>
                <a:spLocks noChangeShapeType="1"/>
              </p:cNvSpPr>
              <p:nvPr/>
            </p:nvSpPr>
            <p:spPr bwMode="auto">
              <a:xfrm>
                <a:off x="3298"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6" name="Line 13">
                <a:extLst>
                  <a:ext uri="{FF2B5EF4-FFF2-40B4-BE49-F238E27FC236}">
                    <a16:creationId xmlns:a16="http://schemas.microsoft.com/office/drawing/2014/main" id="{092C0ADA-F2B8-3C6B-3314-8828A2B2A9F3}"/>
                  </a:ext>
                </a:extLst>
              </p:cNvPr>
              <p:cNvSpPr>
                <a:spLocks noChangeShapeType="1"/>
              </p:cNvSpPr>
              <p:nvPr/>
            </p:nvSpPr>
            <p:spPr bwMode="auto">
              <a:xfrm>
                <a:off x="2937"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7" name="Line 14">
                <a:extLst>
                  <a:ext uri="{FF2B5EF4-FFF2-40B4-BE49-F238E27FC236}">
                    <a16:creationId xmlns:a16="http://schemas.microsoft.com/office/drawing/2014/main" id="{308FB58A-6E4E-BA8C-B317-A9561EE390BA}"/>
                  </a:ext>
                </a:extLst>
              </p:cNvPr>
              <p:cNvSpPr>
                <a:spLocks noChangeShapeType="1"/>
              </p:cNvSpPr>
              <p:nvPr/>
            </p:nvSpPr>
            <p:spPr bwMode="auto">
              <a:xfrm>
                <a:off x="3659"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8" name="Line 15">
                <a:extLst>
                  <a:ext uri="{FF2B5EF4-FFF2-40B4-BE49-F238E27FC236}">
                    <a16:creationId xmlns:a16="http://schemas.microsoft.com/office/drawing/2014/main" id="{253C4797-492F-432D-FC71-A77869C1D0E7}"/>
                  </a:ext>
                </a:extLst>
              </p:cNvPr>
              <p:cNvSpPr>
                <a:spLocks noChangeShapeType="1"/>
              </p:cNvSpPr>
              <p:nvPr/>
            </p:nvSpPr>
            <p:spPr bwMode="auto">
              <a:xfrm>
                <a:off x="4381"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9" name="Line 16">
                <a:extLst>
                  <a:ext uri="{FF2B5EF4-FFF2-40B4-BE49-F238E27FC236}">
                    <a16:creationId xmlns:a16="http://schemas.microsoft.com/office/drawing/2014/main" id="{9D2479E9-BC6C-0DB2-40FE-E5F464E1A396}"/>
                  </a:ext>
                </a:extLst>
              </p:cNvPr>
              <p:cNvSpPr>
                <a:spLocks noChangeShapeType="1"/>
              </p:cNvSpPr>
              <p:nvPr/>
            </p:nvSpPr>
            <p:spPr bwMode="auto">
              <a:xfrm>
                <a:off x="4742"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50" name="Line 17">
                <a:extLst>
                  <a:ext uri="{FF2B5EF4-FFF2-40B4-BE49-F238E27FC236}">
                    <a16:creationId xmlns:a16="http://schemas.microsoft.com/office/drawing/2014/main" id="{380F44A1-58A4-C0A9-2A26-DAD108E40934}"/>
                  </a:ext>
                </a:extLst>
              </p:cNvPr>
              <p:cNvSpPr>
                <a:spLocks noChangeShapeType="1"/>
              </p:cNvSpPr>
              <p:nvPr/>
            </p:nvSpPr>
            <p:spPr bwMode="auto">
              <a:xfrm>
                <a:off x="5103"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grpSp>
        <p:sp>
          <p:nvSpPr>
            <p:cNvPr id="38" name="Line 18">
              <a:extLst>
                <a:ext uri="{FF2B5EF4-FFF2-40B4-BE49-F238E27FC236}">
                  <a16:creationId xmlns:a16="http://schemas.microsoft.com/office/drawing/2014/main" id="{01680610-FF2E-3E80-5D57-4BF55822EBA5}"/>
                </a:ext>
              </a:extLst>
            </p:cNvPr>
            <p:cNvSpPr>
              <a:spLocks noChangeShapeType="1"/>
            </p:cNvSpPr>
            <p:nvPr/>
          </p:nvSpPr>
          <p:spPr bwMode="auto">
            <a:xfrm>
              <a:off x="268" y="3016"/>
              <a:ext cx="5352"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9" name="Line 19">
              <a:extLst>
                <a:ext uri="{FF2B5EF4-FFF2-40B4-BE49-F238E27FC236}">
                  <a16:creationId xmlns:a16="http://schemas.microsoft.com/office/drawing/2014/main" id="{711647C5-838B-49F5-7B2A-E50211D4A503}"/>
                </a:ext>
              </a:extLst>
            </p:cNvPr>
            <p:cNvSpPr>
              <a:spLocks noChangeShapeType="1"/>
            </p:cNvSpPr>
            <p:nvPr/>
          </p:nvSpPr>
          <p:spPr bwMode="auto">
            <a:xfrm>
              <a:off x="268" y="3224"/>
              <a:ext cx="5352"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0" name="Line 20">
              <a:extLst>
                <a:ext uri="{FF2B5EF4-FFF2-40B4-BE49-F238E27FC236}">
                  <a16:creationId xmlns:a16="http://schemas.microsoft.com/office/drawing/2014/main" id="{AEA5062D-9D85-4507-B55E-8DE6C5CA3D30}"/>
                </a:ext>
              </a:extLst>
            </p:cNvPr>
            <p:cNvSpPr>
              <a:spLocks noChangeShapeType="1"/>
            </p:cNvSpPr>
            <p:nvPr/>
          </p:nvSpPr>
          <p:spPr bwMode="auto">
            <a:xfrm>
              <a:off x="268" y="3440"/>
              <a:ext cx="5352"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1" name="Line 21">
              <a:extLst>
                <a:ext uri="{FF2B5EF4-FFF2-40B4-BE49-F238E27FC236}">
                  <a16:creationId xmlns:a16="http://schemas.microsoft.com/office/drawing/2014/main" id="{F193AC86-C112-37A0-5CC1-E9986DEAEA4F}"/>
                </a:ext>
              </a:extLst>
            </p:cNvPr>
            <p:cNvSpPr>
              <a:spLocks noChangeShapeType="1"/>
            </p:cNvSpPr>
            <p:nvPr/>
          </p:nvSpPr>
          <p:spPr bwMode="auto">
            <a:xfrm>
              <a:off x="5460" y="1377"/>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2" name="Line 22">
              <a:extLst>
                <a:ext uri="{FF2B5EF4-FFF2-40B4-BE49-F238E27FC236}">
                  <a16:creationId xmlns:a16="http://schemas.microsoft.com/office/drawing/2014/main" id="{0BB65C75-01D4-2F7B-C84E-2C28CD181BD6}"/>
                </a:ext>
              </a:extLst>
            </p:cNvPr>
            <p:cNvSpPr>
              <a:spLocks noChangeShapeType="1"/>
            </p:cNvSpPr>
            <p:nvPr/>
          </p:nvSpPr>
          <p:spPr bwMode="auto">
            <a:xfrm>
              <a:off x="5460" y="1616"/>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3" name="Line 23">
              <a:extLst>
                <a:ext uri="{FF2B5EF4-FFF2-40B4-BE49-F238E27FC236}">
                  <a16:creationId xmlns:a16="http://schemas.microsoft.com/office/drawing/2014/main" id="{09F39071-AB10-5284-A331-C76AD54D4AF8}"/>
                </a:ext>
              </a:extLst>
            </p:cNvPr>
            <p:cNvSpPr>
              <a:spLocks noChangeShapeType="1"/>
            </p:cNvSpPr>
            <p:nvPr/>
          </p:nvSpPr>
          <p:spPr bwMode="auto">
            <a:xfrm>
              <a:off x="5460" y="2368"/>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4" name="Line 24">
              <a:extLst>
                <a:ext uri="{FF2B5EF4-FFF2-40B4-BE49-F238E27FC236}">
                  <a16:creationId xmlns:a16="http://schemas.microsoft.com/office/drawing/2014/main" id="{D1D63779-5583-EADE-DE8E-F2CCBA510CDC}"/>
                </a:ext>
              </a:extLst>
            </p:cNvPr>
            <p:cNvSpPr>
              <a:spLocks noChangeShapeType="1"/>
            </p:cNvSpPr>
            <p:nvPr/>
          </p:nvSpPr>
          <p:spPr bwMode="auto">
            <a:xfrm>
              <a:off x="5460" y="2129"/>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grpSp>
    </p:spTree>
    <p:extLst>
      <p:ext uri="{BB962C8B-B14F-4D97-AF65-F5344CB8AC3E}">
        <p14:creationId xmlns:p14="http://schemas.microsoft.com/office/powerpoint/2010/main" val="508085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EBDE-A1BD-D8A8-3486-DE0E2182FA61}"/>
              </a:ext>
            </a:extLst>
          </p:cNvPr>
          <p:cNvSpPr>
            <a:spLocks noGrp="1"/>
          </p:cNvSpPr>
          <p:nvPr>
            <p:ph type="title"/>
          </p:nvPr>
        </p:nvSpPr>
        <p:spPr/>
        <p:txBody>
          <a:bodyPr/>
          <a:lstStyle/>
          <a:p>
            <a:r>
              <a:rPr lang="en-IN" dirty="0"/>
              <a:t>Product Structure File</a:t>
            </a:r>
          </a:p>
        </p:txBody>
      </p:sp>
      <p:sp>
        <p:nvSpPr>
          <p:cNvPr id="3" name="Text Placeholder 2">
            <a:extLst>
              <a:ext uri="{FF2B5EF4-FFF2-40B4-BE49-F238E27FC236}">
                <a16:creationId xmlns:a16="http://schemas.microsoft.com/office/drawing/2014/main" id="{C2642685-869E-CBCB-A301-AE9F043DDB46}"/>
              </a:ext>
            </a:extLst>
          </p:cNvPr>
          <p:cNvSpPr>
            <a:spLocks noGrp="1"/>
          </p:cNvSpPr>
          <p:nvPr>
            <p:ph type="body" idx="1"/>
          </p:nvPr>
        </p:nvSpPr>
        <p:spPr/>
        <p:txBody>
          <a:bodyPr/>
          <a:lstStyle/>
          <a:p>
            <a:r>
              <a:rPr lang="en-IN" dirty="0"/>
              <a:t>Once the MPS is set, the MRP system accesses the </a:t>
            </a:r>
            <a:r>
              <a:rPr lang="en-IN" b="1" dirty="0"/>
              <a:t>product structure file </a:t>
            </a:r>
            <a:r>
              <a:rPr lang="en-IN" dirty="0"/>
              <a:t>to determine which component items need to be scheduled. </a:t>
            </a:r>
          </a:p>
          <a:p>
            <a:r>
              <a:rPr lang="en-IN" dirty="0"/>
              <a:t>The product structure file contains a </a:t>
            </a:r>
            <a:r>
              <a:rPr lang="en-IN" b="1" dirty="0"/>
              <a:t>bill of material (BOM) </a:t>
            </a:r>
            <a:r>
              <a:rPr lang="en-IN" dirty="0"/>
              <a:t>for every item produced. </a:t>
            </a:r>
          </a:p>
          <a:p>
            <a:r>
              <a:rPr lang="en-IN" dirty="0"/>
              <a:t>The bill of material for a product lists the items that go into the product, includes a brief description of each item, and specifies when and in what quantity each item is needed in the assembly process.</a:t>
            </a:r>
          </a:p>
        </p:txBody>
      </p:sp>
      <p:sp>
        <p:nvSpPr>
          <p:cNvPr id="4" name="Date Placeholder 3">
            <a:extLst>
              <a:ext uri="{FF2B5EF4-FFF2-40B4-BE49-F238E27FC236}">
                <a16:creationId xmlns:a16="http://schemas.microsoft.com/office/drawing/2014/main" id="{C2DEC684-C829-B1E2-DC22-14044FF74727}"/>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667572BD-6845-1BE3-6A56-C866897C5BE3}"/>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9970D2C-9A25-CCF8-1FCD-19BBD0E9E34F}"/>
              </a:ext>
            </a:extLst>
          </p:cNvPr>
          <p:cNvSpPr>
            <a:spLocks noGrp="1"/>
          </p:cNvSpPr>
          <p:nvPr>
            <p:ph type="sldNum" idx="12"/>
          </p:nvPr>
        </p:nvSpPr>
        <p:spPr/>
        <p:txBody>
          <a:bodyPr/>
          <a:lstStyle/>
          <a:p>
            <a:fld id="{00000000-1234-1234-1234-123412341234}" type="slidenum">
              <a:rPr lang="en-US" smtClean="0"/>
              <a:pPr/>
              <a:t>15</a:t>
            </a:fld>
            <a:endParaRPr lang="en-US" dirty="0"/>
          </a:p>
        </p:txBody>
      </p:sp>
    </p:spTree>
    <p:extLst>
      <p:ext uri="{BB962C8B-B14F-4D97-AF65-F5344CB8AC3E}">
        <p14:creationId xmlns:p14="http://schemas.microsoft.com/office/powerpoint/2010/main" val="150126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83D0-4D71-EC6F-581E-E4AF5CCA716F}"/>
              </a:ext>
            </a:extLst>
          </p:cNvPr>
          <p:cNvSpPr>
            <a:spLocks noGrp="1"/>
          </p:cNvSpPr>
          <p:nvPr>
            <p:ph type="title"/>
          </p:nvPr>
        </p:nvSpPr>
        <p:spPr/>
        <p:txBody>
          <a:bodyPr/>
          <a:lstStyle/>
          <a:p>
            <a:r>
              <a:rPr lang="en-IN" dirty="0"/>
              <a:t>Product Structure File</a:t>
            </a:r>
          </a:p>
        </p:txBody>
      </p:sp>
      <p:sp>
        <p:nvSpPr>
          <p:cNvPr id="4" name="Date Placeholder 3">
            <a:extLst>
              <a:ext uri="{FF2B5EF4-FFF2-40B4-BE49-F238E27FC236}">
                <a16:creationId xmlns:a16="http://schemas.microsoft.com/office/drawing/2014/main" id="{B378F36D-6A68-1FD4-85A5-771F6218685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02E12E1A-E524-E154-4320-11373F333DC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AC74B44-596C-994E-382E-CFD3A6903FFF}"/>
              </a:ext>
            </a:extLst>
          </p:cNvPr>
          <p:cNvSpPr>
            <a:spLocks noGrp="1"/>
          </p:cNvSpPr>
          <p:nvPr>
            <p:ph type="sldNum" idx="12"/>
          </p:nvPr>
        </p:nvSpPr>
        <p:spPr/>
        <p:txBody>
          <a:bodyPr/>
          <a:lstStyle/>
          <a:p>
            <a:fld id="{00000000-1234-1234-1234-123412341234}" type="slidenum">
              <a:rPr lang="en-US" smtClean="0"/>
              <a:pPr/>
              <a:t>16</a:t>
            </a:fld>
            <a:endParaRPr lang="en-US" dirty="0"/>
          </a:p>
        </p:txBody>
      </p:sp>
      <p:pic>
        <p:nvPicPr>
          <p:cNvPr id="7" name="Picture 6" descr="Assembly diagram and structure tree for a basic chair assembly.">
            <a:extLst>
              <a:ext uri="{FF2B5EF4-FFF2-40B4-BE49-F238E27FC236}">
                <a16:creationId xmlns:a16="http://schemas.microsoft.com/office/drawing/2014/main" id="{C1DE8553-B78A-9DE1-F8CB-57D68DA2C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33" y="988825"/>
            <a:ext cx="5397251" cy="5179423"/>
          </a:xfrm>
          <a:prstGeom prst="rect">
            <a:avLst/>
          </a:prstGeom>
        </p:spPr>
      </p:pic>
      <p:sp>
        <p:nvSpPr>
          <p:cNvPr id="8" name="Content Placeholder 3">
            <a:extLst>
              <a:ext uri="{FF2B5EF4-FFF2-40B4-BE49-F238E27FC236}">
                <a16:creationId xmlns:a16="http://schemas.microsoft.com/office/drawing/2014/main" id="{EBF97011-7858-CCDE-E021-28570C388662}"/>
              </a:ext>
            </a:extLst>
          </p:cNvPr>
          <p:cNvSpPr txBox="1">
            <a:spLocks/>
          </p:cNvSpPr>
          <p:nvPr/>
        </p:nvSpPr>
        <p:spPr>
          <a:xfrm>
            <a:off x="6828957" y="1283042"/>
            <a:ext cx="3563283" cy="33693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400" dirty="0"/>
              <a:t>Bill of Materials</a:t>
            </a:r>
          </a:p>
        </p:txBody>
      </p:sp>
      <p:graphicFrame>
        <p:nvGraphicFramePr>
          <p:cNvPr id="9" name="Table 9">
            <a:extLst>
              <a:ext uri="{FF2B5EF4-FFF2-40B4-BE49-F238E27FC236}">
                <a16:creationId xmlns:a16="http://schemas.microsoft.com/office/drawing/2014/main" id="{733D81A4-926F-D094-F8EB-CD51426AAD1A}"/>
              </a:ext>
            </a:extLst>
          </p:cNvPr>
          <p:cNvGraphicFramePr>
            <a:graphicFrameLocks noGrp="1"/>
          </p:cNvGraphicFramePr>
          <p:nvPr>
            <p:extLst>
              <p:ext uri="{D42A27DB-BD31-4B8C-83A1-F6EECF244321}">
                <p14:modId xmlns:p14="http://schemas.microsoft.com/office/powerpoint/2010/main" val="1028716178"/>
              </p:ext>
            </p:extLst>
          </p:nvPr>
        </p:nvGraphicFramePr>
        <p:xfrm>
          <a:off x="6546509" y="1905137"/>
          <a:ext cx="4213641" cy="4166050"/>
        </p:xfrm>
        <a:graphic>
          <a:graphicData uri="http://schemas.openxmlformats.org/drawingml/2006/table">
            <a:tbl>
              <a:tblPr firstRow="1" bandRow="1">
                <a:tableStyleId>{5C22544A-7EE6-4342-B048-85BDC9FD1C3A}</a:tableStyleId>
              </a:tblPr>
              <a:tblGrid>
                <a:gridCol w="1040076">
                  <a:extLst>
                    <a:ext uri="{9D8B030D-6E8A-4147-A177-3AD203B41FA5}">
                      <a16:colId xmlns:a16="http://schemas.microsoft.com/office/drawing/2014/main" val="3008466701"/>
                    </a:ext>
                  </a:extLst>
                </a:gridCol>
                <a:gridCol w="1735534">
                  <a:extLst>
                    <a:ext uri="{9D8B030D-6E8A-4147-A177-3AD203B41FA5}">
                      <a16:colId xmlns:a16="http://schemas.microsoft.com/office/drawing/2014/main" val="3437449531"/>
                    </a:ext>
                  </a:extLst>
                </a:gridCol>
                <a:gridCol w="1438031">
                  <a:extLst>
                    <a:ext uri="{9D8B030D-6E8A-4147-A177-3AD203B41FA5}">
                      <a16:colId xmlns:a16="http://schemas.microsoft.com/office/drawing/2014/main" val="3608762298"/>
                    </a:ext>
                  </a:extLst>
                </a:gridCol>
              </a:tblGrid>
              <a:tr h="416605">
                <a:tc>
                  <a:txBody>
                    <a:bodyPr/>
                    <a:lstStyle/>
                    <a:p>
                      <a:pPr algn="ctr"/>
                      <a:r>
                        <a:rPr lang="en-US" sz="1400" b="0" dirty="0">
                          <a:solidFill>
                            <a:schemeClr val="tx1"/>
                          </a:solidFill>
                        </a:rPr>
                        <a:t>Level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sz="1400" b="0">
                          <a:solidFill>
                            <a:schemeClr val="tx1"/>
                          </a:solidFill>
                        </a:rPr>
                        <a:t>Quantity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6667551"/>
                  </a:ext>
                </a:extLst>
              </a:tr>
              <a:tr h="416605">
                <a:tc>
                  <a:txBody>
                    <a:bodyPr/>
                    <a:lstStyle/>
                    <a:p>
                      <a:pPr algn="ctr"/>
                      <a:r>
                        <a:rPr lang="en-US" sz="1400" b="0" dirty="0">
                          <a:solidFill>
                            <a:schemeClr val="tx1"/>
                          </a:solidFill>
                        </a:rPr>
                        <a:t>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Chair</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a:solidFill>
                            <a:schemeClr val="tx1"/>
                          </a:solidFill>
                        </a:rPr>
                        <a:t>1</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6831619"/>
                  </a:ext>
                </a:extLst>
              </a:tr>
              <a:tr h="416605">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Leg assembly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1304498"/>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Legs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6491571"/>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Cross bar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5766843"/>
                  </a:ext>
                </a:extLst>
              </a:tr>
              <a:tr h="416605">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Seat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9448801"/>
                  </a:ext>
                </a:extLst>
              </a:tr>
              <a:tr h="416605">
                <a:tc>
                  <a:txBody>
                    <a:bodyPr/>
                    <a:lstStyle/>
                    <a:p>
                      <a:pPr algn="ctr"/>
                      <a:r>
                        <a:rPr lang="en-US" sz="1400" b="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Back assembly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68157"/>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Side rails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0559904"/>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Cross bar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5866777"/>
                  </a:ext>
                </a:extLst>
              </a:tr>
              <a:tr h="416605">
                <a:tc>
                  <a:txBody>
                    <a:bodyPr/>
                    <a:lstStyle/>
                    <a:p>
                      <a:pPr algn="ctr"/>
                      <a:r>
                        <a:rPr lang="en-US" sz="1400" b="0" dirty="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Back supports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2141085"/>
                  </a:ext>
                </a:extLst>
              </a:tr>
            </a:tbl>
          </a:graphicData>
        </a:graphic>
      </p:graphicFrame>
    </p:spTree>
    <p:extLst>
      <p:ext uri="{BB962C8B-B14F-4D97-AF65-F5344CB8AC3E}">
        <p14:creationId xmlns:p14="http://schemas.microsoft.com/office/powerpoint/2010/main" val="1637783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56C4-9885-C821-220C-1CCB67F73BF4}"/>
              </a:ext>
            </a:extLst>
          </p:cNvPr>
          <p:cNvSpPr>
            <a:spLocks noGrp="1"/>
          </p:cNvSpPr>
          <p:nvPr>
            <p:ph type="title"/>
          </p:nvPr>
        </p:nvSpPr>
        <p:spPr/>
        <p:txBody>
          <a:bodyPr/>
          <a:lstStyle/>
          <a:p>
            <a:r>
              <a:rPr lang="en-IN" dirty="0"/>
              <a:t>Product Structure File</a:t>
            </a:r>
          </a:p>
        </p:txBody>
      </p:sp>
      <p:sp>
        <p:nvSpPr>
          <p:cNvPr id="4" name="Date Placeholder 3">
            <a:extLst>
              <a:ext uri="{FF2B5EF4-FFF2-40B4-BE49-F238E27FC236}">
                <a16:creationId xmlns:a16="http://schemas.microsoft.com/office/drawing/2014/main" id="{7F8B4561-2893-CE10-2BEF-BC13F7D78D45}"/>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E087E95E-1A35-79F9-E831-4EE3A4E026B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4B55DE3-A394-21E2-14D0-D938E3A5594E}"/>
              </a:ext>
            </a:extLst>
          </p:cNvPr>
          <p:cNvSpPr>
            <a:spLocks noGrp="1"/>
          </p:cNvSpPr>
          <p:nvPr>
            <p:ph type="sldNum" idx="12"/>
          </p:nvPr>
        </p:nvSpPr>
        <p:spPr/>
        <p:txBody>
          <a:bodyPr/>
          <a:lstStyle/>
          <a:p>
            <a:fld id="{00000000-1234-1234-1234-123412341234}" type="slidenum">
              <a:rPr lang="en-US" smtClean="0"/>
              <a:pPr/>
              <a:t>17</a:t>
            </a:fld>
            <a:endParaRPr lang="en-US" dirty="0"/>
          </a:p>
        </p:txBody>
      </p:sp>
      <p:pic>
        <p:nvPicPr>
          <p:cNvPr id="10" name="Picture 2">
            <a:extLst>
              <a:ext uri="{FF2B5EF4-FFF2-40B4-BE49-F238E27FC236}">
                <a16:creationId xmlns:a16="http://schemas.microsoft.com/office/drawing/2014/main" id="{ED4A4063-7532-F27A-17E4-571B289A8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5553" y="1117079"/>
            <a:ext cx="5724525"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175E4A4E-B3F5-4465-DF81-5E944FDEB8B6}"/>
              </a:ext>
            </a:extLst>
          </p:cNvPr>
          <p:cNvSpPr txBox="1"/>
          <p:nvPr/>
        </p:nvSpPr>
        <p:spPr>
          <a:xfrm>
            <a:off x="1341478" y="991647"/>
            <a:ext cx="1981200" cy="954107"/>
          </a:xfrm>
          <a:prstGeom prst="rect">
            <a:avLst/>
          </a:prstGeom>
          <a:noFill/>
        </p:spPr>
        <p:txBody>
          <a:bodyPr wrap="square" rtlCol="0">
            <a:spAutoFit/>
          </a:bodyPr>
          <a:lstStyle/>
          <a:p>
            <a:pPr>
              <a:buClrTx/>
              <a:buFontTx/>
              <a:buNone/>
            </a:pPr>
            <a:r>
              <a:rPr lang="en-IN" sz="2800" b="1" kern="1200" dirty="0">
                <a:solidFill>
                  <a:prstClr val="black"/>
                </a:solidFill>
                <a:latin typeface="Arial" pitchFamily="34" charset="0"/>
                <a:ea typeface="+mn-ea"/>
                <a:cs typeface="Arial" pitchFamily="34" charset="0"/>
              </a:rPr>
              <a:t>Clipboard example</a:t>
            </a:r>
          </a:p>
        </p:txBody>
      </p:sp>
      <p:pic>
        <p:nvPicPr>
          <p:cNvPr id="12" name="Picture 3">
            <a:extLst>
              <a:ext uri="{FF2B5EF4-FFF2-40B4-BE49-F238E27FC236}">
                <a16:creationId xmlns:a16="http://schemas.microsoft.com/office/drawing/2014/main" id="{DB16738F-C084-72D5-2081-A9A246350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575" y="1838137"/>
            <a:ext cx="8429335"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031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00EA-B825-A4FF-E37B-9B6DF9E621B5}"/>
              </a:ext>
            </a:extLst>
          </p:cNvPr>
          <p:cNvSpPr>
            <a:spLocks noGrp="1"/>
          </p:cNvSpPr>
          <p:nvPr>
            <p:ph type="title"/>
          </p:nvPr>
        </p:nvSpPr>
        <p:spPr/>
        <p:txBody>
          <a:bodyPr/>
          <a:lstStyle/>
          <a:p>
            <a:r>
              <a:rPr lang="en-US" dirty="0"/>
              <a:t>Low-Level Coding</a:t>
            </a:r>
            <a:endParaRPr lang="en-IN" dirty="0"/>
          </a:p>
        </p:txBody>
      </p:sp>
      <p:sp>
        <p:nvSpPr>
          <p:cNvPr id="3" name="Text Placeholder 2">
            <a:extLst>
              <a:ext uri="{FF2B5EF4-FFF2-40B4-BE49-F238E27FC236}">
                <a16:creationId xmlns:a16="http://schemas.microsoft.com/office/drawing/2014/main" id="{41DCB1DD-39E6-49F8-439B-E8C5E4C17040}"/>
              </a:ext>
            </a:extLst>
          </p:cNvPr>
          <p:cNvSpPr>
            <a:spLocks noGrp="1"/>
          </p:cNvSpPr>
          <p:nvPr>
            <p:ph type="body" idx="1"/>
          </p:nvPr>
        </p:nvSpPr>
        <p:spPr>
          <a:xfrm>
            <a:off x="407446" y="832670"/>
            <a:ext cx="11596712" cy="5035928"/>
          </a:xfrm>
        </p:spPr>
        <p:txBody>
          <a:bodyPr/>
          <a:lstStyle/>
          <a:p>
            <a:r>
              <a:rPr lang="en-IN" dirty="0">
                <a:solidFill>
                  <a:schemeClr val="tx1"/>
                </a:solidFill>
              </a:rPr>
              <a:t>Restructuring the bill of materials so that multiple occurrences of a component </a:t>
            </a:r>
            <a:r>
              <a:rPr lang="en-IN" dirty="0">
                <a:solidFill>
                  <a:srgbClr val="FF0000"/>
                </a:solidFill>
              </a:rPr>
              <a:t>all coincide with the lowest level </a:t>
            </a:r>
            <a:r>
              <a:rPr lang="en-IN" dirty="0">
                <a:solidFill>
                  <a:schemeClr val="tx1"/>
                </a:solidFill>
              </a:rPr>
              <a:t>at which the component occurs.</a:t>
            </a:r>
          </a:p>
          <a:p>
            <a:endParaRPr lang="en-IN" dirty="0"/>
          </a:p>
        </p:txBody>
      </p:sp>
      <p:sp>
        <p:nvSpPr>
          <p:cNvPr id="4" name="Date Placeholder 3">
            <a:extLst>
              <a:ext uri="{FF2B5EF4-FFF2-40B4-BE49-F238E27FC236}">
                <a16:creationId xmlns:a16="http://schemas.microsoft.com/office/drawing/2014/main" id="{B1E3C798-6BC9-F536-D5AC-F6F43AD850C8}"/>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DCA249A1-D14D-66DF-4F45-9B4FE2764355}"/>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6050A49-36DB-C831-B4E2-D3F5F66387BE}"/>
              </a:ext>
            </a:extLst>
          </p:cNvPr>
          <p:cNvSpPr>
            <a:spLocks noGrp="1"/>
          </p:cNvSpPr>
          <p:nvPr>
            <p:ph type="sldNum" idx="12"/>
          </p:nvPr>
        </p:nvSpPr>
        <p:spPr/>
        <p:txBody>
          <a:bodyPr/>
          <a:lstStyle/>
          <a:p>
            <a:fld id="{00000000-1234-1234-1234-123412341234}" type="slidenum">
              <a:rPr lang="en-US" smtClean="0"/>
              <a:pPr/>
              <a:t>18</a:t>
            </a:fld>
            <a:endParaRPr lang="en-US" dirty="0"/>
          </a:p>
        </p:txBody>
      </p:sp>
      <p:pic>
        <p:nvPicPr>
          <p:cNvPr id="9" name="Picture 8" descr="Product structure tree for end item X.">
            <a:extLst>
              <a:ext uri="{FF2B5EF4-FFF2-40B4-BE49-F238E27FC236}">
                <a16:creationId xmlns:a16="http://schemas.microsoft.com/office/drawing/2014/main" id="{99985131-C751-90D5-402F-E3C8143C1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1946990"/>
            <a:ext cx="5295014" cy="4165483"/>
          </a:xfrm>
          <a:prstGeom prst="rect">
            <a:avLst/>
          </a:prstGeom>
        </p:spPr>
      </p:pic>
    </p:spTree>
    <p:extLst>
      <p:ext uri="{BB962C8B-B14F-4D97-AF65-F5344CB8AC3E}">
        <p14:creationId xmlns:p14="http://schemas.microsoft.com/office/powerpoint/2010/main" val="2129771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62BD-0FC5-1AD9-CB80-F282290556A0}"/>
              </a:ext>
            </a:extLst>
          </p:cNvPr>
          <p:cNvSpPr>
            <a:spLocks noGrp="1"/>
          </p:cNvSpPr>
          <p:nvPr>
            <p:ph type="title"/>
          </p:nvPr>
        </p:nvSpPr>
        <p:spPr/>
        <p:txBody>
          <a:bodyPr/>
          <a:lstStyle/>
          <a:p>
            <a:r>
              <a:rPr lang="en-US" dirty="0"/>
              <a:t>BOM Example</a:t>
            </a:r>
            <a:endParaRPr lang="en-IN" dirty="0"/>
          </a:p>
        </p:txBody>
      </p:sp>
      <p:sp>
        <p:nvSpPr>
          <p:cNvPr id="4" name="Date Placeholder 3">
            <a:extLst>
              <a:ext uri="{FF2B5EF4-FFF2-40B4-BE49-F238E27FC236}">
                <a16:creationId xmlns:a16="http://schemas.microsoft.com/office/drawing/2014/main" id="{FEC273BB-2C41-0375-F4F6-037BED21D47A}"/>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BD92E812-B5C6-A5F4-7CEA-E3DAA0B4AC2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D01AB4E-AB0A-6071-D8B0-22C2301A5BDA}"/>
              </a:ext>
            </a:extLst>
          </p:cNvPr>
          <p:cNvSpPr>
            <a:spLocks noGrp="1"/>
          </p:cNvSpPr>
          <p:nvPr>
            <p:ph type="sldNum" idx="12"/>
          </p:nvPr>
        </p:nvSpPr>
        <p:spPr/>
        <p:txBody>
          <a:bodyPr/>
          <a:lstStyle/>
          <a:p>
            <a:fld id="{00000000-1234-1234-1234-123412341234}" type="slidenum">
              <a:rPr lang="en-US" smtClean="0"/>
              <a:pPr/>
              <a:t>19</a:t>
            </a:fld>
            <a:endParaRPr lang="en-US" dirty="0"/>
          </a:p>
        </p:txBody>
      </p:sp>
      <p:grpSp>
        <p:nvGrpSpPr>
          <p:cNvPr id="8" name="Group 3">
            <a:extLst>
              <a:ext uri="{FF2B5EF4-FFF2-40B4-BE49-F238E27FC236}">
                <a16:creationId xmlns:a16="http://schemas.microsoft.com/office/drawing/2014/main" id="{8D8E210D-CFF2-72E6-64F9-C8F0D1D5F9E1}"/>
              </a:ext>
            </a:extLst>
          </p:cNvPr>
          <p:cNvGrpSpPr>
            <a:grpSpLocks/>
          </p:cNvGrpSpPr>
          <p:nvPr/>
        </p:nvGrpSpPr>
        <p:grpSpPr bwMode="auto">
          <a:xfrm>
            <a:off x="2666483" y="3562475"/>
            <a:ext cx="6024563" cy="855666"/>
            <a:chOff x="262" y="1550"/>
            <a:chExt cx="3795" cy="539"/>
          </a:xfrm>
        </p:grpSpPr>
        <p:grpSp>
          <p:nvGrpSpPr>
            <p:cNvPr id="9" name="Group 4">
              <a:extLst>
                <a:ext uri="{FF2B5EF4-FFF2-40B4-BE49-F238E27FC236}">
                  <a16:creationId xmlns:a16="http://schemas.microsoft.com/office/drawing/2014/main" id="{B2AB0C5F-6A62-C144-7709-2675599D74BD}"/>
                </a:ext>
              </a:extLst>
            </p:cNvPr>
            <p:cNvGrpSpPr>
              <a:grpSpLocks/>
            </p:cNvGrpSpPr>
            <p:nvPr/>
          </p:nvGrpSpPr>
          <p:grpSpPr bwMode="auto">
            <a:xfrm>
              <a:off x="814" y="1550"/>
              <a:ext cx="3243" cy="520"/>
              <a:chOff x="814" y="1550"/>
              <a:chExt cx="3243" cy="520"/>
            </a:xfrm>
          </p:grpSpPr>
          <p:sp>
            <p:nvSpPr>
              <p:cNvPr id="11" name="Rectangle 5">
                <a:extLst>
                  <a:ext uri="{FF2B5EF4-FFF2-40B4-BE49-F238E27FC236}">
                    <a16:creationId xmlns:a16="http://schemas.microsoft.com/office/drawing/2014/main" id="{26B7A983-6D7B-D14B-1F54-0FBFB56E4BEF}"/>
                  </a:ext>
                </a:extLst>
              </p:cNvPr>
              <p:cNvSpPr>
                <a:spLocks noChangeArrowheads="1"/>
              </p:cNvSpPr>
              <p:nvPr/>
            </p:nvSpPr>
            <p:spPr bwMode="auto">
              <a:xfrm>
                <a:off x="814" y="1781"/>
                <a:ext cx="443"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B</a:t>
                </a:r>
                <a:r>
                  <a:rPr lang="en-US" sz="2800" baseline="-25000" dirty="0">
                    <a:latin typeface="Times New Roman" panose="02020603050405020304" pitchFamily="18" charset="0"/>
                    <a:cs typeface="Times New Roman" panose="02020603050405020304" pitchFamily="18" charset="0"/>
                  </a:rPr>
                  <a:t>(2)</a:t>
                </a:r>
                <a:endParaRPr lang="en-US" sz="3200" dirty="0">
                  <a:latin typeface="Times New Roman" panose="02020603050405020304" pitchFamily="18" charset="0"/>
                  <a:cs typeface="Times New Roman" panose="02020603050405020304" pitchFamily="18" charset="0"/>
                </a:endParaRPr>
              </a:p>
            </p:txBody>
          </p:sp>
          <p:sp>
            <p:nvSpPr>
              <p:cNvPr id="12" name="Rectangle 6">
                <a:extLst>
                  <a:ext uri="{FF2B5EF4-FFF2-40B4-BE49-F238E27FC236}">
                    <a16:creationId xmlns:a16="http://schemas.microsoft.com/office/drawing/2014/main" id="{B6E68D49-61E4-4F19-6868-856835FDA5EE}"/>
                  </a:ext>
                </a:extLst>
              </p:cNvPr>
              <p:cNvSpPr>
                <a:spLocks noChangeArrowheads="1"/>
              </p:cNvSpPr>
              <p:nvPr/>
            </p:nvSpPr>
            <p:spPr bwMode="auto">
              <a:xfrm>
                <a:off x="3614" y="1781"/>
                <a:ext cx="443"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C</a:t>
                </a:r>
                <a:r>
                  <a:rPr lang="en-US" sz="2800" baseline="-25000" dirty="0">
                    <a:latin typeface="Times New Roman" panose="02020603050405020304" pitchFamily="18" charset="0"/>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grpSp>
            <p:nvGrpSpPr>
              <p:cNvPr id="13" name="Group 8">
                <a:extLst>
                  <a:ext uri="{FF2B5EF4-FFF2-40B4-BE49-F238E27FC236}">
                    <a16:creationId xmlns:a16="http://schemas.microsoft.com/office/drawing/2014/main" id="{856C5BC3-5C0A-AED8-E4F7-ECF3FAD45452}"/>
                  </a:ext>
                </a:extLst>
              </p:cNvPr>
              <p:cNvGrpSpPr>
                <a:grpSpLocks/>
              </p:cNvGrpSpPr>
              <p:nvPr/>
            </p:nvGrpSpPr>
            <p:grpSpPr bwMode="auto">
              <a:xfrm>
                <a:off x="1000" y="1550"/>
                <a:ext cx="2800" cy="240"/>
                <a:chOff x="1000" y="1550"/>
                <a:chExt cx="2800" cy="240"/>
              </a:xfrm>
            </p:grpSpPr>
            <p:sp>
              <p:nvSpPr>
                <p:cNvPr id="14" name="Freeform 9">
                  <a:extLst>
                    <a:ext uri="{FF2B5EF4-FFF2-40B4-BE49-F238E27FC236}">
                      <a16:creationId xmlns:a16="http://schemas.microsoft.com/office/drawing/2014/main" id="{79249A20-B692-7102-115B-82387050942E}"/>
                    </a:ext>
                  </a:extLst>
                </p:cNvPr>
                <p:cNvSpPr>
                  <a:spLocks/>
                </p:cNvSpPr>
                <p:nvPr/>
              </p:nvSpPr>
              <p:spPr bwMode="auto">
                <a:xfrm>
                  <a:off x="1000" y="1680"/>
                  <a:ext cx="2800" cy="110"/>
                </a:xfrm>
                <a:custGeom>
                  <a:avLst/>
                  <a:gdLst>
                    <a:gd name="T0" fmla="*/ 0 w 2800"/>
                    <a:gd name="T1" fmla="*/ 109 h 110"/>
                    <a:gd name="T2" fmla="*/ 0 w 2800"/>
                    <a:gd name="T3" fmla="*/ 0 h 110"/>
                    <a:gd name="T4" fmla="*/ 2800 w 2800"/>
                    <a:gd name="T5" fmla="*/ 0 h 110"/>
                    <a:gd name="T6" fmla="*/ 2800 w 2800"/>
                    <a:gd name="T7" fmla="*/ 110 h 110"/>
                    <a:gd name="T8" fmla="*/ 0 60000 65536"/>
                    <a:gd name="T9" fmla="*/ 0 60000 65536"/>
                    <a:gd name="T10" fmla="*/ 0 60000 65536"/>
                    <a:gd name="T11" fmla="*/ 0 60000 65536"/>
                    <a:gd name="T12" fmla="*/ 0 w 2800"/>
                    <a:gd name="T13" fmla="*/ 0 h 110"/>
                    <a:gd name="T14" fmla="*/ 2800 w 2800"/>
                    <a:gd name="T15" fmla="*/ 110 h 110"/>
                  </a:gdLst>
                  <a:ahLst/>
                  <a:cxnLst>
                    <a:cxn ang="T8">
                      <a:pos x="T0" y="T1"/>
                    </a:cxn>
                    <a:cxn ang="T9">
                      <a:pos x="T2" y="T3"/>
                    </a:cxn>
                    <a:cxn ang="T10">
                      <a:pos x="T4" y="T5"/>
                    </a:cxn>
                    <a:cxn ang="T11">
                      <a:pos x="T6" y="T7"/>
                    </a:cxn>
                  </a:cxnLst>
                  <a:rect l="T12" t="T13" r="T14" b="T15"/>
                  <a:pathLst>
                    <a:path w="2800" h="110">
                      <a:moveTo>
                        <a:pt x="0" y="109"/>
                      </a:moveTo>
                      <a:lnTo>
                        <a:pt x="0" y="0"/>
                      </a:lnTo>
                      <a:lnTo>
                        <a:pt x="2800" y="0"/>
                      </a:lnTo>
                      <a:lnTo>
                        <a:pt x="2800" y="110"/>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15" name="Line 10">
                  <a:extLst>
                    <a:ext uri="{FF2B5EF4-FFF2-40B4-BE49-F238E27FC236}">
                      <a16:creationId xmlns:a16="http://schemas.microsoft.com/office/drawing/2014/main" id="{EA55AF4E-D151-3CDB-05A6-A97E987C65A5}"/>
                    </a:ext>
                  </a:extLst>
                </p:cNvPr>
                <p:cNvSpPr>
                  <a:spLocks noChangeShapeType="1"/>
                </p:cNvSpPr>
                <p:nvPr/>
              </p:nvSpPr>
              <p:spPr bwMode="auto">
                <a:xfrm>
                  <a:off x="2392" y="1550"/>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sp>
          <p:nvSpPr>
            <p:cNvPr id="10" name="Rectangle 11">
              <a:extLst>
                <a:ext uri="{FF2B5EF4-FFF2-40B4-BE49-F238E27FC236}">
                  <a16:creationId xmlns:a16="http://schemas.microsoft.com/office/drawing/2014/main" id="{210FCF58-692C-CF9A-6B74-B0C3D2935E9C}"/>
                </a:ext>
              </a:extLst>
            </p:cNvPr>
            <p:cNvSpPr>
              <a:spLocks noChangeArrowheads="1"/>
            </p:cNvSpPr>
            <p:nvPr/>
          </p:nvSpPr>
          <p:spPr bwMode="auto">
            <a:xfrm>
              <a:off x="262" y="1759"/>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1</a:t>
              </a:r>
            </a:p>
          </p:txBody>
        </p:sp>
      </p:grpSp>
      <p:grpSp>
        <p:nvGrpSpPr>
          <p:cNvPr id="16" name="Group 12">
            <a:extLst>
              <a:ext uri="{FF2B5EF4-FFF2-40B4-BE49-F238E27FC236}">
                <a16:creationId xmlns:a16="http://schemas.microsoft.com/office/drawing/2014/main" id="{BAB5867E-6603-9E01-BDBE-200895A4FFDC}"/>
              </a:ext>
            </a:extLst>
          </p:cNvPr>
          <p:cNvGrpSpPr>
            <a:grpSpLocks/>
          </p:cNvGrpSpPr>
          <p:nvPr/>
        </p:nvGrpSpPr>
        <p:grpSpPr bwMode="auto">
          <a:xfrm>
            <a:off x="2666483" y="4327638"/>
            <a:ext cx="6824664" cy="1443037"/>
            <a:chOff x="262" y="2032"/>
            <a:chExt cx="4299" cy="909"/>
          </a:xfrm>
        </p:grpSpPr>
        <p:grpSp>
          <p:nvGrpSpPr>
            <p:cNvPr id="17" name="Group 13">
              <a:extLst>
                <a:ext uri="{FF2B5EF4-FFF2-40B4-BE49-F238E27FC236}">
                  <a16:creationId xmlns:a16="http://schemas.microsoft.com/office/drawing/2014/main" id="{CD815F1A-B12D-389C-2A51-48AD4FADB82A}"/>
                </a:ext>
              </a:extLst>
            </p:cNvPr>
            <p:cNvGrpSpPr>
              <a:grpSpLocks/>
            </p:cNvGrpSpPr>
            <p:nvPr/>
          </p:nvGrpSpPr>
          <p:grpSpPr bwMode="auto">
            <a:xfrm>
              <a:off x="696" y="2032"/>
              <a:ext cx="3865" cy="909"/>
              <a:chOff x="696" y="2032"/>
              <a:chExt cx="3865" cy="909"/>
            </a:xfrm>
          </p:grpSpPr>
          <p:grpSp>
            <p:nvGrpSpPr>
              <p:cNvPr id="19" name="Group 14">
                <a:extLst>
                  <a:ext uri="{FF2B5EF4-FFF2-40B4-BE49-F238E27FC236}">
                    <a16:creationId xmlns:a16="http://schemas.microsoft.com/office/drawing/2014/main" id="{FA7DF0AD-13AF-F9E7-6632-7BF851E2F657}"/>
                  </a:ext>
                </a:extLst>
              </p:cNvPr>
              <p:cNvGrpSpPr>
                <a:grpSpLocks/>
              </p:cNvGrpSpPr>
              <p:nvPr/>
            </p:nvGrpSpPr>
            <p:grpSpPr bwMode="auto">
              <a:xfrm>
                <a:off x="696" y="2033"/>
                <a:ext cx="728" cy="908"/>
                <a:chOff x="696" y="2033"/>
                <a:chExt cx="728" cy="908"/>
              </a:xfrm>
            </p:grpSpPr>
            <p:sp>
              <p:nvSpPr>
                <p:cNvPr id="27" name="Freeform 15">
                  <a:extLst>
                    <a:ext uri="{FF2B5EF4-FFF2-40B4-BE49-F238E27FC236}">
                      <a16:creationId xmlns:a16="http://schemas.microsoft.com/office/drawing/2014/main" id="{6D2CD757-4DE9-9E09-F349-46EBC41BAE7A}"/>
                    </a:ext>
                  </a:extLst>
                </p:cNvPr>
                <p:cNvSpPr>
                  <a:spLocks/>
                </p:cNvSpPr>
                <p:nvPr/>
              </p:nvSpPr>
              <p:spPr bwMode="auto">
                <a:xfrm>
                  <a:off x="696" y="2160"/>
                  <a:ext cx="728" cy="781"/>
                </a:xfrm>
                <a:custGeom>
                  <a:avLst/>
                  <a:gdLst>
                    <a:gd name="T0" fmla="*/ 0 w 784"/>
                    <a:gd name="T1" fmla="*/ 781 h 781"/>
                    <a:gd name="T2" fmla="*/ 0 w 784"/>
                    <a:gd name="T3" fmla="*/ 0 h 781"/>
                    <a:gd name="T4" fmla="*/ 728 w 784"/>
                    <a:gd name="T5" fmla="*/ 0 h 781"/>
                    <a:gd name="T6" fmla="*/ 728 w 784"/>
                    <a:gd name="T7" fmla="*/ 195 h 781"/>
                    <a:gd name="T8" fmla="*/ 0 60000 65536"/>
                    <a:gd name="T9" fmla="*/ 0 60000 65536"/>
                    <a:gd name="T10" fmla="*/ 0 60000 65536"/>
                    <a:gd name="T11" fmla="*/ 0 60000 65536"/>
                    <a:gd name="T12" fmla="*/ 0 w 784"/>
                    <a:gd name="T13" fmla="*/ 0 h 781"/>
                    <a:gd name="T14" fmla="*/ 784 w 784"/>
                    <a:gd name="T15" fmla="*/ 781 h 781"/>
                  </a:gdLst>
                  <a:ahLst/>
                  <a:cxnLst>
                    <a:cxn ang="T8">
                      <a:pos x="T0" y="T1"/>
                    </a:cxn>
                    <a:cxn ang="T9">
                      <a:pos x="T2" y="T3"/>
                    </a:cxn>
                    <a:cxn ang="T10">
                      <a:pos x="T4" y="T5"/>
                    </a:cxn>
                    <a:cxn ang="T11">
                      <a:pos x="T6" y="T7"/>
                    </a:cxn>
                  </a:cxnLst>
                  <a:rect l="T12" t="T13" r="T14" b="T15"/>
                  <a:pathLst>
                    <a:path w="784" h="781">
                      <a:moveTo>
                        <a:pt x="0" y="781"/>
                      </a:moveTo>
                      <a:lnTo>
                        <a:pt x="0" y="0"/>
                      </a:lnTo>
                      <a:lnTo>
                        <a:pt x="784" y="0"/>
                      </a:lnTo>
                      <a:lnTo>
                        <a:pt x="784" y="195"/>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28" name="Line 16">
                  <a:extLst>
                    <a:ext uri="{FF2B5EF4-FFF2-40B4-BE49-F238E27FC236}">
                      <a16:creationId xmlns:a16="http://schemas.microsoft.com/office/drawing/2014/main" id="{D3C7DA38-2F55-FC45-755E-47BD7B0FB808}"/>
                    </a:ext>
                  </a:extLst>
                </p:cNvPr>
                <p:cNvSpPr>
                  <a:spLocks noChangeShapeType="1"/>
                </p:cNvSpPr>
                <p:nvPr/>
              </p:nvSpPr>
              <p:spPr bwMode="auto">
                <a:xfrm>
                  <a:off x="1000" y="2033"/>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nvGrpSpPr>
              <p:cNvPr id="20" name="Group 17">
                <a:extLst>
                  <a:ext uri="{FF2B5EF4-FFF2-40B4-BE49-F238E27FC236}">
                    <a16:creationId xmlns:a16="http://schemas.microsoft.com/office/drawing/2014/main" id="{FB332E96-EA4A-E965-4B00-97ED544D027B}"/>
                  </a:ext>
                </a:extLst>
              </p:cNvPr>
              <p:cNvGrpSpPr>
                <a:grpSpLocks/>
              </p:cNvGrpSpPr>
              <p:nvPr/>
            </p:nvGrpSpPr>
            <p:grpSpPr bwMode="auto">
              <a:xfrm>
                <a:off x="1246" y="2032"/>
                <a:ext cx="3315" cy="622"/>
                <a:chOff x="1246" y="2032"/>
                <a:chExt cx="3315" cy="622"/>
              </a:xfrm>
            </p:grpSpPr>
            <p:sp>
              <p:nvSpPr>
                <p:cNvPr id="21" name="Rectangle 19">
                  <a:extLst>
                    <a:ext uri="{FF2B5EF4-FFF2-40B4-BE49-F238E27FC236}">
                      <a16:creationId xmlns:a16="http://schemas.microsoft.com/office/drawing/2014/main" id="{FBC68775-C912-BDC2-E52E-0F00773C3528}"/>
                    </a:ext>
                  </a:extLst>
                </p:cNvPr>
                <p:cNvSpPr>
                  <a:spLocks noChangeArrowheads="1"/>
                </p:cNvSpPr>
                <p:nvPr/>
              </p:nvSpPr>
              <p:spPr bwMode="auto">
                <a:xfrm>
                  <a:off x="3198" y="2365"/>
                  <a:ext cx="431"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E</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22" name="Rectangle 20">
                  <a:extLst>
                    <a:ext uri="{FF2B5EF4-FFF2-40B4-BE49-F238E27FC236}">
                      <a16:creationId xmlns:a16="http://schemas.microsoft.com/office/drawing/2014/main" id="{9477123E-D740-55D8-FE1A-04D54817EA66}"/>
                    </a:ext>
                  </a:extLst>
                </p:cNvPr>
                <p:cNvSpPr>
                  <a:spLocks noChangeArrowheads="1"/>
                </p:cNvSpPr>
                <p:nvPr/>
              </p:nvSpPr>
              <p:spPr bwMode="auto">
                <a:xfrm>
                  <a:off x="1246" y="2365"/>
                  <a:ext cx="431"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E</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23" name="Rectangle 21">
                  <a:extLst>
                    <a:ext uri="{FF2B5EF4-FFF2-40B4-BE49-F238E27FC236}">
                      <a16:creationId xmlns:a16="http://schemas.microsoft.com/office/drawing/2014/main" id="{133A2950-B29F-0CF2-E716-EE5E0F1A1EE3}"/>
                    </a:ext>
                  </a:extLst>
                </p:cNvPr>
                <p:cNvSpPr>
                  <a:spLocks noChangeArrowheads="1"/>
                </p:cNvSpPr>
                <p:nvPr/>
              </p:nvSpPr>
              <p:spPr bwMode="auto">
                <a:xfrm>
                  <a:off x="4142" y="2365"/>
                  <a:ext cx="419"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F</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grpSp>
              <p:nvGrpSpPr>
                <p:cNvPr id="24" name="Group 24">
                  <a:extLst>
                    <a:ext uri="{FF2B5EF4-FFF2-40B4-BE49-F238E27FC236}">
                      <a16:creationId xmlns:a16="http://schemas.microsoft.com/office/drawing/2014/main" id="{8FD2DBDC-4892-DD7D-46FE-9546E87E5401}"/>
                    </a:ext>
                  </a:extLst>
                </p:cNvPr>
                <p:cNvGrpSpPr>
                  <a:grpSpLocks/>
                </p:cNvGrpSpPr>
                <p:nvPr/>
              </p:nvGrpSpPr>
              <p:grpSpPr bwMode="auto">
                <a:xfrm>
                  <a:off x="3373" y="2032"/>
                  <a:ext cx="939" cy="323"/>
                  <a:chOff x="3373" y="2032"/>
                  <a:chExt cx="939" cy="323"/>
                </a:xfrm>
              </p:grpSpPr>
              <p:sp>
                <p:nvSpPr>
                  <p:cNvPr id="25" name="Freeform 25">
                    <a:extLst>
                      <a:ext uri="{FF2B5EF4-FFF2-40B4-BE49-F238E27FC236}">
                        <a16:creationId xmlns:a16="http://schemas.microsoft.com/office/drawing/2014/main" id="{4EB5366F-1CF2-0A82-1885-A65F50C73942}"/>
                      </a:ext>
                    </a:extLst>
                  </p:cNvPr>
                  <p:cNvSpPr>
                    <a:spLocks/>
                  </p:cNvSpPr>
                  <p:nvPr/>
                </p:nvSpPr>
                <p:spPr bwMode="auto">
                  <a:xfrm>
                    <a:off x="3373" y="2160"/>
                    <a:ext cx="939" cy="195"/>
                  </a:xfrm>
                  <a:custGeom>
                    <a:avLst/>
                    <a:gdLst>
                      <a:gd name="T0" fmla="*/ 0 w 939"/>
                      <a:gd name="T1" fmla="*/ 188 h 195"/>
                      <a:gd name="T2" fmla="*/ 3 w 939"/>
                      <a:gd name="T3" fmla="*/ 0 h 195"/>
                      <a:gd name="T4" fmla="*/ 939 w 939"/>
                      <a:gd name="T5" fmla="*/ 0 h 195"/>
                      <a:gd name="T6" fmla="*/ 939 w 939"/>
                      <a:gd name="T7" fmla="*/ 195 h 195"/>
                      <a:gd name="T8" fmla="*/ 0 60000 65536"/>
                      <a:gd name="T9" fmla="*/ 0 60000 65536"/>
                      <a:gd name="T10" fmla="*/ 0 60000 65536"/>
                      <a:gd name="T11" fmla="*/ 0 60000 65536"/>
                      <a:gd name="T12" fmla="*/ 0 w 939"/>
                      <a:gd name="T13" fmla="*/ 0 h 195"/>
                      <a:gd name="T14" fmla="*/ 939 w 939"/>
                      <a:gd name="T15" fmla="*/ 195 h 195"/>
                    </a:gdLst>
                    <a:ahLst/>
                    <a:cxnLst>
                      <a:cxn ang="T8">
                        <a:pos x="T0" y="T1"/>
                      </a:cxn>
                      <a:cxn ang="T9">
                        <a:pos x="T2" y="T3"/>
                      </a:cxn>
                      <a:cxn ang="T10">
                        <a:pos x="T4" y="T5"/>
                      </a:cxn>
                      <a:cxn ang="T11">
                        <a:pos x="T6" y="T7"/>
                      </a:cxn>
                    </a:cxnLst>
                    <a:rect l="T12" t="T13" r="T14" b="T15"/>
                    <a:pathLst>
                      <a:path w="939" h="195">
                        <a:moveTo>
                          <a:pt x="0" y="188"/>
                        </a:moveTo>
                        <a:lnTo>
                          <a:pt x="3" y="0"/>
                        </a:lnTo>
                        <a:lnTo>
                          <a:pt x="939" y="0"/>
                        </a:lnTo>
                        <a:lnTo>
                          <a:pt x="939" y="195"/>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26" name="Line 26">
                    <a:extLst>
                      <a:ext uri="{FF2B5EF4-FFF2-40B4-BE49-F238E27FC236}">
                        <a16:creationId xmlns:a16="http://schemas.microsoft.com/office/drawing/2014/main" id="{B7166104-8C9A-C65E-97D2-8F382E005FD9}"/>
                      </a:ext>
                    </a:extLst>
                  </p:cNvPr>
                  <p:cNvSpPr>
                    <a:spLocks noChangeShapeType="1"/>
                  </p:cNvSpPr>
                  <p:nvPr/>
                </p:nvSpPr>
                <p:spPr bwMode="auto">
                  <a:xfrm>
                    <a:off x="3801" y="2032"/>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grpSp>
        <p:sp>
          <p:nvSpPr>
            <p:cNvPr id="18" name="Rectangle 29">
              <a:extLst>
                <a:ext uri="{FF2B5EF4-FFF2-40B4-BE49-F238E27FC236}">
                  <a16:creationId xmlns:a16="http://schemas.microsoft.com/office/drawing/2014/main" id="{A96D35E8-4385-4726-81EE-9317FB7C4376}"/>
                </a:ext>
              </a:extLst>
            </p:cNvPr>
            <p:cNvSpPr>
              <a:spLocks noChangeArrowheads="1"/>
            </p:cNvSpPr>
            <p:nvPr/>
          </p:nvSpPr>
          <p:spPr bwMode="auto">
            <a:xfrm>
              <a:off x="262" y="2341"/>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2</a:t>
              </a:r>
            </a:p>
          </p:txBody>
        </p:sp>
      </p:grpSp>
      <p:grpSp>
        <p:nvGrpSpPr>
          <p:cNvPr id="29" name="Group 30">
            <a:extLst>
              <a:ext uri="{FF2B5EF4-FFF2-40B4-BE49-F238E27FC236}">
                <a16:creationId xmlns:a16="http://schemas.microsoft.com/office/drawing/2014/main" id="{5FCA362D-9E3C-88DE-8EC9-6BB0C95AC4CA}"/>
              </a:ext>
            </a:extLst>
          </p:cNvPr>
          <p:cNvGrpSpPr>
            <a:grpSpLocks/>
          </p:cNvGrpSpPr>
          <p:nvPr/>
        </p:nvGrpSpPr>
        <p:grpSpPr bwMode="auto">
          <a:xfrm>
            <a:off x="2666483" y="5265859"/>
            <a:ext cx="7253289" cy="981077"/>
            <a:chOff x="262" y="2623"/>
            <a:chExt cx="4569" cy="618"/>
          </a:xfrm>
        </p:grpSpPr>
        <p:grpSp>
          <p:nvGrpSpPr>
            <p:cNvPr id="30" name="Group 31">
              <a:extLst>
                <a:ext uri="{FF2B5EF4-FFF2-40B4-BE49-F238E27FC236}">
                  <a16:creationId xmlns:a16="http://schemas.microsoft.com/office/drawing/2014/main" id="{F5A43902-3C5A-5EEF-6F77-778FB5B4E015}"/>
                </a:ext>
              </a:extLst>
            </p:cNvPr>
            <p:cNvGrpSpPr>
              <a:grpSpLocks/>
            </p:cNvGrpSpPr>
            <p:nvPr/>
          </p:nvGrpSpPr>
          <p:grpSpPr bwMode="auto">
            <a:xfrm>
              <a:off x="518" y="2623"/>
              <a:ext cx="4313" cy="598"/>
              <a:chOff x="518" y="2623"/>
              <a:chExt cx="4313" cy="598"/>
            </a:xfrm>
          </p:grpSpPr>
          <p:sp>
            <p:nvSpPr>
              <p:cNvPr id="32" name="Rectangle 34">
                <a:extLst>
                  <a:ext uri="{FF2B5EF4-FFF2-40B4-BE49-F238E27FC236}">
                    <a16:creationId xmlns:a16="http://schemas.microsoft.com/office/drawing/2014/main" id="{A72217F2-537E-A69F-6FD6-B20583ED3A67}"/>
                  </a:ext>
                </a:extLst>
              </p:cNvPr>
              <p:cNvSpPr>
                <a:spLocks noChangeArrowheads="1"/>
              </p:cNvSpPr>
              <p:nvPr/>
            </p:nvSpPr>
            <p:spPr bwMode="auto">
              <a:xfrm>
                <a:off x="518" y="2932"/>
                <a:ext cx="457"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D</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33" name="Rectangle 38">
                <a:extLst>
                  <a:ext uri="{FF2B5EF4-FFF2-40B4-BE49-F238E27FC236}">
                    <a16:creationId xmlns:a16="http://schemas.microsoft.com/office/drawing/2014/main" id="{91C25A11-1D62-E178-9839-118374977078}"/>
                  </a:ext>
                </a:extLst>
              </p:cNvPr>
              <p:cNvSpPr>
                <a:spLocks noChangeArrowheads="1"/>
              </p:cNvSpPr>
              <p:nvPr/>
            </p:nvSpPr>
            <p:spPr bwMode="auto">
              <a:xfrm>
                <a:off x="4374" y="2932"/>
                <a:ext cx="457"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D</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34" name="Rectangle 42">
                <a:extLst>
                  <a:ext uri="{FF2B5EF4-FFF2-40B4-BE49-F238E27FC236}">
                    <a16:creationId xmlns:a16="http://schemas.microsoft.com/office/drawing/2014/main" id="{F4232289-9791-39B7-A9D7-C9A15B84CD36}"/>
                  </a:ext>
                </a:extLst>
              </p:cNvPr>
              <p:cNvSpPr>
                <a:spLocks noChangeArrowheads="1"/>
              </p:cNvSpPr>
              <p:nvPr/>
            </p:nvSpPr>
            <p:spPr bwMode="auto">
              <a:xfrm>
                <a:off x="3611" y="2932"/>
                <a:ext cx="457"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G</a:t>
                </a:r>
                <a:r>
                  <a:rPr lang="en-US" sz="2800" baseline="-25000" dirty="0">
                    <a:latin typeface="Times New Roman" panose="02020603050405020304" pitchFamily="18" charset="0"/>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grpSp>
            <p:nvGrpSpPr>
              <p:cNvPr id="35" name="Group 44">
                <a:extLst>
                  <a:ext uri="{FF2B5EF4-FFF2-40B4-BE49-F238E27FC236}">
                    <a16:creationId xmlns:a16="http://schemas.microsoft.com/office/drawing/2014/main" id="{4AF3ACB4-62B3-8B0E-F96B-5195AE7F06CF}"/>
                  </a:ext>
                </a:extLst>
              </p:cNvPr>
              <p:cNvGrpSpPr>
                <a:grpSpLocks/>
              </p:cNvGrpSpPr>
              <p:nvPr/>
            </p:nvGrpSpPr>
            <p:grpSpPr bwMode="auto">
              <a:xfrm>
                <a:off x="3813" y="2623"/>
                <a:ext cx="755" cy="324"/>
                <a:chOff x="3813" y="2623"/>
                <a:chExt cx="755" cy="324"/>
              </a:xfrm>
            </p:grpSpPr>
            <p:sp>
              <p:nvSpPr>
                <p:cNvPr id="36" name="Freeform 45">
                  <a:extLst>
                    <a:ext uri="{FF2B5EF4-FFF2-40B4-BE49-F238E27FC236}">
                      <a16:creationId xmlns:a16="http://schemas.microsoft.com/office/drawing/2014/main" id="{0F4C634E-A2FA-F2C6-587F-D7A2A0F48C52}"/>
                    </a:ext>
                  </a:extLst>
                </p:cNvPr>
                <p:cNvSpPr>
                  <a:spLocks/>
                </p:cNvSpPr>
                <p:nvPr/>
              </p:nvSpPr>
              <p:spPr bwMode="auto">
                <a:xfrm>
                  <a:off x="3813" y="2752"/>
                  <a:ext cx="755" cy="195"/>
                </a:xfrm>
                <a:custGeom>
                  <a:avLst/>
                  <a:gdLst>
                    <a:gd name="T0" fmla="*/ 0 w 939"/>
                    <a:gd name="T1" fmla="*/ 188 h 195"/>
                    <a:gd name="T2" fmla="*/ 2 w 939"/>
                    <a:gd name="T3" fmla="*/ 0 h 195"/>
                    <a:gd name="T4" fmla="*/ 755 w 939"/>
                    <a:gd name="T5" fmla="*/ 0 h 195"/>
                    <a:gd name="T6" fmla="*/ 755 w 939"/>
                    <a:gd name="T7" fmla="*/ 195 h 195"/>
                    <a:gd name="T8" fmla="*/ 0 60000 65536"/>
                    <a:gd name="T9" fmla="*/ 0 60000 65536"/>
                    <a:gd name="T10" fmla="*/ 0 60000 65536"/>
                    <a:gd name="T11" fmla="*/ 0 60000 65536"/>
                    <a:gd name="T12" fmla="*/ 0 w 939"/>
                    <a:gd name="T13" fmla="*/ 0 h 195"/>
                    <a:gd name="T14" fmla="*/ 939 w 939"/>
                    <a:gd name="T15" fmla="*/ 195 h 195"/>
                  </a:gdLst>
                  <a:ahLst/>
                  <a:cxnLst>
                    <a:cxn ang="T8">
                      <a:pos x="T0" y="T1"/>
                    </a:cxn>
                    <a:cxn ang="T9">
                      <a:pos x="T2" y="T3"/>
                    </a:cxn>
                    <a:cxn ang="T10">
                      <a:pos x="T4" y="T5"/>
                    </a:cxn>
                    <a:cxn ang="T11">
                      <a:pos x="T6" y="T7"/>
                    </a:cxn>
                  </a:cxnLst>
                  <a:rect l="T12" t="T13" r="T14" b="T15"/>
                  <a:pathLst>
                    <a:path w="939" h="195">
                      <a:moveTo>
                        <a:pt x="0" y="188"/>
                      </a:moveTo>
                      <a:lnTo>
                        <a:pt x="3" y="0"/>
                      </a:lnTo>
                      <a:lnTo>
                        <a:pt x="939" y="0"/>
                      </a:lnTo>
                      <a:lnTo>
                        <a:pt x="939" y="195"/>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37" name="Line 46">
                  <a:extLst>
                    <a:ext uri="{FF2B5EF4-FFF2-40B4-BE49-F238E27FC236}">
                      <a16:creationId xmlns:a16="http://schemas.microsoft.com/office/drawing/2014/main" id="{F5EDEB53-815C-D4F2-054E-A85E83E4A58A}"/>
                    </a:ext>
                  </a:extLst>
                </p:cNvPr>
                <p:cNvSpPr>
                  <a:spLocks noChangeShapeType="1"/>
                </p:cNvSpPr>
                <p:nvPr/>
              </p:nvSpPr>
              <p:spPr bwMode="auto">
                <a:xfrm>
                  <a:off x="4312" y="2623"/>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sp>
          <p:nvSpPr>
            <p:cNvPr id="31" name="Rectangle 47">
              <a:extLst>
                <a:ext uri="{FF2B5EF4-FFF2-40B4-BE49-F238E27FC236}">
                  <a16:creationId xmlns:a16="http://schemas.microsoft.com/office/drawing/2014/main" id="{78F8D896-08E0-60C0-55E0-A31781146857}"/>
                </a:ext>
              </a:extLst>
            </p:cNvPr>
            <p:cNvSpPr>
              <a:spLocks noChangeArrowheads="1"/>
            </p:cNvSpPr>
            <p:nvPr/>
          </p:nvSpPr>
          <p:spPr bwMode="auto">
            <a:xfrm>
              <a:off x="262" y="2911"/>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3</a:t>
              </a:r>
            </a:p>
          </p:txBody>
        </p:sp>
      </p:grpSp>
      <p:grpSp>
        <p:nvGrpSpPr>
          <p:cNvPr id="38" name="Group 48">
            <a:extLst>
              <a:ext uri="{FF2B5EF4-FFF2-40B4-BE49-F238E27FC236}">
                <a16:creationId xmlns:a16="http://schemas.microsoft.com/office/drawing/2014/main" id="{8601FC1A-E6D3-68D6-A2B7-A76F24B2C9F7}"/>
              </a:ext>
            </a:extLst>
          </p:cNvPr>
          <p:cNvGrpSpPr>
            <a:grpSpLocks/>
          </p:cNvGrpSpPr>
          <p:nvPr/>
        </p:nvGrpSpPr>
        <p:grpSpPr bwMode="auto">
          <a:xfrm>
            <a:off x="2437883" y="2776654"/>
            <a:ext cx="7023103" cy="917577"/>
            <a:chOff x="118" y="1055"/>
            <a:chExt cx="4424" cy="578"/>
          </a:xfrm>
        </p:grpSpPr>
        <p:sp>
          <p:nvSpPr>
            <p:cNvPr id="39" name="Rectangle 49">
              <a:extLst>
                <a:ext uri="{FF2B5EF4-FFF2-40B4-BE49-F238E27FC236}">
                  <a16:creationId xmlns:a16="http://schemas.microsoft.com/office/drawing/2014/main" id="{EAE1E9C9-E9D2-209E-3CC4-7F17617FF491}"/>
                </a:ext>
              </a:extLst>
            </p:cNvPr>
            <p:cNvSpPr>
              <a:spLocks noChangeArrowheads="1"/>
            </p:cNvSpPr>
            <p:nvPr/>
          </p:nvSpPr>
          <p:spPr bwMode="auto">
            <a:xfrm>
              <a:off x="1070" y="1055"/>
              <a:ext cx="3472"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Product structure for </a:t>
              </a:r>
              <a:r>
                <a:rPr lang="ja-JP" altLang="en-US"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Awesome</a:t>
              </a:r>
              <a:r>
                <a:rPr lang="ja-JP" altLang="en-US"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a:t>
              </a:r>
            </a:p>
          </p:txBody>
        </p:sp>
        <p:sp>
          <p:nvSpPr>
            <p:cNvPr id="40" name="Rectangle 50">
              <a:extLst>
                <a:ext uri="{FF2B5EF4-FFF2-40B4-BE49-F238E27FC236}">
                  <a16:creationId xmlns:a16="http://schemas.microsoft.com/office/drawing/2014/main" id="{7FB01E2F-C4C0-4B15-7F30-A8AC0EF4F5B0}"/>
                </a:ext>
              </a:extLst>
            </p:cNvPr>
            <p:cNvSpPr>
              <a:spLocks noChangeArrowheads="1"/>
            </p:cNvSpPr>
            <p:nvPr/>
          </p:nvSpPr>
          <p:spPr bwMode="auto">
            <a:xfrm>
              <a:off x="2286" y="1324"/>
              <a:ext cx="280"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A</a:t>
              </a:r>
            </a:p>
          </p:txBody>
        </p:sp>
        <p:sp>
          <p:nvSpPr>
            <p:cNvPr id="41" name="Rectangle 51">
              <a:extLst>
                <a:ext uri="{FF2B5EF4-FFF2-40B4-BE49-F238E27FC236}">
                  <a16:creationId xmlns:a16="http://schemas.microsoft.com/office/drawing/2014/main" id="{60161D50-7E09-6087-CC43-4C864556C903}"/>
                </a:ext>
              </a:extLst>
            </p:cNvPr>
            <p:cNvSpPr>
              <a:spLocks noChangeArrowheads="1"/>
            </p:cNvSpPr>
            <p:nvPr/>
          </p:nvSpPr>
          <p:spPr bwMode="auto">
            <a:xfrm>
              <a:off x="118" y="1055"/>
              <a:ext cx="630"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Level</a:t>
              </a:r>
            </a:p>
          </p:txBody>
        </p:sp>
        <p:sp>
          <p:nvSpPr>
            <p:cNvPr id="42" name="Rectangle 52">
              <a:extLst>
                <a:ext uri="{FF2B5EF4-FFF2-40B4-BE49-F238E27FC236}">
                  <a16:creationId xmlns:a16="http://schemas.microsoft.com/office/drawing/2014/main" id="{34A7125A-0710-2226-12BF-6E416243152F}"/>
                </a:ext>
              </a:extLst>
            </p:cNvPr>
            <p:cNvSpPr>
              <a:spLocks noChangeArrowheads="1"/>
            </p:cNvSpPr>
            <p:nvPr/>
          </p:nvSpPr>
          <p:spPr bwMode="auto">
            <a:xfrm>
              <a:off x="262" y="1303"/>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0</a:t>
              </a:r>
            </a:p>
          </p:txBody>
        </p:sp>
      </p:grpSp>
      <p:pic>
        <p:nvPicPr>
          <p:cNvPr id="43" name="Picture 42" descr="awesome speakers.jpg">
            <a:extLst>
              <a:ext uri="{FF2B5EF4-FFF2-40B4-BE49-F238E27FC236}">
                <a16:creationId xmlns:a16="http://schemas.microsoft.com/office/drawing/2014/main" id="{190A65ED-23E3-93FA-9EDB-FE090242D9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86165" y="1110512"/>
            <a:ext cx="2133600" cy="284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52" name="Group 151">
            <a:extLst>
              <a:ext uri="{FF2B5EF4-FFF2-40B4-BE49-F238E27FC236}">
                <a16:creationId xmlns:a16="http://schemas.microsoft.com/office/drawing/2014/main" id="{59B264B4-7F8D-791C-3D0A-FDFB6B77F00A}"/>
              </a:ext>
            </a:extLst>
          </p:cNvPr>
          <p:cNvGrpSpPr>
            <a:grpSpLocks/>
          </p:cNvGrpSpPr>
          <p:nvPr/>
        </p:nvGrpSpPr>
        <p:grpSpPr bwMode="auto">
          <a:xfrm>
            <a:off x="2281956" y="2966187"/>
            <a:ext cx="7645400" cy="3213100"/>
            <a:chOff x="798513" y="2020890"/>
            <a:chExt cx="7645400" cy="3213100"/>
          </a:xfrm>
        </p:grpSpPr>
        <p:sp>
          <p:nvSpPr>
            <p:cNvPr id="153" name="Rectangle 53">
              <a:extLst>
                <a:ext uri="{FF2B5EF4-FFF2-40B4-BE49-F238E27FC236}">
                  <a16:creationId xmlns:a16="http://schemas.microsoft.com/office/drawing/2014/main" id="{A839DF15-C917-60CB-666C-EE2648784055}"/>
                </a:ext>
              </a:extLst>
            </p:cNvPr>
            <p:cNvSpPr>
              <a:spLocks noChangeArrowheads="1"/>
            </p:cNvSpPr>
            <p:nvPr/>
          </p:nvSpPr>
          <p:spPr bwMode="auto">
            <a:xfrm>
              <a:off x="798513" y="2020890"/>
              <a:ext cx="7645400" cy="3213100"/>
            </a:xfrm>
            <a:prstGeom prst="rect">
              <a:avLst/>
            </a:prstGeom>
            <a:solidFill>
              <a:srgbClr val="BDD6AE"/>
            </a:solidFill>
            <a:ln w="9525">
              <a:solidFill>
                <a:srgbClr val="000000"/>
              </a:solidFill>
              <a:miter lim="800000"/>
              <a:headEnd/>
              <a:tailEn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ＭＳ Ｐゴシック" charset="0"/>
                <a:cs typeface="Arial" charset="0"/>
              </a:endParaRPr>
            </a:p>
          </p:txBody>
        </p:sp>
        <p:sp>
          <p:nvSpPr>
            <p:cNvPr id="154" name="Rectangle 54">
              <a:extLst>
                <a:ext uri="{FF2B5EF4-FFF2-40B4-BE49-F238E27FC236}">
                  <a16:creationId xmlns:a16="http://schemas.microsoft.com/office/drawing/2014/main" id="{6AEE62CF-B40B-9B31-1FEB-B2CFA64BA58C}"/>
                </a:ext>
              </a:extLst>
            </p:cNvPr>
            <p:cNvSpPr>
              <a:spLocks noChangeArrowheads="1"/>
            </p:cNvSpPr>
            <p:nvPr/>
          </p:nvSpPr>
          <p:spPr bwMode="auto">
            <a:xfrm>
              <a:off x="1077913" y="2362203"/>
              <a:ext cx="7152920" cy="25545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B:	2 x number of As =	(2)(50) =	100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C:	3 x number of As =	(3)(50) =	150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E:	2 x number of Bs </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	   + 2 x number of Cs =	(2)(100) + (2)(150) =	500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F:	2 x number of Cs =	(2)(150) =	300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G:	1 x number of Fs =	(1)(300) =	300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D:	2 x number of Bs </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	   + 2 x number of Fs =	(2)(100) + (2)(300) =	800</a:t>
              </a:r>
            </a:p>
          </p:txBody>
        </p:sp>
      </p:grpSp>
      <p:sp>
        <p:nvSpPr>
          <p:cNvPr id="155" name="TextBox 154">
            <a:extLst>
              <a:ext uri="{FF2B5EF4-FFF2-40B4-BE49-F238E27FC236}">
                <a16:creationId xmlns:a16="http://schemas.microsoft.com/office/drawing/2014/main" id="{1DAB143D-CE56-2D17-9D98-C8C81F2A7DBD}"/>
              </a:ext>
            </a:extLst>
          </p:cNvPr>
          <p:cNvSpPr txBox="1">
            <a:spLocks noChangeArrowheads="1"/>
          </p:cNvSpPr>
          <p:nvPr/>
        </p:nvSpPr>
        <p:spPr bwMode="auto">
          <a:xfrm>
            <a:off x="1889843" y="1970824"/>
            <a:ext cx="6640513" cy="793750"/>
          </a:xfrm>
          <a:prstGeom prst="rect">
            <a:avLst/>
          </a:prstGeom>
          <a:solidFill>
            <a:srgbClr val="D33320"/>
          </a:solidFill>
          <a:ln w="9525">
            <a:solidFill>
              <a:srgbClr val="000000"/>
            </a:solidFill>
            <a:miter lim="800000"/>
            <a:headEnd/>
            <a:tailEnd/>
          </a:ln>
        </p:spPr>
        <p:txBody>
          <a:bodyPr wrap="square" lIns="324000" tIns="187200" rIns="324000" bIns="2340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marL="0" marR="0" lvl="0" indent="0" defTabSz="45720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ＭＳ Ｐゴシック" charset="0"/>
                <a:cs typeface="Arial" charset="0"/>
              </a:rPr>
              <a:t>For an order of 50 Awesome speaker kits</a:t>
            </a:r>
          </a:p>
        </p:txBody>
      </p:sp>
    </p:spTree>
    <p:extLst>
      <p:ext uri="{BB962C8B-B14F-4D97-AF65-F5344CB8AC3E}">
        <p14:creationId xmlns:p14="http://schemas.microsoft.com/office/powerpoint/2010/main" val="300664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1000" fill="hold"/>
                                        <p:tgtEl>
                                          <p:spTgt spid="43"/>
                                        </p:tgtEl>
                                        <p:attrNameLst>
                                          <p:attrName>ppt_w</p:attrName>
                                        </p:attrNameLst>
                                      </p:cBhvr>
                                      <p:tavLst>
                                        <p:tav tm="0">
                                          <p:val>
                                            <p:strVal val="2/3*#ppt_w"/>
                                          </p:val>
                                        </p:tav>
                                        <p:tav tm="100000">
                                          <p:val>
                                            <p:strVal val="#ppt_w"/>
                                          </p:val>
                                        </p:tav>
                                      </p:tavLst>
                                    </p:anim>
                                    <p:anim calcmode="lin" valueType="num">
                                      <p:cBhvr>
                                        <p:cTn id="8" dur="1000" fill="hold"/>
                                        <p:tgtEl>
                                          <p:spTgt spid="43"/>
                                        </p:tgtEl>
                                        <p:attrNameLst>
                                          <p:attrName>ppt_h</p:attrName>
                                        </p:attrNameLst>
                                      </p:cBhvr>
                                      <p:tavLst>
                                        <p:tav tm="0">
                                          <p:val>
                                            <p:strVal val="2/3*#ppt_h"/>
                                          </p:val>
                                        </p:tav>
                                        <p:tav tm="100000">
                                          <p:val>
                                            <p:strVal val="#ppt_h"/>
                                          </p:val>
                                        </p:tav>
                                      </p:tavLst>
                                    </p:anim>
                                  </p:childTnLst>
                                </p:cTn>
                              </p:par>
                            </p:childTnLst>
                          </p:cTn>
                        </p:par>
                        <p:par>
                          <p:cTn id="9" fill="hold">
                            <p:stCondLst>
                              <p:cond delay="1000"/>
                            </p:stCondLst>
                            <p:childTnLst>
                              <p:par>
                                <p:cTn id="10" presetID="22" presetClass="entr" presetSubtype="1" fill="hold" nodeType="afterEffect">
                                  <p:stCondLst>
                                    <p:cond delay="1000"/>
                                  </p:stCondLst>
                                  <p:childTnLst>
                                    <p:set>
                                      <p:cBhvr>
                                        <p:cTn id="11" dur="1" fill="hold">
                                          <p:stCondLst>
                                            <p:cond delay="0"/>
                                          </p:stCondLst>
                                        </p:cTn>
                                        <p:tgtEl>
                                          <p:spTgt spid="38"/>
                                        </p:tgtEl>
                                        <p:attrNameLst>
                                          <p:attrName>style.visibility</p:attrName>
                                        </p:attrNameLst>
                                      </p:cBhvr>
                                      <p:to>
                                        <p:strVal val="visible"/>
                                      </p:to>
                                    </p:set>
                                    <p:animEffect transition="in" filter="wipe(up)">
                                      <p:cBhvr>
                                        <p:cTn id="12" dur="10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1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10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5"/>
                                        </p:tgtEl>
                                        <p:attrNameLst>
                                          <p:attrName>style.visibility</p:attrName>
                                        </p:attrNameLst>
                                      </p:cBhvr>
                                      <p:to>
                                        <p:strVal val="visible"/>
                                      </p:to>
                                    </p:set>
                                    <p:animEffect transition="in" filter="wipe(left)">
                                      <p:cBhvr>
                                        <p:cTn id="32" dur="1000"/>
                                        <p:tgtEl>
                                          <p:spTgt spid="155"/>
                                        </p:tgtEl>
                                      </p:cBhvr>
                                    </p:animEffect>
                                  </p:childTnLst>
                                </p:cTn>
                              </p:par>
                            </p:childTnLst>
                          </p:cTn>
                        </p:par>
                        <p:par>
                          <p:cTn id="33" fill="hold">
                            <p:stCondLst>
                              <p:cond delay="1000"/>
                            </p:stCondLst>
                            <p:childTnLst>
                              <p:par>
                                <p:cTn id="34" presetID="18" presetClass="entr" presetSubtype="6" fill="hold" nodeType="afterEffect">
                                  <p:stCondLst>
                                    <p:cond delay="1000"/>
                                  </p:stCondLst>
                                  <p:childTnLst>
                                    <p:set>
                                      <p:cBhvr>
                                        <p:cTn id="35" dur="1" fill="hold">
                                          <p:stCondLst>
                                            <p:cond delay="0"/>
                                          </p:stCondLst>
                                        </p:cTn>
                                        <p:tgtEl>
                                          <p:spTgt spid="152"/>
                                        </p:tgtEl>
                                        <p:attrNameLst>
                                          <p:attrName>style.visibility</p:attrName>
                                        </p:attrNameLst>
                                      </p:cBhvr>
                                      <p:to>
                                        <p:strVal val="visible"/>
                                      </p:to>
                                    </p:set>
                                    <p:animEffect transition="in" filter="strips(downRight)">
                                      <p:cBhvr>
                                        <p:cTn id="36"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9182-7B01-19EA-A366-F121B4CC4DCE}"/>
              </a:ext>
            </a:extLst>
          </p:cNvPr>
          <p:cNvSpPr>
            <a:spLocks noGrp="1"/>
          </p:cNvSpPr>
          <p:nvPr>
            <p:ph type="title"/>
          </p:nvPr>
        </p:nvSpPr>
        <p:spPr/>
        <p:txBody>
          <a:bodyPr/>
          <a:lstStyle/>
          <a:p>
            <a:r>
              <a:rPr lang="en-IN" dirty="0"/>
              <a:t>Time-phased bills</a:t>
            </a:r>
          </a:p>
        </p:txBody>
      </p:sp>
      <p:sp>
        <p:nvSpPr>
          <p:cNvPr id="4" name="Date Placeholder 3">
            <a:extLst>
              <a:ext uri="{FF2B5EF4-FFF2-40B4-BE49-F238E27FC236}">
                <a16:creationId xmlns:a16="http://schemas.microsoft.com/office/drawing/2014/main" id="{B6F83084-394B-A235-BD64-A6437BD32D9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F5B8C733-649C-10BC-B934-5519277725C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55B181A-5FBF-1D5D-DDAA-52990C8CC0EC}"/>
              </a:ext>
            </a:extLst>
          </p:cNvPr>
          <p:cNvSpPr>
            <a:spLocks noGrp="1"/>
          </p:cNvSpPr>
          <p:nvPr>
            <p:ph type="sldNum" idx="12"/>
          </p:nvPr>
        </p:nvSpPr>
        <p:spPr/>
        <p:txBody>
          <a:bodyPr/>
          <a:lstStyle/>
          <a:p>
            <a:fld id="{00000000-1234-1234-1234-123412341234}" type="slidenum">
              <a:rPr lang="en-US" smtClean="0"/>
              <a:pPr/>
              <a:t>20</a:t>
            </a:fld>
            <a:endParaRPr lang="en-US" dirty="0"/>
          </a:p>
        </p:txBody>
      </p:sp>
      <p:sp>
        <p:nvSpPr>
          <p:cNvPr id="10" name="Content Placeholder 1">
            <a:extLst>
              <a:ext uri="{FF2B5EF4-FFF2-40B4-BE49-F238E27FC236}">
                <a16:creationId xmlns:a16="http://schemas.microsoft.com/office/drawing/2014/main" id="{E2F1B7C5-8768-8C82-47A6-0A09D3086A21}"/>
              </a:ext>
            </a:extLst>
          </p:cNvPr>
          <p:cNvSpPr txBox="1">
            <a:spLocks/>
          </p:cNvSpPr>
          <p:nvPr/>
        </p:nvSpPr>
        <p:spPr>
          <a:xfrm>
            <a:off x="152400" y="939956"/>
            <a:ext cx="12039600" cy="4525963"/>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a:pP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 </a:t>
            </a:r>
            <a:r>
              <a:rPr kumimoji="0" lang="en-IN"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time-phased bill of material</a:t>
            </a: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also known as a </a:t>
            </a:r>
            <a:r>
              <a:rPr kumimoji="0" lang="en-IN" b="0" i="1"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time-phased assembly chart</a:t>
            </a: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is basically a horizontal product structure diagram that graphically shows the </a:t>
            </a:r>
            <a:r>
              <a:rPr kumimoji="0" lang="en-IN"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lead time </a:t>
            </a: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required to purchase or manufacture an item.</a:t>
            </a:r>
          </a:p>
        </p:txBody>
      </p:sp>
      <p:pic>
        <p:nvPicPr>
          <p:cNvPr id="11" name="Picture 2">
            <a:extLst>
              <a:ext uri="{FF2B5EF4-FFF2-40B4-BE49-F238E27FC236}">
                <a16:creationId xmlns:a16="http://schemas.microsoft.com/office/drawing/2014/main" id="{90DF2A01-D0DC-6B97-4FEE-BE6F68FA14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88" b="3088"/>
          <a:stretch/>
        </p:blipFill>
        <p:spPr bwMode="auto">
          <a:xfrm>
            <a:off x="3066809" y="1723100"/>
            <a:ext cx="7217996" cy="441188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a:extLst>
              <a:ext uri="{FF2B5EF4-FFF2-40B4-BE49-F238E27FC236}">
                <a16:creationId xmlns:a16="http://schemas.microsoft.com/office/drawing/2014/main" id="{B8FE9392-34A7-209D-9CC2-D473662ADA63}"/>
              </a:ext>
            </a:extLst>
          </p:cNvPr>
          <p:cNvSpPr/>
          <p:nvPr/>
        </p:nvSpPr>
        <p:spPr>
          <a:xfrm>
            <a:off x="76200" y="2147768"/>
            <a:ext cx="3143250" cy="1323439"/>
          </a:xfrm>
          <a:prstGeom prst="rect">
            <a:avLst/>
          </a:prstGeom>
        </p:spPr>
        <p:txBody>
          <a:bodyPr wrap="square">
            <a:spAutoFit/>
          </a:bodyPr>
          <a:lstStyle/>
          <a:p>
            <a:pPr>
              <a:buClrTx/>
              <a:buFontTx/>
              <a:buNone/>
            </a:pPr>
            <a:r>
              <a:rPr lang="en-IN" sz="2000" kern="1200" dirty="0">
                <a:solidFill>
                  <a:prstClr val="black"/>
                </a:solidFill>
                <a:latin typeface="Times New Roman" panose="02020603050405020304" pitchFamily="18" charset="0"/>
                <a:ea typeface="+mn-ea"/>
                <a:cs typeface="Times New Roman" panose="02020603050405020304" pitchFamily="18" charset="0"/>
              </a:rPr>
              <a:t>An MRP system can </a:t>
            </a:r>
            <a:r>
              <a:rPr lang="en-IN" sz="2000" b="1" kern="1200" dirty="0">
                <a:solidFill>
                  <a:prstClr val="black"/>
                </a:solidFill>
                <a:latin typeface="Times New Roman" panose="02020603050405020304" pitchFamily="18" charset="0"/>
                <a:ea typeface="+mn-ea"/>
                <a:cs typeface="Times New Roman" panose="02020603050405020304" pitchFamily="18" charset="0"/>
              </a:rPr>
              <a:t>forward schedule </a:t>
            </a:r>
            <a:r>
              <a:rPr lang="en-IN" sz="2000" kern="1200" dirty="0">
                <a:solidFill>
                  <a:prstClr val="black"/>
                </a:solidFill>
                <a:latin typeface="Times New Roman" panose="02020603050405020304" pitchFamily="18" charset="0"/>
                <a:ea typeface="+mn-ea"/>
                <a:cs typeface="Times New Roman" panose="02020603050405020304" pitchFamily="18" charset="0"/>
              </a:rPr>
              <a:t>or </a:t>
            </a:r>
            <a:r>
              <a:rPr lang="en-IN" sz="2000" b="1" kern="1200" dirty="0">
                <a:solidFill>
                  <a:prstClr val="black"/>
                </a:solidFill>
                <a:latin typeface="Times New Roman" panose="02020603050405020304" pitchFamily="18" charset="0"/>
                <a:ea typeface="+mn-ea"/>
                <a:cs typeface="Times New Roman" panose="02020603050405020304" pitchFamily="18" charset="0"/>
              </a:rPr>
              <a:t>backward schedule </a:t>
            </a:r>
            <a:r>
              <a:rPr lang="en-IN" sz="2000" kern="1200" dirty="0">
                <a:solidFill>
                  <a:prstClr val="black"/>
                </a:solidFill>
                <a:latin typeface="Times New Roman" panose="02020603050405020304" pitchFamily="18" charset="0"/>
                <a:ea typeface="+mn-ea"/>
                <a:cs typeface="Times New Roman" panose="02020603050405020304" pitchFamily="18" charset="0"/>
              </a:rPr>
              <a:t>production.</a:t>
            </a:r>
          </a:p>
        </p:txBody>
      </p:sp>
    </p:spTree>
    <p:extLst>
      <p:ext uri="{BB962C8B-B14F-4D97-AF65-F5344CB8AC3E}">
        <p14:creationId xmlns:p14="http://schemas.microsoft.com/office/powerpoint/2010/main" val="219215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D254-9D1F-7A3E-9417-3D226A907F5D}"/>
              </a:ext>
            </a:extLst>
          </p:cNvPr>
          <p:cNvSpPr>
            <a:spLocks noGrp="1"/>
          </p:cNvSpPr>
          <p:nvPr>
            <p:ph type="title"/>
          </p:nvPr>
        </p:nvSpPr>
        <p:spPr/>
        <p:txBody>
          <a:bodyPr/>
          <a:lstStyle/>
          <a:p>
            <a:r>
              <a:rPr lang="en-IN" dirty="0"/>
              <a:t>Time-phased bills </a:t>
            </a:r>
            <a:r>
              <a:rPr lang="en-IN" dirty="0">
                <a:solidFill>
                  <a:srgbClr val="FF0000"/>
                </a:solidFill>
              </a:rPr>
              <a:t>Example</a:t>
            </a:r>
          </a:p>
        </p:txBody>
      </p:sp>
      <p:sp>
        <p:nvSpPr>
          <p:cNvPr id="4" name="Date Placeholder 3">
            <a:extLst>
              <a:ext uri="{FF2B5EF4-FFF2-40B4-BE49-F238E27FC236}">
                <a16:creationId xmlns:a16="http://schemas.microsoft.com/office/drawing/2014/main" id="{4F3C5DA7-714F-0D25-4952-5337DB3B251D}"/>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8A265D67-62DE-F6C3-AF7A-E287BAF299A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D11F3153-E717-AE56-8604-D759B9E12A19}"/>
              </a:ext>
            </a:extLst>
          </p:cNvPr>
          <p:cNvSpPr>
            <a:spLocks noGrp="1"/>
          </p:cNvSpPr>
          <p:nvPr>
            <p:ph type="sldNum" idx="12"/>
          </p:nvPr>
        </p:nvSpPr>
        <p:spPr/>
        <p:txBody>
          <a:bodyPr/>
          <a:lstStyle/>
          <a:p>
            <a:fld id="{00000000-1234-1234-1234-123412341234}" type="slidenum">
              <a:rPr lang="en-US" smtClean="0"/>
              <a:pPr/>
              <a:t>21</a:t>
            </a:fld>
            <a:endParaRPr lang="en-US" dirty="0"/>
          </a:p>
        </p:txBody>
      </p:sp>
      <p:pic>
        <p:nvPicPr>
          <p:cNvPr id="3" name="Picture 2" descr="A chart showing the simultaneous versus sequential steps necessary to meet scheduled availability of the end item.">
            <a:extLst>
              <a:ext uri="{FF2B5EF4-FFF2-40B4-BE49-F238E27FC236}">
                <a16:creationId xmlns:a16="http://schemas.microsoft.com/office/drawing/2014/main" id="{A5A171F3-5473-49C8-39A4-B8A3037F2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4147" y="1055032"/>
            <a:ext cx="6797806" cy="5078956"/>
          </a:xfrm>
          <a:prstGeom prst="rect">
            <a:avLst/>
          </a:prstGeom>
        </p:spPr>
      </p:pic>
    </p:spTree>
    <p:extLst>
      <p:ext uri="{BB962C8B-B14F-4D97-AF65-F5344CB8AC3E}">
        <p14:creationId xmlns:p14="http://schemas.microsoft.com/office/powerpoint/2010/main" val="3047432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0A88-8973-5534-0ECD-34BE8D6195CF}"/>
              </a:ext>
            </a:extLst>
          </p:cNvPr>
          <p:cNvSpPr>
            <a:spLocks noGrp="1"/>
          </p:cNvSpPr>
          <p:nvPr>
            <p:ph type="title"/>
          </p:nvPr>
        </p:nvSpPr>
        <p:spPr/>
        <p:txBody>
          <a:bodyPr/>
          <a:lstStyle/>
          <a:p>
            <a:r>
              <a:rPr lang="en-IN" dirty="0"/>
              <a:t>Item Master File</a:t>
            </a:r>
          </a:p>
        </p:txBody>
      </p:sp>
      <p:sp>
        <p:nvSpPr>
          <p:cNvPr id="4" name="Date Placeholder 3">
            <a:extLst>
              <a:ext uri="{FF2B5EF4-FFF2-40B4-BE49-F238E27FC236}">
                <a16:creationId xmlns:a16="http://schemas.microsoft.com/office/drawing/2014/main" id="{EB3F2A07-DB69-DF66-D370-7A85144568D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B68AD345-EE4C-E089-BD67-CB7CB08B91D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DF02B3F-3EDF-5F00-4A12-0608E513D6D9}"/>
              </a:ext>
            </a:extLst>
          </p:cNvPr>
          <p:cNvSpPr>
            <a:spLocks noGrp="1"/>
          </p:cNvSpPr>
          <p:nvPr>
            <p:ph type="sldNum" idx="12"/>
          </p:nvPr>
        </p:nvSpPr>
        <p:spPr/>
        <p:txBody>
          <a:bodyPr/>
          <a:lstStyle/>
          <a:p>
            <a:fld id="{00000000-1234-1234-1234-123412341234}" type="slidenum">
              <a:rPr lang="en-US" smtClean="0"/>
              <a:pPr/>
              <a:t>22</a:t>
            </a:fld>
            <a:endParaRPr lang="en-US" dirty="0"/>
          </a:p>
        </p:txBody>
      </p:sp>
      <p:sp>
        <p:nvSpPr>
          <p:cNvPr id="9" name="Content Placeholder 1">
            <a:extLst>
              <a:ext uri="{FF2B5EF4-FFF2-40B4-BE49-F238E27FC236}">
                <a16:creationId xmlns:a16="http://schemas.microsoft.com/office/drawing/2014/main" id="{3FEFAE35-0810-917D-C1D6-FF08D99AA4C5}"/>
              </a:ext>
            </a:extLst>
          </p:cNvPr>
          <p:cNvSpPr txBox="1">
            <a:spLocks/>
          </p:cNvSpPr>
          <p:nvPr/>
        </p:nvSpPr>
        <p:spPr>
          <a:xfrm>
            <a:off x="520995" y="912626"/>
            <a:ext cx="11493796" cy="5257800"/>
          </a:xfrm>
          <a:prstGeom prst="rect">
            <a:avLst/>
          </a:prstGeom>
        </p:spPr>
        <p:txBody>
          <a:bodyPr vert="horz" lIns="91440" tIns="45720" rIns="91440" bIns="45720" rtlCol="0">
            <a:normAutofit fontScale="92500"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tabLst/>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a:t>
            </a:r>
            <a:r>
              <a:rPr kumimoji="0" lang="en-IN"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item master file</a:t>
            </a: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or inventory file, contains an extensive amount of information on every item that is produced, ordered, or inventoried in the system. </a:t>
            </a:r>
          </a:p>
          <a:p>
            <a:pPr lvl="0" algn="just">
              <a:buFont typeface="Arial" panose="020B0604020202020204" pitchFamily="34" charset="0"/>
              <a:buChar char="•"/>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includes </a:t>
            </a:r>
            <a:r>
              <a:rPr lang="en-IN" sz="2800" dirty="0">
                <a:solidFill>
                  <a:sysClr val="windowText" lastClr="000000"/>
                </a:solidFill>
                <a:latin typeface="Times New Roman" panose="02020603050405020304" pitchFamily="18" charset="0"/>
                <a:cs typeface="Times New Roman" panose="02020603050405020304" pitchFamily="18" charset="0"/>
              </a:rPr>
              <a:t>data such </a:t>
            </a: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as on-hand quantities, on-order quantities, lot sizes, safety stock, lead time, and past usage figures.</a:t>
            </a:r>
          </a:p>
          <a:p>
            <a:pPr marL="342900" marR="0" lvl="0" indent="-342900" algn="just"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tabLst/>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provides a detailed description of the item, specifies the inventory policy, updates the physical inventory count, summarizes the item’s year-to-date or month-to-date usage, and provides internal codes to link this file with other related information in the MRP database.</a:t>
            </a:r>
          </a:p>
          <a:p>
            <a:pPr marL="342900" marR="0" lvl="0" indent="-342900" algn="just"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tabLst/>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involves—</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maintaining orderly stockrooms;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establishing and enforcing procedures for inventory withdrawal;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ensuring prompt and accurate entry of inventory transactions;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Taking physical inventory count on a regular basis; and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reconciling inventory discrepancies in a timely manner.</a:t>
            </a:r>
          </a:p>
        </p:txBody>
      </p:sp>
    </p:spTree>
    <p:extLst>
      <p:ext uri="{BB962C8B-B14F-4D97-AF65-F5344CB8AC3E}">
        <p14:creationId xmlns:p14="http://schemas.microsoft.com/office/powerpoint/2010/main" val="165543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fade">
                                      <p:cBhvr>
                                        <p:cTn id="42" dur="500"/>
                                        <p:tgtEl>
                                          <p:spTgt spid="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fade">
                                      <p:cBhvr>
                                        <p:cTn id="4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0A88-8973-5534-0ECD-34BE8D6195CF}"/>
              </a:ext>
            </a:extLst>
          </p:cNvPr>
          <p:cNvSpPr>
            <a:spLocks noGrp="1"/>
          </p:cNvSpPr>
          <p:nvPr>
            <p:ph type="title"/>
          </p:nvPr>
        </p:nvSpPr>
        <p:spPr/>
        <p:txBody>
          <a:bodyPr/>
          <a:lstStyle/>
          <a:p>
            <a:r>
              <a:rPr lang="en-IN" dirty="0"/>
              <a:t>Item Master File</a:t>
            </a:r>
          </a:p>
        </p:txBody>
      </p:sp>
      <p:sp>
        <p:nvSpPr>
          <p:cNvPr id="4" name="Date Placeholder 3">
            <a:extLst>
              <a:ext uri="{FF2B5EF4-FFF2-40B4-BE49-F238E27FC236}">
                <a16:creationId xmlns:a16="http://schemas.microsoft.com/office/drawing/2014/main" id="{EB3F2A07-DB69-DF66-D370-7A85144568D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B68AD345-EE4C-E089-BD67-CB7CB08B91D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DF02B3F-3EDF-5F00-4A12-0608E513D6D9}"/>
              </a:ext>
            </a:extLst>
          </p:cNvPr>
          <p:cNvSpPr>
            <a:spLocks noGrp="1"/>
          </p:cNvSpPr>
          <p:nvPr>
            <p:ph type="sldNum" idx="12"/>
          </p:nvPr>
        </p:nvSpPr>
        <p:spPr/>
        <p:txBody>
          <a:bodyPr/>
          <a:lstStyle/>
          <a:p>
            <a:fld id="{00000000-1234-1234-1234-123412341234}" type="slidenum">
              <a:rPr lang="en-US" smtClean="0"/>
              <a:pPr/>
              <a:t>23</a:t>
            </a:fld>
            <a:endParaRPr lang="en-US" dirty="0"/>
          </a:p>
        </p:txBody>
      </p:sp>
      <p:pic>
        <p:nvPicPr>
          <p:cNvPr id="10" name="Picture 2">
            <a:extLst>
              <a:ext uri="{FF2B5EF4-FFF2-40B4-BE49-F238E27FC236}">
                <a16:creationId xmlns:a16="http://schemas.microsoft.com/office/drawing/2014/main" id="{BE3414D2-D75B-A984-BEC4-161E3A93C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539" y="988826"/>
            <a:ext cx="8915400" cy="51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222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MCQ</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24</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B</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1474821" cy="2308324"/>
          </a:xfrm>
          <a:prstGeom prst="rect">
            <a:avLst/>
          </a:prstGeom>
          <a:noFill/>
          <a:ln>
            <a:solidFill>
              <a:schemeClr val="tx1"/>
            </a:solidFill>
          </a:ln>
        </p:spPr>
        <p:txBody>
          <a:bodyPr wrap="square">
            <a:spAutoFit/>
          </a:bodyPr>
          <a:lstStyle/>
          <a:p>
            <a:r>
              <a:rPr lang="en-US" sz="2400" b="1" i="0" u="none" strike="noStrike" baseline="0" dirty="0">
                <a:solidFill>
                  <a:srgbClr val="000000"/>
                </a:solidFill>
                <a:latin typeface="Times New Roman" panose="02020603050405020304" pitchFamily="18" charset="0"/>
              </a:rPr>
              <a:t>Firms making many different final products use ________ to facilitate production scheduling.</a:t>
            </a:r>
          </a:p>
          <a:p>
            <a:r>
              <a:rPr lang="en-US" sz="2400" i="0" u="none" strike="noStrike" baseline="0" dirty="0">
                <a:solidFill>
                  <a:srgbClr val="000000"/>
                </a:solidFill>
                <a:latin typeface="Times New Roman" panose="02020603050405020304" pitchFamily="18" charset="0"/>
              </a:rPr>
              <a:t>A) planning bills</a:t>
            </a:r>
          </a:p>
          <a:p>
            <a:r>
              <a:rPr lang="en-US" sz="2400" i="0" u="none" strike="noStrike" baseline="0" dirty="0">
                <a:solidFill>
                  <a:srgbClr val="000000"/>
                </a:solidFill>
                <a:latin typeface="Times New Roman" panose="02020603050405020304" pitchFamily="18" charset="0"/>
              </a:rPr>
              <a:t>B) modular bills</a:t>
            </a:r>
          </a:p>
          <a:p>
            <a:r>
              <a:rPr lang="en-US" sz="2400" i="0" u="none" strike="noStrike" baseline="0" dirty="0">
                <a:solidFill>
                  <a:srgbClr val="000000"/>
                </a:solidFill>
                <a:latin typeface="Times New Roman" panose="02020603050405020304" pitchFamily="18" charset="0"/>
              </a:rPr>
              <a:t>C) phantom bills</a:t>
            </a:r>
          </a:p>
          <a:p>
            <a:r>
              <a:rPr lang="en-US" sz="2400" i="0" u="none" strike="noStrike" baseline="0" dirty="0">
                <a:solidFill>
                  <a:srgbClr val="000000"/>
                </a:solidFill>
                <a:latin typeface="Times New Roman" panose="02020603050405020304" pitchFamily="18" charset="0"/>
              </a:rPr>
              <a:t>D) overdue bills</a:t>
            </a:r>
          </a:p>
        </p:txBody>
      </p:sp>
    </p:spTree>
    <p:extLst>
      <p:ext uri="{BB962C8B-B14F-4D97-AF65-F5344CB8AC3E}">
        <p14:creationId xmlns:p14="http://schemas.microsoft.com/office/powerpoint/2010/main" val="265367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25</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False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"Phantom bills" are bills of material for subassemblies that do not exist in reality.</a:t>
            </a:r>
            <a:endParaRPr lang="en-IN" sz="2800" dirty="0"/>
          </a:p>
        </p:txBody>
      </p:sp>
    </p:spTree>
    <p:extLst>
      <p:ext uri="{BB962C8B-B14F-4D97-AF65-F5344CB8AC3E}">
        <p14:creationId xmlns:p14="http://schemas.microsoft.com/office/powerpoint/2010/main" val="363027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26</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The time-phased product structure, unlike the bill of material, adds the concept of lead times.</a:t>
            </a:r>
            <a:endParaRPr lang="en-IN" sz="2800" dirty="0"/>
          </a:p>
        </p:txBody>
      </p:sp>
    </p:spTree>
    <p:extLst>
      <p:ext uri="{BB962C8B-B14F-4D97-AF65-F5344CB8AC3E}">
        <p14:creationId xmlns:p14="http://schemas.microsoft.com/office/powerpoint/2010/main" val="177254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48BF-5AED-74C4-BA58-FEFCD255FFD1}"/>
              </a:ext>
            </a:extLst>
          </p:cNvPr>
          <p:cNvSpPr>
            <a:spLocks noGrp="1"/>
          </p:cNvSpPr>
          <p:nvPr>
            <p:ph type="title"/>
          </p:nvPr>
        </p:nvSpPr>
        <p:spPr/>
        <p:txBody>
          <a:bodyPr/>
          <a:lstStyle/>
          <a:p>
            <a:r>
              <a:rPr lang="en-IN" dirty="0"/>
              <a:t>The MRP process</a:t>
            </a:r>
          </a:p>
        </p:txBody>
      </p:sp>
      <p:sp>
        <p:nvSpPr>
          <p:cNvPr id="3" name="Text Placeholder 2">
            <a:extLst>
              <a:ext uri="{FF2B5EF4-FFF2-40B4-BE49-F238E27FC236}">
                <a16:creationId xmlns:a16="http://schemas.microsoft.com/office/drawing/2014/main" id="{EA12EACD-C2CA-361C-85B7-4126A840D0D0}"/>
              </a:ext>
            </a:extLst>
          </p:cNvPr>
          <p:cNvSpPr>
            <a:spLocks noGrp="1"/>
          </p:cNvSpPr>
          <p:nvPr>
            <p:ph type="body" idx="1"/>
          </p:nvPr>
        </p:nvSpPr>
        <p:spPr>
          <a:xfrm>
            <a:off x="38985" y="886576"/>
            <a:ext cx="11965173" cy="2398884"/>
          </a:xfrm>
        </p:spPr>
        <p:txBody>
          <a:bodyPr>
            <a:normAutofit lnSpcReduction="10000"/>
          </a:bodyPr>
          <a:lstStyle/>
          <a:p>
            <a:r>
              <a:rPr lang="en-IN" dirty="0"/>
              <a:t>The MRP process consists of four basic steps: </a:t>
            </a:r>
          </a:p>
          <a:p>
            <a:pPr marL="514350" indent="-514350">
              <a:buFont typeface="+mj-lt"/>
              <a:buAutoNum type="arabicPeriod"/>
            </a:pPr>
            <a:r>
              <a:rPr lang="en-IN" sz="2400" dirty="0"/>
              <a:t>Exploding the bill of material, </a:t>
            </a:r>
          </a:p>
          <a:p>
            <a:pPr marL="514350" indent="-514350">
              <a:buFont typeface="+mj-lt"/>
              <a:buAutoNum type="arabicPeriod"/>
            </a:pPr>
            <a:r>
              <a:rPr lang="en-IN" sz="2400" b="1" dirty="0"/>
              <a:t>Netting</a:t>
            </a:r>
            <a:r>
              <a:rPr lang="en-IN" sz="2400" dirty="0"/>
              <a:t> out inventory, </a:t>
            </a:r>
          </a:p>
          <a:p>
            <a:pPr marL="514350" indent="-514350">
              <a:buFont typeface="+mj-lt"/>
              <a:buAutoNum type="arabicPeriod"/>
            </a:pPr>
            <a:r>
              <a:rPr lang="en-IN" sz="2400" dirty="0"/>
              <a:t>Lot sizing, and </a:t>
            </a:r>
          </a:p>
          <a:p>
            <a:pPr marL="514350" indent="-514350">
              <a:buFont typeface="+mj-lt"/>
              <a:buAutoNum type="arabicPeriod"/>
            </a:pPr>
            <a:r>
              <a:rPr lang="en-IN" sz="2400" dirty="0"/>
              <a:t>Time-phasing requirements. </a:t>
            </a:r>
          </a:p>
        </p:txBody>
      </p:sp>
      <p:sp>
        <p:nvSpPr>
          <p:cNvPr id="4" name="Date Placeholder 3">
            <a:extLst>
              <a:ext uri="{FF2B5EF4-FFF2-40B4-BE49-F238E27FC236}">
                <a16:creationId xmlns:a16="http://schemas.microsoft.com/office/drawing/2014/main" id="{16DB7DB1-3A2C-6D29-9887-9BA980BA0281}"/>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DA7232E0-F763-13AC-9089-8DDCEF4C2863}"/>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024DE85-7232-A85A-6350-97A968874091}"/>
              </a:ext>
            </a:extLst>
          </p:cNvPr>
          <p:cNvSpPr>
            <a:spLocks noGrp="1"/>
          </p:cNvSpPr>
          <p:nvPr>
            <p:ph type="sldNum" idx="12"/>
          </p:nvPr>
        </p:nvSpPr>
        <p:spPr/>
        <p:txBody>
          <a:bodyPr/>
          <a:lstStyle/>
          <a:p>
            <a:fld id="{00000000-1234-1234-1234-123412341234}" type="slidenum">
              <a:rPr lang="en-US" smtClean="0"/>
              <a:pPr/>
              <a:t>27</a:t>
            </a:fld>
            <a:endParaRPr lang="en-US" dirty="0"/>
          </a:p>
        </p:txBody>
      </p:sp>
      <p:sp>
        <p:nvSpPr>
          <p:cNvPr id="7" name="Rectangle 6">
            <a:extLst>
              <a:ext uri="{FF2B5EF4-FFF2-40B4-BE49-F238E27FC236}">
                <a16:creationId xmlns:a16="http://schemas.microsoft.com/office/drawing/2014/main" id="{A1354048-4580-50E2-0D89-8F59CBBB3A22}"/>
              </a:ext>
            </a:extLst>
          </p:cNvPr>
          <p:cNvSpPr/>
          <p:nvPr/>
        </p:nvSpPr>
        <p:spPr>
          <a:xfrm>
            <a:off x="46074" y="3429000"/>
            <a:ext cx="12099851" cy="2677656"/>
          </a:xfrm>
          <a:prstGeom prst="rect">
            <a:avLst/>
          </a:prstGeom>
          <a:solidFill>
            <a:schemeClr val="accent5">
              <a:lumMod val="20000"/>
              <a:lumOff val="80000"/>
            </a:schemeClr>
          </a:solidFill>
        </p:spPr>
        <p:txBody>
          <a:bodyPr wrap="square">
            <a:spAutoFit/>
          </a:bodyPr>
          <a:lstStyle/>
          <a:p>
            <a:pPr marL="342900" indent="-342900">
              <a:buClrTx/>
              <a:buFont typeface="Arial" panose="020B0604020202020204" pitchFamily="34" charset="0"/>
              <a:buChar char="•"/>
            </a:pPr>
            <a:r>
              <a:rPr lang="en-US" sz="2800" kern="1200" dirty="0">
                <a:solidFill>
                  <a:prstClr val="black"/>
                </a:solidFill>
                <a:latin typeface="Times New Roman" panose="02020603050405020304" pitchFamily="18" charset="0"/>
                <a:ea typeface="+mn-ea"/>
                <a:cs typeface="Times New Roman" panose="02020603050405020304" pitchFamily="18" charset="0"/>
              </a:rPr>
              <a:t>The process is performed again and again, moving down the product structure until all items have been scheduled.</a:t>
            </a:r>
          </a:p>
          <a:p>
            <a:pPr marL="342900" indent="-342900">
              <a:buClrTx/>
              <a:buFont typeface="Arial" panose="020B0604020202020204" pitchFamily="34" charset="0"/>
              <a:buChar char="•"/>
            </a:pPr>
            <a:r>
              <a:rPr lang="en-IN" sz="2800" kern="1200" dirty="0">
                <a:solidFill>
                  <a:prstClr val="black"/>
                </a:solidFill>
                <a:latin typeface="Times New Roman" panose="02020603050405020304" pitchFamily="18" charset="0"/>
                <a:ea typeface="+mn-ea"/>
                <a:cs typeface="Times New Roman" panose="02020603050405020304" pitchFamily="18" charset="0"/>
              </a:rPr>
              <a:t>Identifying information at the top of the matrix includes the item name or number, the lowest level at which the item appears in the product structure (called </a:t>
            </a:r>
            <a:r>
              <a:rPr lang="en-IN" sz="2800" b="1" i="1" kern="1200" dirty="0">
                <a:solidFill>
                  <a:prstClr val="black"/>
                </a:solidFill>
                <a:latin typeface="Times New Roman" panose="02020603050405020304" pitchFamily="18" charset="0"/>
                <a:ea typeface="+mn-ea"/>
                <a:cs typeface="Times New Roman" panose="02020603050405020304" pitchFamily="18" charset="0"/>
              </a:rPr>
              <a:t>low level code </a:t>
            </a:r>
            <a:r>
              <a:rPr lang="en-IN" sz="2800" b="1" kern="1200" dirty="0">
                <a:solidFill>
                  <a:prstClr val="black"/>
                </a:solidFill>
                <a:latin typeface="Times New Roman" panose="02020603050405020304" pitchFamily="18" charset="0"/>
                <a:ea typeface="+mn-ea"/>
                <a:cs typeface="Times New Roman" panose="02020603050405020304" pitchFamily="18" charset="0"/>
              </a:rPr>
              <a:t>or LLC</a:t>
            </a:r>
            <a:r>
              <a:rPr lang="en-IN" sz="2800" kern="1200" dirty="0">
                <a:solidFill>
                  <a:prstClr val="black"/>
                </a:solidFill>
                <a:latin typeface="Times New Roman" panose="02020603050405020304" pitchFamily="18" charset="0"/>
                <a:ea typeface="+mn-ea"/>
                <a:cs typeface="Times New Roman" panose="02020603050405020304" pitchFamily="18" charset="0"/>
              </a:rPr>
              <a:t>), </a:t>
            </a:r>
          </a:p>
          <a:p>
            <a:pPr marL="342900" indent="-342900">
              <a:buClrTx/>
              <a:buFont typeface="Arial" panose="020B0604020202020204" pitchFamily="34" charset="0"/>
              <a:buChar char="•"/>
            </a:pPr>
            <a:r>
              <a:rPr lang="en-IN" sz="2800" kern="1200" dirty="0">
                <a:solidFill>
                  <a:prstClr val="black"/>
                </a:solidFill>
                <a:latin typeface="Times New Roman" panose="02020603050405020304" pitchFamily="18" charset="0"/>
                <a:ea typeface="+mn-ea"/>
                <a:cs typeface="Times New Roman" panose="02020603050405020304" pitchFamily="18" charset="0"/>
              </a:rPr>
              <a:t>The quantities in which an item is usually made or purchased (called </a:t>
            </a:r>
            <a:r>
              <a:rPr lang="en-IN" sz="2800" b="1" i="1" kern="1200" dirty="0">
                <a:solidFill>
                  <a:prstClr val="black"/>
                </a:solidFill>
                <a:latin typeface="Times New Roman" panose="02020603050405020304" pitchFamily="18" charset="0"/>
                <a:ea typeface="+mn-ea"/>
                <a:cs typeface="Times New Roman" panose="02020603050405020304" pitchFamily="18" charset="0"/>
              </a:rPr>
              <a:t>lot size</a:t>
            </a:r>
            <a:r>
              <a:rPr lang="en-IN" sz="2800" kern="1200" dirty="0">
                <a:solidFill>
                  <a:prstClr val="black"/>
                </a:solidFill>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209186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3BA88-0CDB-37BE-85AA-00B220CBE9C1}"/>
              </a:ext>
            </a:extLst>
          </p:cNvPr>
          <p:cNvSpPr>
            <a:spLocks noGrp="1"/>
          </p:cNvSpPr>
          <p:nvPr>
            <p:ph type="title"/>
          </p:nvPr>
        </p:nvSpPr>
        <p:spPr/>
        <p:txBody>
          <a:bodyPr/>
          <a:lstStyle/>
          <a:p>
            <a:r>
              <a:rPr lang="en-IN" dirty="0"/>
              <a:t>MRP matrix</a:t>
            </a:r>
          </a:p>
        </p:txBody>
      </p:sp>
      <p:sp>
        <p:nvSpPr>
          <p:cNvPr id="4" name="Date Placeholder 3">
            <a:extLst>
              <a:ext uri="{FF2B5EF4-FFF2-40B4-BE49-F238E27FC236}">
                <a16:creationId xmlns:a16="http://schemas.microsoft.com/office/drawing/2014/main" id="{CD63C1BE-5459-CD39-52C8-05E69F15DFB9}"/>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514FE98-3A0B-5BCD-677F-DC544F4D963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F8D3B13-13DE-5C3F-A64E-7CF15E6625D3}"/>
              </a:ext>
            </a:extLst>
          </p:cNvPr>
          <p:cNvSpPr>
            <a:spLocks noGrp="1"/>
          </p:cNvSpPr>
          <p:nvPr>
            <p:ph type="sldNum" idx="12"/>
          </p:nvPr>
        </p:nvSpPr>
        <p:spPr/>
        <p:txBody>
          <a:bodyPr/>
          <a:lstStyle/>
          <a:p>
            <a:fld id="{00000000-1234-1234-1234-123412341234}" type="slidenum">
              <a:rPr lang="en-US" smtClean="0"/>
              <a:pPr/>
              <a:t>28</a:t>
            </a:fld>
            <a:endParaRPr lang="en-US" dirty="0"/>
          </a:p>
        </p:txBody>
      </p:sp>
      <p:pic>
        <p:nvPicPr>
          <p:cNvPr id="9" name="Picture 2">
            <a:extLst>
              <a:ext uri="{FF2B5EF4-FFF2-40B4-BE49-F238E27FC236}">
                <a16:creationId xmlns:a16="http://schemas.microsoft.com/office/drawing/2014/main" id="{04D12000-697B-7FAC-4EA8-562BF36A7C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61" t="3943" r="1517" b="3777"/>
          <a:stretch/>
        </p:blipFill>
        <p:spPr bwMode="auto">
          <a:xfrm>
            <a:off x="21263" y="988822"/>
            <a:ext cx="12105771" cy="442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4377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8D0D-4DA1-4CE7-0533-B3161FBB2F01}"/>
              </a:ext>
            </a:extLst>
          </p:cNvPr>
          <p:cNvSpPr>
            <a:spLocks noGrp="1"/>
          </p:cNvSpPr>
          <p:nvPr>
            <p:ph type="title"/>
          </p:nvPr>
        </p:nvSpPr>
        <p:spPr/>
        <p:txBody>
          <a:bodyPr/>
          <a:lstStyle/>
          <a:p>
            <a:r>
              <a:rPr lang="en-IN" dirty="0"/>
              <a:t>Example— School mate products</a:t>
            </a:r>
            <a:br>
              <a:rPr lang="en-IN" dirty="0"/>
            </a:br>
            <a:endParaRPr lang="en-IN" dirty="0"/>
          </a:p>
        </p:txBody>
      </p:sp>
      <p:sp>
        <p:nvSpPr>
          <p:cNvPr id="3" name="Text Placeholder 2">
            <a:extLst>
              <a:ext uri="{FF2B5EF4-FFF2-40B4-BE49-F238E27FC236}">
                <a16:creationId xmlns:a16="http://schemas.microsoft.com/office/drawing/2014/main" id="{AD120BD7-5F49-C272-7533-306A03C215D8}"/>
              </a:ext>
            </a:extLst>
          </p:cNvPr>
          <p:cNvSpPr>
            <a:spLocks noGrp="1"/>
          </p:cNvSpPr>
          <p:nvPr>
            <p:ph type="body" idx="1"/>
          </p:nvPr>
        </p:nvSpPr>
        <p:spPr>
          <a:xfrm>
            <a:off x="116958" y="801517"/>
            <a:ext cx="11887200" cy="5035928"/>
          </a:xfrm>
        </p:spPr>
        <p:txBody>
          <a:bodyPr>
            <a:normAutofit/>
          </a:bodyPr>
          <a:lstStyle/>
          <a:p>
            <a:pPr marL="114300" indent="0" algn="just">
              <a:buNone/>
            </a:pPr>
            <a:r>
              <a:rPr lang="en-IN" sz="2200" dirty="0"/>
              <a:t>School Mate offers a number of standard products to encourage writing outside of the classroom, including clipboards, </a:t>
            </a:r>
            <a:r>
              <a:rPr lang="en-IN" sz="2200" dirty="0" err="1"/>
              <a:t>lapdesks</a:t>
            </a:r>
            <a:r>
              <a:rPr lang="en-IN" sz="2200" dirty="0"/>
              <a:t>, lapboards, and pencil boxes. Rising costs and inventory levels have prompted the company to install a computerized planning and control system called MRP. The MPS and bill of material modules are up and running. Sample output follows. Before going live with the MRP module, School Mate has asked for a manual demonstration. Since manual calculations can be quite tedious, you have decided to prepare MRP matrices for only three items—the clipboard and </a:t>
            </a:r>
            <a:r>
              <a:rPr lang="en-IN" sz="2200" dirty="0" err="1"/>
              <a:t>lapdesk</a:t>
            </a:r>
            <a:r>
              <a:rPr lang="en-IN" sz="2200" dirty="0"/>
              <a:t>, and a common component, pressboard. The master production schedule, abbreviated product structure diagrams, and inventory information are given below.</a:t>
            </a:r>
          </a:p>
          <a:p>
            <a:endParaRPr lang="en-IN" sz="2200" dirty="0"/>
          </a:p>
        </p:txBody>
      </p:sp>
      <p:sp>
        <p:nvSpPr>
          <p:cNvPr id="4" name="Date Placeholder 3">
            <a:extLst>
              <a:ext uri="{FF2B5EF4-FFF2-40B4-BE49-F238E27FC236}">
                <a16:creationId xmlns:a16="http://schemas.microsoft.com/office/drawing/2014/main" id="{09EF7DC6-4EEB-4CC0-7D3B-BBA5D779EB9C}"/>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66765ABE-F8B9-D530-A023-312F51370D90}"/>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8CE2365-4FBC-A20D-2119-6DF7B84236FA}"/>
              </a:ext>
            </a:extLst>
          </p:cNvPr>
          <p:cNvSpPr>
            <a:spLocks noGrp="1"/>
          </p:cNvSpPr>
          <p:nvPr>
            <p:ph type="sldNum" idx="12"/>
          </p:nvPr>
        </p:nvSpPr>
        <p:spPr/>
        <p:txBody>
          <a:bodyPr/>
          <a:lstStyle/>
          <a:p>
            <a:fld id="{00000000-1234-1234-1234-123412341234}" type="slidenum">
              <a:rPr lang="en-US" smtClean="0"/>
              <a:pPr/>
              <a:t>29</a:t>
            </a:fld>
            <a:endParaRPr lang="en-US" dirty="0"/>
          </a:p>
        </p:txBody>
      </p:sp>
      <p:pic>
        <p:nvPicPr>
          <p:cNvPr id="7" name="Picture 2">
            <a:extLst>
              <a:ext uri="{FF2B5EF4-FFF2-40B4-BE49-F238E27FC236}">
                <a16:creationId xmlns:a16="http://schemas.microsoft.com/office/drawing/2014/main" id="{41361D32-2D16-A236-5757-96D71D9CA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460" y="3418367"/>
            <a:ext cx="6361940" cy="11483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F3D64A09-CCC8-154E-55D5-753E489C4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49" y="4603898"/>
            <a:ext cx="6957981" cy="15753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8156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F0815-045E-2168-4CCB-8ED08C3738F0}"/>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19EC2345-6149-79D0-89F7-1941EC91C9F9}"/>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9376E98B-17F1-6A45-0E44-FE003EEBDEDA}"/>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BD37FF80-A159-1D76-1CD2-2E526BEA652B}"/>
              </a:ext>
            </a:extLst>
          </p:cNvPr>
          <p:cNvSpPr>
            <a:spLocks noGrp="1"/>
          </p:cNvSpPr>
          <p:nvPr>
            <p:ph type="sldNum" idx="12"/>
          </p:nvPr>
        </p:nvSpPr>
        <p:spPr/>
        <p:txBody>
          <a:bodyPr/>
          <a:lstStyle/>
          <a:p>
            <a:fld id="{00000000-1234-1234-1234-123412341234}" type="slidenum">
              <a:rPr lang="en-US" smtClean="0"/>
              <a:pPr/>
              <a:t>30</a:t>
            </a:fld>
            <a:endParaRPr lang="en-US" dirty="0"/>
          </a:p>
        </p:txBody>
      </p:sp>
      <p:pic>
        <p:nvPicPr>
          <p:cNvPr id="7" name="Picture 4">
            <a:extLst>
              <a:ext uri="{FF2B5EF4-FFF2-40B4-BE49-F238E27FC236}">
                <a16:creationId xmlns:a16="http://schemas.microsoft.com/office/drawing/2014/main" id="{46E6329E-813F-B099-407C-8D9852290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8125" y="998974"/>
            <a:ext cx="8829884" cy="5157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7696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6D90-066F-FDFD-CA14-CB6E3CCFC21D}"/>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AACBC844-9E2D-184B-BB53-939BA007EDDF}"/>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7D161BDB-D19F-E922-1F00-74252461663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1B5B93BF-992D-14A8-4EDC-140DA9A6E6C5}"/>
              </a:ext>
            </a:extLst>
          </p:cNvPr>
          <p:cNvSpPr>
            <a:spLocks noGrp="1"/>
          </p:cNvSpPr>
          <p:nvPr>
            <p:ph type="sldNum" idx="12"/>
          </p:nvPr>
        </p:nvSpPr>
        <p:spPr/>
        <p:txBody>
          <a:bodyPr/>
          <a:lstStyle/>
          <a:p>
            <a:fld id="{00000000-1234-1234-1234-123412341234}" type="slidenum">
              <a:rPr lang="en-US" smtClean="0"/>
              <a:pPr/>
              <a:t>31</a:t>
            </a:fld>
            <a:endParaRPr lang="en-US" dirty="0"/>
          </a:p>
        </p:txBody>
      </p:sp>
      <p:grpSp>
        <p:nvGrpSpPr>
          <p:cNvPr id="7" name="Group 53">
            <a:extLst>
              <a:ext uri="{FF2B5EF4-FFF2-40B4-BE49-F238E27FC236}">
                <a16:creationId xmlns:a16="http://schemas.microsoft.com/office/drawing/2014/main" id="{619EB1E7-5F64-B8D1-926D-00D351D92C58}"/>
              </a:ext>
            </a:extLst>
          </p:cNvPr>
          <p:cNvGrpSpPr>
            <a:grpSpLocks/>
          </p:cNvGrpSpPr>
          <p:nvPr/>
        </p:nvGrpSpPr>
        <p:grpSpPr bwMode="auto">
          <a:xfrm>
            <a:off x="1669314" y="1065026"/>
            <a:ext cx="7747000" cy="3219450"/>
            <a:chOff x="498" y="1090"/>
            <a:chExt cx="4880" cy="2028"/>
          </a:xfrm>
        </p:grpSpPr>
        <p:grpSp>
          <p:nvGrpSpPr>
            <p:cNvPr id="8" name="Group 48">
              <a:extLst>
                <a:ext uri="{FF2B5EF4-FFF2-40B4-BE49-F238E27FC236}">
                  <a16:creationId xmlns:a16="http://schemas.microsoft.com/office/drawing/2014/main" id="{CED222D5-A32C-34E5-9E76-BD29D8A16AC2}"/>
                </a:ext>
              </a:extLst>
            </p:cNvPr>
            <p:cNvGrpSpPr>
              <a:grpSpLocks/>
            </p:cNvGrpSpPr>
            <p:nvPr/>
          </p:nvGrpSpPr>
          <p:grpSpPr bwMode="auto">
            <a:xfrm>
              <a:off x="503" y="1090"/>
              <a:ext cx="4875" cy="1999"/>
              <a:chOff x="245" y="1037"/>
              <a:chExt cx="4875" cy="1999"/>
            </a:xfrm>
          </p:grpSpPr>
          <p:sp>
            <p:nvSpPr>
              <p:cNvPr id="12" name="Rectangle 46">
                <a:extLst>
                  <a:ext uri="{FF2B5EF4-FFF2-40B4-BE49-F238E27FC236}">
                    <a16:creationId xmlns:a16="http://schemas.microsoft.com/office/drawing/2014/main" id="{C0FFA9A3-3E2C-FF1D-8D85-8FA432B688B6}"/>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13" name="Rectangle 47">
                <a:extLst>
                  <a:ext uri="{FF2B5EF4-FFF2-40B4-BE49-F238E27FC236}">
                    <a16:creationId xmlns:a16="http://schemas.microsoft.com/office/drawing/2014/main" id="{519F451F-4C2F-5C92-46D0-99ECA47A7B0B}"/>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grpSp>
        <p:sp>
          <p:nvSpPr>
            <p:cNvPr id="9" name="Line 49">
              <a:extLst>
                <a:ext uri="{FF2B5EF4-FFF2-40B4-BE49-F238E27FC236}">
                  <a16:creationId xmlns:a16="http://schemas.microsoft.com/office/drawing/2014/main" id="{21A88001-519E-2CF7-B1ED-33ACFAFAEC26}"/>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0" name="Line 50">
              <a:extLst>
                <a:ext uri="{FF2B5EF4-FFF2-40B4-BE49-F238E27FC236}">
                  <a16:creationId xmlns:a16="http://schemas.microsoft.com/office/drawing/2014/main" id="{3EA1C196-3E9B-9E8F-1E37-00D5C1C08F81}"/>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52">
              <a:extLst>
                <a:ext uri="{FF2B5EF4-FFF2-40B4-BE49-F238E27FC236}">
                  <a16:creationId xmlns:a16="http://schemas.microsoft.com/office/drawing/2014/main" id="{6DBB8CC1-1C39-B815-9C19-0C0519929B0A}"/>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4" name="Group 4">
            <a:extLst>
              <a:ext uri="{FF2B5EF4-FFF2-40B4-BE49-F238E27FC236}">
                <a16:creationId xmlns:a16="http://schemas.microsoft.com/office/drawing/2014/main" id="{76A6A18D-D341-502E-4659-014053B97EF9}"/>
              </a:ext>
            </a:extLst>
          </p:cNvPr>
          <p:cNvGrpSpPr>
            <a:grpSpLocks/>
          </p:cNvGrpSpPr>
          <p:nvPr/>
        </p:nvGrpSpPr>
        <p:grpSpPr bwMode="auto">
          <a:xfrm>
            <a:off x="1664702" y="1063019"/>
            <a:ext cx="7747000" cy="3219450"/>
            <a:chOff x="498" y="1090"/>
            <a:chExt cx="4880" cy="2028"/>
          </a:xfrm>
        </p:grpSpPr>
        <p:grpSp>
          <p:nvGrpSpPr>
            <p:cNvPr id="15" name="Group 5">
              <a:extLst>
                <a:ext uri="{FF2B5EF4-FFF2-40B4-BE49-F238E27FC236}">
                  <a16:creationId xmlns:a16="http://schemas.microsoft.com/office/drawing/2014/main" id="{9E7BE99E-79EF-F495-367F-0E0B4FF4FD58}"/>
                </a:ext>
              </a:extLst>
            </p:cNvPr>
            <p:cNvGrpSpPr>
              <a:grpSpLocks/>
            </p:cNvGrpSpPr>
            <p:nvPr/>
          </p:nvGrpSpPr>
          <p:grpSpPr bwMode="auto">
            <a:xfrm>
              <a:off x="503" y="1090"/>
              <a:ext cx="4875" cy="1999"/>
              <a:chOff x="245" y="1037"/>
              <a:chExt cx="4875" cy="1999"/>
            </a:xfrm>
          </p:grpSpPr>
          <p:sp>
            <p:nvSpPr>
              <p:cNvPr id="19" name="Rectangle 6">
                <a:extLst>
                  <a:ext uri="{FF2B5EF4-FFF2-40B4-BE49-F238E27FC236}">
                    <a16:creationId xmlns:a16="http://schemas.microsoft.com/office/drawing/2014/main" id="{2C2DFB80-6BBB-9A7D-AD17-DD9806E882E2}"/>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L4L	LT: 1	</a:t>
                </a:r>
                <a:r>
                  <a:rPr lang="en-US" sz="1800" i="1" dirty="0">
                    <a:latin typeface="Times New Roman" panose="02020603050405020304" pitchFamily="18" charset="0"/>
                    <a:cs typeface="Times New Roman" panose="02020603050405020304" pitchFamily="18" charset="0"/>
                  </a:rPr>
                  <a:t>1	2	3	4	5</a:t>
                </a:r>
              </a:p>
            </p:txBody>
          </p:sp>
          <p:sp>
            <p:nvSpPr>
              <p:cNvPr id="20" name="Rectangle 7">
                <a:extLst>
                  <a:ext uri="{FF2B5EF4-FFF2-40B4-BE49-F238E27FC236}">
                    <a16:creationId xmlns:a16="http://schemas.microsoft.com/office/drawing/2014/main" id="{CBCD3728-A4FF-6D5F-7DF4-4C2AF0105EE5}"/>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grpSp>
        <p:sp>
          <p:nvSpPr>
            <p:cNvPr id="16" name="Line 8">
              <a:extLst>
                <a:ext uri="{FF2B5EF4-FFF2-40B4-BE49-F238E27FC236}">
                  <a16:creationId xmlns:a16="http://schemas.microsoft.com/office/drawing/2014/main" id="{DD8CAA00-7501-8DEC-B23A-28A58A4D4BE3}"/>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7" name="Line 9">
              <a:extLst>
                <a:ext uri="{FF2B5EF4-FFF2-40B4-BE49-F238E27FC236}">
                  <a16:creationId xmlns:a16="http://schemas.microsoft.com/office/drawing/2014/main" id="{256D0D45-53E7-9C00-B1C5-73477BC03D5C}"/>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8" name="Line 10">
              <a:extLst>
                <a:ext uri="{FF2B5EF4-FFF2-40B4-BE49-F238E27FC236}">
                  <a16:creationId xmlns:a16="http://schemas.microsoft.com/office/drawing/2014/main" id="{C47F105D-EB02-26CC-F2A4-514EAED4EFE6}"/>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21" name="Rectangle 11">
            <a:extLst>
              <a:ext uri="{FF2B5EF4-FFF2-40B4-BE49-F238E27FC236}">
                <a16:creationId xmlns:a16="http://schemas.microsoft.com/office/drawing/2014/main" id="{4A03D737-AC76-1185-8405-8BE8B4698801}"/>
              </a:ext>
            </a:extLst>
          </p:cNvPr>
          <p:cNvSpPr>
            <a:spLocks noChangeArrowheads="1"/>
          </p:cNvSpPr>
          <p:nvPr/>
        </p:nvSpPr>
        <p:spPr bwMode="auto">
          <a:xfrm>
            <a:off x="1368326" y="4404553"/>
            <a:ext cx="5048690" cy="7078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sz="2000" dirty="0">
                <a:latin typeface="Times New Roman" panose="02020603050405020304" pitchFamily="18" charset="0"/>
                <a:cs typeface="Times New Roman" panose="02020603050405020304" pitchFamily="18" charset="0"/>
              </a:rPr>
              <a:t>(25 + 175) = 200 units available</a:t>
            </a:r>
          </a:p>
          <a:p>
            <a:r>
              <a:rPr lang="en-US" sz="2000" dirty="0">
                <a:latin typeface="Times New Roman" panose="02020603050405020304" pitchFamily="18" charset="0"/>
                <a:cs typeface="Times New Roman" panose="02020603050405020304" pitchFamily="18" charset="0"/>
              </a:rPr>
              <a:t>(200 - 85) = 115 on hand at the end of Period 1</a:t>
            </a:r>
          </a:p>
        </p:txBody>
      </p:sp>
      <p:grpSp>
        <p:nvGrpSpPr>
          <p:cNvPr id="22" name="Group 4">
            <a:extLst>
              <a:ext uri="{FF2B5EF4-FFF2-40B4-BE49-F238E27FC236}">
                <a16:creationId xmlns:a16="http://schemas.microsoft.com/office/drawing/2014/main" id="{81BBB50C-13A5-CDB6-30C9-2177A36F1239}"/>
              </a:ext>
            </a:extLst>
          </p:cNvPr>
          <p:cNvGrpSpPr>
            <a:grpSpLocks/>
          </p:cNvGrpSpPr>
          <p:nvPr/>
        </p:nvGrpSpPr>
        <p:grpSpPr bwMode="auto">
          <a:xfrm>
            <a:off x="1670193" y="1063019"/>
            <a:ext cx="7747000" cy="3219450"/>
            <a:chOff x="498" y="1090"/>
            <a:chExt cx="4880" cy="2028"/>
          </a:xfrm>
        </p:grpSpPr>
        <p:grpSp>
          <p:nvGrpSpPr>
            <p:cNvPr id="23" name="Group 5">
              <a:extLst>
                <a:ext uri="{FF2B5EF4-FFF2-40B4-BE49-F238E27FC236}">
                  <a16:creationId xmlns:a16="http://schemas.microsoft.com/office/drawing/2014/main" id="{4538073A-BD2E-29D0-28D6-4EFA8E323424}"/>
                </a:ext>
              </a:extLst>
            </p:cNvPr>
            <p:cNvGrpSpPr>
              <a:grpSpLocks/>
            </p:cNvGrpSpPr>
            <p:nvPr/>
          </p:nvGrpSpPr>
          <p:grpSpPr bwMode="auto">
            <a:xfrm>
              <a:off x="503" y="1090"/>
              <a:ext cx="4875" cy="1999"/>
              <a:chOff x="245" y="1037"/>
              <a:chExt cx="4875" cy="1999"/>
            </a:xfrm>
          </p:grpSpPr>
          <p:sp>
            <p:nvSpPr>
              <p:cNvPr id="27" name="Rectangle 6">
                <a:extLst>
                  <a:ext uri="{FF2B5EF4-FFF2-40B4-BE49-F238E27FC236}">
                    <a16:creationId xmlns:a16="http://schemas.microsoft.com/office/drawing/2014/main" id="{AE734997-17EA-9F38-AAAB-6270FCDCCBC4}"/>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28" name="Rectangle 7">
                <a:extLst>
                  <a:ext uri="{FF2B5EF4-FFF2-40B4-BE49-F238E27FC236}">
                    <a16:creationId xmlns:a16="http://schemas.microsoft.com/office/drawing/2014/main" id="{216A3FC4-C7D5-814A-1F2C-1A44376B25B2}"/>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20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grpSp>
        <p:sp>
          <p:nvSpPr>
            <p:cNvPr id="24" name="Line 8">
              <a:extLst>
                <a:ext uri="{FF2B5EF4-FFF2-40B4-BE49-F238E27FC236}">
                  <a16:creationId xmlns:a16="http://schemas.microsoft.com/office/drawing/2014/main" id="{95B449C6-AF73-5ABF-3E14-DD691ED31D2B}"/>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5" name="Line 9">
              <a:extLst>
                <a:ext uri="{FF2B5EF4-FFF2-40B4-BE49-F238E27FC236}">
                  <a16:creationId xmlns:a16="http://schemas.microsoft.com/office/drawing/2014/main" id="{3C303D72-09D8-619A-D8A8-7513EA586D1D}"/>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6" name="Line 10">
              <a:extLst>
                <a:ext uri="{FF2B5EF4-FFF2-40B4-BE49-F238E27FC236}">
                  <a16:creationId xmlns:a16="http://schemas.microsoft.com/office/drawing/2014/main" id="{B87403EC-4A23-48CA-B189-8F7D774F2088}"/>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29" name="Rectangle 11">
            <a:extLst>
              <a:ext uri="{FF2B5EF4-FFF2-40B4-BE49-F238E27FC236}">
                <a16:creationId xmlns:a16="http://schemas.microsoft.com/office/drawing/2014/main" id="{18AB7E82-3932-11D1-7B1D-FC1C2982A397}"/>
              </a:ext>
            </a:extLst>
          </p:cNvPr>
          <p:cNvSpPr>
            <a:spLocks noChangeArrowheads="1"/>
          </p:cNvSpPr>
          <p:nvPr/>
        </p:nvSpPr>
        <p:spPr bwMode="auto">
          <a:xfrm>
            <a:off x="1368326" y="5349251"/>
            <a:ext cx="5048690" cy="7078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en-US" sz="2000" dirty="0">
                <a:latin typeface="Times New Roman" panose="02020603050405020304" pitchFamily="18" charset="0"/>
                <a:cs typeface="Times New Roman" panose="02020603050405020304" pitchFamily="18" charset="0"/>
              </a:rPr>
              <a:t>115 units available</a:t>
            </a:r>
          </a:p>
          <a:p>
            <a:r>
              <a:rPr lang="en-US" sz="2000" dirty="0">
                <a:latin typeface="Times New Roman" panose="02020603050405020304" pitchFamily="18" charset="0"/>
                <a:cs typeface="Times New Roman" panose="02020603050405020304" pitchFamily="18" charset="0"/>
              </a:rPr>
              <a:t>(115 - 95) = 20 on hand at the end of Period 2</a:t>
            </a:r>
          </a:p>
        </p:txBody>
      </p:sp>
      <p:grpSp>
        <p:nvGrpSpPr>
          <p:cNvPr id="30" name="Group 4">
            <a:extLst>
              <a:ext uri="{FF2B5EF4-FFF2-40B4-BE49-F238E27FC236}">
                <a16:creationId xmlns:a16="http://schemas.microsoft.com/office/drawing/2014/main" id="{0B0F5B6A-2B03-EED2-0EF3-50F013E61872}"/>
              </a:ext>
            </a:extLst>
          </p:cNvPr>
          <p:cNvGrpSpPr>
            <a:grpSpLocks/>
          </p:cNvGrpSpPr>
          <p:nvPr/>
        </p:nvGrpSpPr>
        <p:grpSpPr bwMode="auto">
          <a:xfrm>
            <a:off x="1670193" y="1063019"/>
            <a:ext cx="7747000" cy="3219450"/>
            <a:chOff x="498" y="1090"/>
            <a:chExt cx="4880" cy="2028"/>
          </a:xfrm>
        </p:grpSpPr>
        <p:grpSp>
          <p:nvGrpSpPr>
            <p:cNvPr id="31" name="Group 5">
              <a:extLst>
                <a:ext uri="{FF2B5EF4-FFF2-40B4-BE49-F238E27FC236}">
                  <a16:creationId xmlns:a16="http://schemas.microsoft.com/office/drawing/2014/main" id="{F09E0A11-0775-66DB-D78E-936C8DC4ABC7}"/>
                </a:ext>
              </a:extLst>
            </p:cNvPr>
            <p:cNvGrpSpPr>
              <a:grpSpLocks/>
            </p:cNvGrpSpPr>
            <p:nvPr/>
          </p:nvGrpSpPr>
          <p:grpSpPr bwMode="auto">
            <a:xfrm>
              <a:off x="503" y="1090"/>
              <a:ext cx="4875" cy="1999"/>
              <a:chOff x="245" y="1037"/>
              <a:chExt cx="4875" cy="1999"/>
            </a:xfrm>
          </p:grpSpPr>
          <p:sp>
            <p:nvSpPr>
              <p:cNvPr id="35" name="Rectangle 6">
                <a:extLst>
                  <a:ext uri="{FF2B5EF4-FFF2-40B4-BE49-F238E27FC236}">
                    <a16:creationId xmlns:a16="http://schemas.microsoft.com/office/drawing/2014/main" id="{B00E30AB-7E72-6079-D693-AAA085722B39}"/>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36" name="Rectangle 7">
                <a:extLst>
                  <a:ext uri="{FF2B5EF4-FFF2-40B4-BE49-F238E27FC236}">
                    <a16:creationId xmlns:a16="http://schemas.microsoft.com/office/drawing/2014/main" id="{0F119673-A7CB-22A8-E5B7-ADC5914565FD}"/>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20	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0	100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100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100	</a:t>
                </a:r>
              </a:p>
            </p:txBody>
          </p:sp>
        </p:grpSp>
        <p:sp>
          <p:nvSpPr>
            <p:cNvPr id="32" name="Line 8">
              <a:extLst>
                <a:ext uri="{FF2B5EF4-FFF2-40B4-BE49-F238E27FC236}">
                  <a16:creationId xmlns:a16="http://schemas.microsoft.com/office/drawing/2014/main" id="{2B36D261-A612-E3A9-0352-4CDF8D061EB3}"/>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3" name="Line 9">
              <a:extLst>
                <a:ext uri="{FF2B5EF4-FFF2-40B4-BE49-F238E27FC236}">
                  <a16:creationId xmlns:a16="http://schemas.microsoft.com/office/drawing/2014/main" id="{4C7B0AAD-6D75-0F1E-B24A-8F3DBBABD149}"/>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4" name="Line 10">
              <a:extLst>
                <a:ext uri="{FF2B5EF4-FFF2-40B4-BE49-F238E27FC236}">
                  <a16:creationId xmlns:a16="http://schemas.microsoft.com/office/drawing/2014/main" id="{F73BF128-F2A2-DA69-B90D-0656EE25A623}"/>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37" name="Rectangle 11">
            <a:extLst>
              <a:ext uri="{FF2B5EF4-FFF2-40B4-BE49-F238E27FC236}">
                <a16:creationId xmlns:a16="http://schemas.microsoft.com/office/drawing/2014/main" id="{2C53F03F-57CE-BD60-072B-74128C076469}"/>
              </a:ext>
            </a:extLst>
          </p:cNvPr>
          <p:cNvSpPr>
            <a:spLocks noChangeArrowheads="1"/>
          </p:cNvSpPr>
          <p:nvPr/>
        </p:nvSpPr>
        <p:spPr bwMode="auto">
          <a:xfrm>
            <a:off x="1364542" y="4400559"/>
            <a:ext cx="6788858" cy="1015663"/>
          </a:xfrm>
          <a:prstGeom prst="rect">
            <a:avLst/>
          </a:prstGeom>
          <a:solidFill>
            <a:schemeClr val="bg1">
              <a:lumMod val="95000"/>
            </a:schemeClr>
          </a:solidFill>
          <a:ln w="9525">
            <a:solidFill>
              <a:srgbClr val="000000"/>
            </a:solidFill>
            <a:miter lim="800000"/>
            <a:headEnd/>
            <a:tailEnd/>
          </a:ln>
          <a:effectLst/>
        </p:spPr>
        <p:txBody>
          <a:bodyPr wrap="square">
            <a:spAutoFit/>
          </a:bodyPr>
          <a:lstStyle/>
          <a:p>
            <a:r>
              <a:rPr lang="en-US" sz="2000" dirty="0">
                <a:latin typeface="Times New Roman" panose="02020603050405020304" pitchFamily="18" charset="0"/>
                <a:cs typeface="Times New Roman" panose="02020603050405020304" pitchFamily="18" charset="0"/>
              </a:rPr>
              <a:t>20 units available</a:t>
            </a:r>
          </a:p>
          <a:p>
            <a:r>
              <a:rPr lang="en-US" sz="2000" dirty="0">
                <a:latin typeface="Times New Roman" panose="02020603050405020304" pitchFamily="18" charset="0"/>
                <a:cs typeface="Times New Roman" panose="02020603050405020304" pitchFamily="18" charset="0"/>
              </a:rPr>
              <a:t>(20 - 120) = -100 — 100 additional Clipboards are required</a:t>
            </a:r>
          </a:p>
          <a:p>
            <a:r>
              <a:rPr lang="en-US" sz="2000" dirty="0">
                <a:latin typeface="Times New Roman" panose="02020603050405020304" pitchFamily="18" charset="0"/>
                <a:cs typeface="Times New Roman" panose="02020603050405020304" pitchFamily="18" charset="0"/>
              </a:rPr>
              <a:t>Order must be placed in Period 2 to be received in Period 3</a:t>
            </a:r>
          </a:p>
        </p:txBody>
      </p:sp>
      <p:grpSp>
        <p:nvGrpSpPr>
          <p:cNvPr id="38" name="Group 4">
            <a:extLst>
              <a:ext uri="{FF2B5EF4-FFF2-40B4-BE49-F238E27FC236}">
                <a16:creationId xmlns:a16="http://schemas.microsoft.com/office/drawing/2014/main" id="{DC92CABD-E598-4963-4477-434EB3C5BDD1}"/>
              </a:ext>
            </a:extLst>
          </p:cNvPr>
          <p:cNvGrpSpPr>
            <a:grpSpLocks/>
          </p:cNvGrpSpPr>
          <p:nvPr/>
        </p:nvGrpSpPr>
        <p:grpSpPr bwMode="auto">
          <a:xfrm>
            <a:off x="1664702" y="1063019"/>
            <a:ext cx="7747000" cy="3219450"/>
            <a:chOff x="498" y="1090"/>
            <a:chExt cx="4880" cy="2028"/>
          </a:xfrm>
        </p:grpSpPr>
        <p:grpSp>
          <p:nvGrpSpPr>
            <p:cNvPr id="39" name="Group 5">
              <a:extLst>
                <a:ext uri="{FF2B5EF4-FFF2-40B4-BE49-F238E27FC236}">
                  <a16:creationId xmlns:a16="http://schemas.microsoft.com/office/drawing/2014/main" id="{7A0933C1-E2D8-3E74-AAB0-AF0A0526F428}"/>
                </a:ext>
              </a:extLst>
            </p:cNvPr>
            <p:cNvGrpSpPr>
              <a:grpSpLocks/>
            </p:cNvGrpSpPr>
            <p:nvPr/>
          </p:nvGrpSpPr>
          <p:grpSpPr bwMode="auto">
            <a:xfrm>
              <a:off x="503" y="1090"/>
              <a:ext cx="4875" cy="1999"/>
              <a:chOff x="245" y="1037"/>
              <a:chExt cx="4875" cy="1999"/>
            </a:xfrm>
          </p:grpSpPr>
          <p:sp>
            <p:nvSpPr>
              <p:cNvPr id="43" name="Rectangle 6">
                <a:extLst>
                  <a:ext uri="{FF2B5EF4-FFF2-40B4-BE49-F238E27FC236}">
                    <a16:creationId xmlns:a16="http://schemas.microsoft.com/office/drawing/2014/main" id="{146DFA96-738D-348C-62E5-E1CBCB4AB117}"/>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44" name="Rectangle 7">
                <a:extLst>
                  <a:ext uri="{FF2B5EF4-FFF2-40B4-BE49-F238E27FC236}">
                    <a16:creationId xmlns:a16="http://schemas.microsoft.com/office/drawing/2014/main" id="{18F730C0-B096-57AB-444C-50DEC2B4C482}"/>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20	0	0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0	100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100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100	100	100</a:t>
                </a:r>
              </a:p>
            </p:txBody>
          </p:sp>
        </p:grpSp>
        <p:sp>
          <p:nvSpPr>
            <p:cNvPr id="40" name="Line 8">
              <a:extLst>
                <a:ext uri="{FF2B5EF4-FFF2-40B4-BE49-F238E27FC236}">
                  <a16:creationId xmlns:a16="http://schemas.microsoft.com/office/drawing/2014/main" id="{51F84A1C-EDB4-E707-0B0A-C792E7E8BE36}"/>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1" name="Line 9">
              <a:extLst>
                <a:ext uri="{FF2B5EF4-FFF2-40B4-BE49-F238E27FC236}">
                  <a16:creationId xmlns:a16="http://schemas.microsoft.com/office/drawing/2014/main" id="{972404B5-09B5-4627-44A3-F515A3B89CC4}"/>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2" name="Line 10">
              <a:extLst>
                <a:ext uri="{FF2B5EF4-FFF2-40B4-BE49-F238E27FC236}">
                  <a16:creationId xmlns:a16="http://schemas.microsoft.com/office/drawing/2014/main" id="{105AEE1A-2521-552A-39B4-C5E3D5EACD71}"/>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45" name="Rectangle 20">
            <a:extLst>
              <a:ext uri="{FF2B5EF4-FFF2-40B4-BE49-F238E27FC236}">
                <a16:creationId xmlns:a16="http://schemas.microsoft.com/office/drawing/2014/main" id="{D0C2D4A3-2135-3152-BCEA-15AEFC71FD1D}"/>
              </a:ext>
            </a:extLst>
          </p:cNvPr>
          <p:cNvSpPr>
            <a:spLocks noChangeArrowheads="1"/>
          </p:cNvSpPr>
          <p:nvPr/>
        </p:nvSpPr>
        <p:spPr bwMode="auto">
          <a:xfrm>
            <a:off x="1375177" y="5464267"/>
            <a:ext cx="7748587" cy="707886"/>
          </a:xfrm>
          <a:prstGeom prst="rect">
            <a:avLst/>
          </a:prstGeom>
          <a:solidFill>
            <a:schemeClr val="bg1">
              <a:lumMod val="85000"/>
            </a:schemeClr>
          </a:solidFill>
          <a:ln>
            <a:solidFill>
              <a:schemeClr val="tx1"/>
            </a:solidFill>
          </a:ln>
          <a:effectLst/>
        </p:spPr>
        <p:txBody>
          <a:bodyPr>
            <a:spAutoFit/>
          </a:bodyPr>
          <a:lstStyle/>
          <a:p>
            <a:r>
              <a:rPr lang="en-US" sz="2000" dirty="0">
                <a:latin typeface="Times New Roman" panose="02020603050405020304" pitchFamily="18" charset="0"/>
                <a:cs typeface="Times New Roman" panose="02020603050405020304" pitchFamily="18" charset="0"/>
              </a:rPr>
              <a:t>Following the same logic Gross Requirements in Periods 4 and 5 develop Net Requirements, Planned Order Receipts, and Planned Order Releases</a:t>
            </a:r>
          </a:p>
        </p:txBody>
      </p:sp>
    </p:spTree>
    <p:extLst>
      <p:ext uri="{BB962C8B-B14F-4D97-AF65-F5344CB8AC3E}">
        <p14:creationId xmlns:p14="http://schemas.microsoft.com/office/powerpoint/2010/main" val="204970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1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
                                        <p:tgtEl>
                                          <p:spTgt spid="2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1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
                                        <p:tgtEl>
                                          <p:spTgt spid="37"/>
                                        </p:tgtEl>
                                      </p:cBhvr>
                                    </p:animEffect>
                                  </p:childTnLst>
                                </p:cTn>
                              </p:par>
                              <p:par>
                                <p:cTn id="32" presetID="1" presetClass="exit" presetSubtype="0" fill="hold" grpId="1" nodeType="withEffect">
                                  <p:stCondLst>
                                    <p:cond delay="0"/>
                                  </p:stCondLst>
                                  <p:childTnLst>
                                    <p:set>
                                      <p:cBhvr>
                                        <p:cTn id="33" dur="1" fill="hold">
                                          <p:stCondLst>
                                            <p:cond delay="0"/>
                                          </p:stCondLst>
                                        </p:cTn>
                                        <p:tgtEl>
                                          <p:spTgt spid="29"/>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1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1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9" grpId="0" animBg="1"/>
      <p:bldP spid="29" grpId="1" animBg="1"/>
      <p:bldP spid="37" grpId="0" animBg="1"/>
      <p:bldP spid="4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3AFE4-8E47-00D7-CDDB-3CA7D7BC5D98}"/>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72888C28-3D42-CD4B-5F0A-BCAEC6731260}"/>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D22B9421-14BE-5EB9-510F-E00880CD7AF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57EFC63C-6B84-DDE8-0D29-8893F47547BC}"/>
              </a:ext>
            </a:extLst>
          </p:cNvPr>
          <p:cNvSpPr>
            <a:spLocks noGrp="1"/>
          </p:cNvSpPr>
          <p:nvPr>
            <p:ph type="sldNum" idx="12"/>
          </p:nvPr>
        </p:nvSpPr>
        <p:spPr/>
        <p:txBody>
          <a:bodyPr/>
          <a:lstStyle/>
          <a:p>
            <a:fld id="{00000000-1234-1234-1234-123412341234}" type="slidenum">
              <a:rPr lang="en-US" smtClean="0"/>
              <a:pPr/>
              <a:t>32</a:t>
            </a:fld>
            <a:endParaRPr lang="en-US" dirty="0"/>
          </a:p>
        </p:txBody>
      </p:sp>
      <p:grpSp>
        <p:nvGrpSpPr>
          <p:cNvPr id="7" name="Group 4">
            <a:extLst>
              <a:ext uri="{FF2B5EF4-FFF2-40B4-BE49-F238E27FC236}">
                <a16:creationId xmlns:a16="http://schemas.microsoft.com/office/drawing/2014/main" id="{05B289C8-15B8-4729-7434-1E9669453FE8}"/>
              </a:ext>
            </a:extLst>
          </p:cNvPr>
          <p:cNvGrpSpPr>
            <a:grpSpLocks/>
          </p:cNvGrpSpPr>
          <p:nvPr/>
        </p:nvGrpSpPr>
        <p:grpSpPr bwMode="auto">
          <a:xfrm>
            <a:off x="2172805" y="1096404"/>
            <a:ext cx="7747000" cy="3219450"/>
            <a:chOff x="498" y="1090"/>
            <a:chExt cx="4880" cy="2028"/>
          </a:xfrm>
        </p:grpSpPr>
        <p:grpSp>
          <p:nvGrpSpPr>
            <p:cNvPr id="8" name="Group 5">
              <a:extLst>
                <a:ext uri="{FF2B5EF4-FFF2-40B4-BE49-F238E27FC236}">
                  <a16:creationId xmlns:a16="http://schemas.microsoft.com/office/drawing/2014/main" id="{A0112946-1047-E62C-786A-E1811AD88DAE}"/>
                </a:ext>
              </a:extLst>
            </p:cNvPr>
            <p:cNvGrpSpPr>
              <a:grpSpLocks/>
            </p:cNvGrpSpPr>
            <p:nvPr/>
          </p:nvGrpSpPr>
          <p:grpSpPr bwMode="auto">
            <a:xfrm>
              <a:off x="503" y="1090"/>
              <a:ext cx="4875" cy="1999"/>
              <a:chOff x="245" y="1037"/>
              <a:chExt cx="4875" cy="1999"/>
            </a:xfrm>
          </p:grpSpPr>
          <p:sp>
            <p:nvSpPr>
              <p:cNvPr id="12" name="Rectangle 6">
                <a:extLst>
                  <a:ext uri="{FF2B5EF4-FFF2-40B4-BE49-F238E27FC236}">
                    <a16:creationId xmlns:a16="http://schemas.microsoft.com/office/drawing/2014/main" id="{2BA1EB7F-91F7-8911-6A98-11330A98D828}"/>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LAPDESK	LLC: 0			PERIOD</a:t>
                </a:r>
              </a:p>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MULT 50	LT: 1	</a:t>
                </a:r>
                <a:r>
                  <a:rPr lang="en-US" sz="1800" i="1" dirty="0">
                    <a:latin typeface="Times New Roman" panose="02020603050405020304" pitchFamily="18" charset="0"/>
                    <a:cs typeface="Times New Roman" panose="02020603050405020304" pitchFamily="18" charset="0"/>
                  </a:rPr>
                  <a:t>1	2	3	4	5</a:t>
                </a:r>
              </a:p>
            </p:txBody>
          </p:sp>
          <p:sp>
            <p:nvSpPr>
              <p:cNvPr id="13" name="Rectangle 7">
                <a:extLst>
                  <a:ext uri="{FF2B5EF4-FFF2-40B4-BE49-F238E27FC236}">
                    <a16:creationId xmlns:a16="http://schemas.microsoft.com/office/drawing/2014/main" id="{4920C654-32C1-AD9B-3303-30D127B4840C}"/>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Gross Requirements		0	60	0	60	0</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Scheduled Receipts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Projected on Hand	20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Net Requirements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a:t>
                </a:r>
              </a:p>
            </p:txBody>
          </p:sp>
        </p:grpSp>
        <p:sp>
          <p:nvSpPr>
            <p:cNvPr id="9" name="Line 8">
              <a:extLst>
                <a:ext uri="{FF2B5EF4-FFF2-40B4-BE49-F238E27FC236}">
                  <a16:creationId xmlns:a16="http://schemas.microsoft.com/office/drawing/2014/main" id="{2FB7BE4F-B762-7AD0-6069-3288BB4F2632}"/>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0" name="Line 9">
              <a:extLst>
                <a:ext uri="{FF2B5EF4-FFF2-40B4-BE49-F238E27FC236}">
                  <a16:creationId xmlns:a16="http://schemas.microsoft.com/office/drawing/2014/main" id="{822BC689-EFAB-DB2B-0DAB-9377AFC8E93E}"/>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10">
              <a:extLst>
                <a:ext uri="{FF2B5EF4-FFF2-40B4-BE49-F238E27FC236}">
                  <a16:creationId xmlns:a16="http://schemas.microsoft.com/office/drawing/2014/main" id="{605831DC-0A72-68B2-E5A0-14EA6D398E52}"/>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4" name="Group 22">
            <a:extLst>
              <a:ext uri="{FF2B5EF4-FFF2-40B4-BE49-F238E27FC236}">
                <a16:creationId xmlns:a16="http://schemas.microsoft.com/office/drawing/2014/main" id="{ADED9811-B6B9-0D28-1095-A28F6E367175}"/>
              </a:ext>
            </a:extLst>
          </p:cNvPr>
          <p:cNvGrpSpPr>
            <a:grpSpLocks/>
          </p:cNvGrpSpPr>
          <p:nvPr/>
        </p:nvGrpSpPr>
        <p:grpSpPr bwMode="auto">
          <a:xfrm>
            <a:off x="2172805" y="1096404"/>
            <a:ext cx="7747000" cy="3219450"/>
            <a:chOff x="498" y="1126"/>
            <a:chExt cx="4880" cy="2028"/>
          </a:xfrm>
        </p:grpSpPr>
        <p:grpSp>
          <p:nvGrpSpPr>
            <p:cNvPr id="15" name="Group 21">
              <a:extLst>
                <a:ext uri="{FF2B5EF4-FFF2-40B4-BE49-F238E27FC236}">
                  <a16:creationId xmlns:a16="http://schemas.microsoft.com/office/drawing/2014/main" id="{420C38FD-EEBA-5231-DBE7-7527D9BDD827}"/>
                </a:ext>
              </a:extLst>
            </p:cNvPr>
            <p:cNvGrpSpPr>
              <a:grpSpLocks/>
            </p:cNvGrpSpPr>
            <p:nvPr/>
          </p:nvGrpSpPr>
          <p:grpSpPr bwMode="auto">
            <a:xfrm>
              <a:off x="503" y="1126"/>
              <a:ext cx="4875" cy="1999"/>
              <a:chOff x="503" y="1126"/>
              <a:chExt cx="4875" cy="1999"/>
            </a:xfrm>
          </p:grpSpPr>
          <p:sp>
            <p:nvSpPr>
              <p:cNvPr id="19" name="Rectangle 6">
                <a:extLst>
                  <a:ext uri="{FF2B5EF4-FFF2-40B4-BE49-F238E27FC236}">
                    <a16:creationId xmlns:a16="http://schemas.microsoft.com/office/drawing/2014/main" id="{3BC54902-44F2-6DEE-3E8C-5067CB478035}"/>
                  </a:ext>
                </a:extLst>
              </p:cNvPr>
              <p:cNvSpPr>
                <a:spLocks noChangeArrowheads="1"/>
              </p:cNvSpPr>
              <p:nvPr/>
            </p:nvSpPr>
            <p:spPr bwMode="auto">
              <a:xfrm>
                <a:off x="503" y="1126"/>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20" name="Rectangle 7">
                <a:extLst>
                  <a:ext uri="{FF2B5EF4-FFF2-40B4-BE49-F238E27FC236}">
                    <a16:creationId xmlns:a16="http://schemas.microsoft.com/office/drawing/2014/main" id="{7CA25202-5EB3-0ABA-77E7-9CB594F7A63A}"/>
                  </a:ext>
                </a:extLst>
              </p:cNvPr>
              <p:cNvSpPr>
                <a:spLocks noChangeArrowheads="1"/>
              </p:cNvSpPr>
              <p:nvPr/>
            </p:nvSpPr>
            <p:spPr bwMode="auto">
              <a:xfrm>
                <a:off x="503" y="1717"/>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0	60	0	60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20	20	10	10	0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40		50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50		50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50		50	</a:t>
                </a:r>
              </a:p>
            </p:txBody>
          </p:sp>
        </p:grpSp>
        <p:sp>
          <p:nvSpPr>
            <p:cNvPr id="16" name="Line 8">
              <a:extLst>
                <a:ext uri="{FF2B5EF4-FFF2-40B4-BE49-F238E27FC236}">
                  <a16:creationId xmlns:a16="http://schemas.microsoft.com/office/drawing/2014/main" id="{38773673-2912-33B7-78B4-14DC89F0D5AF}"/>
                </a:ext>
              </a:extLst>
            </p:cNvPr>
            <p:cNvSpPr>
              <a:spLocks noChangeShapeType="1"/>
            </p:cNvSpPr>
            <p:nvPr/>
          </p:nvSpPr>
          <p:spPr bwMode="auto">
            <a:xfrm>
              <a:off x="498" y="1725"/>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7" name="Line 9">
              <a:extLst>
                <a:ext uri="{FF2B5EF4-FFF2-40B4-BE49-F238E27FC236}">
                  <a16:creationId xmlns:a16="http://schemas.microsoft.com/office/drawing/2014/main" id="{CCD483D2-3CDD-038E-0BFC-E55BE60A324A}"/>
                </a:ext>
              </a:extLst>
            </p:cNvPr>
            <p:cNvSpPr>
              <a:spLocks noChangeShapeType="1"/>
            </p:cNvSpPr>
            <p:nvPr/>
          </p:nvSpPr>
          <p:spPr bwMode="auto">
            <a:xfrm>
              <a:off x="3103" y="1439"/>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8" name="Line 10">
              <a:extLst>
                <a:ext uri="{FF2B5EF4-FFF2-40B4-BE49-F238E27FC236}">
                  <a16:creationId xmlns:a16="http://schemas.microsoft.com/office/drawing/2014/main" id="{A42D10B5-087E-127A-061C-CFC4D09F62BF}"/>
                </a:ext>
              </a:extLst>
            </p:cNvPr>
            <p:cNvSpPr>
              <a:spLocks noChangeShapeType="1"/>
            </p:cNvSpPr>
            <p:nvPr/>
          </p:nvSpPr>
          <p:spPr bwMode="auto">
            <a:xfrm>
              <a:off x="498" y="3154"/>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1" name="Group 15">
            <a:extLst>
              <a:ext uri="{FF2B5EF4-FFF2-40B4-BE49-F238E27FC236}">
                <a16:creationId xmlns:a16="http://schemas.microsoft.com/office/drawing/2014/main" id="{998BEE5C-7547-66C9-2CA4-887ACB7396F9}"/>
              </a:ext>
            </a:extLst>
          </p:cNvPr>
          <p:cNvGrpSpPr>
            <a:grpSpLocks/>
          </p:cNvGrpSpPr>
          <p:nvPr/>
        </p:nvGrpSpPr>
        <p:grpSpPr bwMode="auto">
          <a:xfrm>
            <a:off x="6168543" y="3552267"/>
            <a:ext cx="1376362" cy="684212"/>
            <a:chOff x="3015" y="2673"/>
            <a:chExt cx="867" cy="431"/>
          </a:xfrm>
        </p:grpSpPr>
        <p:sp>
          <p:nvSpPr>
            <p:cNvPr id="22" name="Freeform 12">
              <a:extLst>
                <a:ext uri="{FF2B5EF4-FFF2-40B4-BE49-F238E27FC236}">
                  <a16:creationId xmlns:a16="http://schemas.microsoft.com/office/drawing/2014/main" id="{3E093B4E-6B26-74DF-C717-776C478B77DD}"/>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3" name="Freeform 13">
              <a:extLst>
                <a:ext uri="{FF2B5EF4-FFF2-40B4-BE49-F238E27FC236}">
                  <a16:creationId xmlns:a16="http://schemas.microsoft.com/office/drawing/2014/main" id="{DA79EC31-9BED-CF89-39AE-78604E55A8E7}"/>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4" name="Line 14">
              <a:extLst>
                <a:ext uri="{FF2B5EF4-FFF2-40B4-BE49-F238E27FC236}">
                  <a16:creationId xmlns:a16="http://schemas.microsoft.com/office/drawing/2014/main" id="{BF4582ED-CB32-95D0-FB8F-5D8B89EEF8DD}"/>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5" name="Group 16">
            <a:extLst>
              <a:ext uri="{FF2B5EF4-FFF2-40B4-BE49-F238E27FC236}">
                <a16:creationId xmlns:a16="http://schemas.microsoft.com/office/drawing/2014/main" id="{AD16EF91-3DD1-AE30-E99C-D2516B43A5B0}"/>
              </a:ext>
            </a:extLst>
          </p:cNvPr>
          <p:cNvGrpSpPr>
            <a:grpSpLocks/>
          </p:cNvGrpSpPr>
          <p:nvPr/>
        </p:nvGrpSpPr>
        <p:grpSpPr bwMode="auto">
          <a:xfrm>
            <a:off x="7717943" y="3550679"/>
            <a:ext cx="1376362" cy="684213"/>
            <a:chOff x="3015" y="2673"/>
            <a:chExt cx="867" cy="431"/>
          </a:xfrm>
        </p:grpSpPr>
        <p:sp>
          <p:nvSpPr>
            <p:cNvPr id="26" name="Freeform 17">
              <a:extLst>
                <a:ext uri="{FF2B5EF4-FFF2-40B4-BE49-F238E27FC236}">
                  <a16:creationId xmlns:a16="http://schemas.microsoft.com/office/drawing/2014/main" id="{89971F7E-D636-D591-C120-68E84E161D3A}"/>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7" name="Freeform 18">
              <a:extLst>
                <a:ext uri="{FF2B5EF4-FFF2-40B4-BE49-F238E27FC236}">
                  <a16:creationId xmlns:a16="http://schemas.microsoft.com/office/drawing/2014/main" id="{57F1D2C2-6C7D-8772-F525-802E5571EA5D}"/>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8" name="Line 19">
              <a:extLst>
                <a:ext uri="{FF2B5EF4-FFF2-40B4-BE49-F238E27FC236}">
                  <a16:creationId xmlns:a16="http://schemas.microsoft.com/office/drawing/2014/main" id="{128BDDBE-5C0A-B5A4-163C-2EAE00A120EA}"/>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29" name="Rectangle 20">
            <a:extLst>
              <a:ext uri="{FF2B5EF4-FFF2-40B4-BE49-F238E27FC236}">
                <a16:creationId xmlns:a16="http://schemas.microsoft.com/office/drawing/2014/main" id="{B6222695-3910-1AE1-C31F-CF0088153C26}"/>
              </a:ext>
            </a:extLst>
          </p:cNvPr>
          <p:cNvSpPr>
            <a:spLocks noChangeArrowheads="1"/>
          </p:cNvSpPr>
          <p:nvPr/>
        </p:nvSpPr>
        <p:spPr bwMode="auto">
          <a:xfrm>
            <a:off x="2771293" y="4588904"/>
            <a:ext cx="6646862" cy="701675"/>
          </a:xfrm>
          <a:prstGeom prst="rect">
            <a:avLst/>
          </a:prstGeom>
          <a:solidFill>
            <a:schemeClr val="accent5">
              <a:lumMod val="20000"/>
              <a:lumOff val="80000"/>
            </a:schemeClr>
          </a:solidFill>
          <a:ln>
            <a:solidFill>
              <a:schemeClr val="tx1"/>
            </a:solidFill>
          </a:ln>
          <a:effectLst/>
        </p:spPr>
        <p:txBody>
          <a:bodyPr>
            <a:spAutoFit/>
          </a:bodyPr>
          <a:lstStyle/>
          <a:p>
            <a:r>
              <a:rPr lang="en-US" sz="2000" dirty="0">
                <a:latin typeface="Times New Roman" panose="02020603050405020304" pitchFamily="18" charset="0"/>
                <a:cs typeface="Times New Roman" panose="02020603050405020304" pitchFamily="18" charset="0"/>
              </a:rPr>
              <a:t>Following the same logic, the </a:t>
            </a:r>
            <a:r>
              <a:rPr lang="en-US" sz="2000" dirty="0" err="1">
                <a:latin typeface="Times New Roman" panose="02020603050405020304" pitchFamily="18" charset="0"/>
                <a:cs typeface="Times New Roman" panose="02020603050405020304" pitchFamily="18" charset="0"/>
              </a:rPr>
              <a:t>Lapdesk</a:t>
            </a:r>
            <a:r>
              <a:rPr lang="en-US" sz="2000" dirty="0">
                <a:latin typeface="Times New Roman" panose="02020603050405020304" pitchFamily="18" charset="0"/>
                <a:cs typeface="Times New Roman" panose="02020603050405020304" pitchFamily="18" charset="0"/>
              </a:rPr>
              <a:t> MRP matrix is completed as shown</a:t>
            </a:r>
          </a:p>
        </p:txBody>
      </p:sp>
    </p:spTree>
    <p:extLst>
      <p:ext uri="{BB962C8B-B14F-4D97-AF65-F5344CB8AC3E}">
        <p14:creationId xmlns:p14="http://schemas.microsoft.com/office/powerpoint/2010/main" val="341238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5AFE-BEA6-B30F-3478-FD69C8335C4C}"/>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10C87C55-5495-C833-3AF8-9A903E527957}"/>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A7A45BF1-15EE-20A6-9BB6-7713360F4714}"/>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C1087CA6-9A58-C89D-61B9-0BDE1F15BC4E}"/>
              </a:ext>
            </a:extLst>
          </p:cNvPr>
          <p:cNvSpPr>
            <a:spLocks noGrp="1"/>
          </p:cNvSpPr>
          <p:nvPr>
            <p:ph type="sldNum" idx="12"/>
          </p:nvPr>
        </p:nvSpPr>
        <p:spPr/>
        <p:txBody>
          <a:bodyPr/>
          <a:lstStyle/>
          <a:p>
            <a:fld id="{00000000-1234-1234-1234-123412341234}" type="slidenum">
              <a:rPr lang="en-US" smtClean="0"/>
              <a:pPr/>
              <a:t>33</a:t>
            </a:fld>
            <a:endParaRPr lang="en-US" dirty="0"/>
          </a:p>
        </p:txBody>
      </p:sp>
      <p:grpSp>
        <p:nvGrpSpPr>
          <p:cNvPr id="7" name="Group 43">
            <a:extLst>
              <a:ext uri="{FF2B5EF4-FFF2-40B4-BE49-F238E27FC236}">
                <a16:creationId xmlns:a16="http://schemas.microsoft.com/office/drawing/2014/main" id="{25D1A9F4-F22E-3840-5FB6-AB7EF1531BDD}"/>
              </a:ext>
            </a:extLst>
          </p:cNvPr>
          <p:cNvGrpSpPr>
            <a:grpSpLocks/>
          </p:cNvGrpSpPr>
          <p:nvPr/>
        </p:nvGrpSpPr>
        <p:grpSpPr bwMode="auto">
          <a:xfrm>
            <a:off x="1893039" y="3239681"/>
            <a:ext cx="7747000" cy="2633663"/>
            <a:chOff x="516" y="2168"/>
            <a:chExt cx="4880" cy="1659"/>
          </a:xfrm>
        </p:grpSpPr>
        <p:sp>
          <p:nvSpPr>
            <p:cNvPr id="8" name="Rectangle 6">
              <a:extLst>
                <a:ext uri="{FF2B5EF4-FFF2-40B4-BE49-F238E27FC236}">
                  <a16:creationId xmlns:a16="http://schemas.microsoft.com/office/drawing/2014/main" id="{9BC8E826-843C-509C-A054-A17B5A2057DD}"/>
                </a:ext>
              </a:extLst>
            </p:cNvPr>
            <p:cNvSpPr>
              <a:spLocks noChangeArrowheads="1"/>
            </p:cNvSpPr>
            <p:nvPr/>
          </p:nvSpPr>
          <p:spPr bwMode="auto">
            <a:xfrm>
              <a:off x="521" y="2168"/>
              <a:ext cx="484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PRESSBOARD	LLC: 1			PERIOD</a:t>
              </a:r>
            </a:p>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MIN 100	LT: 1	</a:t>
              </a:r>
              <a:r>
                <a:rPr lang="en-US" sz="1800" i="1" dirty="0">
                  <a:latin typeface="Times New Roman" panose="02020603050405020304" pitchFamily="18" charset="0"/>
                  <a:cs typeface="Times New Roman" panose="02020603050405020304" pitchFamily="18" charset="0"/>
                </a:rPr>
                <a:t>1	2	3	4	5</a:t>
              </a:r>
            </a:p>
          </p:txBody>
        </p:sp>
        <p:sp>
          <p:nvSpPr>
            <p:cNvPr id="9" name="Rectangle 7">
              <a:extLst>
                <a:ext uri="{FF2B5EF4-FFF2-40B4-BE49-F238E27FC236}">
                  <a16:creationId xmlns:a16="http://schemas.microsoft.com/office/drawing/2014/main" id="{06B0BA24-167C-32C0-BA2E-E712AB977201}"/>
                </a:ext>
              </a:extLst>
            </p:cNvPr>
            <p:cNvSpPr>
              <a:spLocks noChangeArrowheads="1"/>
            </p:cNvSpPr>
            <p:nvPr/>
          </p:nvSpPr>
          <p:spPr bwMode="auto">
            <a:xfrm>
              <a:off x="521" y="2606"/>
              <a:ext cx="4875" cy="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Gross Requirements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Scheduled Receipts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Projected on Hand	150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Net Requirements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Receipts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a:t>
              </a:r>
            </a:p>
          </p:txBody>
        </p:sp>
        <p:sp>
          <p:nvSpPr>
            <p:cNvPr id="10" name="Line 8">
              <a:extLst>
                <a:ext uri="{FF2B5EF4-FFF2-40B4-BE49-F238E27FC236}">
                  <a16:creationId xmlns:a16="http://schemas.microsoft.com/office/drawing/2014/main" id="{12A6EDD9-C9A2-8A6F-9250-ADB2D7EB4C2E}"/>
                </a:ext>
              </a:extLst>
            </p:cNvPr>
            <p:cNvSpPr>
              <a:spLocks noChangeShapeType="1"/>
            </p:cNvSpPr>
            <p:nvPr/>
          </p:nvSpPr>
          <p:spPr bwMode="auto">
            <a:xfrm>
              <a:off x="516" y="2641"/>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9">
              <a:extLst>
                <a:ext uri="{FF2B5EF4-FFF2-40B4-BE49-F238E27FC236}">
                  <a16:creationId xmlns:a16="http://schemas.microsoft.com/office/drawing/2014/main" id="{9C0F8F1E-5CF4-9F7E-E449-7D82969C8B5D}"/>
                </a:ext>
              </a:extLst>
            </p:cNvPr>
            <p:cNvSpPr>
              <a:spLocks noChangeShapeType="1"/>
            </p:cNvSpPr>
            <p:nvPr/>
          </p:nvSpPr>
          <p:spPr bwMode="auto">
            <a:xfrm>
              <a:off x="3121" y="2427"/>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10">
              <a:extLst>
                <a:ext uri="{FF2B5EF4-FFF2-40B4-BE49-F238E27FC236}">
                  <a16:creationId xmlns:a16="http://schemas.microsoft.com/office/drawing/2014/main" id="{43E5C17C-6633-E9DA-4452-C0E24D19C1FE}"/>
                </a:ext>
              </a:extLst>
            </p:cNvPr>
            <p:cNvSpPr>
              <a:spLocks noChangeShapeType="1"/>
            </p:cNvSpPr>
            <p:nvPr/>
          </p:nvSpPr>
          <p:spPr bwMode="auto">
            <a:xfrm>
              <a:off x="516" y="3827"/>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3" name="Group 40">
            <a:extLst>
              <a:ext uri="{FF2B5EF4-FFF2-40B4-BE49-F238E27FC236}">
                <a16:creationId xmlns:a16="http://schemas.microsoft.com/office/drawing/2014/main" id="{E8CA0FF8-6F39-A0D3-AE38-F35707E706ED}"/>
              </a:ext>
            </a:extLst>
          </p:cNvPr>
          <p:cNvGrpSpPr>
            <a:grpSpLocks/>
          </p:cNvGrpSpPr>
          <p:nvPr/>
        </p:nvGrpSpPr>
        <p:grpSpPr bwMode="auto">
          <a:xfrm>
            <a:off x="1893039" y="1063219"/>
            <a:ext cx="7986713" cy="1116012"/>
            <a:chOff x="516" y="797"/>
            <a:chExt cx="5031" cy="703"/>
          </a:xfrm>
        </p:grpSpPr>
        <p:grpSp>
          <p:nvGrpSpPr>
            <p:cNvPr id="14" name="Group 28">
              <a:extLst>
                <a:ext uri="{FF2B5EF4-FFF2-40B4-BE49-F238E27FC236}">
                  <a16:creationId xmlns:a16="http://schemas.microsoft.com/office/drawing/2014/main" id="{189A3BB4-6A7E-05B0-940D-B338033E2E17}"/>
                </a:ext>
              </a:extLst>
            </p:cNvPr>
            <p:cNvGrpSpPr>
              <a:grpSpLocks/>
            </p:cNvGrpSpPr>
            <p:nvPr/>
          </p:nvGrpSpPr>
          <p:grpSpPr bwMode="auto">
            <a:xfrm>
              <a:off x="516" y="797"/>
              <a:ext cx="5031" cy="688"/>
              <a:chOff x="422" y="806"/>
              <a:chExt cx="5031" cy="688"/>
            </a:xfrm>
          </p:grpSpPr>
          <p:sp>
            <p:nvSpPr>
              <p:cNvPr id="18" name="Rectangle 26">
                <a:extLst>
                  <a:ext uri="{FF2B5EF4-FFF2-40B4-BE49-F238E27FC236}">
                    <a16:creationId xmlns:a16="http://schemas.microsoft.com/office/drawing/2014/main" id="{386C5546-E07B-FBB7-C721-A113032B1591}"/>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19" name="Rectangle 27">
                <a:extLst>
                  <a:ext uri="{FF2B5EF4-FFF2-40B4-BE49-F238E27FC236}">
                    <a16:creationId xmlns:a16="http://schemas.microsoft.com/office/drawing/2014/main" id="{A2B9A6E3-F956-39A3-2770-0D98BEB05FFD}"/>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100	100	100	</a:t>
                </a:r>
                <a:endParaRPr lang="en-US">
                  <a:latin typeface="Times New Roman" panose="02020603050405020304" pitchFamily="18" charset="0"/>
                  <a:cs typeface="Times New Roman" panose="02020603050405020304" pitchFamily="18" charset="0"/>
                </a:endParaRPr>
              </a:p>
            </p:txBody>
          </p:sp>
        </p:grpSp>
        <p:sp>
          <p:nvSpPr>
            <p:cNvPr id="15" name="Line 29">
              <a:extLst>
                <a:ext uri="{FF2B5EF4-FFF2-40B4-BE49-F238E27FC236}">
                  <a16:creationId xmlns:a16="http://schemas.microsoft.com/office/drawing/2014/main" id="{E0FA06F6-5B2B-7044-36F6-3E10B24E7FDE}"/>
                </a:ext>
              </a:extLst>
            </p:cNvPr>
            <p:cNvSpPr>
              <a:spLocks noChangeShapeType="1"/>
            </p:cNvSpPr>
            <p:nvPr/>
          </p:nvSpPr>
          <p:spPr bwMode="auto">
            <a:xfrm>
              <a:off x="527" y="1262"/>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6" name="Line 30">
              <a:extLst>
                <a:ext uri="{FF2B5EF4-FFF2-40B4-BE49-F238E27FC236}">
                  <a16:creationId xmlns:a16="http://schemas.microsoft.com/office/drawing/2014/main" id="{E9271F36-674D-DD24-1791-07958009E21B}"/>
                </a:ext>
              </a:extLst>
            </p:cNvPr>
            <p:cNvSpPr>
              <a:spLocks noChangeShapeType="1"/>
            </p:cNvSpPr>
            <p:nvPr/>
          </p:nvSpPr>
          <p:spPr bwMode="auto">
            <a:xfrm>
              <a:off x="3025" y="1040"/>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7" name="Line 38">
              <a:extLst>
                <a:ext uri="{FF2B5EF4-FFF2-40B4-BE49-F238E27FC236}">
                  <a16:creationId xmlns:a16="http://schemas.microsoft.com/office/drawing/2014/main" id="{C74C1950-83E0-5096-FF33-76836CB5FEC1}"/>
                </a:ext>
              </a:extLst>
            </p:cNvPr>
            <p:cNvSpPr>
              <a:spLocks noChangeShapeType="1"/>
            </p:cNvSpPr>
            <p:nvPr/>
          </p:nvSpPr>
          <p:spPr bwMode="auto">
            <a:xfrm>
              <a:off x="527" y="1500"/>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0" name="Group 42">
            <a:extLst>
              <a:ext uri="{FF2B5EF4-FFF2-40B4-BE49-F238E27FC236}">
                <a16:creationId xmlns:a16="http://schemas.microsoft.com/office/drawing/2014/main" id="{02904382-98A5-5D2A-7602-1FD4BC227681}"/>
              </a:ext>
            </a:extLst>
          </p:cNvPr>
          <p:cNvGrpSpPr>
            <a:grpSpLocks/>
          </p:cNvGrpSpPr>
          <p:nvPr/>
        </p:nvGrpSpPr>
        <p:grpSpPr bwMode="auto">
          <a:xfrm>
            <a:off x="1893039" y="2161769"/>
            <a:ext cx="7986713" cy="1092200"/>
            <a:chOff x="516" y="1489"/>
            <a:chExt cx="5031" cy="688"/>
          </a:xfrm>
        </p:grpSpPr>
        <p:grpSp>
          <p:nvGrpSpPr>
            <p:cNvPr id="21" name="Group 33">
              <a:extLst>
                <a:ext uri="{FF2B5EF4-FFF2-40B4-BE49-F238E27FC236}">
                  <a16:creationId xmlns:a16="http://schemas.microsoft.com/office/drawing/2014/main" id="{3B050133-B4AE-84B8-6462-FF5233E8D5A6}"/>
                </a:ext>
              </a:extLst>
            </p:cNvPr>
            <p:cNvGrpSpPr>
              <a:grpSpLocks/>
            </p:cNvGrpSpPr>
            <p:nvPr/>
          </p:nvGrpSpPr>
          <p:grpSpPr bwMode="auto">
            <a:xfrm>
              <a:off x="516" y="1489"/>
              <a:ext cx="5031" cy="688"/>
              <a:chOff x="422" y="806"/>
              <a:chExt cx="5031" cy="688"/>
            </a:xfrm>
          </p:grpSpPr>
          <p:sp>
            <p:nvSpPr>
              <p:cNvPr id="25" name="Rectangle 34">
                <a:extLst>
                  <a:ext uri="{FF2B5EF4-FFF2-40B4-BE49-F238E27FC236}">
                    <a16:creationId xmlns:a16="http://schemas.microsoft.com/office/drawing/2014/main" id="{003E2762-BD9A-FA47-385C-2CD0B62AA32C}"/>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26" name="Rectangle 35">
                <a:extLst>
                  <a:ext uri="{FF2B5EF4-FFF2-40B4-BE49-F238E27FC236}">
                    <a16:creationId xmlns:a16="http://schemas.microsoft.com/office/drawing/2014/main" id="{46CE5846-E0CB-4D43-E6DD-2A61B82EF571}"/>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50		50		</a:t>
                </a:r>
                <a:endParaRPr lang="en-US">
                  <a:latin typeface="Times New Roman" panose="02020603050405020304" pitchFamily="18" charset="0"/>
                  <a:cs typeface="Times New Roman" panose="02020603050405020304" pitchFamily="18" charset="0"/>
                </a:endParaRPr>
              </a:p>
            </p:txBody>
          </p:sp>
        </p:grpSp>
        <p:sp>
          <p:nvSpPr>
            <p:cNvPr id="22" name="Line 36">
              <a:extLst>
                <a:ext uri="{FF2B5EF4-FFF2-40B4-BE49-F238E27FC236}">
                  <a16:creationId xmlns:a16="http://schemas.microsoft.com/office/drawing/2014/main" id="{A76E259B-3C3B-621D-043E-9B119F4D49D1}"/>
                </a:ext>
              </a:extLst>
            </p:cNvPr>
            <p:cNvSpPr>
              <a:spLocks noChangeShapeType="1"/>
            </p:cNvSpPr>
            <p:nvPr/>
          </p:nvSpPr>
          <p:spPr bwMode="auto">
            <a:xfrm>
              <a:off x="527" y="195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3" name="Line 37">
              <a:extLst>
                <a:ext uri="{FF2B5EF4-FFF2-40B4-BE49-F238E27FC236}">
                  <a16:creationId xmlns:a16="http://schemas.microsoft.com/office/drawing/2014/main" id="{B5C23F42-5B37-1DC8-E790-E8C5B1C335FE}"/>
                </a:ext>
              </a:extLst>
            </p:cNvPr>
            <p:cNvSpPr>
              <a:spLocks noChangeShapeType="1"/>
            </p:cNvSpPr>
            <p:nvPr/>
          </p:nvSpPr>
          <p:spPr bwMode="auto">
            <a:xfrm>
              <a:off x="3025" y="1732"/>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4" name="Line 39">
              <a:extLst>
                <a:ext uri="{FF2B5EF4-FFF2-40B4-BE49-F238E27FC236}">
                  <a16:creationId xmlns:a16="http://schemas.microsoft.com/office/drawing/2014/main" id="{C71D9274-7BBB-DA18-D720-05949FEEF0A9}"/>
                </a:ext>
              </a:extLst>
            </p:cNvPr>
            <p:cNvSpPr>
              <a:spLocks noChangeShapeType="1"/>
            </p:cNvSpPr>
            <p:nvPr/>
          </p:nvSpPr>
          <p:spPr bwMode="auto">
            <a:xfrm>
              <a:off x="527" y="217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7" name="Group 43">
            <a:extLst>
              <a:ext uri="{FF2B5EF4-FFF2-40B4-BE49-F238E27FC236}">
                <a16:creationId xmlns:a16="http://schemas.microsoft.com/office/drawing/2014/main" id="{D684BAEC-2BE4-147B-E7AC-69CDA5446E47}"/>
              </a:ext>
            </a:extLst>
          </p:cNvPr>
          <p:cNvGrpSpPr>
            <a:grpSpLocks/>
          </p:cNvGrpSpPr>
          <p:nvPr/>
        </p:nvGrpSpPr>
        <p:grpSpPr bwMode="auto">
          <a:xfrm>
            <a:off x="1893039" y="3234919"/>
            <a:ext cx="7747000" cy="2638426"/>
            <a:chOff x="516" y="2165"/>
            <a:chExt cx="4880" cy="1662"/>
          </a:xfrm>
        </p:grpSpPr>
        <p:sp>
          <p:nvSpPr>
            <p:cNvPr id="28" name="Rectangle 6">
              <a:extLst>
                <a:ext uri="{FF2B5EF4-FFF2-40B4-BE49-F238E27FC236}">
                  <a16:creationId xmlns:a16="http://schemas.microsoft.com/office/drawing/2014/main" id="{BAD6EEC6-F17B-BB6F-1C11-CCA54B870E63}"/>
                </a:ext>
              </a:extLst>
            </p:cNvPr>
            <p:cNvSpPr>
              <a:spLocks noChangeArrowheads="1"/>
            </p:cNvSpPr>
            <p:nvPr/>
          </p:nvSpPr>
          <p:spPr bwMode="auto">
            <a:xfrm>
              <a:off x="521" y="2165"/>
              <a:ext cx="484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PRESSBOARD	LLC: 1			PERIOD</a:t>
              </a:r>
            </a:p>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MIN 100	LT: 1	</a:t>
              </a:r>
              <a:r>
                <a:rPr lang="en-US" sz="1800" i="1" dirty="0">
                  <a:latin typeface="Times New Roman" panose="02020603050405020304" pitchFamily="18" charset="0"/>
                  <a:cs typeface="Times New Roman" panose="02020603050405020304" pitchFamily="18" charset="0"/>
                </a:rPr>
                <a:t>1	2	3	4	5</a:t>
              </a:r>
            </a:p>
          </p:txBody>
        </p:sp>
        <p:sp>
          <p:nvSpPr>
            <p:cNvPr id="29" name="Rectangle 7">
              <a:extLst>
                <a:ext uri="{FF2B5EF4-FFF2-40B4-BE49-F238E27FC236}">
                  <a16:creationId xmlns:a16="http://schemas.microsoft.com/office/drawing/2014/main" id="{F5D129E8-6C35-4CE0-6DC7-656A04D7455D}"/>
                </a:ext>
              </a:extLst>
            </p:cNvPr>
            <p:cNvSpPr>
              <a:spLocks noChangeArrowheads="1"/>
            </p:cNvSpPr>
            <p:nvPr/>
          </p:nvSpPr>
          <p:spPr bwMode="auto">
            <a:xfrm>
              <a:off x="521" y="2606"/>
              <a:ext cx="4875" cy="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100	100	200	100	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150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sp>
          <p:nvSpPr>
            <p:cNvPr id="30" name="Line 8">
              <a:extLst>
                <a:ext uri="{FF2B5EF4-FFF2-40B4-BE49-F238E27FC236}">
                  <a16:creationId xmlns:a16="http://schemas.microsoft.com/office/drawing/2014/main" id="{E3ABBB86-9C55-4EC4-D14B-AC3F8DE1AFF9}"/>
                </a:ext>
              </a:extLst>
            </p:cNvPr>
            <p:cNvSpPr>
              <a:spLocks noChangeShapeType="1"/>
            </p:cNvSpPr>
            <p:nvPr/>
          </p:nvSpPr>
          <p:spPr bwMode="auto">
            <a:xfrm>
              <a:off x="516" y="2641"/>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1" name="Line 9">
              <a:extLst>
                <a:ext uri="{FF2B5EF4-FFF2-40B4-BE49-F238E27FC236}">
                  <a16:creationId xmlns:a16="http://schemas.microsoft.com/office/drawing/2014/main" id="{17449B67-E427-020B-4E07-60D41EB94744}"/>
                </a:ext>
              </a:extLst>
            </p:cNvPr>
            <p:cNvSpPr>
              <a:spLocks noChangeShapeType="1"/>
            </p:cNvSpPr>
            <p:nvPr/>
          </p:nvSpPr>
          <p:spPr bwMode="auto">
            <a:xfrm>
              <a:off x="3121" y="242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2" name="Line 10">
              <a:extLst>
                <a:ext uri="{FF2B5EF4-FFF2-40B4-BE49-F238E27FC236}">
                  <a16:creationId xmlns:a16="http://schemas.microsoft.com/office/drawing/2014/main" id="{420E9480-07C9-04E3-AACC-C171EBF5F2E5}"/>
                </a:ext>
              </a:extLst>
            </p:cNvPr>
            <p:cNvSpPr>
              <a:spLocks noChangeShapeType="1"/>
            </p:cNvSpPr>
            <p:nvPr/>
          </p:nvSpPr>
          <p:spPr bwMode="auto">
            <a:xfrm>
              <a:off x="516" y="3827"/>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33" name="Group 24">
            <a:extLst>
              <a:ext uri="{FF2B5EF4-FFF2-40B4-BE49-F238E27FC236}">
                <a16:creationId xmlns:a16="http://schemas.microsoft.com/office/drawing/2014/main" id="{CE0B4729-8D98-8D69-9977-DFF25546C8EE}"/>
              </a:ext>
            </a:extLst>
          </p:cNvPr>
          <p:cNvGrpSpPr>
            <a:grpSpLocks/>
          </p:cNvGrpSpPr>
          <p:nvPr/>
        </p:nvGrpSpPr>
        <p:grpSpPr bwMode="auto">
          <a:xfrm>
            <a:off x="1893039" y="1063219"/>
            <a:ext cx="7986713" cy="1116012"/>
            <a:chOff x="516" y="797"/>
            <a:chExt cx="5031" cy="703"/>
          </a:xfrm>
        </p:grpSpPr>
        <p:grpSp>
          <p:nvGrpSpPr>
            <p:cNvPr id="34" name="Group 25">
              <a:extLst>
                <a:ext uri="{FF2B5EF4-FFF2-40B4-BE49-F238E27FC236}">
                  <a16:creationId xmlns:a16="http://schemas.microsoft.com/office/drawing/2014/main" id="{E6CCD566-7D00-616F-00C9-446A578BBBDE}"/>
                </a:ext>
              </a:extLst>
            </p:cNvPr>
            <p:cNvGrpSpPr>
              <a:grpSpLocks/>
            </p:cNvGrpSpPr>
            <p:nvPr/>
          </p:nvGrpSpPr>
          <p:grpSpPr bwMode="auto">
            <a:xfrm>
              <a:off x="516" y="797"/>
              <a:ext cx="5031" cy="688"/>
              <a:chOff x="422" y="806"/>
              <a:chExt cx="5031" cy="688"/>
            </a:xfrm>
          </p:grpSpPr>
          <p:sp>
            <p:nvSpPr>
              <p:cNvPr id="38" name="Rectangle 26">
                <a:extLst>
                  <a:ext uri="{FF2B5EF4-FFF2-40B4-BE49-F238E27FC236}">
                    <a16:creationId xmlns:a16="http://schemas.microsoft.com/office/drawing/2014/main" id="{FF9A1130-FC66-EF74-EDCF-82A2A5B47EC6}"/>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39" name="Rectangle 27">
                <a:extLst>
                  <a:ext uri="{FF2B5EF4-FFF2-40B4-BE49-F238E27FC236}">
                    <a16:creationId xmlns:a16="http://schemas.microsoft.com/office/drawing/2014/main" id="{3E7AFFD5-6BED-646D-14D0-6CD52AAA8033}"/>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100	100	100	</a:t>
                </a:r>
                <a:endParaRPr lang="en-US">
                  <a:latin typeface="Times New Roman" panose="02020603050405020304" pitchFamily="18" charset="0"/>
                  <a:cs typeface="Times New Roman" panose="02020603050405020304" pitchFamily="18" charset="0"/>
                </a:endParaRPr>
              </a:p>
            </p:txBody>
          </p:sp>
        </p:grpSp>
        <p:sp>
          <p:nvSpPr>
            <p:cNvPr id="35" name="Line 28">
              <a:extLst>
                <a:ext uri="{FF2B5EF4-FFF2-40B4-BE49-F238E27FC236}">
                  <a16:creationId xmlns:a16="http://schemas.microsoft.com/office/drawing/2014/main" id="{E153808C-5DDD-5BA7-7632-24D2FC066B58}"/>
                </a:ext>
              </a:extLst>
            </p:cNvPr>
            <p:cNvSpPr>
              <a:spLocks noChangeShapeType="1"/>
            </p:cNvSpPr>
            <p:nvPr/>
          </p:nvSpPr>
          <p:spPr bwMode="auto">
            <a:xfrm>
              <a:off x="527" y="1262"/>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6" name="Line 29">
              <a:extLst>
                <a:ext uri="{FF2B5EF4-FFF2-40B4-BE49-F238E27FC236}">
                  <a16:creationId xmlns:a16="http://schemas.microsoft.com/office/drawing/2014/main" id="{6E37CE84-0886-7E9B-85D4-14A63FB747CD}"/>
                </a:ext>
              </a:extLst>
            </p:cNvPr>
            <p:cNvSpPr>
              <a:spLocks noChangeShapeType="1"/>
            </p:cNvSpPr>
            <p:nvPr/>
          </p:nvSpPr>
          <p:spPr bwMode="auto">
            <a:xfrm>
              <a:off x="3025" y="1040"/>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7" name="Line 30">
              <a:extLst>
                <a:ext uri="{FF2B5EF4-FFF2-40B4-BE49-F238E27FC236}">
                  <a16:creationId xmlns:a16="http://schemas.microsoft.com/office/drawing/2014/main" id="{755FB7AC-4418-A134-E59C-9B668AACD9D5}"/>
                </a:ext>
              </a:extLst>
            </p:cNvPr>
            <p:cNvSpPr>
              <a:spLocks noChangeShapeType="1"/>
            </p:cNvSpPr>
            <p:nvPr/>
          </p:nvSpPr>
          <p:spPr bwMode="auto">
            <a:xfrm>
              <a:off x="527" y="1500"/>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40" name="Group 31">
            <a:extLst>
              <a:ext uri="{FF2B5EF4-FFF2-40B4-BE49-F238E27FC236}">
                <a16:creationId xmlns:a16="http://schemas.microsoft.com/office/drawing/2014/main" id="{CCFEB2F1-D9D0-ED90-02DA-DB151B881CB1}"/>
              </a:ext>
            </a:extLst>
          </p:cNvPr>
          <p:cNvGrpSpPr>
            <a:grpSpLocks/>
          </p:cNvGrpSpPr>
          <p:nvPr/>
        </p:nvGrpSpPr>
        <p:grpSpPr bwMode="auto">
          <a:xfrm>
            <a:off x="1893039" y="2161769"/>
            <a:ext cx="7986713" cy="1092200"/>
            <a:chOff x="516" y="1489"/>
            <a:chExt cx="5031" cy="688"/>
          </a:xfrm>
        </p:grpSpPr>
        <p:grpSp>
          <p:nvGrpSpPr>
            <p:cNvPr id="41" name="Group 32">
              <a:extLst>
                <a:ext uri="{FF2B5EF4-FFF2-40B4-BE49-F238E27FC236}">
                  <a16:creationId xmlns:a16="http://schemas.microsoft.com/office/drawing/2014/main" id="{67A8E9FF-B8CC-4E7C-7D83-B148D0063CEB}"/>
                </a:ext>
              </a:extLst>
            </p:cNvPr>
            <p:cNvGrpSpPr>
              <a:grpSpLocks/>
            </p:cNvGrpSpPr>
            <p:nvPr/>
          </p:nvGrpSpPr>
          <p:grpSpPr bwMode="auto">
            <a:xfrm>
              <a:off x="516" y="1489"/>
              <a:ext cx="5031" cy="688"/>
              <a:chOff x="422" y="806"/>
              <a:chExt cx="5031" cy="688"/>
            </a:xfrm>
          </p:grpSpPr>
          <p:sp>
            <p:nvSpPr>
              <p:cNvPr id="45" name="Rectangle 33">
                <a:extLst>
                  <a:ext uri="{FF2B5EF4-FFF2-40B4-BE49-F238E27FC236}">
                    <a16:creationId xmlns:a16="http://schemas.microsoft.com/office/drawing/2014/main" id="{CB43D4B3-ED66-6010-3337-EC7BC8100487}"/>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46" name="Rectangle 34">
                <a:extLst>
                  <a:ext uri="{FF2B5EF4-FFF2-40B4-BE49-F238E27FC236}">
                    <a16:creationId xmlns:a16="http://schemas.microsoft.com/office/drawing/2014/main" id="{3269F355-7C90-0FDD-A834-2B9278C9844D}"/>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50		50		</a:t>
                </a:r>
                <a:endParaRPr lang="en-US">
                  <a:latin typeface="Times New Roman" panose="02020603050405020304" pitchFamily="18" charset="0"/>
                  <a:cs typeface="Times New Roman" panose="02020603050405020304" pitchFamily="18" charset="0"/>
                </a:endParaRPr>
              </a:p>
            </p:txBody>
          </p:sp>
        </p:grpSp>
        <p:sp>
          <p:nvSpPr>
            <p:cNvPr id="42" name="Line 35">
              <a:extLst>
                <a:ext uri="{FF2B5EF4-FFF2-40B4-BE49-F238E27FC236}">
                  <a16:creationId xmlns:a16="http://schemas.microsoft.com/office/drawing/2014/main" id="{6E449C75-2EBA-4DD5-60AB-11E001B37A73}"/>
                </a:ext>
              </a:extLst>
            </p:cNvPr>
            <p:cNvSpPr>
              <a:spLocks noChangeShapeType="1"/>
            </p:cNvSpPr>
            <p:nvPr/>
          </p:nvSpPr>
          <p:spPr bwMode="auto">
            <a:xfrm>
              <a:off x="527" y="195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3" name="Line 36">
              <a:extLst>
                <a:ext uri="{FF2B5EF4-FFF2-40B4-BE49-F238E27FC236}">
                  <a16:creationId xmlns:a16="http://schemas.microsoft.com/office/drawing/2014/main" id="{7636F3E6-1B66-D087-608D-0C9C08C95CE7}"/>
                </a:ext>
              </a:extLst>
            </p:cNvPr>
            <p:cNvSpPr>
              <a:spLocks noChangeShapeType="1"/>
            </p:cNvSpPr>
            <p:nvPr/>
          </p:nvSpPr>
          <p:spPr bwMode="auto">
            <a:xfrm>
              <a:off x="3025" y="1732"/>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4" name="Line 37">
              <a:extLst>
                <a:ext uri="{FF2B5EF4-FFF2-40B4-BE49-F238E27FC236}">
                  <a16:creationId xmlns:a16="http://schemas.microsoft.com/office/drawing/2014/main" id="{014A4076-8560-C42E-F032-C547FC936F5F}"/>
                </a:ext>
              </a:extLst>
            </p:cNvPr>
            <p:cNvSpPr>
              <a:spLocks noChangeShapeType="1"/>
            </p:cNvSpPr>
            <p:nvPr/>
          </p:nvSpPr>
          <p:spPr bwMode="auto">
            <a:xfrm>
              <a:off x="527" y="217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47" name="Group 50">
            <a:extLst>
              <a:ext uri="{FF2B5EF4-FFF2-40B4-BE49-F238E27FC236}">
                <a16:creationId xmlns:a16="http://schemas.microsoft.com/office/drawing/2014/main" id="{9A82A228-D3A5-D6AB-451D-8921D85F8E35}"/>
              </a:ext>
            </a:extLst>
          </p:cNvPr>
          <p:cNvGrpSpPr>
            <a:grpSpLocks/>
          </p:cNvGrpSpPr>
          <p:nvPr/>
        </p:nvGrpSpPr>
        <p:grpSpPr bwMode="auto">
          <a:xfrm>
            <a:off x="5634778" y="2090331"/>
            <a:ext cx="3689350" cy="2025650"/>
            <a:chOff x="2873" y="1444"/>
            <a:chExt cx="2324" cy="1276"/>
          </a:xfrm>
        </p:grpSpPr>
        <p:grpSp>
          <p:nvGrpSpPr>
            <p:cNvPr id="48" name="Group 44">
              <a:extLst>
                <a:ext uri="{FF2B5EF4-FFF2-40B4-BE49-F238E27FC236}">
                  <a16:creationId xmlns:a16="http://schemas.microsoft.com/office/drawing/2014/main" id="{6123019C-49C2-9BB6-786F-9C0B41E320F0}"/>
                </a:ext>
              </a:extLst>
            </p:cNvPr>
            <p:cNvGrpSpPr>
              <a:grpSpLocks/>
            </p:cNvGrpSpPr>
            <p:nvPr/>
          </p:nvGrpSpPr>
          <p:grpSpPr bwMode="auto">
            <a:xfrm>
              <a:off x="2873" y="1444"/>
              <a:ext cx="2180" cy="1276"/>
              <a:chOff x="2873" y="1444"/>
              <a:chExt cx="2180" cy="1276"/>
            </a:xfrm>
          </p:grpSpPr>
          <p:sp>
            <p:nvSpPr>
              <p:cNvPr id="54" name="Freeform 38">
                <a:extLst>
                  <a:ext uri="{FF2B5EF4-FFF2-40B4-BE49-F238E27FC236}">
                    <a16:creationId xmlns:a16="http://schemas.microsoft.com/office/drawing/2014/main" id="{33944D7A-4981-AD57-9F38-50B70073DE57}"/>
                  </a:ext>
                </a:extLst>
              </p:cNvPr>
              <p:cNvSpPr>
                <a:spLocks/>
              </p:cNvSpPr>
              <p:nvPr/>
            </p:nvSpPr>
            <p:spPr bwMode="auto">
              <a:xfrm>
                <a:off x="2873" y="2053"/>
                <a:ext cx="256" cy="667"/>
              </a:xfrm>
              <a:custGeom>
                <a:avLst/>
                <a:gdLst>
                  <a:gd name="T0" fmla="*/ 256 w 256"/>
                  <a:gd name="T1" fmla="*/ 0 h 667"/>
                  <a:gd name="T2" fmla="*/ 38 w 256"/>
                  <a:gd name="T3" fmla="*/ 183 h 667"/>
                  <a:gd name="T4" fmla="*/ 30 w 256"/>
                  <a:gd name="T5" fmla="*/ 447 h 667"/>
                  <a:gd name="T6" fmla="*/ 214 w 256"/>
                  <a:gd name="T7" fmla="*/ 667 h 667"/>
                </a:gdLst>
                <a:ahLst/>
                <a:cxnLst>
                  <a:cxn ang="0">
                    <a:pos x="T0" y="T1"/>
                  </a:cxn>
                  <a:cxn ang="0">
                    <a:pos x="T2" y="T3"/>
                  </a:cxn>
                  <a:cxn ang="0">
                    <a:pos x="T4" y="T5"/>
                  </a:cxn>
                  <a:cxn ang="0">
                    <a:pos x="T6" y="T7"/>
                  </a:cxn>
                </a:cxnLst>
                <a:rect l="0" t="0" r="r" b="b"/>
                <a:pathLst>
                  <a:path w="256" h="667">
                    <a:moveTo>
                      <a:pt x="256" y="0"/>
                    </a:moveTo>
                    <a:cubicBezTo>
                      <a:pt x="220" y="31"/>
                      <a:pt x="76" y="109"/>
                      <a:pt x="38" y="183"/>
                    </a:cubicBezTo>
                    <a:cubicBezTo>
                      <a:pt x="0" y="257"/>
                      <a:pt x="1" y="366"/>
                      <a:pt x="30" y="447"/>
                    </a:cubicBezTo>
                    <a:cubicBezTo>
                      <a:pt x="59" y="528"/>
                      <a:pt x="176" y="621"/>
                      <a:pt x="214" y="667"/>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5" name="Freeform 39">
                <a:extLst>
                  <a:ext uri="{FF2B5EF4-FFF2-40B4-BE49-F238E27FC236}">
                    <a16:creationId xmlns:a16="http://schemas.microsoft.com/office/drawing/2014/main" id="{F8CE006F-5CB0-4DB5-47B1-7F512133E763}"/>
                  </a:ext>
                </a:extLst>
              </p:cNvPr>
              <p:cNvSpPr>
                <a:spLocks/>
              </p:cNvSpPr>
              <p:nvPr/>
            </p:nvSpPr>
            <p:spPr bwMode="auto">
              <a:xfrm>
                <a:off x="3350" y="1444"/>
                <a:ext cx="222" cy="1276"/>
              </a:xfrm>
              <a:custGeom>
                <a:avLst/>
                <a:gdLst>
                  <a:gd name="T0" fmla="*/ 214 w 222"/>
                  <a:gd name="T1" fmla="*/ 0 h 1276"/>
                  <a:gd name="T2" fmla="*/ 74 w 222"/>
                  <a:gd name="T3" fmla="*/ 280 h 1276"/>
                  <a:gd name="T4" fmla="*/ 2 w 222"/>
                  <a:gd name="T5" fmla="*/ 628 h 1276"/>
                  <a:gd name="T6" fmla="*/ 62 w 222"/>
                  <a:gd name="T7" fmla="*/ 988 h 1276"/>
                  <a:gd name="T8" fmla="*/ 222 w 222"/>
                  <a:gd name="T9" fmla="*/ 1276 h 1276"/>
                </a:gdLst>
                <a:ahLst/>
                <a:cxnLst>
                  <a:cxn ang="0">
                    <a:pos x="T0" y="T1"/>
                  </a:cxn>
                  <a:cxn ang="0">
                    <a:pos x="T2" y="T3"/>
                  </a:cxn>
                  <a:cxn ang="0">
                    <a:pos x="T4" y="T5"/>
                  </a:cxn>
                  <a:cxn ang="0">
                    <a:pos x="T6" y="T7"/>
                  </a:cxn>
                  <a:cxn ang="0">
                    <a:pos x="T8" y="T9"/>
                  </a:cxn>
                </a:cxnLst>
                <a:rect l="0" t="0" r="r" b="b"/>
                <a:pathLst>
                  <a:path w="222" h="1276">
                    <a:moveTo>
                      <a:pt x="214" y="0"/>
                    </a:moveTo>
                    <a:cubicBezTo>
                      <a:pt x="161" y="87"/>
                      <a:pt x="109" y="175"/>
                      <a:pt x="74" y="280"/>
                    </a:cubicBezTo>
                    <a:cubicBezTo>
                      <a:pt x="39" y="385"/>
                      <a:pt x="4" y="510"/>
                      <a:pt x="2" y="628"/>
                    </a:cubicBezTo>
                    <a:cubicBezTo>
                      <a:pt x="0" y="746"/>
                      <a:pt x="25" y="880"/>
                      <a:pt x="62" y="988"/>
                    </a:cubicBezTo>
                    <a:cubicBezTo>
                      <a:pt x="99" y="1096"/>
                      <a:pt x="160" y="1186"/>
                      <a:pt x="222" y="1276"/>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6" name="Freeform 40">
                <a:extLst>
                  <a:ext uri="{FF2B5EF4-FFF2-40B4-BE49-F238E27FC236}">
                    <a16:creationId xmlns:a16="http://schemas.microsoft.com/office/drawing/2014/main" id="{9648C96B-CB95-E4DD-6668-06A7F40D12A8}"/>
                  </a:ext>
                </a:extLst>
              </p:cNvPr>
              <p:cNvSpPr>
                <a:spLocks/>
              </p:cNvSpPr>
              <p:nvPr/>
            </p:nvSpPr>
            <p:spPr bwMode="auto">
              <a:xfrm flipH="1">
                <a:off x="4335" y="1444"/>
                <a:ext cx="222" cy="1276"/>
              </a:xfrm>
              <a:custGeom>
                <a:avLst/>
                <a:gdLst>
                  <a:gd name="T0" fmla="*/ 214 w 222"/>
                  <a:gd name="T1" fmla="*/ 0 h 1276"/>
                  <a:gd name="T2" fmla="*/ 74 w 222"/>
                  <a:gd name="T3" fmla="*/ 280 h 1276"/>
                  <a:gd name="T4" fmla="*/ 2 w 222"/>
                  <a:gd name="T5" fmla="*/ 628 h 1276"/>
                  <a:gd name="T6" fmla="*/ 62 w 222"/>
                  <a:gd name="T7" fmla="*/ 988 h 1276"/>
                  <a:gd name="T8" fmla="*/ 222 w 222"/>
                  <a:gd name="T9" fmla="*/ 1276 h 1276"/>
                </a:gdLst>
                <a:ahLst/>
                <a:cxnLst>
                  <a:cxn ang="0">
                    <a:pos x="T0" y="T1"/>
                  </a:cxn>
                  <a:cxn ang="0">
                    <a:pos x="T2" y="T3"/>
                  </a:cxn>
                  <a:cxn ang="0">
                    <a:pos x="T4" y="T5"/>
                  </a:cxn>
                  <a:cxn ang="0">
                    <a:pos x="T6" y="T7"/>
                  </a:cxn>
                  <a:cxn ang="0">
                    <a:pos x="T8" y="T9"/>
                  </a:cxn>
                </a:cxnLst>
                <a:rect l="0" t="0" r="r" b="b"/>
                <a:pathLst>
                  <a:path w="222" h="1276">
                    <a:moveTo>
                      <a:pt x="214" y="0"/>
                    </a:moveTo>
                    <a:cubicBezTo>
                      <a:pt x="161" y="87"/>
                      <a:pt x="109" y="175"/>
                      <a:pt x="74" y="280"/>
                    </a:cubicBezTo>
                    <a:cubicBezTo>
                      <a:pt x="39" y="385"/>
                      <a:pt x="4" y="510"/>
                      <a:pt x="2" y="628"/>
                    </a:cubicBezTo>
                    <a:cubicBezTo>
                      <a:pt x="0" y="746"/>
                      <a:pt x="25" y="880"/>
                      <a:pt x="62" y="988"/>
                    </a:cubicBezTo>
                    <a:cubicBezTo>
                      <a:pt x="99" y="1096"/>
                      <a:pt x="160" y="1186"/>
                      <a:pt x="222" y="1276"/>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7" name="Freeform 41">
                <a:extLst>
                  <a:ext uri="{FF2B5EF4-FFF2-40B4-BE49-F238E27FC236}">
                    <a16:creationId xmlns:a16="http://schemas.microsoft.com/office/drawing/2014/main" id="{735910F0-7EFC-5659-E65F-4A4A1709337D}"/>
                  </a:ext>
                </a:extLst>
              </p:cNvPr>
              <p:cNvSpPr>
                <a:spLocks/>
              </p:cNvSpPr>
              <p:nvPr/>
            </p:nvSpPr>
            <p:spPr bwMode="auto">
              <a:xfrm flipH="1">
                <a:off x="4831" y="1444"/>
                <a:ext cx="222" cy="1276"/>
              </a:xfrm>
              <a:custGeom>
                <a:avLst/>
                <a:gdLst>
                  <a:gd name="T0" fmla="*/ 214 w 222"/>
                  <a:gd name="T1" fmla="*/ 0 h 1276"/>
                  <a:gd name="T2" fmla="*/ 74 w 222"/>
                  <a:gd name="T3" fmla="*/ 280 h 1276"/>
                  <a:gd name="T4" fmla="*/ 2 w 222"/>
                  <a:gd name="T5" fmla="*/ 628 h 1276"/>
                  <a:gd name="T6" fmla="*/ 62 w 222"/>
                  <a:gd name="T7" fmla="*/ 988 h 1276"/>
                  <a:gd name="T8" fmla="*/ 222 w 222"/>
                  <a:gd name="T9" fmla="*/ 1276 h 1276"/>
                </a:gdLst>
                <a:ahLst/>
                <a:cxnLst>
                  <a:cxn ang="0">
                    <a:pos x="T0" y="T1"/>
                  </a:cxn>
                  <a:cxn ang="0">
                    <a:pos x="T2" y="T3"/>
                  </a:cxn>
                  <a:cxn ang="0">
                    <a:pos x="T4" y="T5"/>
                  </a:cxn>
                  <a:cxn ang="0">
                    <a:pos x="T6" y="T7"/>
                  </a:cxn>
                  <a:cxn ang="0">
                    <a:pos x="T8" y="T9"/>
                  </a:cxn>
                </a:cxnLst>
                <a:rect l="0" t="0" r="r" b="b"/>
                <a:pathLst>
                  <a:path w="222" h="1276">
                    <a:moveTo>
                      <a:pt x="214" y="0"/>
                    </a:moveTo>
                    <a:cubicBezTo>
                      <a:pt x="161" y="87"/>
                      <a:pt x="109" y="175"/>
                      <a:pt x="74" y="280"/>
                    </a:cubicBezTo>
                    <a:cubicBezTo>
                      <a:pt x="39" y="385"/>
                      <a:pt x="4" y="510"/>
                      <a:pt x="2" y="628"/>
                    </a:cubicBezTo>
                    <a:cubicBezTo>
                      <a:pt x="0" y="746"/>
                      <a:pt x="25" y="880"/>
                      <a:pt x="62" y="988"/>
                    </a:cubicBezTo>
                    <a:cubicBezTo>
                      <a:pt x="99" y="1096"/>
                      <a:pt x="160" y="1186"/>
                      <a:pt x="222" y="1276"/>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8" name="Freeform 42">
                <a:extLst>
                  <a:ext uri="{FF2B5EF4-FFF2-40B4-BE49-F238E27FC236}">
                    <a16:creationId xmlns:a16="http://schemas.microsoft.com/office/drawing/2014/main" id="{60E4E29E-82B5-5680-7B02-94A021815845}"/>
                  </a:ext>
                </a:extLst>
              </p:cNvPr>
              <p:cNvSpPr>
                <a:spLocks/>
              </p:cNvSpPr>
              <p:nvPr/>
            </p:nvSpPr>
            <p:spPr bwMode="auto">
              <a:xfrm>
                <a:off x="3803" y="2053"/>
                <a:ext cx="256" cy="667"/>
              </a:xfrm>
              <a:custGeom>
                <a:avLst/>
                <a:gdLst>
                  <a:gd name="T0" fmla="*/ 256 w 256"/>
                  <a:gd name="T1" fmla="*/ 0 h 667"/>
                  <a:gd name="T2" fmla="*/ 38 w 256"/>
                  <a:gd name="T3" fmla="*/ 183 h 667"/>
                  <a:gd name="T4" fmla="*/ 30 w 256"/>
                  <a:gd name="T5" fmla="*/ 447 h 667"/>
                  <a:gd name="T6" fmla="*/ 214 w 256"/>
                  <a:gd name="T7" fmla="*/ 667 h 667"/>
                </a:gdLst>
                <a:ahLst/>
                <a:cxnLst>
                  <a:cxn ang="0">
                    <a:pos x="T0" y="T1"/>
                  </a:cxn>
                  <a:cxn ang="0">
                    <a:pos x="T2" y="T3"/>
                  </a:cxn>
                  <a:cxn ang="0">
                    <a:pos x="T4" y="T5"/>
                  </a:cxn>
                  <a:cxn ang="0">
                    <a:pos x="T6" y="T7"/>
                  </a:cxn>
                </a:cxnLst>
                <a:rect l="0" t="0" r="r" b="b"/>
                <a:pathLst>
                  <a:path w="256" h="667">
                    <a:moveTo>
                      <a:pt x="256" y="0"/>
                    </a:moveTo>
                    <a:cubicBezTo>
                      <a:pt x="220" y="31"/>
                      <a:pt x="76" y="109"/>
                      <a:pt x="38" y="183"/>
                    </a:cubicBezTo>
                    <a:cubicBezTo>
                      <a:pt x="0" y="257"/>
                      <a:pt x="1" y="366"/>
                      <a:pt x="30" y="447"/>
                    </a:cubicBezTo>
                    <a:cubicBezTo>
                      <a:pt x="59" y="528"/>
                      <a:pt x="176" y="621"/>
                      <a:pt x="214" y="667"/>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49" name="Rectangle 45">
              <a:extLst>
                <a:ext uri="{FF2B5EF4-FFF2-40B4-BE49-F238E27FC236}">
                  <a16:creationId xmlns:a16="http://schemas.microsoft.com/office/drawing/2014/main" id="{01701F11-5F57-5035-DA31-75C7E0FCF45F}"/>
                </a:ext>
              </a:extLst>
            </p:cNvPr>
            <p:cNvSpPr>
              <a:spLocks noChangeArrowheads="1"/>
            </p:cNvSpPr>
            <p:nvPr/>
          </p:nvSpPr>
          <p:spPr bwMode="auto">
            <a:xfrm>
              <a:off x="2879" y="2134"/>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x2</a:t>
              </a:r>
            </a:p>
          </p:txBody>
        </p:sp>
        <p:sp>
          <p:nvSpPr>
            <p:cNvPr id="50" name="Rectangle 46">
              <a:extLst>
                <a:ext uri="{FF2B5EF4-FFF2-40B4-BE49-F238E27FC236}">
                  <a16:creationId xmlns:a16="http://schemas.microsoft.com/office/drawing/2014/main" id="{2E79F382-E2F2-8A38-256F-90FEEE68E286}"/>
                </a:ext>
              </a:extLst>
            </p:cNvPr>
            <p:cNvSpPr>
              <a:spLocks noChangeArrowheads="1"/>
            </p:cNvSpPr>
            <p:nvPr/>
          </p:nvSpPr>
          <p:spPr bwMode="auto">
            <a:xfrm>
              <a:off x="3481" y="2132"/>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x2</a:t>
              </a:r>
            </a:p>
          </p:txBody>
        </p:sp>
        <p:sp>
          <p:nvSpPr>
            <p:cNvPr id="51" name="Rectangle 47">
              <a:extLst>
                <a:ext uri="{FF2B5EF4-FFF2-40B4-BE49-F238E27FC236}">
                  <a16:creationId xmlns:a16="http://schemas.microsoft.com/office/drawing/2014/main" id="{A3EACDE9-C453-7FBE-4C0A-BDC5804018AF}"/>
                </a:ext>
              </a:extLst>
            </p:cNvPr>
            <p:cNvSpPr>
              <a:spLocks noChangeArrowheads="1"/>
            </p:cNvSpPr>
            <p:nvPr/>
          </p:nvSpPr>
          <p:spPr bwMode="auto">
            <a:xfrm>
              <a:off x="3126" y="1447"/>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x1</a:t>
              </a:r>
            </a:p>
          </p:txBody>
        </p:sp>
        <p:sp>
          <p:nvSpPr>
            <p:cNvPr id="52" name="Rectangle 48">
              <a:extLst>
                <a:ext uri="{FF2B5EF4-FFF2-40B4-BE49-F238E27FC236}">
                  <a16:creationId xmlns:a16="http://schemas.microsoft.com/office/drawing/2014/main" id="{01264FF3-8FB1-4A51-D85A-C54EDCAB36E8}"/>
                </a:ext>
              </a:extLst>
            </p:cNvPr>
            <p:cNvSpPr>
              <a:spLocks noChangeArrowheads="1"/>
            </p:cNvSpPr>
            <p:nvPr/>
          </p:nvSpPr>
          <p:spPr bwMode="auto">
            <a:xfrm>
              <a:off x="4974" y="1454"/>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x1</a:t>
              </a:r>
            </a:p>
          </p:txBody>
        </p:sp>
        <p:sp>
          <p:nvSpPr>
            <p:cNvPr id="53" name="Rectangle 49">
              <a:extLst>
                <a:ext uri="{FF2B5EF4-FFF2-40B4-BE49-F238E27FC236}">
                  <a16:creationId xmlns:a16="http://schemas.microsoft.com/office/drawing/2014/main" id="{18E7A053-5126-2495-709E-12AF40A74BFA}"/>
                </a:ext>
              </a:extLst>
            </p:cNvPr>
            <p:cNvSpPr>
              <a:spLocks noChangeArrowheads="1"/>
            </p:cNvSpPr>
            <p:nvPr/>
          </p:nvSpPr>
          <p:spPr bwMode="auto">
            <a:xfrm>
              <a:off x="4465" y="1453"/>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x1</a:t>
              </a:r>
            </a:p>
          </p:txBody>
        </p:sp>
      </p:grpSp>
    </p:spTree>
    <p:extLst>
      <p:ext uri="{BB962C8B-B14F-4D97-AF65-F5344CB8AC3E}">
        <p14:creationId xmlns:p14="http://schemas.microsoft.com/office/powerpoint/2010/main" val="32281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strips(downRigh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B34E-E20F-6C22-53E9-B54BCC37E434}"/>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25B14E9F-4ADC-6E74-8999-DCDADD1A77C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8DA5963D-0663-DB7D-A63F-EF174D4BB4C7}"/>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A932C11-F6B4-97D3-083D-1FCBAE017C70}"/>
              </a:ext>
            </a:extLst>
          </p:cNvPr>
          <p:cNvSpPr>
            <a:spLocks noGrp="1"/>
          </p:cNvSpPr>
          <p:nvPr>
            <p:ph type="sldNum" idx="12"/>
          </p:nvPr>
        </p:nvSpPr>
        <p:spPr/>
        <p:txBody>
          <a:bodyPr/>
          <a:lstStyle/>
          <a:p>
            <a:fld id="{00000000-1234-1234-1234-123412341234}" type="slidenum">
              <a:rPr lang="en-US" smtClean="0"/>
              <a:pPr/>
              <a:t>34</a:t>
            </a:fld>
            <a:endParaRPr lang="en-US" dirty="0"/>
          </a:p>
        </p:txBody>
      </p:sp>
      <p:grpSp>
        <p:nvGrpSpPr>
          <p:cNvPr id="7" name="Group 5">
            <a:extLst>
              <a:ext uri="{FF2B5EF4-FFF2-40B4-BE49-F238E27FC236}">
                <a16:creationId xmlns:a16="http://schemas.microsoft.com/office/drawing/2014/main" id="{96CB105B-38BF-E8CB-117A-CB5197AC6E0E}"/>
              </a:ext>
            </a:extLst>
          </p:cNvPr>
          <p:cNvGrpSpPr>
            <a:grpSpLocks/>
          </p:cNvGrpSpPr>
          <p:nvPr/>
        </p:nvGrpSpPr>
        <p:grpSpPr bwMode="auto">
          <a:xfrm>
            <a:off x="1882414" y="3239679"/>
            <a:ext cx="7747000" cy="2633663"/>
            <a:chOff x="498" y="1279"/>
            <a:chExt cx="4880" cy="1659"/>
          </a:xfrm>
        </p:grpSpPr>
        <p:sp>
          <p:nvSpPr>
            <p:cNvPr id="8" name="Rectangle 6">
              <a:extLst>
                <a:ext uri="{FF2B5EF4-FFF2-40B4-BE49-F238E27FC236}">
                  <a16:creationId xmlns:a16="http://schemas.microsoft.com/office/drawing/2014/main" id="{1CE10057-4AE0-83B2-AB1A-D6B135BE734F}"/>
                </a:ext>
              </a:extLst>
            </p:cNvPr>
            <p:cNvSpPr>
              <a:spLocks noChangeArrowheads="1"/>
            </p:cNvSpPr>
            <p:nvPr/>
          </p:nvSpPr>
          <p:spPr bwMode="auto">
            <a:xfrm>
              <a:off x="503" y="1279"/>
              <a:ext cx="484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PRESSBOARD	LLC: 1			PERIOD</a:t>
              </a:r>
            </a:p>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MIN 100	LT: 1	</a:t>
              </a:r>
              <a:r>
                <a:rPr lang="en-US" sz="1800" i="1" dirty="0">
                  <a:latin typeface="Times New Roman" panose="02020603050405020304" pitchFamily="18" charset="0"/>
                  <a:cs typeface="Times New Roman" panose="02020603050405020304" pitchFamily="18" charset="0"/>
                </a:rPr>
                <a:t>1	2	3	4	5</a:t>
              </a:r>
            </a:p>
          </p:txBody>
        </p:sp>
        <p:sp>
          <p:nvSpPr>
            <p:cNvPr id="9" name="Rectangle 7">
              <a:extLst>
                <a:ext uri="{FF2B5EF4-FFF2-40B4-BE49-F238E27FC236}">
                  <a16:creationId xmlns:a16="http://schemas.microsoft.com/office/drawing/2014/main" id="{B092DE07-E309-59AE-F26E-B5AC2DB0B256}"/>
                </a:ext>
              </a:extLst>
            </p:cNvPr>
            <p:cNvSpPr>
              <a:spLocks noChangeArrowheads="1"/>
            </p:cNvSpPr>
            <p:nvPr/>
          </p:nvSpPr>
          <p:spPr bwMode="auto">
            <a:xfrm>
              <a:off x="503" y="1717"/>
              <a:ext cx="4875" cy="121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100	100	200	100	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150	50	50	0	0	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50	150	100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100	150	100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100	150	100	</a:t>
              </a:r>
            </a:p>
          </p:txBody>
        </p:sp>
        <p:sp>
          <p:nvSpPr>
            <p:cNvPr id="10" name="Line 8">
              <a:extLst>
                <a:ext uri="{FF2B5EF4-FFF2-40B4-BE49-F238E27FC236}">
                  <a16:creationId xmlns:a16="http://schemas.microsoft.com/office/drawing/2014/main" id="{10FC33FB-342B-A8C5-F5F6-F9C1A1E890BE}"/>
                </a:ext>
              </a:extLst>
            </p:cNvPr>
            <p:cNvSpPr>
              <a:spLocks noChangeShapeType="1"/>
            </p:cNvSpPr>
            <p:nvPr/>
          </p:nvSpPr>
          <p:spPr bwMode="auto">
            <a:xfrm>
              <a:off x="498" y="1752"/>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9">
              <a:extLst>
                <a:ext uri="{FF2B5EF4-FFF2-40B4-BE49-F238E27FC236}">
                  <a16:creationId xmlns:a16="http://schemas.microsoft.com/office/drawing/2014/main" id="{22D7BEE5-8AD1-C304-907D-29EDB38940BF}"/>
                </a:ext>
              </a:extLst>
            </p:cNvPr>
            <p:cNvSpPr>
              <a:spLocks noChangeShapeType="1"/>
            </p:cNvSpPr>
            <p:nvPr/>
          </p:nvSpPr>
          <p:spPr bwMode="auto">
            <a:xfrm>
              <a:off x="3103" y="1538"/>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10">
              <a:extLst>
                <a:ext uri="{FF2B5EF4-FFF2-40B4-BE49-F238E27FC236}">
                  <a16:creationId xmlns:a16="http://schemas.microsoft.com/office/drawing/2014/main" id="{1BC41A65-C1D1-F527-C6F0-A4C532CF60EC}"/>
                </a:ext>
              </a:extLst>
            </p:cNvPr>
            <p:cNvSpPr>
              <a:spLocks noChangeShapeType="1"/>
            </p:cNvSpPr>
            <p:nvPr/>
          </p:nvSpPr>
          <p:spPr bwMode="auto">
            <a:xfrm>
              <a:off x="498" y="293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nvGrpSpPr>
            <p:cNvPr id="13" name="Group 11">
              <a:extLst>
                <a:ext uri="{FF2B5EF4-FFF2-40B4-BE49-F238E27FC236}">
                  <a16:creationId xmlns:a16="http://schemas.microsoft.com/office/drawing/2014/main" id="{09ACC119-DB12-F8BD-C842-86353848DE1A}"/>
                </a:ext>
              </a:extLst>
            </p:cNvPr>
            <p:cNvGrpSpPr>
              <a:grpSpLocks/>
            </p:cNvGrpSpPr>
            <p:nvPr/>
          </p:nvGrpSpPr>
          <p:grpSpPr bwMode="auto">
            <a:xfrm>
              <a:off x="2997" y="2500"/>
              <a:ext cx="1843" cy="406"/>
              <a:chOff x="2997" y="2491"/>
              <a:chExt cx="1843" cy="433"/>
            </a:xfrm>
          </p:grpSpPr>
          <p:grpSp>
            <p:nvGrpSpPr>
              <p:cNvPr id="14" name="Group 12">
                <a:extLst>
                  <a:ext uri="{FF2B5EF4-FFF2-40B4-BE49-F238E27FC236}">
                    <a16:creationId xmlns:a16="http://schemas.microsoft.com/office/drawing/2014/main" id="{D664DB75-42B8-0139-5248-CD8E92A8F072}"/>
                  </a:ext>
                </a:extLst>
              </p:cNvPr>
              <p:cNvGrpSpPr>
                <a:grpSpLocks/>
              </p:cNvGrpSpPr>
              <p:nvPr/>
            </p:nvGrpSpPr>
            <p:grpSpPr bwMode="auto">
              <a:xfrm>
                <a:off x="2997" y="2493"/>
                <a:ext cx="867" cy="431"/>
                <a:chOff x="3015" y="2673"/>
                <a:chExt cx="867" cy="431"/>
              </a:xfrm>
            </p:grpSpPr>
            <p:sp>
              <p:nvSpPr>
                <p:cNvPr id="23" name="Freeform 13">
                  <a:extLst>
                    <a:ext uri="{FF2B5EF4-FFF2-40B4-BE49-F238E27FC236}">
                      <a16:creationId xmlns:a16="http://schemas.microsoft.com/office/drawing/2014/main" id="{A9F58AAC-7F15-F9BA-CD75-4EF27FE00691}"/>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4" name="Freeform 14">
                  <a:extLst>
                    <a:ext uri="{FF2B5EF4-FFF2-40B4-BE49-F238E27FC236}">
                      <a16:creationId xmlns:a16="http://schemas.microsoft.com/office/drawing/2014/main" id="{2E59C508-DC35-7FE4-DCD5-5BEC9FE942AB}"/>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5" name="Line 15">
                  <a:extLst>
                    <a:ext uri="{FF2B5EF4-FFF2-40B4-BE49-F238E27FC236}">
                      <a16:creationId xmlns:a16="http://schemas.microsoft.com/office/drawing/2014/main" id="{E7FA0492-D7A0-3CE2-612F-9214956BBADD}"/>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5" name="Group 16">
                <a:extLst>
                  <a:ext uri="{FF2B5EF4-FFF2-40B4-BE49-F238E27FC236}">
                    <a16:creationId xmlns:a16="http://schemas.microsoft.com/office/drawing/2014/main" id="{41D82E21-5630-7AA0-3A68-577D1C0D4AD1}"/>
                  </a:ext>
                </a:extLst>
              </p:cNvPr>
              <p:cNvGrpSpPr>
                <a:grpSpLocks/>
              </p:cNvGrpSpPr>
              <p:nvPr/>
            </p:nvGrpSpPr>
            <p:grpSpPr bwMode="auto">
              <a:xfrm>
                <a:off x="3973" y="2492"/>
                <a:ext cx="867" cy="431"/>
                <a:chOff x="3015" y="2673"/>
                <a:chExt cx="867" cy="431"/>
              </a:xfrm>
            </p:grpSpPr>
            <p:sp>
              <p:nvSpPr>
                <p:cNvPr id="20" name="Freeform 17">
                  <a:extLst>
                    <a:ext uri="{FF2B5EF4-FFF2-40B4-BE49-F238E27FC236}">
                      <a16:creationId xmlns:a16="http://schemas.microsoft.com/office/drawing/2014/main" id="{0DA2D024-B87A-9835-64A1-96DAA6B03E83}"/>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1" name="Freeform 18">
                  <a:extLst>
                    <a:ext uri="{FF2B5EF4-FFF2-40B4-BE49-F238E27FC236}">
                      <a16:creationId xmlns:a16="http://schemas.microsoft.com/office/drawing/2014/main" id="{A6B3CF43-B0CE-F9CC-C296-48C879C5D009}"/>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2" name="Line 19">
                  <a:extLst>
                    <a:ext uri="{FF2B5EF4-FFF2-40B4-BE49-F238E27FC236}">
                      <a16:creationId xmlns:a16="http://schemas.microsoft.com/office/drawing/2014/main" id="{B7E04FAD-78C7-0C3F-D440-88C650AEF510}"/>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6" name="Group 20">
                <a:extLst>
                  <a:ext uri="{FF2B5EF4-FFF2-40B4-BE49-F238E27FC236}">
                    <a16:creationId xmlns:a16="http://schemas.microsoft.com/office/drawing/2014/main" id="{2AAA72FB-5763-F191-91E3-35C85BE289B8}"/>
                  </a:ext>
                </a:extLst>
              </p:cNvPr>
              <p:cNvGrpSpPr>
                <a:grpSpLocks/>
              </p:cNvGrpSpPr>
              <p:nvPr/>
            </p:nvGrpSpPr>
            <p:grpSpPr bwMode="auto">
              <a:xfrm>
                <a:off x="3473" y="2491"/>
                <a:ext cx="867" cy="431"/>
                <a:chOff x="3015" y="2673"/>
                <a:chExt cx="867" cy="431"/>
              </a:xfrm>
            </p:grpSpPr>
            <p:sp>
              <p:nvSpPr>
                <p:cNvPr id="17" name="Freeform 21">
                  <a:extLst>
                    <a:ext uri="{FF2B5EF4-FFF2-40B4-BE49-F238E27FC236}">
                      <a16:creationId xmlns:a16="http://schemas.microsoft.com/office/drawing/2014/main" id="{3755834A-5507-E6EA-C200-E2DF0FE21524}"/>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8" name="Freeform 22">
                  <a:extLst>
                    <a:ext uri="{FF2B5EF4-FFF2-40B4-BE49-F238E27FC236}">
                      <a16:creationId xmlns:a16="http://schemas.microsoft.com/office/drawing/2014/main" id="{97B2672E-02E8-3AE0-83A5-04C4801ED0B0}"/>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9" name="Line 23">
                  <a:extLst>
                    <a:ext uri="{FF2B5EF4-FFF2-40B4-BE49-F238E27FC236}">
                      <a16:creationId xmlns:a16="http://schemas.microsoft.com/office/drawing/2014/main" id="{95F3A987-1A75-BA67-65B4-D526A967B2EF}"/>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grpSp>
      <p:grpSp>
        <p:nvGrpSpPr>
          <p:cNvPr id="26" name="Group 24">
            <a:extLst>
              <a:ext uri="{FF2B5EF4-FFF2-40B4-BE49-F238E27FC236}">
                <a16:creationId xmlns:a16="http://schemas.microsoft.com/office/drawing/2014/main" id="{BD4F0F10-B4F9-603C-0606-EFA8CC336035}"/>
              </a:ext>
            </a:extLst>
          </p:cNvPr>
          <p:cNvGrpSpPr>
            <a:grpSpLocks/>
          </p:cNvGrpSpPr>
          <p:nvPr/>
        </p:nvGrpSpPr>
        <p:grpSpPr bwMode="auto">
          <a:xfrm>
            <a:off x="1882414" y="1063217"/>
            <a:ext cx="7986713" cy="1116012"/>
            <a:chOff x="516" y="797"/>
            <a:chExt cx="5031" cy="703"/>
          </a:xfrm>
        </p:grpSpPr>
        <p:grpSp>
          <p:nvGrpSpPr>
            <p:cNvPr id="27" name="Group 25">
              <a:extLst>
                <a:ext uri="{FF2B5EF4-FFF2-40B4-BE49-F238E27FC236}">
                  <a16:creationId xmlns:a16="http://schemas.microsoft.com/office/drawing/2014/main" id="{254781CD-1CBA-2C5B-F18E-8608F8A8A28A}"/>
                </a:ext>
              </a:extLst>
            </p:cNvPr>
            <p:cNvGrpSpPr>
              <a:grpSpLocks/>
            </p:cNvGrpSpPr>
            <p:nvPr/>
          </p:nvGrpSpPr>
          <p:grpSpPr bwMode="auto">
            <a:xfrm>
              <a:off x="516" y="797"/>
              <a:ext cx="5031" cy="688"/>
              <a:chOff x="422" y="806"/>
              <a:chExt cx="5031" cy="688"/>
            </a:xfrm>
          </p:grpSpPr>
          <p:sp>
            <p:nvSpPr>
              <p:cNvPr id="31" name="Rectangle 26">
                <a:extLst>
                  <a:ext uri="{FF2B5EF4-FFF2-40B4-BE49-F238E27FC236}">
                    <a16:creationId xmlns:a16="http://schemas.microsoft.com/office/drawing/2014/main" id="{D8036A40-6008-B90F-0AD1-2608FA7808FF}"/>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32" name="Rectangle 27">
                <a:extLst>
                  <a:ext uri="{FF2B5EF4-FFF2-40B4-BE49-F238E27FC236}">
                    <a16:creationId xmlns:a16="http://schemas.microsoft.com/office/drawing/2014/main" id="{79DFBF02-F981-E3C8-F328-386B721F05AF}"/>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100	100	100	</a:t>
                </a:r>
                <a:endParaRPr lang="en-US">
                  <a:latin typeface="Times New Roman" panose="02020603050405020304" pitchFamily="18" charset="0"/>
                  <a:cs typeface="Times New Roman" panose="02020603050405020304" pitchFamily="18" charset="0"/>
                </a:endParaRPr>
              </a:p>
            </p:txBody>
          </p:sp>
        </p:grpSp>
        <p:sp>
          <p:nvSpPr>
            <p:cNvPr id="28" name="Line 28">
              <a:extLst>
                <a:ext uri="{FF2B5EF4-FFF2-40B4-BE49-F238E27FC236}">
                  <a16:creationId xmlns:a16="http://schemas.microsoft.com/office/drawing/2014/main" id="{4946D228-6821-124C-7EF4-B7CD91DE1D20}"/>
                </a:ext>
              </a:extLst>
            </p:cNvPr>
            <p:cNvSpPr>
              <a:spLocks noChangeShapeType="1"/>
            </p:cNvSpPr>
            <p:nvPr/>
          </p:nvSpPr>
          <p:spPr bwMode="auto">
            <a:xfrm>
              <a:off x="527" y="1262"/>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9" name="Line 29">
              <a:extLst>
                <a:ext uri="{FF2B5EF4-FFF2-40B4-BE49-F238E27FC236}">
                  <a16:creationId xmlns:a16="http://schemas.microsoft.com/office/drawing/2014/main" id="{2E4B46F5-529B-4B62-1DA9-60047B145A55}"/>
                </a:ext>
              </a:extLst>
            </p:cNvPr>
            <p:cNvSpPr>
              <a:spLocks noChangeShapeType="1"/>
            </p:cNvSpPr>
            <p:nvPr/>
          </p:nvSpPr>
          <p:spPr bwMode="auto">
            <a:xfrm>
              <a:off x="3025" y="1040"/>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0" name="Line 30">
              <a:extLst>
                <a:ext uri="{FF2B5EF4-FFF2-40B4-BE49-F238E27FC236}">
                  <a16:creationId xmlns:a16="http://schemas.microsoft.com/office/drawing/2014/main" id="{8E7D3D5F-F4F1-938A-6FA6-2E17D1C6DB1F}"/>
                </a:ext>
              </a:extLst>
            </p:cNvPr>
            <p:cNvSpPr>
              <a:spLocks noChangeShapeType="1"/>
            </p:cNvSpPr>
            <p:nvPr/>
          </p:nvSpPr>
          <p:spPr bwMode="auto">
            <a:xfrm>
              <a:off x="527" y="1500"/>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33" name="Group 31">
            <a:extLst>
              <a:ext uri="{FF2B5EF4-FFF2-40B4-BE49-F238E27FC236}">
                <a16:creationId xmlns:a16="http://schemas.microsoft.com/office/drawing/2014/main" id="{2DF541C0-2A76-652F-3F4B-9EC98CE5F756}"/>
              </a:ext>
            </a:extLst>
          </p:cNvPr>
          <p:cNvGrpSpPr>
            <a:grpSpLocks/>
          </p:cNvGrpSpPr>
          <p:nvPr/>
        </p:nvGrpSpPr>
        <p:grpSpPr bwMode="auto">
          <a:xfrm>
            <a:off x="1882414" y="2161767"/>
            <a:ext cx="7986713" cy="1092200"/>
            <a:chOff x="516" y="1489"/>
            <a:chExt cx="5031" cy="688"/>
          </a:xfrm>
        </p:grpSpPr>
        <p:grpSp>
          <p:nvGrpSpPr>
            <p:cNvPr id="34" name="Group 32">
              <a:extLst>
                <a:ext uri="{FF2B5EF4-FFF2-40B4-BE49-F238E27FC236}">
                  <a16:creationId xmlns:a16="http://schemas.microsoft.com/office/drawing/2014/main" id="{D4E385F5-40F2-B1FA-53E8-A43DD5710E0F}"/>
                </a:ext>
              </a:extLst>
            </p:cNvPr>
            <p:cNvGrpSpPr>
              <a:grpSpLocks/>
            </p:cNvGrpSpPr>
            <p:nvPr/>
          </p:nvGrpSpPr>
          <p:grpSpPr bwMode="auto">
            <a:xfrm>
              <a:off x="516" y="1489"/>
              <a:ext cx="5031" cy="688"/>
              <a:chOff x="422" y="806"/>
              <a:chExt cx="5031" cy="688"/>
            </a:xfrm>
          </p:grpSpPr>
          <p:sp>
            <p:nvSpPr>
              <p:cNvPr id="38" name="Rectangle 33">
                <a:extLst>
                  <a:ext uri="{FF2B5EF4-FFF2-40B4-BE49-F238E27FC236}">
                    <a16:creationId xmlns:a16="http://schemas.microsoft.com/office/drawing/2014/main" id="{43B63EC5-2DB7-5269-06C4-7E0156F66BBB}"/>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39" name="Rectangle 34">
                <a:extLst>
                  <a:ext uri="{FF2B5EF4-FFF2-40B4-BE49-F238E27FC236}">
                    <a16:creationId xmlns:a16="http://schemas.microsoft.com/office/drawing/2014/main" id="{E2BAA527-DCE1-11A9-9BC8-CDF768000A5E}"/>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50		50		</a:t>
                </a:r>
                <a:endParaRPr lang="en-US">
                  <a:latin typeface="Times New Roman" panose="02020603050405020304" pitchFamily="18" charset="0"/>
                  <a:cs typeface="Times New Roman" panose="02020603050405020304" pitchFamily="18" charset="0"/>
                </a:endParaRPr>
              </a:p>
            </p:txBody>
          </p:sp>
        </p:grpSp>
        <p:sp>
          <p:nvSpPr>
            <p:cNvPr id="35" name="Line 35">
              <a:extLst>
                <a:ext uri="{FF2B5EF4-FFF2-40B4-BE49-F238E27FC236}">
                  <a16:creationId xmlns:a16="http://schemas.microsoft.com/office/drawing/2014/main" id="{C5524BD6-A86F-C083-D59D-18FABF2ABA56}"/>
                </a:ext>
              </a:extLst>
            </p:cNvPr>
            <p:cNvSpPr>
              <a:spLocks noChangeShapeType="1"/>
            </p:cNvSpPr>
            <p:nvPr/>
          </p:nvSpPr>
          <p:spPr bwMode="auto">
            <a:xfrm>
              <a:off x="527" y="195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6" name="Line 36">
              <a:extLst>
                <a:ext uri="{FF2B5EF4-FFF2-40B4-BE49-F238E27FC236}">
                  <a16:creationId xmlns:a16="http://schemas.microsoft.com/office/drawing/2014/main" id="{4A85194B-2857-76C6-8E67-DAD28B9003AB}"/>
                </a:ext>
              </a:extLst>
            </p:cNvPr>
            <p:cNvSpPr>
              <a:spLocks noChangeShapeType="1"/>
            </p:cNvSpPr>
            <p:nvPr/>
          </p:nvSpPr>
          <p:spPr bwMode="auto">
            <a:xfrm>
              <a:off x="3025" y="1732"/>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7" name="Line 37">
              <a:extLst>
                <a:ext uri="{FF2B5EF4-FFF2-40B4-BE49-F238E27FC236}">
                  <a16:creationId xmlns:a16="http://schemas.microsoft.com/office/drawing/2014/main" id="{CF163198-F867-4E40-26C9-5A6229CE62CC}"/>
                </a:ext>
              </a:extLst>
            </p:cNvPr>
            <p:cNvSpPr>
              <a:spLocks noChangeShapeType="1"/>
            </p:cNvSpPr>
            <p:nvPr/>
          </p:nvSpPr>
          <p:spPr bwMode="auto">
            <a:xfrm>
              <a:off x="527" y="217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21942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5283-C7B0-35FA-11D6-DC0E91B6B179}"/>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0394EAE0-F4F1-04EB-A830-8B044FA72D63}"/>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14A19F36-3356-02AB-A281-A03BEC9D02B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8A140355-4687-7885-F506-175625098F8B}"/>
              </a:ext>
            </a:extLst>
          </p:cNvPr>
          <p:cNvSpPr>
            <a:spLocks noGrp="1"/>
          </p:cNvSpPr>
          <p:nvPr>
            <p:ph type="sldNum" idx="12"/>
          </p:nvPr>
        </p:nvSpPr>
        <p:spPr/>
        <p:txBody>
          <a:bodyPr/>
          <a:lstStyle/>
          <a:p>
            <a:fld id="{00000000-1234-1234-1234-123412341234}" type="slidenum">
              <a:rPr lang="en-US" smtClean="0"/>
              <a:pPr/>
              <a:t>35</a:t>
            </a:fld>
            <a:endParaRPr lang="en-US" dirty="0"/>
          </a:p>
        </p:txBody>
      </p:sp>
      <p:grpSp>
        <p:nvGrpSpPr>
          <p:cNvPr id="7" name="Group 40">
            <a:extLst>
              <a:ext uri="{FF2B5EF4-FFF2-40B4-BE49-F238E27FC236}">
                <a16:creationId xmlns:a16="http://schemas.microsoft.com/office/drawing/2014/main" id="{182722C1-F8E0-C38A-73C1-50FAB6E39BD5}"/>
              </a:ext>
            </a:extLst>
          </p:cNvPr>
          <p:cNvGrpSpPr>
            <a:grpSpLocks/>
          </p:cNvGrpSpPr>
          <p:nvPr/>
        </p:nvGrpSpPr>
        <p:grpSpPr bwMode="auto">
          <a:xfrm>
            <a:off x="1733550" y="2032793"/>
            <a:ext cx="7699375" cy="2792413"/>
            <a:chOff x="471" y="1268"/>
            <a:chExt cx="4850" cy="1759"/>
          </a:xfrm>
        </p:grpSpPr>
        <p:sp>
          <p:nvSpPr>
            <p:cNvPr id="8" name="Line 9">
              <a:extLst>
                <a:ext uri="{FF2B5EF4-FFF2-40B4-BE49-F238E27FC236}">
                  <a16:creationId xmlns:a16="http://schemas.microsoft.com/office/drawing/2014/main" id="{6F9FC021-8B03-3CE9-55A7-470D4943A422}"/>
                </a:ext>
              </a:extLst>
            </p:cNvPr>
            <p:cNvSpPr>
              <a:spLocks noChangeShapeType="1"/>
            </p:cNvSpPr>
            <p:nvPr/>
          </p:nvSpPr>
          <p:spPr bwMode="auto">
            <a:xfrm>
              <a:off x="471" y="3027"/>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9" name="Rectangle 25">
              <a:extLst>
                <a:ext uri="{FF2B5EF4-FFF2-40B4-BE49-F238E27FC236}">
                  <a16:creationId xmlns:a16="http://schemas.microsoft.com/office/drawing/2014/main" id="{F01C7F42-81AB-075A-77B0-9332B57A880B}"/>
                </a:ext>
              </a:extLst>
            </p:cNvPr>
            <p:cNvSpPr>
              <a:spLocks noChangeArrowheads="1"/>
            </p:cNvSpPr>
            <p:nvPr/>
          </p:nvSpPr>
          <p:spPr bwMode="auto">
            <a:xfrm>
              <a:off x="480" y="1268"/>
              <a:ext cx="4841" cy="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2000" dirty="0">
                  <a:latin typeface="Times New Roman" panose="02020603050405020304" pitchFamily="18" charset="0"/>
                  <a:cs typeface="Times New Roman" panose="02020603050405020304" pitchFamily="18" charset="0"/>
                </a:rPr>
                <a:t>Planned Order Report</a:t>
              </a:r>
            </a:p>
            <a:p>
              <a:pPr>
                <a:lnSpc>
                  <a:spcPct val="150000"/>
                </a:lnSpc>
                <a:tabLst>
                  <a:tab pos="3146425" algn="r"/>
                  <a:tab pos="4191000" algn="ctr"/>
                  <a:tab pos="4953000" algn="ctr"/>
                  <a:tab pos="5715000" algn="ctr"/>
                  <a:tab pos="6477000" algn="ctr"/>
                  <a:tab pos="7239000" algn="ctr"/>
                </a:tabLst>
              </a:pPr>
              <a:r>
                <a:rPr lang="en-US" sz="2000" dirty="0">
                  <a:latin typeface="Times New Roman" panose="02020603050405020304" pitchFamily="18" charset="0"/>
                  <a:cs typeface="Times New Roman" panose="02020603050405020304" pitchFamily="18" charset="0"/>
                </a:rPr>
                <a:t>				PERIOD</a:t>
              </a:r>
            </a:p>
            <a:p>
              <a:pPr>
                <a:lnSpc>
                  <a:spcPct val="150000"/>
                </a:lnSpc>
                <a:tabLst>
                  <a:tab pos="3146425" algn="r"/>
                  <a:tab pos="4191000" algn="ctr"/>
                  <a:tab pos="4953000" algn="ctr"/>
                  <a:tab pos="5715000" algn="ctr"/>
                  <a:tab pos="6477000" algn="ctr"/>
                  <a:tab pos="7239000" algn="ctr"/>
                </a:tabLst>
              </a:pPr>
              <a:r>
                <a:rPr lang="en-US" sz="2000" dirty="0">
                  <a:latin typeface="Times New Roman" panose="02020603050405020304" pitchFamily="18" charset="0"/>
                  <a:cs typeface="Times New Roman" panose="02020603050405020304" pitchFamily="18" charset="0"/>
                </a:rPr>
                <a:t>ITEM		</a:t>
              </a:r>
              <a:r>
                <a:rPr lang="en-US" sz="2000" i="1" dirty="0">
                  <a:latin typeface="Times New Roman" panose="02020603050405020304" pitchFamily="18" charset="0"/>
                  <a:cs typeface="Times New Roman" panose="02020603050405020304" pitchFamily="18" charset="0"/>
                </a:rPr>
                <a:t>1	2	3	4	5</a:t>
              </a:r>
            </a:p>
          </p:txBody>
        </p:sp>
        <p:sp>
          <p:nvSpPr>
            <p:cNvPr id="10" name="Rectangle 26">
              <a:extLst>
                <a:ext uri="{FF2B5EF4-FFF2-40B4-BE49-F238E27FC236}">
                  <a16:creationId xmlns:a16="http://schemas.microsoft.com/office/drawing/2014/main" id="{B0320C93-8038-0704-C6B4-C28106BABE84}"/>
                </a:ext>
              </a:extLst>
            </p:cNvPr>
            <p:cNvSpPr>
              <a:spLocks noChangeArrowheads="1"/>
            </p:cNvSpPr>
            <p:nvPr/>
          </p:nvSpPr>
          <p:spPr bwMode="auto">
            <a:xfrm>
              <a:off x="480" y="2206"/>
              <a:ext cx="4596" cy="7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4387850" algn="r"/>
                  <a:tab pos="5149850" algn="r"/>
                  <a:tab pos="5911850" algn="r"/>
                  <a:tab pos="6673850" algn="r"/>
                  <a:tab pos="7435850" algn="r"/>
                </a:tabLst>
              </a:pPr>
              <a:r>
                <a:rPr lang="en-US" sz="2000" dirty="0">
                  <a:latin typeface="Times New Roman" panose="02020603050405020304" pitchFamily="18" charset="0"/>
                  <a:cs typeface="Times New Roman" panose="02020603050405020304" pitchFamily="18" charset="0"/>
                </a:rPr>
                <a:t>Clipboard		100	100	100</a:t>
              </a:r>
            </a:p>
            <a:p>
              <a:pPr>
                <a:lnSpc>
                  <a:spcPct val="125000"/>
                </a:lnSpc>
                <a:tabLst>
                  <a:tab pos="4387850" algn="r"/>
                  <a:tab pos="5149850" algn="r"/>
                  <a:tab pos="5911850" algn="r"/>
                  <a:tab pos="6673850" algn="r"/>
                  <a:tab pos="7435850" algn="r"/>
                </a:tabLst>
              </a:pPr>
              <a:r>
                <a:rPr lang="en-US" sz="2000" dirty="0" err="1">
                  <a:latin typeface="Times New Roman" panose="02020603050405020304" pitchFamily="18" charset="0"/>
                  <a:cs typeface="Times New Roman" panose="02020603050405020304" pitchFamily="18" charset="0"/>
                </a:rPr>
                <a:t>Lapdesk</a:t>
              </a:r>
              <a:r>
                <a:rPr lang="en-US" sz="2000" dirty="0">
                  <a:latin typeface="Times New Roman" panose="02020603050405020304" pitchFamily="18" charset="0"/>
                  <a:cs typeface="Times New Roman" panose="02020603050405020304" pitchFamily="18" charset="0"/>
                </a:rPr>
                <a:t>	50		50</a:t>
              </a:r>
            </a:p>
            <a:p>
              <a:pPr>
                <a:lnSpc>
                  <a:spcPct val="125000"/>
                </a:lnSpc>
                <a:tabLst>
                  <a:tab pos="4387850" algn="r"/>
                  <a:tab pos="5149850" algn="r"/>
                  <a:tab pos="5911850" algn="r"/>
                  <a:tab pos="6673850" algn="r"/>
                  <a:tab pos="7435850" algn="r"/>
                </a:tabLst>
              </a:pPr>
              <a:r>
                <a:rPr lang="en-US" sz="2000" dirty="0">
                  <a:latin typeface="Times New Roman" panose="02020603050405020304" pitchFamily="18" charset="0"/>
                  <a:cs typeface="Times New Roman" panose="02020603050405020304" pitchFamily="18" charset="0"/>
                </a:rPr>
                <a:t>Pressboard	100	150	100</a:t>
              </a:r>
            </a:p>
          </p:txBody>
        </p:sp>
        <p:sp>
          <p:nvSpPr>
            <p:cNvPr id="11" name="Line 27">
              <a:extLst>
                <a:ext uri="{FF2B5EF4-FFF2-40B4-BE49-F238E27FC236}">
                  <a16:creationId xmlns:a16="http://schemas.microsoft.com/office/drawing/2014/main" id="{E4239300-A4F5-F815-0E76-AC5B641D08A0}"/>
                </a:ext>
              </a:extLst>
            </p:cNvPr>
            <p:cNvSpPr>
              <a:spLocks noChangeShapeType="1"/>
            </p:cNvSpPr>
            <p:nvPr/>
          </p:nvSpPr>
          <p:spPr bwMode="auto">
            <a:xfrm>
              <a:off x="488" y="2201"/>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28">
              <a:extLst>
                <a:ext uri="{FF2B5EF4-FFF2-40B4-BE49-F238E27FC236}">
                  <a16:creationId xmlns:a16="http://schemas.microsoft.com/office/drawing/2014/main" id="{AE4F9E3C-205A-2D29-A84A-3AF1B32639AF}"/>
                </a:ext>
              </a:extLst>
            </p:cNvPr>
            <p:cNvSpPr>
              <a:spLocks noChangeShapeType="1"/>
            </p:cNvSpPr>
            <p:nvPr/>
          </p:nvSpPr>
          <p:spPr bwMode="auto">
            <a:xfrm>
              <a:off x="2986" y="1898"/>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13" name="TextBox 12">
            <a:extLst>
              <a:ext uri="{FF2B5EF4-FFF2-40B4-BE49-F238E27FC236}">
                <a16:creationId xmlns:a16="http://schemas.microsoft.com/office/drawing/2014/main" id="{45EC04E1-5967-080D-51E0-701B8064F6D2}"/>
              </a:ext>
            </a:extLst>
          </p:cNvPr>
          <p:cNvSpPr txBox="1"/>
          <p:nvPr/>
        </p:nvSpPr>
        <p:spPr>
          <a:xfrm>
            <a:off x="1733550" y="2032793"/>
            <a:ext cx="7562850" cy="2953875"/>
          </a:xfrm>
          <a:prstGeom prst="rect">
            <a:avLst/>
          </a:prstGeom>
          <a:noFill/>
          <a:ln>
            <a:solidFill>
              <a:schemeClr val="tx1"/>
            </a:solidFill>
          </a:ln>
        </p:spPr>
        <p:txBody>
          <a:bodyPr wrap="square" rtlCol="0">
            <a:spAutoFit/>
          </a:bodyPr>
          <a:lstStyle/>
          <a:p>
            <a:endParaRPr lang="en-IN" dirty="0"/>
          </a:p>
        </p:txBody>
      </p:sp>
    </p:spTree>
    <p:extLst>
      <p:ext uri="{BB962C8B-B14F-4D97-AF65-F5344CB8AC3E}">
        <p14:creationId xmlns:p14="http://schemas.microsoft.com/office/powerpoint/2010/main" val="3612644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7CA4E-3A54-5D37-841F-E9A4F589DAAF}"/>
              </a:ext>
            </a:extLst>
          </p:cNvPr>
          <p:cNvSpPr>
            <a:spLocks noGrp="1"/>
          </p:cNvSpPr>
          <p:nvPr>
            <p:ph type="title"/>
          </p:nvPr>
        </p:nvSpPr>
        <p:spPr/>
        <p:txBody>
          <a:bodyPr/>
          <a:lstStyle/>
          <a:p>
            <a:r>
              <a:rPr lang="en-IN" dirty="0"/>
              <a:t>Lot sizing in MRP systems</a:t>
            </a:r>
          </a:p>
        </p:txBody>
      </p:sp>
      <p:sp>
        <p:nvSpPr>
          <p:cNvPr id="3" name="Text Placeholder 2">
            <a:extLst>
              <a:ext uri="{FF2B5EF4-FFF2-40B4-BE49-F238E27FC236}">
                <a16:creationId xmlns:a16="http://schemas.microsoft.com/office/drawing/2014/main" id="{F922D1AA-C98D-3CB1-2B74-82378763A2B1}"/>
              </a:ext>
            </a:extLst>
          </p:cNvPr>
          <p:cNvSpPr>
            <a:spLocks noGrp="1"/>
          </p:cNvSpPr>
          <p:nvPr>
            <p:ph type="body" idx="1"/>
          </p:nvPr>
        </p:nvSpPr>
        <p:spPr/>
        <p:txBody>
          <a:bodyPr>
            <a:normAutofit/>
          </a:bodyPr>
          <a:lstStyle/>
          <a:p>
            <a:r>
              <a:rPr lang="en-IN" dirty="0"/>
              <a:t>Although the </a:t>
            </a:r>
            <a:r>
              <a:rPr lang="en-IN" b="1" dirty="0"/>
              <a:t>L4L approach</a:t>
            </a:r>
            <a:r>
              <a:rPr lang="en-IN" dirty="0"/>
              <a:t> is most consistent with the objectives of MRP, </a:t>
            </a:r>
          </a:p>
          <a:p>
            <a:r>
              <a:rPr lang="en-IN" dirty="0"/>
              <a:t>But, in some circumstances,  it is useful to order an amount different from what is needed. For example,</a:t>
            </a:r>
          </a:p>
          <a:p>
            <a:r>
              <a:rPr lang="en-IN" b="1" i="1" dirty="0"/>
              <a:t>Minimum order quantities </a:t>
            </a:r>
            <a:r>
              <a:rPr lang="en-IN" dirty="0"/>
              <a:t>are typically used to take advantage of purchasing or shipping discounts, or to conform to vendor requirements, </a:t>
            </a:r>
          </a:p>
          <a:p>
            <a:r>
              <a:rPr lang="en-IN" b="1" i="1" dirty="0"/>
              <a:t>Maximum order quantities </a:t>
            </a:r>
            <a:r>
              <a:rPr lang="en-IN" dirty="0"/>
              <a:t>are used for large or expensive items when space or funds are limited, and </a:t>
            </a:r>
          </a:p>
          <a:p>
            <a:r>
              <a:rPr lang="en-IN" b="1" i="1" dirty="0"/>
              <a:t>Multiple order quantities </a:t>
            </a:r>
            <a:r>
              <a:rPr lang="en-IN" dirty="0"/>
              <a:t>accommodate packaging restrictions.</a:t>
            </a:r>
          </a:p>
          <a:p>
            <a:r>
              <a:rPr lang="en-IN" b="1" dirty="0"/>
              <a:t>Economic order quantity (EOQ)</a:t>
            </a:r>
            <a:r>
              <a:rPr lang="en-IN" dirty="0"/>
              <a:t> </a:t>
            </a:r>
          </a:p>
          <a:p>
            <a:r>
              <a:rPr lang="en-IN" b="1" dirty="0"/>
              <a:t>Periodic order quantity (POQ)</a:t>
            </a:r>
            <a:endParaRPr lang="en-IN" dirty="0"/>
          </a:p>
        </p:txBody>
      </p:sp>
      <p:sp>
        <p:nvSpPr>
          <p:cNvPr id="4" name="Date Placeholder 3">
            <a:extLst>
              <a:ext uri="{FF2B5EF4-FFF2-40B4-BE49-F238E27FC236}">
                <a16:creationId xmlns:a16="http://schemas.microsoft.com/office/drawing/2014/main" id="{706AEC62-675D-5CA1-8C0B-4471DC9BECD3}"/>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5411416E-381F-C49A-E167-B319E6C772FD}"/>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D5A759D1-B060-902A-2D80-1E51AF99A40E}"/>
              </a:ext>
            </a:extLst>
          </p:cNvPr>
          <p:cNvSpPr>
            <a:spLocks noGrp="1"/>
          </p:cNvSpPr>
          <p:nvPr>
            <p:ph type="sldNum" idx="12"/>
          </p:nvPr>
        </p:nvSpPr>
        <p:spPr/>
        <p:txBody>
          <a:bodyPr/>
          <a:lstStyle/>
          <a:p>
            <a:fld id="{00000000-1234-1234-1234-123412341234}" type="slidenum">
              <a:rPr lang="en-US" smtClean="0"/>
              <a:pPr/>
              <a:t>36</a:t>
            </a:fld>
            <a:endParaRPr lang="en-US" dirty="0"/>
          </a:p>
        </p:txBody>
      </p:sp>
    </p:spTree>
    <p:extLst>
      <p:ext uri="{BB962C8B-B14F-4D97-AF65-F5344CB8AC3E}">
        <p14:creationId xmlns:p14="http://schemas.microsoft.com/office/powerpoint/2010/main" val="162744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27ACC-C881-D43E-E238-ACD9B6FFC321}"/>
              </a:ext>
            </a:extLst>
          </p:cNvPr>
          <p:cNvSpPr>
            <a:spLocks noGrp="1"/>
          </p:cNvSpPr>
          <p:nvPr>
            <p:ph type="title"/>
          </p:nvPr>
        </p:nvSpPr>
        <p:spPr/>
        <p:txBody>
          <a:bodyPr/>
          <a:lstStyle/>
          <a:p>
            <a:r>
              <a:rPr lang="en-IN" dirty="0"/>
              <a:t>Economic Order Quantity</a:t>
            </a:r>
          </a:p>
        </p:txBody>
      </p:sp>
      <p:sp>
        <p:nvSpPr>
          <p:cNvPr id="3" name="Text Placeholder 2">
            <a:extLst>
              <a:ext uri="{FF2B5EF4-FFF2-40B4-BE49-F238E27FC236}">
                <a16:creationId xmlns:a16="http://schemas.microsoft.com/office/drawing/2014/main" id="{5103A8F5-9344-65CE-B715-B214B3859D05}"/>
              </a:ext>
            </a:extLst>
          </p:cNvPr>
          <p:cNvSpPr>
            <a:spLocks noGrp="1"/>
          </p:cNvSpPr>
          <p:nvPr>
            <p:ph type="body" idx="1"/>
          </p:nvPr>
        </p:nvSpPr>
        <p:spPr/>
        <p:txBody>
          <a:bodyPr/>
          <a:lstStyle/>
          <a:p>
            <a:r>
              <a:rPr lang="en-IN" dirty="0"/>
              <a:t>The EOQ can be adapted for use with MRP if it is treated as a minimum order quantity. </a:t>
            </a:r>
          </a:p>
          <a:p>
            <a:r>
              <a:rPr lang="en-IN" dirty="0"/>
              <a:t>In addition, annual demand, </a:t>
            </a:r>
            <a:r>
              <a:rPr lang="en-IN" i="1" dirty="0"/>
              <a:t>D</a:t>
            </a:r>
            <a:r>
              <a:rPr lang="en-IN" dirty="0"/>
              <a:t>, is replaced with average demand per period, </a:t>
            </a:r>
            <a:r>
              <a:rPr lang="en-IN" i="1" dirty="0"/>
              <a:t>d</a:t>
            </a:r>
            <a:r>
              <a:rPr lang="en-IN" dirty="0"/>
              <a:t>, and carrying cost, </a:t>
            </a:r>
            <a:r>
              <a:rPr lang="en-IN" i="1" dirty="0"/>
              <a:t>Cc</a:t>
            </a:r>
            <a:r>
              <a:rPr lang="en-IN" dirty="0"/>
              <a:t>, is converted to a per-period amount. </a:t>
            </a:r>
          </a:p>
          <a:p>
            <a:r>
              <a:rPr lang="en-IN" dirty="0"/>
              <a:t>The EOQ is used only sparingly, usually at the finished product or raw material level, and does not perform well when demand is highly variable.</a:t>
            </a:r>
          </a:p>
        </p:txBody>
      </p:sp>
      <p:sp>
        <p:nvSpPr>
          <p:cNvPr id="4" name="Date Placeholder 3">
            <a:extLst>
              <a:ext uri="{FF2B5EF4-FFF2-40B4-BE49-F238E27FC236}">
                <a16:creationId xmlns:a16="http://schemas.microsoft.com/office/drawing/2014/main" id="{8A4D9298-5CF5-AFE3-194F-6D5A71DC77E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CFC93BAA-33BF-073C-02A3-D0DB076CF0C1}"/>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A426958C-1A6B-779D-0E14-746082FA16F9}"/>
              </a:ext>
            </a:extLst>
          </p:cNvPr>
          <p:cNvSpPr>
            <a:spLocks noGrp="1"/>
          </p:cNvSpPr>
          <p:nvPr>
            <p:ph type="sldNum" idx="12"/>
          </p:nvPr>
        </p:nvSpPr>
        <p:spPr/>
        <p:txBody>
          <a:bodyPr/>
          <a:lstStyle/>
          <a:p>
            <a:fld id="{00000000-1234-1234-1234-123412341234}" type="slidenum">
              <a:rPr lang="en-US" smtClean="0"/>
              <a:pPr/>
              <a:t>37</a:t>
            </a:fld>
            <a:endParaRPr lang="en-US" dirty="0"/>
          </a:p>
        </p:txBody>
      </p:sp>
    </p:spTree>
    <p:extLst>
      <p:ext uri="{BB962C8B-B14F-4D97-AF65-F5344CB8AC3E}">
        <p14:creationId xmlns:p14="http://schemas.microsoft.com/office/powerpoint/2010/main" val="342321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1008-8B0A-38F5-2836-E48E633774A8}"/>
              </a:ext>
            </a:extLst>
          </p:cNvPr>
          <p:cNvSpPr>
            <a:spLocks noGrp="1"/>
          </p:cNvSpPr>
          <p:nvPr>
            <p:ph type="title"/>
          </p:nvPr>
        </p:nvSpPr>
        <p:spPr/>
        <p:txBody>
          <a:bodyPr/>
          <a:lstStyle/>
          <a:p>
            <a:r>
              <a:rPr lang="en-IN" dirty="0"/>
              <a:t>Periodic Order Quantity</a:t>
            </a:r>
          </a:p>
        </p:txBody>
      </p:sp>
      <p:sp>
        <p:nvSpPr>
          <p:cNvPr id="3" name="Text Placeholder 2">
            <a:extLst>
              <a:ext uri="{FF2B5EF4-FFF2-40B4-BE49-F238E27FC236}">
                <a16:creationId xmlns:a16="http://schemas.microsoft.com/office/drawing/2014/main" id="{4DD7BF0F-7731-304B-BF8C-D2B73EEA7270}"/>
              </a:ext>
            </a:extLst>
          </p:cNvPr>
          <p:cNvSpPr>
            <a:spLocks noGrp="1"/>
          </p:cNvSpPr>
          <p:nvPr>
            <p:ph type="body" idx="1"/>
          </p:nvPr>
        </p:nvSpPr>
        <p:spPr/>
        <p:txBody>
          <a:bodyPr/>
          <a:lstStyle/>
          <a:p>
            <a:r>
              <a:rPr lang="en-IN" dirty="0"/>
              <a:t>The periodic order quantity (POQ) was created as a variation of the EOQ more suited to variable demand. </a:t>
            </a:r>
          </a:p>
          <a:p>
            <a:r>
              <a:rPr lang="en-IN" dirty="0"/>
              <a:t>POQ is calculated by dividing the EOQ by average demand. It represents the number of demand periods covered by each order. </a:t>
            </a:r>
          </a:p>
          <a:p>
            <a:r>
              <a:rPr lang="en-IN" dirty="0"/>
              <a:t>Thus, if the POQ were three, an order would be placed for three weeks worth of demand.</a:t>
            </a:r>
          </a:p>
        </p:txBody>
      </p:sp>
      <p:sp>
        <p:nvSpPr>
          <p:cNvPr id="4" name="Date Placeholder 3">
            <a:extLst>
              <a:ext uri="{FF2B5EF4-FFF2-40B4-BE49-F238E27FC236}">
                <a16:creationId xmlns:a16="http://schemas.microsoft.com/office/drawing/2014/main" id="{E22CF026-C667-4038-A524-D2E4C38BC09A}"/>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7A1C5026-0273-3F7C-F8F7-E8895855BE76}"/>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05CFBBC7-71BD-F3D9-BEE3-9896C944C3BB}"/>
              </a:ext>
            </a:extLst>
          </p:cNvPr>
          <p:cNvSpPr>
            <a:spLocks noGrp="1"/>
          </p:cNvSpPr>
          <p:nvPr>
            <p:ph type="sldNum" idx="12"/>
          </p:nvPr>
        </p:nvSpPr>
        <p:spPr/>
        <p:txBody>
          <a:bodyPr/>
          <a:lstStyle/>
          <a:p>
            <a:fld id="{00000000-1234-1234-1234-123412341234}" type="slidenum">
              <a:rPr lang="en-US" smtClean="0"/>
              <a:pPr/>
              <a:t>38</a:t>
            </a:fld>
            <a:endParaRPr lang="en-US" dirty="0"/>
          </a:p>
        </p:txBody>
      </p:sp>
    </p:spTree>
    <p:extLst>
      <p:ext uri="{BB962C8B-B14F-4D97-AF65-F5344CB8AC3E}">
        <p14:creationId xmlns:p14="http://schemas.microsoft.com/office/powerpoint/2010/main" val="415475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E3E6-E8E7-516D-9D47-C8AD8B12D67B}"/>
              </a:ext>
            </a:extLst>
          </p:cNvPr>
          <p:cNvSpPr>
            <a:spLocks noGrp="1"/>
          </p:cNvSpPr>
          <p:nvPr>
            <p:ph type="title"/>
          </p:nvPr>
        </p:nvSpPr>
        <p:spPr/>
        <p:txBody>
          <a:bodyPr/>
          <a:lstStyle/>
          <a:p>
            <a:r>
              <a:rPr lang="en-IN" dirty="0"/>
              <a:t>Lot sizing in MRP systems </a:t>
            </a:r>
            <a:r>
              <a:rPr lang="en-IN" dirty="0">
                <a:solidFill>
                  <a:srgbClr val="FF0000"/>
                </a:solidFill>
              </a:rPr>
              <a:t>Example</a:t>
            </a:r>
            <a:endParaRPr lang="en-IN" dirty="0"/>
          </a:p>
        </p:txBody>
      </p:sp>
      <p:sp>
        <p:nvSpPr>
          <p:cNvPr id="3" name="Text Placeholder 2">
            <a:extLst>
              <a:ext uri="{FF2B5EF4-FFF2-40B4-BE49-F238E27FC236}">
                <a16:creationId xmlns:a16="http://schemas.microsoft.com/office/drawing/2014/main" id="{05216A71-7029-1C01-5B0E-FB717696657F}"/>
              </a:ext>
            </a:extLst>
          </p:cNvPr>
          <p:cNvSpPr>
            <a:spLocks noGrp="1"/>
          </p:cNvSpPr>
          <p:nvPr>
            <p:ph type="body" idx="1"/>
          </p:nvPr>
        </p:nvSpPr>
        <p:spPr>
          <a:xfrm>
            <a:off x="407446" y="907101"/>
            <a:ext cx="11596712" cy="5344843"/>
          </a:xfrm>
        </p:spPr>
        <p:txBody>
          <a:bodyPr>
            <a:normAutofit/>
          </a:bodyPr>
          <a:lstStyle/>
          <a:p>
            <a:pPr marL="114300" indent="0" algn="just">
              <a:buNone/>
            </a:pPr>
            <a:r>
              <a:rPr lang="en-IN" sz="2300" dirty="0"/>
              <a:t>The Lifetime Sports Company has been using MRP to manufacture sports equipment for a number of years. Recently, Bob Sage, the operations manager, decided to investigate the use of lot sizing for MRP-generated orders. As a test case, Bob selected a typical product in their line of fishing rods and gathered weekly data over a month’s time. Ordering costs are $60 per order, and carrying costs are $1 per unit per week. The beginning inventory is 30 units, and lead time is one week. Help Bob determine whether the L4L, EOQ or POQ lot sizing technique is more appropriate.</a:t>
            </a:r>
          </a:p>
          <a:p>
            <a:endParaRPr lang="en-IN" sz="2400" dirty="0"/>
          </a:p>
          <a:p>
            <a:endParaRPr lang="en-IN" sz="2400" dirty="0"/>
          </a:p>
          <a:p>
            <a:r>
              <a:rPr lang="en-IN" sz="2400" b="1" dirty="0">
                <a:solidFill>
                  <a:srgbClr val="FF0000"/>
                </a:solidFill>
              </a:rPr>
              <a:t>Solution: (a) L4L</a:t>
            </a:r>
          </a:p>
          <a:p>
            <a:pPr marL="114300" indent="0">
              <a:buNone/>
            </a:pPr>
            <a:r>
              <a:rPr lang="en-IN" sz="2400" i="1" dirty="0"/>
              <a:t>		Co </a:t>
            </a:r>
            <a:r>
              <a:rPr lang="en-IN" sz="2400" dirty="0"/>
              <a:t>= $60</a:t>
            </a:r>
          </a:p>
          <a:p>
            <a:pPr marL="114300" indent="0">
              <a:buNone/>
            </a:pPr>
            <a:r>
              <a:rPr lang="en-IN" sz="2400" i="1" dirty="0"/>
              <a:t>		Cc </a:t>
            </a:r>
            <a:r>
              <a:rPr lang="en-IN" sz="2400" dirty="0"/>
              <a:t>= $1</a:t>
            </a:r>
            <a:endParaRPr lang="en-IN" sz="2400" b="1" dirty="0">
              <a:solidFill>
                <a:srgbClr val="FF0000"/>
              </a:solidFill>
            </a:endParaRPr>
          </a:p>
          <a:p>
            <a:pPr marL="114300" indent="0">
              <a:buNone/>
            </a:pPr>
            <a:r>
              <a:rPr lang="en-IN" sz="2400" i="1" dirty="0"/>
              <a:t>		d </a:t>
            </a:r>
            <a:r>
              <a:rPr lang="en-IN" sz="2400" dirty="0"/>
              <a:t>= (30 + 50 + 20 + 10 + 40)/5 = 30</a:t>
            </a:r>
          </a:p>
          <a:p>
            <a:endParaRPr lang="en-IN" dirty="0"/>
          </a:p>
        </p:txBody>
      </p:sp>
      <p:sp>
        <p:nvSpPr>
          <p:cNvPr id="4" name="Date Placeholder 3">
            <a:extLst>
              <a:ext uri="{FF2B5EF4-FFF2-40B4-BE49-F238E27FC236}">
                <a16:creationId xmlns:a16="http://schemas.microsoft.com/office/drawing/2014/main" id="{E4AA4A38-0798-39F4-1C61-F38152D33724}"/>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8C49DBC5-3D1C-253A-E1E6-E232239E3D4E}"/>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17E6C24-B7AD-200E-8AB6-180790D72C2C}"/>
              </a:ext>
            </a:extLst>
          </p:cNvPr>
          <p:cNvSpPr>
            <a:spLocks noGrp="1"/>
          </p:cNvSpPr>
          <p:nvPr>
            <p:ph type="sldNum" idx="12"/>
          </p:nvPr>
        </p:nvSpPr>
        <p:spPr/>
        <p:txBody>
          <a:bodyPr/>
          <a:lstStyle/>
          <a:p>
            <a:fld id="{00000000-1234-1234-1234-123412341234}" type="slidenum">
              <a:rPr lang="en-US" smtClean="0"/>
              <a:pPr/>
              <a:t>39</a:t>
            </a:fld>
            <a:endParaRPr lang="en-US" dirty="0"/>
          </a:p>
        </p:txBody>
      </p:sp>
      <p:graphicFrame>
        <p:nvGraphicFramePr>
          <p:cNvPr id="7" name="Content Placeholder 3">
            <a:extLst>
              <a:ext uri="{FF2B5EF4-FFF2-40B4-BE49-F238E27FC236}">
                <a16:creationId xmlns:a16="http://schemas.microsoft.com/office/drawing/2014/main" id="{36B18708-5F3E-D6D2-C010-E4EE45361331}"/>
              </a:ext>
            </a:extLst>
          </p:cNvPr>
          <p:cNvGraphicFramePr>
            <a:graphicFrameLocks/>
          </p:cNvGraphicFramePr>
          <p:nvPr>
            <p:extLst>
              <p:ext uri="{D42A27DB-BD31-4B8C-83A1-F6EECF244321}">
                <p14:modId xmlns:p14="http://schemas.microsoft.com/office/powerpoint/2010/main" val="192808758"/>
              </p:ext>
            </p:extLst>
          </p:nvPr>
        </p:nvGraphicFramePr>
        <p:xfrm>
          <a:off x="2542953" y="3152545"/>
          <a:ext cx="7153939" cy="1097280"/>
        </p:xfrm>
        <a:graphic>
          <a:graphicData uri="http://schemas.openxmlformats.org/drawingml/2006/table">
            <a:tbl>
              <a:tblPr firstRow="1" bandRow="1">
                <a:tableStyleId>{5C22544A-7EE6-4342-B048-85BDC9FD1C3A}</a:tableStyleId>
              </a:tblPr>
              <a:tblGrid>
                <a:gridCol w="1463308">
                  <a:extLst>
                    <a:ext uri="{9D8B030D-6E8A-4147-A177-3AD203B41FA5}">
                      <a16:colId xmlns:a16="http://schemas.microsoft.com/office/drawing/2014/main" val="20000"/>
                    </a:ext>
                  </a:extLst>
                </a:gridCol>
                <a:gridCol w="1056832">
                  <a:extLst>
                    <a:ext uri="{9D8B030D-6E8A-4147-A177-3AD203B41FA5}">
                      <a16:colId xmlns:a16="http://schemas.microsoft.com/office/drawing/2014/main" val="20001"/>
                    </a:ext>
                  </a:extLst>
                </a:gridCol>
                <a:gridCol w="1138126">
                  <a:extLst>
                    <a:ext uri="{9D8B030D-6E8A-4147-A177-3AD203B41FA5}">
                      <a16:colId xmlns:a16="http://schemas.microsoft.com/office/drawing/2014/main" val="20002"/>
                    </a:ext>
                  </a:extLst>
                </a:gridCol>
                <a:gridCol w="1219421">
                  <a:extLst>
                    <a:ext uri="{9D8B030D-6E8A-4147-A177-3AD203B41FA5}">
                      <a16:colId xmlns:a16="http://schemas.microsoft.com/office/drawing/2014/main" val="20003"/>
                    </a:ext>
                  </a:extLst>
                </a:gridCol>
                <a:gridCol w="1138126">
                  <a:extLst>
                    <a:ext uri="{9D8B030D-6E8A-4147-A177-3AD203B41FA5}">
                      <a16:colId xmlns:a16="http://schemas.microsoft.com/office/drawing/2014/main" val="20004"/>
                    </a:ext>
                  </a:extLst>
                </a:gridCol>
                <a:gridCol w="1138126">
                  <a:extLst>
                    <a:ext uri="{9D8B030D-6E8A-4147-A177-3AD203B41FA5}">
                      <a16:colId xmlns:a16="http://schemas.microsoft.com/office/drawing/2014/main" val="20005"/>
                    </a:ext>
                  </a:extLst>
                </a:gridCol>
              </a:tblGrid>
              <a:tr h="370840">
                <a:tc>
                  <a:txBody>
                    <a:bodyPr/>
                    <a:lstStyle/>
                    <a:p>
                      <a:pPr algn="l"/>
                      <a:r>
                        <a:rPr lang="en-IN" sz="2000" dirty="0">
                          <a:latin typeface="Times New Roman" panose="02020603050405020304" pitchFamily="18" charset="0"/>
                          <a:cs typeface="Times New Roman" panose="02020603050405020304" pitchFamily="18" charset="0"/>
                        </a:rPr>
                        <a:t>Period</a:t>
                      </a:r>
                    </a:p>
                  </a:txBody>
                  <a:tcPr/>
                </a:tc>
                <a:tc>
                  <a:txBody>
                    <a:bodyPr/>
                    <a:lstStyle/>
                    <a:p>
                      <a:pPr algn="l"/>
                      <a:r>
                        <a:rPr lang="en-IN" sz="2000" dirty="0">
                          <a:latin typeface="Times New Roman" panose="02020603050405020304" pitchFamily="18" charset="0"/>
                          <a:cs typeface="Times New Roman" panose="02020603050405020304" pitchFamily="18" charset="0"/>
                        </a:rPr>
                        <a:t>1</a:t>
                      </a:r>
                    </a:p>
                  </a:txBody>
                  <a:tcPr/>
                </a:tc>
                <a:tc>
                  <a:txBody>
                    <a:bodyPr/>
                    <a:lstStyle/>
                    <a:p>
                      <a:pPr algn="l"/>
                      <a:r>
                        <a:rPr lang="en-IN" sz="2000" dirty="0">
                          <a:latin typeface="Times New Roman" panose="02020603050405020304" pitchFamily="18" charset="0"/>
                          <a:cs typeface="Times New Roman" panose="02020603050405020304" pitchFamily="18" charset="0"/>
                        </a:rPr>
                        <a:t>2</a:t>
                      </a:r>
                    </a:p>
                  </a:txBody>
                  <a:tcPr/>
                </a:tc>
                <a:tc>
                  <a:txBody>
                    <a:bodyPr/>
                    <a:lstStyle/>
                    <a:p>
                      <a:pPr algn="l"/>
                      <a:r>
                        <a:rPr lang="en-IN" sz="2000" dirty="0">
                          <a:latin typeface="Times New Roman" panose="02020603050405020304" pitchFamily="18" charset="0"/>
                          <a:cs typeface="Times New Roman" panose="02020603050405020304" pitchFamily="18" charset="0"/>
                        </a:rPr>
                        <a:t>3</a:t>
                      </a:r>
                    </a:p>
                  </a:txBody>
                  <a:tcPr/>
                </a:tc>
                <a:tc>
                  <a:txBody>
                    <a:bodyPr/>
                    <a:lstStyle/>
                    <a:p>
                      <a:pPr algn="l"/>
                      <a:r>
                        <a:rPr lang="en-IN" sz="2000" dirty="0">
                          <a:latin typeface="Times New Roman" panose="02020603050405020304" pitchFamily="18" charset="0"/>
                          <a:cs typeface="Times New Roman" panose="02020603050405020304" pitchFamily="18" charset="0"/>
                        </a:rPr>
                        <a:t>4</a:t>
                      </a:r>
                    </a:p>
                  </a:txBody>
                  <a:tcPr/>
                </a:tc>
                <a:tc>
                  <a:txBody>
                    <a:bodyPr/>
                    <a:lstStyle/>
                    <a:p>
                      <a:pPr algn="l"/>
                      <a:r>
                        <a:rPr lang="en-IN" sz="2000" dirty="0">
                          <a:latin typeface="Times New Roman" panose="02020603050405020304" pitchFamily="18" charset="0"/>
                          <a:cs typeface="Times New Roman" panose="02020603050405020304" pitchFamily="18" charset="0"/>
                        </a:rPr>
                        <a:t>5</a:t>
                      </a:r>
                    </a:p>
                  </a:txBody>
                  <a:tcPr/>
                </a:tc>
                <a:extLst>
                  <a:ext uri="{0D108BD9-81ED-4DB2-BD59-A6C34878D82A}">
                    <a16:rowId xmlns:a16="http://schemas.microsoft.com/office/drawing/2014/main" val="10000"/>
                  </a:ext>
                </a:extLst>
              </a:tr>
              <a:tr h="370840">
                <a:tc>
                  <a:txBody>
                    <a:bodyPr/>
                    <a:lstStyle/>
                    <a:p>
                      <a:pPr algn="l"/>
                      <a:r>
                        <a:rPr lang="en-IN" sz="2000" dirty="0">
                          <a:latin typeface="Times New Roman" panose="02020603050405020304" pitchFamily="18" charset="0"/>
                          <a:cs typeface="Times New Roman" panose="02020603050405020304" pitchFamily="18" charset="0"/>
                        </a:rPr>
                        <a:t>Gross requirement</a:t>
                      </a:r>
                    </a:p>
                  </a:txBody>
                  <a:tcPr/>
                </a:tc>
                <a:tc>
                  <a:txBody>
                    <a:bodyPr/>
                    <a:lstStyle/>
                    <a:p>
                      <a:pPr algn="l"/>
                      <a:r>
                        <a:rPr lang="en-IN" sz="2000" dirty="0">
                          <a:latin typeface="Times New Roman" panose="02020603050405020304" pitchFamily="18" charset="0"/>
                          <a:cs typeface="Times New Roman" panose="02020603050405020304" pitchFamily="18" charset="0"/>
                        </a:rPr>
                        <a:t>30</a:t>
                      </a:r>
                    </a:p>
                  </a:txBody>
                  <a:tcPr/>
                </a:tc>
                <a:tc>
                  <a:txBody>
                    <a:bodyPr/>
                    <a:lstStyle/>
                    <a:p>
                      <a:pPr algn="l"/>
                      <a:r>
                        <a:rPr lang="en-IN" sz="2000" dirty="0">
                          <a:latin typeface="Times New Roman" panose="02020603050405020304" pitchFamily="18" charset="0"/>
                          <a:cs typeface="Times New Roman" panose="02020603050405020304" pitchFamily="18" charset="0"/>
                        </a:rPr>
                        <a:t>50</a:t>
                      </a:r>
                    </a:p>
                  </a:txBody>
                  <a:tcPr/>
                </a:tc>
                <a:tc>
                  <a:txBody>
                    <a:bodyPr/>
                    <a:lstStyle/>
                    <a:p>
                      <a:pPr algn="l"/>
                      <a:r>
                        <a:rPr lang="en-IN" sz="2000" dirty="0">
                          <a:latin typeface="Times New Roman" panose="02020603050405020304" pitchFamily="18" charset="0"/>
                          <a:cs typeface="Times New Roman" panose="02020603050405020304" pitchFamily="18" charset="0"/>
                        </a:rPr>
                        <a:t>20</a:t>
                      </a:r>
                    </a:p>
                  </a:txBody>
                  <a:tcPr/>
                </a:tc>
                <a:tc>
                  <a:txBody>
                    <a:bodyPr/>
                    <a:lstStyle/>
                    <a:p>
                      <a:pPr algn="l"/>
                      <a:r>
                        <a:rPr lang="en-IN" sz="2000" dirty="0">
                          <a:latin typeface="Times New Roman" panose="02020603050405020304" pitchFamily="18" charset="0"/>
                          <a:cs typeface="Times New Roman" panose="02020603050405020304" pitchFamily="18" charset="0"/>
                        </a:rPr>
                        <a:t>10</a:t>
                      </a:r>
                    </a:p>
                  </a:txBody>
                  <a:tcPr/>
                </a:tc>
                <a:tc>
                  <a:txBody>
                    <a:bodyPr/>
                    <a:lstStyle/>
                    <a:p>
                      <a:pPr algn="l"/>
                      <a:r>
                        <a:rPr lang="en-IN" sz="2000" dirty="0">
                          <a:latin typeface="Times New Roman" panose="02020603050405020304" pitchFamily="18" charset="0"/>
                          <a:cs typeface="Times New Roman" panose="02020603050405020304" pitchFamily="18" charset="0"/>
                        </a:rPr>
                        <a:t>40</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4706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C7FF-6400-CCC8-2879-D38CB35847D1}"/>
              </a:ext>
            </a:extLst>
          </p:cNvPr>
          <p:cNvSpPr>
            <a:spLocks noGrp="1"/>
          </p:cNvSpPr>
          <p:nvPr>
            <p:ph type="title"/>
          </p:nvPr>
        </p:nvSpPr>
        <p:spPr/>
        <p:txBody>
          <a:bodyPr/>
          <a:lstStyle/>
          <a:p>
            <a:r>
              <a:rPr lang="en-IN" dirty="0"/>
              <a:t>Lot sizing in MRP systems </a:t>
            </a:r>
            <a:r>
              <a:rPr lang="en-IN" dirty="0">
                <a:solidFill>
                  <a:srgbClr val="FF0000"/>
                </a:solidFill>
              </a:rPr>
              <a:t>Example</a:t>
            </a:r>
            <a:endParaRPr lang="en-IN" dirty="0"/>
          </a:p>
        </p:txBody>
      </p:sp>
      <p:sp>
        <p:nvSpPr>
          <p:cNvPr id="4" name="Date Placeholder 3">
            <a:extLst>
              <a:ext uri="{FF2B5EF4-FFF2-40B4-BE49-F238E27FC236}">
                <a16:creationId xmlns:a16="http://schemas.microsoft.com/office/drawing/2014/main" id="{540F0135-FDA6-6BE1-DB6F-B53328F89937}"/>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AC5CD9C8-28D8-F200-C5EE-3E232D70160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DE4EB15E-DA68-E142-1DCF-D99AF203B52C}"/>
              </a:ext>
            </a:extLst>
          </p:cNvPr>
          <p:cNvSpPr>
            <a:spLocks noGrp="1"/>
          </p:cNvSpPr>
          <p:nvPr>
            <p:ph type="sldNum" idx="12"/>
          </p:nvPr>
        </p:nvSpPr>
        <p:spPr/>
        <p:txBody>
          <a:bodyPr/>
          <a:lstStyle/>
          <a:p>
            <a:fld id="{00000000-1234-1234-1234-123412341234}" type="slidenum">
              <a:rPr lang="en-US" smtClean="0"/>
              <a:pPr/>
              <a:t>40</a:t>
            </a:fld>
            <a:endParaRPr lang="en-US" dirty="0"/>
          </a:p>
        </p:txBody>
      </p:sp>
      <p:sp>
        <p:nvSpPr>
          <p:cNvPr id="10" name="Content Placeholder 1">
            <a:extLst>
              <a:ext uri="{FF2B5EF4-FFF2-40B4-BE49-F238E27FC236}">
                <a16:creationId xmlns:a16="http://schemas.microsoft.com/office/drawing/2014/main" id="{0FBFB5CC-37C4-444B-B777-9F7DCE84968D}"/>
              </a:ext>
            </a:extLst>
          </p:cNvPr>
          <p:cNvSpPr txBox="1">
            <a:spLocks/>
          </p:cNvSpPr>
          <p:nvPr/>
        </p:nvSpPr>
        <p:spPr>
          <a:xfrm>
            <a:off x="219740" y="965752"/>
            <a:ext cx="11972260" cy="124582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IN" sz="2400" dirty="0"/>
              <a:t>With L4L, orders are placed for the exact amount needed. </a:t>
            </a:r>
          </a:p>
          <a:p>
            <a:r>
              <a:rPr lang="en-IN" sz="2400" dirty="0"/>
              <a:t>Total cost is calculated as (number of orders X ordering cost) + (total projected on hand X carrying cost).</a:t>
            </a:r>
          </a:p>
        </p:txBody>
      </p:sp>
      <p:graphicFrame>
        <p:nvGraphicFramePr>
          <p:cNvPr id="11" name="Content Placeholder 3">
            <a:extLst>
              <a:ext uri="{FF2B5EF4-FFF2-40B4-BE49-F238E27FC236}">
                <a16:creationId xmlns:a16="http://schemas.microsoft.com/office/drawing/2014/main" id="{9B3436A5-C20B-62B9-B50D-C875B8E21678}"/>
              </a:ext>
            </a:extLst>
          </p:cNvPr>
          <p:cNvGraphicFramePr>
            <a:graphicFrameLocks/>
          </p:cNvGraphicFramePr>
          <p:nvPr>
            <p:extLst>
              <p:ext uri="{D42A27DB-BD31-4B8C-83A1-F6EECF244321}">
                <p14:modId xmlns:p14="http://schemas.microsoft.com/office/powerpoint/2010/main" val="1709435800"/>
              </p:ext>
            </p:extLst>
          </p:nvPr>
        </p:nvGraphicFramePr>
        <p:xfrm>
          <a:off x="2877880" y="1910315"/>
          <a:ext cx="6324600" cy="316992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185420">
                <a:tc gridSpan="6">
                  <a:txBody>
                    <a:bodyPr/>
                    <a:lstStyle/>
                    <a:p>
                      <a:r>
                        <a:rPr lang="en-IN" sz="2000" b="1" i="0" u="none" strike="noStrike" kern="1200" baseline="0" dirty="0">
                          <a:solidFill>
                            <a:schemeClr val="lt1"/>
                          </a:solidFill>
                          <a:latin typeface="Times New Roman" panose="02020603050405020304" pitchFamily="18" charset="0"/>
                          <a:ea typeface="+mn-ea"/>
                          <a:cs typeface="Times New Roman" panose="02020603050405020304" pitchFamily="18" charset="0"/>
                        </a:rPr>
                        <a:t>Item: Rod           LLC: 0                                     Period</a:t>
                      </a:r>
                      <a:endParaRPr lang="en-IN" sz="20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0"/>
                  </a:ext>
                </a:extLst>
              </a:tr>
              <a:tr h="185420">
                <a:tc>
                  <a:txBody>
                    <a:bodyPr/>
                    <a:lstStyle/>
                    <a:p>
                      <a:r>
                        <a:rPr lang="en-IN" sz="2000" b="1" i="0" u="none" strike="noStrike" kern="1200" baseline="0" dirty="0">
                          <a:solidFill>
                            <a:schemeClr val="bg1"/>
                          </a:solidFill>
                          <a:latin typeface="Times New Roman" panose="02020603050405020304" pitchFamily="18" charset="0"/>
                          <a:ea typeface="+mn-ea"/>
                          <a:cs typeface="Times New Roman" panose="02020603050405020304" pitchFamily="18" charset="0"/>
                        </a:rPr>
                        <a:t>Lot Size: L4L       LT: 1</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1</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2</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3</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4</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5</a:t>
                      </a:r>
                    </a:p>
                  </a:txBody>
                  <a:tcPr>
                    <a:solidFill>
                      <a:schemeClr val="accent1"/>
                    </a:solidFill>
                  </a:tcPr>
                </a:tc>
                <a:extLst>
                  <a:ext uri="{0D108BD9-81ED-4DB2-BD59-A6C34878D82A}">
                    <a16:rowId xmlns:a16="http://schemas.microsoft.com/office/drawing/2014/main" val="10001"/>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Gross Requirements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30</a:t>
                      </a: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extLst>
                  <a:ext uri="{0D108BD9-81ED-4DB2-BD59-A6C34878D82A}">
                    <a16:rowId xmlns:a16="http://schemas.microsoft.com/office/drawing/2014/main" val="10002"/>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Scheduled Receipts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Projected on Hand              30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Net Requirements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extLst>
                  <a:ext uri="{0D108BD9-81ED-4DB2-BD59-A6C34878D82A}">
                    <a16:rowId xmlns:a16="http://schemas.microsoft.com/office/drawing/2014/main" val="10005"/>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Planned Order Receipts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extLst>
                  <a:ext uri="{0D108BD9-81ED-4DB2-BD59-A6C34878D82A}">
                    <a16:rowId xmlns:a16="http://schemas.microsoft.com/office/drawing/2014/main" val="10006"/>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Planned Order Releases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sp>
        <p:nvSpPr>
          <p:cNvPr id="12" name="Rectangle 11">
            <a:extLst>
              <a:ext uri="{FF2B5EF4-FFF2-40B4-BE49-F238E27FC236}">
                <a16:creationId xmlns:a16="http://schemas.microsoft.com/office/drawing/2014/main" id="{2012277A-C584-A80F-1C72-C947E2CC486E}"/>
              </a:ext>
            </a:extLst>
          </p:cNvPr>
          <p:cNvSpPr/>
          <p:nvPr/>
        </p:nvSpPr>
        <p:spPr>
          <a:xfrm>
            <a:off x="3095040" y="5430583"/>
            <a:ext cx="6043642" cy="461665"/>
          </a:xfrm>
          <a:prstGeom prst="rect">
            <a:avLst/>
          </a:prstGeom>
          <a:solidFill>
            <a:schemeClr val="accent5">
              <a:lumMod val="20000"/>
              <a:lumOff val="80000"/>
            </a:schemeClr>
          </a:solidFill>
          <a:ln>
            <a:solidFill>
              <a:schemeClr val="tx1"/>
            </a:solidFill>
          </a:ln>
        </p:spPr>
        <p:txBody>
          <a:bodyPr wrap="none">
            <a:spAutoFit/>
          </a:bodyPr>
          <a:lstStyle/>
          <a:p>
            <a:r>
              <a:rPr lang="en-IN" sz="2400" dirty="0">
                <a:latin typeface="Times New Roman" panose="02020603050405020304" pitchFamily="18" charset="0"/>
                <a:cs typeface="Times New Roman" panose="02020603050405020304" pitchFamily="18" charset="0"/>
              </a:rPr>
              <a:t>Total cost of L4L = (4 * $60) + (0 * $1) = $240</a:t>
            </a:r>
          </a:p>
        </p:txBody>
      </p:sp>
    </p:spTree>
    <p:extLst>
      <p:ext uri="{BB962C8B-B14F-4D97-AF65-F5344CB8AC3E}">
        <p14:creationId xmlns:p14="http://schemas.microsoft.com/office/powerpoint/2010/main" val="179543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F8AE-04A0-6A1C-72AC-E8A7DAC3B81A}"/>
              </a:ext>
            </a:extLst>
          </p:cNvPr>
          <p:cNvSpPr>
            <a:spLocks noGrp="1"/>
          </p:cNvSpPr>
          <p:nvPr>
            <p:ph type="title"/>
          </p:nvPr>
        </p:nvSpPr>
        <p:spPr/>
        <p:txBody>
          <a:bodyPr/>
          <a:lstStyle/>
          <a:p>
            <a:r>
              <a:rPr lang="en-IN" dirty="0"/>
              <a:t>Lot sizing in MRP systems </a:t>
            </a:r>
            <a:r>
              <a:rPr lang="en-IN" dirty="0">
                <a:solidFill>
                  <a:srgbClr val="FF0000"/>
                </a:solidFill>
              </a:rPr>
              <a:t>Example</a:t>
            </a:r>
            <a:endParaRPr lang="en-IN" dirty="0"/>
          </a:p>
        </p:txBody>
      </p:sp>
      <p:sp>
        <p:nvSpPr>
          <p:cNvPr id="4" name="Date Placeholder 3">
            <a:extLst>
              <a:ext uri="{FF2B5EF4-FFF2-40B4-BE49-F238E27FC236}">
                <a16:creationId xmlns:a16="http://schemas.microsoft.com/office/drawing/2014/main" id="{3765585C-0643-D89C-523F-F9C1102C5D24}"/>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FED4DBC1-70C2-3154-AD2F-B42F7A2EF32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C51B6B92-385B-8334-AE97-B48B3B77115A}"/>
              </a:ext>
            </a:extLst>
          </p:cNvPr>
          <p:cNvSpPr>
            <a:spLocks noGrp="1"/>
          </p:cNvSpPr>
          <p:nvPr>
            <p:ph type="sldNum" idx="12"/>
          </p:nvPr>
        </p:nvSpPr>
        <p:spPr/>
        <p:txBody>
          <a:bodyPr/>
          <a:lstStyle/>
          <a:p>
            <a:fld id="{00000000-1234-1234-1234-123412341234}" type="slidenum">
              <a:rPr lang="en-US" smtClean="0"/>
              <a:pPr/>
              <a:t>41</a:t>
            </a:fld>
            <a:endParaRPr lang="en-US" dirty="0"/>
          </a:p>
        </p:txBody>
      </p:sp>
      <p:sp>
        <p:nvSpPr>
          <p:cNvPr id="7" name="Content Placeholder 1">
            <a:extLst>
              <a:ext uri="{FF2B5EF4-FFF2-40B4-BE49-F238E27FC236}">
                <a16:creationId xmlns:a16="http://schemas.microsoft.com/office/drawing/2014/main" id="{37E4D2CD-FDC2-8199-1E99-BB36E41DB359}"/>
              </a:ext>
            </a:extLst>
          </p:cNvPr>
          <p:cNvSpPr txBox="1">
            <a:spLocks/>
          </p:cNvSpPr>
          <p:nvPr/>
        </p:nvSpPr>
        <p:spPr>
          <a:xfrm>
            <a:off x="319700" y="899960"/>
            <a:ext cx="8229600" cy="45259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IN" b="1" dirty="0">
                <a:solidFill>
                  <a:srgbClr val="FF0000"/>
                </a:solidFill>
              </a:rPr>
              <a:t>(b) EOQ</a:t>
            </a:r>
          </a:p>
          <a:p>
            <a:endParaRPr lang="en-IN" b="1" dirty="0">
              <a:solidFill>
                <a:srgbClr val="FF0000"/>
              </a:solidFill>
            </a:endParaRPr>
          </a:p>
        </p:txBody>
      </p:sp>
      <p:grpSp>
        <p:nvGrpSpPr>
          <p:cNvPr id="8" name="Group 67">
            <a:extLst>
              <a:ext uri="{FF2B5EF4-FFF2-40B4-BE49-F238E27FC236}">
                <a16:creationId xmlns:a16="http://schemas.microsoft.com/office/drawing/2014/main" id="{5792A2AC-2306-1E58-EFAA-926D1BB0CF9B}"/>
              </a:ext>
            </a:extLst>
          </p:cNvPr>
          <p:cNvGrpSpPr>
            <a:grpSpLocks/>
          </p:cNvGrpSpPr>
          <p:nvPr/>
        </p:nvGrpSpPr>
        <p:grpSpPr bwMode="auto">
          <a:xfrm>
            <a:off x="4085250" y="1034895"/>
            <a:ext cx="3806829" cy="1220223"/>
            <a:chOff x="501" y="2189"/>
            <a:chExt cx="2398" cy="851"/>
          </a:xfrm>
        </p:grpSpPr>
        <p:grpSp>
          <p:nvGrpSpPr>
            <p:cNvPr id="9" name="Group 58">
              <a:extLst>
                <a:ext uri="{FF2B5EF4-FFF2-40B4-BE49-F238E27FC236}">
                  <a16:creationId xmlns:a16="http://schemas.microsoft.com/office/drawing/2014/main" id="{D845353F-AC96-F266-D2C8-1C90B4CA5704}"/>
                </a:ext>
              </a:extLst>
            </p:cNvPr>
            <p:cNvGrpSpPr>
              <a:grpSpLocks/>
            </p:cNvGrpSpPr>
            <p:nvPr/>
          </p:nvGrpSpPr>
          <p:grpSpPr bwMode="auto">
            <a:xfrm>
              <a:off x="501" y="2189"/>
              <a:ext cx="1943" cy="557"/>
              <a:chOff x="537" y="2297"/>
              <a:chExt cx="1943" cy="557"/>
            </a:xfrm>
          </p:grpSpPr>
          <p:sp>
            <p:nvSpPr>
              <p:cNvPr id="11" name="Rectangle 31">
                <a:extLst>
                  <a:ext uri="{FF2B5EF4-FFF2-40B4-BE49-F238E27FC236}">
                    <a16:creationId xmlns:a16="http://schemas.microsoft.com/office/drawing/2014/main" id="{15B8AEBC-A2C8-46F1-1346-290314689370}"/>
                  </a:ext>
                </a:extLst>
              </p:cNvPr>
              <p:cNvSpPr>
                <a:spLocks noChangeArrowheads="1"/>
              </p:cNvSpPr>
              <p:nvPr/>
            </p:nvSpPr>
            <p:spPr bwMode="auto">
              <a:xfrm>
                <a:off x="537" y="2428"/>
                <a:ext cx="440" cy="21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lang="en-US" i="1" dirty="0">
                    <a:latin typeface="Times New Roman" panose="02020603050405020304" pitchFamily="18" charset="0"/>
                    <a:cs typeface="Times New Roman" panose="02020603050405020304" pitchFamily="18" charset="0"/>
                  </a:rPr>
                  <a:t>EOQ</a:t>
                </a:r>
                <a:r>
                  <a:rPr lang="en-US" dirty="0">
                    <a:latin typeface="Times New Roman" panose="02020603050405020304" pitchFamily="18" charset="0"/>
                    <a:cs typeface="Times New Roman" panose="02020603050405020304" pitchFamily="18" charset="0"/>
                  </a:rPr>
                  <a:t> =</a:t>
                </a:r>
              </a:p>
            </p:txBody>
          </p:sp>
          <p:grpSp>
            <p:nvGrpSpPr>
              <p:cNvPr id="12" name="Group 57">
                <a:extLst>
                  <a:ext uri="{FF2B5EF4-FFF2-40B4-BE49-F238E27FC236}">
                    <a16:creationId xmlns:a16="http://schemas.microsoft.com/office/drawing/2014/main" id="{FB9B1C9F-950C-E621-E120-731BA5089FE0}"/>
                  </a:ext>
                </a:extLst>
              </p:cNvPr>
              <p:cNvGrpSpPr>
                <a:grpSpLocks/>
              </p:cNvGrpSpPr>
              <p:nvPr/>
            </p:nvGrpSpPr>
            <p:grpSpPr bwMode="auto">
              <a:xfrm>
                <a:off x="1203" y="2297"/>
                <a:ext cx="1277" cy="557"/>
                <a:chOff x="1203" y="2297"/>
                <a:chExt cx="1277" cy="557"/>
              </a:xfrm>
            </p:grpSpPr>
            <p:sp>
              <p:nvSpPr>
                <p:cNvPr id="13" name="Rectangle 33">
                  <a:extLst>
                    <a:ext uri="{FF2B5EF4-FFF2-40B4-BE49-F238E27FC236}">
                      <a16:creationId xmlns:a16="http://schemas.microsoft.com/office/drawing/2014/main" id="{A216A15D-5653-B322-7348-66A66533F550}"/>
                    </a:ext>
                  </a:extLst>
                </p:cNvPr>
                <p:cNvSpPr>
                  <a:spLocks noChangeArrowheads="1"/>
                </p:cNvSpPr>
                <p:nvPr/>
              </p:nvSpPr>
              <p:spPr bwMode="auto">
                <a:xfrm>
                  <a:off x="1312" y="2297"/>
                  <a:ext cx="734" cy="557"/>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nSpc>
                      <a:spcPct val="120000"/>
                    </a:lnSpc>
                  </a:pPr>
                  <a:r>
                    <a:rPr lang="en-US" sz="2000" dirty="0">
                      <a:latin typeface="Times New Roman" panose="02020603050405020304" pitchFamily="18" charset="0"/>
                      <a:cs typeface="Times New Roman" panose="02020603050405020304" pitchFamily="18" charset="0"/>
                    </a:rPr>
                    <a:t>2(30)(60)</a:t>
                  </a:r>
                </a:p>
                <a:p>
                  <a:pPr>
                    <a:lnSpc>
                      <a:spcPct val="120000"/>
                    </a:lnSpc>
                  </a:pPr>
                  <a:r>
                    <a:rPr lang="en-US" sz="2000" dirty="0">
                      <a:latin typeface="Times New Roman" panose="02020603050405020304" pitchFamily="18" charset="0"/>
                      <a:cs typeface="Times New Roman" panose="02020603050405020304" pitchFamily="18" charset="0"/>
                    </a:rPr>
                    <a:t>     (1)</a:t>
                  </a:r>
                </a:p>
              </p:txBody>
            </p:sp>
            <p:sp>
              <p:nvSpPr>
                <p:cNvPr id="14" name="Line 34">
                  <a:extLst>
                    <a:ext uri="{FF2B5EF4-FFF2-40B4-BE49-F238E27FC236}">
                      <a16:creationId xmlns:a16="http://schemas.microsoft.com/office/drawing/2014/main" id="{CC470449-F304-C09E-4CDB-FD56634D17BB}"/>
                    </a:ext>
                  </a:extLst>
                </p:cNvPr>
                <p:cNvSpPr>
                  <a:spLocks noChangeShapeType="1"/>
                </p:cNvSpPr>
                <p:nvPr/>
              </p:nvSpPr>
              <p:spPr bwMode="auto">
                <a:xfrm>
                  <a:off x="1339" y="2574"/>
                  <a:ext cx="11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5" name="Freeform 35">
                  <a:extLst>
                    <a:ext uri="{FF2B5EF4-FFF2-40B4-BE49-F238E27FC236}">
                      <a16:creationId xmlns:a16="http://schemas.microsoft.com/office/drawing/2014/main" id="{78D3F951-C68B-4E9D-7AB8-2255038070C6}"/>
                    </a:ext>
                  </a:extLst>
                </p:cNvPr>
                <p:cNvSpPr>
                  <a:spLocks/>
                </p:cNvSpPr>
                <p:nvPr/>
              </p:nvSpPr>
              <p:spPr bwMode="auto">
                <a:xfrm>
                  <a:off x="1203" y="2336"/>
                  <a:ext cx="1277" cy="435"/>
                </a:xfrm>
                <a:custGeom>
                  <a:avLst/>
                  <a:gdLst>
                    <a:gd name="T0" fmla="*/ 0 w 1277"/>
                    <a:gd name="T1" fmla="*/ 305 h 435"/>
                    <a:gd name="T2" fmla="*/ 54 w 1277"/>
                    <a:gd name="T3" fmla="*/ 268 h 435"/>
                    <a:gd name="T4" fmla="*/ 72 w 1277"/>
                    <a:gd name="T5" fmla="*/ 435 h 435"/>
                    <a:gd name="T6" fmla="*/ 134 w 1277"/>
                    <a:gd name="T7" fmla="*/ 0 h 435"/>
                    <a:gd name="T8" fmla="*/ 1277 w 1277"/>
                    <a:gd name="T9" fmla="*/ 2 h 435"/>
                  </a:gdLst>
                  <a:ahLst/>
                  <a:cxnLst>
                    <a:cxn ang="0">
                      <a:pos x="T0" y="T1"/>
                    </a:cxn>
                    <a:cxn ang="0">
                      <a:pos x="T2" y="T3"/>
                    </a:cxn>
                    <a:cxn ang="0">
                      <a:pos x="T4" y="T5"/>
                    </a:cxn>
                    <a:cxn ang="0">
                      <a:pos x="T6" y="T7"/>
                    </a:cxn>
                    <a:cxn ang="0">
                      <a:pos x="T8" y="T9"/>
                    </a:cxn>
                  </a:cxnLst>
                  <a:rect l="0" t="0" r="r" b="b"/>
                  <a:pathLst>
                    <a:path w="1277" h="435">
                      <a:moveTo>
                        <a:pt x="0" y="305"/>
                      </a:moveTo>
                      <a:lnTo>
                        <a:pt x="54" y="268"/>
                      </a:lnTo>
                      <a:lnTo>
                        <a:pt x="72" y="435"/>
                      </a:lnTo>
                      <a:lnTo>
                        <a:pt x="134" y="0"/>
                      </a:lnTo>
                      <a:lnTo>
                        <a:pt x="1277" y="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sp>
          <p:nvSpPr>
            <p:cNvPr id="10" name="Rectangle 38">
              <a:extLst>
                <a:ext uri="{FF2B5EF4-FFF2-40B4-BE49-F238E27FC236}">
                  <a16:creationId xmlns:a16="http://schemas.microsoft.com/office/drawing/2014/main" id="{CDAC1602-DDD1-B9BA-6E91-630C009AE980}"/>
                </a:ext>
              </a:extLst>
            </p:cNvPr>
            <p:cNvSpPr>
              <a:spLocks noChangeArrowheads="1"/>
            </p:cNvSpPr>
            <p:nvPr/>
          </p:nvSpPr>
          <p:spPr bwMode="auto">
            <a:xfrm>
              <a:off x="501" y="2761"/>
              <a:ext cx="2398" cy="27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lang="en-US" sz="2000" i="1" dirty="0">
                  <a:latin typeface="Times New Roman" panose="02020603050405020304" pitchFamily="18" charset="0"/>
                  <a:cs typeface="Times New Roman" panose="02020603050405020304" pitchFamily="18" charset="0"/>
                </a:rPr>
                <a:t>EOQ </a:t>
              </a:r>
              <a:r>
                <a:rPr lang="en-US" sz="2000" dirty="0">
                  <a:latin typeface="Times New Roman" panose="02020603050405020304" pitchFamily="18" charset="0"/>
                  <a:cs typeface="Times New Roman" panose="02020603050405020304" pitchFamily="18" charset="0"/>
                </a:rPr>
                <a:t>= 60 minimum order quantity</a:t>
              </a:r>
            </a:p>
          </p:txBody>
        </p:sp>
      </p:grpSp>
      <p:graphicFrame>
        <p:nvGraphicFramePr>
          <p:cNvPr id="16" name="Content Placeholder 3">
            <a:extLst>
              <a:ext uri="{FF2B5EF4-FFF2-40B4-BE49-F238E27FC236}">
                <a16:creationId xmlns:a16="http://schemas.microsoft.com/office/drawing/2014/main" id="{71BE4E9C-793D-0EF5-CADC-F319A48120B5}"/>
              </a:ext>
            </a:extLst>
          </p:cNvPr>
          <p:cNvGraphicFramePr>
            <a:graphicFrameLocks/>
          </p:cNvGraphicFramePr>
          <p:nvPr>
            <p:extLst>
              <p:ext uri="{D42A27DB-BD31-4B8C-83A1-F6EECF244321}">
                <p14:modId xmlns:p14="http://schemas.microsoft.com/office/powerpoint/2010/main" val="2643982599"/>
              </p:ext>
            </p:extLst>
          </p:nvPr>
        </p:nvGraphicFramePr>
        <p:xfrm>
          <a:off x="2337394" y="2332654"/>
          <a:ext cx="6324600" cy="316992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185420">
                <a:tc gridSpan="6">
                  <a:txBody>
                    <a:bodyPr/>
                    <a:lstStyle/>
                    <a:p>
                      <a:r>
                        <a:rPr lang="en-IN" sz="2000" b="1" i="0" u="none" strike="noStrike" kern="1200" baseline="0" dirty="0">
                          <a:solidFill>
                            <a:schemeClr val="lt1"/>
                          </a:solidFill>
                          <a:latin typeface="Times New Roman" panose="02020603050405020304" pitchFamily="18" charset="0"/>
                          <a:ea typeface="+mn-ea"/>
                          <a:cs typeface="Times New Roman" panose="02020603050405020304" pitchFamily="18" charset="0"/>
                        </a:rPr>
                        <a:t>Item: Rod                 LLC: 0                                     Period</a:t>
                      </a:r>
                      <a:endParaRPr lang="en-IN" sz="20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0"/>
                  </a:ext>
                </a:extLst>
              </a:tr>
              <a:tr h="185420">
                <a:tc>
                  <a:txBody>
                    <a:bodyPr/>
                    <a:lstStyle/>
                    <a:p>
                      <a:r>
                        <a:rPr lang="en-IN" sz="2000" b="1" i="0" u="none" strike="noStrike" kern="1200" baseline="0" dirty="0">
                          <a:solidFill>
                            <a:schemeClr val="bg1"/>
                          </a:solidFill>
                          <a:latin typeface="Times New Roman" panose="02020603050405020304" pitchFamily="18" charset="0"/>
                          <a:ea typeface="+mn-ea"/>
                          <a:cs typeface="Times New Roman" panose="02020603050405020304" pitchFamily="18" charset="0"/>
                        </a:rPr>
                        <a:t>Lot Size: EOQ 60      LT: 1</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1</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2</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3</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4</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5</a:t>
                      </a:r>
                    </a:p>
                  </a:txBody>
                  <a:tcPr>
                    <a:solidFill>
                      <a:schemeClr val="accent1"/>
                    </a:solidFill>
                  </a:tcPr>
                </a:tc>
                <a:extLst>
                  <a:ext uri="{0D108BD9-81ED-4DB2-BD59-A6C34878D82A}">
                    <a16:rowId xmlns:a16="http://schemas.microsoft.com/office/drawing/2014/main" val="10001"/>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Gross Requirements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30</a:t>
                      </a: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extLst>
                  <a:ext uri="{0D108BD9-81ED-4DB2-BD59-A6C34878D82A}">
                    <a16:rowId xmlns:a16="http://schemas.microsoft.com/office/drawing/2014/main" val="10002"/>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Scheduled Receipts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Projected on Hand              30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Net Requirements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Planned Order Receipts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60</a:t>
                      </a:r>
                    </a:p>
                  </a:txBody>
                  <a:tcPr/>
                </a:tc>
                <a:tc>
                  <a:txBody>
                    <a:bodyPr/>
                    <a:lstStyle/>
                    <a:p>
                      <a:r>
                        <a:rPr lang="en-IN" sz="2000" dirty="0">
                          <a:latin typeface="Times New Roman" panose="02020603050405020304" pitchFamily="18" charset="0"/>
                          <a:cs typeface="Times New Roman" panose="02020603050405020304" pitchFamily="18" charset="0"/>
                        </a:rPr>
                        <a:t>60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Planned Order Releases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60</a:t>
                      </a:r>
                    </a:p>
                  </a:txBody>
                  <a:tcPr/>
                </a:tc>
                <a:tc>
                  <a:txBody>
                    <a:bodyPr/>
                    <a:lstStyle/>
                    <a:p>
                      <a:r>
                        <a:rPr lang="en-IN" sz="2000" dirty="0">
                          <a:latin typeface="Times New Roman" panose="02020603050405020304" pitchFamily="18" charset="0"/>
                          <a:cs typeface="Times New Roman" panose="02020603050405020304" pitchFamily="18" charset="0"/>
                        </a:rPr>
                        <a:t>60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sp>
        <p:nvSpPr>
          <p:cNvPr id="17" name="Rectangle 16">
            <a:extLst>
              <a:ext uri="{FF2B5EF4-FFF2-40B4-BE49-F238E27FC236}">
                <a16:creationId xmlns:a16="http://schemas.microsoft.com/office/drawing/2014/main" id="{F7F917EF-9C59-0D75-1F87-8906B4573681}"/>
              </a:ext>
            </a:extLst>
          </p:cNvPr>
          <p:cNvSpPr/>
          <p:nvPr/>
        </p:nvSpPr>
        <p:spPr>
          <a:xfrm>
            <a:off x="2199166" y="5657341"/>
            <a:ext cx="6643352" cy="400110"/>
          </a:xfrm>
          <a:prstGeom prst="rect">
            <a:avLst/>
          </a:prstGeom>
          <a:solidFill>
            <a:schemeClr val="accent5">
              <a:lumMod val="20000"/>
              <a:lumOff val="80000"/>
            </a:schemeClr>
          </a:solidFill>
          <a:ln>
            <a:solidFill>
              <a:schemeClr val="tx1"/>
            </a:solidFill>
          </a:ln>
        </p:spPr>
        <p:txBody>
          <a:bodyPr wrap="square">
            <a:spAutoFit/>
          </a:bodyPr>
          <a:lstStyle/>
          <a:p>
            <a:r>
              <a:rPr lang="en-IN" sz="2000" dirty="0">
                <a:latin typeface="Times New Roman" panose="02020603050405020304" pitchFamily="18" charset="0"/>
                <a:cs typeface="Times New Roman" panose="02020603050405020304" pitchFamily="18" charset="0"/>
              </a:rPr>
              <a:t>Total cost of EOQ = (2 * $60)+ [(10 + 50 + 40) * $1]  = $220</a:t>
            </a:r>
          </a:p>
        </p:txBody>
      </p:sp>
    </p:spTree>
    <p:extLst>
      <p:ext uri="{BB962C8B-B14F-4D97-AF65-F5344CB8AC3E}">
        <p14:creationId xmlns:p14="http://schemas.microsoft.com/office/powerpoint/2010/main" val="281739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01C5857-6AEE-CA85-A1EF-55CA9631977D}"/>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373B73B5-762F-4E25-EA9C-76CF07FB164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CA67E57-A5A7-BE09-A418-23CE5508A51A}"/>
              </a:ext>
            </a:extLst>
          </p:cNvPr>
          <p:cNvSpPr>
            <a:spLocks noGrp="1"/>
          </p:cNvSpPr>
          <p:nvPr>
            <p:ph type="sldNum" idx="12"/>
          </p:nvPr>
        </p:nvSpPr>
        <p:spPr/>
        <p:txBody>
          <a:bodyPr/>
          <a:lstStyle/>
          <a:p>
            <a:fld id="{00000000-1234-1234-1234-123412341234}" type="slidenum">
              <a:rPr lang="en-US" smtClean="0"/>
              <a:pPr/>
              <a:t>42</a:t>
            </a:fld>
            <a:endParaRPr lang="en-US" dirty="0"/>
          </a:p>
        </p:txBody>
      </p:sp>
      <p:sp>
        <p:nvSpPr>
          <p:cNvPr id="7" name="Content Placeholder 2">
            <a:extLst>
              <a:ext uri="{FF2B5EF4-FFF2-40B4-BE49-F238E27FC236}">
                <a16:creationId xmlns:a16="http://schemas.microsoft.com/office/drawing/2014/main" id="{8A67DFEA-BE6E-FDDD-D4A5-075DCE39697C}"/>
              </a:ext>
            </a:extLst>
          </p:cNvPr>
          <p:cNvSpPr txBox="1">
            <a:spLocks noGrp="1"/>
          </p:cNvSpPr>
          <p:nvPr>
            <p:ph type="title"/>
          </p:nvPr>
        </p:nvSpPr>
        <p:spPr>
          <a:xfrm>
            <a:off x="407988" y="147638"/>
            <a:ext cx="10761662" cy="685800"/>
          </a:xfrm>
          <a:prstGeom prst="rect">
            <a:avLst/>
          </a:prstGeom>
        </p:spPr>
        <p:txBody>
          <a:bodyPr vert="horz" lIns="91440" tIns="45720" rIns="91440" bIns="45720" rtlCol="0" anchor="ctr" anchorCtr="0">
            <a:normAutofit/>
          </a:bodyPr>
          <a:lstStyle>
            <a:lvl1pPr marL="0" indent="-342900" algn="l" defTabSz="914400" rtl="0" eaLnBrk="1" latinLnBrk="0" hangingPunct="1">
              <a:lnSpc>
                <a:spcPts val="3600"/>
              </a:lnSpc>
              <a:spcBef>
                <a:spcPts val="0"/>
              </a:spcBef>
              <a:buFont typeface="Arial"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Lot sizing in MRP systems </a:t>
            </a:r>
            <a:r>
              <a:rPr lang="en-IN" dirty="0">
                <a:solidFill>
                  <a:srgbClr val="FF0000"/>
                </a:solidFill>
              </a:rPr>
              <a:t>Example</a:t>
            </a:r>
          </a:p>
        </p:txBody>
      </p:sp>
      <p:sp>
        <p:nvSpPr>
          <p:cNvPr id="8" name="Content Placeholder 1">
            <a:extLst>
              <a:ext uri="{FF2B5EF4-FFF2-40B4-BE49-F238E27FC236}">
                <a16:creationId xmlns:a16="http://schemas.microsoft.com/office/drawing/2014/main" id="{582CEFCE-3E23-A718-BC99-26B7007F9459}"/>
              </a:ext>
            </a:extLst>
          </p:cNvPr>
          <p:cNvSpPr txBox="1">
            <a:spLocks/>
          </p:cNvSpPr>
          <p:nvPr/>
        </p:nvSpPr>
        <p:spPr>
          <a:xfrm>
            <a:off x="342900" y="895290"/>
            <a:ext cx="9066914" cy="45259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IN" b="1" dirty="0">
                <a:solidFill>
                  <a:srgbClr val="FF0000"/>
                </a:solidFill>
              </a:rPr>
              <a:t>(c) POQ</a:t>
            </a:r>
          </a:p>
          <a:p>
            <a:r>
              <a:rPr lang="en-IN" dirty="0"/>
              <a:t>POQ = Q/d = 60/30 = 2 periods worth of requirements</a:t>
            </a:r>
          </a:p>
          <a:p>
            <a:endParaRPr lang="en-IN" dirty="0"/>
          </a:p>
        </p:txBody>
      </p:sp>
      <p:cxnSp>
        <p:nvCxnSpPr>
          <p:cNvPr id="9" name="Straight Connector 8">
            <a:extLst>
              <a:ext uri="{FF2B5EF4-FFF2-40B4-BE49-F238E27FC236}">
                <a16:creationId xmlns:a16="http://schemas.microsoft.com/office/drawing/2014/main" id="{87486FD3-23C7-17B5-55F8-AAEF77C878D8}"/>
              </a:ext>
            </a:extLst>
          </p:cNvPr>
          <p:cNvCxnSpPr>
            <a:cxnSpLocks/>
          </p:cNvCxnSpPr>
          <p:nvPr/>
        </p:nvCxnSpPr>
        <p:spPr>
          <a:xfrm>
            <a:off x="2360162" y="1629945"/>
            <a:ext cx="15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Content Placeholder 3">
            <a:extLst>
              <a:ext uri="{FF2B5EF4-FFF2-40B4-BE49-F238E27FC236}">
                <a16:creationId xmlns:a16="http://schemas.microsoft.com/office/drawing/2014/main" id="{E419DA44-4CF6-56C5-EEF0-CD1132274F22}"/>
              </a:ext>
            </a:extLst>
          </p:cNvPr>
          <p:cNvGraphicFramePr>
            <a:graphicFrameLocks/>
          </p:cNvGraphicFramePr>
          <p:nvPr>
            <p:extLst>
              <p:ext uri="{D42A27DB-BD31-4B8C-83A1-F6EECF244321}">
                <p14:modId xmlns:p14="http://schemas.microsoft.com/office/powerpoint/2010/main" val="2080476450"/>
              </p:ext>
            </p:extLst>
          </p:nvPr>
        </p:nvGraphicFramePr>
        <p:xfrm>
          <a:off x="2933700" y="2025732"/>
          <a:ext cx="6324600" cy="316992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185420">
                <a:tc gridSpan="6">
                  <a:txBody>
                    <a:bodyPr/>
                    <a:lstStyle/>
                    <a:p>
                      <a:r>
                        <a:rPr lang="en-IN" sz="2000" b="1" i="0" u="none" strike="noStrike" kern="1200" baseline="0" dirty="0">
                          <a:solidFill>
                            <a:schemeClr val="lt1"/>
                          </a:solidFill>
                          <a:latin typeface="Times New Roman" panose="02020603050405020304" pitchFamily="18" charset="0"/>
                          <a:ea typeface="+mn-ea"/>
                          <a:cs typeface="Times New Roman" panose="02020603050405020304" pitchFamily="18" charset="0"/>
                        </a:rPr>
                        <a:t>Item: Rod                 LLC: 0                                     Period</a:t>
                      </a:r>
                      <a:endParaRPr lang="en-IN" sz="20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0"/>
                  </a:ext>
                </a:extLst>
              </a:tr>
              <a:tr h="185420">
                <a:tc>
                  <a:txBody>
                    <a:bodyPr/>
                    <a:lstStyle/>
                    <a:p>
                      <a:r>
                        <a:rPr lang="en-IN" sz="2000" b="1" i="0" u="none" strike="noStrike" kern="1200" baseline="0" dirty="0">
                          <a:solidFill>
                            <a:schemeClr val="bg1"/>
                          </a:solidFill>
                          <a:latin typeface="Times New Roman" panose="02020603050405020304" pitchFamily="18" charset="0"/>
                          <a:ea typeface="+mn-ea"/>
                          <a:cs typeface="Times New Roman" panose="02020603050405020304" pitchFamily="18" charset="0"/>
                        </a:rPr>
                        <a:t>Lot Size: POQ 2     LT: 1</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1</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2</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3</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4</a:t>
                      </a:r>
                    </a:p>
                  </a:txBody>
                  <a:tcPr>
                    <a:solidFill>
                      <a:schemeClr val="accent1"/>
                    </a:solidFill>
                  </a:tcPr>
                </a:tc>
                <a:tc>
                  <a:txBody>
                    <a:bodyPr/>
                    <a:lstStyle/>
                    <a:p>
                      <a:r>
                        <a:rPr lang="en-IN" sz="2000" dirty="0">
                          <a:solidFill>
                            <a:schemeClr val="bg1"/>
                          </a:solidFill>
                          <a:latin typeface="Times New Roman" panose="02020603050405020304" pitchFamily="18" charset="0"/>
                          <a:cs typeface="Times New Roman" panose="02020603050405020304" pitchFamily="18" charset="0"/>
                        </a:rPr>
                        <a:t>5</a:t>
                      </a:r>
                    </a:p>
                  </a:txBody>
                  <a:tcPr>
                    <a:solidFill>
                      <a:schemeClr val="accent1"/>
                    </a:solidFill>
                  </a:tcPr>
                </a:tc>
                <a:extLst>
                  <a:ext uri="{0D108BD9-81ED-4DB2-BD59-A6C34878D82A}">
                    <a16:rowId xmlns:a16="http://schemas.microsoft.com/office/drawing/2014/main" val="10001"/>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Gross Requirements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30</a:t>
                      </a: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extLst>
                  <a:ext uri="{0D108BD9-81ED-4DB2-BD59-A6C34878D82A}">
                    <a16:rowId xmlns:a16="http://schemas.microsoft.com/office/drawing/2014/main" val="10002"/>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Scheduled Receipts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Projected on Hand              30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20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40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Net Requirements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Planned Order Receipts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70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r h="370840">
                <a:tc>
                  <a:txBody>
                    <a:bodyPr/>
                    <a:lstStyle/>
                    <a:p>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Planned Order Releases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70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50</a:t>
                      </a: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sp>
        <p:nvSpPr>
          <p:cNvPr id="11" name="Oval 10">
            <a:extLst>
              <a:ext uri="{FF2B5EF4-FFF2-40B4-BE49-F238E27FC236}">
                <a16:creationId xmlns:a16="http://schemas.microsoft.com/office/drawing/2014/main" id="{B9EDEB20-3ECD-66CE-4B57-0F7081319D81}"/>
              </a:ext>
            </a:extLst>
          </p:cNvPr>
          <p:cNvSpPr/>
          <p:nvPr/>
        </p:nvSpPr>
        <p:spPr>
          <a:xfrm>
            <a:off x="6652713" y="2874393"/>
            <a:ext cx="12954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8AFB0C84-22E2-ABE5-7A5F-A88BEEA83568}"/>
              </a:ext>
            </a:extLst>
          </p:cNvPr>
          <p:cNvSpPr/>
          <p:nvPr/>
        </p:nvSpPr>
        <p:spPr>
          <a:xfrm>
            <a:off x="7927329" y="2881317"/>
            <a:ext cx="12954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13" name="Curved Connector 17">
            <a:extLst>
              <a:ext uri="{FF2B5EF4-FFF2-40B4-BE49-F238E27FC236}">
                <a16:creationId xmlns:a16="http://schemas.microsoft.com/office/drawing/2014/main" id="{3859B0D6-2C28-282E-310D-F962C6E29FF3}"/>
              </a:ext>
            </a:extLst>
          </p:cNvPr>
          <p:cNvCxnSpPr>
            <a:stCxn id="11" idx="2"/>
          </p:cNvCxnSpPr>
          <p:nvPr/>
        </p:nvCxnSpPr>
        <p:spPr>
          <a:xfrm rot="10800000" flipH="1" flipV="1">
            <a:off x="6652713" y="3026793"/>
            <a:ext cx="113144" cy="1493980"/>
          </a:xfrm>
          <a:prstGeom prst="curvedConnector4">
            <a:avLst>
              <a:gd name="adj1" fmla="val -202043"/>
              <a:gd name="adj2" fmla="val 99613"/>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Curved Connector 19">
            <a:extLst>
              <a:ext uri="{FF2B5EF4-FFF2-40B4-BE49-F238E27FC236}">
                <a16:creationId xmlns:a16="http://schemas.microsoft.com/office/drawing/2014/main" id="{D824C32A-42A6-362E-FC9A-E317E4441058}"/>
              </a:ext>
            </a:extLst>
          </p:cNvPr>
          <p:cNvCxnSpPr/>
          <p:nvPr/>
        </p:nvCxnSpPr>
        <p:spPr>
          <a:xfrm rot="10800000" flipH="1" flipV="1">
            <a:off x="7948113" y="3026792"/>
            <a:ext cx="113144" cy="1493980"/>
          </a:xfrm>
          <a:prstGeom prst="curvedConnector4">
            <a:avLst>
              <a:gd name="adj1" fmla="val -202043"/>
              <a:gd name="adj2" fmla="val 99613"/>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F98375B-7E87-0F8B-E1FC-443AD790D97A}"/>
              </a:ext>
            </a:extLst>
          </p:cNvPr>
          <p:cNvSpPr/>
          <p:nvPr/>
        </p:nvSpPr>
        <p:spPr>
          <a:xfrm>
            <a:off x="2892048" y="5265008"/>
            <a:ext cx="6324600" cy="400110"/>
          </a:xfrm>
          <a:prstGeom prst="rect">
            <a:avLst/>
          </a:prstGeom>
          <a:solidFill>
            <a:schemeClr val="accent5">
              <a:lumMod val="20000"/>
              <a:lumOff val="80000"/>
            </a:schemeClr>
          </a:solidFill>
          <a:ln>
            <a:solidFill>
              <a:schemeClr val="tx1"/>
            </a:solidFill>
          </a:ln>
        </p:spPr>
        <p:txBody>
          <a:bodyPr wrap="square">
            <a:spAutoFit/>
          </a:bodyPr>
          <a:lstStyle/>
          <a:p>
            <a:r>
              <a:rPr lang="en-IN" sz="2000" dirty="0">
                <a:latin typeface="Times New Roman" panose="02020603050405020304" pitchFamily="18" charset="0"/>
                <a:cs typeface="Times New Roman" panose="02020603050405020304" pitchFamily="18" charset="0"/>
              </a:rPr>
              <a:t>Total cost of POQ = (2 * $60) + [(20 + 40) * $1] = $180</a:t>
            </a:r>
          </a:p>
        </p:txBody>
      </p:sp>
      <p:sp>
        <p:nvSpPr>
          <p:cNvPr id="16" name="Rectangle 15">
            <a:extLst>
              <a:ext uri="{FF2B5EF4-FFF2-40B4-BE49-F238E27FC236}">
                <a16:creationId xmlns:a16="http://schemas.microsoft.com/office/drawing/2014/main" id="{99E07A8B-6932-568A-E31B-B1B039FCE1D8}"/>
              </a:ext>
            </a:extLst>
          </p:cNvPr>
          <p:cNvSpPr/>
          <p:nvPr/>
        </p:nvSpPr>
        <p:spPr>
          <a:xfrm>
            <a:off x="3946467" y="5733752"/>
            <a:ext cx="4650632" cy="400110"/>
          </a:xfrm>
          <a:prstGeom prst="rect">
            <a:avLst/>
          </a:prstGeom>
          <a:solidFill>
            <a:srgbClr val="92D050"/>
          </a:solidFill>
          <a:ln>
            <a:solidFill>
              <a:schemeClr val="tx1"/>
            </a:solidFill>
          </a:ln>
        </p:spPr>
        <p:txBody>
          <a:bodyPr wrap="none">
            <a:spAutoFit/>
          </a:bodyPr>
          <a:lstStyle/>
          <a:p>
            <a:r>
              <a:rPr lang="en-IN" sz="2000" dirty="0">
                <a:solidFill>
                  <a:schemeClr val="tx1"/>
                </a:solidFill>
                <a:latin typeface="Times New Roman" panose="02020603050405020304" pitchFamily="18" charset="0"/>
                <a:cs typeface="Times New Roman" panose="02020603050405020304" pitchFamily="18" charset="0"/>
              </a:rPr>
              <a:t>POQ is the lowest cost lot sizing technique.</a:t>
            </a:r>
          </a:p>
        </p:txBody>
      </p:sp>
    </p:spTree>
    <p:extLst>
      <p:ext uri="{BB962C8B-B14F-4D97-AF65-F5344CB8AC3E}">
        <p14:creationId xmlns:p14="http://schemas.microsoft.com/office/powerpoint/2010/main" val="79788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8C903-D239-1EDD-10B3-B4CD431E659A}"/>
              </a:ext>
            </a:extLst>
          </p:cNvPr>
          <p:cNvSpPr>
            <a:spLocks noGrp="1"/>
          </p:cNvSpPr>
          <p:nvPr>
            <p:ph type="title"/>
          </p:nvPr>
        </p:nvSpPr>
        <p:spPr/>
        <p:txBody>
          <a:bodyPr/>
          <a:lstStyle/>
          <a:p>
            <a:r>
              <a:rPr lang="en-IN" dirty="0"/>
              <a:t>MRP outputs</a:t>
            </a:r>
          </a:p>
        </p:txBody>
      </p:sp>
      <p:sp>
        <p:nvSpPr>
          <p:cNvPr id="3" name="Text Placeholder 2">
            <a:extLst>
              <a:ext uri="{FF2B5EF4-FFF2-40B4-BE49-F238E27FC236}">
                <a16:creationId xmlns:a16="http://schemas.microsoft.com/office/drawing/2014/main" id="{8E422387-2E3C-EC7F-71B8-891D5E10CD64}"/>
              </a:ext>
            </a:extLst>
          </p:cNvPr>
          <p:cNvSpPr>
            <a:spLocks noGrp="1"/>
          </p:cNvSpPr>
          <p:nvPr>
            <p:ph type="body" idx="1"/>
          </p:nvPr>
        </p:nvSpPr>
        <p:spPr/>
        <p:txBody>
          <a:bodyPr/>
          <a:lstStyle/>
          <a:p>
            <a:r>
              <a:rPr lang="en-IN" dirty="0"/>
              <a:t>The outputs of the MRP process are planned orders from the </a:t>
            </a:r>
            <a:r>
              <a:rPr lang="en-IN" dirty="0">
                <a:solidFill>
                  <a:srgbClr val="FF0000"/>
                </a:solidFill>
              </a:rPr>
              <a:t>planned order release row</a:t>
            </a:r>
            <a:r>
              <a:rPr lang="en-IN" dirty="0"/>
              <a:t> of the MRP matrix.</a:t>
            </a:r>
          </a:p>
          <a:p>
            <a:r>
              <a:rPr lang="en-IN" dirty="0"/>
              <a:t>These can represent </a:t>
            </a:r>
            <a:r>
              <a:rPr lang="en-IN" i="1" dirty="0">
                <a:solidFill>
                  <a:srgbClr val="FF0000"/>
                </a:solidFill>
              </a:rPr>
              <a:t>work orders </a:t>
            </a:r>
            <a:r>
              <a:rPr lang="en-IN" dirty="0"/>
              <a:t>to be released to the shop floor for in-house production or </a:t>
            </a:r>
            <a:r>
              <a:rPr lang="en-IN" i="1" dirty="0">
                <a:solidFill>
                  <a:srgbClr val="FF0000"/>
                </a:solidFill>
              </a:rPr>
              <a:t>purchase orders </a:t>
            </a:r>
            <a:r>
              <a:rPr lang="en-IN" dirty="0"/>
              <a:t>to be sent to outside suppliers. </a:t>
            </a:r>
          </a:p>
          <a:p>
            <a:r>
              <a:rPr lang="en-IN" dirty="0"/>
              <a:t>MRP output can also recommend </a:t>
            </a:r>
            <a:r>
              <a:rPr lang="en-IN" dirty="0">
                <a:solidFill>
                  <a:srgbClr val="FF0000"/>
                </a:solidFill>
              </a:rPr>
              <a:t>changes in previous plans or existing schedules.</a:t>
            </a:r>
            <a:r>
              <a:rPr lang="en-IN" dirty="0"/>
              <a:t> </a:t>
            </a:r>
          </a:p>
          <a:p>
            <a:r>
              <a:rPr lang="en-IN" dirty="0"/>
              <a:t>One of the advantages of the MRP system is its ability to show the effect of change in one part of the production process on the rest of the system.</a:t>
            </a:r>
          </a:p>
        </p:txBody>
      </p:sp>
      <p:sp>
        <p:nvSpPr>
          <p:cNvPr id="4" name="Date Placeholder 3">
            <a:extLst>
              <a:ext uri="{FF2B5EF4-FFF2-40B4-BE49-F238E27FC236}">
                <a16:creationId xmlns:a16="http://schemas.microsoft.com/office/drawing/2014/main" id="{4CA19F67-5A8F-C09F-DE7D-88EB8379FBE9}"/>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8DFC9DF0-D317-3CF5-E078-374E82506B36}"/>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DF9BA44E-CC32-74D4-B1AF-1B9BB67F4CC1}"/>
              </a:ext>
            </a:extLst>
          </p:cNvPr>
          <p:cNvSpPr>
            <a:spLocks noGrp="1"/>
          </p:cNvSpPr>
          <p:nvPr>
            <p:ph type="sldNum" idx="12"/>
          </p:nvPr>
        </p:nvSpPr>
        <p:spPr/>
        <p:txBody>
          <a:bodyPr/>
          <a:lstStyle/>
          <a:p>
            <a:fld id="{00000000-1234-1234-1234-123412341234}" type="slidenum">
              <a:rPr lang="en-US" smtClean="0"/>
              <a:pPr/>
              <a:t>43</a:t>
            </a:fld>
            <a:endParaRPr lang="en-US" dirty="0"/>
          </a:p>
        </p:txBody>
      </p:sp>
    </p:spTree>
    <p:extLst>
      <p:ext uri="{BB962C8B-B14F-4D97-AF65-F5344CB8AC3E}">
        <p14:creationId xmlns:p14="http://schemas.microsoft.com/office/powerpoint/2010/main" val="428636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FA5B-F4B7-2D92-167C-105E794E2544}"/>
              </a:ext>
            </a:extLst>
          </p:cNvPr>
          <p:cNvSpPr>
            <a:spLocks noGrp="1"/>
          </p:cNvSpPr>
          <p:nvPr>
            <p:ph type="title"/>
          </p:nvPr>
        </p:nvSpPr>
        <p:spPr/>
        <p:txBody>
          <a:bodyPr/>
          <a:lstStyle/>
          <a:p>
            <a:r>
              <a:rPr lang="en-IN" dirty="0"/>
              <a:t>Manufacturing Resource Planning (MRP II)</a:t>
            </a:r>
          </a:p>
        </p:txBody>
      </p:sp>
      <p:sp>
        <p:nvSpPr>
          <p:cNvPr id="4" name="Date Placeholder 3">
            <a:extLst>
              <a:ext uri="{FF2B5EF4-FFF2-40B4-BE49-F238E27FC236}">
                <a16:creationId xmlns:a16="http://schemas.microsoft.com/office/drawing/2014/main" id="{03EAEAF7-5F46-3533-F4DA-461D55DAA6E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65FE23C1-E340-3E46-BCB7-32D85AD7AD40}"/>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2A3E6B8A-0B49-401A-944D-0510DD42E83D}"/>
              </a:ext>
            </a:extLst>
          </p:cNvPr>
          <p:cNvSpPr>
            <a:spLocks noGrp="1"/>
          </p:cNvSpPr>
          <p:nvPr>
            <p:ph type="sldNum" idx="12"/>
          </p:nvPr>
        </p:nvSpPr>
        <p:spPr/>
        <p:txBody>
          <a:bodyPr/>
          <a:lstStyle/>
          <a:p>
            <a:fld id="{00000000-1234-1234-1234-123412341234}" type="slidenum">
              <a:rPr lang="en-US" smtClean="0"/>
              <a:pPr/>
              <a:t>44</a:t>
            </a:fld>
            <a:endParaRPr lang="en-US" dirty="0"/>
          </a:p>
        </p:txBody>
      </p:sp>
      <p:pic>
        <p:nvPicPr>
          <p:cNvPr id="10" name="Picture 2">
            <a:extLst>
              <a:ext uri="{FF2B5EF4-FFF2-40B4-BE49-F238E27FC236}">
                <a16:creationId xmlns:a16="http://schemas.microsoft.com/office/drawing/2014/main" id="{65A4EDCD-70CB-390C-BEB1-CBDED55F7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71" y="1032945"/>
            <a:ext cx="3576275" cy="5123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 name="Picture 2">
            <a:extLst>
              <a:ext uri="{FF2B5EF4-FFF2-40B4-BE49-F238E27FC236}">
                <a16:creationId xmlns:a16="http://schemas.microsoft.com/office/drawing/2014/main" id="{B56BE7FA-167D-4B67-0B72-0D95BEB87E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5652"/>
          <a:stretch/>
        </p:blipFill>
        <p:spPr bwMode="auto">
          <a:xfrm>
            <a:off x="4317372" y="1908538"/>
            <a:ext cx="7271386" cy="3577863"/>
          </a:xfrm>
          <a:prstGeom prst="roundRect">
            <a:avLst>
              <a:gd name="adj" fmla="val 16667"/>
            </a:avLst>
          </a:prstGeom>
          <a:ln w="28575">
            <a:solidFill>
              <a:srgbClr val="00206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08" name="Rectangle: Rounded Corners 207">
            <a:extLst>
              <a:ext uri="{FF2B5EF4-FFF2-40B4-BE49-F238E27FC236}">
                <a16:creationId xmlns:a16="http://schemas.microsoft.com/office/drawing/2014/main" id="{BD3A4CFD-058E-4B0A-8658-4014CBA3338E}"/>
              </a:ext>
            </a:extLst>
          </p:cNvPr>
          <p:cNvSpPr/>
          <p:nvPr/>
        </p:nvSpPr>
        <p:spPr>
          <a:xfrm>
            <a:off x="247171" y="1032945"/>
            <a:ext cx="3576275" cy="1827213"/>
          </a:xfrm>
          <a:prstGeom prst="roundRect">
            <a:avLst>
              <a:gd name="adj" fmla="val 13176"/>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1" name="Freeform: Shape 210">
            <a:extLst>
              <a:ext uri="{FF2B5EF4-FFF2-40B4-BE49-F238E27FC236}">
                <a16:creationId xmlns:a16="http://schemas.microsoft.com/office/drawing/2014/main" id="{5F2304F2-56A5-3E38-ABDE-DEB1E2DBDE46}"/>
              </a:ext>
            </a:extLst>
          </p:cNvPr>
          <p:cNvSpPr/>
          <p:nvPr/>
        </p:nvSpPr>
        <p:spPr>
          <a:xfrm>
            <a:off x="3668233" y="1032945"/>
            <a:ext cx="7501994" cy="891548"/>
          </a:xfrm>
          <a:custGeom>
            <a:avLst/>
            <a:gdLst>
              <a:gd name="connsiteX0" fmla="*/ 0 w 7357730"/>
              <a:gd name="connsiteY0" fmla="*/ 0 h 871870"/>
              <a:gd name="connsiteX1" fmla="*/ 7357730 w 7357730"/>
              <a:gd name="connsiteY1" fmla="*/ 871870 h 871870"/>
            </a:gdLst>
            <a:ahLst/>
            <a:cxnLst>
              <a:cxn ang="0">
                <a:pos x="connsiteX0" y="connsiteY0"/>
              </a:cxn>
              <a:cxn ang="0">
                <a:pos x="connsiteX1" y="connsiteY1"/>
              </a:cxn>
            </a:cxnLst>
            <a:rect l="l" t="t" r="r" b="b"/>
            <a:pathLst>
              <a:path w="7357730" h="871870">
                <a:moveTo>
                  <a:pt x="0" y="0"/>
                </a:moveTo>
                <a:cubicBezTo>
                  <a:pt x="3055974" y="312774"/>
                  <a:pt x="6111949" y="625549"/>
                  <a:pt x="7357730" y="871870"/>
                </a:cubicBez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2" name="Freeform: Shape 211">
            <a:extLst>
              <a:ext uri="{FF2B5EF4-FFF2-40B4-BE49-F238E27FC236}">
                <a16:creationId xmlns:a16="http://schemas.microsoft.com/office/drawing/2014/main" id="{8116BF0A-342B-62D2-0DF2-370D0D44EDC9}"/>
              </a:ext>
            </a:extLst>
          </p:cNvPr>
          <p:cNvSpPr/>
          <p:nvPr/>
        </p:nvSpPr>
        <p:spPr>
          <a:xfrm>
            <a:off x="3581401" y="2860158"/>
            <a:ext cx="735971" cy="2190307"/>
          </a:xfrm>
          <a:custGeom>
            <a:avLst/>
            <a:gdLst>
              <a:gd name="connsiteX0" fmla="*/ 0 w 723014"/>
              <a:gd name="connsiteY0" fmla="*/ 0 h 2286000"/>
              <a:gd name="connsiteX1" fmla="*/ 723014 w 723014"/>
              <a:gd name="connsiteY1" fmla="*/ 2286000 h 2286000"/>
              <a:gd name="connsiteX2" fmla="*/ 723014 w 723014"/>
              <a:gd name="connsiteY2" fmla="*/ 2286000 h 2286000"/>
              <a:gd name="connsiteX3" fmla="*/ 723014 w 723014"/>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723014" h="2286000">
                <a:moveTo>
                  <a:pt x="0" y="0"/>
                </a:moveTo>
                <a:lnTo>
                  <a:pt x="723014" y="2286000"/>
                </a:lnTo>
                <a:lnTo>
                  <a:pt x="723014" y="2286000"/>
                </a:lnTo>
                <a:lnTo>
                  <a:pt x="723014" y="2286000"/>
                </a:ln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1045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P spid="211" grpId="0" animBg="1"/>
      <p:bldP spid="2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FA5B-F4B7-2D92-167C-105E794E2544}"/>
              </a:ext>
            </a:extLst>
          </p:cNvPr>
          <p:cNvSpPr>
            <a:spLocks noGrp="1"/>
          </p:cNvSpPr>
          <p:nvPr>
            <p:ph type="title"/>
          </p:nvPr>
        </p:nvSpPr>
        <p:spPr/>
        <p:txBody>
          <a:bodyPr/>
          <a:lstStyle/>
          <a:p>
            <a:r>
              <a:rPr lang="en-IN" dirty="0"/>
              <a:t>Manufacturing Resource Planning (MRP II)</a:t>
            </a:r>
          </a:p>
        </p:txBody>
      </p:sp>
      <p:sp>
        <p:nvSpPr>
          <p:cNvPr id="4" name="Date Placeholder 3">
            <a:extLst>
              <a:ext uri="{FF2B5EF4-FFF2-40B4-BE49-F238E27FC236}">
                <a16:creationId xmlns:a16="http://schemas.microsoft.com/office/drawing/2014/main" id="{03EAEAF7-5F46-3533-F4DA-461D55DAA6E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65FE23C1-E340-3E46-BCB7-32D85AD7AD40}"/>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2A3E6B8A-0B49-401A-944D-0510DD42E83D}"/>
              </a:ext>
            </a:extLst>
          </p:cNvPr>
          <p:cNvSpPr>
            <a:spLocks noGrp="1"/>
          </p:cNvSpPr>
          <p:nvPr>
            <p:ph type="sldNum" idx="12"/>
          </p:nvPr>
        </p:nvSpPr>
        <p:spPr/>
        <p:txBody>
          <a:bodyPr/>
          <a:lstStyle/>
          <a:p>
            <a:fld id="{00000000-1234-1234-1234-123412341234}" type="slidenum">
              <a:rPr lang="en-US" smtClean="0"/>
              <a:pPr/>
              <a:t>45</a:t>
            </a:fld>
            <a:endParaRPr lang="en-US" dirty="0"/>
          </a:p>
        </p:txBody>
      </p:sp>
      <p:pic>
        <p:nvPicPr>
          <p:cNvPr id="10" name="Picture 2">
            <a:extLst>
              <a:ext uri="{FF2B5EF4-FFF2-40B4-BE49-F238E27FC236}">
                <a16:creationId xmlns:a16="http://schemas.microsoft.com/office/drawing/2014/main" id="{65A4EDCD-70CB-390C-BEB1-CBDED55F7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71" y="1032945"/>
            <a:ext cx="3576275" cy="5123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 name="Rectangle: Rounded Corners 207">
            <a:extLst>
              <a:ext uri="{FF2B5EF4-FFF2-40B4-BE49-F238E27FC236}">
                <a16:creationId xmlns:a16="http://schemas.microsoft.com/office/drawing/2014/main" id="{BD3A4CFD-058E-4B0A-8658-4014CBA3338E}"/>
              </a:ext>
            </a:extLst>
          </p:cNvPr>
          <p:cNvSpPr/>
          <p:nvPr/>
        </p:nvSpPr>
        <p:spPr>
          <a:xfrm>
            <a:off x="247171" y="2829846"/>
            <a:ext cx="3576275" cy="1720889"/>
          </a:xfrm>
          <a:prstGeom prst="roundRect">
            <a:avLst>
              <a:gd name="adj" fmla="val 13176"/>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1" name="Freeform: Shape 210">
            <a:extLst>
              <a:ext uri="{FF2B5EF4-FFF2-40B4-BE49-F238E27FC236}">
                <a16:creationId xmlns:a16="http://schemas.microsoft.com/office/drawing/2014/main" id="{5F2304F2-56A5-3E38-ABDE-DEB1E2DBDE46}"/>
              </a:ext>
            </a:extLst>
          </p:cNvPr>
          <p:cNvSpPr/>
          <p:nvPr/>
        </p:nvSpPr>
        <p:spPr>
          <a:xfrm flipV="1">
            <a:off x="3581401" y="2021598"/>
            <a:ext cx="948069" cy="808248"/>
          </a:xfrm>
          <a:custGeom>
            <a:avLst/>
            <a:gdLst>
              <a:gd name="connsiteX0" fmla="*/ 0 w 7357730"/>
              <a:gd name="connsiteY0" fmla="*/ 0 h 871870"/>
              <a:gd name="connsiteX1" fmla="*/ 7357730 w 7357730"/>
              <a:gd name="connsiteY1" fmla="*/ 871870 h 871870"/>
            </a:gdLst>
            <a:ahLst/>
            <a:cxnLst>
              <a:cxn ang="0">
                <a:pos x="connsiteX0" y="connsiteY0"/>
              </a:cxn>
              <a:cxn ang="0">
                <a:pos x="connsiteX1" y="connsiteY1"/>
              </a:cxn>
            </a:cxnLst>
            <a:rect l="l" t="t" r="r" b="b"/>
            <a:pathLst>
              <a:path w="7357730" h="871870">
                <a:moveTo>
                  <a:pt x="0" y="0"/>
                </a:moveTo>
                <a:cubicBezTo>
                  <a:pt x="3055974" y="312774"/>
                  <a:pt x="6111949" y="625549"/>
                  <a:pt x="7357730" y="871870"/>
                </a:cubicBez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2" name="Freeform: Shape 211">
            <a:extLst>
              <a:ext uri="{FF2B5EF4-FFF2-40B4-BE49-F238E27FC236}">
                <a16:creationId xmlns:a16="http://schemas.microsoft.com/office/drawing/2014/main" id="{8116BF0A-342B-62D2-0DF2-370D0D44EDC9}"/>
              </a:ext>
            </a:extLst>
          </p:cNvPr>
          <p:cNvSpPr/>
          <p:nvPr/>
        </p:nvSpPr>
        <p:spPr>
          <a:xfrm>
            <a:off x="3581400" y="4550735"/>
            <a:ext cx="777949" cy="616688"/>
          </a:xfrm>
          <a:custGeom>
            <a:avLst/>
            <a:gdLst>
              <a:gd name="connsiteX0" fmla="*/ 0 w 723014"/>
              <a:gd name="connsiteY0" fmla="*/ 0 h 2286000"/>
              <a:gd name="connsiteX1" fmla="*/ 723014 w 723014"/>
              <a:gd name="connsiteY1" fmla="*/ 2286000 h 2286000"/>
              <a:gd name="connsiteX2" fmla="*/ 723014 w 723014"/>
              <a:gd name="connsiteY2" fmla="*/ 2286000 h 2286000"/>
              <a:gd name="connsiteX3" fmla="*/ 723014 w 723014"/>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723014" h="2286000">
                <a:moveTo>
                  <a:pt x="0" y="0"/>
                </a:moveTo>
                <a:lnTo>
                  <a:pt x="723014" y="2286000"/>
                </a:lnTo>
                <a:lnTo>
                  <a:pt x="723014" y="2286000"/>
                </a:lnTo>
                <a:lnTo>
                  <a:pt x="723014" y="2286000"/>
                </a:ln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FDBBF777-FB56-7C4E-FAC4-EC7D98C571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559" b="31643"/>
          <a:stretch/>
        </p:blipFill>
        <p:spPr bwMode="auto">
          <a:xfrm>
            <a:off x="4297229" y="1916154"/>
            <a:ext cx="7280896" cy="3525181"/>
          </a:xfrm>
          <a:prstGeom prst="roundRect">
            <a:avLst>
              <a:gd name="adj" fmla="val 16667"/>
            </a:avLst>
          </a:prstGeom>
          <a:ln w="28575">
            <a:solidFill>
              <a:schemeClr val="tx1"/>
            </a:solidFill>
            <a:miter lim="800000"/>
            <a:headEnd/>
            <a:tailEnd/>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427888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FA5B-F4B7-2D92-167C-105E794E2544}"/>
              </a:ext>
            </a:extLst>
          </p:cNvPr>
          <p:cNvSpPr>
            <a:spLocks noGrp="1"/>
          </p:cNvSpPr>
          <p:nvPr>
            <p:ph type="title"/>
          </p:nvPr>
        </p:nvSpPr>
        <p:spPr/>
        <p:txBody>
          <a:bodyPr/>
          <a:lstStyle/>
          <a:p>
            <a:r>
              <a:rPr lang="en-IN" dirty="0"/>
              <a:t>Manufacturing Resource Planning (MRP II)</a:t>
            </a:r>
          </a:p>
        </p:txBody>
      </p:sp>
      <p:sp>
        <p:nvSpPr>
          <p:cNvPr id="4" name="Date Placeholder 3">
            <a:extLst>
              <a:ext uri="{FF2B5EF4-FFF2-40B4-BE49-F238E27FC236}">
                <a16:creationId xmlns:a16="http://schemas.microsoft.com/office/drawing/2014/main" id="{03EAEAF7-5F46-3533-F4DA-461D55DAA6E6}"/>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65FE23C1-E340-3E46-BCB7-32D85AD7AD40}"/>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2A3E6B8A-0B49-401A-944D-0510DD42E83D}"/>
              </a:ext>
            </a:extLst>
          </p:cNvPr>
          <p:cNvSpPr>
            <a:spLocks noGrp="1"/>
          </p:cNvSpPr>
          <p:nvPr>
            <p:ph type="sldNum" idx="12"/>
          </p:nvPr>
        </p:nvSpPr>
        <p:spPr/>
        <p:txBody>
          <a:bodyPr/>
          <a:lstStyle/>
          <a:p>
            <a:fld id="{00000000-1234-1234-1234-123412341234}" type="slidenum">
              <a:rPr lang="en-US" smtClean="0"/>
              <a:pPr/>
              <a:t>46</a:t>
            </a:fld>
            <a:endParaRPr lang="en-US" dirty="0"/>
          </a:p>
        </p:txBody>
      </p:sp>
      <p:pic>
        <p:nvPicPr>
          <p:cNvPr id="10" name="Picture 2">
            <a:extLst>
              <a:ext uri="{FF2B5EF4-FFF2-40B4-BE49-F238E27FC236}">
                <a16:creationId xmlns:a16="http://schemas.microsoft.com/office/drawing/2014/main" id="{65A4EDCD-70CB-390C-BEB1-CBDED55F7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71" y="1022132"/>
            <a:ext cx="3576275" cy="5123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 name="Rectangle: Rounded Corners 207">
            <a:extLst>
              <a:ext uri="{FF2B5EF4-FFF2-40B4-BE49-F238E27FC236}">
                <a16:creationId xmlns:a16="http://schemas.microsoft.com/office/drawing/2014/main" id="{BD3A4CFD-058E-4B0A-8658-4014CBA3338E}"/>
              </a:ext>
            </a:extLst>
          </p:cNvPr>
          <p:cNvSpPr/>
          <p:nvPr/>
        </p:nvSpPr>
        <p:spPr>
          <a:xfrm>
            <a:off x="247171" y="4445999"/>
            <a:ext cx="3576275" cy="1720889"/>
          </a:xfrm>
          <a:prstGeom prst="roundRect">
            <a:avLst>
              <a:gd name="adj" fmla="val 13176"/>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1" name="Freeform: Shape 210">
            <a:extLst>
              <a:ext uri="{FF2B5EF4-FFF2-40B4-BE49-F238E27FC236}">
                <a16:creationId xmlns:a16="http://schemas.microsoft.com/office/drawing/2014/main" id="{5F2304F2-56A5-3E38-ABDE-DEB1E2DBDE46}"/>
              </a:ext>
            </a:extLst>
          </p:cNvPr>
          <p:cNvSpPr/>
          <p:nvPr/>
        </p:nvSpPr>
        <p:spPr>
          <a:xfrm flipV="1">
            <a:off x="3600894" y="2307264"/>
            <a:ext cx="696335" cy="2138732"/>
          </a:xfrm>
          <a:custGeom>
            <a:avLst/>
            <a:gdLst>
              <a:gd name="connsiteX0" fmla="*/ 0 w 7357730"/>
              <a:gd name="connsiteY0" fmla="*/ 0 h 871870"/>
              <a:gd name="connsiteX1" fmla="*/ 7357730 w 7357730"/>
              <a:gd name="connsiteY1" fmla="*/ 871870 h 871870"/>
            </a:gdLst>
            <a:ahLst/>
            <a:cxnLst>
              <a:cxn ang="0">
                <a:pos x="connsiteX0" y="connsiteY0"/>
              </a:cxn>
              <a:cxn ang="0">
                <a:pos x="connsiteX1" y="connsiteY1"/>
              </a:cxn>
            </a:cxnLst>
            <a:rect l="l" t="t" r="r" b="b"/>
            <a:pathLst>
              <a:path w="7357730" h="871870">
                <a:moveTo>
                  <a:pt x="0" y="0"/>
                </a:moveTo>
                <a:cubicBezTo>
                  <a:pt x="3055974" y="312774"/>
                  <a:pt x="6111949" y="625549"/>
                  <a:pt x="7357730" y="871870"/>
                </a:cubicBez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2" name="Freeform: Shape 211">
            <a:extLst>
              <a:ext uri="{FF2B5EF4-FFF2-40B4-BE49-F238E27FC236}">
                <a16:creationId xmlns:a16="http://schemas.microsoft.com/office/drawing/2014/main" id="{8116BF0A-342B-62D2-0DF2-370D0D44EDC9}"/>
              </a:ext>
            </a:extLst>
          </p:cNvPr>
          <p:cNvSpPr/>
          <p:nvPr/>
        </p:nvSpPr>
        <p:spPr>
          <a:xfrm flipV="1">
            <a:off x="3730255" y="5263116"/>
            <a:ext cx="7418706" cy="871511"/>
          </a:xfrm>
          <a:custGeom>
            <a:avLst/>
            <a:gdLst>
              <a:gd name="connsiteX0" fmla="*/ 0 w 723014"/>
              <a:gd name="connsiteY0" fmla="*/ 0 h 2286000"/>
              <a:gd name="connsiteX1" fmla="*/ 723014 w 723014"/>
              <a:gd name="connsiteY1" fmla="*/ 2286000 h 2286000"/>
              <a:gd name="connsiteX2" fmla="*/ 723014 w 723014"/>
              <a:gd name="connsiteY2" fmla="*/ 2286000 h 2286000"/>
              <a:gd name="connsiteX3" fmla="*/ 723014 w 723014"/>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723014" h="2286000">
                <a:moveTo>
                  <a:pt x="0" y="0"/>
                </a:moveTo>
                <a:lnTo>
                  <a:pt x="723014" y="2286000"/>
                </a:lnTo>
                <a:lnTo>
                  <a:pt x="723014" y="2286000"/>
                </a:lnTo>
                <a:lnTo>
                  <a:pt x="723014" y="2286000"/>
                </a:ln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a:extLst>
              <a:ext uri="{FF2B5EF4-FFF2-40B4-BE49-F238E27FC236}">
                <a16:creationId xmlns:a16="http://schemas.microsoft.com/office/drawing/2014/main" id="{A2CD0AA9-59FA-5A26-DDFD-E709DAE9B9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7977"/>
          <a:stretch/>
        </p:blipFill>
        <p:spPr bwMode="auto">
          <a:xfrm>
            <a:off x="4297229" y="1922093"/>
            <a:ext cx="7306129" cy="3351656"/>
          </a:xfrm>
          <a:prstGeom prst="roundRect">
            <a:avLst>
              <a:gd name="adj" fmla="val 16667"/>
            </a:avLst>
          </a:prstGeom>
          <a:ln w="28575">
            <a:solidFill>
              <a:schemeClr val="tx1"/>
            </a:solidFill>
            <a:miter lim="800000"/>
            <a:headEnd/>
            <a:tailEnd/>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045891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E7E71-CFBE-46D6-3844-CAC45CED102C}"/>
              </a:ext>
            </a:extLst>
          </p:cNvPr>
          <p:cNvSpPr>
            <a:spLocks noGrp="1"/>
          </p:cNvSpPr>
          <p:nvPr>
            <p:ph type="title"/>
          </p:nvPr>
        </p:nvSpPr>
        <p:spPr/>
        <p:txBody>
          <a:bodyPr/>
          <a:lstStyle/>
          <a:p>
            <a:r>
              <a:rPr lang="en-IN" dirty="0"/>
              <a:t>Capacity Requirements Planning (CRP)</a:t>
            </a:r>
          </a:p>
        </p:txBody>
      </p:sp>
      <p:sp>
        <p:nvSpPr>
          <p:cNvPr id="3" name="Text Placeholder 2">
            <a:extLst>
              <a:ext uri="{FF2B5EF4-FFF2-40B4-BE49-F238E27FC236}">
                <a16:creationId xmlns:a16="http://schemas.microsoft.com/office/drawing/2014/main" id="{8580955B-1C97-574A-5BD4-0EB013A5D76B}"/>
              </a:ext>
            </a:extLst>
          </p:cNvPr>
          <p:cNvSpPr>
            <a:spLocks noGrp="1"/>
          </p:cNvSpPr>
          <p:nvPr>
            <p:ph type="body" idx="1"/>
          </p:nvPr>
        </p:nvSpPr>
        <p:spPr/>
        <p:txBody>
          <a:bodyPr/>
          <a:lstStyle/>
          <a:p>
            <a:r>
              <a:rPr lang="en-IN" b="1" dirty="0"/>
              <a:t>Capacity requirements planning (CRP) </a:t>
            </a:r>
            <a:r>
              <a:rPr lang="en-IN" dirty="0"/>
              <a:t>is a computerized system that projects the load from a given material plan onto the capacity of a system and identifies underloads and overloads. </a:t>
            </a:r>
          </a:p>
          <a:p>
            <a:r>
              <a:rPr lang="en-IN" dirty="0"/>
              <a:t>It is then up to the MRP planner to </a:t>
            </a:r>
            <a:r>
              <a:rPr lang="en-IN" i="1" dirty="0">
                <a:solidFill>
                  <a:srgbClr val="FF0000"/>
                </a:solidFill>
              </a:rPr>
              <a:t>level the load</a:t>
            </a:r>
            <a:r>
              <a:rPr lang="en-IN" dirty="0"/>
              <a:t>—smooth out the resource requirements so that capacity constraints are not violated. </a:t>
            </a:r>
          </a:p>
          <a:p>
            <a:r>
              <a:rPr lang="en-IN" dirty="0"/>
              <a:t>This can be accomplished by </a:t>
            </a:r>
            <a:r>
              <a:rPr lang="en-IN" dirty="0">
                <a:solidFill>
                  <a:srgbClr val="FF0000"/>
                </a:solidFill>
              </a:rPr>
              <a:t>shifting</a:t>
            </a:r>
            <a:r>
              <a:rPr lang="en-IN" dirty="0"/>
              <a:t> requirements, </a:t>
            </a:r>
            <a:r>
              <a:rPr lang="en-IN" dirty="0">
                <a:solidFill>
                  <a:srgbClr val="FF0000"/>
                </a:solidFill>
              </a:rPr>
              <a:t>reducing</a:t>
            </a:r>
            <a:r>
              <a:rPr lang="en-IN" dirty="0"/>
              <a:t> requirements, or </a:t>
            </a:r>
            <a:r>
              <a:rPr lang="en-IN" dirty="0">
                <a:solidFill>
                  <a:srgbClr val="FF0000"/>
                </a:solidFill>
              </a:rPr>
              <a:t>temporarily expanding</a:t>
            </a:r>
            <a:r>
              <a:rPr lang="en-IN" dirty="0"/>
              <a:t> capacity.</a:t>
            </a:r>
          </a:p>
        </p:txBody>
      </p:sp>
      <p:sp>
        <p:nvSpPr>
          <p:cNvPr id="4" name="Date Placeholder 3">
            <a:extLst>
              <a:ext uri="{FF2B5EF4-FFF2-40B4-BE49-F238E27FC236}">
                <a16:creationId xmlns:a16="http://schemas.microsoft.com/office/drawing/2014/main" id="{91B7D1DE-F428-F0D7-62F2-3431BB3212D8}"/>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E194ED26-8744-5BA8-B82C-3BD426F02F9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0419097-D520-8B3E-B2AF-A0576545CAAB}"/>
              </a:ext>
            </a:extLst>
          </p:cNvPr>
          <p:cNvSpPr>
            <a:spLocks noGrp="1"/>
          </p:cNvSpPr>
          <p:nvPr>
            <p:ph type="sldNum" idx="12"/>
          </p:nvPr>
        </p:nvSpPr>
        <p:spPr/>
        <p:txBody>
          <a:bodyPr/>
          <a:lstStyle/>
          <a:p>
            <a:fld id="{00000000-1234-1234-1234-123412341234}" type="slidenum">
              <a:rPr lang="en-US" smtClean="0"/>
              <a:pPr/>
              <a:t>47</a:t>
            </a:fld>
            <a:endParaRPr lang="en-US" dirty="0"/>
          </a:p>
        </p:txBody>
      </p:sp>
    </p:spTree>
    <p:extLst>
      <p:ext uri="{BB962C8B-B14F-4D97-AF65-F5344CB8AC3E}">
        <p14:creationId xmlns:p14="http://schemas.microsoft.com/office/powerpoint/2010/main" val="326873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E31A8-626F-8EC0-71E9-7E0166E81FDC}"/>
              </a:ext>
            </a:extLst>
          </p:cNvPr>
          <p:cNvSpPr>
            <a:spLocks noGrp="1"/>
          </p:cNvSpPr>
          <p:nvPr>
            <p:ph type="title"/>
          </p:nvPr>
        </p:nvSpPr>
        <p:spPr/>
        <p:txBody>
          <a:bodyPr/>
          <a:lstStyle/>
          <a:p>
            <a:r>
              <a:rPr lang="en-IN" dirty="0"/>
              <a:t>Capacity Requirements Planning (CRP)</a:t>
            </a:r>
          </a:p>
        </p:txBody>
      </p:sp>
      <p:sp>
        <p:nvSpPr>
          <p:cNvPr id="4" name="Date Placeholder 3">
            <a:extLst>
              <a:ext uri="{FF2B5EF4-FFF2-40B4-BE49-F238E27FC236}">
                <a16:creationId xmlns:a16="http://schemas.microsoft.com/office/drawing/2014/main" id="{0B474578-6479-F941-AE08-DB096D7F2005}"/>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062ED3E-BA78-A2AF-FD7E-633530D88DBE}"/>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BE3E2D5F-AF54-A4BD-444F-EB2CE2A39CB4}"/>
              </a:ext>
            </a:extLst>
          </p:cNvPr>
          <p:cNvSpPr>
            <a:spLocks noGrp="1"/>
          </p:cNvSpPr>
          <p:nvPr>
            <p:ph type="sldNum" idx="12"/>
          </p:nvPr>
        </p:nvSpPr>
        <p:spPr/>
        <p:txBody>
          <a:bodyPr/>
          <a:lstStyle/>
          <a:p>
            <a:fld id="{00000000-1234-1234-1234-123412341234}" type="slidenum">
              <a:rPr lang="en-US" smtClean="0"/>
              <a:pPr/>
              <a:t>48</a:t>
            </a:fld>
            <a:endParaRPr lang="en-US" dirty="0"/>
          </a:p>
        </p:txBody>
      </p:sp>
      <p:pic>
        <p:nvPicPr>
          <p:cNvPr id="8" name="Picture 2">
            <a:extLst>
              <a:ext uri="{FF2B5EF4-FFF2-40B4-BE49-F238E27FC236}">
                <a16:creationId xmlns:a16="http://schemas.microsoft.com/office/drawing/2014/main" id="{D46A1456-0A26-0B76-909B-988A680811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75" t="1859" r="11941" b="2339"/>
          <a:stretch/>
        </p:blipFill>
        <p:spPr bwMode="auto">
          <a:xfrm>
            <a:off x="2340435" y="941565"/>
            <a:ext cx="7313930" cy="5246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13213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7642-3509-9B25-7D70-10B80A4B972B}"/>
              </a:ext>
            </a:extLst>
          </p:cNvPr>
          <p:cNvSpPr>
            <a:spLocks noGrp="1"/>
          </p:cNvSpPr>
          <p:nvPr>
            <p:ph type="title"/>
          </p:nvPr>
        </p:nvSpPr>
        <p:spPr/>
        <p:txBody>
          <a:bodyPr/>
          <a:lstStyle/>
          <a:p>
            <a:r>
              <a:rPr lang="en-IN" dirty="0"/>
              <a:t>Calculating Capacity</a:t>
            </a:r>
          </a:p>
        </p:txBody>
      </p:sp>
      <p:sp>
        <p:nvSpPr>
          <p:cNvPr id="4" name="Date Placeholder 3">
            <a:extLst>
              <a:ext uri="{FF2B5EF4-FFF2-40B4-BE49-F238E27FC236}">
                <a16:creationId xmlns:a16="http://schemas.microsoft.com/office/drawing/2014/main" id="{6B631282-05BD-9E8F-BD3F-5C65B9615169}"/>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AB2501B7-4DA8-4480-5EF6-A9193C612860}"/>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B53C91CD-39AE-41E1-E4B3-2DF43F258B10}"/>
              </a:ext>
            </a:extLst>
          </p:cNvPr>
          <p:cNvSpPr>
            <a:spLocks noGrp="1"/>
          </p:cNvSpPr>
          <p:nvPr>
            <p:ph type="sldNum" idx="12"/>
          </p:nvPr>
        </p:nvSpPr>
        <p:spPr/>
        <p:txBody>
          <a:bodyPr/>
          <a:lstStyle/>
          <a:p>
            <a:fld id="{00000000-1234-1234-1234-123412341234}" type="slidenum">
              <a:rPr lang="en-US" smtClean="0"/>
              <a:pPr/>
              <a:t>49</a:t>
            </a:fld>
            <a:endParaRPr lang="en-US" dirty="0"/>
          </a:p>
        </p:txBody>
      </p:sp>
      <p:sp>
        <p:nvSpPr>
          <p:cNvPr id="7" name="Content Placeholder 1">
            <a:extLst>
              <a:ext uri="{FF2B5EF4-FFF2-40B4-BE49-F238E27FC236}">
                <a16:creationId xmlns:a16="http://schemas.microsoft.com/office/drawing/2014/main" id="{5AE76430-6056-2870-CB97-D846902432F7}"/>
              </a:ext>
            </a:extLst>
          </p:cNvPr>
          <p:cNvSpPr txBox="1">
            <a:spLocks/>
          </p:cNvSpPr>
          <p:nvPr/>
        </p:nvSpPr>
        <p:spPr>
          <a:xfrm>
            <a:off x="304799" y="1052624"/>
            <a:ext cx="11603665" cy="50735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r>
              <a:rPr lang="en-IN" b="1" dirty="0"/>
              <a:t>Capacity </a:t>
            </a:r>
            <a:r>
              <a:rPr lang="en-IN" dirty="0"/>
              <a:t>is the maximum capability to produce. </a:t>
            </a:r>
          </a:p>
          <a:p>
            <a:pPr algn="just"/>
            <a:r>
              <a:rPr lang="en-IN" dirty="0"/>
              <a:t>It can be measured as units of output, dollars of output, hours of work, or number of customers processed over a specified period of time.</a:t>
            </a:r>
          </a:p>
        </p:txBody>
      </p:sp>
      <p:sp>
        <p:nvSpPr>
          <p:cNvPr id="8" name="Rectangle 5">
            <a:extLst>
              <a:ext uri="{FF2B5EF4-FFF2-40B4-BE49-F238E27FC236}">
                <a16:creationId xmlns:a16="http://schemas.microsoft.com/office/drawing/2014/main" id="{6530CC8A-BEAF-F213-6F90-F55F72E19652}"/>
              </a:ext>
            </a:extLst>
          </p:cNvPr>
          <p:cNvSpPr>
            <a:spLocks noChangeArrowheads="1"/>
          </p:cNvSpPr>
          <p:nvPr/>
        </p:nvSpPr>
        <p:spPr bwMode="auto">
          <a:xfrm>
            <a:off x="209105" y="2967335"/>
            <a:ext cx="11908464" cy="461665"/>
          </a:xfrm>
          <a:prstGeom prst="rect">
            <a:avLst/>
          </a:prstGeom>
          <a:solidFill>
            <a:srgbClr val="92D050"/>
          </a:solidFill>
          <a:ln>
            <a:solidFill>
              <a:schemeClr val="tx1"/>
            </a:solidFill>
          </a:ln>
          <a:effectLst/>
        </p:spPr>
        <p:txBody>
          <a:bodyPr wrap="square">
            <a:spAutoFit/>
          </a:bodyPr>
          <a:lstStyle/>
          <a:p>
            <a:pPr>
              <a:tabLst>
                <a:tab pos="1622425" algn="l"/>
              </a:tabLst>
            </a:pPr>
            <a:r>
              <a:rPr lang="en-US" sz="2400" b="1" dirty="0">
                <a:latin typeface="Times New Roman" panose="02020603050405020304" pitchFamily="18" charset="0"/>
                <a:cs typeface="Times New Roman" panose="02020603050405020304" pitchFamily="18" charset="0"/>
              </a:rPr>
              <a:t>Capacity</a:t>
            </a:r>
            <a:r>
              <a:rPr lang="en-US" sz="2400" dirty="0">
                <a:latin typeface="Times New Roman" panose="02020603050405020304" pitchFamily="18" charset="0"/>
                <a:cs typeface="Times New Roman" panose="02020603050405020304" pitchFamily="18" charset="0"/>
              </a:rPr>
              <a:t>= (no. machines or workers) x (no. shifts) x (hours/shift) x (utilization) x (efficiency)</a:t>
            </a:r>
          </a:p>
        </p:txBody>
      </p:sp>
    </p:spTree>
    <p:extLst>
      <p:ext uri="{BB962C8B-B14F-4D97-AF65-F5344CB8AC3E}">
        <p14:creationId xmlns:p14="http://schemas.microsoft.com/office/powerpoint/2010/main" val="355857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CB0F6-FA48-9CE7-4A6B-9E4387529343}"/>
              </a:ext>
            </a:extLst>
          </p:cNvPr>
          <p:cNvSpPr>
            <a:spLocks noGrp="1"/>
          </p:cNvSpPr>
          <p:nvPr>
            <p:ph type="title"/>
          </p:nvPr>
        </p:nvSpPr>
        <p:spPr/>
        <p:txBody>
          <a:bodyPr/>
          <a:lstStyle/>
          <a:p>
            <a:r>
              <a:rPr lang="en-US" dirty="0"/>
              <a:t>Capacity Terms</a:t>
            </a:r>
            <a:endParaRPr lang="en-IN" dirty="0"/>
          </a:p>
        </p:txBody>
      </p:sp>
      <p:sp>
        <p:nvSpPr>
          <p:cNvPr id="3" name="Text Placeholder 2">
            <a:extLst>
              <a:ext uri="{FF2B5EF4-FFF2-40B4-BE49-F238E27FC236}">
                <a16:creationId xmlns:a16="http://schemas.microsoft.com/office/drawing/2014/main" id="{1F3F5A7C-1A22-818F-D7C2-6F11CCD58D54}"/>
              </a:ext>
            </a:extLst>
          </p:cNvPr>
          <p:cNvSpPr>
            <a:spLocks noGrp="1"/>
          </p:cNvSpPr>
          <p:nvPr>
            <p:ph type="body" idx="1"/>
          </p:nvPr>
        </p:nvSpPr>
        <p:spPr/>
        <p:txBody>
          <a:bodyPr>
            <a:normAutofit/>
          </a:bodyPr>
          <a:lstStyle/>
          <a:p>
            <a:pPr indent="-457200" eaLnBrk="1" hangingPunct="1">
              <a:lnSpc>
                <a:spcPct val="90000"/>
              </a:lnSpc>
              <a:spcBef>
                <a:spcPct val="20000"/>
              </a:spcBef>
              <a:buFont typeface="Arial" panose="020B0604020202020204" pitchFamily="34" charset="0"/>
              <a:buChar char="•"/>
            </a:pPr>
            <a:r>
              <a:rPr lang="en-US" dirty="0"/>
              <a:t>Load profile</a:t>
            </a:r>
          </a:p>
          <a:p>
            <a:pPr marL="1012825" lvl="1">
              <a:spcBef>
                <a:spcPct val="2000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Compares planned orders released with work center capacity </a:t>
            </a:r>
          </a:p>
          <a:p>
            <a:pPr indent="-457200" eaLnBrk="1" hangingPunct="1">
              <a:lnSpc>
                <a:spcPct val="90000"/>
              </a:lnSpc>
              <a:spcBef>
                <a:spcPct val="20000"/>
              </a:spcBef>
              <a:buFont typeface="Arial" panose="020B0604020202020204" pitchFamily="34" charset="0"/>
              <a:buChar char="•"/>
            </a:pPr>
            <a:r>
              <a:rPr lang="en-US" dirty="0"/>
              <a:t>Utilization</a:t>
            </a:r>
          </a:p>
          <a:p>
            <a:pPr marL="1012825" lvl="1" eaLnBrk="1" hangingPunct="1">
              <a:lnSpc>
                <a:spcPct val="90000"/>
              </a:lnSpc>
              <a:spcBef>
                <a:spcPct val="2000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of available working time spent working</a:t>
            </a:r>
          </a:p>
          <a:p>
            <a:pPr indent="-457200">
              <a:buFont typeface="Arial" panose="020B0604020202020204" pitchFamily="34" charset="0"/>
              <a:buChar char="•"/>
            </a:pPr>
            <a:r>
              <a:rPr lang="en-US" dirty="0"/>
              <a:t>Efficiency</a:t>
            </a:r>
          </a:p>
          <a:p>
            <a:pPr indent="-457200">
              <a:buFont typeface="Arial" panose="020B0604020202020204" pitchFamily="34" charset="0"/>
              <a:buChar char="•"/>
            </a:pPr>
            <a:r>
              <a:rPr lang="en-US" dirty="0"/>
              <a:t>Load</a:t>
            </a:r>
          </a:p>
          <a:p>
            <a:pPr marL="1012825"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standard hours of work assigned to a facility</a:t>
            </a:r>
          </a:p>
          <a:p>
            <a:pPr indent="-457200">
              <a:buFont typeface="Arial" panose="020B0604020202020204" pitchFamily="34" charset="0"/>
              <a:buChar char="•"/>
            </a:pPr>
            <a:r>
              <a:rPr lang="en-US" dirty="0"/>
              <a:t>Load percent</a:t>
            </a:r>
          </a:p>
          <a:p>
            <a:pPr marL="1012825"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ratio of load to capacity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Load % = (load/capacity)x100%</a:t>
            </a:r>
          </a:p>
        </p:txBody>
      </p:sp>
      <p:sp>
        <p:nvSpPr>
          <p:cNvPr id="4" name="Date Placeholder 3">
            <a:extLst>
              <a:ext uri="{FF2B5EF4-FFF2-40B4-BE49-F238E27FC236}">
                <a16:creationId xmlns:a16="http://schemas.microsoft.com/office/drawing/2014/main" id="{4C6BECD4-8C5E-3EE8-FE70-DEDF7EC8F630}"/>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BC31D7A6-803B-DD76-A5DE-7140766E00F3}"/>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C4AB821-8539-0DAE-6090-7A07B5298EDC}"/>
              </a:ext>
            </a:extLst>
          </p:cNvPr>
          <p:cNvSpPr>
            <a:spLocks noGrp="1"/>
          </p:cNvSpPr>
          <p:nvPr>
            <p:ph type="sldNum" idx="12"/>
          </p:nvPr>
        </p:nvSpPr>
        <p:spPr/>
        <p:txBody>
          <a:bodyPr/>
          <a:lstStyle/>
          <a:p>
            <a:fld id="{00000000-1234-1234-1234-123412341234}" type="slidenum">
              <a:rPr lang="en-US" smtClean="0"/>
              <a:pPr/>
              <a:t>50</a:t>
            </a:fld>
            <a:endParaRPr lang="en-US" dirty="0"/>
          </a:p>
        </p:txBody>
      </p:sp>
    </p:spTree>
    <p:extLst>
      <p:ext uri="{BB962C8B-B14F-4D97-AF65-F5344CB8AC3E}">
        <p14:creationId xmlns:p14="http://schemas.microsoft.com/office/powerpoint/2010/main" val="3330573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C8D3-B7BD-F425-ED9E-408253184598}"/>
              </a:ext>
            </a:extLst>
          </p:cNvPr>
          <p:cNvSpPr>
            <a:spLocks noGrp="1"/>
          </p:cNvSpPr>
          <p:nvPr>
            <p:ph type="title"/>
          </p:nvPr>
        </p:nvSpPr>
        <p:spPr/>
        <p:txBody>
          <a:bodyPr/>
          <a:lstStyle/>
          <a:p>
            <a:r>
              <a:rPr lang="en-IN" dirty="0"/>
              <a:t>Determining Loads and Capacities </a:t>
            </a:r>
            <a:r>
              <a:rPr lang="en-IN" dirty="0">
                <a:solidFill>
                  <a:srgbClr val="FF0000"/>
                </a:solidFill>
              </a:rPr>
              <a:t>Example</a:t>
            </a:r>
            <a:endParaRPr lang="en-IN" dirty="0"/>
          </a:p>
        </p:txBody>
      </p:sp>
      <p:sp>
        <p:nvSpPr>
          <p:cNvPr id="4" name="Date Placeholder 3">
            <a:extLst>
              <a:ext uri="{FF2B5EF4-FFF2-40B4-BE49-F238E27FC236}">
                <a16:creationId xmlns:a16="http://schemas.microsoft.com/office/drawing/2014/main" id="{E663ECB1-8BD4-94A4-92FD-55B557CFE2BA}"/>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A8EB3182-4026-3AD4-9269-2DD54A80288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BC3C7A8B-A6D4-3C5D-EA21-73F9FA41B658}"/>
              </a:ext>
            </a:extLst>
          </p:cNvPr>
          <p:cNvSpPr>
            <a:spLocks noGrp="1"/>
          </p:cNvSpPr>
          <p:nvPr>
            <p:ph type="sldNum" idx="12"/>
          </p:nvPr>
        </p:nvSpPr>
        <p:spPr/>
        <p:txBody>
          <a:bodyPr/>
          <a:lstStyle/>
          <a:p>
            <a:fld id="{00000000-1234-1234-1234-123412341234}" type="slidenum">
              <a:rPr lang="en-US" smtClean="0"/>
              <a:pPr/>
              <a:t>51</a:t>
            </a:fld>
            <a:endParaRPr lang="en-US" dirty="0"/>
          </a:p>
        </p:txBody>
      </p:sp>
      <p:sp>
        <p:nvSpPr>
          <p:cNvPr id="7" name="Content Placeholder 1">
            <a:extLst>
              <a:ext uri="{FF2B5EF4-FFF2-40B4-BE49-F238E27FC236}">
                <a16:creationId xmlns:a16="http://schemas.microsoft.com/office/drawing/2014/main" id="{A88C8647-A144-F8A0-D8EE-1A142F931CC9}"/>
              </a:ext>
            </a:extLst>
          </p:cNvPr>
          <p:cNvSpPr>
            <a:spLocks noGrp="1"/>
          </p:cNvSpPr>
          <p:nvPr>
            <p:ph type="body" idx="1"/>
          </p:nvPr>
        </p:nvSpPr>
        <p:spPr>
          <a:xfrm>
            <a:off x="74428" y="800771"/>
            <a:ext cx="11961627" cy="4207163"/>
          </a:xfrm>
        </p:spPr>
        <p:txBody>
          <a:bodyPr>
            <a:normAutofit/>
          </a:bodyPr>
          <a:lstStyle/>
          <a:p>
            <a:pPr marL="114300" indent="0" algn="just">
              <a:buNone/>
            </a:pPr>
            <a:r>
              <a:rPr lang="en-IN" sz="2200" dirty="0"/>
              <a:t>Copy Courier (CC) is a fledgling copy </a:t>
            </a:r>
            <a:r>
              <a:rPr lang="en-IN" sz="2200" dirty="0" err="1"/>
              <a:t>center</a:t>
            </a:r>
            <a:r>
              <a:rPr lang="en-IN" sz="2200" dirty="0"/>
              <a:t> in downtown Richmond run by </a:t>
            </a:r>
            <a:r>
              <a:rPr lang="en-IN" sz="2200" dirty="0">
                <a:solidFill>
                  <a:srgbClr val="FF0000"/>
                </a:solidFill>
              </a:rPr>
              <a:t>two college students</a:t>
            </a:r>
            <a:r>
              <a:rPr lang="en-IN" sz="2200" dirty="0"/>
              <a:t>. Currently, the equipment consists of </a:t>
            </a:r>
            <a:r>
              <a:rPr lang="en-IN" sz="2200" dirty="0">
                <a:solidFill>
                  <a:srgbClr val="FF0000"/>
                </a:solidFill>
              </a:rPr>
              <a:t>two high-speed copiers </a:t>
            </a:r>
            <a:r>
              <a:rPr lang="en-IN" sz="2200" dirty="0"/>
              <a:t>that can be operated by one operator. If the students work alone, it is conceivable that two shifts per day can be staffed. The students each work </a:t>
            </a:r>
            <a:r>
              <a:rPr lang="en-IN" sz="2200" dirty="0">
                <a:solidFill>
                  <a:srgbClr val="FF0000"/>
                </a:solidFill>
              </a:rPr>
              <a:t>8 hours a day, 5 days a week</a:t>
            </a:r>
            <a:r>
              <a:rPr lang="en-IN" sz="2200" dirty="0"/>
              <a:t>. They do not take breaks during the day, but they do allow themselves </a:t>
            </a:r>
            <a:r>
              <a:rPr lang="en-IN" sz="2200" dirty="0">
                <a:solidFill>
                  <a:srgbClr val="FF0000"/>
                </a:solidFill>
              </a:rPr>
              <a:t>30 minutes</a:t>
            </a:r>
            <a:r>
              <a:rPr lang="en-IN" sz="2200" dirty="0"/>
              <a:t> for lunch or dinner. In addition, they service the machines for about </a:t>
            </a:r>
            <a:r>
              <a:rPr lang="en-IN" sz="2200" dirty="0">
                <a:solidFill>
                  <a:srgbClr val="FF0000"/>
                </a:solidFill>
              </a:rPr>
              <a:t>30 minutes </a:t>
            </a:r>
            <a:r>
              <a:rPr lang="en-IN" sz="2200" dirty="0"/>
              <a:t>at the beginning of each shift. The time required to set up for each order varies by the type of paper, use of </a:t>
            </a:r>
            <a:r>
              <a:rPr lang="en-IN" sz="2200" dirty="0" err="1"/>
              <a:t>color</a:t>
            </a:r>
            <a:r>
              <a:rPr lang="en-IN" sz="2200" dirty="0"/>
              <a:t>, number of copies, and so on. Estimates of setup time are kept with each order. Since the machines are new, their efficiency is </a:t>
            </a:r>
            <a:r>
              <a:rPr lang="en-IN" sz="2200" dirty="0">
                <a:solidFill>
                  <a:srgbClr val="FF0000"/>
                </a:solidFill>
              </a:rPr>
              <a:t>estimated at 90%. </a:t>
            </a:r>
            <a:r>
              <a:rPr lang="en-IN" sz="2200" dirty="0"/>
              <a:t>Due to extensive advertising and new customer incentives, orders have been pouring in. The students need help determining the capacity of their operation and the current load on their facility. Use the following information to calculate the normal daily capacity of Copy Courier and to project next Monday’s load and load </a:t>
            </a:r>
            <a:r>
              <a:rPr lang="en-IN" sz="2200" dirty="0" err="1"/>
              <a:t>percent</a:t>
            </a:r>
            <a:r>
              <a:rPr lang="en-IN" sz="2200" dirty="0"/>
              <a:t>.</a:t>
            </a:r>
          </a:p>
        </p:txBody>
      </p:sp>
      <p:pic>
        <p:nvPicPr>
          <p:cNvPr id="8" name="Picture 2">
            <a:extLst>
              <a:ext uri="{FF2B5EF4-FFF2-40B4-BE49-F238E27FC236}">
                <a16:creationId xmlns:a16="http://schemas.microsoft.com/office/drawing/2014/main" id="{8CAA3E5C-A8C8-AC6A-4CED-782FA3EDB3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699" b="8753"/>
          <a:stretch/>
        </p:blipFill>
        <p:spPr bwMode="auto">
          <a:xfrm>
            <a:off x="357966" y="4306185"/>
            <a:ext cx="11337250" cy="186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2809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8ED2E-5537-9E30-38EA-3DA262F69167}"/>
              </a:ext>
            </a:extLst>
          </p:cNvPr>
          <p:cNvSpPr>
            <a:spLocks noGrp="1"/>
          </p:cNvSpPr>
          <p:nvPr>
            <p:ph type="title"/>
          </p:nvPr>
        </p:nvSpPr>
        <p:spPr/>
        <p:txBody>
          <a:bodyPr/>
          <a:lstStyle/>
          <a:p>
            <a:r>
              <a:rPr lang="en-IN" dirty="0"/>
              <a:t>Determining Loads and Capacities </a:t>
            </a:r>
            <a:r>
              <a:rPr lang="en-IN" dirty="0">
                <a:solidFill>
                  <a:srgbClr val="FF0000"/>
                </a:solidFill>
              </a:rPr>
              <a:t>Example</a:t>
            </a:r>
            <a:br>
              <a:rPr lang="en-IN" dirty="0">
                <a:solidFill>
                  <a:srgbClr val="FF0000"/>
                </a:solidFill>
              </a:rPr>
            </a:br>
            <a:endParaRPr lang="en-IN" dirty="0"/>
          </a:p>
        </p:txBody>
      </p:sp>
      <p:sp>
        <p:nvSpPr>
          <p:cNvPr id="4" name="Date Placeholder 3">
            <a:extLst>
              <a:ext uri="{FF2B5EF4-FFF2-40B4-BE49-F238E27FC236}">
                <a16:creationId xmlns:a16="http://schemas.microsoft.com/office/drawing/2014/main" id="{7B66E7F2-36BE-91C2-51CB-1AED8474D8E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4FD8B0C8-3F2E-1856-036B-6E196FA8A3B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1CBBE320-F8D1-F8DA-9732-62574EF1B6A9}"/>
              </a:ext>
            </a:extLst>
          </p:cNvPr>
          <p:cNvSpPr>
            <a:spLocks noGrp="1"/>
          </p:cNvSpPr>
          <p:nvPr>
            <p:ph type="sldNum" idx="12"/>
          </p:nvPr>
        </p:nvSpPr>
        <p:spPr/>
        <p:txBody>
          <a:bodyPr/>
          <a:lstStyle/>
          <a:p>
            <a:fld id="{00000000-1234-1234-1234-123412341234}" type="slidenum">
              <a:rPr lang="en-US" smtClean="0"/>
              <a:pPr/>
              <a:t>52</a:t>
            </a:fld>
            <a:endParaRPr lang="en-US" dirty="0"/>
          </a:p>
        </p:txBody>
      </p:sp>
      <p:sp>
        <p:nvSpPr>
          <p:cNvPr id="7" name="Content Placeholder 1">
            <a:extLst>
              <a:ext uri="{FF2B5EF4-FFF2-40B4-BE49-F238E27FC236}">
                <a16:creationId xmlns:a16="http://schemas.microsoft.com/office/drawing/2014/main" id="{F8D957C1-9782-1498-E3D7-E8402CF60DF3}"/>
              </a:ext>
            </a:extLst>
          </p:cNvPr>
          <p:cNvSpPr txBox="1">
            <a:spLocks/>
          </p:cNvSpPr>
          <p:nvPr/>
        </p:nvSpPr>
        <p:spPr>
          <a:xfrm>
            <a:off x="0" y="880726"/>
            <a:ext cx="12099851" cy="2893829"/>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IN" b="1" dirty="0">
                <a:solidFill>
                  <a:srgbClr val="FF0000"/>
                </a:solidFill>
              </a:rPr>
              <a:t>Solution</a:t>
            </a:r>
          </a:p>
          <a:p>
            <a:r>
              <a:rPr lang="en-IN" dirty="0"/>
              <a:t>The machines and operators at Copy Courier are out of service for 1 hour each shift for maintenance and lunch. Utilization is thus 7/8, or 87.5%. </a:t>
            </a:r>
          </a:p>
          <a:p>
            <a:r>
              <a:rPr lang="en-IN" dirty="0"/>
              <a:t>Daily copy shop capacity is:</a:t>
            </a:r>
          </a:p>
          <a:p>
            <a:r>
              <a:rPr lang="en-IN" sz="2200" dirty="0"/>
              <a:t>2 machines * 2 shifts * 8 hours&gt;shift * 90% efficiency * 87.5% utilization = </a:t>
            </a:r>
            <a:r>
              <a:rPr lang="en-IN" sz="2200" b="1" dirty="0"/>
              <a:t>25.2 hours or 1512 minutes</a:t>
            </a:r>
          </a:p>
          <a:p>
            <a:r>
              <a:rPr lang="en-IN" dirty="0"/>
              <a:t>The projected load for Monday of next week is as follows:</a:t>
            </a:r>
          </a:p>
          <a:p>
            <a:endParaRPr lang="en-IN" dirty="0"/>
          </a:p>
        </p:txBody>
      </p:sp>
      <p:pic>
        <p:nvPicPr>
          <p:cNvPr id="8" name="Picture 2">
            <a:extLst>
              <a:ext uri="{FF2B5EF4-FFF2-40B4-BE49-F238E27FC236}">
                <a16:creationId xmlns:a16="http://schemas.microsoft.com/office/drawing/2014/main" id="{F292B546-4AD5-80F8-8A33-FED84610EF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709"/>
          <a:stretch/>
        </p:blipFill>
        <p:spPr bwMode="auto">
          <a:xfrm>
            <a:off x="1233488" y="3595758"/>
            <a:ext cx="8378345" cy="2577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320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DB57D-A96C-AE75-C5A2-145E83087EBE}"/>
              </a:ext>
            </a:extLst>
          </p:cNvPr>
          <p:cNvSpPr>
            <a:spLocks noGrp="1"/>
          </p:cNvSpPr>
          <p:nvPr>
            <p:ph type="title"/>
          </p:nvPr>
        </p:nvSpPr>
        <p:spPr/>
        <p:txBody>
          <a:bodyPr/>
          <a:lstStyle/>
          <a:p>
            <a:r>
              <a:rPr lang="en-IN" dirty="0"/>
              <a:t>Load Profiles</a:t>
            </a:r>
          </a:p>
        </p:txBody>
      </p:sp>
      <p:sp>
        <p:nvSpPr>
          <p:cNvPr id="4" name="Date Placeholder 3">
            <a:extLst>
              <a:ext uri="{FF2B5EF4-FFF2-40B4-BE49-F238E27FC236}">
                <a16:creationId xmlns:a16="http://schemas.microsoft.com/office/drawing/2014/main" id="{92320A85-3346-D6D2-7481-83C9B1053C81}"/>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1AA77E6F-1AAD-C7A7-C907-B3937AC1C3F3}"/>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0D72B9A-DAE2-1F5B-5E7F-87FFB86D85AF}"/>
              </a:ext>
            </a:extLst>
          </p:cNvPr>
          <p:cNvSpPr>
            <a:spLocks noGrp="1"/>
          </p:cNvSpPr>
          <p:nvPr>
            <p:ph type="sldNum" idx="12"/>
          </p:nvPr>
        </p:nvSpPr>
        <p:spPr/>
        <p:txBody>
          <a:bodyPr/>
          <a:lstStyle/>
          <a:p>
            <a:fld id="{00000000-1234-1234-1234-123412341234}" type="slidenum">
              <a:rPr lang="en-US" smtClean="0"/>
              <a:pPr/>
              <a:t>53</a:t>
            </a:fld>
            <a:endParaRPr lang="en-US" dirty="0"/>
          </a:p>
        </p:txBody>
      </p:sp>
      <p:sp>
        <p:nvSpPr>
          <p:cNvPr id="7" name="Content Placeholder 1">
            <a:extLst>
              <a:ext uri="{FF2B5EF4-FFF2-40B4-BE49-F238E27FC236}">
                <a16:creationId xmlns:a16="http://schemas.microsoft.com/office/drawing/2014/main" id="{0FB44FDF-9715-5DA1-7DDD-6279EBC6033C}"/>
              </a:ext>
            </a:extLst>
          </p:cNvPr>
          <p:cNvSpPr txBox="1">
            <a:spLocks/>
          </p:cNvSpPr>
          <p:nvPr/>
        </p:nvSpPr>
        <p:spPr>
          <a:xfrm>
            <a:off x="304800" y="898443"/>
            <a:ext cx="11550502" cy="535152"/>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IN" b="1" dirty="0"/>
              <a:t>Load profiles </a:t>
            </a:r>
            <a:r>
              <a:rPr lang="en-IN" dirty="0"/>
              <a:t>are a graphical comparison of load versus capacity.</a:t>
            </a:r>
          </a:p>
        </p:txBody>
      </p:sp>
      <p:pic>
        <p:nvPicPr>
          <p:cNvPr id="8" name="Picture 2">
            <a:extLst>
              <a:ext uri="{FF2B5EF4-FFF2-40B4-BE49-F238E27FC236}">
                <a16:creationId xmlns:a16="http://schemas.microsoft.com/office/drawing/2014/main" id="{432B7B7C-768A-29AD-C11B-9E68D60909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71" b="2757"/>
          <a:stretch/>
        </p:blipFill>
        <p:spPr bwMode="auto">
          <a:xfrm>
            <a:off x="1978890" y="1433594"/>
            <a:ext cx="8698305" cy="472265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D2858F0B-B8F8-0123-F5E9-928652F9AEAD}"/>
              </a:ext>
            </a:extLst>
          </p:cNvPr>
          <p:cNvSpPr/>
          <p:nvPr/>
        </p:nvSpPr>
        <p:spPr>
          <a:xfrm>
            <a:off x="2860156" y="1567001"/>
            <a:ext cx="7774507" cy="830997"/>
          </a:xfrm>
          <a:prstGeom prst="rect">
            <a:avLst/>
          </a:prstGeom>
          <a:solidFill>
            <a:srgbClr val="FFFF00"/>
          </a:solidFill>
        </p:spPr>
        <p:txBody>
          <a:bodyPr wrap="square">
            <a:spAutoFit/>
          </a:bodyPr>
          <a:lstStyle/>
          <a:p>
            <a:r>
              <a:rPr lang="en-IN" sz="2400" dirty="0">
                <a:latin typeface="Times New Roman" panose="02020603050405020304" pitchFamily="18" charset="0"/>
                <a:cs typeface="Times New Roman" panose="02020603050405020304" pitchFamily="18" charset="0"/>
              </a:rPr>
              <a:t>We can see that the machine is </a:t>
            </a:r>
            <a:r>
              <a:rPr lang="en-IN" sz="2400" i="1" dirty="0">
                <a:latin typeface="Times New Roman" panose="02020603050405020304" pitchFamily="18" charset="0"/>
                <a:cs typeface="Times New Roman" panose="02020603050405020304" pitchFamily="18" charset="0"/>
              </a:rPr>
              <a:t>under loaded </a:t>
            </a:r>
            <a:r>
              <a:rPr lang="en-IN" sz="2400" dirty="0">
                <a:latin typeface="Times New Roman" panose="02020603050405020304" pitchFamily="18" charset="0"/>
                <a:cs typeface="Times New Roman" panose="02020603050405020304" pitchFamily="18" charset="0"/>
              </a:rPr>
              <a:t>in periods 1, 5, and 6, and </a:t>
            </a:r>
            <a:r>
              <a:rPr lang="en-IN" sz="2400" i="1" dirty="0">
                <a:latin typeface="Times New Roman" panose="02020603050405020304" pitchFamily="18" charset="0"/>
                <a:cs typeface="Times New Roman" panose="02020603050405020304" pitchFamily="18" charset="0"/>
              </a:rPr>
              <a:t>overloaded </a:t>
            </a:r>
            <a:r>
              <a:rPr lang="en-IN" sz="2400" dirty="0">
                <a:latin typeface="Times New Roman" panose="02020603050405020304" pitchFamily="18" charset="0"/>
                <a:cs typeface="Times New Roman" panose="02020603050405020304" pitchFamily="18" charset="0"/>
              </a:rPr>
              <a:t>in periods 2, 3, and 4.</a:t>
            </a:r>
          </a:p>
        </p:txBody>
      </p:sp>
    </p:spTree>
    <p:extLst>
      <p:ext uri="{BB962C8B-B14F-4D97-AF65-F5344CB8AC3E}">
        <p14:creationId xmlns:p14="http://schemas.microsoft.com/office/powerpoint/2010/main" val="218506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9066-2DFB-F5FA-CCC1-7EEC5DF5A67C}"/>
              </a:ext>
            </a:extLst>
          </p:cNvPr>
          <p:cNvSpPr>
            <a:spLocks noGrp="1"/>
          </p:cNvSpPr>
          <p:nvPr>
            <p:ph type="title"/>
          </p:nvPr>
        </p:nvSpPr>
        <p:spPr/>
        <p:txBody>
          <a:bodyPr/>
          <a:lstStyle/>
          <a:p>
            <a:r>
              <a:rPr lang="en-US" dirty="0"/>
              <a:t>Remedies for Underloads</a:t>
            </a:r>
            <a:endParaRPr lang="en-IN" dirty="0"/>
          </a:p>
        </p:txBody>
      </p:sp>
      <p:sp>
        <p:nvSpPr>
          <p:cNvPr id="3" name="Text Placeholder 2">
            <a:extLst>
              <a:ext uri="{FF2B5EF4-FFF2-40B4-BE49-F238E27FC236}">
                <a16:creationId xmlns:a16="http://schemas.microsoft.com/office/drawing/2014/main" id="{A1F8F984-A5B4-2138-E7C1-9C9294288A6D}"/>
              </a:ext>
            </a:extLst>
          </p:cNvPr>
          <p:cNvSpPr>
            <a:spLocks noGrp="1"/>
          </p:cNvSpPr>
          <p:nvPr>
            <p:ph type="body" idx="1"/>
          </p:nvPr>
        </p:nvSpPr>
        <p:spPr/>
        <p:txBody>
          <a:bodyPr/>
          <a:lstStyle/>
          <a:p>
            <a:pPr marL="479425" indent="-479425">
              <a:buFont typeface="Times"/>
              <a:buAutoNum type="arabicPeriod"/>
            </a:pPr>
            <a:r>
              <a:rPr lang="en-US" dirty="0"/>
              <a:t>Acquire more work</a:t>
            </a:r>
          </a:p>
          <a:p>
            <a:pPr marL="479425" indent="-479425">
              <a:buFont typeface="Times"/>
              <a:buAutoNum type="arabicPeriod"/>
            </a:pPr>
            <a:r>
              <a:rPr lang="en-US" dirty="0"/>
              <a:t>Pull work ahead that is scheduled for later time periods</a:t>
            </a:r>
          </a:p>
          <a:p>
            <a:pPr marL="479425" indent="-479425">
              <a:buFont typeface="Times"/>
              <a:buAutoNum type="arabicPeriod"/>
            </a:pPr>
            <a:r>
              <a:rPr lang="en-US" dirty="0"/>
              <a:t>Reduce normal capacity</a:t>
            </a:r>
          </a:p>
          <a:p>
            <a:endParaRPr lang="en-IN" dirty="0"/>
          </a:p>
        </p:txBody>
      </p:sp>
      <p:sp>
        <p:nvSpPr>
          <p:cNvPr id="4" name="Date Placeholder 3">
            <a:extLst>
              <a:ext uri="{FF2B5EF4-FFF2-40B4-BE49-F238E27FC236}">
                <a16:creationId xmlns:a16="http://schemas.microsoft.com/office/drawing/2014/main" id="{F398325D-F99D-E43E-0863-BC4262937F7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7A1871E5-1769-D25B-B161-8A61A5605115}"/>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51C8A9D-10F6-B7CE-5682-A87294A293FF}"/>
              </a:ext>
            </a:extLst>
          </p:cNvPr>
          <p:cNvSpPr>
            <a:spLocks noGrp="1"/>
          </p:cNvSpPr>
          <p:nvPr>
            <p:ph type="sldNum" idx="12"/>
          </p:nvPr>
        </p:nvSpPr>
        <p:spPr/>
        <p:txBody>
          <a:bodyPr/>
          <a:lstStyle/>
          <a:p>
            <a:fld id="{00000000-1234-1234-1234-123412341234}" type="slidenum">
              <a:rPr lang="en-US" smtClean="0"/>
              <a:pPr/>
              <a:t>54</a:t>
            </a:fld>
            <a:endParaRPr lang="en-US" dirty="0"/>
          </a:p>
        </p:txBody>
      </p:sp>
    </p:spTree>
    <p:extLst>
      <p:ext uri="{BB962C8B-B14F-4D97-AF65-F5344CB8AC3E}">
        <p14:creationId xmlns:p14="http://schemas.microsoft.com/office/powerpoint/2010/main" val="120884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D086-B514-AAA4-20E1-A09A117A7ED1}"/>
              </a:ext>
            </a:extLst>
          </p:cNvPr>
          <p:cNvSpPr>
            <a:spLocks noGrp="1"/>
          </p:cNvSpPr>
          <p:nvPr>
            <p:ph type="title"/>
          </p:nvPr>
        </p:nvSpPr>
        <p:spPr/>
        <p:txBody>
          <a:bodyPr/>
          <a:lstStyle/>
          <a:p>
            <a:r>
              <a:rPr lang="en-US" dirty="0"/>
              <a:t>Remedies for Overloads</a:t>
            </a:r>
            <a:endParaRPr lang="en-IN" dirty="0"/>
          </a:p>
        </p:txBody>
      </p:sp>
      <p:sp>
        <p:nvSpPr>
          <p:cNvPr id="4" name="Date Placeholder 3">
            <a:extLst>
              <a:ext uri="{FF2B5EF4-FFF2-40B4-BE49-F238E27FC236}">
                <a16:creationId xmlns:a16="http://schemas.microsoft.com/office/drawing/2014/main" id="{911846B2-2307-9D9E-7E3F-9071CAE400D2}"/>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E5CC73F7-6BD6-DDA3-6B33-FF694C73B14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B20B1BF-F117-C5ED-9CC7-1A9C66799317}"/>
              </a:ext>
            </a:extLst>
          </p:cNvPr>
          <p:cNvSpPr>
            <a:spLocks noGrp="1"/>
          </p:cNvSpPr>
          <p:nvPr>
            <p:ph type="sldNum" idx="12"/>
          </p:nvPr>
        </p:nvSpPr>
        <p:spPr/>
        <p:txBody>
          <a:bodyPr/>
          <a:lstStyle/>
          <a:p>
            <a:fld id="{00000000-1234-1234-1234-123412341234}" type="slidenum">
              <a:rPr lang="en-US" smtClean="0"/>
              <a:pPr/>
              <a:t>55</a:t>
            </a:fld>
            <a:endParaRPr lang="en-US" dirty="0"/>
          </a:p>
        </p:txBody>
      </p:sp>
      <p:sp>
        <p:nvSpPr>
          <p:cNvPr id="7" name="Content Placeholder 1">
            <a:extLst>
              <a:ext uri="{FF2B5EF4-FFF2-40B4-BE49-F238E27FC236}">
                <a16:creationId xmlns:a16="http://schemas.microsoft.com/office/drawing/2014/main" id="{CC576C24-DCFA-DBA2-DDC4-2F8221121297}"/>
              </a:ext>
            </a:extLst>
          </p:cNvPr>
          <p:cNvSpPr>
            <a:spLocks noGrp="1"/>
          </p:cNvSpPr>
          <p:nvPr>
            <p:ph type="body" idx="1"/>
          </p:nvPr>
        </p:nvSpPr>
        <p:spPr>
          <a:xfrm>
            <a:off x="407988" y="1077913"/>
            <a:ext cx="11596687" cy="5035550"/>
          </a:xfrm>
        </p:spPr>
        <p:txBody>
          <a:bodyPr/>
          <a:lstStyle/>
          <a:p>
            <a:pPr marL="457200" indent="-457200">
              <a:buFont typeface="Times"/>
              <a:buAutoNum type="arabicPeriod"/>
            </a:pPr>
            <a:r>
              <a:rPr lang="en-US" dirty="0"/>
              <a:t>Eliminate unnecessary requirements</a:t>
            </a:r>
          </a:p>
          <a:p>
            <a:pPr marL="457200" indent="-457200">
              <a:buFont typeface="Times"/>
              <a:buAutoNum type="arabicPeriod"/>
            </a:pPr>
            <a:r>
              <a:rPr lang="en-US" dirty="0"/>
              <a:t>Reroute jobs to alternative machines or work centers</a:t>
            </a:r>
          </a:p>
          <a:p>
            <a:pPr marL="457200" indent="-457200">
              <a:buFont typeface="Times"/>
              <a:buAutoNum type="arabicPeriod"/>
            </a:pPr>
            <a:r>
              <a:rPr lang="en-US" dirty="0"/>
              <a:t>Split lots between two or more machines</a:t>
            </a:r>
          </a:p>
          <a:p>
            <a:pPr marL="457200" indent="-457200">
              <a:buFont typeface="Times"/>
              <a:buAutoNum type="arabicPeriod"/>
            </a:pPr>
            <a:r>
              <a:rPr lang="en-US" dirty="0"/>
              <a:t>Increase normal capacity</a:t>
            </a:r>
          </a:p>
          <a:p>
            <a:pPr marL="457200" indent="-457200">
              <a:buFont typeface="Times"/>
              <a:buAutoNum type="arabicPeriod"/>
            </a:pPr>
            <a:r>
              <a:rPr lang="en-US" dirty="0"/>
              <a:t>Subcontract</a:t>
            </a:r>
          </a:p>
          <a:p>
            <a:pPr marL="457200" indent="-457200">
              <a:buFont typeface="Times"/>
              <a:buAutoNum type="arabicPeriod"/>
            </a:pPr>
            <a:r>
              <a:rPr lang="en-US" dirty="0"/>
              <a:t>Increase the efficiency of the operation</a:t>
            </a:r>
          </a:p>
          <a:p>
            <a:pPr marL="457200" indent="-457200">
              <a:buFont typeface="Times"/>
              <a:buAutoNum type="arabicPeriod"/>
            </a:pPr>
            <a:r>
              <a:rPr lang="en-US" dirty="0"/>
              <a:t>Push work back to later time periods</a:t>
            </a:r>
          </a:p>
          <a:p>
            <a:pPr marL="457200" indent="-457200">
              <a:buFont typeface="Times"/>
              <a:buAutoNum type="arabicPeriod"/>
            </a:pPr>
            <a:r>
              <a:rPr lang="en-US" dirty="0"/>
              <a:t>Revise master schedule</a:t>
            </a:r>
          </a:p>
          <a:p>
            <a:endParaRPr lang="en-IN" dirty="0"/>
          </a:p>
        </p:txBody>
      </p:sp>
    </p:spTree>
    <p:extLst>
      <p:ext uri="{BB962C8B-B14F-4D97-AF65-F5344CB8AC3E}">
        <p14:creationId xmlns:p14="http://schemas.microsoft.com/office/powerpoint/2010/main" val="265314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9890-A2C1-C6C4-ED17-9F006373C120}"/>
              </a:ext>
            </a:extLst>
          </p:cNvPr>
          <p:cNvSpPr>
            <a:spLocks noGrp="1"/>
          </p:cNvSpPr>
          <p:nvPr>
            <p:ph type="title"/>
          </p:nvPr>
        </p:nvSpPr>
        <p:spPr/>
        <p:txBody>
          <a:bodyPr/>
          <a:lstStyle/>
          <a:p>
            <a:r>
              <a:rPr lang="en-IN" dirty="0"/>
              <a:t>load </a:t>
            </a:r>
            <a:r>
              <a:rPr lang="en-IN" dirty="0" err="1"/>
              <a:t>Leveling</a:t>
            </a:r>
            <a:endParaRPr lang="en-IN" dirty="0"/>
          </a:p>
        </p:txBody>
      </p:sp>
      <p:sp>
        <p:nvSpPr>
          <p:cNvPr id="3" name="Text Placeholder 2">
            <a:extLst>
              <a:ext uri="{FF2B5EF4-FFF2-40B4-BE49-F238E27FC236}">
                <a16:creationId xmlns:a16="http://schemas.microsoft.com/office/drawing/2014/main" id="{8EEB21C1-C898-F946-B0C7-2843907C9195}"/>
              </a:ext>
            </a:extLst>
          </p:cNvPr>
          <p:cNvSpPr>
            <a:spLocks noGrp="1"/>
          </p:cNvSpPr>
          <p:nvPr>
            <p:ph type="body" idx="1"/>
          </p:nvPr>
        </p:nvSpPr>
        <p:spPr>
          <a:xfrm>
            <a:off x="396813" y="907841"/>
            <a:ext cx="11596712" cy="685801"/>
          </a:xfrm>
        </p:spPr>
        <p:txBody>
          <a:bodyPr/>
          <a:lstStyle/>
          <a:p>
            <a:r>
              <a:rPr lang="en-IN" dirty="0"/>
              <a:t>This process of balancing underloads and overloads is called </a:t>
            </a:r>
            <a:r>
              <a:rPr lang="en-IN" b="1" dirty="0"/>
              <a:t>load </a:t>
            </a:r>
            <a:r>
              <a:rPr lang="en-IN" b="1" dirty="0" err="1"/>
              <a:t>leveling</a:t>
            </a:r>
            <a:r>
              <a:rPr lang="en-IN" dirty="0"/>
              <a:t>.</a:t>
            </a:r>
          </a:p>
        </p:txBody>
      </p:sp>
      <p:sp>
        <p:nvSpPr>
          <p:cNvPr id="4" name="Date Placeholder 3">
            <a:extLst>
              <a:ext uri="{FF2B5EF4-FFF2-40B4-BE49-F238E27FC236}">
                <a16:creationId xmlns:a16="http://schemas.microsoft.com/office/drawing/2014/main" id="{F9073962-0E4C-63B6-7FA8-C68E7DA013C0}"/>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6FD0FDA-37D6-538C-E54F-F03B5B64D8BE}"/>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0257948E-8F8C-3D87-82EA-5F4A01E52053}"/>
              </a:ext>
            </a:extLst>
          </p:cNvPr>
          <p:cNvSpPr>
            <a:spLocks noGrp="1"/>
          </p:cNvSpPr>
          <p:nvPr>
            <p:ph type="sldNum" idx="12"/>
          </p:nvPr>
        </p:nvSpPr>
        <p:spPr/>
        <p:txBody>
          <a:bodyPr/>
          <a:lstStyle/>
          <a:p>
            <a:fld id="{00000000-1234-1234-1234-123412341234}" type="slidenum">
              <a:rPr lang="en-US" smtClean="0"/>
              <a:pPr/>
              <a:t>56</a:t>
            </a:fld>
            <a:endParaRPr lang="en-US" dirty="0"/>
          </a:p>
        </p:txBody>
      </p:sp>
      <p:pic>
        <p:nvPicPr>
          <p:cNvPr id="7" name="Picture 2">
            <a:extLst>
              <a:ext uri="{FF2B5EF4-FFF2-40B4-BE49-F238E27FC236}">
                <a16:creationId xmlns:a16="http://schemas.microsoft.com/office/drawing/2014/main" id="{FCC21FBE-7B39-9313-4AC8-E60B705935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92" b="2236"/>
          <a:stretch/>
        </p:blipFill>
        <p:spPr bwMode="auto">
          <a:xfrm>
            <a:off x="1636316" y="1477926"/>
            <a:ext cx="8633368" cy="469959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66231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4797C-B0AB-F878-9091-38F672505328}"/>
              </a:ext>
            </a:extLst>
          </p:cNvPr>
          <p:cNvSpPr>
            <a:spLocks noGrp="1"/>
          </p:cNvSpPr>
          <p:nvPr>
            <p:ph type="title"/>
          </p:nvPr>
        </p:nvSpPr>
        <p:spPr/>
        <p:txBody>
          <a:bodyPr/>
          <a:lstStyle/>
          <a:p>
            <a:r>
              <a:rPr lang="en-US" dirty="0"/>
              <a:t>Relaxing MRP Assumptions</a:t>
            </a:r>
            <a:endParaRPr lang="en-IN" dirty="0"/>
          </a:p>
        </p:txBody>
      </p:sp>
      <p:sp>
        <p:nvSpPr>
          <p:cNvPr id="4" name="Date Placeholder 3">
            <a:extLst>
              <a:ext uri="{FF2B5EF4-FFF2-40B4-BE49-F238E27FC236}">
                <a16:creationId xmlns:a16="http://schemas.microsoft.com/office/drawing/2014/main" id="{09937D39-4E5B-6B56-0102-947F28C12B94}"/>
              </a:ext>
            </a:extLst>
          </p:cNvPr>
          <p:cNvSpPr>
            <a:spLocks noGrp="1"/>
          </p:cNvSpPr>
          <p:nvPr>
            <p:ph type="dt" idx="10"/>
          </p:nvPr>
        </p:nvSpPr>
        <p:spPr/>
        <p:txBody>
          <a:bodyPr/>
          <a:lstStyle/>
          <a:p>
            <a:fld id="{D1FBB12C-6AF2-404C-B802-656F1A988312}" type="datetime1">
              <a:rPr lang="en-IN" smtClean="0"/>
              <a:pPr/>
              <a:t>09-12-2025</a:t>
            </a:fld>
            <a:endParaRPr lang="en-IN" dirty="0"/>
          </a:p>
        </p:txBody>
      </p:sp>
      <p:sp>
        <p:nvSpPr>
          <p:cNvPr id="5" name="Footer Placeholder 4">
            <a:extLst>
              <a:ext uri="{FF2B5EF4-FFF2-40B4-BE49-F238E27FC236}">
                <a16:creationId xmlns:a16="http://schemas.microsoft.com/office/drawing/2014/main" id="{2984C5E2-533D-0575-EF77-75D6B85B421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33F4E735-EEF1-3097-A119-2A55072A10F6}"/>
              </a:ext>
            </a:extLst>
          </p:cNvPr>
          <p:cNvSpPr>
            <a:spLocks noGrp="1"/>
          </p:cNvSpPr>
          <p:nvPr>
            <p:ph type="sldNum" idx="12"/>
          </p:nvPr>
        </p:nvSpPr>
        <p:spPr/>
        <p:txBody>
          <a:bodyPr/>
          <a:lstStyle/>
          <a:p>
            <a:fld id="{00000000-1234-1234-1234-123412341234}" type="slidenum">
              <a:rPr lang="en-US" smtClean="0"/>
              <a:pPr/>
              <a:t>57</a:t>
            </a:fld>
            <a:endParaRPr lang="en-US" dirty="0"/>
          </a:p>
        </p:txBody>
      </p:sp>
      <p:sp>
        <p:nvSpPr>
          <p:cNvPr id="7" name="Content Placeholder 1">
            <a:extLst>
              <a:ext uri="{FF2B5EF4-FFF2-40B4-BE49-F238E27FC236}">
                <a16:creationId xmlns:a16="http://schemas.microsoft.com/office/drawing/2014/main" id="{64FEF217-4352-91C8-6E0F-73366B071D0F}"/>
              </a:ext>
            </a:extLst>
          </p:cNvPr>
          <p:cNvSpPr>
            <a:spLocks noGrp="1"/>
          </p:cNvSpPr>
          <p:nvPr>
            <p:ph type="body" idx="1"/>
          </p:nvPr>
        </p:nvSpPr>
        <p:spPr>
          <a:xfrm>
            <a:off x="407988" y="1035050"/>
            <a:ext cx="11596687" cy="5035550"/>
          </a:xfrm>
        </p:spPr>
        <p:txBody>
          <a:bodyPr/>
          <a:lstStyle/>
          <a:p>
            <a:r>
              <a:rPr lang="en-IN" dirty="0"/>
              <a:t>Today’s ERP technology allows us to relax some of the more restrictive assumptions of MRP. Like—</a:t>
            </a:r>
            <a:endParaRPr lang="en-US" dirty="0"/>
          </a:p>
          <a:p>
            <a:pPr indent="-457200">
              <a:buFont typeface="Wingdings" panose="05000000000000000000" pitchFamily="2" charset="2"/>
              <a:buChar char="Ø"/>
            </a:pPr>
            <a:r>
              <a:rPr lang="en-US" dirty="0"/>
              <a:t>Material is not always the constraining resource</a:t>
            </a:r>
          </a:p>
          <a:p>
            <a:pPr indent="-457200">
              <a:buFont typeface="Wingdings" panose="05000000000000000000" pitchFamily="2" charset="2"/>
              <a:buChar char="Ø"/>
            </a:pPr>
            <a:r>
              <a:rPr lang="en-US" dirty="0"/>
              <a:t>Lead times can vary</a:t>
            </a:r>
          </a:p>
          <a:p>
            <a:pPr indent="-457200">
              <a:buFont typeface="Wingdings" panose="05000000000000000000" pitchFamily="2" charset="2"/>
              <a:buChar char="Ø"/>
            </a:pPr>
            <a:r>
              <a:rPr lang="en-US" dirty="0"/>
              <a:t>Not every transaction needs to be recorded</a:t>
            </a:r>
          </a:p>
          <a:p>
            <a:pPr indent="-457200">
              <a:buFont typeface="Wingdings" panose="05000000000000000000" pitchFamily="2" charset="2"/>
              <a:buChar char="Ø"/>
            </a:pPr>
            <a:r>
              <a:rPr lang="en-US" dirty="0"/>
              <a:t>JIT can be used with MRP</a:t>
            </a:r>
          </a:p>
          <a:p>
            <a:pPr indent="-457200">
              <a:buFont typeface="Wingdings" panose="05000000000000000000" pitchFamily="2" charset="2"/>
              <a:buChar char="Ø"/>
            </a:pPr>
            <a:r>
              <a:rPr lang="en-US" dirty="0"/>
              <a:t>The shop floor may require a more sophisticated scheduling system</a:t>
            </a:r>
          </a:p>
          <a:p>
            <a:endParaRPr lang="en-IN" dirty="0"/>
          </a:p>
        </p:txBody>
      </p:sp>
    </p:spTree>
    <p:extLst>
      <p:ext uri="{BB962C8B-B14F-4D97-AF65-F5344CB8AC3E}">
        <p14:creationId xmlns:p14="http://schemas.microsoft.com/office/powerpoint/2010/main" val="184172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8"/>
          <p:cNvSpPr txBox="1"/>
          <p:nvPr/>
        </p:nvSpPr>
        <p:spPr>
          <a:xfrm>
            <a:off x="4709161" y="2743196"/>
            <a:ext cx="3047100" cy="68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600"/>
              <a:buFont typeface="Calibri"/>
              <a:buNone/>
            </a:pPr>
            <a:r>
              <a:rPr lang="en-US" sz="3600" b="1">
                <a:solidFill>
                  <a:schemeClr val="dk1"/>
                </a:solidFill>
                <a:latin typeface="Calibri"/>
                <a:ea typeface="Calibri"/>
                <a:cs typeface="Calibri"/>
                <a:sym typeface="Calibri"/>
              </a:rPr>
              <a:t>Thank You </a:t>
            </a:r>
            <a:endParaRPr sz="3600">
              <a:solidFill>
                <a:srgbClr val="15438E"/>
              </a:solidFill>
              <a:latin typeface="Calibri"/>
              <a:ea typeface="Calibri"/>
              <a:cs typeface="Calibri"/>
              <a:sym typeface="Calibri"/>
            </a:endParaRPr>
          </a:p>
        </p:txBody>
      </p:sp>
      <p:pic>
        <p:nvPicPr>
          <p:cNvPr id="352" name="Google Shape;352;p18" descr="Smiling face outline with solid fill"/>
          <p:cNvPicPr preferRelativeResize="0"/>
          <p:nvPr/>
        </p:nvPicPr>
        <p:blipFill rotWithShape="1">
          <a:blip r:embed="rId3">
            <a:alphaModFix/>
          </a:blip>
          <a:srcRect/>
          <a:stretch/>
        </p:blipFill>
        <p:spPr>
          <a:xfrm>
            <a:off x="4796864" y="3492157"/>
            <a:ext cx="914400" cy="914400"/>
          </a:xfrm>
          <a:prstGeom prst="rect">
            <a:avLst/>
          </a:prstGeom>
          <a:noFill/>
          <a:ln>
            <a:noFill/>
          </a:ln>
        </p:spPr>
      </p:pic>
      <p:pic>
        <p:nvPicPr>
          <p:cNvPr id="353" name="Google Shape;353;p18" descr="Questions outline"/>
          <p:cNvPicPr preferRelativeResize="0"/>
          <p:nvPr/>
        </p:nvPicPr>
        <p:blipFill rotWithShape="1">
          <a:blip r:embed="rId4">
            <a:alphaModFix/>
          </a:blip>
          <a:srcRect/>
          <a:stretch/>
        </p:blipFill>
        <p:spPr>
          <a:xfrm>
            <a:off x="5964231" y="3511878"/>
            <a:ext cx="914400" cy="914400"/>
          </a:xfrm>
          <a:prstGeom prst="rect">
            <a:avLst/>
          </a:prstGeom>
          <a:noFill/>
          <a:ln>
            <a:noFill/>
          </a:ln>
        </p:spPr>
      </p:pic>
      <p:sp>
        <p:nvSpPr>
          <p:cNvPr id="2" name="Date Placeholder 1"/>
          <p:cNvSpPr>
            <a:spLocks noGrp="1"/>
          </p:cNvSpPr>
          <p:nvPr>
            <p:ph type="dt" idx="10"/>
          </p:nvPr>
        </p:nvSpPr>
        <p:spPr/>
        <p:txBody>
          <a:bodyPr/>
          <a:lstStyle/>
          <a:p>
            <a:fld id="{DFCFA605-D1C3-4588-8847-89E0794F1E34}" type="datetime1">
              <a:rPr lang="en-IN" smtClean="0"/>
              <a:t>09-12-2025</a:t>
            </a:fld>
            <a:endParaRPr lang="en-IN" dirty="0"/>
          </a:p>
        </p:txBody>
      </p:sp>
      <p:sp>
        <p:nvSpPr>
          <p:cNvPr id="3" name="Footer Placeholder 2"/>
          <p:cNvSpPr>
            <a:spLocks noGrp="1"/>
          </p:cNvSpPr>
          <p:nvPr>
            <p:ph type="ftr" idx="11"/>
          </p:nvPr>
        </p:nvSpPr>
        <p:spPr/>
        <p:txBody>
          <a:bodyPr/>
          <a:lstStyle/>
          <a:p>
            <a:r>
              <a:rPr lang="en-IN" dirty="0"/>
              <a:t>Resource Planning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4460</TotalTime>
  <Words>4512</Words>
  <Application>Microsoft Office PowerPoint</Application>
  <PresentationFormat>Widescreen</PresentationFormat>
  <Paragraphs>705</Paragraphs>
  <Slides>58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Century Gothic</vt:lpstr>
      <vt:lpstr>Calibri</vt:lpstr>
      <vt:lpstr>Times New Roman</vt:lpstr>
      <vt:lpstr>Times</vt:lpstr>
      <vt:lpstr>Wingdings</vt:lpstr>
      <vt:lpstr>Arial</vt:lpstr>
      <vt:lpstr>Office</vt:lpstr>
      <vt:lpstr>PowerPoint Presentation</vt:lpstr>
      <vt:lpstr>Learning Objectives</vt:lpstr>
      <vt:lpstr>Resource planning</vt:lpstr>
      <vt:lpstr>Material Requirements Planning</vt:lpstr>
      <vt:lpstr>Demand Characteristics</vt:lpstr>
      <vt:lpstr>Demand Characteristics</vt:lpstr>
      <vt:lpstr>MRP Core Concepts</vt:lpstr>
      <vt:lpstr>Quick Review</vt:lpstr>
      <vt:lpstr>Quick Review</vt:lpstr>
      <vt:lpstr>Quick Review</vt:lpstr>
      <vt:lpstr>MRP Inputs and Outputs</vt:lpstr>
      <vt:lpstr>Master Production Schedule</vt:lpstr>
      <vt:lpstr>Master Production Schedule</vt:lpstr>
      <vt:lpstr>Aggregate Production Plan</vt:lpstr>
      <vt:lpstr>Product Structure File</vt:lpstr>
      <vt:lpstr>Product Structure File</vt:lpstr>
      <vt:lpstr>Product Structure File</vt:lpstr>
      <vt:lpstr>Low-Level Coding</vt:lpstr>
      <vt:lpstr>BOM Example</vt:lpstr>
      <vt:lpstr>Time-phased bills</vt:lpstr>
      <vt:lpstr>Time-phased bills Example</vt:lpstr>
      <vt:lpstr>Item Master File</vt:lpstr>
      <vt:lpstr>Item Master File</vt:lpstr>
      <vt:lpstr>Quick Review</vt:lpstr>
      <vt:lpstr>Quick Review</vt:lpstr>
      <vt:lpstr>Quick Review</vt:lpstr>
      <vt:lpstr>The MRP process</vt:lpstr>
      <vt:lpstr>MRP matrix</vt:lpstr>
      <vt:lpstr>Example— School mate products </vt:lpstr>
      <vt:lpstr>Example— School mate products</vt:lpstr>
      <vt:lpstr>Example— School mate products</vt:lpstr>
      <vt:lpstr>Example— School mate products</vt:lpstr>
      <vt:lpstr>Example— School mate products</vt:lpstr>
      <vt:lpstr>Example— School mate products</vt:lpstr>
      <vt:lpstr>Example— School mate products</vt:lpstr>
      <vt:lpstr>Lot sizing in MRP systems</vt:lpstr>
      <vt:lpstr>Economic Order Quantity</vt:lpstr>
      <vt:lpstr>Periodic Order Quantity</vt:lpstr>
      <vt:lpstr>Lot sizing in MRP systems Example</vt:lpstr>
      <vt:lpstr>Lot sizing in MRP systems Example</vt:lpstr>
      <vt:lpstr>Lot sizing in MRP systems Example</vt:lpstr>
      <vt:lpstr>Lot sizing in MRP systems Example</vt:lpstr>
      <vt:lpstr>MRP outputs</vt:lpstr>
      <vt:lpstr>Manufacturing Resource Planning (MRP II)</vt:lpstr>
      <vt:lpstr>Manufacturing Resource Planning (MRP II)</vt:lpstr>
      <vt:lpstr>Manufacturing Resource Planning (MRP II)</vt:lpstr>
      <vt:lpstr>Capacity Requirements Planning (CRP)</vt:lpstr>
      <vt:lpstr>Capacity Requirements Planning (CRP)</vt:lpstr>
      <vt:lpstr>Calculating Capacity</vt:lpstr>
      <vt:lpstr>Capacity Terms</vt:lpstr>
      <vt:lpstr>Determining Loads and Capacities Example</vt:lpstr>
      <vt:lpstr>Determining Loads and Capacities Example </vt:lpstr>
      <vt:lpstr>Load Profiles</vt:lpstr>
      <vt:lpstr>Remedies for Underloads</vt:lpstr>
      <vt:lpstr>Remedies for Overloads</vt:lpstr>
      <vt:lpstr>load Leveling</vt:lpstr>
      <vt:lpstr>Relaxing MRP Assumptions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Matthias Thomitzek</dc:creator>
  <cp:lastModifiedBy>Narpat Sangwa</cp:lastModifiedBy>
  <cp:revision>395</cp:revision>
  <dcterms:created xsi:type="dcterms:W3CDTF">2020-03-31T09:12:54Z</dcterms:created>
  <dcterms:modified xsi:type="dcterms:W3CDTF">2025-12-09T14:37:37Z</dcterms:modified>
</cp:coreProperties>
</file>