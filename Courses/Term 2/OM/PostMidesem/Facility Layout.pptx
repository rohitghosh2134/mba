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70"/>
  </p:notesMasterIdLst>
  <p:sldIdLst>
    <p:sldId id="256" r:id="rId2"/>
    <p:sldId id="414" r:id="rId3"/>
    <p:sldId id="317" r:id="rId4"/>
    <p:sldId id="322" r:id="rId5"/>
    <p:sldId id="387" r:id="rId6"/>
    <p:sldId id="341" r:id="rId7"/>
    <p:sldId id="388" r:id="rId8"/>
    <p:sldId id="390" r:id="rId9"/>
    <p:sldId id="389" r:id="rId10"/>
    <p:sldId id="391" r:id="rId11"/>
    <p:sldId id="392" r:id="rId12"/>
    <p:sldId id="326" r:id="rId13"/>
    <p:sldId id="327" r:id="rId14"/>
    <p:sldId id="328" r:id="rId15"/>
    <p:sldId id="329" r:id="rId16"/>
    <p:sldId id="330" r:id="rId17"/>
    <p:sldId id="331" r:id="rId18"/>
    <p:sldId id="342" r:id="rId19"/>
    <p:sldId id="332" r:id="rId20"/>
    <p:sldId id="333" r:id="rId21"/>
    <p:sldId id="334" r:id="rId22"/>
    <p:sldId id="335" r:id="rId23"/>
    <p:sldId id="369" r:id="rId24"/>
    <p:sldId id="373" r:id="rId25"/>
    <p:sldId id="374" r:id="rId26"/>
    <p:sldId id="375" r:id="rId27"/>
    <p:sldId id="336" r:id="rId28"/>
    <p:sldId id="367" r:id="rId29"/>
    <p:sldId id="344" r:id="rId30"/>
    <p:sldId id="346" r:id="rId31"/>
    <p:sldId id="347" r:id="rId32"/>
    <p:sldId id="348" r:id="rId33"/>
    <p:sldId id="349" r:id="rId34"/>
    <p:sldId id="350" r:id="rId35"/>
    <p:sldId id="351" r:id="rId36"/>
    <p:sldId id="380" r:id="rId37"/>
    <p:sldId id="384" r:id="rId38"/>
    <p:sldId id="368" r:id="rId39"/>
    <p:sldId id="339" r:id="rId40"/>
    <p:sldId id="340" r:id="rId41"/>
    <p:sldId id="352" r:id="rId42"/>
    <p:sldId id="385" r:id="rId43"/>
    <p:sldId id="386" r:id="rId44"/>
    <p:sldId id="353" r:id="rId45"/>
    <p:sldId id="354" r:id="rId46"/>
    <p:sldId id="355" r:id="rId47"/>
    <p:sldId id="356" r:id="rId48"/>
    <p:sldId id="357" r:id="rId49"/>
    <p:sldId id="358" r:id="rId50"/>
    <p:sldId id="381" r:id="rId51"/>
    <p:sldId id="382" r:id="rId52"/>
    <p:sldId id="383" r:id="rId53"/>
    <p:sldId id="318" r:id="rId54"/>
    <p:sldId id="378" r:id="rId55"/>
    <p:sldId id="379" r:id="rId56"/>
    <p:sldId id="359" r:id="rId57"/>
    <p:sldId id="360" r:id="rId58"/>
    <p:sldId id="370" r:id="rId59"/>
    <p:sldId id="371" r:id="rId60"/>
    <p:sldId id="361" r:id="rId61"/>
    <p:sldId id="362" r:id="rId62"/>
    <p:sldId id="372" r:id="rId63"/>
    <p:sldId id="376" r:id="rId64"/>
    <p:sldId id="377" r:id="rId65"/>
    <p:sldId id="363" r:id="rId66"/>
    <p:sldId id="415" r:id="rId67"/>
    <p:sldId id="364" r:id="rId68"/>
    <p:sldId id="295" r:id="rId69"/>
  </p:sldIdLst>
  <p:sldSz cx="12192000" cy="6858000"/>
  <p:notesSz cx="6400800" cy="11736388"/>
  <p:embeddedFontLst>
    <p:embeddedFont>
      <p:font typeface="Calibri" panose="020F0502020204030204" pitchFamily="34" charset="0"/>
      <p:regular r:id="rId71"/>
      <p:bold r:id="rId72"/>
      <p:italic r:id="rId73"/>
      <p:boldItalic r:id="rId74"/>
    </p:embeddedFont>
    <p:embeddedFont>
      <p:font typeface="Cambria Math" panose="02040503050406030204" pitchFamily="18" charset="0"/>
      <p:regular r:id="rId75"/>
    </p:embeddedFont>
    <p:embeddedFont>
      <p:font typeface="Century Gothic" panose="020B0502020202020204" pitchFamily="34" charset="0"/>
      <p:regular r:id="rId76"/>
      <p:bold r:id="rId77"/>
      <p:italic r:id="rId78"/>
      <p:boldItalic r:id="rId79"/>
    </p:embeddedFont>
    <p:embeddedFont>
      <p:font typeface="Constantia" panose="02030602050306030303" pitchFamily="18" charset="0"/>
      <p:regular r:id="rId80"/>
      <p:bold r:id="rId81"/>
      <p:italic r:id="rId82"/>
      <p:boldItalic r:id="rId83"/>
    </p:embeddedFont>
    <p:embeddedFont>
      <p:font typeface="Times" panose="02020603050405020304" pitchFamily="18" charset="0"/>
      <p:regular r:id="rId84"/>
      <p:bold r:id="rId85"/>
      <p:italic r:id="rId86"/>
      <p:boldItalic r:id="rId8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9" roundtripDataSignature="AMtx7miVhhpRSbsVfJTdG03n2He+SCFp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057DFE-E6D9-463C-876A-ED63FAAF74D6}">
  <a:tblStyle styleId="{A6057DFE-E6D9-463C-876A-ED63FAAF74D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F0EA631-3CC5-4A67-AC19-FCB2EDBDCE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2735" autoAdjust="0"/>
  </p:normalViewPr>
  <p:slideViewPr>
    <p:cSldViewPr snapToGrid="0">
      <p:cViewPr varScale="1">
        <p:scale>
          <a:sx n="55" d="100"/>
          <a:sy n="55" d="100"/>
        </p:scale>
        <p:origin x="10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14.fntdata"/><Relationship Id="rId89" Type="http://customschemas.google.com/relationships/presentationmetadata" Target="meta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4.fntdata"/><Relationship Id="rId79" Type="http://schemas.openxmlformats.org/officeDocument/2006/relationships/font" Target="fonts/font9.fntdata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7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.fntdata"/><Relationship Id="rId80" Type="http://schemas.openxmlformats.org/officeDocument/2006/relationships/font" Target="fonts/font10.fntdata"/><Relationship Id="rId85" Type="http://schemas.openxmlformats.org/officeDocument/2006/relationships/font" Target="fonts/font15.fntdata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font" Target="fonts/font5.fntdata"/><Relationship Id="rId83" Type="http://schemas.openxmlformats.org/officeDocument/2006/relationships/font" Target="fonts/font13.fnt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3.fntdata"/><Relationship Id="rId78" Type="http://schemas.openxmlformats.org/officeDocument/2006/relationships/font" Target="fonts/font8.fntdata"/><Relationship Id="rId81" Type="http://schemas.openxmlformats.org/officeDocument/2006/relationships/font" Target="fonts/font11.fntdata"/><Relationship Id="rId86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font" Target="fonts/font1.fntdata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17.fntdata"/><Relationship Id="rId61" Type="http://schemas.openxmlformats.org/officeDocument/2006/relationships/slide" Target="slides/slide60.xml"/><Relationship Id="rId82" Type="http://schemas.openxmlformats.org/officeDocument/2006/relationships/font" Target="fonts/font12.fntdata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067000" y="880225"/>
            <a:ext cx="4267400" cy="44011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40075" y="5574775"/>
            <a:ext cx="5120625" cy="528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61243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 txBox="1">
            <a:spLocks noGrp="1"/>
          </p:cNvSpPr>
          <p:nvPr>
            <p:ph type="body" idx="1"/>
          </p:nvPr>
        </p:nvSpPr>
        <p:spPr>
          <a:xfrm>
            <a:off x="640075" y="5574775"/>
            <a:ext cx="5120625" cy="5281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11200" y="879475"/>
            <a:ext cx="7823200" cy="44021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9965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11200" y="879475"/>
            <a:ext cx="7823200" cy="44021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74747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process is the overarching set of activities from input to output, representing the "what" of a goal, such as manufacturing a product. An operation is a specific, focused step or action within that process, describing the "how" it's done, like molding a part.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286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:notes"/>
          <p:cNvSpPr txBox="1">
            <a:spLocks noGrp="1"/>
          </p:cNvSpPr>
          <p:nvPr>
            <p:ph type="body" idx="1"/>
          </p:nvPr>
        </p:nvSpPr>
        <p:spPr>
          <a:xfrm>
            <a:off x="640075" y="5574775"/>
            <a:ext cx="5120625" cy="5281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11200" y="879475"/>
            <a:ext cx="7823200" cy="44021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6152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0"/>
          <p:cNvSpPr txBox="1">
            <a:spLocks noGrp="1"/>
          </p:cNvSpPr>
          <p:nvPr>
            <p:ph type="ctrTitle"/>
          </p:nvPr>
        </p:nvSpPr>
        <p:spPr>
          <a:xfrm>
            <a:off x="596900" y="1317996"/>
            <a:ext cx="8610600" cy="1552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Gothic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4" name="Google Shape;14;p20"/>
          <p:cNvSpPr txBox="1">
            <a:spLocks noGrp="1"/>
          </p:cNvSpPr>
          <p:nvPr>
            <p:ph type="subTitle" idx="1"/>
          </p:nvPr>
        </p:nvSpPr>
        <p:spPr>
          <a:xfrm>
            <a:off x="596900" y="3741803"/>
            <a:ext cx="8610600" cy="207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entury Gothic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 dirty="0"/>
          </a:p>
        </p:txBody>
      </p:sp>
      <p:cxnSp>
        <p:nvCxnSpPr>
          <p:cNvPr id="15" name="Google Shape;15;p20"/>
          <p:cNvCxnSpPr/>
          <p:nvPr/>
        </p:nvCxnSpPr>
        <p:spPr>
          <a:xfrm>
            <a:off x="-942" y="6214340"/>
            <a:ext cx="12196800" cy="193"/>
          </a:xfrm>
          <a:prstGeom prst="straightConnector1">
            <a:avLst/>
          </a:prstGeom>
          <a:noFill/>
          <a:ln w="19050" cap="flat" cmpd="sng">
            <a:solidFill>
              <a:srgbClr val="15438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Google Shape;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62335CFD-B3E9-4812-AF47-A129F230FDF1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6" name="Google Shape;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dirty="0"/>
              <a:t>Facility Layout</a:t>
            </a:r>
          </a:p>
        </p:txBody>
      </p:sp>
      <p:sp>
        <p:nvSpPr>
          <p:cNvPr id="7" name="Google Shape;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 descr="https://www.iimsirmaur.ac.in/img/iim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8772" y="10391"/>
            <a:ext cx="883228" cy="88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r Titel">
  <p:cSld name="Nur Titel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>
            <a:spLocks noGrp="1"/>
          </p:cNvSpPr>
          <p:nvPr>
            <p:ph type="title"/>
          </p:nvPr>
        </p:nvSpPr>
        <p:spPr>
          <a:xfrm>
            <a:off x="407446" y="146869"/>
            <a:ext cx="10762781" cy="685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Gothic"/>
              <a:buNone/>
              <a:defRPr sz="36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cxnSp>
        <p:nvCxnSpPr>
          <p:cNvPr id="18" name="Google Shape;18;p21"/>
          <p:cNvCxnSpPr/>
          <p:nvPr/>
        </p:nvCxnSpPr>
        <p:spPr>
          <a:xfrm>
            <a:off x="-942" y="6214340"/>
            <a:ext cx="12196800" cy="193"/>
          </a:xfrm>
          <a:prstGeom prst="straightConnector1">
            <a:avLst/>
          </a:prstGeom>
          <a:noFill/>
          <a:ln w="19050" cap="flat" cmpd="sng">
            <a:solidFill>
              <a:srgbClr val="15438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1"/>
          <p:cNvSpPr txBox="1">
            <a:spLocks noGrp="1"/>
          </p:cNvSpPr>
          <p:nvPr>
            <p:ph type="body" idx="1"/>
          </p:nvPr>
        </p:nvSpPr>
        <p:spPr>
          <a:xfrm>
            <a:off x="407446" y="1035437"/>
            <a:ext cx="11596712" cy="5035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" name="Google Shape;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6" name="Google Shape;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dirty="0"/>
              <a:t>Facility Layout</a:t>
            </a:r>
          </a:p>
        </p:txBody>
      </p:sp>
      <p:sp>
        <p:nvSpPr>
          <p:cNvPr id="7" name="Google Shape;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2" descr="https://www.iimsirmaur.ac.in/img/iim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8772" y="10391"/>
            <a:ext cx="883228" cy="88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" name="Google Shape;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4C8EE48C-6F84-430B-99C8-6D09B5D884B9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8" name="Google Shape;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dirty="0"/>
              <a:t>Facility Layout</a:t>
            </a:r>
          </a:p>
        </p:txBody>
      </p:sp>
      <p:sp>
        <p:nvSpPr>
          <p:cNvPr id="9" name="Google Shape;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Google Shape;10;p19"/>
          <p:cNvCxnSpPr/>
          <p:nvPr/>
        </p:nvCxnSpPr>
        <p:spPr>
          <a:xfrm>
            <a:off x="-942" y="931140"/>
            <a:ext cx="12196800" cy="193"/>
          </a:xfrm>
          <a:prstGeom prst="straightConnector1">
            <a:avLst/>
          </a:prstGeom>
          <a:noFill/>
          <a:ln w="38100" cap="flat" cmpd="sng">
            <a:solidFill>
              <a:srgbClr val="15438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Google Shape;11;p19"/>
          <p:cNvSpPr txBox="1"/>
          <p:nvPr/>
        </p:nvSpPr>
        <p:spPr>
          <a:xfrm>
            <a:off x="838200" y="57869"/>
            <a:ext cx="8699500" cy="705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2" descr="https://www.iimsirmaur.ac.in/img/iimlogo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8772" y="10391"/>
            <a:ext cx="883228" cy="883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shorts/CiZGKe_hbyE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/>
          <p:nvPr/>
        </p:nvSpPr>
        <p:spPr>
          <a:xfrm>
            <a:off x="1308122" y="2688470"/>
            <a:ext cx="10343400" cy="7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IN" sz="5450" b="1" dirty="0">
                <a:solidFill>
                  <a:srgbClr val="0066A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Facility Layout</a:t>
            </a:r>
            <a:endParaRPr sz="5450" b="1" dirty="0">
              <a:solidFill>
                <a:srgbClr val="0066A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3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Google Shape;24;p1">
            <a:extLst>
              <a:ext uri="{FF2B5EF4-FFF2-40B4-BE49-F238E27FC236}">
                <a16:creationId xmlns:a16="http://schemas.microsoft.com/office/drawing/2014/main" id="{860CCB63-2A70-F201-CD44-E43234AE39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303911" y="4854223"/>
            <a:ext cx="4786489" cy="124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Narpat</a:t>
            </a: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Ram </a:t>
            </a:r>
            <a:r>
              <a:rPr lang="en-IN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Sangwa</a:t>
            </a:r>
            <a:endParaRPr 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 &amp; Supply Chain Management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IIM </a:t>
            </a:r>
            <a:r>
              <a:rPr lang="en-IN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Sirmaur</a:t>
            </a:r>
            <a:endParaRPr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BA97-4E26-E77C-6005-541373A73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Classroom rules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D38EC-6678-22EE-0B24-2204F8AC22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22216-3591-00B3-2650-41FC4856E3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Facility Layout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83EEF-64EE-48DE-C5BC-F1CF20E573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2BA5675-492E-0B1F-9900-941244F1D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277" y="999803"/>
            <a:ext cx="11706225" cy="5123205"/>
          </a:xfrm>
        </p:spPr>
        <p:txBody>
          <a:bodyPr>
            <a:normAutofit lnSpcReduction="10000"/>
          </a:bodyPr>
          <a:lstStyle/>
          <a:p>
            <a:r>
              <a:rPr lang="en-IN" sz="3200" b="1" dirty="0"/>
              <a:t>Punctuality: </a:t>
            </a:r>
            <a:r>
              <a:rPr lang="en-IN" sz="3200" dirty="0"/>
              <a:t>At least 5 minutes before the class timing</a:t>
            </a:r>
          </a:p>
          <a:p>
            <a:r>
              <a:rPr lang="en-IN" sz="3200" b="1" dirty="0"/>
              <a:t>Mobile &amp; laptop: </a:t>
            </a:r>
            <a:r>
              <a:rPr lang="en-IN" sz="3200" dirty="0"/>
              <a:t>No use</a:t>
            </a:r>
          </a:p>
          <a:p>
            <a:r>
              <a:rPr lang="en-IN" sz="3200" b="1" dirty="0"/>
              <a:t>Class attendance: </a:t>
            </a:r>
            <a:r>
              <a:rPr lang="en-IN" sz="3200" dirty="0"/>
              <a:t>100% mandatory</a:t>
            </a:r>
          </a:p>
          <a:p>
            <a:r>
              <a:rPr lang="en-IN" sz="3200" b="1" dirty="0"/>
              <a:t>Query rule: </a:t>
            </a:r>
            <a:r>
              <a:rPr lang="en-IN" sz="3200" dirty="0"/>
              <a:t>Wait for the turn to ask question</a:t>
            </a:r>
          </a:p>
          <a:p>
            <a:r>
              <a:rPr lang="en-IN" sz="3200" b="1" dirty="0"/>
              <a:t>Pre-readings &amp; assignments: </a:t>
            </a:r>
            <a:r>
              <a:rPr lang="en-IN" sz="3200" dirty="0"/>
              <a:t>if not read or done, please don’t enter in the class</a:t>
            </a:r>
          </a:p>
          <a:p>
            <a:r>
              <a:rPr lang="en-IN" sz="3200" b="1" dirty="0"/>
              <a:t>Presence: </a:t>
            </a:r>
            <a:r>
              <a:rPr lang="en-IN" sz="3200" dirty="0"/>
              <a:t>No breaks; remain in the classroom for complete 90 minutes</a:t>
            </a:r>
          </a:p>
          <a:p>
            <a:r>
              <a:rPr lang="en-IN" sz="3200" b="1" dirty="0"/>
              <a:t>Sitting Arrangement: </a:t>
            </a:r>
            <a:r>
              <a:rPr lang="en-IN" sz="3200" dirty="0"/>
              <a:t>Always sit as per the sitting arrangement and use your name tags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575692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Learning 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SzPts val="2600"/>
              <a:buFont typeface="Arial" panose="020B0604020202020204" pitchFamily="34" charset="0"/>
              <a:buChar char="•"/>
            </a:pPr>
            <a:r>
              <a:rPr lang="en-IN" kern="1200" dirty="0">
                <a:solidFill>
                  <a:srgbClr val="000000"/>
                </a:solidFill>
              </a:rPr>
              <a:t>What is meant by process?</a:t>
            </a:r>
          </a:p>
          <a:p>
            <a:pPr>
              <a:buSzPts val="2600"/>
              <a:buFont typeface="Arial" panose="020B0604020202020204" pitchFamily="34" charset="0"/>
              <a:buChar char="•"/>
            </a:pPr>
            <a:r>
              <a:rPr lang="en-IN" kern="1200" dirty="0">
                <a:solidFill>
                  <a:srgbClr val="000000"/>
                </a:solidFill>
              </a:rPr>
              <a:t>What are various types of processes?</a:t>
            </a:r>
          </a:p>
          <a:p>
            <a:pPr>
              <a:buSzPts val="2600"/>
              <a:buFont typeface="Arial" panose="020B0604020202020204" pitchFamily="34" charset="0"/>
              <a:buChar char="•"/>
            </a:pPr>
            <a:r>
              <a:rPr lang="en-IN" kern="1200" dirty="0">
                <a:solidFill>
                  <a:srgbClr val="000000"/>
                </a:solidFill>
              </a:rPr>
              <a:t>What are different types of layouts?</a:t>
            </a:r>
          </a:p>
          <a:p>
            <a:pPr>
              <a:buSzPts val="2600"/>
              <a:buFont typeface="Arial" panose="020B0604020202020204" pitchFamily="34" charset="0"/>
              <a:buChar char="•"/>
            </a:pPr>
            <a:r>
              <a:rPr lang="en-IN" kern="1200" dirty="0">
                <a:solidFill>
                  <a:srgbClr val="000000"/>
                </a:solidFill>
              </a:rPr>
              <a:t>How process layout can be designed?</a:t>
            </a:r>
          </a:p>
          <a:p>
            <a:pPr>
              <a:buSzPts val="2600"/>
              <a:buFont typeface="Arial" panose="020B0604020202020204" pitchFamily="34" charset="0"/>
              <a:buChar char="•"/>
            </a:pPr>
            <a:r>
              <a:rPr lang="en-IN" kern="1200" dirty="0">
                <a:solidFill>
                  <a:srgbClr val="000000"/>
                </a:solidFill>
              </a:rPr>
              <a:t>How product layout can be designed?</a:t>
            </a:r>
          </a:p>
          <a:p>
            <a:pPr>
              <a:buSzPts val="2600"/>
              <a:buFont typeface="Arial" panose="020B0604020202020204" pitchFamily="34" charset="0"/>
              <a:buChar char="•"/>
            </a:pPr>
            <a:r>
              <a:rPr lang="en-IN" kern="1200">
                <a:solidFill>
                  <a:srgbClr val="000000"/>
                </a:solidFill>
              </a:rPr>
              <a:t>What are various types of hybrid layouts?</a:t>
            </a:r>
            <a:endParaRPr lang="en-IN" kern="1200" dirty="0">
              <a:solidFill>
                <a:srgbClr val="000000"/>
              </a:solidFill>
            </a:endParaRPr>
          </a:p>
          <a:p>
            <a:pPr marL="114300" indent="0">
              <a:buSzPts val="2600"/>
              <a:buNone/>
            </a:pPr>
            <a:endParaRPr lang="en-IN" kern="1200" dirty="0">
              <a:solidFill>
                <a:srgbClr val="000000"/>
              </a:solidFill>
            </a:endParaRP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Facility Layout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327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416" y="147415"/>
            <a:ext cx="10762781" cy="685801"/>
          </a:xfrm>
        </p:spPr>
        <p:txBody>
          <a:bodyPr/>
          <a:lstStyle/>
          <a:p>
            <a:r>
              <a:rPr lang="en-IN" b="1" dirty="0"/>
              <a:t>Process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Facility Layout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47" name="Content Placeholder 1"/>
          <p:cNvSpPr txBox="1">
            <a:spLocks/>
          </p:cNvSpPr>
          <p:nvPr/>
        </p:nvSpPr>
        <p:spPr>
          <a:xfrm>
            <a:off x="-98235" y="858297"/>
            <a:ext cx="12049230" cy="5098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836613" indent="-457200">
              <a:buFont typeface="Arial" panose="020B0604020202020204" pitchFamily="34" charset="0"/>
              <a:buChar char="•"/>
            </a:pPr>
            <a:r>
              <a:rPr lang="en-US" dirty="0"/>
              <a:t>A process is a set of related tasks with specific inputs and outputs. It creates value to customer, shareholder, or society.</a:t>
            </a:r>
          </a:p>
          <a:p>
            <a:pPr marL="836613" indent="-457200">
              <a:buFont typeface="Arial" panose="020B0604020202020204" pitchFamily="34" charset="0"/>
              <a:buChar char="•"/>
            </a:pPr>
            <a:r>
              <a:rPr lang="en-US" dirty="0"/>
              <a:t>Process selection: Refers to deciding on the way production of goods or services will be organized.</a:t>
            </a:r>
          </a:p>
          <a:p>
            <a:pPr marL="836613" indent="-457200">
              <a:buFont typeface="Arial" panose="020B0604020202020204" pitchFamily="34" charset="0"/>
              <a:buChar char="•"/>
            </a:pPr>
            <a:r>
              <a:rPr lang="en-US" dirty="0"/>
              <a:t>It has major implications for.</a:t>
            </a:r>
          </a:p>
          <a:p>
            <a:pPr marL="1435100" indent="-446088" defTabSz="1520825">
              <a:buFont typeface="Wingdings" panose="05000000000000000000" pitchFamily="2" charset="2"/>
              <a:buChar char="Ø"/>
            </a:pPr>
            <a:r>
              <a:rPr lang="en-US" sz="2400" dirty="0"/>
              <a:t>Capacity planning.</a:t>
            </a:r>
          </a:p>
          <a:p>
            <a:pPr marL="1435100" indent="-446088" defTabSz="1520825">
              <a:buFont typeface="Wingdings" panose="05000000000000000000" pitchFamily="2" charset="2"/>
              <a:buChar char="Ø"/>
            </a:pPr>
            <a:r>
              <a:rPr lang="en-US" sz="2400" dirty="0"/>
              <a:t>Layout of facilities.</a:t>
            </a:r>
          </a:p>
          <a:p>
            <a:pPr marL="1435100" indent="-446088" defTabSz="1520825">
              <a:buFont typeface="Wingdings" panose="05000000000000000000" pitchFamily="2" charset="2"/>
              <a:buChar char="Ø"/>
            </a:pPr>
            <a:r>
              <a:rPr lang="en-US" sz="2400" dirty="0"/>
              <a:t>Equipment.</a:t>
            </a:r>
          </a:p>
          <a:p>
            <a:pPr marL="1435100" indent="-446088" defTabSz="1520825">
              <a:buFont typeface="Wingdings" panose="05000000000000000000" pitchFamily="2" charset="2"/>
              <a:buChar char="Ø"/>
            </a:pPr>
            <a:r>
              <a:rPr lang="en-US" sz="2400" dirty="0"/>
              <a:t>Design of work systems.</a:t>
            </a:r>
          </a:p>
          <a:p>
            <a:pPr marL="836613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21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C1830-A439-0FBB-2683-CDE62BA3C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897" y="-97679"/>
            <a:ext cx="10762781" cy="685801"/>
          </a:xfrm>
        </p:spPr>
        <p:txBody>
          <a:bodyPr/>
          <a:lstStyle/>
          <a:p>
            <a:r>
              <a:rPr lang="en-US" sz="3600" dirty="0"/>
              <a:t>Process Selection and Capacity Planning in System Design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828DB-3541-23EB-55C4-5211216D9F7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C7BFA-DF17-32E7-B148-84147038B73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F1A74-25D0-7DF2-5012-47CD677C7B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Picture 8" descr="A flow chart.">
            <a:extLst>
              <a:ext uri="{FF2B5EF4-FFF2-40B4-BE49-F238E27FC236}">
                <a16:creationId xmlns:a16="http://schemas.microsoft.com/office/drawing/2014/main" id="{87420E14-0065-3438-6F10-0089949F0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747" y="1091701"/>
            <a:ext cx="8194369" cy="498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22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4045D-3D22-6A55-E6DF-FCE759BD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Selection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82052-7023-1646-621B-38B3DB3AF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446" y="911036"/>
            <a:ext cx="11596712" cy="5035928"/>
          </a:xfrm>
        </p:spPr>
        <p:txBody>
          <a:bodyPr/>
          <a:lstStyle/>
          <a:p>
            <a:pPr marL="514350" indent="-514350" eaLnBrk="1" hangingPunct="1">
              <a:buNone/>
            </a:pPr>
            <a:r>
              <a:rPr lang="en-US" dirty="0"/>
              <a:t>Two key questions in process selection:</a:t>
            </a:r>
          </a:p>
          <a:p>
            <a:pPr marL="514350" indent="-514350" eaLnBrk="1" hangingPunct="1">
              <a:buFontTx/>
              <a:buAutoNum type="arabicPeriod"/>
            </a:pPr>
            <a:r>
              <a:rPr lang="en-US" b="0" dirty="0"/>
              <a:t>How much variety will the process need to be able to handle?</a:t>
            </a:r>
          </a:p>
          <a:p>
            <a:pPr marL="514350" indent="-514350" eaLnBrk="1" hangingPunct="1">
              <a:buFontTx/>
              <a:buAutoNum type="arabicPeriod"/>
            </a:pPr>
            <a:r>
              <a:rPr lang="en-US" b="0" dirty="0"/>
              <a:t>How much volume will the process need to be able to handle?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085174-1EEA-1873-74D9-10C9756325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98272-CDEC-B580-B4D2-D98279EAEF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714FE-CF45-5C42-7544-C8D2720369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14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D8EB1-0C6B-350E-443D-F444F7CD2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E1F80-90EC-DA84-652E-E5B11C55F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446" y="960699"/>
            <a:ext cx="11596712" cy="5110666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Ongoing operations:</a:t>
            </a:r>
          </a:p>
          <a:p>
            <a:pPr marL="1076325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Job Shop</a:t>
            </a:r>
          </a:p>
          <a:p>
            <a:pPr marL="1076325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Batch</a:t>
            </a:r>
          </a:p>
          <a:p>
            <a:pPr marL="1076325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Repetitive</a:t>
            </a:r>
          </a:p>
          <a:p>
            <a:pPr marL="1076325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tx1"/>
                </a:solidFill>
              </a:rPr>
              <a:t>Continuous Flow</a:t>
            </a:r>
          </a:p>
          <a:p>
            <a:pPr indent="-457200"/>
            <a:r>
              <a:rPr lang="en-IN" b="1" dirty="0">
                <a:solidFill>
                  <a:schemeClr val="tx1"/>
                </a:solidFill>
              </a:rPr>
              <a:t>Projects: </a:t>
            </a:r>
            <a:r>
              <a:rPr lang="en-IN" dirty="0">
                <a:solidFill>
                  <a:schemeClr val="tx1"/>
                </a:solidFill>
              </a:rPr>
              <a:t>It is</a:t>
            </a:r>
            <a:r>
              <a:rPr lang="en-US" dirty="0">
                <a:solidFill>
                  <a:schemeClr val="tx1"/>
                </a:solidFill>
              </a:rPr>
              <a:t> used for work that is nonroutine, with unique set of objectives to be accomplished in a limited time frame.</a:t>
            </a:r>
          </a:p>
          <a:p>
            <a:pPr indent="-457200"/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9D306-DE98-A06F-DF12-B4E8DFBADF8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F8338-81EA-AA93-DFDD-C49153EB1A7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7C5C-F6A4-A049-ECA1-E288F57E17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67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35A96-42AB-DABC-982B-C80A3F661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Types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1BCD6-BEAD-1A8A-2C07-CCB7E4E95E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79E8A-43AE-FE4F-DC0E-2BA9EC4C03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D62B6-E2A1-A0ED-FA22-1DA472BBB2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 descr="An surgery being performed in an operation theatre.">
            <a:extLst>
              <a:ext uri="{FF2B5EF4-FFF2-40B4-BE49-F238E27FC236}">
                <a16:creationId xmlns:a16="http://schemas.microsoft.com/office/drawing/2014/main" id="{098B7E01-68CB-2447-AC90-428B19BC6B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3"/>
          <a:stretch/>
        </p:blipFill>
        <p:spPr>
          <a:xfrm>
            <a:off x="279501" y="999612"/>
            <a:ext cx="2987375" cy="1941939"/>
          </a:xfrm>
          <a:prstGeom prst="rect">
            <a:avLst/>
          </a:prstGeom>
        </p:spPr>
      </p:pic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B4027A78-C90E-C912-5AF3-8708F4B1FCD6}"/>
              </a:ext>
            </a:extLst>
          </p:cNvPr>
          <p:cNvSpPr txBox="1">
            <a:spLocks/>
          </p:cNvSpPr>
          <p:nvPr/>
        </p:nvSpPr>
        <p:spPr>
          <a:xfrm>
            <a:off x="253653" y="2976437"/>
            <a:ext cx="1837591" cy="26282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/>
              <a:t>© Ingram Publishing</a:t>
            </a:r>
            <a:endParaRPr lang="en-US" sz="100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2A189DF-AC51-D99C-104A-146B856CCA6F}"/>
              </a:ext>
            </a:extLst>
          </p:cNvPr>
          <p:cNvSpPr txBox="1">
            <a:spLocks/>
          </p:cNvSpPr>
          <p:nvPr/>
        </p:nvSpPr>
        <p:spPr>
          <a:xfrm>
            <a:off x="1105092" y="3221567"/>
            <a:ext cx="1505997" cy="39887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/>
              <a:t>A job shop</a:t>
            </a:r>
            <a:endParaRPr lang="en-US" sz="2000" b="1" dirty="0"/>
          </a:p>
        </p:txBody>
      </p:sp>
      <p:pic>
        <p:nvPicPr>
          <p:cNvPr id="10" name="Picture 9" descr="A woman stands behind trays of food on a kitchen counter.">
            <a:extLst>
              <a:ext uri="{FF2B5EF4-FFF2-40B4-BE49-F238E27FC236}">
                <a16:creationId xmlns:a16="http://schemas.microsoft.com/office/drawing/2014/main" id="{8BCDEF42-D538-A2FE-1D5B-F9539A76F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355" y="984674"/>
            <a:ext cx="2962920" cy="1972434"/>
          </a:xfrm>
          <a:prstGeom prst="rect">
            <a:avLst/>
          </a:prstGeom>
        </p:spPr>
      </p:pic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5CB89123-DF10-5FBA-EFAC-E077F7B97F13}"/>
              </a:ext>
            </a:extLst>
          </p:cNvPr>
          <p:cNvSpPr txBox="1">
            <a:spLocks/>
          </p:cNvSpPr>
          <p:nvPr/>
        </p:nvSpPr>
        <p:spPr>
          <a:xfrm>
            <a:off x="4745205" y="2927724"/>
            <a:ext cx="1841891" cy="24171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/>
              <a:t>© Don Tremain/Getty Images</a:t>
            </a:r>
            <a:endParaRPr lang="en-US" sz="1000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C5634529-1FF2-6FDD-1645-99DEAEECBDD4}"/>
              </a:ext>
            </a:extLst>
          </p:cNvPr>
          <p:cNvSpPr txBox="1">
            <a:spLocks/>
          </p:cNvSpPr>
          <p:nvPr/>
        </p:nvSpPr>
        <p:spPr>
          <a:xfrm>
            <a:off x="5172522" y="3176641"/>
            <a:ext cx="2199333" cy="41359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/>
              <a:t>A batch process</a:t>
            </a:r>
            <a:endParaRPr lang="en-US" sz="2000" b="1" dirty="0"/>
          </a:p>
        </p:txBody>
      </p:sp>
      <p:pic>
        <p:nvPicPr>
          <p:cNvPr id="13" name="Picture 12" descr="An automobile manufacturing assemble line.">
            <a:extLst>
              <a:ext uri="{FF2B5EF4-FFF2-40B4-BE49-F238E27FC236}">
                <a16:creationId xmlns:a16="http://schemas.microsoft.com/office/drawing/2014/main" id="{32BFC35E-0ADD-E400-2773-08A579D53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01" y="3690212"/>
            <a:ext cx="2996613" cy="2008901"/>
          </a:xfrm>
          <a:prstGeom prst="rect">
            <a:avLst/>
          </a:prstGeom>
        </p:spPr>
      </p:pic>
      <p:sp>
        <p:nvSpPr>
          <p:cNvPr id="14" name="Content Placeholder 17">
            <a:extLst>
              <a:ext uri="{FF2B5EF4-FFF2-40B4-BE49-F238E27FC236}">
                <a16:creationId xmlns:a16="http://schemas.microsoft.com/office/drawing/2014/main" id="{85856B59-6CA6-6DAA-2DFE-DCCD1612C75A}"/>
              </a:ext>
            </a:extLst>
          </p:cNvPr>
          <p:cNvSpPr txBox="1">
            <a:spLocks/>
          </p:cNvSpPr>
          <p:nvPr/>
        </p:nvSpPr>
        <p:spPr>
          <a:xfrm>
            <a:off x="279501" y="5723667"/>
            <a:ext cx="1058120" cy="24171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© Glow Images 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03A5F7FE-E6CE-8BC8-40D6-475611C7BD84}"/>
              </a:ext>
            </a:extLst>
          </p:cNvPr>
          <p:cNvSpPr txBox="1">
            <a:spLocks/>
          </p:cNvSpPr>
          <p:nvPr/>
        </p:nvSpPr>
        <p:spPr>
          <a:xfrm>
            <a:off x="4875745" y="5825947"/>
            <a:ext cx="2872573" cy="42920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/>
              <a:t>A continuous process</a:t>
            </a:r>
          </a:p>
        </p:txBody>
      </p:sp>
      <p:pic>
        <p:nvPicPr>
          <p:cNvPr id="16" name="Picture 15" descr="An illuminated oil refinery at night.">
            <a:extLst>
              <a:ext uri="{FF2B5EF4-FFF2-40B4-BE49-F238E27FC236}">
                <a16:creationId xmlns:a16="http://schemas.microsoft.com/office/drawing/2014/main" id="{CE1881B4-0786-B47B-3EA0-6D41E8945F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668" y="3656672"/>
            <a:ext cx="2929650" cy="1958680"/>
          </a:xfrm>
          <a:prstGeom prst="rect">
            <a:avLst/>
          </a:prstGeom>
        </p:spPr>
      </p:pic>
      <p:sp>
        <p:nvSpPr>
          <p:cNvPr id="17" name="Content Placeholder 18">
            <a:extLst>
              <a:ext uri="{FF2B5EF4-FFF2-40B4-BE49-F238E27FC236}">
                <a16:creationId xmlns:a16="http://schemas.microsoft.com/office/drawing/2014/main" id="{90ED45FF-2359-44B4-62F9-F76FADC6A96A}"/>
              </a:ext>
            </a:extLst>
          </p:cNvPr>
          <p:cNvSpPr txBox="1">
            <a:spLocks/>
          </p:cNvSpPr>
          <p:nvPr/>
        </p:nvSpPr>
        <p:spPr>
          <a:xfrm>
            <a:off x="4818668" y="5665947"/>
            <a:ext cx="1208846" cy="24171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 dirty="0"/>
              <a:t>© vichie81/123RF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D3A83E37-52A2-B78E-DE18-C8420AA03B9C}"/>
              </a:ext>
            </a:extLst>
          </p:cNvPr>
          <p:cNvSpPr txBox="1">
            <a:spLocks/>
          </p:cNvSpPr>
          <p:nvPr/>
        </p:nvSpPr>
        <p:spPr>
          <a:xfrm>
            <a:off x="517789" y="5844524"/>
            <a:ext cx="2782137" cy="42920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/>
              <a:t>A repetitive process</a:t>
            </a:r>
          </a:p>
        </p:txBody>
      </p:sp>
      <p:pic>
        <p:nvPicPr>
          <p:cNvPr id="1026" name="Picture 2" descr="A mixed use project under construction">
            <a:extLst>
              <a:ext uri="{FF2B5EF4-FFF2-40B4-BE49-F238E27FC236}">
                <a16:creationId xmlns:a16="http://schemas.microsoft.com/office/drawing/2014/main" id="{7F1058A6-26B1-C2B6-B75E-1CD8548A7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9766" y="2047148"/>
            <a:ext cx="3944868" cy="1972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E9868CB-F419-0893-2E81-A12A1799BDA8}"/>
              </a:ext>
            </a:extLst>
          </p:cNvPr>
          <p:cNvSpPr txBox="1"/>
          <p:nvPr/>
        </p:nvSpPr>
        <p:spPr>
          <a:xfrm>
            <a:off x="8009766" y="4042732"/>
            <a:ext cx="363497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https://www.procore.com/</a:t>
            </a:r>
          </a:p>
        </p:txBody>
      </p:sp>
      <p:sp>
        <p:nvSpPr>
          <p:cNvPr id="23" name="Content Placeholder 6">
            <a:extLst>
              <a:ext uri="{FF2B5EF4-FFF2-40B4-BE49-F238E27FC236}">
                <a16:creationId xmlns:a16="http://schemas.microsoft.com/office/drawing/2014/main" id="{CC1683E9-D10E-F2EB-9FD6-6236B6B801A8}"/>
              </a:ext>
            </a:extLst>
          </p:cNvPr>
          <p:cNvSpPr txBox="1">
            <a:spLocks/>
          </p:cNvSpPr>
          <p:nvPr/>
        </p:nvSpPr>
        <p:spPr>
          <a:xfrm>
            <a:off x="9033620" y="4248446"/>
            <a:ext cx="2436891" cy="4624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/>
              <a:t>A project process</a:t>
            </a:r>
          </a:p>
        </p:txBody>
      </p:sp>
    </p:spTree>
    <p:extLst>
      <p:ext uri="{BB962C8B-B14F-4D97-AF65-F5344CB8AC3E}">
        <p14:creationId xmlns:p14="http://schemas.microsoft.com/office/powerpoint/2010/main" val="56082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4" grpId="0"/>
      <p:bldP spid="15" grpId="0"/>
      <p:bldP spid="17" grpId="0"/>
      <p:bldP spid="18" grpId="0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E776-5570-6902-9274-A6BE194A4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Types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0B4C2-63B3-645A-D2C6-46BEBE600C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BF43E-9120-44A4-E851-8AA9CC11CD8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2E1A7-E026-7B71-C1EF-972639CDE4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3C82EAC-3295-FC33-E969-4296D71B94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7527634"/>
              </p:ext>
            </p:extLst>
          </p:nvPr>
        </p:nvGraphicFramePr>
        <p:xfrm>
          <a:off x="243068" y="1122745"/>
          <a:ext cx="11586257" cy="4826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062">
                  <a:extLst>
                    <a:ext uri="{9D8B030D-6E8A-4147-A177-3AD203B41FA5}">
                      <a16:colId xmlns:a16="http://schemas.microsoft.com/office/drawing/2014/main" val="299653254"/>
                    </a:ext>
                  </a:extLst>
                </a:gridCol>
                <a:gridCol w="2215977">
                  <a:extLst>
                    <a:ext uri="{9D8B030D-6E8A-4147-A177-3AD203B41FA5}">
                      <a16:colId xmlns:a16="http://schemas.microsoft.com/office/drawing/2014/main" val="232648810"/>
                    </a:ext>
                  </a:extLst>
                </a:gridCol>
                <a:gridCol w="2503665">
                  <a:extLst>
                    <a:ext uri="{9D8B030D-6E8A-4147-A177-3AD203B41FA5}">
                      <a16:colId xmlns:a16="http://schemas.microsoft.com/office/drawing/2014/main" val="342358840"/>
                    </a:ext>
                  </a:extLst>
                </a:gridCol>
                <a:gridCol w="2027424">
                  <a:extLst>
                    <a:ext uri="{9D8B030D-6E8A-4147-A177-3AD203B41FA5}">
                      <a16:colId xmlns:a16="http://schemas.microsoft.com/office/drawing/2014/main" val="4101220619"/>
                    </a:ext>
                  </a:extLst>
                </a:gridCol>
                <a:gridCol w="2626129">
                  <a:extLst>
                    <a:ext uri="{9D8B030D-6E8A-4147-A177-3AD203B41FA5}">
                      <a16:colId xmlns:a16="http://schemas.microsoft.com/office/drawing/2014/main" val="1349659368"/>
                    </a:ext>
                  </a:extLst>
                </a:gridCol>
              </a:tblGrid>
              <a:tr h="801472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 Shop</a:t>
                      </a:r>
                      <a:endParaRPr lang="en-US" sz="2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</a:t>
                      </a:r>
                      <a:endParaRPr lang="en-US" sz="2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Repetitive/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Assembly</a:t>
                      </a:r>
                      <a:endParaRPr lang="en-US" sz="2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</a:t>
                      </a:r>
                      <a:endParaRPr lang="en-US" sz="20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866745024"/>
                  </a:ext>
                </a:extLst>
              </a:tr>
              <a:tr h="1246734">
                <a:tc>
                  <a:txBody>
                    <a:bodyPr/>
                    <a:lstStyle/>
                    <a:p>
                      <a:pPr marL="225425" indent="-225425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5425" indent="-225425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Customized goods or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5425" indent="-225425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Semi-standardized goods or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5425" indent="-225425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Standardized goods or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5425" indent="-225425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Highly standardized Goods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or services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3240981"/>
                  </a:ext>
                </a:extLst>
              </a:tr>
              <a:tr h="1246734">
                <a:tc>
                  <a:txBody>
                    <a:bodyPr/>
                    <a:lstStyle/>
                    <a:p>
                      <a:pPr marL="225425" indent="-225425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5425" indent="-225425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Able to handle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 wide variety of work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5425" indent="-225425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Flexibility; easy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add or change products or services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5425" indent="-225425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unit cost, high volume, efficient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5425" indent="-225425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efficient, very high volume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63606"/>
                  </a:ext>
                </a:extLst>
              </a:tr>
              <a:tr h="1531702">
                <a:tc>
                  <a:txBody>
                    <a:bodyPr/>
                    <a:lstStyle/>
                    <a:p>
                      <a:pPr marL="225425" indent="-225425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5425" indent="-225425"/>
                      <a:r>
                        <a:rPr kumimoji="0" lang="en-US" sz="2000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Slow, high cost per unit, complex planning and scheduling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5425" indent="-225425"/>
                      <a:r>
                        <a:rPr kumimoji="0" lang="en-US" sz="2000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cost per unit, moderate scheduling complexity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5425" indent="-225425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flexibility, high cost of downtime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5425" indent="-225425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rigid, lack of variety, costly</a:t>
                      </a:r>
                      <a:r>
                        <a:rPr lang="en-US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change, very high cost of downtime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4144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9924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5D5BF-87CB-EAAD-A9B9-5CBA18344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Variety and Equipment Flexibility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AECBA-5D67-4E86-E817-FB309668C5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5710F-CC57-9563-9408-2D04AD0C7E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1F40BA-8D2D-B9DE-5CB0-5CDBD14484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85D5FA-4610-38DD-3035-D147B987B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718935"/>
              </p:ext>
            </p:extLst>
          </p:nvPr>
        </p:nvGraphicFramePr>
        <p:xfrm>
          <a:off x="231494" y="1134317"/>
          <a:ext cx="11644130" cy="498626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9953">
                  <a:extLst>
                    <a:ext uri="{9D8B030D-6E8A-4147-A177-3AD203B41FA5}">
                      <a16:colId xmlns:a16="http://schemas.microsoft.com/office/drawing/2014/main" val="3992305880"/>
                    </a:ext>
                  </a:extLst>
                </a:gridCol>
                <a:gridCol w="2344969">
                  <a:extLst>
                    <a:ext uri="{9D8B030D-6E8A-4147-A177-3AD203B41FA5}">
                      <a16:colId xmlns:a16="http://schemas.microsoft.com/office/drawing/2014/main" val="509572359"/>
                    </a:ext>
                  </a:extLst>
                </a:gridCol>
                <a:gridCol w="2528488">
                  <a:extLst>
                    <a:ext uri="{9D8B030D-6E8A-4147-A177-3AD203B41FA5}">
                      <a16:colId xmlns:a16="http://schemas.microsoft.com/office/drawing/2014/main" val="3847383165"/>
                    </a:ext>
                  </a:extLst>
                </a:gridCol>
                <a:gridCol w="2234947">
                  <a:extLst>
                    <a:ext uri="{9D8B030D-6E8A-4147-A177-3AD203B41FA5}">
                      <a16:colId xmlns:a16="http://schemas.microsoft.com/office/drawing/2014/main" val="2954852589"/>
                    </a:ext>
                  </a:extLst>
                </a:gridCol>
                <a:gridCol w="2495773">
                  <a:extLst>
                    <a:ext uri="{9D8B030D-6E8A-4147-A177-3AD203B41FA5}">
                      <a16:colId xmlns:a16="http://schemas.microsoft.com/office/drawing/2014/main" val="2532821082"/>
                    </a:ext>
                  </a:extLst>
                </a:gridCol>
              </a:tblGrid>
              <a:tr h="489485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Variety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BB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Variety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C3A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Variety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Low Variety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BF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141827"/>
                  </a:ext>
                </a:extLst>
              </a:tr>
              <a:tr h="106204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or very low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BF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 Shop:</a:t>
                      </a:r>
                    </a:p>
                    <a:p>
                      <a:pPr marL="165100" indent="0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repair shop emergency room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6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6699089"/>
                  </a:ext>
                </a:extLst>
              </a:tr>
              <a:tr h="106204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C3A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Batch:</a:t>
                      </a:r>
                    </a:p>
                    <a:p>
                      <a:pPr marL="165100" indent="0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commercial bakery classroom lecture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6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141150"/>
                  </a:ext>
                </a:extLst>
              </a:tr>
              <a:tr h="115101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volume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C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Repetitive:</a:t>
                      </a:r>
                    </a:p>
                    <a:p>
                      <a:pPr marL="120650" indent="0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assembly line automatic car wash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6C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393888"/>
                  </a:ext>
                </a:extLst>
              </a:tr>
              <a:tr h="10620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Very high volume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BBC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Flow:</a:t>
                      </a:r>
                    </a:p>
                    <a:p>
                      <a:pPr marL="165100" indent="0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petroleum refining water treatment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6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347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442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BD391-35BB-B1EF-50AA-B51334BFC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Process Choice and Activities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969E5-DB22-BE19-AC55-BC1D27EAD9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A0A4C-CC05-E69A-A1E3-912185F721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D9026-ED63-9C85-F880-AD1CE32EDE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CC0B0D1-F9F1-458E-192C-97ABCF0CD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780676"/>
              </p:ext>
            </p:extLst>
          </p:nvPr>
        </p:nvGraphicFramePr>
        <p:xfrm>
          <a:off x="219919" y="983848"/>
          <a:ext cx="11702003" cy="5177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592">
                  <a:extLst>
                    <a:ext uri="{9D8B030D-6E8A-4147-A177-3AD203B41FA5}">
                      <a16:colId xmlns:a16="http://schemas.microsoft.com/office/drawing/2014/main" val="3028654276"/>
                    </a:ext>
                  </a:extLst>
                </a:gridCol>
                <a:gridCol w="1717361">
                  <a:extLst>
                    <a:ext uri="{9D8B030D-6E8A-4147-A177-3AD203B41FA5}">
                      <a16:colId xmlns:a16="http://schemas.microsoft.com/office/drawing/2014/main" val="3015524118"/>
                    </a:ext>
                  </a:extLst>
                </a:gridCol>
                <a:gridCol w="2018197">
                  <a:extLst>
                    <a:ext uri="{9D8B030D-6E8A-4147-A177-3AD203B41FA5}">
                      <a16:colId xmlns:a16="http://schemas.microsoft.com/office/drawing/2014/main" val="3231081086"/>
                    </a:ext>
                  </a:extLst>
                </a:gridCol>
                <a:gridCol w="2018197">
                  <a:extLst>
                    <a:ext uri="{9D8B030D-6E8A-4147-A177-3AD203B41FA5}">
                      <a16:colId xmlns:a16="http://schemas.microsoft.com/office/drawing/2014/main" val="2655708618"/>
                    </a:ext>
                  </a:extLst>
                </a:gridCol>
                <a:gridCol w="1874062">
                  <a:extLst>
                    <a:ext uri="{9D8B030D-6E8A-4147-A177-3AD203B41FA5}">
                      <a16:colId xmlns:a16="http://schemas.microsoft.com/office/drawing/2014/main" val="2443682875"/>
                    </a:ext>
                  </a:extLst>
                </a:gridCol>
                <a:gridCol w="1967594">
                  <a:extLst>
                    <a:ext uri="{9D8B030D-6E8A-4147-A177-3AD203B41FA5}">
                      <a16:colId xmlns:a16="http://schemas.microsoft.com/office/drawing/2014/main" val="4167313630"/>
                    </a:ext>
                  </a:extLst>
                </a:gridCol>
              </a:tblGrid>
              <a:tr h="59505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Activity/</a:t>
                      </a:r>
                      <a:b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 Shop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Repetitive/</a:t>
                      </a: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Assembly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Projects</a:t>
                      </a:r>
                      <a:endParaRPr lang="en-US" sz="18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037672767"/>
                  </a:ext>
                </a:extLst>
              </a:tr>
              <a:tr h="340029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Somewhat routine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to complex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349681"/>
                  </a:ext>
                </a:extLst>
              </a:tr>
              <a:tr h="340029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per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697620"/>
                  </a:ext>
                </a:extLst>
              </a:tr>
              <a:tr h="340029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Equipment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 purpose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kern="12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 purpose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Special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Special 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807963"/>
                  </a:ext>
                </a:extLst>
              </a:tr>
              <a:tr h="340029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907920"/>
                  </a:ext>
                </a:extLst>
              </a:tr>
              <a:tr h="340029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173035"/>
                  </a:ext>
                </a:extLst>
              </a:tr>
              <a:tr h="340029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Labor skills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to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to 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873665"/>
                  </a:ext>
                </a:extLst>
              </a:tr>
              <a:tr h="1105093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Promote capabilities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Promote  capabilities; semi-standardized goods/services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Promote standardized goods/services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Promote standardized goods/services</a:t>
                      </a:r>
                    </a:p>
                    <a:p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Promote capabilities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793856"/>
                  </a:ext>
                </a:extLst>
              </a:tr>
              <a:tr h="59505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Moderately 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Routine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Complex, subject to 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132204"/>
                  </a:ext>
                </a:extLst>
              </a:tr>
              <a:tr h="514427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WIP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1777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8619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1F31-6C1F-4E3D-EED9-E95DD2F45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Facility Layout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EAD7C-1691-5E65-3A12-D988EAF5A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6640" y="1057833"/>
            <a:ext cx="11818719" cy="4351338"/>
          </a:xfrm>
        </p:spPr>
        <p:txBody>
          <a:bodyPr/>
          <a:lstStyle/>
          <a:p>
            <a:r>
              <a:rPr lang="en-IN" sz="2800" b="1" dirty="0">
                <a:solidFill>
                  <a:srgbClr val="FF0000"/>
                </a:solidFill>
              </a:rPr>
              <a:t>Facility layout </a:t>
            </a:r>
            <a:r>
              <a:rPr lang="en-IN" sz="2800" dirty="0"/>
              <a:t>refers to the arrangement of activities, processes, departments, workstations, storage areas, aisles, and common areas within an existing or proposed facility.</a:t>
            </a:r>
          </a:p>
          <a:p>
            <a:r>
              <a:rPr lang="en-IN" sz="2800" dirty="0"/>
              <a:t>Layout design is important because it can have </a:t>
            </a:r>
            <a:r>
              <a:rPr lang="en-IN" sz="2800" dirty="0">
                <a:solidFill>
                  <a:srgbClr val="FF0000"/>
                </a:solidFill>
              </a:rPr>
              <a:t>a significant effect </a:t>
            </a:r>
            <a:r>
              <a:rPr lang="en-IN" sz="2800" dirty="0"/>
              <a:t>on the </a:t>
            </a:r>
            <a:r>
              <a:rPr lang="en-IN" sz="2800" dirty="0">
                <a:solidFill>
                  <a:srgbClr val="00B050"/>
                </a:solidFill>
              </a:rPr>
              <a:t>cost</a:t>
            </a:r>
            <a:r>
              <a:rPr lang="en-IN" sz="2800" dirty="0"/>
              <a:t> and </a:t>
            </a:r>
            <a:r>
              <a:rPr lang="en-IN" sz="2800" dirty="0">
                <a:solidFill>
                  <a:srgbClr val="00B050"/>
                </a:solidFill>
              </a:rPr>
              <a:t>efficiency</a:t>
            </a:r>
            <a:r>
              <a:rPr lang="en-IN" sz="2800" dirty="0"/>
              <a:t> of an operation and can entail substantial investment in time and money.</a:t>
            </a:r>
          </a:p>
          <a:p>
            <a:r>
              <a:rPr lang="en-IN" sz="2800" dirty="0"/>
              <a:t>Material storage and movement are directly affected by the type of layout.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D0D55-1EE4-AB40-B3D4-5881CE6311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5DD07-9737-9A00-99DE-AEF80D6E94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F7EF2-B213-9A5B-E205-FEAEED5042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43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9218-7023-C337-08D3-ADEC4EF4C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of Facility Layout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33828-8A80-1C50-9234-670B36EA2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446" y="1028700"/>
            <a:ext cx="11662634" cy="5097780"/>
          </a:xfrm>
        </p:spPr>
        <p:txBody>
          <a:bodyPr>
            <a:normAutofit lnSpcReduction="10000"/>
          </a:bodyPr>
          <a:lstStyle/>
          <a:p>
            <a:r>
              <a:rPr lang="en-IN" sz="2800" dirty="0"/>
              <a:t>The basic objective of the layout decision is to </a:t>
            </a:r>
            <a:r>
              <a:rPr lang="en-IN" sz="2800" dirty="0">
                <a:solidFill>
                  <a:srgbClr val="FF0000"/>
                </a:solidFill>
              </a:rPr>
              <a:t>ensure a smooth flow of work, material, people, and information</a:t>
            </a:r>
            <a:r>
              <a:rPr lang="en-IN" sz="2800" dirty="0"/>
              <a:t> through the system. Some others are—</a:t>
            </a:r>
          </a:p>
          <a:p>
            <a:pPr marL="982663" indent="-457200">
              <a:buFont typeface="Wingdings" panose="05000000000000000000" pitchFamily="2" charset="2"/>
              <a:buChar char="Ø"/>
            </a:pPr>
            <a:r>
              <a:rPr lang="en-IN" sz="2800" dirty="0"/>
              <a:t>Minimize movement and material handling costs;</a:t>
            </a:r>
          </a:p>
          <a:p>
            <a:pPr marL="982663" indent="-457200">
              <a:buFont typeface="Wingdings" panose="05000000000000000000" pitchFamily="2" charset="2"/>
              <a:buChar char="Ø"/>
            </a:pPr>
            <a:r>
              <a:rPr lang="en-IN" sz="2800" dirty="0"/>
              <a:t>Utilize space efficiently;</a:t>
            </a:r>
          </a:p>
          <a:p>
            <a:pPr marL="982663" indent="-457200">
              <a:buFont typeface="Wingdings" panose="05000000000000000000" pitchFamily="2" charset="2"/>
              <a:buChar char="Ø"/>
            </a:pPr>
            <a:r>
              <a:rPr lang="en-IN" sz="2800" dirty="0"/>
              <a:t>Utilize </a:t>
            </a:r>
            <a:r>
              <a:rPr lang="en-IN" sz="2800" dirty="0" err="1"/>
              <a:t>labor</a:t>
            </a:r>
            <a:r>
              <a:rPr lang="en-IN" sz="2800" dirty="0"/>
              <a:t> efficiently;</a:t>
            </a:r>
          </a:p>
          <a:p>
            <a:pPr marL="982663" indent="-457200">
              <a:buFont typeface="Wingdings" panose="05000000000000000000" pitchFamily="2" charset="2"/>
              <a:buChar char="Ø"/>
            </a:pPr>
            <a:r>
              <a:rPr lang="en-IN" sz="2800" dirty="0"/>
              <a:t>Eliminate bottlenecks;</a:t>
            </a:r>
          </a:p>
          <a:p>
            <a:pPr marL="982663" indent="-457200">
              <a:buFont typeface="Wingdings" panose="05000000000000000000" pitchFamily="2" charset="2"/>
              <a:buChar char="Ø"/>
            </a:pPr>
            <a:r>
              <a:rPr lang="en-IN" sz="2800" dirty="0"/>
              <a:t>Facilitate communication and interaction between workers, between workers and their supervisors, and between workers and customers; </a:t>
            </a:r>
          </a:p>
          <a:p>
            <a:pPr marL="982663" indent="-457200">
              <a:buFont typeface="Wingdings" panose="05000000000000000000" pitchFamily="2" charset="2"/>
              <a:buChar char="Ø"/>
            </a:pPr>
            <a:r>
              <a:rPr lang="en-IN" sz="2800" dirty="0"/>
              <a:t>Reduce manufacturing cycle time and customer service time;</a:t>
            </a:r>
          </a:p>
          <a:p>
            <a:pPr marL="982663" indent="-457200">
              <a:buFont typeface="Wingdings" panose="05000000000000000000" pitchFamily="2" charset="2"/>
              <a:buChar char="Ø"/>
            </a:pPr>
            <a:r>
              <a:rPr lang="en-IN" sz="2800" dirty="0"/>
              <a:t>Eliminate wasted or redundant movement;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4744A-B9BA-841C-13CE-005A882993C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938DE-FAEB-D90F-9C43-F1D745666F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7CFAE-996D-1FA3-E95F-ADAEC97069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656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6127B-513C-2AB9-B381-778B6FE5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of Facility Layout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647CF-7FAA-0CEF-D6B5-A2C525A57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566" y="1119236"/>
            <a:ext cx="11868374" cy="4351338"/>
          </a:xfrm>
        </p:spPr>
        <p:txBody>
          <a:bodyPr/>
          <a:lstStyle/>
          <a:p>
            <a:pPr marL="892175">
              <a:buFont typeface="Wingdings" panose="05000000000000000000" pitchFamily="2" charset="2"/>
              <a:buChar char="Ø"/>
            </a:pPr>
            <a:r>
              <a:rPr lang="en-US" dirty="0"/>
              <a:t>Facilitate the entry, exit, and placement of material, products, and people;</a:t>
            </a:r>
          </a:p>
          <a:p>
            <a:pPr marL="892175">
              <a:buFont typeface="Wingdings" panose="05000000000000000000" pitchFamily="2" charset="2"/>
              <a:buChar char="Ø"/>
            </a:pPr>
            <a:r>
              <a:rPr lang="en-US" dirty="0"/>
              <a:t>Incorporate safety and security measures;</a:t>
            </a:r>
          </a:p>
          <a:p>
            <a:pPr marL="892175">
              <a:buFont typeface="Wingdings" panose="05000000000000000000" pitchFamily="2" charset="2"/>
              <a:buChar char="Ø"/>
            </a:pPr>
            <a:r>
              <a:rPr lang="en-US" dirty="0"/>
              <a:t>Promote product and service quality;</a:t>
            </a:r>
          </a:p>
          <a:p>
            <a:pPr marL="892175">
              <a:buFont typeface="Wingdings" panose="05000000000000000000" pitchFamily="2" charset="2"/>
              <a:buChar char="Ø"/>
            </a:pPr>
            <a:r>
              <a:rPr lang="en-US" dirty="0"/>
              <a:t>Encourage proper maintenance activities;</a:t>
            </a:r>
          </a:p>
          <a:p>
            <a:pPr marL="892175">
              <a:buFont typeface="Wingdings" panose="05000000000000000000" pitchFamily="2" charset="2"/>
              <a:buChar char="Ø"/>
            </a:pPr>
            <a:r>
              <a:rPr lang="en-US" dirty="0"/>
              <a:t>Provide a visual control of activities;</a:t>
            </a:r>
          </a:p>
          <a:p>
            <a:pPr marL="892175">
              <a:buFont typeface="Wingdings" panose="05000000000000000000" pitchFamily="2" charset="2"/>
              <a:buChar char="Ø"/>
            </a:pPr>
            <a:r>
              <a:rPr lang="en-US" dirty="0"/>
              <a:t>Provide flexibility to adapt to changing conditions;</a:t>
            </a:r>
          </a:p>
          <a:p>
            <a:pPr marL="892175">
              <a:buFont typeface="Wingdings" panose="05000000000000000000" pitchFamily="2" charset="2"/>
              <a:buChar char="Ø"/>
            </a:pPr>
            <a:r>
              <a:rPr lang="en-US" dirty="0"/>
              <a:t>Increase capacity.</a:t>
            </a:r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A97CB-2DDB-DD86-FBC7-198E21B276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BA3FB-5DBF-8F97-0ACF-31EF5473F2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21AAC-BFB6-E1FB-5004-29C61FEB6B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97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116BF-F24D-8213-603F-8D4F5DDF5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Layouts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8CE9D-A5A5-4A97-8D50-5AAE8CCAA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Layout (functional layouts)</a:t>
            </a:r>
          </a:p>
          <a:p>
            <a:pPr marL="892175">
              <a:buFont typeface="Wingdings" panose="05000000000000000000" pitchFamily="2" charset="2"/>
              <a:buChar char="Ø"/>
            </a:pPr>
            <a:r>
              <a:rPr lang="en-US" sz="2400" dirty="0"/>
              <a:t>Machines grouped by process they perform</a:t>
            </a:r>
          </a:p>
          <a:p>
            <a:r>
              <a:rPr lang="en-US" dirty="0"/>
              <a:t>Product Layout (assembly lines)</a:t>
            </a:r>
          </a:p>
          <a:p>
            <a:pPr marL="892175">
              <a:buFont typeface="Wingdings" panose="05000000000000000000" pitchFamily="2" charset="2"/>
              <a:buChar char="Ø"/>
            </a:pPr>
            <a:r>
              <a:rPr lang="en-US" sz="2400" dirty="0"/>
              <a:t>Linear arrangement of workstations to produce a specific product</a:t>
            </a:r>
          </a:p>
          <a:p>
            <a:r>
              <a:rPr lang="en-US" dirty="0"/>
              <a:t>Fixed Position Layout</a:t>
            </a:r>
          </a:p>
          <a:p>
            <a:pPr marL="892175">
              <a:buFont typeface="Wingdings" panose="05000000000000000000" pitchFamily="2" charset="2"/>
              <a:buChar char="Ø"/>
            </a:pPr>
            <a:r>
              <a:rPr lang="en-US" sz="2400" dirty="0"/>
              <a:t>Used in projects where the product cannot be moved</a:t>
            </a:r>
          </a:p>
          <a:p>
            <a:r>
              <a:rPr lang="en-US" dirty="0"/>
              <a:t>Combination Layout</a:t>
            </a:r>
          </a:p>
          <a:p>
            <a:pPr marL="892175">
              <a:buFont typeface="Wingdings" panose="05000000000000000000" pitchFamily="2" charset="2"/>
              <a:buChar char="Ø"/>
            </a:pPr>
            <a:r>
              <a:rPr lang="en-US" sz="2400" dirty="0"/>
              <a:t>A combination of the three basic layout types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07582-9F29-CEEF-F71D-578E68AE34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440B7-72CB-9358-4D36-6F8D114387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3786C-B203-66F5-5842-4CA9B28DE7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261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3F726-28AE-3B90-43A0-9837311E1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Layout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720F4-B367-81D4-2D19-9F617E7F7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process layout is characteristic of intermittent operations, service shops, job shops, or batch production, which serve different customers with different needs. </a:t>
            </a:r>
          </a:p>
          <a:p>
            <a:r>
              <a:rPr lang="en-US" dirty="0"/>
              <a:t>The volume of each customer’s order is low, and the sequence of operations required to complete a customer’s order can vary considerably.</a:t>
            </a:r>
          </a:p>
          <a:p>
            <a:r>
              <a:rPr lang="en-US" dirty="0"/>
              <a:t>The major layout concern for a process layout is </a:t>
            </a:r>
            <a:r>
              <a:rPr lang="en-US" dirty="0">
                <a:solidFill>
                  <a:srgbClr val="FF0000"/>
                </a:solidFill>
              </a:rPr>
              <a:t>where to locate </a:t>
            </a:r>
            <a:r>
              <a:rPr lang="en-US" dirty="0"/>
              <a:t>the departments or machine centers in relation to each other.</a:t>
            </a:r>
          </a:p>
          <a:p>
            <a:r>
              <a:rPr lang="en-US" dirty="0"/>
              <a:t>Storage space in a process layout is large to accommodate the large amount of work-in-process inventory.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B3D18-A90E-CF19-4B88-375A89A1812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2C2D8-2716-1277-8153-F6A30C4AA6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3EB76-251C-9550-163F-74841D8B0B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673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60995-C1C5-5652-F045-C2253C8DB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Layout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6A2C2-01F5-C47A-2445-ED57670D55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E42DA-D6C1-A6DA-A8CB-08178B9AF97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F7D0A-1303-7D24-D035-F5E08D0F5E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EF8E2C4-1AE4-21A1-34BF-BD77F1455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580" y="1076960"/>
            <a:ext cx="7535863" cy="488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86B2ED30-44A9-4919-E88C-C5AC6302310C}"/>
              </a:ext>
            </a:extLst>
          </p:cNvPr>
          <p:cNvSpPr>
            <a:spLocks/>
          </p:cNvSpPr>
          <p:nvPr/>
        </p:nvSpPr>
        <p:spPr bwMode="auto">
          <a:xfrm>
            <a:off x="7064693" y="1927860"/>
            <a:ext cx="465137" cy="1658938"/>
          </a:xfrm>
          <a:custGeom>
            <a:avLst/>
            <a:gdLst>
              <a:gd name="T0" fmla="*/ 45 w 293"/>
              <a:gd name="T1" fmla="*/ 2 h 1045"/>
              <a:gd name="T2" fmla="*/ 130 w 293"/>
              <a:gd name="T3" fmla="*/ 21 h 1045"/>
              <a:gd name="T4" fmla="*/ 162 w 293"/>
              <a:gd name="T5" fmla="*/ 128 h 1045"/>
              <a:gd name="T6" fmla="*/ 119 w 293"/>
              <a:gd name="T7" fmla="*/ 493 h 1045"/>
              <a:gd name="T8" fmla="*/ 5 w 293"/>
              <a:gd name="T9" fmla="*/ 885 h 1045"/>
              <a:gd name="T10" fmla="*/ 90 w 293"/>
              <a:gd name="T11" fmla="*/ 1021 h 1045"/>
              <a:gd name="T12" fmla="*/ 293 w 293"/>
              <a:gd name="T13" fmla="*/ 1029 h 10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93" h="1045">
                <a:moveTo>
                  <a:pt x="45" y="2"/>
                </a:moveTo>
                <a:cubicBezTo>
                  <a:pt x="59" y="5"/>
                  <a:pt x="110" y="0"/>
                  <a:pt x="130" y="21"/>
                </a:cubicBezTo>
                <a:cubicBezTo>
                  <a:pt x="150" y="42"/>
                  <a:pt x="164" y="49"/>
                  <a:pt x="162" y="128"/>
                </a:cubicBezTo>
                <a:cubicBezTo>
                  <a:pt x="160" y="207"/>
                  <a:pt x="145" y="367"/>
                  <a:pt x="119" y="493"/>
                </a:cubicBezTo>
                <a:cubicBezTo>
                  <a:pt x="93" y="619"/>
                  <a:pt x="10" y="797"/>
                  <a:pt x="5" y="885"/>
                </a:cubicBezTo>
                <a:cubicBezTo>
                  <a:pt x="0" y="973"/>
                  <a:pt x="42" y="997"/>
                  <a:pt x="90" y="1021"/>
                </a:cubicBezTo>
                <a:cubicBezTo>
                  <a:pt x="138" y="1045"/>
                  <a:pt x="260" y="1028"/>
                  <a:pt x="293" y="1029"/>
                </a:cubicBezTo>
              </a:path>
            </a:pathLst>
          </a:custGeom>
          <a:noFill/>
          <a:ln w="57150" cap="flat" cmpd="sng">
            <a:solidFill>
              <a:srgbClr val="000000"/>
            </a:solidFill>
            <a:prstDash val="solid"/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A873D18-7C8C-3617-BBA0-A775A3EA5CD5}"/>
              </a:ext>
            </a:extLst>
          </p:cNvPr>
          <p:cNvSpPr>
            <a:spLocks/>
          </p:cNvSpPr>
          <p:nvPr/>
        </p:nvSpPr>
        <p:spPr bwMode="auto">
          <a:xfrm>
            <a:off x="6529705" y="2780347"/>
            <a:ext cx="454025" cy="527050"/>
          </a:xfrm>
          <a:custGeom>
            <a:avLst/>
            <a:gdLst>
              <a:gd name="T0" fmla="*/ 267 w 267"/>
              <a:gd name="T1" fmla="*/ 0 h 332"/>
              <a:gd name="T2" fmla="*/ 224 w 267"/>
              <a:gd name="T3" fmla="*/ 140 h 332"/>
              <a:gd name="T4" fmla="*/ 53 w 267"/>
              <a:gd name="T5" fmla="*/ 196 h 332"/>
              <a:gd name="T6" fmla="*/ 0 w 267"/>
              <a:gd name="T7" fmla="*/ 332 h 3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7" h="332">
                <a:moveTo>
                  <a:pt x="267" y="0"/>
                </a:moveTo>
                <a:cubicBezTo>
                  <a:pt x="260" y="23"/>
                  <a:pt x="260" y="107"/>
                  <a:pt x="224" y="140"/>
                </a:cubicBezTo>
                <a:cubicBezTo>
                  <a:pt x="188" y="173"/>
                  <a:pt x="90" y="164"/>
                  <a:pt x="53" y="196"/>
                </a:cubicBezTo>
                <a:cubicBezTo>
                  <a:pt x="16" y="228"/>
                  <a:pt x="11" y="304"/>
                  <a:pt x="0" y="332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B17C46CE-710E-9A26-FD30-03E1360C1777}"/>
              </a:ext>
            </a:extLst>
          </p:cNvPr>
          <p:cNvSpPr>
            <a:spLocks/>
          </p:cNvSpPr>
          <p:nvPr/>
        </p:nvSpPr>
        <p:spPr bwMode="auto">
          <a:xfrm>
            <a:off x="5050155" y="2299335"/>
            <a:ext cx="1749425" cy="319088"/>
          </a:xfrm>
          <a:custGeom>
            <a:avLst/>
            <a:gdLst>
              <a:gd name="T0" fmla="*/ 0 w 1102"/>
              <a:gd name="T1" fmla="*/ 197 h 201"/>
              <a:gd name="T2" fmla="*/ 80 w 1102"/>
              <a:gd name="T3" fmla="*/ 188 h 201"/>
              <a:gd name="T4" fmla="*/ 142 w 1102"/>
              <a:gd name="T5" fmla="*/ 117 h 201"/>
              <a:gd name="T6" fmla="*/ 267 w 1102"/>
              <a:gd name="T7" fmla="*/ 10 h 201"/>
              <a:gd name="T8" fmla="*/ 675 w 1102"/>
              <a:gd name="T9" fmla="*/ 55 h 201"/>
              <a:gd name="T10" fmla="*/ 933 w 1102"/>
              <a:gd name="T11" fmla="*/ 152 h 201"/>
              <a:gd name="T12" fmla="*/ 1102 w 1102"/>
              <a:gd name="T13" fmla="*/ 197 h 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02" h="201">
                <a:moveTo>
                  <a:pt x="0" y="197"/>
                </a:moveTo>
                <a:cubicBezTo>
                  <a:pt x="28" y="199"/>
                  <a:pt x="56" y="201"/>
                  <a:pt x="80" y="188"/>
                </a:cubicBezTo>
                <a:cubicBezTo>
                  <a:pt x="104" y="175"/>
                  <a:pt x="111" y="147"/>
                  <a:pt x="142" y="117"/>
                </a:cubicBezTo>
                <a:cubicBezTo>
                  <a:pt x="173" y="87"/>
                  <a:pt x="178" y="20"/>
                  <a:pt x="267" y="10"/>
                </a:cubicBezTo>
                <a:cubicBezTo>
                  <a:pt x="356" y="0"/>
                  <a:pt x="564" y="31"/>
                  <a:pt x="675" y="55"/>
                </a:cubicBezTo>
                <a:cubicBezTo>
                  <a:pt x="786" y="79"/>
                  <a:pt x="862" y="128"/>
                  <a:pt x="933" y="152"/>
                </a:cubicBezTo>
                <a:cubicBezTo>
                  <a:pt x="1004" y="176"/>
                  <a:pt x="1053" y="186"/>
                  <a:pt x="1102" y="197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C904D8C5-6807-8F82-6A51-30F8250ACFF1}"/>
              </a:ext>
            </a:extLst>
          </p:cNvPr>
          <p:cNvSpPr>
            <a:spLocks/>
          </p:cNvSpPr>
          <p:nvPr/>
        </p:nvSpPr>
        <p:spPr bwMode="auto">
          <a:xfrm>
            <a:off x="6490018" y="5377497"/>
            <a:ext cx="987425" cy="184150"/>
          </a:xfrm>
          <a:custGeom>
            <a:avLst/>
            <a:gdLst>
              <a:gd name="T0" fmla="*/ 622 w 622"/>
              <a:gd name="T1" fmla="*/ 9 h 116"/>
              <a:gd name="T2" fmla="*/ 257 w 622"/>
              <a:gd name="T3" fmla="*/ 18 h 116"/>
              <a:gd name="T4" fmla="*/ 0 w 622"/>
              <a:gd name="T5" fmla="*/ 116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22" h="116">
                <a:moveTo>
                  <a:pt x="622" y="9"/>
                </a:moveTo>
                <a:cubicBezTo>
                  <a:pt x="491" y="4"/>
                  <a:pt x="361" y="0"/>
                  <a:pt x="257" y="18"/>
                </a:cubicBezTo>
                <a:cubicBezTo>
                  <a:pt x="153" y="36"/>
                  <a:pt x="76" y="76"/>
                  <a:pt x="0" y="116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02015293-792C-AB2A-ADE9-54EABFE44468}"/>
              </a:ext>
            </a:extLst>
          </p:cNvPr>
          <p:cNvSpPr>
            <a:spLocks/>
          </p:cNvSpPr>
          <p:nvPr/>
        </p:nvSpPr>
        <p:spPr bwMode="auto">
          <a:xfrm>
            <a:off x="5697855" y="2820035"/>
            <a:ext cx="690562" cy="706438"/>
          </a:xfrm>
          <a:custGeom>
            <a:avLst/>
            <a:gdLst>
              <a:gd name="T0" fmla="*/ 311 w 311"/>
              <a:gd name="T1" fmla="*/ 356 h 356"/>
              <a:gd name="T2" fmla="*/ 195 w 311"/>
              <a:gd name="T3" fmla="*/ 311 h 356"/>
              <a:gd name="T4" fmla="*/ 71 w 311"/>
              <a:gd name="T5" fmla="*/ 187 h 356"/>
              <a:gd name="T6" fmla="*/ 0 w 311"/>
              <a:gd name="T7" fmla="*/ 0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11" h="356">
                <a:moveTo>
                  <a:pt x="311" y="356"/>
                </a:moveTo>
                <a:cubicBezTo>
                  <a:pt x="273" y="347"/>
                  <a:pt x="235" y="339"/>
                  <a:pt x="195" y="311"/>
                </a:cubicBezTo>
                <a:cubicBezTo>
                  <a:pt x="155" y="283"/>
                  <a:pt x="103" y="239"/>
                  <a:pt x="71" y="187"/>
                </a:cubicBezTo>
                <a:cubicBezTo>
                  <a:pt x="39" y="135"/>
                  <a:pt x="19" y="67"/>
                  <a:pt x="0" y="0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" name="Freeform 14">
            <a:extLst>
              <a:ext uri="{FF2B5EF4-FFF2-40B4-BE49-F238E27FC236}">
                <a16:creationId xmlns:a16="http://schemas.microsoft.com/office/drawing/2014/main" id="{00B7CFF7-D4BF-4EBF-0D63-85AABEA084AE}"/>
              </a:ext>
            </a:extLst>
          </p:cNvPr>
          <p:cNvSpPr>
            <a:spLocks/>
          </p:cNvSpPr>
          <p:nvPr/>
        </p:nvSpPr>
        <p:spPr bwMode="auto">
          <a:xfrm rot="5400000">
            <a:off x="6018530" y="1673860"/>
            <a:ext cx="481013" cy="1030287"/>
          </a:xfrm>
          <a:custGeom>
            <a:avLst/>
            <a:gdLst>
              <a:gd name="T0" fmla="*/ 311 w 311"/>
              <a:gd name="T1" fmla="*/ 356 h 356"/>
              <a:gd name="T2" fmla="*/ 195 w 311"/>
              <a:gd name="T3" fmla="*/ 311 h 356"/>
              <a:gd name="T4" fmla="*/ 71 w 311"/>
              <a:gd name="T5" fmla="*/ 187 h 356"/>
              <a:gd name="T6" fmla="*/ 0 w 311"/>
              <a:gd name="T7" fmla="*/ 0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11" h="356">
                <a:moveTo>
                  <a:pt x="311" y="356"/>
                </a:moveTo>
                <a:cubicBezTo>
                  <a:pt x="273" y="347"/>
                  <a:pt x="235" y="339"/>
                  <a:pt x="195" y="311"/>
                </a:cubicBezTo>
                <a:cubicBezTo>
                  <a:pt x="155" y="283"/>
                  <a:pt x="103" y="239"/>
                  <a:pt x="71" y="187"/>
                </a:cubicBezTo>
                <a:cubicBezTo>
                  <a:pt x="39" y="135"/>
                  <a:pt x="19" y="67"/>
                  <a:pt x="0" y="0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E172877C-A2A2-8BF4-826E-04915F2912A4}"/>
              </a:ext>
            </a:extLst>
          </p:cNvPr>
          <p:cNvSpPr>
            <a:spLocks/>
          </p:cNvSpPr>
          <p:nvPr/>
        </p:nvSpPr>
        <p:spPr bwMode="auto">
          <a:xfrm>
            <a:off x="3875405" y="2621597"/>
            <a:ext cx="833437" cy="1020763"/>
          </a:xfrm>
          <a:custGeom>
            <a:avLst/>
            <a:gdLst>
              <a:gd name="T0" fmla="*/ 0 w 525"/>
              <a:gd name="T1" fmla="*/ 641 h 651"/>
              <a:gd name="T2" fmla="*/ 107 w 525"/>
              <a:gd name="T3" fmla="*/ 632 h 651"/>
              <a:gd name="T4" fmla="*/ 205 w 525"/>
              <a:gd name="T5" fmla="*/ 525 h 651"/>
              <a:gd name="T6" fmla="*/ 276 w 525"/>
              <a:gd name="T7" fmla="*/ 125 h 651"/>
              <a:gd name="T8" fmla="*/ 400 w 525"/>
              <a:gd name="T9" fmla="*/ 19 h 651"/>
              <a:gd name="T10" fmla="*/ 525 w 525"/>
              <a:gd name="T11" fmla="*/ 10 h 6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25" h="651">
                <a:moveTo>
                  <a:pt x="0" y="641"/>
                </a:moveTo>
                <a:cubicBezTo>
                  <a:pt x="36" y="646"/>
                  <a:pt x="73" y="651"/>
                  <a:pt x="107" y="632"/>
                </a:cubicBezTo>
                <a:cubicBezTo>
                  <a:pt x="141" y="613"/>
                  <a:pt x="177" y="609"/>
                  <a:pt x="205" y="525"/>
                </a:cubicBezTo>
                <a:cubicBezTo>
                  <a:pt x="233" y="441"/>
                  <a:pt x="244" y="209"/>
                  <a:pt x="276" y="125"/>
                </a:cubicBezTo>
                <a:cubicBezTo>
                  <a:pt x="308" y="41"/>
                  <a:pt x="358" y="38"/>
                  <a:pt x="400" y="19"/>
                </a:cubicBezTo>
                <a:cubicBezTo>
                  <a:pt x="442" y="0"/>
                  <a:pt x="483" y="5"/>
                  <a:pt x="525" y="10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903F1F36-655E-1821-E91F-5B3D1F570297}"/>
              </a:ext>
            </a:extLst>
          </p:cNvPr>
          <p:cNvSpPr>
            <a:spLocks/>
          </p:cNvSpPr>
          <p:nvPr/>
        </p:nvSpPr>
        <p:spPr bwMode="auto">
          <a:xfrm>
            <a:off x="3046730" y="4615497"/>
            <a:ext cx="493712" cy="565150"/>
          </a:xfrm>
          <a:custGeom>
            <a:avLst/>
            <a:gdLst>
              <a:gd name="T0" fmla="*/ 311 w 311"/>
              <a:gd name="T1" fmla="*/ 356 h 356"/>
              <a:gd name="T2" fmla="*/ 195 w 311"/>
              <a:gd name="T3" fmla="*/ 311 h 356"/>
              <a:gd name="T4" fmla="*/ 71 w 311"/>
              <a:gd name="T5" fmla="*/ 187 h 356"/>
              <a:gd name="T6" fmla="*/ 0 w 311"/>
              <a:gd name="T7" fmla="*/ 0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11" h="356">
                <a:moveTo>
                  <a:pt x="311" y="356"/>
                </a:moveTo>
                <a:cubicBezTo>
                  <a:pt x="273" y="347"/>
                  <a:pt x="235" y="339"/>
                  <a:pt x="195" y="311"/>
                </a:cubicBezTo>
                <a:cubicBezTo>
                  <a:pt x="155" y="283"/>
                  <a:pt x="103" y="239"/>
                  <a:pt x="71" y="187"/>
                </a:cubicBezTo>
                <a:cubicBezTo>
                  <a:pt x="39" y="135"/>
                  <a:pt x="19" y="67"/>
                  <a:pt x="0" y="0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" name="Freeform 18">
            <a:extLst>
              <a:ext uri="{FF2B5EF4-FFF2-40B4-BE49-F238E27FC236}">
                <a16:creationId xmlns:a16="http://schemas.microsoft.com/office/drawing/2014/main" id="{63A735A0-73F5-22B2-5324-3CF91A504F89}"/>
              </a:ext>
            </a:extLst>
          </p:cNvPr>
          <p:cNvSpPr>
            <a:spLocks/>
          </p:cNvSpPr>
          <p:nvPr/>
        </p:nvSpPr>
        <p:spPr bwMode="auto">
          <a:xfrm rot="5400000">
            <a:off x="2995930" y="3770947"/>
            <a:ext cx="565150" cy="452437"/>
          </a:xfrm>
          <a:custGeom>
            <a:avLst/>
            <a:gdLst>
              <a:gd name="T0" fmla="*/ 311 w 311"/>
              <a:gd name="T1" fmla="*/ 356 h 356"/>
              <a:gd name="T2" fmla="*/ 195 w 311"/>
              <a:gd name="T3" fmla="*/ 311 h 356"/>
              <a:gd name="T4" fmla="*/ 71 w 311"/>
              <a:gd name="T5" fmla="*/ 187 h 356"/>
              <a:gd name="T6" fmla="*/ 0 w 311"/>
              <a:gd name="T7" fmla="*/ 0 h 3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11" h="356">
                <a:moveTo>
                  <a:pt x="311" y="356"/>
                </a:moveTo>
                <a:cubicBezTo>
                  <a:pt x="273" y="347"/>
                  <a:pt x="235" y="339"/>
                  <a:pt x="195" y="311"/>
                </a:cubicBezTo>
                <a:cubicBezTo>
                  <a:pt x="155" y="283"/>
                  <a:pt x="103" y="239"/>
                  <a:pt x="71" y="187"/>
                </a:cubicBezTo>
                <a:cubicBezTo>
                  <a:pt x="39" y="135"/>
                  <a:pt x="19" y="67"/>
                  <a:pt x="0" y="0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428A2722-59B3-ED1A-B05B-0335DBA957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04468" y="5371147"/>
            <a:ext cx="5667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8" name="Line 65">
            <a:extLst>
              <a:ext uri="{FF2B5EF4-FFF2-40B4-BE49-F238E27FC236}">
                <a16:creationId xmlns:a16="http://schemas.microsoft.com/office/drawing/2014/main" id="{392E9AEC-DA81-E448-D690-6E768E37A8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71243" y="5371147"/>
            <a:ext cx="50958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" name="Freeform 67">
            <a:extLst>
              <a:ext uri="{FF2B5EF4-FFF2-40B4-BE49-F238E27FC236}">
                <a16:creationId xmlns:a16="http://schemas.microsoft.com/office/drawing/2014/main" id="{1CF42696-1A64-7593-5944-F06524C450FD}"/>
              </a:ext>
            </a:extLst>
          </p:cNvPr>
          <p:cNvSpPr>
            <a:spLocks/>
          </p:cNvSpPr>
          <p:nvPr/>
        </p:nvSpPr>
        <p:spPr bwMode="auto">
          <a:xfrm>
            <a:off x="9476105" y="3467735"/>
            <a:ext cx="727075" cy="1766888"/>
          </a:xfrm>
          <a:custGeom>
            <a:avLst/>
            <a:gdLst>
              <a:gd name="T0" fmla="*/ 0 w 448"/>
              <a:gd name="T1" fmla="*/ 10 h 775"/>
              <a:gd name="T2" fmla="*/ 142 w 448"/>
              <a:gd name="T3" fmla="*/ 10 h 775"/>
              <a:gd name="T4" fmla="*/ 356 w 448"/>
              <a:gd name="T5" fmla="*/ 72 h 775"/>
              <a:gd name="T6" fmla="*/ 445 w 448"/>
              <a:gd name="T7" fmla="*/ 303 h 775"/>
              <a:gd name="T8" fmla="*/ 338 w 448"/>
              <a:gd name="T9" fmla="*/ 561 h 775"/>
              <a:gd name="T10" fmla="*/ 45 w 448"/>
              <a:gd name="T11" fmla="*/ 775 h 7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48" h="775">
                <a:moveTo>
                  <a:pt x="0" y="10"/>
                </a:moveTo>
                <a:cubicBezTo>
                  <a:pt x="41" y="5"/>
                  <a:pt x="83" y="0"/>
                  <a:pt x="142" y="10"/>
                </a:cubicBezTo>
                <a:cubicBezTo>
                  <a:pt x="201" y="20"/>
                  <a:pt x="306" y="23"/>
                  <a:pt x="356" y="72"/>
                </a:cubicBezTo>
                <a:cubicBezTo>
                  <a:pt x="406" y="121"/>
                  <a:pt x="448" y="222"/>
                  <a:pt x="445" y="303"/>
                </a:cubicBezTo>
                <a:cubicBezTo>
                  <a:pt x="442" y="384"/>
                  <a:pt x="405" y="482"/>
                  <a:pt x="338" y="561"/>
                </a:cubicBezTo>
                <a:cubicBezTo>
                  <a:pt x="271" y="640"/>
                  <a:pt x="158" y="707"/>
                  <a:pt x="45" y="775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" name="Freeform 72">
            <a:extLst>
              <a:ext uri="{FF2B5EF4-FFF2-40B4-BE49-F238E27FC236}">
                <a16:creationId xmlns:a16="http://schemas.microsoft.com/office/drawing/2014/main" id="{C294A0CD-00E5-BAF6-5658-4EB79FB7F451}"/>
              </a:ext>
            </a:extLst>
          </p:cNvPr>
          <p:cNvSpPr>
            <a:spLocks/>
          </p:cNvSpPr>
          <p:nvPr/>
        </p:nvSpPr>
        <p:spPr bwMode="auto">
          <a:xfrm>
            <a:off x="3878580" y="5194935"/>
            <a:ext cx="1073150" cy="295275"/>
          </a:xfrm>
          <a:custGeom>
            <a:avLst/>
            <a:gdLst>
              <a:gd name="T0" fmla="*/ 676 w 676"/>
              <a:gd name="T1" fmla="*/ 186 h 186"/>
              <a:gd name="T2" fmla="*/ 418 w 676"/>
              <a:gd name="T3" fmla="*/ 151 h 186"/>
              <a:gd name="T4" fmla="*/ 267 w 676"/>
              <a:gd name="T5" fmla="*/ 26 h 186"/>
              <a:gd name="T6" fmla="*/ 0 w 676"/>
              <a:gd name="T7" fmla="*/ 0 h 1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76" h="186">
                <a:moveTo>
                  <a:pt x="676" y="186"/>
                </a:moveTo>
                <a:cubicBezTo>
                  <a:pt x="633" y="180"/>
                  <a:pt x="486" y="178"/>
                  <a:pt x="418" y="151"/>
                </a:cubicBezTo>
                <a:cubicBezTo>
                  <a:pt x="350" y="124"/>
                  <a:pt x="337" y="51"/>
                  <a:pt x="267" y="26"/>
                </a:cubicBezTo>
                <a:cubicBezTo>
                  <a:pt x="197" y="1"/>
                  <a:pt x="56" y="5"/>
                  <a:pt x="0" y="0"/>
                </a:cubicBezTo>
              </a:path>
            </a:pathLst>
          </a:custGeom>
          <a:noFill/>
          <a:ln w="57150" cap="flat" cmpd="sng">
            <a:solidFill>
              <a:schemeClr val="tx1"/>
            </a:solidFill>
            <a:prstDash val="solid"/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82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CEAEE-F7C3-8113-2D6D-E02AEC60E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Layout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18890-16F4-D75D-110E-5EF8E1A187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FC386-FCBB-2E98-08A2-B62D0E4EFA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C0801-76CD-A5B8-FC4C-B425C36D27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0C3206-EA5B-831C-917C-99D762D74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6180" y="1231314"/>
            <a:ext cx="8332470" cy="41949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8CF8C2-543C-AFE2-F973-492C213C7326}"/>
              </a:ext>
            </a:extLst>
          </p:cNvPr>
          <p:cNvSpPr txBox="1"/>
          <p:nvPr/>
        </p:nvSpPr>
        <p:spPr>
          <a:xfrm>
            <a:off x="0" y="1231314"/>
            <a:ext cx="3905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Layout</a:t>
            </a:r>
          </a:p>
          <a:p>
            <a:pPr algn="l"/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Services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001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39CB3-D41B-F6F9-CAAB-80141CECD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 Layout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5A4D0-F134-ACFF-AA1C-29E0BC233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flow of work is orderly and efficient, moving from one workstation to another down the assembly line until a finished product comes off the end of the line.</a:t>
            </a:r>
          </a:p>
          <a:p>
            <a:r>
              <a:rPr lang="en-US" dirty="0"/>
              <a:t>Product layouts are suitable for mass production or repetitive operations in which demand is stable and volume is high.</a:t>
            </a:r>
          </a:p>
          <a:p>
            <a:r>
              <a:rPr lang="en-US" dirty="0"/>
              <a:t>The major concern in a product layout is </a:t>
            </a:r>
            <a:r>
              <a:rPr lang="en-US" dirty="0">
                <a:solidFill>
                  <a:srgbClr val="FF0000"/>
                </a:solidFill>
              </a:rPr>
              <a:t>balancing the assembly line </a:t>
            </a:r>
            <a:r>
              <a:rPr lang="en-US" dirty="0"/>
              <a:t>so that no one workstation becomes a bottleneck and holds up the flow of work through the line.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C8D0D-0BF6-666C-45E8-ED453F60B4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897DA-8709-EBF0-8B35-AEC1AFDF348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FEA2E-FF42-050D-811C-1D8CAF9950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4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269BF-99CA-591E-FFD6-11508CF00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 Layout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283EE-DD9E-7BD8-8471-4E6D3C3B41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8E106-B225-7CF8-884F-0D51A0605E4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59F4F-38A1-5242-B466-A327B49238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7" name="Group 3">
            <a:extLst>
              <a:ext uri="{FF2B5EF4-FFF2-40B4-BE49-F238E27FC236}">
                <a16:creationId xmlns:a16="http://schemas.microsoft.com/office/drawing/2014/main" id="{0DE66501-E74F-9208-D56F-628F3FC6D26F}"/>
              </a:ext>
            </a:extLst>
          </p:cNvPr>
          <p:cNvGrpSpPr>
            <a:grpSpLocks/>
          </p:cNvGrpSpPr>
          <p:nvPr/>
        </p:nvGrpSpPr>
        <p:grpSpPr bwMode="auto">
          <a:xfrm>
            <a:off x="1334929" y="1131570"/>
            <a:ext cx="8757761" cy="4932045"/>
            <a:chOff x="551" y="1257"/>
            <a:chExt cx="4743" cy="2347"/>
          </a:xfrm>
        </p:grpSpPr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3235419D-38DC-B055-CF48-5B5A3FF49E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6" y="1426"/>
              <a:ext cx="426" cy="0"/>
            </a:xfrm>
            <a:prstGeom prst="line">
              <a:avLst/>
            </a:prstGeom>
            <a:noFill/>
            <a:ln w="57150">
              <a:solidFill>
                <a:srgbClr val="EEEEEE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3BF21843-9A08-3898-DBAA-EE5C953D4D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34" y="1934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2451D292-CF55-C4E6-B563-92162DE2D5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2" y="1934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2E6AF53F-41C2-31FC-0AFA-0638F45981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91" y="1934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F9457506-04AD-F722-A9D8-B367E58F4F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29" y="2937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FC125BEF-6758-7426-5FF1-B277ADBBB8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98" y="2936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664C6DD2-489E-927B-F211-80334859DE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85" y="2936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F6D66013-D4B3-9C1F-0D37-1222A80823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5" y="2936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F38EED67-B91C-985C-EA27-CC1B14D77E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62" y="1934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DFAB3B4E-19F3-3380-81EA-39CF1C213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7" y="1426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8" name="Line 14">
              <a:extLst>
                <a:ext uri="{FF2B5EF4-FFF2-40B4-BE49-F238E27FC236}">
                  <a16:creationId xmlns:a16="http://schemas.microsoft.com/office/drawing/2014/main" id="{55117002-8030-71E8-9345-CA9907570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6" y="1427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9" name="Line 15">
              <a:extLst>
                <a:ext uri="{FF2B5EF4-FFF2-40B4-BE49-F238E27FC236}">
                  <a16:creationId xmlns:a16="http://schemas.microsoft.com/office/drawing/2014/main" id="{6A466920-9749-3B09-53ED-F305A1BE99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3" y="1427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0" name="Line 16">
              <a:extLst>
                <a:ext uri="{FF2B5EF4-FFF2-40B4-BE49-F238E27FC236}">
                  <a16:creationId xmlns:a16="http://schemas.microsoft.com/office/drawing/2014/main" id="{A3B54998-6E71-4BE8-CDFE-328005C95F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9" y="1427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1" name="Line 17">
              <a:extLst>
                <a:ext uri="{FF2B5EF4-FFF2-40B4-BE49-F238E27FC236}">
                  <a16:creationId xmlns:a16="http://schemas.microsoft.com/office/drawing/2014/main" id="{EB9F7D4B-BEAF-3379-A356-1BFD3988F6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6" y="2432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2" name="Line 18">
              <a:extLst>
                <a:ext uri="{FF2B5EF4-FFF2-40B4-BE49-F238E27FC236}">
                  <a16:creationId xmlns:a16="http://schemas.microsoft.com/office/drawing/2014/main" id="{575C493B-7625-6D87-6804-B882C7389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5" y="1426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44158AF1-84B6-C40D-2993-F194C1B18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3" y="2432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4" name="Line 20">
              <a:extLst>
                <a:ext uri="{FF2B5EF4-FFF2-40B4-BE49-F238E27FC236}">
                  <a16:creationId xmlns:a16="http://schemas.microsoft.com/office/drawing/2014/main" id="{8C90DE4E-04AF-4655-8FE7-0E87CB60F6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4" y="2432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5" name="Line 21">
              <a:extLst>
                <a:ext uri="{FF2B5EF4-FFF2-40B4-BE49-F238E27FC236}">
                  <a16:creationId xmlns:a16="http://schemas.microsoft.com/office/drawing/2014/main" id="{013099EF-9C37-084E-797A-F82BDD9A6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0" y="3426"/>
              <a:ext cx="675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6" name="Line 22">
              <a:extLst>
                <a:ext uri="{FF2B5EF4-FFF2-40B4-BE49-F238E27FC236}">
                  <a16:creationId xmlns:a16="http://schemas.microsoft.com/office/drawing/2014/main" id="{0F10168D-CC9D-BB8C-01B0-515D54548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3426"/>
              <a:ext cx="675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Line 23">
              <a:extLst>
                <a:ext uri="{FF2B5EF4-FFF2-40B4-BE49-F238E27FC236}">
                  <a16:creationId xmlns:a16="http://schemas.microsoft.com/office/drawing/2014/main" id="{19A24638-7804-FF85-9FE9-3037558C5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3" y="3426"/>
              <a:ext cx="63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8" name="Line 24">
              <a:extLst>
                <a:ext uri="{FF2B5EF4-FFF2-40B4-BE49-F238E27FC236}">
                  <a16:creationId xmlns:a16="http://schemas.microsoft.com/office/drawing/2014/main" id="{5C413BD0-1C8A-E99A-0B37-5CCFA0A81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8" y="3426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" name="Line 25">
              <a:extLst>
                <a:ext uri="{FF2B5EF4-FFF2-40B4-BE49-F238E27FC236}">
                  <a16:creationId xmlns:a16="http://schemas.microsoft.com/office/drawing/2014/main" id="{858029C2-00A2-49CE-812E-20279F7E38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2432"/>
              <a:ext cx="42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68A72477-F82F-F821-1D3C-F9382958B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1426"/>
              <a:ext cx="618" cy="510"/>
            </a:xfrm>
            <a:custGeom>
              <a:avLst/>
              <a:gdLst>
                <a:gd name="T0" fmla="*/ 80 w 618"/>
                <a:gd name="T1" fmla="*/ 1 h 510"/>
                <a:gd name="T2" fmla="*/ 467 w 618"/>
                <a:gd name="T3" fmla="*/ 5 h 510"/>
                <a:gd name="T4" fmla="*/ 552 w 618"/>
                <a:gd name="T5" fmla="*/ 33 h 510"/>
                <a:gd name="T6" fmla="*/ 609 w 618"/>
                <a:gd name="T7" fmla="*/ 103 h 510"/>
                <a:gd name="T8" fmla="*/ 608 w 618"/>
                <a:gd name="T9" fmla="*/ 379 h 510"/>
                <a:gd name="T10" fmla="*/ 573 w 618"/>
                <a:gd name="T11" fmla="*/ 462 h 510"/>
                <a:gd name="T12" fmla="*/ 484 w 618"/>
                <a:gd name="T13" fmla="*/ 503 h 510"/>
                <a:gd name="T14" fmla="*/ 0 w 618"/>
                <a:gd name="T15" fmla="*/ 507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8" h="510">
                  <a:moveTo>
                    <a:pt x="80" y="1"/>
                  </a:moveTo>
                  <a:cubicBezTo>
                    <a:pt x="144" y="2"/>
                    <a:pt x="388" y="0"/>
                    <a:pt x="467" y="5"/>
                  </a:cubicBezTo>
                  <a:cubicBezTo>
                    <a:pt x="546" y="10"/>
                    <a:pt x="528" y="17"/>
                    <a:pt x="552" y="33"/>
                  </a:cubicBezTo>
                  <a:cubicBezTo>
                    <a:pt x="576" y="49"/>
                    <a:pt x="600" y="45"/>
                    <a:pt x="609" y="103"/>
                  </a:cubicBezTo>
                  <a:cubicBezTo>
                    <a:pt x="618" y="161"/>
                    <a:pt x="614" y="319"/>
                    <a:pt x="608" y="379"/>
                  </a:cubicBezTo>
                  <a:cubicBezTo>
                    <a:pt x="602" y="439"/>
                    <a:pt x="581" y="454"/>
                    <a:pt x="573" y="462"/>
                  </a:cubicBezTo>
                  <a:cubicBezTo>
                    <a:pt x="565" y="470"/>
                    <a:pt x="580" y="496"/>
                    <a:pt x="484" y="503"/>
                  </a:cubicBezTo>
                  <a:cubicBezTo>
                    <a:pt x="388" y="510"/>
                    <a:pt x="101" y="506"/>
                    <a:pt x="0" y="507"/>
                  </a:cubicBez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C6BB01E7-1D52-E6F1-B1A1-50F99487F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9" y="2420"/>
              <a:ext cx="618" cy="510"/>
            </a:xfrm>
            <a:custGeom>
              <a:avLst/>
              <a:gdLst>
                <a:gd name="T0" fmla="*/ 80 w 618"/>
                <a:gd name="T1" fmla="*/ 1 h 510"/>
                <a:gd name="T2" fmla="*/ 467 w 618"/>
                <a:gd name="T3" fmla="*/ 5 h 510"/>
                <a:gd name="T4" fmla="*/ 552 w 618"/>
                <a:gd name="T5" fmla="*/ 33 h 510"/>
                <a:gd name="T6" fmla="*/ 609 w 618"/>
                <a:gd name="T7" fmla="*/ 103 h 510"/>
                <a:gd name="T8" fmla="*/ 608 w 618"/>
                <a:gd name="T9" fmla="*/ 379 h 510"/>
                <a:gd name="T10" fmla="*/ 573 w 618"/>
                <a:gd name="T11" fmla="*/ 462 h 510"/>
                <a:gd name="T12" fmla="*/ 484 w 618"/>
                <a:gd name="T13" fmla="*/ 503 h 510"/>
                <a:gd name="T14" fmla="*/ 0 w 618"/>
                <a:gd name="T15" fmla="*/ 507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8" h="510">
                  <a:moveTo>
                    <a:pt x="80" y="1"/>
                  </a:moveTo>
                  <a:cubicBezTo>
                    <a:pt x="144" y="2"/>
                    <a:pt x="388" y="0"/>
                    <a:pt x="467" y="5"/>
                  </a:cubicBezTo>
                  <a:cubicBezTo>
                    <a:pt x="546" y="10"/>
                    <a:pt x="528" y="17"/>
                    <a:pt x="552" y="33"/>
                  </a:cubicBezTo>
                  <a:cubicBezTo>
                    <a:pt x="576" y="49"/>
                    <a:pt x="600" y="45"/>
                    <a:pt x="609" y="103"/>
                  </a:cubicBezTo>
                  <a:cubicBezTo>
                    <a:pt x="618" y="161"/>
                    <a:pt x="614" y="319"/>
                    <a:pt x="608" y="379"/>
                  </a:cubicBezTo>
                  <a:cubicBezTo>
                    <a:pt x="602" y="439"/>
                    <a:pt x="581" y="454"/>
                    <a:pt x="573" y="462"/>
                  </a:cubicBezTo>
                  <a:cubicBezTo>
                    <a:pt x="565" y="470"/>
                    <a:pt x="580" y="496"/>
                    <a:pt x="484" y="503"/>
                  </a:cubicBezTo>
                  <a:cubicBezTo>
                    <a:pt x="388" y="510"/>
                    <a:pt x="101" y="506"/>
                    <a:pt x="0" y="507"/>
                  </a:cubicBez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2" name="Freeform 28">
              <a:extLst>
                <a:ext uri="{FF2B5EF4-FFF2-40B4-BE49-F238E27FC236}">
                  <a16:creationId xmlns:a16="http://schemas.microsoft.com/office/drawing/2014/main" id="{8CAA017A-9A4F-DED8-450D-C23A6B56ED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41" y="1929"/>
              <a:ext cx="618" cy="510"/>
            </a:xfrm>
            <a:custGeom>
              <a:avLst/>
              <a:gdLst>
                <a:gd name="T0" fmla="*/ 80 w 618"/>
                <a:gd name="T1" fmla="*/ 1 h 510"/>
                <a:gd name="T2" fmla="*/ 467 w 618"/>
                <a:gd name="T3" fmla="*/ 5 h 510"/>
                <a:gd name="T4" fmla="*/ 552 w 618"/>
                <a:gd name="T5" fmla="*/ 33 h 510"/>
                <a:gd name="T6" fmla="*/ 609 w 618"/>
                <a:gd name="T7" fmla="*/ 103 h 510"/>
                <a:gd name="T8" fmla="*/ 608 w 618"/>
                <a:gd name="T9" fmla="*/ 379 h 510"/>
                <a:gd name="T10" fmla="*/ 573 w 618"/>
                <a:gd name="T11" fmla="*/ 462 h 510"/>
                <a:gd name="T12" fmla="*/ 484 w 618"/>
                <a:gd name="T13" fmla="*/ 503 h 510"/>
                <a:gd name="T14" fmla="*/ 0 w 618"/>
                <a:gd name="T15" fmla="*/ 507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8" h="510">
                  <a:moveTo>
                    <a:pt x="80" y="1"/>
                  </a:moveTo>
                  <a:cubicBezTo>
                    <a:pt x="144" y="2"/>
                    <a:pt x="388" y="0"/>
                    <a:pt x="467" y="5"/>
                  </a:cubicBezTo>
                  <a:cubicBezTo>
                    <a:pt x="546" y="10"/>
                    <a:pt x="528" y="17"/>
                    <a:pt x="552" y="33"/>
                  </a:cubicBezTo>
                  <a:cubicBezTo>
                    <a:pt x="576" y="49"/>
                    <a:pt x="600" y="45"/>
                    <a:pt x="609" y="103"/>
                  </a:cubicBezTo>
                  <a:cubicBezTo>
                    <a:pt x="618" y="161"/>
                    <a:pt x="614" y="319"/>
                    <a:pt x="608" y="379"/>
                  </a:cubicBezTo>
                  <a:cubicBezTo>
                    <a:pt x="602" y="439"/>
                    <a:pt x="581" y="454"/>
                    <a:pt x="573" y="462"/>
                  </a:cubicBezTo>
                  <a:cubicBezTo>
                    <a:pt x="565" y="470"/>
                    <a:pt x="580" y="496"/>
                    <a:pt x="484" y="503"/>
                  </a:cubicBezTo>
                  <a:cubicBezTo>
                    <a:pt x="388" y="510"/>
                    <a:pt x="101" y="506"/>
                    <a:pt x="0" y="507"/>
                  </a:cubicBez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3" name="Freeform 29">
              <a:extLst>
                <a:ext uri="{FF2B5EF4-FFF2-40B4-BE49-F238E27FC236}">
                  <a16:creationId xmlns:a16="http://schemas.microsoft.com/office/drawing/2014/main" id="{A2BA20F9-5FC7-31BB-9DD7-ED8CC35BC79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49" y="2932"/>
              <a:ext cx="618" cy="510"/>
            </a:xfrm>
            <a:custGeom>
              <a:avLst/>
              <a:gdLst>
                <a:gd name="T0" fmla="*/ 80 w 618"/>
                <a:gd name="T1" fmla="*/ 1 h 510"/>
                <a:gd name="T2" fmla="*/ 467 w 618"/>
                <a:gd name="T3" fmla="*/ 5 h 510"/>
                <a:gd name="T4" fmla="*/ 552 w 618"/>
                <a:gd name="T5" fmla="*/ 33 h 510"/>
                <a:gd name="T6" fmla="*/ 609 w 618"/>
                <a:gd name="T7" fmla="*/ 103 h 510"/>
                <a:gd name="T8" fmla="*/ 608 w 618"/>
                <a:gd name="T9" fmla="*/ 379 h 510"/>
                <a:gd name="T10" fmla="*/ 573 w 618"/>
                <a:gd name="T11" fmla="*/ 462 h 510"/>
                <a:gd name="T12" fmla="*/ 484 w 618"/>
                <a:gd name="T13" fmla="*/ 503 h 510"/>
                <a:gd name="T14" fmla="*/ 0 w 618"/>
                <a:gd name="T15" fmla="*/ 507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8" h="510">
                  <a:moveTo>
                    <a:pt x="80" y="1"/>
                  </a:moveTo>
                  <a:cubicBezTo>
                    <a:pt x="144" y="2"/>
                    <a:pt x="388" y="0"/>
                    <a:pt x="467" y="5"/>
                  </a:cubicBezTo>
                  <a:cubicBezTo>
                    <a:pt x="546" y="10"/>
                    <a:pt x="528" y="17"/>
                    <a:pt x="552" y="33"/>
                  </a:cubicBezTo>
                  <a:cubicBezTo>
                    <a:pt x="576" y="49"/>
                    <a:pt x="600" y="45"/>
                    <a:pt x="609" y="103"/>
                  </a:cubicBezTo>
                  <a:cubicBezTo>
                    <a:pt x="618" y="161"/>
                    <a:pt x="614" y="319"/>
                    <a:pt x="608" y="379"/>
                  </a:cubicBezTo>
                  <a:cubicBezTo>
                    <a:pt x="602" y="439"/>
                    <a:pt x="581" y="454"/>
                    <a:pt x="573" y="462"/>
                  </a:cubicBezTo>
                  <a:cubicBezTo>
                    <a:pt x="565" y="470"/>
                    <a:pt x="580" y="496"/>
                    <a:pt x="484" y="503"/>
                  </a:cubicBezTo>
                  <a:cubicBezTo>
                    <a:pt x="388" y="510"/>
                    <a:pt x="101" y="506"/>
                    <a:pt x="0" y="507"/>
                  </a:cubicBezTo>
                </a:path>
              </a:pathLst>
            </a:custGeom>
            <a:noFill/>
            <a:ln w="57150" cap="flat" cmpd="sng">
              <a:solidFill>
                <a:schemeClr val="tx1"/>
              </a:solidFill>
              <a:prstDash val="solid"/>
              <a:round/>
              <a:headEnd/>
              <a:tailEnd type="triangle" w="med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grpSp>
          <p:nvGrpSpPr>
            <p:cNvPr id="34" name="Group 30">
              <a:extLst>
                <a:ext uri="{FF2B5EF4-FFF2-40B4-BE49-F238E27FC236}">
                  <a16:creationId xmlns:a16="http://schemas.microsoft.com/office/drawing/2014/main" id="{D1D8E334-79FC-BA25-57BB-E53F410AD7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35" y="1257"/>
              <a:ext cx="3365" cy="2347"/>
              <a:chOff x="1135" y="1257"/>
              <a:chExt cx="3365" cy="2347"/>
            </a:xfrm>
          </p:grpSpPr>
          <p:sp>
            <p:nvSpPr>
              <p:cNvPr id="37" name="Rectangle 31">
                <a:extLst>
                  <a:ext uri="{FF2B5EF4-FFF2-40B4-BE49-F238E27FC236}">
                    <a16:creationId xmlns:a16="http://schemas.microsoft.com/office/drawing/2014/main" id="{E91E4A27-8BD6-0D1C-4C03-5638178DA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2" y="1257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38" name="Rectangle 32">
                <a:extLst>
                  <a:ext uri="{FF2B5EF4-FFF2-40B4-BE49-F238E27FC236}">
                    <a16:creationId xmlns:a16="http://schemas.microsoft.com/office/drawing/2014/main" id="{B8125473-2C71-0B4F-E4B4-BB5A5B2576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5" y="1768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39" name="Rectangle 33">
                <a:extLst>
                  <a:ext uri="{FF2B5EF4-FFF2-40B4-BE49-F238E27FC236}">
                    <a16:creationId xmlns:a16="http://schemas.microsoft.com/office/drawing/2014/main" id="{ADD1F5E8-7FB3-8EDF-927E-C646CD6A37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3" y="1767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40" name="Rectangle 34">
                <a:extLst>
                  <a:ext uri="{FF2B5EF4-FFF2-40B4-BE49-F238E27FC236}">
                    <a16:creationId xmlns:a16="http://schemas.microsoft.com/office/drawing/2014/main" id="{AF4BBC94-1951-E641-0A78-914D453408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5" y="1257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41" name="Rectangle 35">
                <a:extLst>
                  <a:ext uri="{FF2B5EF4-FFF2-40B4-BE49-F238E27FC236}">
                    <a16:creationId xmlns:a16="http://schemas.microsoft.com/office/drawing/2014/main" id="{4B25223D-8F06-D53F-F46E-D7897CCCC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2" y="2260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42" name="Rectangle 36">
                <a:extLst>
                  <a:ext uri="{FF2B5EF4-FFF2-40B4-BE49-F238E27FC236}">
                    <a16:creationId xmlns:a16="http://schemas.microsoft.com/office/drawing/2014/main" id="{886655EB-0DFF-C50D-5964-F71F5B0A8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2" y="2248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43" name="Rectangle 37">
                <a:extLst>
                  <a:ext uri="{FF2B5EF4-FFF2-40B4-BE49-F238E27FC236}">
                    <a16:creationId xmlns:a16="http://schemas.microsoft.com/office/drawing/2014/main" id="{42941FA3-E091-9B89-17BF-D1FF92DEE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8" y="1258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44" name="Rectangle 38">
                <a:extLst>
                  <a:ext uri="{FF2B5EF4-FFF2-40B4-BE49-F238E27FC236}">
                    <a16:creationId xmlns:a16="http://schemas.microsoft.com/office/drawing/2014/main" id="{EC372872-4794-65E0-968A-9C708046D9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767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45" name="Rectangle 39">
                <a:extLst>
                  <a:ext uri="{FF2B5EF4-FFF2-40B4-BE49-F238E27FC236}">
                    <a16:creationId xmlns:a16="http://schemas.microsoft.com/office/drawing/2014/main" id="{DE0A2AE7-354C-0062-40D9-64F0DBE522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2" y="2261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46" name="Rectangle 40">
                <a:extLst>
                  <a:ext uri="{FF2B5EF4-FFF2-40B4-BE49-F238E27FC236}">
                    <a16:creationId xmlns:a16="http://schemas.microsoft.com/office/drawing/2014/main" id="{F8527C51-59DA-A3A6-B620-5F334BDBC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1" y="2758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47" name="Rectangle 41">
                <a:extLst>
                  <a:ext uri="{FF2B5EF4-FFF2-40B4-BE49-F238E27FC236}">
                    <a16:creationId xmlns:a16="http://schemas.microsoft.com/office/drawing/2014/main" id="{2112D3C1-CE3A-B5CC-6E8A-43E389ADF1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6" y="2758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48" name="Rectangle 42">
                <a:extLst>
                  <a:ext uri="{FF2B5EF4-FFF2-40B4-BE49-F238E27FC236}">
                    <a16:creationId xmlns:a16="http://schemas.microsoft.com/office/drawing/2014/main" id="{FB3426AA-A2A6-0F4A-335A-8B8EBE3A77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6" y="2758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49" name="Rectangle 43">
                <a:extLst>
                  <a:ext uri="{FF2B5EF4-FFF2-40B4-BE49-F238E27FC236}">
                    <a16:creationId xmlns:a16="http://schemas.microsoft.com/office/drawing/2014/main" id="{C7AD0586-E106-CC53-1F60-5EE270D02E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7" y="3265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50" name="Rectangle 44">
                <a:extLst>
                  <a:ext uri="{FF2B5EF4-FFF2-40B4-BE49-F238E27FC236}">
                    <a16:creationId xmlns:a16="http://schemas.microsoft.com/office/drawing/2014/main" id="{416F61DC-DA10-A033-B35C-B7F10053EA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2" y="3265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51" name="Rectangle 45">
                <a:extLst>
                  <a:ext uri="{FF2B5EF4-FFF2-40B4-BE49-F238E27FC236}">
                    <a16:creationId xmlns:a16="http://schemas.microsoft.com/office/drawing/2014/main" id="{A2323D34-E6DE-1B6B-B1DB-6A5CC32CB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0" y="3266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52" name="Rectangle 46">
                <a:extLst>
                  <a:ext uri="{FF2B5EF4-FFF2-40B4-BE49-F238E27FC236}">
                    <a16:creationId xmlns:a16="http://schemas.microsoft.com/office/drawing/2014/main" id="{C591DE86-2427-3167-1CD3-A0D795F130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7" y="2758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53" name="Rectangle 47">
                <a:extLst>
                  <a:ext uri="{FF2B5EF4-FFF2-40B4-BE49-F238E27FC236}">
                    <a16:creationId xmlns:a16="http://schemas.microsoft.com/office/drawing/2014/main" id="{53B2178D-B0E2-8AEF-8D89-53E01D73C2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5" y="2256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54" name="Rectangle 48">
                <a:extLst>
                  <a:ext uri="{FF2B5EF4-FFF2-40B4-BE49-F238E27FC236}">
                    <a16:creationId xmlns:a16="http://schemas.microsoft.com/office/drawing/2014/main" id="{825C924E-58FC-3F3C-0D62-0A7C71ECDB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2" y="1767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55" name="Rectangle 49">
                <a:extLst>
                  <a:ext uri="{FF2B5EF4-FFF2-40B4-BE49-F238E27FC236}">
                    <a16:creationId xmlns:a16="http://schemas.microsoft.com/office/drawing/2014/main" id="{1B30186A-D953-7E44-30B2-D404ED312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6" y="1257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56" name="Rectangle 50">
                <a:extLst>
                  <a:ext uri="{FF2B5EF4-FFF2-40B4-BE49-F238E27FC236}">
                    <a16:creationId xmlns:a16="http://schemas.microsoft.com/office/drawing/2014/main" id="{2018C417-07D1-CF1B-2055-63AF06F0C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1257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57" name="Rectangle 51">
                <a:extLst>
                  <a:ext uri="{FF2B5EF4-FFF2-40B4-BE49-F238E27FC236}">
                    <a16:creationId xmlns:a16="http://schemas.microsoft.com/office/drawing/2014/main" id="{980A3E90-D450-3DE7-F60E-4402FEB912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7" y="1767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58" name="Rectangle 52">
                <a:extLst>
                  <a:ext uri="{FF2B5EF4-FFF2-40B4-BE49-F238E27FC236}">
                    <a16:creationId xmlns:a16="http://schemas.microsoft.com/office/drawing/2014/main" id="{F6225B7F-BCD1-52BE-5632-03AF3D29A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2264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59" name="Rectangle 53">
                <a:extLst>
                  <a:ext uri="{FF2B5EF4-FFF2-40B4-BE49-F238E27FC236}">
                    <a16:creationId xmlns:a16="http://schemas.microsoft.com/office/drawing/2014/main" id="{A50350E2-98E6-4706-C032-0EFE5F01DD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8" y="2758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60" name="Rectangle 54">
                <a:extLst>
                  <a:ext uri="{FF2B5EF4-FFF2-40B4-BE49-F238E27FC236}">
                    <a16:creationId xmlns:a16="http://schemas.microsoft.com/office/drawing/2014/main" id="{0BA440CD-2E58-A656-8053-EA0390001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3265"/>
                <a:ext cx="320" cy="338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35" name="Rectangle 55">
              <a:extLst>
                <a:ext uri="{FF2B5EF4-FFF2-40B4-BE49-F238E27FC236}">
                  <a16:creationId xmlns:a16="http://schemas.microsoft.com/office/drawing/2014/main" id="{6224338D-8C41-540C-703B-D4AAAADD2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" y="1269"/>
              <a:ext cx="28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latin typeface="Arial" pitchFamily="34" charset="0"/>
                  <a:cs typeface="Arial" pitchFamily="34" charset="0"/>
                </a:rPr>
                <a:t>In</a:t>
              </a:r>
            </a:p>
          </p:txBody>
        </p:sp>
        <p:sp>
          <p:nvSpPr>
            <p:cNvPr id="36" name="Rectangle 56">
              <a:extLst>
                <a:ext uri="{FF2B5EF4-FFF2-40B4-BE49-F238E27FC236}">
                  <a16:creationId xmlns:a16="http://schemas.microsoft.com/office/drawing/2014/main" id="{BA78E24C-7653-5EE1-B98D-1FC8CDFDC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4" y="3287"/>
              <a:ext cx="45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 dirty="0">
                  <a:latin typeface="Arial" pitchFamily="34" charset="0"/>
                  <a:cs typeface="Arial" pitchFamily="34" charset="0"/>
                </a:rPr>
                <a:t>Out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9707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E2D76-51C4-E444-62A3-8076DE06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of Product and Process Layout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70D55-F025-DA3E-4A8C-B8B9BE8F8E1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D5B12-89D9-A5C1-C68D-63943D83B44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8A02B-4A93-F2A7-866D-E7FD32F2B7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AE4B27DB-3427-CF6D-F2EB-EC0C9ED6D4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0643419"/>
              </p:ext>
            </p:extLst>
          </p:nvPr>
        </p:nvGraphicFramePr>
        <p:xfrm>
          <a:off x="407446" y="930592"/>
          <a:ext cx="11451291" cy="524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7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7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45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2161">
                <a:tc>
                  <a:txBody>
                    <a:bodyPr/>
                    <a:lstStyle/>
                    <a:p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50" b="1" i="0" u="none" strike="noStrike" baseline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Layout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50" b="1" i="0" u="none" strike="noStrike" baseline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 Layout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161">
                <a:tc>
                  <a:txBody>
                    <a:bodyPr/>
                    <a:lstStyle/>
                    <a:p>
                      <a:r>
                        <a:rPr lang="en-IN" sz="155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Sequential arrangement of activities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Functional grouping of activities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161">
                <a:tc>
                  <a:txBody>
                    <a:bodyPr/>
                    <a:lstStyle/>
                    <a:p>
                      <a:r>
                        <a:rPr lang="en-IN" sz="155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 of process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Continuous, mass production, mainly assembly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Intermittent, job shop, batch production, mainly fabrication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161">
                <a:tc>
                  <a:txBody>
                    <a:bodyPr/>
                    <a:lstStyle/>
                    <a:p>
                      <a:r>
                        <a:rPr lang="en-IN" sz="155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Standardized, made to stock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Varied, made to order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161">
                <a:tc>
                  <a:txBody>
                    <a:bodyPr/>
                    <a:lstStyle/>
                    <a:p>
                      <a:r>
                        <a:rPr lang="en-IN" sz="155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Demand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Stable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Fluctuating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161">
                <a:tc>
                  <a:txBody>
                    <a:bodyPr/>
                    <a:lstStyle/>
                    <a:p>
                      <a:r>
                        <a:rPr lang="en-IN" sz="155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Volume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Low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161">
                <a:tc>
                  <a:txBody>
                    <a:bodyPr/>
                    <a:lstStyle/>
                    <a:p>
                      <a:r>
                        <a:rPr lang="en-IN" sz="155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Equipment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Special purpose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General purpose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161">
                <a:tc>
                  <a:txBody>
                    <a:bodyPr/>
                    <a:lstStyle/>
                    <a:p>
                      <a:r>
                        <a:rPr lang="en-IN" sz="155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Workers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Limited skills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Varied skills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161">
                <a:tc>
                  <a:txBody>
                    <a:bodyPr/>
                    <a:lstStyle/>
                    <a:p>
                      <a:r>
                        <a:rPr lang="en-IN" sz="155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Inventory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Low in-process, high finished goods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 in-process, low finished goods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161">
                <a:tc>
                  <a:txBody>
                    <a:bodyPr/>
                    <a:lstStyle/>
                    <a:p>
                      <a:r>
                        <a:rPr lang="en-IN" sz="155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Storage space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Small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Large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161">
                <a:tc>
                  <a:txBody>
                    <a:bodyPr/>
                    <a:lstStyle/>
                    <a:p>
                      <a:r>
                        <a:rPr lang="en-IN" sz="155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Material handling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Fixed path (conveyor)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Variable path (forklift)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161">
                <a:tc>
                  <a:txBody>
                    <a:bodyPr/>
                    <a:lstStyle/>
                    <a:p>
                      <a:r>
                        <a:rPr lang="en-IN" sz="155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Aisles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Narrow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Wide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2161">
                <a:tc>
                  <a:txBody>
                    <a:bodyPr/>
                    <a:lstStyle/>
                    <a:p>
                      <a:r>
                        <a:rPr lang="en-IN" sz="155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Scheduling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Part of balancing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Dynamic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2161">
                <a:tc>
                  <a:txBody>
                    <a:bodyPr/>
                    <a:lstStyle/>
                    <a:p>
                      <a:r>
                        <a:rPr lang="en-IN" sz="155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Layout decision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Line balancing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Machine location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2161">
                <a:tc>
                  <a:txBody>
                    <a:bodyPr/>
                    <a:lstStyle/>
                    <a:p>
                      <a:r>
                        <a:rPr lang="en-IN" sz="155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Goal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Equalize work at each station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Minimize material handling cost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2161">
                <a:tc>
                  <a:txBody>
                    <a:bodyPr/>
                    <a:lstStyle/>
                    <a:p>
                      <a:r>
                        <a:rPr lang="en-IN" sz="1550" b="1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Advantage</a:t>
                      </a:r>
                      <a:endParaRPr lang="en-IN" sz="15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Efficiency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550" b="0" i="0" u="none" strike="noStrike" kern="1200" baseline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Flexibility</a:t>
                      </a:r>
                      <a:endParaRPr lang="en-IN" sz="15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172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9F49F-823D-0C1A-482A-0CC4AF326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Fixed-position layouts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454FB-F87E-9EB4-77DF-B7E1BCD71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fixed position layout, all resources for producing the product, such as equipment and labor must move to the site of the product or service. </a:t>
            </a:r>
          </a:p>
          <a:p>
            <a:r>
              <a:rPr lang="en-US" dirty="0"/>
              <a:t>The emphasis is on the scheduling and coordination of resources to ensure that they are available in the required amounts at the required time.</a:t>
            </a:r>
          </a:p>
          <a:p>
            <a:r>
              <a:rPr lang="en-US" dirty="0"/>
              <a:t>The space available on the site may also constrain the amount of work activity that can take place at any one time.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D9551-A3E8-86D9-B132-30C4AB7807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79978-F37A-6449-F787-3DE9637642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D6578-9D62-36EC-0282-4B3DC60415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29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B23FB-B1A3-5BEF-9F6E-B74144799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Between the Layouts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B3DA2-A9D3-80F7-3EA7-076548B658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F9763-56BE-C7BC-D35E-EC5E7FB1D96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C5CDF-5476-83B3-4F2B-5E22F76227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063543-A6BD-6847-E4DE-3E81252493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24" t="6142"/>
          <a:stretch/>
        </p:blipFill>
        <p:spPr>
          <a:xfrm>
            <a:off x="1998921" y="1063282"/>
            <a:ext cx="8261498" cy="502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279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AE2A-C3FF-0BDD-D58E-82FC500D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Quick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82CDF-9A62-D740-201F-41040E7C6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9890" y="1725026"/>
            <a:ext cx="3433034" cy="685801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114300" indent="0" algn="ctr">
              <a:buNone/>
            </a:pPr>
            <a:r>
              <a:rPr lang="en-IN" sz="3600" b="1" dirty="0">
                <a:solidFill>
                  <a:srgbClr val="FF0000"/>
                </a:solidFill>
              </a:rPr>
              <a:t>MCQ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0FCAC-B3FB-F4D7-14FE-C9A22C5A71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DF968-C6D0-DE34-A5DC-DE788794A5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Sourcing Decisions in a Supply Chain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FC000-1886-70BE-55E3-3345CE7231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B6EBBDD-8016-0BDE-2DD6-646C2D691877}"/>
              </a:ext>
            </a:extLst>
          </p:cNvPr>
          <p:cNvSpPr txBox="1">
            <a:spLocks/>
          </p:cNvSpPr>
          <p:nvPr/>
        </p:nvSpPr>
        <p:spPr>
          <a:xfrm>
            <a:off x="2137410" y="2583093"/>
            <a:ext cx="5452109" cy="571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en-IN" sz="3200" b="1" dirty="0">
                <a:solidFill>
                  <a:srgbClr val="00B050"/>
                </a:solidFill>
              </a:rPr>
              <a:t>Correct Answer: 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4EDA02-5EE2-1F34-BBC1-A35456D82EC8}"/>
              </a:ext>
            </a:extLst>
          </p:cNvPr>
          <p:cNvSpPr txBox="1"/>
          <p:nvPr/>
        </p:nvSpPr>
        <p:spPr>
          <a:xfrm>
            <a:off x="497439" y="3542538"/>
            <a:ext cx="10762781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One of the disadvantages of a product layout is that it has: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high materials handling.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high work-in-progress inventory.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low flexibility.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low labor utilization.</a:t>
            </a:r>
          </a:p>
          <a:p>
            <a:pPr algn="ctr"/>
            <a:endParaRPr lang="en-US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31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AE2A-C3FF-0BDD-D58E-82FC500D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Quick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82CDF-9A62-D740-201F-41040E7C6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9890" y="1725026"/>
            <a:ext cx="3433034" cy="685801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114300" indent="0" algn="ctr">
              <a:buNone/>
            </a:pPr>
            <a:r>
              <a:rPr lang="en-IN" sz="3600" b="1" dirty="0">
                <a:solidFill>
                  <a:srgbClr val="FF0000"/>
                </a:solidFill>
              </a:rPr>
              <a:t>MCQ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0FCAC-B3FB-F4D7-14FE-C9A22C5A71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DF968-C6D0-DE34-A5DC-DE788794A5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Sourcing Decisions in a Supply Chain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FC000-1886-70BE-55E3-3345CE7231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B6EBBDD-8016-0BDE-2DD6-646C2D691877}"/>
              </a:ext>
            </a:extLst>
          </p:cNvPr>
          <p:cNvSpPr txBox="1">
            <a:spLocks/>
          </p:cNvSpPr>
          <p:nvPr/>
        </p:nvSpPr>
        <p:spPr>
          <a:xfrm>
            <a:off x="2137410" y="2583093"/>
            <a:ext cx="5452109" cy="571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en-IN" sz="3200" b="1" dirty="0">
                <a:solidFill>
                  <a:srgbClr val="00B050"/>
                </a:solidFill>
              </a:rPr>
              <a:t>Correct Answer: 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4EDA02-5EE2-1F34-BBC1-A35456D82EC8}"/>
              </a:ext>
            </a:extLst>
          </p:cNvPr>
          <p:cNvSpPr txBox="1"/>
          <p:nvPr/>
        </p:nvSpPr>
        <p:spPr>
          <a:xfrm>
            <a:off x="497439" y="3967844"/>
            <a:ext cx="1147482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Which of the following is a limitation of a process layout?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It affects the entire system if any equipment in the layout fails.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It has higher worker skill requirements.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It has highly specialized equipment requirements.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It generally requires a low investment for the production of machines</a:t>
            </a:r>
          </a:p>
        </p:txBody>
      </p:sp>
    </p:spTree>
    <p:extLst>
      <p:ext uri="{BB962C8B-B14F-4D97-AF65-F5344CB8AC3E}">
        <p14:creationId xmlns:p14="http://schemas.microsoft.com/office/powerpoint/2010/main" val="288467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AE2A-C3FF-0BDD-D58E-82FC500D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Quick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82CDF-9A62-D740-201F-41040E7C6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9890" y="1725026"/>
            <a:ext cx="3433034" cy="685801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114300" indent="0" algn="ctr">
              <a:buNone/>
            </a:pPr>
            <a:r>
              <a:rPr lang="en-IN" sz="3600" b="1" dirty="0">
                <a:solidFill>
                  <a:srgbClr val="FF0000"/>
                </a:solidFill>
              </a:rPr>
              <a:t>MCQ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0FCAC-B3FB-F4D7-14FE-C9A22C5A71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DF968-C6D0-DE34-A5DC-DE788794A5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Sourcing Decisions in a Supply Chain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FC000-1886-70BE-55E3-3345CE7231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B6EBBDD-8016-0BDE-2DD6-646C2D691877}"/>
              </a:ext>
            </a:extLst>
          </p:cNvPr>
          <p:cNvSpPr txBox="1">
            <a:spLocks/>
          </p:cNvSpPr>
          <p:nvPr/>
        </p:nvSpPr>
        <p:spPr>
          <a:xfrm>
            <a:off x="2137410" y="2583093"/>
            <a:ext cx="5452109" cy="571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en-IN" sz="3200" b="1" dirty="0">
                <a:solidFill>
                  <a:srgbClr val="00B050"/>
                </a:solidFill>
              </a:rPr>
              <a:t>Correct Answer: 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4EDA02-5EE2-1F34-BBC1-A35456D82EC8}"/>
              </a:ext>
            </a:extLst>
          </p:cNvPr>
          <p:cNvSpPr txBox="1"/>
          <p:nvPr/>
        </p:nvSpPr>
        <p:spPr>
          <a:xfrm>
            <a:off x="497439" y="3967844"/>
            <a:ext cx="11474821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Compared to product layouts, process layouts: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require a lower investment in equipment.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provide less flexibility.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have high equipment utilization.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2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have less materials-handling costs.</a:t>
            </a:r>
          </a:p>
        </p:txBody>
      </p:sp>
    </p:spTree>
    <p:extLst>
      <p:ext uri="{BB962C8B-B14F-4D97-AF65-F5344CB8AC3E}">
        <p14:creationId xmlns:p14="http://schemas.microsoft.com/office/powerpoint/2010/main" val="3772084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80FB0-CD98-B958-3D41-9106C3C3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Designing Process Layouts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824F8-20AC-0B4B-DCC0-1CD2EBC87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designing a process layout, we want to minimize movement or material handling cost, which is a function of the amount of material moved times the distance it is moved. </a:t>
            </a:r>
          </a:p>
          <a:p>
            <a:r>
              <a:rPr lang="en-US" dirty="0"/>
              <a:t>This implies that departments that incur the most inter-department movement should be located closest to each other, and those that do not interact should be located further away. </a:t>
            </a:r>
          </a:p>
          <a:p>
            <a:r>
              <a:rPr lang="en-US" dirty="0"/>
              <a:t>Two techniques used to design process layouts—</a:t>
            </a:r>
          </a:p>
          <a:p>
            <a:pPr marL="982663">
              <a:buFont typeface="Wingdings" panose="05000000000000000000" pitchFamily="2" charset="2"/>
              <a:buChar char="Ø"/>
            </a:pPr>
            <a:r>
              <a:rPr lang="en-US" dirty="0"/>
              <a:t>Block diagramming</a:t>
            </a:r>
          </a:p>
          <a:p>
            <a:pPr marL="982663">
              <a:buFont typeface="Wingdings" panose="05000000000000000000" pitchFamily="2" charset="2"/>
              <a:buChar char="Ø"/>
            </a:pPr>
            <a:r>
              <a:rPr lang="en-US" dirty="0"/>
              <a:t>Relationship diagramming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852B7-BCE2-61B3-7EFC-5756C6FA2E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CDE74-8027-99ED-A12A-A6FF0D1218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FABAF-E667-7490-32A3-80995DE5E9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25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AAF7C-5975-43AD-8438-4123D3B65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Diagraming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72C70-1442-050B-1E4C-84B3FD879D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C2CC8-BCA3-C9BE-FB55-D515A417B0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BF222-BE59-02DB-2403-86E9F1FEEC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A0B308-655C-77AF-CBC5-D0B51296AD36}"/>
              </a:ext>
            </a:extLst>
          </p:cNvPr>
          <p:cNvSpPr txBox="1"/>
          <p:nvPr/>
        </p:nvSpPr>
        <p:spPr>
          <a:xfrm>
            <a:off x="303029" y="1224728"/>
            <a:ext cx="6113720" cy="3280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2600" indent="-482600">
              <a:lnSpc>
                <a:spcPct val="90000"/>
              </a:lnSpc>
              <a:spcAft>
                <a:spcPct val="40000"/>
              </a:spcAft>
              <a:buClr>
                <a:schemeClr val="tx1"/>
              </a:buClr>
              <a:buFont typeface="Times" charset="0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 a </a:t>
            </a: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from-to matrix</a:t>
            </a:r>
            <a:r>
              <a:rPr lang="en-A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2600" indent="-482600">
              <a:lnSpc>
                <a:spcPct val="90000"/>
              </a:lnSpc>
              <a:spcAft>
                <a:spcPct val="40000"/>
              </a:spcAft>
              <a:buClr>
                <a:schemeClr val="tx1"/>
              </a:buClr>
              <a:buFont typeface="Times" charset="0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space requirements</a:t>
            </a:r>
          </a:p>
          <a:p>
            <a:pPr marL="482600" indent="-482600">
              <a:lnSpc>
                <a:spcPct val="90000"/>
              </a:lnSpc>
              <a:spcAft>
                <a:spcPct val="40000"/>
              </a:spcAft>
              <a:buClr>
                <a:schemeClr val="tx1"/>
              </a:buClr>
              <a:buFont typeface="Times" charset="0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initial schematic diagram</a:t>
            </a:r>
          </a:p>
          <a:p>
            <a:pPr marL="482600" indent="-482600">
              <a:lnSpc>
                <a:spcPct val="90000"/>
              </a:lnSpc>
              <a:spcAft>
                <a:spcPct val="40000"/>
              </a:spcAft>
              <a:buClr>
                <a:schemeClr val="tx1"/>
              </a:buClr>
              <a:buFont typeface="Times" charset="0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cost of this layout </a:t>
            </a:r>
          </a:p>
          <a:p>
            <a:pPr marL="482600" indent="-482600">
              <a:lnSpc>
                <a:spcPct val="90000"/>
              </a:lnSpc>
              <a:spcAft>
                <a:spcPct val="40000"/>
              </a:spcAft>
              <a:buClr>
                <a:schemeClr val="tx1"/>
              </a:buClr>
              <a:buFont typeface="Times" charset="0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to improve the layout</a:t>
            </a:r>
          </a:p>
          <a:p>
            <a:pPr marL="482600" indent="-482600">
              <a:lnSpc>
                <a:spcPct val="90000"/>
              </a:lnSpc>
              <a:spcAft>
                <a:spcPct val="40000"/>
              </a:spcAft>
              <a:buClr>
                <a:schemeClr val="tx1"/>
              </a:buClr>
              <a:buFont typeface="Times" charset="0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a detailed plan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EC1FBB-B3C3-0199-0BF9-46535CF11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827" y="3106477"/>
            <a:ext cx="6264861" cy="275152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2197100" indent="-2197100">
              <a:lnSpc>
                <a:spcPct val="90000"/>
              </a:lnSpc>
              <a:spcBef>
                <a:spcPct val="30000"/>
              </a:spcBef>
              <a:tabLst>
                <a:tab pos="1625600" algn="r"/>
                <a:tab pos="18161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	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=	total number of work centers or departments</a:t>
            </a:r>
          </a:p>
          <a:p>
            <a:pPr marL="2197100" indent="-2197100">
              <a:lnSpc>
                <a:spcPct val="90000"/>
              </a:lnSpc>
              <a:spcBef>
                <a:spcPct val="30000"/>
              </a:spcBef>
              <a:tabLst>
                <a:tab pos="1625600" algn="r"/>
                <a:tab pos="18161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=	individual departments</a:t>
            </a:r>
          </a:p>
          <a:p>
            <a:pPr marL="2197100" indent="-2197100">
              <a:lnSpc>
                <a:spcPct val="90000"/>
              </a:lnSpc>
              <a:spcBef>
                <a:spcPct val="30000"/>
              </a:spcBef>
              <a:tabLst>
                <a:tab pos="1625600" algn="r"/>
                <a:tab pos="18161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=	number of loads moved from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department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</a:p>
          <a:p>
            <a:pPr marL="2197100" indent="-2197100">
              <a:lnSpc>
                <a:spcPct val="90000"/>
              </a:lnSpc>
              <a:spcBef>
                <a:spcPct val="30000"/>
              </a:spcBef>
              <a:tabLst>
                <a:tab pos="1625600" algn="r"/>
                <a:tab pos="18161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=	cost to move a load between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department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5D44FC-AA25-BAA0-2922-CBAA97013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603" y="1569777"/>
            <a:ext cx="3375927" cy="1054100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:mc="http://schemas.openxmlformats.org/markup-compatibility/2006" xmlns="">
                <a:solidFill>
                  <a:srgbClr val="FFFFFF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:mc="http://schemas.openxmlformats.org/markup-compatibility/2006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60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640B8-A6BA-3E23-7D67-C00BB6599A3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6CC56-381C-042C-5CD7-309DA1DD38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DB7DB-DBC4-B47C-7658-AEEAE7A06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790B96-7B39-3568-ED37-5E70E90E5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446" y="1084263"/>
            <a:ext cx="11171144" cy="1255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 six departments in a factory to minimize the material handling costs. Each department is 20 x 20 feet and the building is 60 feet long and 40 feet wide.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4EFA522-E444-BFCB-A6B5-4C2041D6D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47638"/>
            <a:ext cx="10761662" cy="685800"/>
          </a:xfrm>
        </p:spPr>
        <p:txBody>
          <a:bodyPr/>
          <a:lstStyle/>
          <a:p>
            <a:r>
              <a:rPr lang="en-IN" dirty="0"/>
              <a:t>Block Diagramming </a:t>
            </a:r>
            <a:r>
              <a:rPr lang="en-US" dirty="0"/>
              <a:t>Example 1</a:t>
            </a:r>
            <a:endParaRPr lang="en-IN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834E47-1304-8E2C-3668-C2A934702639}"/>
              </a:ext>
            </a:extLst>
          </p:cNvPr>
          <p:cNvGrpSpPr>
            <a:grpSpLocks/>
          </p:cNvGrpSpPr>
          <p:nvPr/>
        </p:nvGrpSpPr>
        <p:grpSpPr bwMode="auto">
          <a:xfrm>
            <a:off x="1846262" y="2059410"/>
            <a:ext cx="8499475" cy="3951288"/>
            <a:chOff x="142" y="1103"/>
            <a:chExt cx="5354" cy="248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CF1390D-0C5B-0FE3-985F-84B5043CA5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6" y="1768"/>
              <a:ext cx="4080" cy="1824"/>
              <a:chOff x="1456" y="1824"/>
              <a:chExt cx="4080" cy="182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59B500D-D7D8-FBE7-DCD0-61E42CFCFA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6" y="1824"/>
                <a:ext cx="4080" cy="1824"/>
              </a:xfrm>
              <a:prstGeom prst="rect">
                <a:avLst/>
              </a:prstGeom>
              <a:solidFill>
                <a:srgbClr val="9FACC7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4" name="Freeform 5">
                <a:extLst>
                  <a:ext uri="{FF2B5EF4-FFF2-40B4-BE49-F238E27FC236}">
                    <a16:creationId xmlns:a16="http://schemas.microsoft.com/office/drawing/2014/main" id="{A4E42961-8840-CECC-7F45-E583293A8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6" y="1832"/>
                <a:ext cx="4080" cy="1816"/>
              </a:xfrm>
              <a:custGeom>
                <a:avLst/>
                <a:gdLst>
                  <a:gd name="T0" fmla="*/ 0 w 4080"/>
                  <a:gd name="T1" fmla="*/ 0 h 1816"/>
                  <a:gd name="T2" fmla="*/ 4080 w 4080"/>
                  <a:gd name="T3" fmla="*/ 1816 h 1816"/>
                  <a:gd name="T4" fmla="*/ 0 w 4080"/>
                  <a:gd name="T5" fmla="*/ 1816 h 1816"/>
                  <a:gd name="T6" fmla="*/ 0 w 4080"/>
                  <a:gd name="T7" fmla="*/ 0 h 1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80" h="1816">
                    <a:moveTo>
                      <a:pt x="0" y="0"/>
                    </a:moveTo>
                    <a:lnTo>
                      <a:pt x="4080" y="1816"/>
                    </a:lnTo>
                    <a:lnTo>
                      <a:pt x="0" y="18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7D7AC"/>
              </a:solidFill>
              <a:ln w="28575" cmpd="sng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5" name="Line 6">
                <a:extLst>
                  <a:ext uri="{FF2B5EF4-FFF2-40B4-BE49-F238E27FC236}">
                    <a16:creationId xmlns:a16="http://schemas.microsoft.com/office/drawing/2014/main" id="{B799877F-7A27-78DF-ABD3-69CAC59E00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6" y="2736"/>
                <a:ext cx="407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6" name="Line 7">
                <a:extLst>
                  <a:ext uri="{FF2B5EF4-FFF2-40B4-BE49-F238E27FC236}">
                    <a16:creationId xmlns:a16="http://schemas.microsoft.com/office/drawing/2014/main" id="{2581AA81-026B-9B60-B86A-8401E31949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6" y="2128"/>
                <a:ext cx="407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7" name="Line 8">
                <a:extLst>
                  <a:ext uri="{FF2B5EF4-FFF2-40B4-BE49-F238E27FC236}">
                    <a16:creationId xmlns:a16="http://schemas.microsoft.com/office/drawing/2014/main" id="{31726860-FFA3-3B51-8555-02A8C85424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6" y="2431"/>
                <a:ext cx="407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" name="Line 9">
                <a:extLst>
                  <a:ext uri="{FF2B5EF4-FFF2-40B4-BE49-F238E27FC236}">
                    <a16:creationId xmlns:a16="http://schemas.microsoft.com/office/drawing/2014/main" id="{50E13413-0C24-6C41-E6DB-3AA6555201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6" y="3040"/>
                <a:ext cx="407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9" name="Line 10">
                <a:extLst>
                  <a:ext uri="{FF2B5EF4-FFF2-40B4-BE49-F238E27FC236}">
                    <a16:creationId xmlns:a16="http://schemas.microsoft.com/office/drawing/2014/main" id="{22CE1D13-65B8-058D-4BE0-0827D86A7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6" y="3343"/>
                <a:ext cx="407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0" name="Line 11">
                <a:extLst>
                  <a:ext uri="{FF2B5EF4-FFF2-40B4-BE49-F238E27FC236}">
                    <a16:creationId xmlns:a16="http://schemas.microsoft.com/office/drawing/2014/main" id="{942B96A4-FE0E-BF4F-2A23-D5CF944DAB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6" y="1824"/>
                <a:ext cx="0" cy="181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1" name="Line 12">
                <a:extLst>
                  <a:ext uri="{FF2B5EF4-FFF2-40B4-BE49-F238E27FC236}">
                    <a16:creationId xmlns:a16="http://schemas.microsoft.com/office/drawing/2014/main" id="{9CB35960-2567-60DE-F336-D96420F00C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" y="1824"/>
                <a:ext cx="0" cy="181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2" name="Line 13">
                <a:extLst>
                  <a:ext uri="{FF2B5EF4-FFF2-40B4-BE49-F238E27FC236}">
                    <a16:creationId xmlns:a16="http://schemas.microsoft.com/office/drawing/2014/main" id="{63A47821-328C-C61C-6B32-0CAF6E039A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6" y="1824"/>
                <a:ext cx="0" cy="181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3" name="Line 14">
                <a:extLst>
                  <a:ext uri="{FF2B5EF4-FFF2-40B4-BE49-F238E27FC236}">
                    <a16:creationId xmlns:a16="http://schemas.microsoft.com/office/drawing/2014/main" id="{509DE53D-C449-BB50-1E93-E3CE41F801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6" y="1824"/>
                <a:ext cx="0" cy="181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4" name="Line 15">
                <a:extLst>
                  <a:ext uri="{FF2B5EF4-FFF2-40B4-BE49-F238E27FC236}">
                    <a16:creationId xmlns:a16="http://schemas.microsoft.com/office/drawing/2014/main" id="{17B801F0-846B-D260-053C-54C053EF19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824"/>
                <a:ext cx="0" cy="181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5" name="Line 16">
                <a:extLst>
                  <a:ext uri="{FF2B5EF4-FFF2-40B4-BE49-F238E27FC236}">
                    <a16:creationId xmlns:a16="http://schemas.microsoft.com/office/drawing/2014/main" id="{7E670F98-F095-C5C3-9084-27A09C0AFB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6" y="1824"/>
                <a:ext cx="0" cy="181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6" name="Line 17">
                <a:extLst>
                  <a:ext uri="{FF2B5EF4-FFF2-40B4-BE49-F238E27FC236}">
                    <a16:creationId xmlns:a16="http://schemas.microsoft.com/office/drawing/2014/main" id="{8C4EA7D1-50FB-D6FD-E738-DEAE10BE91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36" y="1824"/>
                <a:ext cx="0" cy="181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4C6879C-D8D4-8745-1B07-23C68F56CB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2" y="1103"/>
              <a:ext cx="5351" cy="2478"/>
              <a:chOff x="182" y="1159"/>
              <a:chExt cx="5351" cy="2478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EE7CC58-2933-B944-18FC-4ADF2D5A83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" y="1450"/>
                <a:ext cx="5351" cy="2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838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816100" algn="r"/>
                    <a:tab pos="2476500" algn="ctr"/>
                    <a:tab pos="3530600" algn="ctr"/>
                    <a:tab pos="4673600" algn="ctr"/>
                    <a:tab pos="5715000" algn="ctr"/>
                    <a:tab pos="6858000" algn="ctr"/>
                    <a:tab pos="7912100" algn="ctr"/>
                  </a:tabLst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	Department	Assembly	Painting	Machine	Receiving	Shipping	Testing</a:t>
                </a:r>
              </a:p>
              <a:p>
                <a:pPr marL="0" marR="0" lvl="0" indent="0" algn="l" defTabSz="838200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816100" algn="r"/>
                    <a:tab pos="2476500" algn="ctr"/>
                    <a:tab pos="3530600" algn="ctr"/>
                    <a:tab pos="4673600" algn="ctr"/>
                    <a:tab pos="5715000" algn="ctr"/>
                    <a:tab pos="6858000" algn="ctr"/>
                    <a:tab pos="7912100" algn="ctr"/>
                  </a:tabLst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		(1)	(2)	Shop (3)	(4)	(5)	(6)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  <a:p>
                <a:pPr marL="0" marR="0" lvl="0" indent="0" algn="l" defTabSz="838200" rtl="0" eaLnBrk="1" fontAlgn="base" latinLnBrk="0" hangingPunct="1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816100" algn="r"/>
                    <a:tab pos="2476500" algn="ctr"/>
                    <a:tab pos="3530600" algn="ctr"/>
                    <a:tab pos="4673600" algn="ctr"/>
                    <a:tab pos="5715000" algn="ctr"/>
                    <a:tab pos="6858000" algn="ctr"/>
                    <a:tab pos="7912100" algn="ctr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	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Assembly (1)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		</a:t>
                </a:r>
              </a:p>
              <a:p>
                <a:pPr marL="0" marR="0" lvl="0" indent="0" algn="l" defTabSz="838200" rtl="0" eaLnBrk="1" fontAlgn="base" latinLnBrk="0" hangingPunct="1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816100" algn="r"/>
                    <a:tab pos="2476500" algn="ctr"/>
                    <a:tab pos="3530600" algn="ctr"/>
                    <a:tab pos="4673600" algn="ctr"/>
                    <a:tab pos="5715000" algn="ctr"/>
                    <a:tab pos="6858000" algn="ctr"/>
                    <a:tab pos="7912100" algn="ctr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	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Painting (2)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			</a:t>
                </a:r>
              </a:p>
              <a:p>
                <a:pPr marL="0" marR="0" lvl="0" indent="0" algn="l" defTabSz="838200" rtl="0" eaLnBrk="1" fontAlgn="base" latinLnBrk="0" hangingPunct="1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816100" algn="r"/>
                    <a:tab pos="2476500" algn="ctr"/>
                    <a:tab pos="3530600" algn="ctr"/>
                    <a:tab pos="4673600" algn="ctr"/>
                    <a:tab pos="5715000" algn="ctr"/>
                    <a:tab pos="6858000" algn="ctr"/>
                    <a:tab pos="7912100" algn="ctr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	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Machine Shop (3)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				</a:t>
                </a:r>
              </a:p>
              <a:p>
                <a:pPr marL="0" marR="0" lvl="0" indent="0" algn="l" defTabSz="838200" rtl="0" eaLnBrk="1" fontAlgn="base" latinLnBrk="0" hangingPunct="1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816100" algn="r"/>
                    <a:tab pos="2476500" algn="ctr"/>
                    <a:tab pos="3530600" algn="ctr"/>
                    <a:tab pos="4673600" algn="ctr"/>
                    <a:tab pos="5715000" algn="ctr"/>
                    <a:tab pos="6858000" algn="ctr"/>
                    <a:tab pos="7912100" algn="ctr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	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Receiving (4)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					</a:t>
                </a:r>
              </a:p>
              <a:p>
                <a:pPr marL="0" marR="0" lvl="0" indent="0" algn="l" defTabSz="838200" rtl="0" eaLnBrk="1" fontAlgn="base" latinLnBrk="0" hangingPunct="1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816100" algn="r"/>
                    <a:tab pos="2476500" algn="ctr"/>
                    <a:tab pos="3530600" algn="ctr"/>
                    <a:tab pos="4673600" algn="ctr"/>
                    <a:tab pos="5715000" algn="ctr"/>
                    <a:tab pos="6858000" algn="ctr"/>
                    <a:tab pos="7912100" algn="ctr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	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Shipping (5)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						</a:t>
                </a:r>
              </a:p>
              <a:p>
                <a:pPr marL="0" marR="0" lvl="0" indent="0" algn="l" defTabSz="838200" rtl="0" eaLnBrk="1" fontAlgn="base" latinLnBrk="0" hangingPunct="1">
                  <a:lnSpc>
                    <a:spcPct val="100000"/>
                  </a:lnSpc>
                  <a:spcBef>
                    <a:spcPct val="75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1816100" algn="r"/>
                    <a:tab pos="2476500" algn="ctr"/>
                    <a:tab pos="3530600" algn="ctr"/>
                    <a:tab pos="4673600" algn="ctr"/>
                    <a:tab pos="5715000" algn="ctr"/>
                    <a:tab pos="6858000" algn="ctr"/>
                    <a:tab pos="7912100" algn="ctr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	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Testing (6)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7E849CD-AD73-2768-70F7-773985590F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4" y="1159"/>
                <a:ext cx="1814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Number of loads per week</a:t>
                </a:r>
              </a:p>
            </p:txBody>
          </p:sp>
        </p:grp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EF70B588-3B40-DEEF-1C4D-7A3EBCEFB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262" y="2521371"/>
            <a:ext cx="8366125" cy="347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0" marR="0" lvl="0" indent="0" algn="l" defTabSz="838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16100" algn="r"/>
                <a:tab pos="2476500" algn="ctr"/>
                <a:tab pos="3530600" algn="ctr"/>
                <a:tab pos="4673600" algn="ctr"/>
                <a:tab pos="5715000" algn="ctr"/>
                <a:tab pos="6858000" algn="ctr"/>
                <a:tab pos="7912100" algn="ctr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</a:t>
            </a:r>
          </a:p>
          <a:p>
            <a:pPr marL="0" marR="0" lvl="0" indent="0" algn="l" defTabSz="838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16100" algn="r"/>
                <a:tab pos="2476500" algn="ctr"/>
                <a:tab pos="3530600" algn="ctr"/>
                <a:tab pos="4673600" algn="ctr"/>
                <a:tab pos="5715000" algn="ctr"/>
                <a:tab pos="6858000" algn="ctr"/>
                <a:tab pos="7912100" algn="ctr"/>
              </a:tabLst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	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  <a:p>
            <a:pPr marL="0" marR="0" lvl="0" indent="0" algn="l" defTabSz="838200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16100" algn="r"/>
                <a:tab pos="2476500" algn="ctr"/>
                <a:tab pos="3530600" algn="ctr"/>
                <a:tab pos="4673600" algn="ctr"/>
                <a:tab pos="5715000" algn="ctr"/>
                <a:tab pos="6858000" algn="ctr"/>
                <a:tab pos="79121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		50	100	0	0	20</a:t>
            </a:r>
          </a:p>
          <a:p>
            <a:pPr marL="0" marR="0" lvl="0" indent="0" algn="l" defTabSz="838200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16100" algn="r"/>
                <a:tab pos="2476500" algn="ctr"/>
                <a:tab pos="3530600" algn="ctr"/>
                <a:tab pos="4673600" algn="ctr"/>
                <a:tab pos="5715000" algn="ctr"/>
                <a:tab pos="6858000" algn="ctr"/>
                <a:tab pos="79121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			30	50	10	0</a:t>
            </a:r>
          </a:p>
          <a:p>
            <a:pPr marL="0" marR="0" lvl="0" indent="0" algn="l" defTabSz="838200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16100" algn="r"/>
                <a:tab pos="2476500" algn="ctr"/>
                <a:tab pos="3530600" algn="ctr"/>
                <a:tab pos="4673600" algn="ctr"/>
                <a:tab pos="5715000" algn="ctr"/>
                <a:tab pos="6858000" algn="ctr"/>
                <a:tab pos="79121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				20	0	100</a:t>
            </a:r>
          </a:p>
          <a:p>
            <a:pPr marL="0" marR="0" lvl="0" indent="0" algn="l" defTabSz="838200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16100" algn="r"/>
                <a:tab pos="2476500" algn="ctr"/>
                <a:tab pos="3530600" algn="ctr"/>
                <a:tab pos="4673600" algn="ctr"/>
                <a:tab pos="5715000" algn="ctr"/>
                <a:tab pos="6858000" algn="ctr"/>
                <a:tab pos="79121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					50	0</a:t>
            </a:r>
          </a:p>
          <a:p>
            <a:pPr marL="0" marR="0" lvl="0" indent="0" algn="l" defTabSz="838200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16100" algn="r"/>
                <a:tab pos="2476500" algn="ctr"/>
                <a:tab pos="3530600" algn="ctr"/>
                <a:tab pos="4673600" algn="ctr"/>
                <a:tab pos="5715000" algn="ctr"/>
                <a:tab pos="6858000" algn="ctr"/>
                <a:tab pos="79121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						0</a:t>
            </a:r>
          </a:p>
          <a:p>
            <a:pPr marL="0" marR="0" lvl="0" indent="0" algn="l" defTabSz="838200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Tx/>
              <a:buSzTx/>
              <a:buFontTx/>
              <a:buNone/>
              <a:tabLst>
                <a:tab pos="1816100" algn="r"/>
                <a:tab pos="2476500" algn="ctr"/>
                <a:tab pos="3530600" algn="ctr"/>
                <a:tab pos="4673600" algn="ctr"/>
                <a:tab pos="5715000" algn="ctr"/>
                <a:tab pos="6858000" algn="ctr"/>
                <a:tab pos="79121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8663065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DDFCE-EEF7-637B-066D-5C83ECFAEEE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03F86-487A-2154-0AB8-7B3194819B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B928E-2201-2DF4-51C0-A6B0763353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30</a:t>
            </a:fld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88203B4-4732-735A-98EB-6EC35E94C889}"/>
              </a:ext>
            </a:extLst>
          </p:cNvPr>
          <p:cNvGrpSpPr>
            <a:grpSpLocks/>
          </p:cNvGrpSpPr>
          <p:nvPr/>
        </p:nvGrpSpPr>
        <p:grpSpPr bwMode="auto">
          <a:xfrm>
            <a:off x="2874962" y="1064895"/>
            <a:ext cx="6451600" cy="5048251"/>
            <a:chOff x="1024" y="972"/>
            <a:chExt cx="4064" cy="318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6CE5515-9F7C-513A-E55E-D2FD005B0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0" y="972"/>
              <a:ext cx="3360" cy="2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lc="http://schemas.openxmlformats.org/drawingml/2006/lockedCanvas"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lc="http://schemas.openxmlformats.org/drawingml/2006/lockedCanvas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250000"/>
                </a:spcAft>
                <a:buClrTx/>
                <a:buSzTx/>
                <a:buFontTx/>
                <a:buNone/>
                <a:tabLst>
                  <a:tab pos="863600" algn="ctr"/>
                  <a:tab pos="2768600" algn="ctr"/>
                  <a:tab pos="4762500" algn="ctr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	Area A	Area B	Area C</a:t>
              </a:r>
            </a:p>
            <a:p>
              <a:pPr marL="0" marR="0" lvl="0" indent="0" algn="l" defTabSz="4572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863600" algn="ctr"/>
                  <a:tab pos="2768600" algn="ctr"/>
                  <a:tab pos="4762500" algn="ctr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	</a:t>
              </a:r>
            </a:p>
            <a:p>
              <a:pPr marL="0" marR="0" lvl="0" indent="0" algn="l" defTabSz="4572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863600" algn="ctr"/>
                  <a:tab pos="2768600" algn="ctr"/>
                  <a:tab pos="4762500" algn="ctr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	</a:t>
              </a:r>
            </a:p>
            <a:p>
              <a:pPr marL="0" marR="0" lvl="0" indent="0" algn="l" defTabSz="4572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450000"/>
                </a:spcAft>
                <a:buClrTx/>
                <a:buSzTx/>
                <a:buFontTx/>
                <a:buNone/>
                <a:tabLst>
                  <a:tab pos="863600" algn="ctr"/>
                  <a:tab pos="2768600" algn="ctr"/>
                  <a:tab pos="4762500" algn="ctr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	</a:t>
              </a:r>
            </a:p>
            <a:p>
              <a:pPr marL="0" marR="0" lvl="0" indent="0" algn="l" defTabSz="4572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863600" algn="ctr"/>
                  <a:tab pos="2768600" algn="ctr"/>
                  <a:tab pos="4762500" algn="ctr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	</a:t>
              </a:r>
            </a:p>
            <a:p>
              <a:pPr marL="0" marR="0" lvl="0" indent="0" algn="l" defTabSz="4572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863600" algn="ctr"/>
                  <a:tab pos="2768600" algn="ctr"/>
                  <a:tab pos="4762500" algn="ctr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	</a:t>
              </a:r>
            </a:p>
            <a:p>
              <a:pPr marL="0" marR="0" lvl="0" indent="0" algn="l" defTabSz="4572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295000"/>
                </a:spcAft>
                <a:buClrTx/>
                <a:buSzTx/>
                <a:buFontTx/>
                <a:buNone/>
                <a:tabLst>
                  <a:tab pos="863600" algn="ctr"/>
                  <a:tab pos="2768600" algn="ctr"/>
                  <a:tab pos="4762500" algn="ctr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	</a:t>
              </a:r>
            </a:p>
            <a:p>
              <a:pPr marL="0" marR="0" lvl="0" indent="0" algn="l" defTabSz="4572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863600" algn="ctr"/>
                  <a:tab pos="2768600" algn="ctr"/>
                  <a:tab pos="4762500" algn="ctr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	Area D	Area E	Area F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59DF936-B789-049B-ED62-08122A98D8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4" y="1208"/>
              <a:ext cx="3696" cy="2464"/>
              <a:chOff x="1024" y="1208"/>
              <a:chExt cx="3696" cy="2464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52D53295-BD01-9DC8-15D4-A84C8FC11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" y="1208"/>
                <a:ext cx="1232" cy="1232"/>
              </a:xfrm>
              <a:prstGeom prst="rect">
                <a:avLst/>
              </a:prstGeom>
              <a:solidFill>
                <a:srgbClr val="F7D7A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DE27EBB-E043-1151-B0E2-F9D32AC560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2" y="1208"/>
                <a:ext cx="1232" cy="1232"/>
              </a:xfrm>
              <a:prstGeom prst="rect">
                <a:avLst/>
              </a:prstGeom>
              <a:solidFill>
                <a:srgbClr val="9FACC7">
                  <a:lumMod val="75000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792E3C0C-0D2D-D25A-684A-B6FEA4109B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8" y="1208"/>
                <a:ext cx="1232" cy="1232"/>
              </a:xfrm>
              <a:prstGeom prst="rect">
                <a:avLst/>
              </a:prstGeom>
              <a:solidFill>
                <a:srgbClr val="EA8074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F2AE3B0-98B1-83EF-5555-0C397E687C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2" y="2440"/>
                <a:ext cx="1232" cy="1232"/>
              </a:xfrm>
              <a:prstGeom prst="rect">
                <a:avLst/>
              </a:prstGeom>
              <a:solidFill>
                <a:srgbClr val="BDD6AE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7A5DD18-06F8-FBB5-923E-DFB389301C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" y="2440"/>
                <a:ext cx="1232" cy="1232"/>
              </a:xfrm>
              <a:prstGeom prst="rect">
                <a:avLst/>
              </a:prstGeom>
              <a:solidFill>
                <a:srgbClr val="9FACC7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7D804A1-E3D8-648E-3732-DA6FE7BC71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8" y="2440"/>
                <a:ext cx="1232" cy="1232"/>
              </a:xfrm>
              <a:prstGeom prst="rect">
                <a:avLst/>
              </a:prstGeom>
              <a:solidFill>
                <a:srgbClr val="24BDB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7D113B9-1E09-4014-A0E0-BB7830568A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" y="3919"/>
              <a:ext cx="3664" cy="233"/>
              <a:chOff x="1048" y="3919"/>
              <a:chExt cx="3664" cy="233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256C3C0-159D-72F9-8A43-9C5C61CE3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2" y="3919"/>
                <a:ext cx="30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60</a:t>
                </a: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'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7" name="Line 13">
                <a:extLst>
                  <a:ext uri="{FF2B5EF4-FFF2-40B4-BE49-F238E27FC236}">
                    <a16:creationId xmlns:a16="http://schemas.microsoft.com/office/drawing/2014/main" id="{D7AF6B8F-63A9-E40B-3F89-D21CE52DC5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8" y="4035"/>
                <a:ext cx="166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8" name="Line 14">
                <a:extLst>
                  <a:ext uri="{FF2B5EF4-FFF2-40B4-BE49-F238E27FC236}">
                    <a16:creationId xmlns:a16="http://schemas.microsoft.com/office/drawing/2014/main" id="{BF13D853-317D-3738-4D81-D80E8F4ED7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48" y="4034"/>
                <a:ext cx="166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F3543C3-D312-213F-6B23-290A3AF08F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2" y="1216"/>
              <a:ext cx="306" cy="2456"/>
              <a:chOff x="4782" y="1216"/>
              <a:chExt cx="306" cy="2456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D081106-524B-E505-5FC7-1663226B0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2" y="2335"/>
                <a:ext cx="30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lc="http://schemas.openxmlformats.org/drawingml/2006/lockedCanvas"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40</a:t>
                </a: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'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4" name="Line 17">
                <a:extLst>
                  <a:ext uri="{FF2B5EF4-FFF2-40B4-BE49-F238E27FC236}">
                    <a16:creationId xmlns:a16="http://schemas.microsoft.com/office/drawing/2014/main" id="{6C4A47FA-3759-7A08-D542-D56E06138D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0" y="1216"/>
                <a:ext cx="0" cy="112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triangle" w="sm" len="sm"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5" name="Line 18">
                <a:extLst>
                  <a:ext uri="{FF2B5EF4-FFF2-40B4-BE49-F238E27FC236}">
                    <a16:creationId xmlns:a16="http://schemas.microsoft.com/office/drawing/2014/main" id="{F1626EF2-A529-5057-3EA9-268A7570C1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40" y="2544"/>
                <a:ext cx="0" cy="112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triangle" w="sm" len="sm"/>
                <a:tailEnd/>
              </a:ln>
              <a:extLst>
                <a:ext uri="{909E8E84-426E-40dd-AFC4-6F175D3DCCD1}">
                  <a14:hiddenFill xmlns:lc="http://schemas.openxmlformats.org/drawingml/2006/lockedCanvas"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D9D88EB8-605A-AEC2-AB8F-E24E43074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437" y="3731895"/>
            <a:ext cx="5595938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ctr"/>
                <a:tab pos="2768600" algn="ctr"/>
                <a:tab pos="4762500" algn="ctr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ctr"/>
                <a:tab pos="2768600" algn="ctr"/>
                <a:tab pos="47625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Receiving	Shipping	Testing</a:t>
            </a:r>
          </a:p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ctr"/>
                <a:tab pos="2768600" algn="ctr"/>
                <a:tab pos="47625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Department	Department	Department</a:t>
            </a:r>
          </a:p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ctr"/>
                <a:tab pos="2768600" algn="ctr"/>
                <a:tab pos="47625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(4)	(5)	(6)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C89C9B-CA8E-E78B-9DD8-764D89A45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4487" y="2017395"/>
            <a:ext cx="5743575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lc="http://schemas.openxmlformats.org/drawingml/2006/lockedCanvas"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lc="http://schemas.openxmlformats.org/drawingml/2006/lockedCanvas"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ctr"/>
                <a:tab pos="2768600" algn="ctr"/>
                <a:tab pos="47625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Assembly	Painting	Machine Shop</a:t>
            </a:r>
          </a:p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ctr"/>
                <a:tab pos="2768600" algn="ctr"/>
                <a:tab pos="47625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Department	Department	Department</a:t>
            </a:r>
          </a:p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ctr"/>
                <a:tab pos="2768600" algn="ctr"/>
                <a:tab pos="47625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(1)	(2)	(3)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274A512-D411-FEFE-C5B8-AF9A65178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47638"/>
            <a:ext cx="10761662" cy="685800"/>
          </a:xfrm>
        </p:spPr>
        <p:txBody>
          <a:bodyPr/>
          <a:lstStyle/>
          <a:p>
            <a:r>
              <a:rPr lang="en-IN" dirty="0"/>
              <a:t>Block Diagramming </a:t>
            </a:r>
            <a:r>
              <a:rPr lang="en-US" dirty="0"/>
              <a:t>Example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10626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8218B-0AD2-3DBF-E8AB-E2B77EBAB92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DDF05-7D43-65FF-7C5C-7325B199C6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BBC1A-B109-3882-C0C1-5F1F8B2E56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3FBA6E-0FED-1FAE-4E9A-3692903C4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5506" y="1213644"/>
            <a:ext cx="4954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Interdepartmental Flow Graph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1D84DC2-1CD1-9BA7-3D4F-CA9A37ECE056}"/>
              </a:ext>
            </a:extLst>
          </p:cNvPr>
          <p:cNvGrpSpPr>
            <a:grpSpLocks/>
          </p:cNvGrpSpPr>
          <p:nvPr/>
        </p:nvGrpSpPr>
        <p:grpSpPr bwMode="auto">
          <a:xfrm>
            <a:off x="2056606" y="1705769"/>
            <a:ext cx="7923219" cy="3938589"/>
            <a:chOff x="390" y="1311"/>
            <a:chExt cx="4991" cy="248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9352E68-D4C6-5584-1BD9-749E94414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6" y="1311"/>
              <a:ext cx="38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100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F9CC656-69CB-83F2-8C87-EDC1E57D7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" y="1557"/>
              <a:ext cx="4991" cy="2235"/>
              <a:chOff x="390" y="1557"/>
              <a:chExt cx="4991" cy="2235"/>
            </a:xfrm>
          </p:grpSpPr>
          <p:sp>
            <p:nvSpPr>
              <p:cNvPr id="50" name="Line 3">
                <a:extLst>
                  <a:ext uri="{FF2B5EF4-FFF2-40B4-BE49-F238E27FC236}">
                    <a16:creationId xmlns:a16="http://schemas.microsoft.com/office/drawing/2014/main" id="{DC6F44DA-6C1A-6AB1-7B45-5428CCF9E6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2" y="2272"/>
                <a:ext cx="4288" cy="1200"/>
              </a:xfrm>
              <a:prstGeom prst="line">
                <a:avLst/>
              </a:prstGeom>
              <a:noFill/>
              <a:ln w="76200">
                <a:solidFill>
                  <a:srgbClr val="175097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1" name="Line 4">
                <a:extLst>
                  <a:ext uri="{FF2B5EF4-FFF2-40B4-BE49-F238E27FC236}">
                    <a16:creationId xmlns:a16="http://schemas.microsoft.com/office/drawing/2014/main" id="{F66589AF-3073-412F-313E-F654A6D586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56" y="2296"/>
                <a:ext cx="0" cy="1168"/>
              </a:xfrm>
              <a:prstGeom prst="line">
                <a:avLst/>
              </a:prstGeom>
              <a:noFill/>
              <a:ln w="76200">
                <a:solidFill>
                  <a:srgbClr val="175097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2" name="Line 5">
                <a:extLst>
                  <a:ext uri="{FF2B5EF4-FFF2-40B4-BE49-F238E27FC236}">
                    <a16:creationId xmlns:a16="http://schemas.microsoft.com/office/drawing/2014/main" id="{D156AFCF-9390-D2F2-2905-F161EEA13A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08" y="2272"/>
                <a:ext cx="0" cy="1168"/>
              </a:xfrm>
              <a:prstGeom prst="line">
                <a:avLst/>
              </a:prstGeom>
              <a:noFill/>
              <a:ln w="76200">
                <a:solidFill>
                  <a:srgbClr val="175097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3" name="Line 6">
                <a:extLst>
                  <a:ext uri="{FF2B5EF4-FFF2-40B4-BE49-F238E27FC236}">
                    <a16:creationId xmlns:a16="http://schemas.microsoft.com/office/drawing/2014/main" id="{25128344-6002-0084-822A-2EF2507A44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2" y="2256"/>
                <a:ext cx="4304" cy="1208"/>
              </a:xfrm>
              <a:prstGeom prst="line">
                <a:avLst/>
              </a:prstGeom>
              <a:noFill/>
              <a:ln w="76200">
                <a:solidFill>
                  <a:srgbClr val="175097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4" name="Line 7">
                <a:extLst>
                  <a:ext uri="{FF2B5EF4-FFF2-40B4-BE49-F238E27FC236}">
                    <a16:creationId xmlns:a16="http://schemas.microsoft.com/office/drawing/2014/main" id="{92FF9F8D-5560-8FAE-65DC-E3C1A8609E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04" y="2240"/>
                <a:ext cx="4304" cy="0"/>
              </a:xfrm>
              <a:prstGeom prst="line">
                <a:avLst/>
              </a:prstGeom>
              <a:noFill/>
              <a:ln w="76200">
                <a:solidFill>
                  <a:srgbClr val="175097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5" name="Line 8">
                <a:extLst>
                  <a:ext uri="{FF2B5EF4-FFF2-40B4-BE49-F238E27FC236}">
                    <a16:creationId xmlns:a16="http://schemas.microsoft.com/office/drawing/2014/main" id="{A24C4B55-3E7E-C608-A716-ACC08D1D7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8" y="3480"/>
                <a:ext cx="2152" cy="0"/>
              </a:xfrm>
              <a:prstGeom prst="line">
                <a:avLst/>
              </a:prstGeom>
              <a:noFill/>
              <a:ln w="76200">
                <a:solidFill>
                  <a:srgbClr val="175097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6" name="Line 9">
                <a:extLst>
                  <a:ext uri="{FF2B5EF4-FFF2-40B4-BE49-F238E27FC236}">
                    <a16:creationId xmlns:a16="http://schemas.microsoft.com/office/drawing/2014/main" id="{5EC0503A-566B-E8D1-1132-770CBD8810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2" y="2240"/>
                <a:ext cx="2168" cy="1208"/>
              </a:xfrm>
              <a:prstGeom prst="line">
                <a:avLst/>
              </a:prstGeom>
              <a:noFill/>
              <a:ln w="76200">
                <a:solidFill>
                  <a:srgbClr val="175097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7" name="Freeform 10">
                <a:extLst>
                  <a:ext uri="{FF2B5EF4-FFF2-40B4-BE49-F238E27FC236}">
                    <a16:creationId xmlns:a16="http://schemas.microsoft.com/office/drawing/2014/main" id="{D6E1A91D-E5AF-00C1-ECF0-F9AB4ED19C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2" y="1557"/>
                <a:ext cx="4288" cy="691"/>
              </a:xfrm>
              <a:custGeom>
                <a:avLst/>
                <a:gdLst>
                  <a:gd name="T0" fmla="*/ 0 w 4288"/>
                  <a:gd name="T1" fmla="*/ 691 h 691"/>
                  <a:gd name="T2" fmla="*/ 1152 w 4288"/>
                  <a:gd name="T3" fmla="*/ 155 h 691"/>
                  <a:gd name="T4" fmla="*/ 2176 w 4288"/>
                  <a:gd name="T5" fmla="*/ 3 h 691"/>
                  <a:gd name="T6" fmla="*/ 3104 w 4288"/>
                  <a:gd name="T7" fmla="*/ 171 h 691"/>
                  <a:gd name="T8" fmla="*/ 4288 w 4288"/>
                  <a:gd name="T9" fmla="*/ 683 h 6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88"/>
                  <a:gd name="T16" fmla="*/ 0 h 691"/>
                  <a:gd name="T17" fmla="*/ 4288 w 4288"/>
                  <a:gd name="T18" fmla="*/ 691 h 69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88" h="691">
                    <a:moveTo>
                      <a:pt x="0" y="691"/>
                    </a:moveTo>
                    <a:cubicBezTo>
                      <a:pt x="192" y="602"/>
                      <a:pt x="789" y="270"/>
                      <a:pt x="1152" y="155"/>
                    </a:cubicBezTo>
                    <a:cubicBezTo>
                      <a:pt x="1515" y="40"/>
                      <a:pt x="1851" y="0"/>
                      <a:pt x="2176" y="3"/>
                    </a:cubicBezTo>
                    <a:cubicBezTo>
                      <a:pt x="2501" y="6"/>
                      <a:pt x="2752" y="58"/>
                      <a:pt x="3104" y="171"/>
                    </a:cubicBezTo>
                    <a:cubicBezTo>
                      <a:pt x="3456" y="284"/>
                      <a:pt x="4041" y="576"/>
                      <a:pt x="4288" y="683"/>
                    </a:cubicBezTo>
                  </a:path>
                </a:pathLst>
              </a:custGeom>
              <a:noFill/>
              <a:ln w="76200" cmpd="sng">
                <a:solidFill>
                  <a:srgbClr val="175097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268F4D8-F461-6D77-C247-3E8961EAB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0" y="1991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50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F82590D-D214-09A1-2B7F-AA050A111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96416">
                <a:off x="1694" y="2327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20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E754C88-7993-9458-CD1B-2AD65F813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4" y="3471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50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0CE57479-88DC-4D9B-2975-68ED3FE8A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726400">
                <a:off x="1414" y="2687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50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C97531E-A626-BC7E-A154-06B64C46D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911530">
                <a:off x="3678" y="2331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20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CF2ADBD2-D462-8E2B-B765-8D077AB66B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8" y="2519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10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2DEB781C-2AA0-DA42-43E6-E7A47E70C8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8" y="2711"/>
                <a:ext cx="38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100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6E15408-5C64-019D-1090-8C05179728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0" y="1991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30</a:t>
                </a:r>
              </a:p>
            </p:txBody>
          </p: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637A79B8-E71D-D58D-5953-26CAAB4C2B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54" y="1916"/>
                <a:ext cx="701" cy="632"/>
                <a:chOff x="4310" y="1344"/>
                <a:chExt cx="701" cy="632"/>
              </a:xfrm>
            </p:grpSpPr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0D228F93-CC58-B700-EB26-BCAF7A8377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44" y="1344"/>
                  <a:ext cx="632" cy="632"/>
                </a:xfrm>
                <a:prstGeom prst="ellipse">
                  <a:avLst/>
                </a:prstGeom>
                <a:solidFill>
                  <a:srgbClr val="EA8074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>
                  <a:defPPr>
                    <a:defRPr lang="en-US"/>
                  </a:defPPr>
                  <a:lvl1pPr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1pPr>
                  <a:lvl2pPr marL="4572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2pPr>
                  <a:lvl3pPr marL="9144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3pPr>
                  <a:lvl4pPr marL="13716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4pPr>
                  <a:lvl5pPr marL="18288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5pPr>
                  <a:lvl6pPr marL="22860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6pPr>
                  <a:lvl7pPr marL="27432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7pPr>
                  <a:lvl8pPr marL="32004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8pPr>
                  <a:lvl9pPr marL="36576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9pPr>
                </a:lstStyle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F0EF0F08-EACD-F766-571E-EFF30E8A13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0" y="1497"/>
                  <a:ext cx="701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 xmlns:lc="http://schemas.openxmlformats.org/drawingml/2006/lockedCanvas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xmlns:lc="http://schemas.openxmlformats.org/drawingml/2006/lockedCanvas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1pPr>
                  <a:lvl2pPr marL="4572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2pPr>
                  <a:lvl3pPr marL="9144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3pPr>
                  <a:lvl4pPr marL="13716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4pPr>
                  <a:lvl5pPr marL="18288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5pPr>
                  <a:lvl6pPr marL="22860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6pPr>
                  <a:lvl7pPr marL="27432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7pPr>
                  <a:lvl8pPr marL="32004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8pPr>
                  <a:lvl9pPr marL="36576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9pPr>
                </a:lstStyle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Machine Shop (3)</a:t>
                  </a:r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7E78EAF5-2BA6-2103-F797-A358FF808B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71" y="3160"/>
                <a:ext cx="666" cy="632"/>
                <a:chOff x="4670" y="3208"/>
                <a:chExt cx="666" cy="632"/>
              </a:xfrm>
            </p:grpSpPr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F311029E-B4D9-A2AE-DA76-A2C7C8C88E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87" y="3208"/>
                  <a:ext cx="632" cy="632"/>
                </a:xfrm>
                <a:prstGeom prst="ellipse">
                  <a:avLst/>
                </a:prstGeom>
                <a:solidFill>
                  <a:srgbClr val="24BDB2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1pPr>
                  <a:lvl2pPr marL="4572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2pPr>
                  <a:lvl3pPr marL="9144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3pPr>
                  <a:lvl4pPr marL="13716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4pPr>
                  <a:lvl5pPr marL="18288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5pPr>
                  <a:lvl6pPr marL="22860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6pPr>
                  <a:lvl7pPr marL="27432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7pPr>
                  <a:lvl8pPr marL="32004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8pPr>
                  <a:lvl9pPr marL="36576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9pPr>
                </a:lstStyle>
                <a:p>
                  <a:pPr marL="0" marR="0" lvl="0" indent="0" algn="l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8BE40C64-7E26-8C3C-A3ED-D6A0722D8B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70" y="3361"/>
                  <a:ext cx="666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 xmlns:lc="http://schemas.openxmlformats.org/drawingml/2006/lockedCanvas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xmlns:lc="http://schemas.openxmlformats.org/drawingml/2006/lockedCanvas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1pPr>
                  <a:lvl2pPr marL="4572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2pPr>
                  <a:lvl3pPr marL="9144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3pPr>
                  <a:lvl4pPr marL="13716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4pPr>
                  <a:lvl5pPr marL="18288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5pPr>
                  <a:lvl6pPr marL="22860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6pPr>
                  <a:lvl7pPr marL="27432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7pPr>
                  <a:lvl8pPr marL="32004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8pPr>
                  <a:lvl9pPr marL="36576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9pPr>
                </a:lstStyle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Testing </a:t>
                  </a:r>
                </a:p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(6)</a:t>
                  </a:r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864D56E1-1E23-5CC6-F2FB-2806AA31DE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18" y="3160"/>
                <a:ext cx="677" cy="632"/>
                <a:chOff x="2493" y="3152"/>
                <a:chExt cx="677" cy="632"/>
              </a:xfrm>
            </p:grpSpPr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EED542C2-239D-0881-734E-7C7EFDF61E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5" y="3152"/>
                  <a:ext cx="632" cy="632"/>
                </a:xfrm>
                <a:prstGeom prst="ellipse">
                  <a:avLst/>
                </a:prstGeom>
                <a:solidFill>
                  <a:srgbClr val="BDD6AE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>
                  <a:defPPr>
                    <a:defRPr lang="en-US"/>
                  </a:defPPr>
                  <a:lvl1pPr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1pPr>
                  <a:lvl2pPr marL="4572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2pPr>
                  <a:lvl3pPr marL="9144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3pPr>
                  <a:lvl4pPr marL="13716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4pPr>
                  <a:lvl5pPr marL="18288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5pPr>
                  <a:lvl6pPr marL="22860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6pPr>
                  <a:lvl7pPr marL="27432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7pPr>
                  <a:lvl8pPr marL="32004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8pPr>
                  <a:lvl9pPr marL="36576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9pPr>
                </a:lstStyle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0210A1B6-FD2B-6EC6-4B7B-7B219E81C2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3" y="3305"/>
                  <a:ext cx="677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 xmlns:lc="http://schemas.openxmlformats.org/drawingml/2006/lockedCanvas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xmlns:lc="http://schemas.openxmlformats.org/drawingml/2006/lockedCanvas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1pPr>
                  <a:lvl2pPr marL="4572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2pPr>
                  <a:lvl3pPr marL="9144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3pPr>
                  <a:lvl4pPr marL="13716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4pPr>
                  <a:lvl5pPr marL="18288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5pPr>
                  <a:lvl6pPr marL="22860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6pPr>
                  <a:lvl7pPr marL="27432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7pPr>
                  <a:lvl8pPr marL="32004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8pPr>
                  <a:lvl9pPr marL="36576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9pPr>
                </a:lstStyle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Shipping </a:t>
                  </a:r>
                </a:p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(5)</a:t>
                  </a:r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852407C5-B96E-82AC-E42C-7619C94D28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0" y="3160"/>
                <a:ext cx="710" cy="632"/>
                <a:chOff x="390" y="3144"/>
                <a:chExt cx="710" cy="632"/>
              </a:xfrm>
            </p:grpSpPr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09EFEF61-6E9C-D0AB-E688-1BFD178563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9" y="3144"/>
                  <a:ext cx="632" cy="632"/>
                </a:xfrm>
                <a:prstGeom prst="ellipse">
                  <a:avLst/>
                </a:prstGeom>
                <a:solidFill>
                  <a:srgbClr val="9FACC7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en-US"/>
                  </a:defPPr>
                  <a:lvl1pPr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1pPr>
                  <a:lvl2pPr marL="4572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2pPr>
                  <a:lvl3pPr marL="9144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3pPr>
                  <a:lvl4pPr marL="13716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4pPr>
                  <a:lvl5pPr marL="18288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5pPr>
                  <a:lvl6pPr marL="22860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6pPr>
                  <a:lvl7pPr marL="27432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7pPr>
                  <a:lvl8pPr marL="32004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8pPr>
                  <a:lvl9pPr marL="36576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9pPr>
                </a:lstStyle>
                <a:p>
                  <a:pPr marL="0" marR="0" lvl="0" indent="0" algn="l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FD38C318-C216-C250-6309-87FD9CE3F7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0" y="3297"/>
                  <a:ext cx="710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 xmlns:lc="http://schemas.openxmlformats.org/drawingml/2006/lockedCanvas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xmlns:lc="http://schemas.openxmlformats.org/drawingml/2006/lockedCanvas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1pPr>
                  <a:lvl2pPr marL="4572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2pPr>
                  <a:lvl3pPr marL="9144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3pPr>
                  <a:lvl4pPr marL="13716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4pPr>
                  <a:lvl5pPr marL="18288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5pPr>
                  <a:lvl6pPr marL="22860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6pPr>
                  <a:lvl7pPr marL="27432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7pPr>
                  <a:lvl8pPr marL="32004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8pPr>
                  <a:lvl9pPr marL="36576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9pPr>
                </a:lstStyle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Receiving </a:t>
                  </a:r>
                </a:p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(4)</a:t>
                  </a:r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E58DED0C-ABE5-9476-19CD-6BE7CCE209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7" y="1916"/>
                <a:ext cx="632" cy="632"/>
                <a:chOff x="427" y="1928"/>
                <a:chExt cx="632" cy="632"/>
              </a:xfrm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E400509E-26C0-DBEF-27EB-57E606F1FE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7" y="1928"/>
                  <a:ext cx="632" cy="632"/>
                </a:xfrm>
                <a:prstGeom prst="ellipse">
                  <a:avLst/>
                </a:prstGeom>
                <a:solidFill>
                  <a:srgbClr val="F7D7AC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>
                  <a:defPPr>
                    <a:defRPr lang="en-US"/>
                  </a:defPPr>
                  <a:lvl1pPr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1pPr>
                  <a:lvl2pPr marL="4572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2pPr>
                  <a:lvl3pPr marL="9144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3pPr>
                  <a:lvl4pPr marL="13716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4pPr>
                  <a:lvl5pPr marL="18288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5pPr>
                  <a:lvl6pPr marL="22860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6pPr>
                  <a:lvl7pPr marL="27432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7pPr>
                  <a:lvl8pPr marL="32004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8pPr>
                  <a:lvl9pPr marL="36576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9pPr>
                </a:lstStyle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DBA153C4-F441-3DF4-061E-ECE0051BBB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5" y="2081"/>
                  <a:ext cx="617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 xmlns:lc="http://schemas.openxmlformats.org/drawingml/2006/lockedCanvas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xmlns:lc="http://schemas.openxmlformats.org/drawingml/2006/lockedCanvas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1pPr>
                  <a:lvl2pPr marL="4572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2pPr>
                  <a:lvl3pPr marL="9144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3pPr>
                  <a:lvl4pPr marL="13716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4pPr>
                  <a:lvl5pPr marL="18288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5pPr>
                  <a:lvl6pPr marL="22860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6pPr>
                  <a:lvl7pPr marL="27432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7pPr>
                  <a:lvl8pPr marL="32004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8pPr>
                  <a:lvl9pPr marL="36576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9pPr>
                </a:lstStyle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Assembly</a:t>
                  </a:r>
                </a:p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(1)</a:t>
                  </a:r>
                </a:p>
              </p:txBody>
            </p:sp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1EC694C5-567C-C0A6-E8F6-BA09EA7F00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10" y="1916"/>
                <a:ext cx="695" cy="632"/>
                <a:chOff x="2262" y="1512"/>
                <a:chExt cx="695" cy="632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42836BBC-A14D-36C8-5451-B5622E941F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93" y="1512"/>
                  <a:ext cx="632" cy="632"/>
                </a:xfrm>
                <a:prstGeom prst="ellipse">
                  <a:avLst/>
                </a:prstGeom>
                <a:solidFill>
                  <a:srgbClr val="9FACC7">
                    <a:lumMod val="75000"/>
                  </a:srgbClr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>
                  <a:defPPr>
                    <a:defRPr lang="en-US"/>
                  </a:defPPr>
                  <a:lvl1pPr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1pPr>
                  <a:lvl2pPr marL="4572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2pPr>
                  <a:lvl3pPr marL="9144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3pPr>
                  <a:lvl4pPr marL="13716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4pPr>
                  <a:lvl5pPr marL="18288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5pPr>
                  <a:lvl6pPr marL="22860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6pPr>
                  <a:lvl7pPr marL="27432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7pPr>
                  <a:lvl8pPr marL="32004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8pPr>
                  <a:lvl9pPr marL="36576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9pPr>
                </a:lstStyle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46FAB2B9-85E5-3BEC-DE17-DE7FCA088B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62" y="1665"/>
                  <a:ext cx="695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 xmlns:lc="http://schemas.openxmlformats.org/drawingml/2006/lockedCanvas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xmlns:lc="http://schemas.openxmlformats.org/drawingml/2006/lockedCanvas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en-US"/>
                  </a:defPPr>
                  <a:lvl1pPr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1pPr>
                  <a:lvl2pPr marL="4572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2pPr>
                  <a:lvl3pPr marL="9144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3pPr>
                  <a:lvl4pPr marL="13716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4pPr>
                  <a:lvl5pPr marL="1828800" algn="l" defTabSz="457200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5pPr>
                  <a:lvl6pPr marL="22860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6pPr>
                  <a:lvl7pPr marL="27432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7pPr>
                  <a:lvl8pPr marL="32004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8pPr>
                  <a:lvl9pPr marL="3657600" algn="l" defTabSz="457200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Arial" charset="0"/>
                    </a:defRPr>
                  </a:lvl9pPr>
                </a:lstStyle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Painting </a:t>
                  </a:r>
                </a:p>
                <a:p>
                  <a:pPr marL="0" marR="0" lvl="0" indent="0" algn="ctr" defTabSz="4572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(2)</a:t>
                  </a:r>
                </a:p>
              </p:txBody>
            </p:sp>
          </p:grpSp>
        </p:grp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F2624F0A-EEBF-F3C5-6E7C-53156CDCE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47638"/>
            <a:ext cx="10761662" cy="685800"/>
          </a:xfrm>
        </p:spPr>
        <p:txBody>
          <a:bodyPr/>
          <a:lstStyle/>
          <a:p>
            <a:r>
              <a:rPr lang="en-IN" dirty="0"/>
              <a:t>Block Diagramming </a:t>
            </a:r>
            <a:r>
              <a:rPr lang="en-US" dirty="0"/>
              <a:t>Example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32848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BCA17-9CC3-964C-739C-CA76FB7694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0B294-C5D5-0347-4938-30F01ECBA8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42C92-2CCB-C499-5CC1-7AC16C9364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94ACE9-5EB5-93DB-FE55-F139831FB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149" y="1200150"/>
            <a:ext cx="2679700" cy="1054100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="" xmlns:mc="http://schemas.openxmlformats.org/markup-compatibility/2006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  <a:ext uri="{91240B29-F687-4f45-9708-019B960494DF}">
              <a14:hiddenLine xmlns="" xmlns:mc="http://schemas.openxmlformats.org/markup-compatibility/2006" xmlns:a14="http://schemas.microsoft.com/office/drawing/2010/main" xmlns:lc="http://schemas.openxmlformats.org/drawingml/2006/lockedCanvas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628C571-7E05-5951-BC3A-21A6AB9CB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2" y="2517775"/>
            <a:ext cx="7579678" cy="3570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>
              <a:spcAft>
                <a:spcPts val="1200"/>
              </a:spcAft>
              <a:tabLst>
                <a:tab pos="952500" algn="l"/>
                <a:tab pos="1143000" algn="l"/>
                <a:tab pos="2006600" algn="ctr"/>
                <a:tab pos="2857500" algn="ctr"/>
                <a:tab pos="3721100" algn="ctr"/>
                <a:tab pos="4572000" algn="ctr"/>
                <a:tab pos="5435600" algn="ctr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	=	$50	+	$200	+	$40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(1 and 2)		(1 and 3)		(1 and 6)</a:t>
            </a:r>
          </a:p>
          <a:p>
            <a:pPr>
              <a:spcAft>
                <a:spcPts val="1200"/>
              </a:spcAft>
              <a:tabLst>
                <a:tab pos="952500" algn="l"/>
                <a:tab pos="1143000" algn="l"/>
                <a:tab pos="2006600" algn="ctr"/>
                <a:tab pos="2857500" algn="ctr"/>
                <a:tab pos="3721100" algn="ctr"/>
                <a:tab pos="4572000" algn="ctr"/>
                <a:tab pos="5435600" algn="ctr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+	$30	+	$50	+	$10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(2 and 3)		(2 and 4)		(2 and 5)</a:t>
            </a:r>
          </a:p>
          <a:p>
            <a:pPr>
              <a:spcAft>
                <a:spcPts val="1200"/>
              </a:spcAft>
              <a:tabLst>
                <a:tab pos="952500" algn="l"/>
                <a:tab pos="1143000" algn="l"/>
                <a:tab pos="2006600" algn="ctr"/>
                <a:tab pos="2857500" algn="ctr"/>
                <a:tab pos="3721100" algn="ctr"/>
                <a:tab pos="4572000" algn="ctr"/>
                <a:tab pos="5435600" algn="ctr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+	$40	+	$100	+	$50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(3 and 4)		(3 and 6)		(4 and 5)</a:t>
            </a:r>
          </a:p>
          <a:p>
            <a:pPr>
              <a:spcAft>
                <a:spcPts val="1200"/>
              </a:spcAft>
              <a:tabLst>
                <a:tab pos="952500" algn="l"/>
                <a:tab pos="1143000" algn="l"/>
                <a:tab pos="2006600" algn="ctr"/>
                <a:tab pos="2857500" algn="ctr"/>
                <a:tab pos="3721100" algn="ctr"/>
                <a:tab pos="4572000" algn="ctr"/>
                <a:tab pos="5435600" algn="ctr"/>
              </a:tabLs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= $570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1570489-EE02-92A0-7850-3D91B917A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47638"/>
            <a:ext cx="10761662" cy="685800"/>
          </a:xfrm>
        </p:spPr>
        <p:txBody>
          <a:bodyPr/>
          <a:lstStyle/>
          <a:p>
            <a:r>
              <a:rPr lang="en-IN" dirty="0"/>
              <a:t>Block Diagramming </a:t>
            </a:r>
            <a:r>
              <a:rPr lang="en-US" dirty="0"/>
              <a:t>Example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276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895A6-83E0-9D04-D7BB-268C8A22F6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31870-A9B5-0B53-74DE-0F98C3ADE3F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03893-F968-46C4-01D7-935739EABC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ED8FB1-FCEE-47A4-F5CC-292CF2EF4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293" y="1213644"/>
            <a:ext cx="63515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Revised Interdepartmental Flow Graph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6308F13-C7EE-BD41-C06D-9336B210C019}"/>
              </a:ext>
            </a:extLst>
          </p:cNvPr>
          <p:cNvGrpSpPr>
            <a:grpSpLocks/>
          </p:cNvGrpSpPr>
          <p:nvPr/>
        </p:nvGrpSpPr>
        <p:grpSpPr bwMode="auto">
          <a:xfrm>
            <a:off x="2134393" y="1705769"/>
            <a:ext cx="7923213" cy="3938589"/>
            <a:chOff x="390" y="1247"/>
            <a:chExt cx="4991" cy="2481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CCB6EC4-6EC2-BE0F-D0C1-46754AF3D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6" y="1247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30</a:t>
              </a:r>
            </a:p>
          </p:txBody>
        </p:sp>
        <p:sp>
          <p:nvSpPr>
            <p:cNvPr id="46" name="Line 45">
              <a:extLst>
                <a:ext uri="{FF2B5EF4-FFF2-40B4-BE49-F238E27FC236}">
                  <a16:creationId xmlns:a16="http://schemas.microsoft.com/office/drawing/2014/main" id="{756CD6C4-2EB3-1AF4-C997-94EDC2AB4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0" y="2168"/>
              <a:ext cx="2160" cy="1240"/>
            </a:xfrm>
            <a:prstGeom prst="line">
              <a:avLst/>
            </a:prstGeom>
            <a:noFill/>
            <a:ln w="76200">
              <a:solidFill>
                <a:srgbClr val="17509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7" name="Line 46">
              <a:extLst>
                <a:ext uri="{FF2B5EF4-FFF2-40B4-BE49-F238E27FC236}">
                  <a16:creationId xmlns:a16="http://schemas.microsoft.com/office/drawing/2014/main" id="{4B39C3ED-A89E-A7C1-B3BB-2FD16B5730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2232"/>
              <a:ext cx="0" cy="1168"/>
            </a:xfrm>
            <a:prstGeom prst="line">
              <a:avLst/>
            </a:prstGeom>
            <a:noFill/>
            <a:ln w="76200">
              <a:solidFill>
                <a:srgbClr val="17509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8" name="Line 47">
              <a:extLst>
                <a:ext uri="{FF2B5EF4-FFF2-40B4-BE49-F238E27FC236}">
                  <a16:creationId xmlns:a16="http://schemas.microsoft.com/office/drawing/2014/main" id="{FD26B4D8-2A25-899D-2021-8EBB30F9D5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8" y="2208"/>
              <a:ext cx="0" cy="1168"/>
            </a:xfrm>
            <a:prstGeom prst="line">
              <a:avLst/>
            </a:prstGeom>
            <a:noFill/>
            <a:ln w="76200">
              <a:solidFill>
                <a:srgbClr val="17509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9" name="Line 48">
              <a:extLst>
                <a:ext uri="{FF2B5EF4-FFF2-40B4-BE49-F238E27FC236}">
                  <a16:creationId xmlns:a16="http://schemas.microsoft.com/office/drawing/2014/main" id="{18A27B22-8753-C4B0-5BEF-93B362610B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2" y="2192"/>
              <a:ext cx="4304" cy="1208"/>
            </a:xfrm>
            <a:prstGeom prst="line">
              <a:avLst/>
            </a:prstGeom>
            <a:noFill/>
            <a:ln w="76200">
              <a:solidFill>
                <a:srgbClr val="17509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0" name="Line 49">
              <a:extLst>
                <a:ext uri="{FF2B5EF4-FFF2-40B4-BE49-F238E27FC236}">
                  <a16:creationId xmlns:a16="http://schemas.microsoft.com/office/drawing/2014/main" id="{00E598E5-788C-FB78-A841-CA51C86E4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4" y="2176"/>
              <a:ext cx="4304" cy="0"/>
            </a:xfrm>
            <a:prstGeom prst="line">
              <a:avLst/>
            </a:prstGeom>
            <a:noFill/>
            <a:ln w="76200">
              <a:solidFill>
                <a:srgbClr val="17509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" name="Line 50">
              <a:extLst>
                <a:ext uri="{FF2B5EF4-FFF2-40B4-BE49-F238E27FC236}">
                  <a16:creationId xmlns:a16="http://schemas.microsoft.com/office/drawing/2014/main" id="{E799C51B-E881-6DE5-2217-F2614E62AB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3416"/>
              <a:ext cx="2152" cy="0"/>
            </a:xfrm>
            <a:prstGeom prst="line">
              <a:avLst/>
            </a:prstGeom>
            <a:noFill/>
            <a:ln w="76200">
              <a:solidFill>
                <a:srgbClr val="17509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2" name="Line 51">
              <a:extLst>
                <a:ext uri="{FF2B5EF4-FFF2-40B4-BE49-F238E27FC236}">
                  <a16:creationId xmlns:a16="http://schemas.microsoft.com/office/drawing/2014/main" id="{593B6604-69E5-20D1-F2C5-4A7DBFDFAC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2" y="2192"/>
              <a:ext cx="2112" cy="1216"/>
            </a:xfrm>
            <a:prstGeom prst="line">
              <a:avLst/>
            </a:prstGeom>
            <a:noFill/>
            <a:ln w="76200">
              <a:solidFill>
                <a:srgbClr val="17509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noFill/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4CAB564E-7848-9852-1D50-50F84698E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" y="1493"/>
              <a:ext cx="4288" cy="691"/>
            </a:xfrm>
            <a:custGeom>
              <a:avLst/>
              <a:gdLst>
                <a:gd name="T0" fmla="*/ 0 w 4288"/>
                <a:gd name="T1" fmla="*/ 691 h 691"/>
                <a:gd name="T2" fmla="*/ 1152 w 4288"/>
                <a:gd name="T3" fmla="*/ 155 h 691"/>
                <a:gd name="T4" fmla="*/ 2176 w 4288"/>
                <a:gd name="T5" fmla="*/ 3 h 691"/>
                <a:gd name="T6" fmla="*/ 3104 w 4288"/>
                <a:gd name="T7" fmla="*/ 171 h 691"/>
                <a:gd name="T8" fmla="*/ 4288 w 4288"/>
                <a:gd name="T9" fmla="*/ 683 h 6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88"/>
                <a:gd name="T16" fmla="*/ 0 h 691"/>
                <a:gd name="T17" fmla="*/ 4288 w 4288"/>
                <a:gd name="T18" fmla="*/ 691 h 69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88" h="691">
                  <a:moveTo>
                    <a:pt x="0" y="691"/>
                  </a:moveTo>
                  <a:cubicBezTo>
                    <a:pt x="192" y="602"/>
                    <a:pt x="789" y="270"/>
                    <a:pt x="1152" y="155"/>
                  </a:cubicBezTo>
                  <a:cubicBezTo>
                    <a:pt x="1515" y="40"/>
                    <a:pt x="1851" y="0"/>
                    <a:pt x="2176" y="3"/>
                  </a:cubicBezTo>
                  <a:cubicBezTo>
                    <a:pt x="2501" y="6"/>
                    <a:pt x="2752" y="58"/>
                    <a:pt x="3104" y="171"/>
                  </a:cubicBezTo>
                  <a:cubicBezTo>
                    <a:pt x="3456" y="284"/>
                    <a:pt x="4041" y="576"/>
                    <a:pt x="4288" y="683"/>
                  </a:cubicBezTo>
                </a:path>
              </a:pathLst>
            </a:custGeom>
            <a:noFill/>
            <a:ln w="76200" cmpd="sng">
              <a:solidFill>
                <a:srgbClr val="175097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6CFA69C-8BD6-DDDA-DD9A-C53546F4D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927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50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2451E5B-7CF0-9637-BA96-94210AC5609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75426">
              <a:off x="3958" y="2631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20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ADD8A405-0495-52D6-BFED-3701D657C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4" y="3407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50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8F2C0CE-5208-F00B-ECE0-E3B4EC4DE7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7899">
              <a:off x="1590" y="2495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10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D16259-A7D4-3A24-3EDC-52A18AAF9E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911530">
              <a:off x="2694" y="2547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20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B04AD8B-D59F-6E44-5F0A-A32BBCD01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" y="2671"/>
              <a:ext cx="29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50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26001EA-47BA-7EA3-B30C-193D02E0D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8" y="2647"/>
              <a:ext cx="38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100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9DA71C9-C9E8-17A0-8A02-224A78DE3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4" y="1927"/>
              <a:ext cx="38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100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DCB73F87-F3A3-4832-1669-EF8253105A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4" y="1852"/>
              <a:ext cx="701" cy="632"/>
              <a:chOff x="4310" y="1344"/>
              <a:chExt cx="701" cy="632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ACCED67D-5AA8-B18F-ECA6-C110D218D1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44" y="1344"/>
                <a:ext cx="632" cy="632"/>
              </a:xfrm>
              <a:prstGeom prst="ellipse">
                <a:avLst/>
              </a:prstGeom>
              <a:solidFill>
                <a:srgbClr val="EA8074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86A88955-A059-350A-09EE-A7E2742AE9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1497"/>
                <a:ext cx="70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Machine Shop (3)</a:t>
                </a: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484DA5D-F42A-CCA2-92F5-09BE8DDE43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1" y="3096"/>
              <a:ext cx="666" cy="632"/>
              <a:chOff x="4670" y="3208"/>
              <a:chExt cx="666" cy="632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F1638F7-379A-00E6-A298-4887C0CA3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7" y="3208"/>
                <a:ext cx="632" cy="632"/>
              </a:xfrm>
              <a:prstGeom prst="ellipse">
                <a:avLst/>
              </a:prstGeom>
              <a:solidFill>
                <a:srgbClr val="24BDB2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C4A57B74-61FF-1F69-229A-3D71E0E08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0" y="3361"/>
                <a:ext cx="66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Testing </a:t>
                </a:r>
              </a:p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(6)</a:t>
                </a: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01B94864-1F14-5212-D322-E41C71BB36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8" y="3096"/>
              <a:ext cx="677" cy="632"/>
              <a:chOff x="2493" y="3152"/>
              <a:chExt cx="677" cy="632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67BBAF85-7E45-16FD-A318-A6CD175CC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5" y="3152"/>
                <a:ext cx="632" cy="632"/>
              </a:xfrm>
              <a:prstGeom prst="ellipse">
                <a:avLst/>
              </a:prstGeom>
              <a:solidFill>
                <a:srgbClr val="BDD6AE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CFA8DE3E-1D92-223D-6D16-3EA81E3AC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3" y="3305"/>
                <a:ext cx="677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Shipping </a:t>
                </a:r>
              </a:p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(5)</a:t>
                </a: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9689326-A87C-660C-7AB6-86B9537921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0" y="3096"/>
              <a:ext cx="710" cy="632"/>
              <a:chOff x="390" y="3144"/>
              <a:chExt cx="710" cy="632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3F317E07-BB0E-1316-34BB-FE904BEBE2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" y="3144"/>
                <a:ext cx="632" cy="632"/>
              </a:xfrm>
              <a:prstGeom prst="ellipse">
                <a:avLst/>
              </a:prstGeom>
              <a:solidFill>
                <a:srgbClr val="9FACC7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E0BC5220-C339-FDE1-0351-87EE9ADB2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" y="3297"/>
                <a:ext cx="710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Receiving </a:t>
                </a:r>
              </a:p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(4)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38387306-632D-699A-CD1E-B0AA5EF739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" y="1852"/>
              <a:ext cx="632" cy="632"/>
              <a:chOff x="427" y="1928"/>
              <a:chExt cx="632" cy="632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60284DA0-76D4-3DB4-BE8C-10844E2FF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" y="1928"/>
                <a:ext cx="632" cy="632"/>
              </a:xfrm>
              <a:prstGeom prst="ellipse">
                <a:avLst/>
              </a:prstGeom>
              <a:solidFill>
                <a:srgbClr val="F7D7AC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BEFA5133-DA97-0333-192C-85C2C3E26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" y="2081"/>
                <a:ext cx="52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Painting</a:t>
                </a:r>
              </a:p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(2)</a:t>
                </a: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868101B-2988-70FA-D231-14F1E0CF38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0" y="1852"/>
              <a:ext cx="695" cy="632"/>
              <a:chOff x="2262" y="1512"/>
              <a:chExt cx="695" cy="632"/>
            </a:xfrm>
          </p:grpSpPr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5EC08087-D35E-7D7D-6C35-B7AB07EF8F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3" y="1512"/>
                <a:ext cx="632" cy="632"/>
              </a:xfrm>
              <a:prstGeom prst="ellipse">
                <a:avLst/>
              </a:prstGeom>
              <a:solidFill>
                <a:srgbClr val="9FACC7">
                  <a:lumMod val="75000"/>
                </a:srgbClr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CADF4D7-B1BF-348C-4114-1CF78600E8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2" y="1665"/>
                <a:ext cx="69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Assembly </a:t>
                </a:r>
              </a:p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(1)</a:t>
                </a:r>
              </a:p>
            </p:txBody>
          </p:sp>
        </p:grpSp>
      </p:grpSp>
      <p:sp>
        <p:nvSpPr>
          <p:cNvPr id="82" name="Title 1">
            <a:extLst>
              <a:ext uri="{FF2B5EF4-FFF2-40B4-BE49-F238E27FC236}">
                <a16:creationId xmlns:a16="http://schemas.microsoft.com/office/drawing/2014/main" id="{CE6E9A4E-C24F-CA39-445C-7DD498BD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47638"/>
            <a:ext cx="10761662" cy="685800"/>
          </a:xfrm>
        </p:spPr>
        <p:txBody>
          <a:bodyPr/>
          <a:lstStyle/>
          <a:p>
            <a:r>
              <a:rPr lang="en-IN" dirty="0"/>
              <a:t>Block Diagramming </a:t>
            </a:r>
            <a:r>
              <a:rPr lang="en-US" dirty="0"/>
              <a:t>Example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2386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E672E-546D-C35A-FCAD-BC7F509B3E5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90CE9-B600-95DF-0944-E44621A2351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D5036-D949-13AC-9FCC-AF8F0FEE8F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C2304E-24D7-1CFD-1798-E06307FC54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6149" y="1200150"/>
            <a:ext cx="26797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mc="http://schemas.openxmlformats.org/markup-compatibility/2006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  <a:ext uri="{91240B29-F687-4f45-9708-019B960494DF}">
              <a14:hiddenLine xmlns="" xmlns:mc="http://schemas.openxmlformats.org/markup-compatibility/2006" xmlns:a14="http://schemas.microsoft.com/office/drawing/2010/main" xmlns:lc="http://schemas.openxmlformats.org/drawingml/2006/lockedCanvas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A50EAB6-508A-FB0C-0174-A4B1EA9E2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2" y="2517775"/>
            <a:ext cx="6480175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>
              <a:spcAft>
                <a:spcPts val="1200"/>
              </a:spcAft>
              <a:tabLst>
                <a:tab pos="952500" algn="l"/>
                <a:tab pos="1143000" algn="l"/>
                <a:tab pos="2006600" algn="ctr"/>
                <a:tab pos="2857500" algn="ctr"/>
                <a:tab pos="3721100" algn="ctr"/>
                <a:tab pos="4572000" algn="ctr"/>
                <a:tab pos="5435600" algn="ctr"/>
              </a:tabLst>
            </a:pPr>
            <a:r>
              <a:rPr lang="en-US" sz="2400" dirty="0"/>
              <a:t>Cost 	=		$50	+	$100	+	$20</a:t>
            </a:r>
            <a:br>
              <a:rPr lang="en-US" sz="2400" dirty="0"/>
            </a:br>
            <a:r>
              <a:rPr lang="en-US" sz="2400" dirty="0"/>
              <a:t>			(1 and 2)		(1 and 3)		(1 and 6)</a:t>
            </a:r>
          </a:p>
          <a:p>
            <a:pPr>
              <a:spcAft>
                <a:spcPts val="1200"/>
              </a:spcAft>
              <a:tabLst>
                <a:tab pos="952500" algn="l"/>
                <a:tab pos="1143000" algn="l"/>
                <a:tab pos="2006600" algn="ctr"/>
                <a:tab pos="2857500" algn="ctr"/>
                <a:tab pos="3721100" algn="ctr"/>
                <a:tab pos="4572000" algn="ctr"/>
                <a:tab pos="5435600" algn="ctr"/>
              </a:tabLst>
            </a:pPr>
            <a:r>
              <a:rPr lang="en-US" sz="2400" dirty="0"/>
              <a:t>		+	$60	+	$50	+	$10</a:t>
            </a:r>
            <a:br>
              <a:rPr lang="en-US" sz="2400" dirty="0"/>
            </a:br>
            <a:r>
              <a:rPr lang="en-US" sz="2400" dirty="0"/>
              <a:t>			(2 and 3)		(2 and 4)		(2 and 5)</a:t>
            </a:r>
          </a:p>
          <a:p>
            <a:pPr>
              <a:spcAft>
                <a:spcPts val="1200"/>
              </a:spcAft>
              <a:tabLst>
                <a:tab pos="952500" algn="l"/>
                <a:tab pos="1143000" algn="l"/>
                <a:tab pos="2006600" algn="ctr"/>
                <a:tab pos="2857500" algn="ctr"/>
                <a:tab pos="3721100" algn="ctr"/>
                <a:tab pos="4572000" algn="ctr"/>
                <a:tab pos="5435600" algn="ctr"/>
              </a:tabLst>
            </a:pPr>
            <a:r>
              <a:rPr lang="en-US" sz="2400" dirty="0"/>
              <a:t>		+	$40	+	$100	+	$50</a:t>
            </a:r>
            <a:br>
              <a:rPr lang="en-US" sz="2400" dirty="0"/>
            </a:br>
            <a:r>
              <a:rPr lang="en-US" sz="2400" dirty="0"/>
              <a:t>			(3 and 4)		(3 and 6)		(4 and 5)</a:t>
            </a:r>
          </a:p>
          <a:p>
            <a:pPr>
              <a:spcAft>
                <a:spcPts val="1200"/>
              </a:spcAft>
              <a:tabLst>
                <a:tab pos="952500" algn="l"/>
                <a:tab pos="1143000" algn="l"/>
                <a:tab pos="2006600" algn="ctr"/>
                <a:tab pos="2857500" algn="ctr"/>
                <a:tab pos="3721100" algn="ctr"/>
                <a:tab pos="4572000" algn="ctr"/>
                <a:tab pos="5435600" algn="ctr"/>
              </a:tabLst>
            </a:pPr>
            <a:r>
              <a:rPr lang="en-US" sz="2400" dirty="0"/>
              <a:t>	= $480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E5B0649-FF42-43E5-B46F-67B066E8A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47638"/>
            <a:ext cx="10761662" cy="685800"/>
          </a:xfrm>
        </p:spPr>
        <p:txBody>
          <a:bodyPr/>
          <a:lstStyle/>
          <a:p>
            <a:r>
              <a:rPr lang="en-IN" dirty="0"/>
              <a:t>Block Diagramming </a:t>
            </a:r>
            <a:r>
              <a:rPr lang="en-US" dirty="0"/>
              <a:t>Example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77604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25905-CF54-4D31-913C-B864DB600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A75C1-D774-A4D0-5935-0D5449FD67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FF324-FE52-9C9A-8D5B-56E6DFB500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35</a:t>
            </a:fld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98E741B-3BDB-3045-E4E2-E89792D16CA6}"/>
              </a:ext>
            </a:extLst>
          </p:cNvPr>
          <p:cNvGrpSpPr>
            <a:grpSpLocks/>
          </p:cNvGrpSpPr>
          <p:nvPr/>
        </p:nvGrpSpPr>
        <p:grpSpPr bwMode="auto">
          <a:xfrm>
            <a:off x="2874962" y="1117535"/>
            <a:ext cx="6451600" cy="5048251"/>
            <a:chOff x="1024" y="972"/>
            <a:chExt cx="4064" cy="318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BD8EA95-33DB-8025-E0B3-15809FDE0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0" y="972"/>
              <a:ext cx="3360" cy="29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 xmlns:lc="http://schemas.openxmlformats.org/drawingml/2006/lockedCanvas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xmlns:lc="http://schemas.openxmlformats.org/drawingml/2006/lockedCanvas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4572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2pPr>
              <a:lvl3pPr marL="9144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3pPr>
              <a:lvl4pPr marL="13716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4pPr>
              <a:lvl5pPr marL="1828800" algn="l" defTabSz="457200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5pPr>
              <a:lvl6pPr marL="22860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6pPr>
              <a:lvl7pPr marL="27432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7pPr>
              <a:lvl8pPr marL="32004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8pPr>
              <a:lvl9pPr marL="3657600" algn="l" defTabSz="457200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250000"/>
                </a:spcAft>
                <a:buClrTx/>
                <a:buSzTx/>
                <a:buFontTx/>
                <a:buNone/>
                <a:tabLst>
                  <a:tab pos="863600" algn="ctr"/>
                  <a:tab pos="2768600" algn="ctr"/>
                  <a:tab pos="4762500" algn="ctr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	Area A	Area B	Area C</a:t>
              </a:r>
            </a:p>
            <a:p>
              <a:pPr marL="0" marR="0" lvl="0" indent="0" algn="l" defTabSz="4572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863600" algn="ctr"/>
                  <a:tab pos="2768600" algn="ctr"/>
                  <a:tab pos="4762500" algn="ctr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	</a:t>
              </a:r>
            </a:p>
            <a:p>
              <a:pPr marL="0" marR="0" lvl="0" indent="0" algn="l" defTabSz="4572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863600" algn="ctr"/>
                  <a:tab pos="2768600" algn="ctr"/>
                  <a:tab pos="4762500" algn="ctr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	</a:t>
              </a:r>
            </a:p>
            <a:p>
              <a:pPr marL="0" marR="0" lvl="0" indent="0" algn="l" defTabSz="4572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450000"/>
                </a:spcAft>
                <a:buClrTx/>
                <a:buSzTx/>
                <a:buFontTx/>
                <a:buNone/>
                <a:tabLst>
                  <a:tab pos="863600" algn="ctr"/>
                  <a:tab pos="2768600" algn="ctr"/>
                  <a:tab pos="4762500" algn="ctr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	</a:t>
              </a:r>
            </a:p>
            <a:p>
              <a:pPr marL="0" marR="0" lvl="0" indent="0" algn="l" defTabSz="4572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863600" algn="ctr"/>
                  <a:tab pos="2768600" algn="ctr"/>
                  <a:tab pos="4762500" algn="ctr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	</a:t>
              </a:r>
            </a:p>
            <a:p>
              <a:pPr marL="0" marR="0" lvl="0" indent="0" algn="l" defTabSz="4572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863600" algn="ctr"/>
                  <a:tab pos="2768600" algn="ctr"/>
                  <a:tab pos="4762500" algn="ctr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	</a:t>
              </a:r>
            </a:p>
            <a:p>
              <a:pPr marL="0" marR="0" lvl="0" indent="0" algn="l" defTabSz="4572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295000"/>
                </a:spcAft>
                <a:buClrTx/>
                <a:buSzTx/>
                <a:buFontTx/>
                <a:buNone/>
                <a:tabLst>
                  <a:tab pos="863600" algn="ctr"/>
                  <a:tab pos="2768600" algn="ctr"/>
                  <a:tab pos="4762500" algn="ctr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	</a:t>
              </a:r>
            </a:p>
            <a:p>
              <a:pPr marL="0" marR="0" lvl="0" indent="0" algn="l" defTabSz="4572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863600" algn="ctr"/>
                  <a:tab pos="2768600" algn="ctr"/>
                  <a:tab pos="4762500" algn="ctr"/>
                </a:tabLst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	Area D	Area E	Area F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916E956-191C-B73E-9232-EABA042509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4" y="1208"/>
              <a:ext cx="3696" cy="2464"/>
              <a:chOff x="1024" y="1208"/>
              <a:chExt cx="3696" cy="2464"/>
            </a:xfrm>
          </p:grpSpPr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23209E9-66E9-A475-BD04-1D57221F5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" y="1208"/>
                <a:ext cx="1232" cy="1232"/>
              </a:xfrm>
              <a:prstGeom prst="rect">
                <a:avLst/>
              </a:prstGeom>
              <a:solidFill>
                <a:srgbClr val="9FACC7">
                  <a:lumMod val="75000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A7A2B55-C0C5-D91C-1929-13D7003E0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2" y="1208"/>
                <a:ext cx="1232" cy="1232"/>
              </a:xfrm>
              <a:prstGeom prst="rect">
                <a:avLst/>
              </a:prstGeom>
              <a:solidFill>
                <a:srgbClr val="F7D7AC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8D54083-8C85-780E-3E48-7BFAEB57AA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8" y="1208"/>
                <a:ext cx="1232" cy="1232"/>
              </a:xfrm>
              <a:prstGeom prst="rect">
                <a:avLst/>
              </a:prstGeom>
              <a:solidFill>
                <a:srgbClr val="D33320">
                  <a:lumMod val="60000"/>
                  <a:lumOff val="40000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64FC1CA-0C18-13D1-EEC3-3DBB38C28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2" y="2440"/>
                <a:ext cx="1232" cy="1232"/>
              </a:xfrm>
              <a:prstGeom prst="rect">
                <a:avLst/>
              </a:prstGeom>
              <a:solidFill>
                <a:srgbClr val="BDD6AE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863525E-599E-7E7B-0EA4-5F8FA71E8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" y="2440"/>
                <a:ext cx="1232" cy="1232"/>
              </a:xfrm>
              <a:prstGeom prst="rect">
                <a:avLst/>
              </a:prstGeom>
              <a:solidFill>
                <a:srgbClr val="9FACC7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FC37676-A105-3E13-ABC5-708D824E5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8" y="2440"/>
                <a:ext cx="1232" cy="1232"/>
              </a:xfrm>
              <a:prstGeom prst="rect">
                <a:avLst/>
              </a:prstGeom>
              <a:solidFill>
                <a:srgbClr val="24BDB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963C8A2-B60E-3114-0E4E-10B2358583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8" y="3919"/>
              <a:ext cx="3664" cy="233"/>
              <a:chOff x="1048" y="3919"/>
              <a:chExt cx="3664" cy="233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86EB946F-10B9-6DED-2D5E-2BE5B12D6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22" y="3919"/>
                <a:ext cx="30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60</a:t>
                </a: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'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7" name="Line 13">
                <a:extLst>
                  <a:ext uri="{FF2B5EF4-FFF2-40B4-BE49-F238E27FC236}">
                    <a16:creationId xmlns:a16="http://schemas.microsoft.com/office/drawing/2014/main" id="{8EDDA81C-E2AB-0708-5909-F45531F039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48" y="4035"/>
                <a:ext cx="166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8" name="Line 14">
                <a:extLst>
                  <a:ext uri="{FF2B5EF4-FFF2-40B4-BE49-F238E27FC236}">
                    <a16:creationId xmlns:a16="http://schemas.microsoft.com/office/drawing/2014/main" id="{E2B9793D-F5D5-370B-A627-0E88F2AC28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48" y="4034"/>
                <a:ext cx="166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92566D0-4C8E-0407-60EE-2460966CA5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2" y="1216"/>
              <a:ext cx="306" cy="2456"/>
              <a:chOff x="4782" y="1216"/>
              <a:chExt cx="306" cy="2456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A915452-03A6-CAAF-BB4E-A9F52ADF1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2" y="2335"/>
                <a:ext cx="306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xmlns:lc="http://schemas.openxmlformats.org/drawingml/2006/lockedCanvas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40</a:t>
                </a:r>
                <a:r>
                  <a: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'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4" name="Line 17">
                <a:extLst>
                  <a:ext uri="{FF2B5EF4-FFF2-40B4-BE49-F238E27FC236}">
                    <a16:creationId xmlns:a16="http://schemas.microsoft.com/office/drawing/2014/main" id="{E2CE84B9-1BAA-36A2-6C0E-1A4A7D9CC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0" y="1216"/>
                <a:ext cx="0" cy="112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triangle" w="sm" len="sm"/>
                <a:tailEnd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5" name="Line 18">
                <a:extLst>
                  <a:ext uri="{FF2B5EF4-FFF2-40B4-BE49-F238E27FC236}">
                    <a16:creationId xmlns:a16="http://schemas.microsoft.com/office/drawing/2014/main" id="{8F158994-3BBE-60B5-0E2A-90AA6BDF8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40" y="2544"/>
                <a:ext cx="0" cy="112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triangle" w="sm" len="sm"/>
                <a:tailEnd/>
              </a:ln>
              <a:extLst>
                <a:ext uri="{909E8E84-426E-40dd-AFC4-6F175D3DCCD1}">
                  <a14:hiddenFill xmlns="" xmlns:a14="http://schemas.microsoft.com/office/drawing/2010/main" xmlns:lc="http://schemas.openxmlformats.org/drawingml/2006/lockedCanvas">
                    <a:noFill/>
                  </a14:hiddenFill>
                </a:ext>
              </a:extLst>
            </p:spPr>
            <p:txBody>
              <a:bodyPr wrap="none" anchor="ctr"/>
              <a:lstStyle>
                <a:defPPr>
                  <a:defRPr lang="en-US"/>
                </a:defPPr>
                <a:lvl1pPr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4572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2pPr>
                <a:lvl3pPr marL="9144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3pPr>
                <a:lvl4pPr marL="13716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4pPr>
                <a:lvl5pPr marL="1828800" algn="l" defTabSz="457200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5pPr>
                <a:lvl6pPr marL="22860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6pPr>
                <a:lvl7pPr marL="27432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7pPr>
                <a:lvl8pPr marL="32004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8pPr>
                <a:lvl9pPr marL="3657600" algn="l" defTabSz="457200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3535535-3A52-571A-1909-3CA24E570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437" y="3784535"/>
            <a:ext cx="5595938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ctr"/>
                <a:tab pos="2768600" algn="ctr"/>
                <a:tab pos="4762500" algn="ctr"/>
              </a:tabLst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  <a:cs typeface="Arial" charset="0"/>
            </a:endParaRPr>
          </a:p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ctr"/>
                <a:tab pos="2768600" algn="ctr"/>
                <a:tab pos="47625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Receiving	Shipping	Testing</a:t>
            </a:r>
          </a:p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ctr"/>
                <a:tab pos="2768600" algn="ctr"/>
                <a:tab pos="47625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Department	Department	Department</a:t>
            </a:r>
          </a:p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ctr"/>
                <a:tab pos="2768600" algn="ctr"/>
                <a:tab pos="47625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(4)	(5)	(6)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B56461-122C-D4F6-3B99-5596B30E1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4487" y="2070035"/>
            <a:ext cx="5730875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 xmlns:lc="http://schemas.openxmlformats.org/drawingml/2006/lockedCanvas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xmlns:lc="http://schemas.openxmlformats.org/drawingml/2006/lockedCanvas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ctr"/>
                <a:tab pos="2768600" algn="ctr"/>
                <a:tab pos="47625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 Painting 	 Assembly 	Machine Shop</a:t>
            </a:r>
          </a:p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ctr"/>
                <a:tab pos="2768600" algn="ctr"/>
                <a:tab pos="47625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Department	Department	Department</a:t>
            </a:r>
          </a:p>
          <a:p>
            <a:pPr marL="0" marR="0" lvl="0" indent="0" algn="l" defTabSz="4572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63600" algn="ctr"/>
                <a:tab pos="2768600" algn="ctr"/>
                <a:tab pos="4762500" algn="ctr"/>
              </a:tabLst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	(2)	(1)	(3)</a:t>
            </a:r>
          </a:p>
        </p:txBody>
      </p:sp>
      <p:sp>
        <p:nvSpPr>
          <p:cNvPr id="47" name="Title 1">
            <a:extLst>
              <a:ext uri="{FF2B5EF4-FFF2-40B4-BE49-F238E27FC236}">
                <a16:creationId xmlns:a16="http://schemas.microsoft.com/office/drawing/2014/main" id="{5BEEC511-29F9-4B87-3EAA-0F6BC253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47638"/>
            <a:ext cx="10761662" cy="685800"/>
          </a:xfrm>
        </p:spPr>
        <p:txBody>
          <a:bodyPr/>
          <a:lstStyle/>
          <a:p>
            <a:r>
              <a:rPr lang="en-IN" dirty="0"/>
              <a:t>Block Diagramming </a:t>
            </a:r>
            <a:r>
              <a:rPr lang="en-US" dirty="0"/>
              <a:t>Example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42393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AAF7C-5975-43AD-8438-4123D3B65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Layout Example 2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72C70-1442-050B-1E4C-84B3FD879D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C2CC8-BCA3-C9BE-FB55-D515A417B0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BF222-BE59-02DB-2403-86E9F1FEEC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36</a:t>
            </a:fld>
            <a:endParaRPr lang="en-US" dirty="0"/>
          </a:p>
        </p:txBody>
      </p:sp>
      <p:graphicFrame>
        <p:nvGraphicFramePr>
          <p:cNvPr id="9" name="Content Placeholder 12">
            <a:extLst>
              <a:ext uri="{FF2B5EF4-FFF2-40B4-BE49-F238E27FC236}">
                <a16:creationId xmlns:a16="http://schemas.microsoft.com/office/drawing/2014/main" id="{F09B1A69-6DE3-5712-9E54-35261E77C23C}"/>
              </a:ext>
            </a:extLst>
          </p:cNvPr>
          <p:cNvGraphicFramePr>
            <a:graphicFrameLocks/>
          </p:cNvGraphicFramePr>
          <p:nvPr/>
        </p:nvGraphicFramePr>
        <p:xfrm>
          <a:off x="7134447" y="1018315"/>
          <a:ext cx="4905162" cy="2377440"/>
        </p:xfrm>
        <a:graphic>
          <a:graphicData uri="http://schemas.openxmlformats.org/drawingml/2006/table">
            <a:tbl>
              <a:tblPr firstRow="1" bandRow="1"/>
              <a:tblGrid>
                <a:gridCol w="545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0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00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00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00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Distance between locations in meters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To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rowSpan="3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From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20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20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30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40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30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" name="Content Placeholder 12">
            <a:extLst>
              <a:ext uri="{FF2B5EF4-FFF2-40B4-BE49-F238E27FC236}">
                <a16:creationId xmlns:a16="http://schemas.microsoft.com/office/drawing/2014/main" id="{1EB42631-8725-2AE8-7A0F-EFC1E5A5DC43}"/>
              </a:ext>
            </a:extLst>
          </p:cNvPr>
          <p:cNvGraphicFramePr>
            <a:graphicFrameLocks/>
          </p:cNvGraphicFramePr>
          <p:nvPr/>
        </p:nvGraphicFramePr>
        <p:xfrm>
          <a:off x="6889898" y="3460895"/>
          <a:ext cx="5149714" cy="2682240"/>
        </p:xfrm>
        <a:graphic>
          <a:graphicData uri="http://schemas.openxmlformats.org/drawingml/2006/table">
            <a:tbl>
              <a:tblPr firstRow="1" bandRow="1"/>
              <a:tblGrid>
                <a:gridCol w="572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4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4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4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43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Interdepartmental work flows</a:t>
                      </a:r>
                      <a:r>
                        <a:rPr lang="en-US" sz="2000" baseline="0" dirty="0">
                          <a:solidFill>
                            <a:sysClr val="windowText" lastClr="000000"/>
                          </a:solidFill>
                        </a:rPr>
                        <a:t> (loads per day)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To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rowSpan="3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From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20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80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10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30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90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70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EF43D60-A099-D30E-2500-8443E6010804}"/>
              </a:ext>
            </a:extLst>
          </p:cNvPr>
          <p:cNvSpPr txBox="1"/>
          <p:nvPr/>
        </p:nvSpPr>
        <p:spPr>
          <a:xfrm>
            <a:off x="152391" y="1252928"/>
            <a:ext cx="609245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interdepartmental work flows and distance between location are given in the from of “To-From” matrixes. Please minimize the total transportation cost, if incurred cost is $2 per unit load meter.    </a:t>
            </a:r>
          </a:p>
        </p:txBody>
      </p:sp>
    </p:spTree>
    <p:extLst>
      <p:ext uri="{BB962C8B-B14F-4D97-AF65-F5344CB8AC3E}">
        <p14:creationId xmlns:p14="http://schemas.microsoft.com/office/powerpoint/2010/main" val="21094912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88C3B-C78B-91C5-CFAC-E133DF69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Layout Example 2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15D84-7250-D58C-2AB0-1824C75A93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3A091-4DF1-A553-8135-B74BF3E2EB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4EA00-6A7B-F4D0-31E7-857D46D955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37</a:t>
            </a:fld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53EB43-B820-1B8D-696C-8C27F1A45647}"/>
              </a:ext>
            </a:extLst>
          </p:cNvPr>
          <p:cNvGrpSpPr/>
          <p:nvPr/>
        </p:nvGrpSpPr>
        <p:grpSpPr>
          <a:xfrm>
            <a:off x="2736378" y="1113771"/>
            <a:ext cx="6290667" cy="1905000"/>
            <a:chOff x="1828800" y="2971800"/>
            <a:chExt cx="5181600" cy="13716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33B0515-44E6-6889-FBD6-A87A8A32C4C3}"/>
                </a:ext>
              </a:extLst>
            </p:cNvPr>
            <p:cNvSpPr/>
            <p:nvPr/>
          </p:nvSpPr>
          <p:spPr>
            <a:xfrm>
              <a:off x="1828800" y="2971800"/>
              <a:ext cx="1600200" cy="1371600"/>
            </a:xfrm>
            <a:prstGeom prst="rect">
              <a:avLst/>
            </a:prstGeom>
            <a:solidFill>
              <a:srgbClr val="EEECE1">
                <a:lumMod val="75000"/>
              </a:srgbClr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b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tantia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169A712-DB5B-4460-B2DA-41C6DC1C1633}"/>
                </a:ext>
              </a:extLst>
            </p:cNvPr>
            <p:cNvSpPr/>
            <p:nvPr/>
          </p:nvSpPr>
          <p:spPr>
            <a:xfrm>
              <a:off x="3639552" y="2971800"/>
              <a:ext cx="1600200" cy="1371600"/>
            </a:xfrm>
            <a:prstGeom prst="rect">
              <a:avLst/>
            </a:prstGeom>
            <a:solidFill>
              <a:srgbClr val="EEECE1">
                <a:lumMod val="75000"/>
              </a:srgbClr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b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tantia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26F0A4D-B74E-F9F1-06E7-CB4E0B26B451}"/>
                </a:ext>
              </a:extLst>
            </p:cNvPr>
            <p:cNvSpPr/>
            <p:nvPr/>
          </p:nvSpPr>
          <p:spPr>
            <a:xfrm>
              <a:off x="5410200" y="2971800"/>
              <a:ext cx="1600200" cy="1371600"/>
            </a:xfrm>
            <a:prstGeom prst="rect">
              <a:avLst/>
            </a:prstGeom>
            <a:solidFill>
              <a:srgbClr val="EEECE1">
                <a:lumMod val="75000"/>
              </a:srgbClr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b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tantia"/>
                  <a:ea typeface="+mn-ea"/>
                  <a:cs typeface="+mn-cs"/>
                </a:rPr>
                <a:t>C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1687BA3-C462-3908-03CB-04B3803D9573}"/>
                </a:ext>
              </a:extLst>
            </p:cNvPr>
            <p:cNvGrpSpPr/>
            <p:nvPr/>
          </p:nvGrpSpPr>
          <p:grpSpPr>
            <a:xfrm>
              <a:off x="2362200" y="3288774"/>
              <a:ext cx="4191000" cy="673626"/>
              <a:chOff x="2362200" y="3060174"/>
              <a:chExt cx="4191000" cy="673626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EA6AA21-9C08-4014-AACD-F4A9FB2C6259}"/>
                  </a:ext>
                </a:extLst>
              </p:cNvPr>
              <p:cNvSpPr/>
              <p:nvPr/>
            </p:nvSpPr>
            <p:spPr>
              <a:xfrm>
                <a:off x="2362200" y="3276600"/>
                <a:ext cx="533400" cy="457200"/>
              </a:xfrm>
              <a:prstGeom prst="ellipse">
                <a:avLst/>
              </a:prstGeom>
              <a:solidFill>
                <a:srgbClr val="EEECE1">
                  <a:lumMod val="90000"/>
                </a:srgbClr>
              </a:solidFill>
              <a:ln w="381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tantia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AB459D6-8A17-28BD-903D-6CDA5B966408}"/>
                  </a:ext>
                </a:extLst>
              </p:cNvPr>
              <p:cNvSpPr/>
              <p:nvPr/>
            </p:nvSpPr>
            <p:spPr>
              <a:xfrm>
                <a:off x="4191000" y="3276600"/>
                <a:ext cx="533400" cy="457200"/>
              </a:xfrm>
              <a:prstGeom prst="ellipse">
                <a:avLst/>
              </a:prstGeom>
              <a:solidFill>
                <a:srgbClr val="EEECE1">
                  <a:lumMod val="90000"/>
                </a:srgbClr>
              </a:solidFill>
              <a:ln w="381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tantia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DF6810D-F2AA-C048-A695-2E4B7322F3B9}"/>
                  </a:ext>
                </a:extLst>
              </p:cNvPr>
              <p:cNvSpPr/>
              <p:nvPr/>
            </p:nvSpPr>
            <p:spPr>
              <a:xfrm>
                <a:off x="6019800" y="3276600"/>
                <a:ext cx="533400" cy="457200"/>
              </a:xfrm>
              <a:prstGeom prst="ellipse">
                <a:avLst/>
              </a:prstGeom>
              <a:solidFill>
                <a:srgbClr val="EEECE1">
                  <a:lumMod val="90000"/>
                </a:srgbClr>
              </a:solidFill>
              <a:ln w="381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tantia"/>
                    <a:ea typeface="+mn-ea"/>
                    <a:cs typeface="+mn-cs"/>
                  </a:rPr>
                  <a:t>3</a:t>
                </a: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D949763-1E7D-D704-FF0D-0E6BD3D97C7A}"/>
                  </a:ext>
                </a:extLst>
              </p:cNvPr>
              <p:cNvCxnSpPr>
                <a:endCxn id="31" idx="2"/>
              </p:cNvCxnSpPr>
              <p:nvPr/>
            </p:nvCxnSpPr>
            <p:spPr>
              <a:xfrm>
                <a:off x="2895600" y="3505200"/>
                <a:ext cx="1295400" cy="0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DDB5D9D-2409-5A4D-2F4D-3C6389656137}"/>
                  </a:ext>
                </a:extLst>
              </p:cNvPr>
              <p:cNvCxnSpPr/>
              <p:nvPr/>
            </p:nvCxnSpPr>
            <p:spPr>
              <a:xfrm>
                <a:off x="4724400" y="3505200"/>
                <a:ext cx="1295400" cy="0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CE517548-90AB-2661-6A5F-A48CE31C3B6D}"/>
                  </a:ext>
                </a:extLst>
              </p:cNvPr>
              <p:cNvSpPr/>
              <p:nvPr/>
            </p:nvSpPr>
            <p:spPr>
              <a:xfrm>
                <a:off x="2889504" y="3060174"/>
                <a:ext cx="3145536" cy="341394"/>
              </a:xfrm>
              <a:custGeom>
                <a:avLst/>
                <a:gdLst>
                  <a:gd name="connsiteX0" fmla="*/ 0 w 3145536"/>
                  <a:gd name="connsiteY0" fmla="*/ 329202 h 341394"/>
                  <a:gd name="connsiteX1" fmla="*/ 1621536 w 3145536"/>
                  <a:gd name="connsiteY1" fmla="*/ 18 h 341394"/>
                  <a:gd name="connsiteX2" fmla="*/ 3145536 w 3145536"/>
                  <a:gd name="connsiteY2" fmla="*/ 341394 h 341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45536" h="341394">
                    <a:moveTo>
                      <a:pt x="0" y="329202"/>
                    </a:moveTo>
                    <a:cubicBezTo>
                      <a:pt x="548640" y="163594"/>
                      <a:pt x="1097280" y="-2014"/>
                      <a:pt x="1621536" y="18"/>
                    </a:cubicBezTo>
                    <a:cubicBezTo>
                      <a:pt x="2145792" y="2050"/>
                      <a:pt x="2645664" y="171722"/>
                      <a:pt x="3145536" y="341394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tantia"/>
                  <a:ea typeface="+mn-ea"/>
                  <a:cs typeface="+mn-cs"/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E5C7C6C-8D78-D158-9DCE-4A8A685A3ED6}"/>
                </a:ext>
              </a:extLst>
            </p:cNvPr>
            <p:cNvSpPr txBox="1"/>
            <p:nvPr/>
          </p:nvSpPr>
          <p:spPr>
            <a:xfrm>
              <a:off x="4267200" y="2971800"/>
              <a:ext cx="504652" cy="288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kern="1200" dirty="0">
                  <a:solidFill>
                    <a:prstClr val="black"/>
                  </a:solidFill>
                  <a:latin typeface="Arial" charset="0"/>
                  <a:ea typeface="+mn-ea"/>
                  <a:cs typeface="+mn-cs"/>
                </a:rPr>
                <a:t>17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CA1534-849F-74BE-5C53-D860157C8C12}"/>
                </a:ext>
              </a:extLst>
            </p:cNvPr>
            <p:cNvSpPr txBox="1"/>
            <p:nvPr/>
          </p:nvSpPr>
          <p:spPr>
            <a:xfrm>
              <a:off x="3657600" y="3502223"/>
              <a:ext cx="387137" cy="288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kern="1200" dirty="0">
                  <a:solidFill>
                    <a:prstClr val="black"/>
                  </a:solidFill>
                  <a:latin typeface="Arial" charset="0"/>
                  <a:ea typeface="+mn-ea"/>
                  <a:cs typeface="+mn-cs"/>
                </a:rPr>
                <a:t>30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F6A691E-D687-0542-0862-BBA5CE9C1762}"/>
                </a:ext>
              </a:extLst>
            </p:cNvPr>
            <p:cNvSpPr txBox="1"/>
            <p:nvPr/>
          </p:nvSpPr>
          <p:spPr>
            <a:xfrm>
              <a:off x="5334000" y="3505200"/>
              <a:ext cx="570704" cy="288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100</a:t>
              </a:r>
            </a:p>
          </p:txBody>
        </p:sp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3F7992F8-23C9-9C2C-6F5F-3317015EF834}"/>
              </a:ext>
            </a:extLst>
          </p:cNvPr>
          <p:cNvGraphicFramePr>
            <a:graphicFrameLocks noGrp="1"/>
          </p:cNvGraphicFramePr>
          <p:nvPr/>
        </p:nvGraphicFramePr>
        <p:xfrm>
          <a:off x="680484" y="3113556"/>
          <a:ext cx="11089758" cy="2436626"/>
        </p:xfrm>
        <a:graphic>
          <a:graphicData uri="http://schemas.openxmlformats.org/drawingml/2006/table">
            <a:tbl>
              <a:tblPr firstRow="1" bandRow="1"/>
              <a:tblGrid>
                <a:gridCol w="1663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6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2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08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Dept.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Loads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Location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Distance (meters)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Load Distance</a:t>
                      </a:r>
                      <a:r>
                        <a:rPr lang="en-US" sz="2000" baseline="0" dirty="0">
                          <a:solidFill>
                            <a:sysClr val="windowText" lastClr="000000"/>
                          </a:solidFill>
                        </a:rPr>
                        <a:t> Score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5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1 to 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30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A to 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20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baseline="0" dirty="0"/>
                        <a:t>30 × </a:t>
                      </a:r>
                      <a:r>
                        <a:rPr lang="en-US" sz="2000" dirty="0"/>
                        <a:t>20</a:t>
                      </a:r>
                      <a:r>
                        <a:rPr lang="en-US" sz="2000" baseline="0" dirty="0"/>
                        <a:t> = 600</a:t>
                      </a:r>
                      <a:endParaRPr lang="en-US" sz="20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5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1 to 3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170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A to 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40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170 × 40 =</a:t>
                      </a:r>
                      <a:r>
                        <a:rPr lang="en-US" sz="2000" baseline="0" dirty="0"/>
                        <a:t> 6800</a:t>
                      </a:r>
                      <a:endParaRPr lang="en-US" sz="20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45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2 to 3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100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B to 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30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100 × 30 = 3,000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5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endParaRPr lang="en-US" sz="20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endParaRPr lang="en-US" sz="20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endParaRPr lang="en-US" sz="20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10,400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5C0968B-FA04-7F23-509D-F9A0D97F2090}"/>
              </a:ext>
            </a:extLst>
          </p:cNvPr>
          <p:cNvSpPr txBox="1"/>
          <p:nvPr/>
        </p:nvSpPr>
        <p:spPr>
          <a:xfrm>
            <a:off x="255181" y="1127065"/>
            <a:ext cx="2200940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41F69C-7832-17DF-264F-CF4DBB538696}"/>
              </a:ext>
            </a:extLst>
          </p:cNvPr>
          <p:cNvSpPr txBox="1"/>
          <p:nvPr/>
        </p:nvSpPr>
        <p:spPr>
          <a:xfrm>
            <a:off x="3443200" y="5605989"/>
            <a:ext cx="5360558" cy="52322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 = 10,400 * 2 =$20,800 </a:t>
            </a:r>
          </a:p>
        </p:txBody>
      </p:sp>
    </p:spTree>
    <p:extLst>
      <p:ext uri="{BB962C8B-B14F-4D97-AF65-F5344CB8AC3E}">
        <p14:creationId xmlns:p14="http://schemas.microsoft.com/office/powerpoint/2010/main" val="390406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88C3B-C78B-91C5-CFAC-E133DF69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Layout Example 2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15D84-7250-D58C-2AB0-1824C75A93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3A091-4DF1-A553-8135-B74BF3E2EB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4EA00-6A7B-F4D0-31E7-857D46D955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38</a:t>
            </a:fld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53EB43-B820-1B8D-696C-8C27F1A45647}"/>
              </a:ext>
            </a:extLst>
          </p:cNvPr>
          <p:cNvGrpSpPr/>
          <p:nvPr/>
        </p:nvGrpSpPr>
        <p:grpSpPr>
          <a:xfrm>
            <a:off x="2736378" y="1113771"/>
            <a:ext cx="6290667" cy="1905000"/>
            <a:chOff x="1828800" y="2971800"/>
            <a:chExt cx="5181600" cy="13716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33B0515-44E6-6889-FBD6-A87A8A32C4C3}"/>
                </a:ext>
              </a:extLst>
            </p:cNvPr>
            <p:cNvSpPr/>
            <p:nvPr/>
          </p:nvSpPr>
          <p:spPr>
            <a:xfrm>
              <a:off x="1828800" y="2971800"/>
              <a:ext cx="1600200" cy="1371600"/>
            </a:xfrm>
            <a:prstGeom prst="rect">
              <a:avLst/>
            </a:prstGeom>
            <a:solidFill>
              <a:srgbClr val="EEECE1">
                <a:lumMod val="75000"/>
              </a:srgbClr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b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tantia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169A712-DB5B-4460-B2DA-41C6DC1C1633}"/>
                </a:ext>
              </a:extLst>
            </p:cNvPr>
            <p:cNvSpPr/>
            <p:nvPr/>
          </p:nvSpPr>
          <p:spPr>
            <a:xfrm>
              <a:off x="3639552" y="2971800"/>
              <a:ext cx="1600200" cy="1371600"/>
            </a:xfrm>
            <a:prstGeom prst="rect">
              <a:avLst/>
            </a:prstGeom>
            <a:solidFill>
              <a:srgbClr val="EEECE1">
                <a:lumMod val="75000"/>
              </a:srgbClr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b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tantia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26F0A4D-B74E-F9F1-06E7-CB4E0B26B451}"/>
                </a:ext>
              </a:extLst>
            </p:cNvPr>
            <p:cNvSpPr/>
            <p:nvPr/>
          </p:nvSpPr>
          <p:spPr>
            <a:xfrm>
              <a:off x="5410200" y="2971800"/>
              <a:ext cx="1600200" cy="1371600"/>
            </a:xfrm>
            <a:prstGeom prst="rect">
              <a:avLst/>
            </a:prstGeom>
            <a:solidFill>
              <a:srgbClr val="EEECE1">
                <a:lumMod val="75000"/>
              </a:srgbClr>
            </a:solidFill>
            <a:ln w="38100" cap="flat" cmpd="sng" algn="ctr">
              <a:noFill/>
              <a:prstDash val="solid"/>
            </a:ln>
            <a:effectLst/>
          </p:spPr>
          <p:txBody>
            <a:bodyPr rtlCol="0" anchor="b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tantia"/>
                  <a:ea typeface="+mn-ea"/>
                  <a:cs typeface="+mn-cs"/>
                </a:rPr>
                <a:t>C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1687BA3-C462-3908-03CB-04B3803D9573}"/>
                </a:ext>
              </a:extLst>
            </p:cNvPr>
            <p:cNvGrpSpPr/>
            <p:nvPr/>
          </p:nvGrpSpPr>
          <p:grpSpPr>
            <a:xfrm>
              <a:off x="2362200" y="3288774"/>
              <a:ext cx="4191000" cy="673626"/>
              <a:chOff x="2362200" y="3060174"/>
              <a:chExt cx="4191000" cy="673626"/>
            </a:xfrm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6EA6AA21-9C08-4014-AACD-F4A9FB2C6259}"/>
                  </a:ext>
                </a:extLst>
              </p:cNvPr>
              <p:cNvSpPr/>
              <p:nvPr/>
            </p:nvSpPr>
            <p:spPr>
              <a:xfrm>
                <a:off x="2362200" y="3276600"/>
                <a:ext cx="533400" cy="457200"/>
              </a:xfrm>
              <a:prstGeom prst="ellipse">
                <a:avLst/>
              </a:prstGeom>
              <a:solidFill>
                <a:srgbClr val="EEECE1">
                  <a:lumMod val="90000"/>
                </a:srgbClr>
              </a:solidFill>
              <a:ln w="381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onstantia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AB459D6-8A17-28BD-903D-6CDA5B966408}"/>
                  </a:ext>
                </a:extLst>
              </p:cNvPr>
              <p:cNvSpPr/>
              <p:nvPr/>
            </p:nvSpPr>
            <p:spPr>
              <a:xfrm>
                <a:off x="4191000" y="3276600"/>
                <a:ext cx="533400" cy="457200"/>
              </a:xfrm>
              <a:prstGeom prst="ellipse">
                <a:avLst/>
              </a:prstGeom>
              <a:solidFill>
                <a:srgbClr val="EEECE1">
                  <a:lumMod val="90000"/>
                </a:srgbClr>
              </a:solidFill>
              <a:ln w="381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1200" dirty="0">
                    <a:solidFill>
                      <a:prstClr val="black"/>
                    </a:solidFill>
                    <a:latin typeface="Constantia"/>
                    <a:ea typeface="+mn-ea"/>
                    <a:cs typeface="+mn-cs"/>
                  </a:rPr>
                  <a:t>3</a:t>
                </a:r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tantia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7DF6810D-F2AA-C048-A695-2E4B7322F3B9}"/>
                  </a:ext>
                </a:extLst>
              </p:cNvPr>
              <p:cNvSpPr/>
              <p:nvPr/>
            </p:nvSpPr>
            <p:spPr>
              <a:xfrm>
                <a:off x="6019800" y="3276600"/>
                <a:ext cx="533400" cy="457200"/>
              </a:xfrm>
              <a:prstGeom prst="ellipse">
                <a:avLst/>
              </a:prstGeom>
              <a:solidFill>
                <a:srgbClr val="EEECE1">
                  <a:lumMod val="90000"/>
                </a:srgbClr>
              </a:solidFill>
              <a:ln w="381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000" b="1" kern="1200" dirty="0">
                    <a:solidFill>
                      <a:prstClr val="black"/>
                    </a:solidFill>
                    <a:latin typeface="Constantia"/>
                    <a:ea typeface="+mn-ea"/>
                    <a:cs typeface="+mn-cs"/>
                  </a:rPr>
                  <a:t>2</a:t>
                </a:r>
                <a:endPara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tantia"/>
                  <a:ea typeface="+mn-ea"/>
                  <a:cs typeface="+mn-cs"/>
                </a:endParaRP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BD949763-1E7D-D704-FF0D-0E6BD3D97C7A}"/>
                  </a:ext>
                </a:extLst>
              </p:cNvPr>
              <p:cNvCxnSpPr>
                <a:endCxn id="31" idx="2"/>
              </p:cNvCxnSpPr>
              <p:nvPr/>
            </p:nvCxnSpPr>
            <p:spPr>
              <a:xfrm>
                <a:off x="2895600" y="3505200"/>
                <a:ext cx="1295400" cy="0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FDDB5D9D-2409-5A4D-2F4D-3C6389656137}"/>
                  </a:ext>
                </a:extLst>
              </p:cNvPr>
              <p:cNvCxnSpPr/>
              <p:nvPr/>
            </p:nvCxnSpPr>
            <p:spPr>
              <a:xfrm>
                <a:off x="4724400" y="3505200"/>
                <a:ext cx="1295400" cy="0"/>
              </a:xfrm>
              <a:prstGeom prst="line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35" name="Freeform 16">
                <a:extLst>
                  <a:ext uri="{FF2B5EF4-FFF2-40B4-BE49-F238E27FC236}">
                    <a16:creationId xmlns:a16="http://schemas.microsoft.com/office/drawing/2014/main" id="{CE517548-90AB-2661-6A5F-A48CE31C3B6D}"/>
                  </a:ext>
                </a:extLst>
              </p:cNvPr>
              <p:cNvSpPr/>
              <p:nvPr/>
            </p:nvSpPr>
            <p:spPr>
              <a:xfrm>
                <a:off x="2889504" y="3060174"/>
                <a:ext cx="3145536" cy="341394"/>
              </a:xfrm>
              <a:custGeom>
                <a:avLst/>
                <a:gdLst>
                  <a:gd name="connsiteX0" fmla="*/ 0 w 3145536"/>
                  <a:gd name="connsiteY0" fmla="*/ 329202 h 341394"/>
                  <a:gd name="connsiteX1" fmla="*/ 1621536 w 3145536"/>
                  <a:gd name="connsiteY1" fmla="*/ 18 h 341394"/>
                  <a:gd name="connsiteX2" fmla="*/ 3145536 w 3145536"/>
                  <a:gd name="connsiteY2" fmla="*/ 341394 h 341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45536" h="341394">
                    <a:moveTo>
                      <a:pt x="0" y="329202"/>
                    </a:moveTo>
                    <a:cubicBezTo>
                      <a:pt x="548640" y="163594"/>
                      <a:pt x="1097280" y="-2014"/>
                      <a:pt x="1621536" y="18"/>
                    </a:cubicBezTo>
                    <a:cubicBezTo>
                      <a:pt x="2145792" y="2050"/>
                      <a:pt x="2645664" y="171722"/>
                      <a:pt x="3145536" y="341394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nstantia"/>
                  <a:ea typeface="+mn-ea"/>
                  <a:cs typeface="+mn-cs"/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E5C7C6C-8D78-D158-9DCE-4A8A685A3ED6}"/>
                </a:ext>
              </a:extLst>
            </p:cNvPr>
            <p:cNvSpPr txBox="1"/>
            <p:nvPr/>
          </p:nvSpPr>
          <p:spPr>
            <a:xfrm>
              <a:off x="4267200" y="2971800"/>
              <a:ext cx="437808" cy="288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CA1534-849F-74BE-5C53-D860157C8C12}"/>
                </a:ext>
              </a:extLst>
            </p:cNvPr>
            <p:cNvSpPr txBox="1"/>
            <p:nvPr/>
          </p:nvSpPr>
          <p:spPr>
            <a:xfrm>
              <a:off x="3657600" y="3502223"/>
              <a:ext cx="570704" cy="288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170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F6A691E-D687-0542-0862-BBA5CE9C1762}"/>
                </a:ext>
              </a:extLst>
            </p:cNvPr>
            <p:cNvSpPr txBox="1"/>
            <p:nvPr/>
          </p:nvSpPr>
          <p:spPr>
            <a:xfrm>
              <a:off x="5334000" y="3505200"/>
              <a:ext cx="570704" cy="2880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+mn-ea"/>
                  <a:cs typeface="+mn-cs"/>
                </a:rPr>
                <a:t>100</a:t>
              </a:r>
            </a:p>
          </p:txBody>
        </p:sp>
      </p:grp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3F7992F8-23C9-9C2C-6F5F-3317015EF834}"/>
              </a:ext>
            </a:extLst>
          </p:cNvPr>
          <p:cNvGraphicFramePr>
            <a:graphicFrameLocks noGrp="1"/>
          </p:cNvGraphicFramePr>
          <p:nvPr/>
        </p:nvGraphicFramePr>
        <p:xfrm>
          <a:off x="680484" y="3113556"/>
          <a:ext cx="11089758" cy="2436626"/>
        </p:xfrm>
        <a:graphic>
          <a:graphicData uri="http://schemas.openxmlformats.org/drawingml/2006/table">
            <a:tbl>
              <a:tblPr firstRow="1" bandRow="1"/>
              <a:tblGrid>
                <a:gridCol w="1663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92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6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2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08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Dept.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Loads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Location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Distance (meters)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Load Distance</a:t>
                      </a:r>
                      <a:r>
                        <a:rPr lang="en-US" sz="2000" baseline="0" dirty="0">
                          <a:solidFill>
                            <a:sysClr val="windowText" lastClr="000000"/>
                          </a:solidFill>
                        </a:rPr>
                        <a:t> Score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5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1 to 3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170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A to B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20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170</a:t>
                      </a:r>
                      <a:r>
                        <a:rPr lang="en-US" sz="2000" baseline="0" dirty="0"/>
                        <a:t> × </a:t>
                      </a:r>
                      <a:r>
                        <a:rPr lang="en-US" sz="2000" dirty="0"/>
                        <a:t>20</a:t>
                      </a:r>
                      <a:r>
                        <a:rPr lang="en-US" sz="2000" baseline="0" dirty="0"/>
                        <a:t> = 3,400</a:t>
                      </a:r>
                      <a:endParaRPr lang="en-US" sz="20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5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1 to 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30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A to 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40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30 × 40 =</a:t>
                      </a:r>
                      <a:r>
                        <a:rPr lang="en-US" sz="2000" baseline="0" dirty="0"/>
                        <a:t> 1,200</a:t>
                      </a:r>
                      <a:endParaRPr lang="en-US" sz="20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45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2 to 3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100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B to C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30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r>
                        <a:rPr lang="en-US" sz="2000" dirty="0"/>
                        <a:t>100 × 30 = 3,000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5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endParaRPr lang="en-US" sz="20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endParaRPr lang="en-US" sz="20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endParaRPr lang="en-US" sz="20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onstantia"/>
                          <a:sym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7,600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5C0968B-FA04-7F23-509D-F9A0D97F2090}"/>
              </a:ext>
            </a:extLst>
          </p:cNvPr>
          <p:cNvSpPr txBox="1"/>
          <p:nvPr/>
        </p:nvSpPr>
        <p:spPr>
          <a:xfrm>
            <a:off x="255181" y="1127065"/>
            <a:ext cx="2200940" cy="95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41F69C-7832-17DF-264F-CF4DBB538696}"/>
              </a:ext>
            </a:extLst>
          </p:cNvPr>
          <p:cNvSpPr txBox="1"/>
          <p:nvPr/>
        </p:nvSpPr>
        <p:spPr>
          <a:xfrm>
            <a:off x="3443200" y="5605989"/>
            <a:ext cx="4775769" cy="52322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cost = 7,600 * 2 =$15200 </a:t>
            </a:r>
          </a:p>
        </p:txBody>
      </p:sp>
    </p:spTree>
    <p:extLst>
      <p:ext uri="{BB962C8B-B14F-4D97-AF65-F5344CB8AC3E}">
        <p14:creationId xmlns:p14="http://schemas.microsoft.com/office/powerpoint/2010/main" val="8201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C58A-6B2B-8215-9597-153D9421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Relationship Diagramming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45784-7EF2-EDB1-42B8-D4461D799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7644" y="911036"/>
            <a:ext cx="11894356" cy="5035928"/>
          </a:xfrm>
        </p:spPr>
        <p:txBody>
          <a:bodyPr/>
          <a:lstStyle/>
          <a:p>
            <a:r>
              <a:rPr lang="en-IN" dirty="0"/>
              <a:t>The preceding solution procedure is appropriate for designing process layouts when quantitative data are available.</a:t>
            </a:r>
          </a:p>
          <a:p>
            <a:r>
              <a:rPr lang="en-IN" dirty="0"/>
              <a:t>For subjective or qualitative data, Richard </a:t>
            </a:r>
            <a:r>
              <a:rPr lang="en-IN" dirty="0" err="1"/>
              <a:t>Muther</a:t>
            </a:r>
            <a:r>
              <a:rPr lang="en-IN" dirty="0"/>
              <a:t> developed a format for displaying manager preferences for departmental locations, known as </a:t>
            </a:r>
            <a:r>
              <a:rPr lang="en-IN" b="1" dirty="0" err="1"/>
              <a:t>Muther’s</a:t>
            </a:r>
            <a:r>
              <a:rPr lang="en-IN" b="1" dirty="0"/>
              <a:t> grid</a:t>
            </a:r>
          </a:p>
          <a:p>
            <a:r>
              <a:rPr lang="en-IN" dirty="0"/>
              <a:t>The preference information is coded into six categories associated with the five vowels, </a:t>
            </a:r>
            <a:r>
              <a:rPr lang="en-IN" i="1" dirty="0"/>
              <a:t>A, E, I, O</a:t>
            </a:r>
            <a:r>
              <a:rPr lang="en-IN" dirty="0"/>
              <a:t>, and </a:t>
            </a:r>
            <a:r>
              <a:rPr lang="en-IN" i="1" dirty="0"/>
              <a:t>U</a:t>
            </a:r>
            <a:r>
              <a:rPr lang="en-IN" dirty="0"/>
              <a:t>, plus the letter </a:t>
            </a:r>
            <a:r>
              <a:rPr lang="en-IN" i="1" dirty="0"/>
              <a:t>X</a:t>
            </a:r>
            <a:r>
              <a:rPr lang="en-IN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75211-B77E-B5CF-16EC-BF75454EAEF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6B9AC-1368-5303-40F9-19BEB07BDF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93D05-FF41-99A6-8B2E-288F987D59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DF1424E-F1FB-95FD-50F4-A6556E6B1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130" y="4044131"/>
            <a:ext cx="4914900" cy="1981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163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A6657-FAC7-C068-6AA2-89E9A466D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Relationship Diagramming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A6933-B310-E0A3-17A4-5AAA5C107E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7E3E9-5584-3855-9330-BC198867DA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B955C-D0DD-1B74-EA7D-01ECC48DB2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549D76A-FEBC-7057-3521-B9CEF120E1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951"/>
          <a:stretch/>
        </p:blipFill>
        <p:spPr>
          <a:xfrm>
            <a:off x="93661" y="1116419"/>
            <a:ext cx="6002340" cy="48484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3D9814-2E8D-3D0A-DCB9-A59F25DC4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98" y="1119960"/>
            <a:ext cx="11992965" cy="484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126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7CE20-0094-BDBA-3587-2CD5E957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Designing product layouts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94D6C-1855-74B4-0BC7-56C943ED1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product layout arranges machines or workers in a line according to the operations that need to be performed to assemble a particular product.</a:t>
            </a:r>
          </a:p>
          <a:p>
            <a:r>
              <a:rPr lang="en-US" dirty="0"/>
              <a:t>Precedence requirements specify which operations must precede others, which can be done concurrently and which must wait until later.</a:t>
            </a:r>
          </a:p>
          <a:p>
            <a:r>
              <a:rPr lang="en-US" dirty="0"/>
              <a:t>To attain the required output efficiently, jobs are broken down into their smallest indivisible portions, called work elements.</a:t>
            </a:r>
          </a:p>
          <a:p>
            <a:r>
              <a:rPr lang="en-US" dirty="0"/>
              <a:t>For the layout decision, the work elements are grouped into workstations so that products can flow smoothly.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69302-667C-CF8B-675B-2B7B97774A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3AAC6-985D-560E-DADE-07ED95108A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75928-77F7-B3F1-8C5F-DC8650DAC3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02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F95D-F2A8-4724-D430-64517F29C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Product Layouts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261C9-54B0-8CE9-1A44-A06378A647C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0A5B7-2F50-68D3-4DC3-0BF2414150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E61F0-3DC0-8171-BDC8-CF6F755535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142" name="Rectangle 23">
            <a:extLst>
              <a:ext uri="{FF2B5EF4-FFF2-40B4-BE49-F238E27FC236}">
                <a16:creationId xmlns:a16="http://schemas.microsoft.com/office/drawing/2014/main" id="{53313AA3-1242-FBD3-CFB2-C88608177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229" y="4551109"/>
            <a:ext cx="3440525" cy="1191095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sz="2800" b="1" kern="12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Current layout </a:t>
            </a:r>
            <a:r>
              <a:rPr lang="en-US" sz="2800" kern="12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- workers in small closed areas. </a:t>
            </a:r>
          </a:p>
        </p:txBody>
      </p:sp>
      <p:sp>
        <p:nvSpPr>
          <p:cNvPr id="143" name="Rectangle 24">
            <a:extLst>
              <a:ext uri="{FF2B5EF4-FFF2-40B4-BE49-F238E27FC236}">
                <a16:creationId xmlns:a16="http://schemas.microsoft.com/office/drawing/2014/main" id="{EFA923FC-E274-F846-B158-494FAA9DBE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3829" y="4556503"/>
            <a:ext cx="6464595" cy="1191095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sz="2800" b="1" kern="12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Improved layout </a:t>
            </a:r>
            <a:r>
              <a:rPr lang="en-US" sz="2800" kern="12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- cross-trained workers can assist each other. May be able to add a third worker as additional output is needed.</a:t>
            </a:r>
          </a:p>
        </p:txBody>
      </p:sp>
      <p:grpSp>
        <p:nvGrpSpPr>
          <p:cNvPr id="144" name="Group 25">
            <a:extLst>
              <a:ext uri="{FF2B5EF4-FFF2-40B4-BE49-F238E27FC236}">
                <a16:creationId xmlns:a16="http://schemas.microsoft.com/office/drawing/2014/main" id="{DBF512B4-2DDD-1547-6ED9-9C7424E16379}"/>
              </a:ext>
            </a:extLst>
          </p:cNvPr>
          <p:cNvGrpSpPr>
            <a:grpSpLocks/>
          </p:cNvGrpSpPr>
          <p:nvPr/>
        </p:nvGrpSpPr>
        <p:grpSpPr bwMode="auto">
          <a:xfrm>
            <a:off x="5837274" y="1363610"/>
            <a:ext cx="5738038" cy="2998382"/>
            <a:chOff x="3330" y="1872"/>
            <a:chExt cx="1776" cy="1302"/>
          </a:xfrm>
        </p:grpSpPr>
        <p:grpSp>
          <p:nvGrpSpPr>
            <p:cNvPr id="145" name="Group 26">
              <a:extLst>
                <a:ext uri="{FF2B5EF4-FFF2-40B4-BE49-F238E27FC236}">
                  <a16:creationId xmlns:a16="http://schemas.microsoft.com/office/drawing/2014/main" id="{26C73CE5-5014-EC37-7FF6-ACC4E5851136}"/>
                </a:ext>
              </a:extLst>
            </p:cNvPr>
            <p:cNvGrpSpPr>
              <a:grpSpLocks/>
            </p:cNvGrpSpPr>
            <p:nvPr/>
          </p:nvGrpSpPr>
          <p:grpSpPr bwMode="auto">
            <a:xfrm rot="-3568790">
              <a:off x="3924" y="2356"/>
              <a:ext cx="198" cy="230"/>
              <a:chOff x="1186" y="2402"/>
              <a:chExt cx="198" cy="230"/>
            </a:xfrm>
          </p:grpSpPr>
          <p:sp>
            <p:nvSpPr>
              <p:cNvPr id="161" name="Oval 27">
                <a:extLst>
                  <a:ext uri="{FF2B5EF4-FFF2-40B4-BE49-F238E27FC236}">
                    <a16:creationId xmlns:a16="http://schemas.microsoft.com/office/drawing/2014/main" id="{C1059E11-9DF7-5EAE-AFE1-AAB71D012D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6" y="2588"/>
                <a:ext cx="46" cy="36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62" name="Oval 28">
                <a:extLst>
                  <a:ext uri="{FF2B5EF4-FFF2-40B4-BE49-F238E27FC236}">
                    <a16:creationId xmlns:a16="http://schemas.microsoft.com/office/drawing/2014/main" id="{3CFFCF69-1C27-2784-B65D-C3C9BFBB8F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" y="2420"/>
                <a:ext cx="46" cy="40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63" name="Freeform 29">
                <a:extLst>
                  <a:ext uri="{FF2B5EF4-FFF2-40B4-BE49-F238E27FC236}">
                    <a16:creationId xmlns:a16="http://schemas.microsoft.com/office/drawing/2014/main" id="{BF3724A1-A1A1-B052-AE28-CE04C5CEAC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6" y="2402"/>
                <a:ext cx="158" cy="230"/>
              </a:xfrm>
              <a:custGeom>
                <a:avLst/>
                <a:gdLst>
                  <a:gd name="T0" fmla="*/ 2 w 158"/>
                  <a:gd name="T1" fmla="*/ 14 h 230"/>
                  <a:gd name="T2" fmla="*/ 24 w 158"/>
                  <a:gd name="T3" fmla="*/ 0 h 230"/>
                  <a:gd name="T4" fmla="*/ 64 w 158"/>
                  <a:gd name="T5" fmla="*/ 0 h 230"/>
                  <a:gd name="T6" fmla="*/ 92 w 158"/>
                  <a:gd name="T7" fmla="*/ 4 h 230"/>
                  <a:gd name="T8" fmla="*/ 118 w 158"/>
                  <a:gd name="T9" fmla="*/ 16 h 230"/>
                  <a:gd name="T10" fmla="*/ 140 w 158"/>
                  <a:gd name="T11" fmla="*/ 40 h 230"/>
                  <a:gd name="T12" fmla="*/ 158 w 158"/>
                  <a:gd name="T13" fmla="*/ 72 h 230"/>
                  <a:gd name="T14" fmla="*/ 158 w 158"/>
                  <a:gd name="T15" fmla="*/ 150 h 230"/>
                  <a:gd name="T16" fmla="*/ 140 w 158"/>
                  <a:gd name="T17" fmla="*/ 194 h 230"/>
                  <a:gd name="T18" fmla="*/ 106 w 158"/>
                  <a:gd name="T19" fmla="*/ 214 h 230"/>
                  <a:gd name="T20" fmla="*/ 78 w 158"/>
                  <a:gd name="T21" fmla="*/ 224 h 230"/>
                  <a:gd name="T22" fmla="*/ 32 w 158"/>
                  <a:gd name="T23" fmla="*/ 230 h 230"/>
                  <a:gd name="T24" fmla="*/ 0 w 158"/>
                  <a:gd name="T25" fmla="*/ 222 h 230"/>
                  <a:gd name="T26" fmla="*/ 0 w 158"/>
                  <a:gd name="T27" fmla="*/ 182 h 230"/>
                  <a:gd name="T28" fmla="*/ 56 w 158"/>
                  <a:gd name="T29" fmla="*/ 184 h 230"/>
                  <a:gd name="T30" fmla="*/ 80 w 158"/>
                  <a:gd name="T31" fmla="*/ 168 h 230"/>
                  <a:gd name="T32" fmla="*/ 82 w 158"/>
                  <a:gd name="T33" fmla="*/ 64 h 230"/>
                  <a:gd name="T34" fmla="*/ 56 w 158"/>
                  <a:gd name="T35" fmla="*/ 48 h 230"/>
                  <a:gd name="T36" fmla="*/ 10 w 158"/>
                  <a:gd name="T37" fmla="*/ 48 h 230"/>
                  <a:gd name="T38" fmla="*/ 2 w 158"/>
                  <a:gd name="T39" fmla="*/ 14 h 2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58"/>
                  <a:gd name="T61" fmla="*/ 0 h 230"/>
                  <a:gd name="T62" fmla="*/ 158 w 158"/>
                  <a:gd name="T63" fmla="*/ 230 h 2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58" h="230">
                    <a:moveTo>
                      <a:pt x="2" y="14"/>
                    </a:moveTo>
                    <a:lnTo>
                      <a:pt x="24" y="0"/>
                    </a:lnTo>
                    <a:lnTo>
                      <a:pt x="64" y="0"/>
                    </a:lnTo>
                    <a:lnTo>
                      <a:pt x="92" y="4"/>
                    </a:lnTo>
                    <a:lnTo>
                      <a:pt x="118" y="16"/>
                    </a:lnTo>
                    <a:lnTo>
                      <a:pt x="140" y="40"/>
                    </a:lnTo>
                    <a:lnTo>
                      <a:pt x="158" y="72"/>
                    </a:lnTo>
                    <a:lnTo>
                      <a:pt x="158" y="150"/>
                    </a:lnTo>
                    <a:lnTo>
                      <a:pt x="140" y="194"/>
                    </a:lnTo>
                    <a:lnTo>
                      <a:pt x="106" y="214"/>
                    </a:lnTo>
                    <a:lnTo>
                      <a:pt x="78" y="224"/>
                    </a:lnTo>
                    <a:lnTo>
                      <a:pt x="32" y="230"/>
                    </a:lnTo>
                    <a:lnTo>
                      <a:pt x="0" y="222"/>
                    </a:lnTo>
                    <a:lnTo>
                      <a:pt x="0" y="182"/>
                    </a:lnTo>
                    <a:cubicBezTo>
                      <a:pt x="54" y="184"/>
                      <a:pt x="35" y="184"/>
                      <a:pt x="56" y="184"/>
                    </a:cubicBezTo>
                    <a:lnTo>
                      <a:pt x="80" y="168"/>
                    </a:lnTo>
                    <a:lnTo>
                      <a:pt x="82" y="64"/>
                    </a:lnTo>
                    <a:lnTo>
                      <a:pt x="56" y="48"/>
                    </a:lnTo>
                    <a:lnTo>
                      <a:pt x="10" y="48"/>
                    </a:lnTo>
                    <a:lnTo>
                      <a:pt x="2" y="14"/>
                    </a:lnTo>
                    <a:close/>
                  </a:path>
                </a:pathLst>
              </a:custGeom>
              <a:solidFill>
                <a:srgbClr val="175097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64" name="Oval 30">
                <a:extLst>
                  <a:ext uri="{FF2B5EF4-FFF2-40B4-BE49-F238E27FC236}">
                    <a16:creationId xmlns:a16="http://schemas.microsoft.com/office/drawing/2014/main" id="{574F8A6A-6885-CA73-7860-EC8ECD4CC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8" y="2470"/>
                <a:ext cx="94" cy="84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46" name="Rectangle 31">
              <a:extLst>
                <a:ext uri="{FF2B5EF4-FFF2-40B4-BE49-F238E27FC236}">
                  <a16:creationId xmlns:a16="http://schemas.microsoft.com/office/drawing/2014/main" id="{0E80F1EB-A328-E45F-8BB7-97D7C9700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0" y="1872"/>
              <a:ext cx="192" cy="364"/>
            </a:xfrm>
            <a:prstGeom prst="rect">
              <a:avLst/>
            </a:prstGeom>
            <a:solidFill>
              <a:srgbClr val="BDD6AE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47" name="Rectangle 32">
              <a:extLst>
                <a:ext uri="{FF2B5EF4-FFF2-40B4-BE49-F238E27FC236}">
                  <a16:creationId xmlns:a16="http://schemas.microsoft.com/office/drawing/2014/main" id="{28ADBBCF-8FDB-0B2C-3D95-1CA64B9F7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4" y="1872"/>
              <a:ext cx="192" cy="364"/>
            </a:xfrm>
            <a:prstGeom prst="rect">
              <a:avLst/>
            </a:prstGeom>
            <a:solidFill>
              <a:srgbClr val="BDD6AE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48" name="Oval 33">
              <a:extLst>
                <a:ext uri="{FF2B5EF4-FFF2-40B4-BE49-F238E27FC236}">
                  <a16:creationId xmlns:a16="http://schemas.microsoft.com/office/drawing/2014/main" id="{004018BD-E6F0-323A-CA8C-01B922E2C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4" y="2606"/>
              <a:ext cx="198" cy="208"/>
            </a:xfrm>
            <a:prstGeom prst="ellipse">
              <a:avLst/>
            </a:prstGeom>
            <a:solidFill>
              <a:srgbClr val="9FACC7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49" name="Oval 34">
              <a:extLst>
                <a:ext uri="{FF2B5EF4-FFF2-40B4-BE49-F238E27FC236}">
                  <a16:creationId xmlns:a16="http://schemas.microsoft.com/office/drawing/2014/main" id="{C0EDC89A-47FD-EAA3-B80E-9839F18C0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8" y="2266"/>
              <a:ext cx="198" cy="214"/>
            </a:xfrm>
            <a:prstGeom prst="ellipse">
              <a:avLst/>
            </a:prstGeom>
            <a:solidFill>
              <a:srgbClr val="9FACC7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50" name="Oval 35">
              <a:extLst>
                <a:ext uri="{FF2B5EF4-FFF2-40B4-BE49-F238E27FC236}">
                  <a16:creationId xmlns:a16="http://schemas.microsoft.com/office/drawing/2014/main" id="{D62AA35F-BEF6-E509-1A07-3F9431922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6" y="2474"/>
              <a:ext cx="198" cy="214"/>
            </a:xfrm>
            <a:prstGeom prst="ellipse">
              <a:avLst/>
            </a:prstGeom>
            <a:solidFill>
              <a:srgbClr val="9FACC7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51" name="Group 36">
              <a:extLst>
                <a:ext uri="{FF2B5EF4-FFF2-40B4-BE49-F238E27FC236}">
                  <a16:creationId xmlns:a16="http://schemas.microsoft.com/office/drawing/2014/main" id="{2126737F-78AC-2447-236D-0A9BEB64EADA}"/>
                </a:ext>
              </a:extLst>
            </p:cNvPr>
            <p:cNvGrpSpPr>
              <a:grpSpLocks/>
            </p:cNvGrpSpPr>
            <p:nvPr/>
          </p:nvGrpSpPr>
          <p:grpSpPr bwMode="auto">
            <a:xfrm rot="-8306482">
              <a:off x="4416" y="2306"/>
              <a:ext cx="198" cy="230"/>
              <a:chOff x="1186" y="2402"/>
              <a:chExt cx="198" cy="230"/>
            </a:xfrm>
          </p:grpSpPr>
          <p:sp>
            <p:nvSpPr>
              <p:cNvPr id="157" name="Oval 37">
                <a:extLst>
                  <a:ext uri="{FF2B5EF4-FFF2-40B4-BE49-F238E27FC236}">
                    <a16:creationId xmlns:a16="http://schemas.microsoft.com/office/drawing/2014/main" id="{F391FB42-CCC0-09F6-4C53-CB048FD364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6" y="2588"/>
                <a:ext cx="46" cy="36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58" name="Oval 38">
                <a:extLst>
                  <a:ext uri="{FF2B5EF4-FFF2-40B4-BE49-F238E27FC236}">
                    <a16:creationId xmlns:a16="http://schemas.microsoft.com/office/drawing/2014/main" id="{3F7957E6-FB49-B77E-8E5E-09A993964A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" y="2420"/>
                <a:ext cx="46" cy="40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59" name="Freeform 39">
                <a:extLst>
                  <a:ext uri="{FF2B5EF4-FFF2-40B4-BE49-F238E27FC236}">
                    <a16:creationId xmlns:a16="http://schemas.microsoft.com/office/drawing/2014/main" id="{2980F3BA-00B0-96C9-08A7-FE81FA6496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6" y="2402"/>
                <a:ext cx="158" cy="230"/>
              </a:xfrm>
              <a:custGeom>
                <a:avLst/>
                <a:gdLst>
                  <a:gd name="T0" fmla="*/ 2 w 158"/>
                  <a:gd name="T1" fmla="*/ 14 h 230"/>
                  <a:gd name="T2" fmla="*/ 24 w 158"/>
                  <a:gd name="T3" fmla="*/ 0 h 230"/>
                  <a:gd name="T4" fmla="*/ 64 w 158"/>
                  <a:gd name="T5" fmla="*/ 0 h 230"/>
                  <a:gd name="T6" fmla="*/ 92 w 158"/>
                  <a:gd name="T7" fmla="*/ 4 h 230"/>
                  <a:gd name="T8" fmla="*/ 118 w 158"/>
                  <a:gd name="T9" fmla="*/ 16 h 230"/>
                  <a:gd name="T10" fmla="*/ 140 w 158"/>
                  <a:gd name="T11" fmla="*/ 40 h 230"/>
                  <a:gd name="T12" fmla="*/ 158 w 158"/>
                  <a:gd name="T13" fmla="*/ 72 h 230"/>
                  <a:gd name="T14" fmla="*/ 158 w 158"/>
                  <a:gd name="T15" fmla="*/ 150 h 230"/>
                  <a:gd name="T16" fmla="*/ 140 w 158"/>
                  <a:gd name="T17" fmla="*/ 194 h 230"/>
                  <a:gd name="T18" fmla="*/ 106 w 158"/>
                  <a:gd name="T19" fmla="*/ 214 h 230"/>
                  <a:gd name="T20" fmla="*/ 78 w 158"/>
                  <a:gd name="T21" fmla="*/ 224 h 230"/>
                  <a:gd name="T22" fmla="*/ 32 w 158"/>
                  <a:gd name="T23" fmla="*/ 230 h 230"/>
                  <a:gd name="T24" fmla="*/ 0 w 158"/>
                  <a:gd name="T25" fmla="*/ 222 h 230"/>
                  <a:gd name="T26" fmla="*/ 0 w 158"/>
                  <a:gd name="T27" fmla="*/ 182 h 230"/>
                  <a:gd name="T28" fmla="*/ 56 w 158"/>
                  <a:gd name="T29" fmla="*/ 184 h 230"/>
                  <a:gd name="T30" fmla="*/ 80 w 158"/>
                  <a:gd name="T31" fmla="*/ 168 h 230"/>
                  <a:gd name="T32" fmla="*/ 82 w 158"/>
                  <a:gd name="T33" fmla="*/ 64 h 230"/>
                  <a:gd name="T34" fmla="*/ 56 w 158"/>
                  <a:gd name="T35" fmla="*/ 48 h 230"/>
                  <a:gd name="T36" fmla="*/ 10 w 158"/>
                  <a:gd name="T37" fmla="*/ 48 h 230"/>
                  <a:gd name="T38" fmla="*/ 2 w 158"/>
                  <a:gd name="T39" fmla="*/ 14 h 2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58"/>
                  <a:gd name="T61" fmla="*/ 0 h 230"/>
                  <a:gd name="T62" fmla="*/ 158 w 158"/>
                  <a:gd name="T63" fmla="*/ 230 h 2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58" h="230">
                    <a:moveTo>
                      <a:pt x="2" y="14"/>
                    </a:moveTo>
                    <a:lnTo>
                      <a:pt x="24" y="0"/>
                    </a:lnTo>
                    <a:lnTo>
                      <a:pt x="64" y="0"/>
                    </a:lnTo>
                    <a:lnTo>
                      <a:pt x="92" y="4"/>
                    </a:lnTo>
                    <a:lnTo>
                      <a:pt x="118" y="16"/>
                    </a:lnTo>
                    <a:lnTo>
                      <a:pt x="140" y="40"/>
                    </a:lnTo>
                    <a:lnTo>
                      <a:pt x="158" y="72"/>
                    </a:lnTo>
                    <a:lnTo>
                      <a:pt x="158" y="150"/>
                    </a:lnTo>
                    <a:lnTo>
                      <a:pt x="140" y="194"/>
                    </a:lnTo>
                    <a:lnTo>
                      <a:pt x="106" y="214"/>
                    </a:lnTo>
                    <a:lnTo>
                      <a:pt x="78" y="224"/>
                    </a:lnTo>
                    <a:lnTo>
                      <a:pt x="32" y="230"/>
                    </a:lnTo>
                    <a:lnTo>
                      <a:pt x="0" y="222"/>
                    </a:lnTo>
                    <a:lnTo>
                      <a:pt x="0" y="182"/>
                    </a:lnTo>
                    <a:cubicBezTo>
                      <a:pt x="54" y="184"/>
                      <a:pt x="35" y="184"/>
                      <a:pt x="56" y="184"/>
                    </a:cubicBezTo>
                    <a:lnTo>
                      <a:pt x="80" y="168"/>
                    </a:lnTo>
                    <a:lnTo>
                      <a:pt x="82" y="64"/>
                    </a:lnTo>
                    <a:lnTo>
                      <a:pt x="56" y="48"/>
                    </a:lnTo>
                    <a:lnTo>
                      <a:pt x="10" y="48"/>
                    </a:lnTo>
                    <a:lnTo>
                      <a:pt x="2" y="14"/>
                    </a:lnTo>
                    <a:close/>
                  </a:path>
                </a:pathLst>
              </a:custGeom>
              <a:solidFill>
                <a:srgbClr val="175097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60" name="Oval 40">
                <a:extLst>
                  <a:ext uri="{FF2B5EF4-FFF2-40B4-BE49-F238E27FC236}">
                    <a16:creationId xmlns:a16="http://schemas.microsoft.com/office/drawing/2014/main" id="{2A89A2A4-E925-0AFF-7B2B-6A8FF2A53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8" y="2470"/>
                <a:ext cx="94" cy="84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52" name="Oval 41">
              <a:extLst>
                <a:ext uri="{FF2B5EF4-FFF2-40B4-BE49-F238E27FC236}">
                  <a16:creationId xmlns:a16="http://schemas.microsoft.com/office/drawing/2014/main" id="{AF86E5AE-1DFC-A8B5-02DB-561414A28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474"/>
              <a:ext cx="198" cy="208"/>
            </a:xfrm>
            <a:prstGeom prst="ellipse">
              <a:avLst/>
            </a:prstGeom>
            <a:solidFill>
              <a:srgbClr val="9FACC7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53" name="Oval 42">
              <a:extLst>
                <a:ext uri="{FF2B5EF4-FFF2-40B4-BE49-F238E27FC236}">
                  <a16:creationId xmlns:a16="http://schemas.microsoft.com/office/drawing/2014/main" id="{D056C4E5-D8E1-D57D-21F0-72B4A3389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2" y="2608"/>
              <a:ext cx="198" cy="208"/>
            </a:xfrm>
            <a:prstGeom prst="ellipse">
              <a:avLst/>
            </a:prstGeom>
            <a:solidFill>
              <a:srgbClr val="9FACC7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54" name="Oval 43">
              <a:extLst>
                <a:ext uri="{FF2B5EF4-FFF2-40B4-BE49-F238E27FC236}">
                  <a16:creationId xmlns:a16="http://schemas.microsoft.com/office/drawing/2014/main" id="{E16C6554-774D-8A28-0DA5-64DB27CD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0" y="2258"/>
              <a:ext cx="198" cy="208"/>
            </a:xfrm>
            <a:prstGeom prst="ellipse">
              <a:avLst/>
            </a:prstGeom>
            <a:solidFill>
              <a:srgbClr val="9FACC7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55" name="Freeform 44">
              <a:extLst>
                <a:ext uri="{FF2B5EF4-FFF2-40B4-BE49-F238E27FC236}">
                  <a16:creationId xmlns:a16="http://schemas.microsoft.com/office/drawing/2014/main" id="{872DE5F0-6021-67A0-E284-41B2C7C72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8" y="2660"/>
              <a:ext cx="510" cy="514"/>
            </a:xfrm>
            <a:custGeom>
              <a:avLst/>
              <a:gdLst>
                <a:gd name="T0" fmla="*/ 0 w 510"/>
                <a:gd name="T1" fmla="*/ 236 h 514"/>
                <a:gd name="T2" fmla="*/ 0 w 510"/>
                <a:gd name="T3" fmla="*/ 514 h 514"/>
                <a:gd name="T4" fmla="*/ 510 w 510"/>
                <a:gd name="T5" fmla="*/ 514 h 514"/>
                <a:gd name="T6" fmla="*/ 510 w 510"/>
                <a:gd name="T7" fmla="*/ 240 h 514"/>
                <a:gd name="T8" fmla="*/ 350 w 510"/>
                <a:gd name="T9" fmla="*/ 142 h 514"/>
                <a:gd name="T10" fmla="*/ 350 w 510"/>
                <a:gd name="T11" fmla="*/ 0 h 514"/>
                <a:gd name="T12" fmla="*/ 160 w 510"/>
                <a:gd name="T13" fmla="*/ 0 h 514"/>
                <a:gd name="T14" fmla="*/ 160 w 510"/>
                <a:gd name="T15" fmla="*/ 142 h 514"/>
                <a:gd name="T16" fmla="*/ 0 w 510"/>
                <a:gd name="T17" fmla="*/ 236 h 5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10"/>
                <a:gd name="T28" fmla="*/ 0 h 514"/>
                <a:gd name="T29" fmla="*/ 510 w 510"/>
                <a:gd name="T30" fmla="*/ 514 h 51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10" h="514">
                  <a:moveTo>
                    <a:pt x="0" y="236"/>
                  </a:moveTo>
                  <a:lnTo>
                    <a:pt x="0" y="514"/>
                  </a:lnTo>
                  <a:lnTo>
                    <a:pt x="510" y="514"/>
                  </a:lnTo>
                  <a:lnTo>
                    <a:pt x="510" y="240"/>
                  </a:lnTo>
                  <a:lnTo>
                    <a:pt x="350" y="142"/>
                  </a:lnTo>
                  <a:lnTo>
                    <a:pt x="350" y="0"/>
                  </a:lnTo>
                  <a:lnTo>
                    <a:pt x="160" y="0"/>
                  </a:lnTo>
                  <a:lnTo>
                    <a:pt x="160" y="142"/>
                  </a:lnTo>
                  <a:lnTo>
                    <a:pt x="0" y="236"/>
                  </a:lnTo>
                  <a:close/>
                </a:path>
              </a:pathLst>
            </a:custGeom>
            <a:solidFill>
              <a:srgbClr val="BDD6AE"/>
            </a:solidFill>
            <a:ln w="19050" cmpd="sng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56" name="Freeform 45">
              <a:extLst>
                <a:ext uri="{FF2B5EF4-FFF2-40B4-BE49-F238E27FC236}">
                  <a16:creationId xmlns:a16="http://schemas.microsoft.com/office/drawing/2014/main" id="{23F2AA98-6FD5-CB6D-FD7F-5C618A409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" y="2144"/>
              <a:ext cx="1580" cy="597"/>
            </a:xfrm>
            <a:custGeom>
              <a:avLst/>
              <a:gdLst>
                <a:gd name="T0" fmla="*/ 0 w 1580"/>
                <a:gd name="T1" fmla="*/ 0 h 597"/>
                <a:gd name="T2" fmla="*/ 66 w 1580"/>
                <a:gd name="T3" fmla="*/ 214 h 597"/>
                <a:gd name="T4" fmla="*/ 288 w 1580"/>
                <a:gd name="T5" fmla="*/ 442 h 597"/>
                <a:gd name="T6" fmla="*/ 570 w 1580"/>
                <a:gd name="T7" fmla="*/ 570 h 597"/>
                <a:gd name="T8" fmla="*/ 786 w 1580"/>
                <a:gd name="T9" fmla="*/ 596 h 597"/>
                <a:gd name="T10" fmla="*/ 1022 w 1580"/>
                <a:gd name="T11" fmla="*/ 566 h 597"/>
                <a:gd name="T12" fmla="*/ 1296 w 1580"/>
                <a:gd name="T13" fmla="*/ 432 h 597"/>
                <a:gd name="T14" fmla="*/ 1490 w 1580"/>
                <a:gd name="T15" fmla="*/ 228 h 597"/>
                <a:gd name="T16" fmla="*/ 1580 w 1580"/>
                <a:gd name="T17" fmla="*/ 2 h 59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580"/>
                <a:gd name="T28" fmla="*/ 0 h 597"/>
                <a:gd name="T29" fmla="*/ 1580 w 1580"/>
                <a:gd name="T30" fmla="*/ 597 h 59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580" h="597">
                  <a:moveTo>
                    <a:pt x="0" y="0"/>
                  </a:moveTo>
                  <a:cubicBezTo>
                    <a:pt x="9" y="70"/>
                    <a:pt x="18" y="140"/>
                    <a:pt x="66" y="214"/>
                  </a:cubicBezTo>
                  <a:cubicBezTo>
                    <a:pt x="114" y="288"/>
                    <a:pt x="204" y="383"/>
                    <a:pt x="288" y="442"/>
                  </a:cubicBezTo>
                  <a:cubicBezTo>
                    <a:pt x="372" y="501"/>
                    <a:pt x="487" y="544"/>
                    <a:pt x="570" y="570"/>
                  </a:cubicBezTo>
                  <a:cubicBezTo>
                    <a:pt x="653" y="596"/>
                    <a:pt x="711" y="597"/>
                    <a:pt x="786" y="596"/>
                  </a:cubicBezTo>
                  <a:cubicBezTo>
                    <a:pt x="861" y="595"/>
                    <a:pt x="937" y="593"/>
                    <a:pt x="1022" y="566"/>
                  </a:cubicBezTo>
                  <a:cubicBezTo>
                    <a:pt x="1107" y="539"/>
                    <a:pt x="1218" y="488"/>
                    <a:pt x="1296" y="432"/>
                  </a:cubicBezTo>
                  <a:cubicBezTo>
                    <a:pt x="1374" y="376"/>
                    <a:pt x="1443" y="300"/>
                    <a:pt x="1490" y="228"/>
                  </a:cubicBezTo>
                  <a:cubicBezTo>
                    <a:pt x="1537" y="156"/>
                    <a:pt x="1561" y="49"/>
                    <a:pt x="1580" y="2"/>
                  </a:cubicBezTo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 type="triangl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6C96B04C-C584-A2F2-37DA-88C5702B4D98}"/>
              </a:ext>
            </a:extLst>
          </p:cNvPr>
          <p:cNvGrpSpPr>
            <a:grpSpLocks/>
          </p:cNvGrpSpPr>
          <p:nvPr/>
        </p:nvGrpSpPr>
        <p:grpSpPr bwMode="auto">
          <a:xfrm>
            <a:off x="616688" y="1551397"/>
            <a:ext cx="3997842" cy="2189046"/>
            <a:chOff x="1276360" y="2794000"/>
            <a:chExt cx="2362190" cy="1108075"/>
          </a:xfrm>
        </p:grpSpPr>
        <p:sp>
          <p:nvSpPr>
            <p:cNvPr id="166" name="Rectangle 4">
              <a:extLst>
                <a:ext uri="{FF2B5EF4-FFF2-40B4-BE49-F238E27FC236}">
                  <a16:creationId xmlns:a16="http://schemas.microsoft.com/office/drawing/2014/main" id="{A4D07FE0-50C2-9A01-0AAC-98AF9E68F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9300" y="3165475"/>
              <a:ext cx="882650" cy="384175"/>
            </a:xfrm>
            <a:prstGeom prst="rect">
              <a:avLst/>
            </a:prstGeom>
            <a:solidFill>
              <a:srgbClr val="BDD6AE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167" name="Group 14">
              <a:extLst>
                <a:ext uri="{FF2B5EF4-FFF2-40B4-BE49-F238E27FC236}">
                  <a16:creationId xmlns:a16="http://schemas.microsoft.com/office/drawing/2014/main" id="{6B634AC7-8A93-4677-A634-8FB5E4DA148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971800" y="3178175"/>
              <a:ext cx="314325" cy="365125"/>
              <a:chOff x="1186" y="2402"/>
              <a:chExt cx="198" cy="230"/>
            </a:xfrm>
          </p:grpSpPr>
          <p:sp>
            <p:nvSpPr>
              <p:cNvPr id="183" name="Oval 15">
                <a:extLst>
                  <a:ext uri="{FF2B5EF4-FFF2-40B4-BE49-F238E27FC236}">
                    <a16:creationId xmlns:a16="http://schemas.microsoft.com/office/drawing/2014/main" id="{DE3F8B90-D079-E4A2-F5AD-FF7B8C79FB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6" y="2588"/>
                <a:ext cx="46" cy="36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4" name="Oval 16">
                <a:extLst>
                  <a:ext uri="{FF2B5EF4-FFF2-40B4-BE49-F238E27FC236}">
                    <a16:creationId xmlns:a16="http://schemas.microsoft.com/office/drawing/2014/main" id="{DFCA2989-AB8B-75EE-F26E-C0C73BA50D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" y="2420"/>
                <a:ext cx="46" cy="40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5" name="Freeform 17">
                <a:extLst>
                  <a:ext uri="{FF2B5EF4-FFF2-40B4-BE49-F238E27FC236}">
                    <a16:creationId xmlns:a16="http://schemas.microsoft.com/office/drawing/2014/main" id="{5C3B0181-0AEC-8339-3D0B-480E47AF5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6" y="2402"/>
                <a:ext cx="158" cy="230"/>
              </a:xfrm>
              <a:custGeom>
                <a:avLst/>
                <a:gdLst>
                  <a:gd name="T0" fmla="*/ 2 w 158"/>
                  <a:gd name="T1" fmla="*/ 14 h 230"/>
                  <a:gd name="T2" fmla="*/ 24 w 158"/>
                  <a:gd name="T3" fmla="*/ 0 h 230"/>
                  <a:gd name="T4" fmla="*/ 64 w 158"/>
                  <a:gd name="T5" fmla="*/ 0 h 230"/>
                  <a:gd name="T6" fmla="*/ 92 w 158"/>
                  <a:gd name="T7" fmla="*/ 4 h 230"/>
                  <a:gd name="T8" fmla="*/ 118 w 158"/>
                  <a:gd name="T9" fmla="*/ 16 h 230"/>
                  <a:gd name="T10" fmla="*/ 140 w 158"/>
                  <a:gd name="T11" fmla="*/ 40 h 230"/>
                  <a:gd name="T12" fmla="*/ 158 w 158"/>
                  <a:gd name="T13" fmla="*/ 72 h 230"/>
                  <a:gd name="T14" fmla="*/ 158 w 158"/>
                  <a:gd name="T15" fmla="*/ 150 h 230"/>
                  <a:gd name="T16" fmla="*/ 140 w 158"/>
                  <a:gd name="T17" fmla="*/ 194 h 230"/>
                  <a:gd name="T18" fmla="*/ 106 w 158"/>
                  <a:gd name="T19" fmla="*/ 214 h 230"/>
                  <a:gd name="T20" fmla="*/ 78 w 158"/>
                  <a:gd name="T21" fmla="*/ 224 h 230"/>
                  <a:gd name="T22" fmla="*/ 32 w 158"/>
                  <a:gd name="T23" fmla="*/ 230 h 230"/>
                  <a:gd name="T24" fmla="*/ 0 w 158"/>
                  <a:gd name="T25" fmla="*/ 222 h 230"/>
                  <a:gd name="T26" fmla="*/ 0 w 158"/>
                  <a:gd name="T27" fmla="*/ 182 h 230"/>
                  <a:gd name="T28" fmla="*/ 56 w 158"/>
                  <a:gd name="T29" fmla="*/ 184 h 230"/>
                  <a:gd name="T30" fmla="*/ 80 w 158"/>
                  <a:gd name="T31" fmla="*/ 168 h 230"/>
                  <a:gd name="T32" fmla="*/ 82 w 158"/>
                  <a:gd name="T33" fmla="*/ 64 h 230"/>
                  <a:gd name="T34" fmla="*/ 56 w 158"/>
                  <a:gd name="T35" fmla="*/ 48 h 230"/>
                  <a:gd name="T36" fmla="*/ 10 w 158"/>
                  <a:gd name="T37" fmla="*/ 48 h 230"/>
                  <a:gd name="T38" fmla="*/ 2 w 158"/>
                  <a:gd name="T39" fmla="*/ 14 h 2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58"/>
                  <a:gd name="T61" fmla="*/ 0 h 230"/>
                  <a:gd name="T62" fmla="*/ 158 w 158"/>
                  <a:gd name="T63" fmla="*/ 230 h 2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58" h="230">
                    <a:moveTo>
                      <a:pt x="2" y="14"/>
                    </a:moveTo>
                    <a:lnTo>
                      <a:pt x="24" y="0"/>
                    </a:lnTo>
                    <a:lnTo>
                      <a:pt x="64" y="0"/>
                    </a:lnTo>
                    <a:lnTo>
                      <a:pt x="92" y="4"/>
                    </a:lnTo>
                    <a:lnTo>
                      <a:pt x="118" y="16"/>
                    </a:lnTo>
                    <a:lnTo>
                      <a:pt x="140" y="40"/>
                    </a:lnTo>
                    <a:lnTo>
                      <a:pt x="158" y="72"/>
                    </a:lnTo>
                    <a:lnTo>
                      <a:pt x="158" y="150"/>
                    </a:lnTo>
                    <a:lnTo>
                      <a:pt x="140" y="194"/>
                    </a:lnTo>
                    <a:lnTo>
                      <a:pt x="106" y="214"/>
                    </a:lnTo>
                    <a:lnTo>
                      <a:pt x="78" y="224"/>
                    </a:lnTo>
                    <a:lnTo>
                      <a:pt x="32" y="230"/>
                    </a:lnTo>
                    <a:lnTo>
                      <a:pt x="0" y="222"/>
                    </a:lnTo>
                    <a:lnTo>
                      <a:pt x="0" y="182"/>
                    </a:lnTo>
                    <a:cubicBezTo>
                      <a:pt x="54" y="184"/>
                      <a:pt x="35" y="184"/>
                      <a:pt x="56" y="184"/>
                    </a:cubicBezTo>
                    <a:lnTo>
                      <a:pt x="80" y="168"/>
                    </a:lnTo>
                    <a:lnTo>
                      <a:pt x="82" y="64"/>
                    </a:lnTo>
                    <a:lnTo>
                      <a:pt x="56" y="48"/>
                    </a:lnTo>
                    <a:lnTo>
                      <a:pt x="10" y="48"/>
                    </a:lnTo>
                    <a:lnTo>
                      <a:pt x="2" y="14"/>
                    </a:lnTo>
                    <a:close/>
                  </a:path>
                </a:pathLst>
              </a:custGeom>
              <a:solidFill>
                <a:srgbClr val="175097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86" name="Oval 18">
                <a:extLst>
                  <a:ext uri="{FF2B5EF4-FFF2-40B4-BE49-F238E27FC236}">
                    <a16:creationId xmlns:a16="http://schemas.microsoft.com/office/drawing/2014/main" id="{591A7F72-CA97-6EEF-9C26-F7FA13801D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8" y="2470"/>
                <a:ext cx="94" cy="84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68" name="Oval 19">
              <a:extLst>
                <a:ext uri="{FF2B5EF4-FFF2-40B4-BE49-F238E27FC236}">
                  <a16:creationId xmlns:a16="http://schemas.microsoft.com/office/drawing/2014/main" id="{E4CD39E8-1B37-7F5E-796F-28584B95764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36900" y="2794000"/>
              <a:ext cx="314325" cy="339725"/>
            </a:xfrm>
            <a:prstGeom prst="ellipse">
              <a:avLst/>
            </a:prstGeom>
            <a:solidFill>
              <a:srgbClr val="9FACC7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69" name="Oval 20">
              <a:extLst>
                <a:ext uri="{FF2B5EF4-FFF2-40B4-BE49-F238E27FC236}">
                  <a16:creationId xmlns:a16="http://schemas.microsoft.com/office/drawing/2014/main" id="{BF3D4652-7732-9B8F-5A2E-7848D2CD126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49600" y="3562350"/>
              <a:ext cx="314325" cy="339725"/>
            </a:xfrm>
            <a:prstGeom prst="ellipse">
              <a:avLst/>
            </a:prstGeom>
            <a:solidFill>
              <a:srgbClr val="9FACC7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0" name="Oval 21">
              <a:extLst>
                <a:ext uri="{FF2B5EF4-FFF2-40B4-BE49-F238E27FC236}">
                  <a16:creationId xmlns:a16="http://schemas.microsoft.com/office/drawing/2014/main" id="{408B72DD-5786-5252-39F0-F878F5D4815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324225" y="3171825"/>
              <a:ext cx="314325" cy="339725"/>
            </a:xfrm>
            <a:prstGeom prst="ellipse">
              <a:avLst/>
            </a:prstGeom>
            <a:solidFill>
              <a:srgbClr val="9FACC7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71" name="TextBox 1">
              <a:extLst>
                <a:ext uri="{FF2B5EF4-FFF2-40B4-BE49-F238E27FC236}">
                  <a16:creationId xmlns:a16="http://schemas.microsoft.com/office/drawing/2014/main" id="{A06E933E-AA97-7E3D-A478-AC6384668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2368" y="3183580"/>
              <a:ext cx="914433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Material</a:t>
              </a:r>
            </a:p>
          </p:txBody>
        </p:sp>
        <p:grpSp>
          <p:nvGrpSpPr>
            <p:cNvPr id="172" name="Group 7">
              <a:extLst>
                <a:ext uri="{FF2B5EF4-FFF2-40B4-BE49-F238E27FC236}">
                  <a16:creationId xmlns:a16="http://schemas.microsoft.com/office/drawing/2014/main" id="{1AE9AD69-92FF-F748-A3F6-3C12A07DF2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6360" y="2794000"/>
              <a:ext cx="874183" cy="1108075"/>
              <a:chOff x="1403350" y="2794000"/>
              <a:chExt cx="874183" cy="1108075"/>
            </a:xfrm>
          </p:grpSpPr>
          <p:grpSp>
            <p:nvGrpSpPr>
              <p:cNvPr id="174" name="Group 5">
                <a:extLst>
                  <a:ext uri="{FF2B5EF4-FFF2-40B4-BE49-F238E27FC236}">
                    <a16:creationId xmlns:a16="http://schemas.microsoft.com/office/drawing/2014/main" id="{C320BD3D-6E32-A0A1-7251-60F7843CE1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55775" y="3178175"/>
                <a:ext cx="314325" cy="365125"/>
                <a:chOff x="1186" y="2402"/>
                <a:chExt cx="198" cy="230"/>
              </a:xfrm>
            </p:grpSpPr>
            <p:sp>
              <p:nvSpPr>
                <p:cNvPr id="179" name="Oval 6">
                  <a:extLst>
                    <a:ext uri="{FF2B5EF4-FFF2-40B4-BE49-F238E27FC236}">
                      <a16:creationId xmlns:a16="http://schemas.microsoft.com/office/drawing/2014/main" id="{0ECCAB9C-8F21-E3AE-BA94-562795885D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6" y="2588"/>
                  <a:ext cx="46" cy="36"/>
                </a:xfrm>
                <a:prstGeom prst="ellipse">
                  <a:avLst/>
                </a:prstGeom>
                <a:solidFill>
                  <a:srgbClr val="CA8C0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80" name="Oval 7">
                  <a:extLst>
                    <a:ext uri="{FF2B5EF4-FFF2-40B4-BE49-F238E27FC236}">
                      <a16:creationId xmlns:a16="http://schemas.microsoft.com/office/drawing/2014/main" id="{3F1A0A65-4B59-AC2F-D3C5-A8FD91F91C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2" y="2420"/>
                  <a:ext cx="46" cy="40"/>
                </a:xfrm>
                <a:prstGeom prst="ellipse">
                  <a:avLst/>
                </a:prstGeom>
                <a:solidFill>
                  <a:srgbClr val="CA8C0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81" name="Freeform 8">
                  <a:extLst>
                    <a:ext uri="{FF2B5EF4-FFF2-40B4-BE49-F238E27FC236}">
                      <a16:creationId xmlns:a16="http://schemas.microsoft.com/office/drawing/2014/main" id="{FC84B8FB-4DDC-EB7C-B2F1-31597EA5EF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26" y="2402"/>
                  <a:ext cx="158" cy="230"/>
                </a:xfrm>
                <a:custGeom>
                  <a:avLst/>
                  <a:gdLst>
                    <a:gd name="T0" fmla="*/ 2 w 158"/>
                    <a:gd name="T1" fmla="*/ 14 h 230"/>
                    <a:gd name="T2" fmla="*/ 24 w 158"/>
                    <a:gd name="T3" fmla="*/ 0 h 230"/>
                    <a:gd name="T4" fmla="*/ 64 w 158"/>
                    <a:gd name="T5" fmla="*/ 0 h 230"/>
                    <a:gd name="T6" fmla="*/ 92 w 158"/>
                    <a:gd name="T7" fmla="*/ 4 h 230"/>
                    <a:gd name="T8" fmla="*/ 118 w 158"/>
                    <a:gd name="T9" fmla="*/ 16 h 230"/>
                    <a:gd name="T10" fmla="*/ 140 w 158"/>
                    <a:gd name="T11" fmla="*/ 40 h 230"/>
                    <a:gd name="T12" fmla="*/ 158 w 158"/>
                    <a:gd name="T13" fmla="*/ 72 h 230"/>
                    <a:gd name="T14" fmla="*/ 158 w 158"/>
                    <a:gd name="T15" fmla="*/ 150 h 230"/>
                    <a:gd name="T16" fmla="*/ 140 w 158"/>
                    <a:gd name="T17" fmla="*/ 194 h 230"/>
                    <a:gd name="T18" fmla="*/ 106 w 158"/>
                    <a:gd name="T19" fmla="*/ 214 h 230"/>
                    <a:gd name="T20" fmla="*/ 78 w 158"/>
                    <a:gd name="T21" fmla="*/ 224 h 230"/>
                    <a:gd name="T22" fmla="*/ 32 w 158"/>
                    <a:gd name="T23" fmla="*/ 230 h 230"/>
                    <a:gd name="T24" fmla="*/ 0 w 158"/>
                    <a:gd name="T25" fmla="*/ 222 h 230"/>
                    <a:gd name="T26" fmla="*/ 0 w 158"/>
                    <a:gd name="T27" fmla="*/ 182 h 230"/>
                    <a:gd name="T28" fmla="*/ 56 w 158"/>
                    <a:gd name="T29" fmla="*/ 184 h 230"/>
                    <a:gd name="T30" fmla="*/ 80 w 158"/>
                    <a:gd name="T31" fmla="*/ 168 h 230"/>
                    <a:gd name="T32" fmla="*/ 82 w 158"/>
                    <a:gd name="T33" fmla="*/ 64 h 230"/>
                    <a:gd name="T34" fmla="*/ 56 w 158"/>
                    <a:gd name="T35" fmla="*/ 48 h 230"/>
                    <a:gd name="T36" fmla="*/ 10 w 158"/>
                    <a:gd name="T37" fmla="*/ 48 h 230"/>
                    <a:gd name="T38" fmla="*/ 2 w 158"/>
                    <a:gd name="T39" fmla="*/ 14 h 230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8"/>
                    <a:gd name="T61" fmla="*/ 0 h 230"/>
                    <a:gd name="T62" fmla="*/ 158 w 158"/>
                    <a:gd name="T63" fmla="*/ 230 h 230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8" h="230">
                      <a:moveTo>
                        <a:pt x="2" y="14"/>
                      </a:moveTo>
                      <a:lnTo>
                        <a:pt x="24" y="0"/>
                      </a:lnTo>
                      <a:lnTo>
                        <a:pt x="64" y="0"/>
                      </a:lnTo>
                      <a:lnTo>
                        <a:pt x="92" y="4"/>
                      </a:lnTo>
                      <a:lnTo>
                        <a:pt x="118" y="16"/>
                      </a:lnTo>
                      <a:lnTo>
                        <a:pt x="140" y="40"/>
                      </a:lnTo>
                      <a:lnTo>
                        <a:pt x="158" y="72"/>
                      </a:lnTo>
                      <a:lnTo>
                        <a:pt x="158" y="150"/>
                      </a:lnTo>
                      <a:lnTo>
                        <a:pt x="140" y="194"/>
                      </a:lnTo>
                      <a:lnTo>
                        <a:pt x="106" y="214"/>
                      </a:lnTo>
                      <a:lnTo>
                        <a:pt x="78" y="224"/>
                      </a:lnTo>
                      <a:lnTo>
                        <a:pt x="32" y="230"/>
                      </a:lnTo>
                      <a:lnTo>
                        <a:pt x="0" y="222"/>
                      </a:lnTo>
                      <a:lnTo>
                        <a:pt x="0" y="182"/>
                      </a:lnTo>
                      <a:cubicBezTo>
                        <a:pt x="54" y="184"/>
                        <a:pt x="35" y="184"/>
                        <a:pt x="56" y="184"/>
                      </a:cubicBezTo>
                      <a:lnTo>
                        <a:pt x="80" y="168"/>
                      </a:lnTo>
                      <a:lnTo>
                        <a:pt x="82" y="64"/>
                      </a:lnTo>
                      <a:lnTo>
                        <a:pt x="56" y="48"/>
                      </a:lnTo>
                      <a:lnTo>
                        <a:pt x="10" y="48"/>
                      </a:lnTo>
                      <a:lnTo>
                        <a:pt x="2" y="14"/>
                      </a:lnTo>
                      <a:close/>
                    </a:path>
                  </a:pathLst>
                </a:custGeom>
                <a:solidFill>
                  <a:srgbClr val="175097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82" name="Oval 9">
                  <a:extLst>
                    <a:ext uri="{FF2B5EF4-FFF2-40B4-BE49-F238E27FC236}">
                      <a16:creationId xmlns:a16="http://schemas.microsoft.com/office/drawing/2014/main" id="{E6B95568-2E03-2E0F-4880-56B2F812DB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8" y="2470"/>
                  <a:ext cx="94" cy="84"/>
                </a:xfrm>
                <a:prstGeom prst="ellipse">
                  <a:avLst/>
                </a:prstGeom>
                <a:solidFill>
                  <a:srgbClr val="CA8C0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175" name="Oval 10">
                <a:extLst>
                  <a:ext uri="{FF2B5EF4-FFF2-40B4-BE49-F238E27FC236}">
                    <a16:creationId xmlns:a16="http://schemas.microsoft.com/office/drawing/2014/main" id="{126AFE10-0168-B4BA-B24B-0AB3FAE5A6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0675" y="2794000"/>
                <a:ext cx="314325" cy="339725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76" name="Oval 11">
                <a:extLst>
                  <a:ext uri="{FF2B5EF4-FFF2-40B4-BE49-F238E27FC236}">
                    <a16:creationId xmlns:a16="http://schemas.microsoft.com/office/drawing/2014/main" id="{E2ACFD46-04DF-4296-08AB-3B359CD15D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7975" y="3562350"/>
                <a:ext cx="314325" cy="339725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77" name="Oval 12">
                <a:extLst>
                  <a:ext uri="{FF2B5EF4-FFF2-40B4-BE49-F238E27FC236}">
                    <a16:creationId xmlns:a16="http://schemas.microsoft.com/office/drawing/2014/main" id="{7DAFA582-6902-9468-EB21-A9D65CBB7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3350" y="3171825"/>
                <a:ext cx="314325" cy="339725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78" name="Freeform 6">
                <a:extLst>
                  <a:ext uri="{FF2B5EF4-FFF2-40B4-BE49-F238E27FC236}">
                    <a16:creationId xmlns:a16="http://schemas.microsoft.com/office/drawing/2014/main" id="{F2B20071-827C-F394-EDB6-872F2A504668}"/>
                  </a:ext>
                </a:extLst>
              </p:cNvPr>
              <p:cNvSpPr/>
              <p:nvPr/>
            </p:nvSpPr>
            <p:spPr>
              <a:xfrm>
                <a:off x="1549399" y="2874963"/>
                <a:ext cx="728660" cy="936625"/>
              </a:xfrm>
              <a:custGeom>
                <a:avLst/>
                <a:gdLst>
                  <a:gd name="connsiteX0" fmla="*/ 728145 w 728145"/>
                  <a:gd name="connsiteY0" fmla="*/ 677475 h 936979"/>
                  <a:gd name="connsiteX1" fmla="*/ 626545 w 728145"/>
                  <a:gd name="connsiteY1" fmla="*/ 834108 h 936979"/>
                  <a:gd name="connsiteX2" fmla="*/ 431812 w 728145"/>
                  <a:gd name="connsiteY2" fmla="*/ 935708 h 936979"/>
                  <a:gd name="connsiteX3" fmla="*/ 203212 w 728145"/>
                  <a:gd name="connsiteY3" fmla="*/ 880675 h 936979"/>
                  <a:gd name="connsiteX4" fmla="*/ 63512 w 728145"/>
                  <a:gd name="connsiteY4" fmla="*/ 732508 h 936979"/>
                  <a:gd name="connsiteX5" fmla="*/ 12 w 728145"/>
                  <a:gd name="connsiteY5" fmla="*/ 457341 h 936979"/>
                  <a:gd name="connsiteX6" fmla="*/ 67745 w 728145"/>
                  <a:gd name="connsiteY6" fmla="*/ 211808 h 936979"/>
                  <a:gd name="connsiteX7" fmla="*/ 220145 w 728145"/>
                  <a:gd name="connsiteY7" fmla="*/ 55175 h 936979"/>
                  <a:gd name="connsiteX8" fmla="*/ 389479 w 728145"/>
                  <a:gd name="connsiteY8" fmla="*/ 141 h 936979"/>
                  <a:gd name="connsiteX9" fmla="*/ 579979 w 728145"/>
                  <a:gd name="connsiteY9" fmla="*/ 67875 h 936979"/>
                  <a:gd name="connsiteX10" fmla="*/ 677345 w 728145"/>
                  <a:gd name="connsiteY10" fmla="*/ 169475 h 936979"/>
                  <a:gd name="connsiteX11" fmla="*/ 728145 w 728145"/>
                  <a:gd name="connsiteY11" fmla="*/ 279541 h 936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28145" h="936979">
                    <a:moveTo>
                      <a:pt x="728145" y="677475"/>
                    </a:moveTo>
                    <a:cubicBezTo>
                      <a:pt x="702039" y="734272"/>
                      <a:pt x="675934" y="791069"/>
                      <a:pt x="626545" y="834108"/>
                    </a:cubicBezTo>
                    <a:cubicBezTo>
                      <a:pt x="577156" y="877147"/>
                      <a:pt x="502367" y="927947"/>
                      <a:pt x="431812" y="935708"/>
                    </a:cubicBezTo>
                    <a:cubicBezTo>
                      <a:pt x="361256" y="943469"/>
                      <a:pt x="264595" y="914542"/>
                      <a:pt x="203212" y="880675"/>
                    </a:cubicBezTo>
                    <a:cubicBezTo>
                      <a:pt x="141829" y="846808"/>
                      <a:pt x="97379" y="803064"/>
                      <a:pt x="63512" y="732508"/>
                    </a:cubicBezTo>
                    <a:cubicBezTo>
                      <a:pt x="29645" y="661952"/>
                      <a:pt x="-693" y="544124"/>
                      <a:pt x="12" y="457341"/>
                    </a:cubicBezTo>
                    <a:cubicBezTo>
                      <a:pt x="717" y="370558"/>
                      <a:pt x="31056" y="278836"/>
                      <a:pt x="67745" y="211808"/>
                    </a:cubicBezTo>
                    <a:cubicBezTo>
                      <a:pt x="104434" y="144780"/>
                      <a:pt x="166523" y="90453"/>
                      <a:pt x="220145" y="55175"/>
                    </a:cubicBezTo>
                    <a:cubicBezTo>
                      <a:pt x="273767" y="19897"/>
                      <a:pt x="329507" y="-1976"/>
                      <a:pt x="389479" y="141"/>
                    </a:cubicBezTo>
                    <a:cubicBezTo>
                      <a:pt x="449451" y="2258"/>
                      <a:pt x="532001" y="39653"/>
                      <a:pt x="579979" y="67875"/>
                    </a:cubicBezTo>
                    <a:cubicBezTo>
                      <a:pt x="627957" y="96097"/>
                      <a:pt x="652651" y="134197"/>
                      <a:pt x="677345" y="169475"/>
                    </a:cubicBezTo>
                    <a:cubicBezTo>
                      <a:pt x="702039" y="204753"/>
                      <a:pt x="728145" y="279541"/>
                      <a:pt x="728145" y="279541"/>
                    </a:cubicBezTo>
                  </a:path>
                </a:pathLst>
              </a:custGeom>
              <a:noFill/>
              <a:ln w="38100" cap="flat" cmpd="sng" algn="ctr">
                <a:solidFill>
                  <a:schemeClr val="tx1"/>
                </a:solidFill>
                <a:prstDash val="solid"/>
                <a:tailEnd type="triangle" w="med" len="sm"/>
              </a:ln>
              <a:effectLst/>
            </p:spPr>
            <p:txBody>
              <a:bodyPr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173" name="Freeform 52">
              <a:extLst>
                <a:ext uri="{FF2B5EF4-FFF2-40B4-BE49-F238E27FC236}">
                  <a16:creationId xmlns:a16="http://schemas.microsoft.com/office/drawing/2014/main" id="{3CFB5AEC-48A8-AFD6-62F4-C8B50A3D3A89}"/>
                </a:ext>
              </a:extLst>
            </p:cNvPr>
            <p:cNvSpPr/>
            <p:nvPr/>
          </p:nvSpPr>
          <p:spPr>
            <a:xfrm flipH="1">
              <a:off x="2759079" y="2874963"/>
              <a:ext cx="728660" cy="936625"/>
            </a:xfrm>
            <a:custGeom>
              <a:avLst/>
              <a:gdLst>
                <a:gd name="connsiteX0" fmla="*/ 728145 w 728145"/>
                <a:gd name="connsiteY0" fmla="*/ 677475 h 936979"/>
                <a:gd name="connsiteX1" fmla="*/ 626545 w 728145"/>
                <a:gd name="connsiteY1" fmla="*/ 834108 h 936979"/>
                <a:gd name="connsiteX2" fmla="*/ 431812 w 728145"/>
                <a:gd name="connsiteY2" fmla="*/ 935708 h 936979"/>
                <a:gd name="connsiteX3" fmla="*/ 203212 w 728145"/>
                <a:gd name="connsiteY3" fmla="*/ 880675 h 936979"/>
                <a:gd name="connsiteX4" fmla="*/ 63512 w 728145"/>
                <a:gd name="connsiteY4" fmla="*/ 732508 h 936979"/>
                <a:gd name="connsiteX5" fmla="*/ 12 w 728145"/>
                <a:gd name="connsiteY5" fmla="*/ 457341 h 936979"/>
                <a:gd name="connsiteX6" fmla="*/ 67745 w 728145"/>
                <a:gd name="connsiteY6" fmla="*/ 211808 h 936979"/>
                <a:gd name="connsiteX7" fmla="*/ 220145 w 728145"/>
                <a:gd name="connsiteY7" fmla="*/ 55175 h 936979"/>
                <a:gd name="connsiteX8" fmla="*/ 389479 w 728145"/>
                <a:gd name="connsiteY8" fmla="*/ 141 h 936979"/>
                <a:gd name="connsiteX9" fmla="*/ 579979 w 728145"/>
                <a:gd name="connsiteY9" fmla="*/ 67875 h 936979"/>
                <a:gd name="connsiteX10" fmla="*/ 677345 w 728145"/>
                <a:gd name="connsiteY10" fmla="*/ 169475 h 936979"/>
                <a:gd name="connsiteX11" fmla="*/ 728145 w 728145"/>
                <a:gd name="connsiteY11" fmla="*/ 279541 h 936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8145" h="936979">
                  <a:moveTo>
                    <a:pt x="728145" y="677475"/>
                  </a:moveTo>
                  <a:cubicBezTo>
                    <a:pt x="702039" y="734272"/>
                    <a:pt x="675934" y="791069"/>
                    <a:pt x="626545" y="834108"/>
                  </a:cubicBezTo>
                  <a:cubicBezTo>
                    <a:pt x="577156" y="877147"/>
                    <a:pt x="502367" y="927947"/>
                    <a:pt x="431812" y="935708"/>
                  </a:cubicBezTo>
                  <a:cubicBezTo>
                    <a:pt x="361256" y="943469"/>
                    <a:pt x="264595" y="914542"/>
                    <a:pt x="203212" y="880675"/>
                  </a:cubicBezTo>
                  <a:cubicBezTo>
                    <a:pt x="141829" y="846808"/>
                    <a:pt x="97379" y="803064"/>
                    <a:pt x="63512" y="732508"/>
                  </a:cubicBezTo>
                  <a:cubicBezTo>
                    <a:pt x="29645" y="661952"/>
                    <a:pt x="-693" y="544124"/>
                    <a:pt x="12" y="457341"/>
                  </a:cubicBezTo>
                  <a:cubicBezTo>
                    <a:pt x="717" y="370558"/>
                    <a:pt x="31056" y="278836"/>
                    <a:pt x="67745" y="211808"/>
                  </a:cubicBezTo>
                  <a:cubicBezTo>
                    <a:pt x="104434" y="144780"/>
                    <a:pt x="166523" y="90453"/>
                    <a:pt x="220145" y="55175"/>
                  </a:cubicBezTo>
                  <a:cubicBezTo>
                    <a:pt x="273767" y="19897"/>
                    <a:pt x="329507" y="-1976"/>
                    <a:pt x="389479" y="141"/>
                  </a:cubicBezTo>
                  <a:cubicBezTo>
                    <a:pt x="449451" y="2258"/>
                    <a:pt x="532001" y="39653"/>
                    <a:pt x="579979" y="67875"/>
                  </a:cubicBezTo>
                  <a:cubicBezTo>
                    <a:pt x="627957" y="96097"/>
                    <a:pt x="652651" y="134197"/>
                    <a:pt x="677345" y="169475"/>
                  </a:cubicBezTo>
                  <a:cubicBezTo>
                    <a:pt x="702039" y="204753"/>
                    <a:pt x="728145" y="279541"/>
                    <a:pt x="728145" y="279541"/>
                  </a:cubicBezTo>
                </a:path>
              </a:pathLst>
            </a:custGeom>
            <a:noFill/>
            <a:ln w="38100" cap="flat" cmpd="sng" algn="ctr">
              <a:solidFill>
                <a:schemeClr val="tx1"/>
              </a:solidFill>
              <a:prstDash val="solid"/>
              <a:tailEnd type="triangle" w="med" len="sm"/>
            </a:ln>
            <a:effectLst/>
          </p:spPr>
          <p:txBody>
            <a:bodyPr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2561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1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animBg="1"/>
      <p:bldP spid="143" grpId="0" animBg="1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012B4-7470-7B26-4234-74AB5C275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Product Layouts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5DA98-038E-F6F3-78DA-3C1C11CD181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D9E22-F8D6-AD6B-C487-D44C9F4A9B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FF9D5-6A16-855B-06F9-C28E75986C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73" name="Rectangle 3">
            <a:extLst>
              <a:ext uri="{FF2B5EF4-FFF2-40B4-BE49-F238E27FC236}">
                <a16:creationId xmlns:a16="http://schemas.microsoft.com/office/drawing/2014/main" id="{AEF6FDB7-0B79-4082-EC2B-E8B9697AE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0" y="3141192"/>
            <a:ext cx="5815932" cy="1191095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sz="2800" b="1" kern="1200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Current layout </a:t>
            </a:r>
            <a:r>
              <a:rPr lang="en-US" sz="2800" kern="1200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- straight lines make it hard to balance tasks because work may not be divided evenly</a:t>
            </a:r>
          </a:p>
        </p:txBody>
      </p:sp>
      <p:sp>
        <p:nvSpPr>
          <p:cNvPr id="74" name="Rectangle 4">
            <a:extLst>
              <a:ext uri="{FF2B5EF4-FFF2-40B4-BE49-F238E27FC236}">
                <a16:creationId xmlns:a16="http://schemas.microsoft.com/office/drawing/2014/main" id="{7CA8504B-9968-112A-A64D-E68E405DF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9953" y="3141192"/>
            <a:ext cx="5815932" cy="1191095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45720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sz="2800" b="1" kern="12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Improved layout </a:t>
            </a:r>
            <a:r>
              <a:rPr lang="en-US" sz="2800" kern="12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- in U shape, workers have better access. Four cross-trained workers were reduced to three.</a:t>
            </a:r>
          </a:p>
        </p:txBody>
      </p:sp>
      <p:grpSp>
        <p:nvGrpSpPr>
          <p:cNvPr id="75" name="Group 5">
            <a:extLst>
              <a:ext uri="{FF2B5EF4-FFF2-40B4-BE49-F238E27FC236}">
                <a16:creationId xmlns:a16="http://schemas.microsoft.com/office/drawing/2014/main" id="{D522863C-016D-8467-2FDF-6BC9EE8FE3F5}"/>
              </a:ext>
            </a:extLst>
          </p:cNvPr>
          <p:cNvGrpSpPr>
            <a:grpSpLocks/>
          </p:cNvGrpSpPr>
          <p:nvPr/>
        </p:nvGrpSpPr>
        <p:grpSpPr bwMode="auto">
          <a:xfrm>
            <a:off x="6696380" y="1142233"/>
            <a:ext cx="5243983" cy="1893608"/>
            <a:chOff x="3496" y="1889"/>
            <a:chExt cx="1586" cy="823"/>
          </a:xfrm>
        </p:grpSpPr>
        <p:grpSp>
          <p:nvGrpSpPr>
            <p:cNvPr id="76" name="Group 6">
              <a:extLst>
                <a:ext uri="{FF2B5EF4-FFF2-40B4-BE49-F238E27FC236}">
                  <a16:creationId xmlns:a16="http://schemas.microsoft.com/office/drawing/2014/main" id="{838E603D-B7F0-88D9-0267-BF8B3F88E5F6}"/>
                </a:ext>
              </a:extLst>
            </p:cNvPr>
            <p:cNvGrpSpPr>
              <a:grpSpLocks/>
            </p:cNvGrpSpPr>
            <p:nvPr/>
          </p:nvGrpSpPr>
          <p:grpSpPr bwMode="auto">
            <a:xfrm rot="-75077">
              <a:off x="4614" y="2195"/>
              <a:ext cx="198" cy="230"/>
              <a:chOff x="1186" y="2402"/>
              <a:chExt cx="198" cy="230"/>
            </a:xfrm>
          </p:grpSpPr>
          <p:sp>
            <p:nvSpPr>
              <p:cNvPr id="100" name="Oval 7">
                <a:extLst>
                  <a:ext uri="{FF2B5EF4-FFF2-40B4-BE49-F238E27FC236}">
                    <a16:creationId xmlns:a16="http://schemas.microsoft.com/office/drawing/2014/main" id="{E66A2B01-AEB9-EE8D-BC30-1A649115A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6" y="2588"/>
                <a:ext cx="46" cy="36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01" name="Oval 8">
                <a:extLst>
                  <a:ext uri="{FF2B5EF4-FFF2-40B4-BE49-F238E27FC236}">
                    <a16:creationId xmlns:a16="http://schemas.microsoft.com/office/drawing/2014/main" id="{C8F4A7B4-D8EC-08F3-DB31-F261A2ACF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" y="2420"/>
                <a:ext cx="46" cy="40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02" name="Freeform 9">
                <a:extLst>
                  <a:ext uri="{FF2B5EF4-FFF2-40B4-BE49-F238E27FC236}">
                    <a16:creationId xmlns:a16="http://schemas.microsoft.com/office/drawing/2014/main" id="{63A0D6DB-A94A-A102-3CE1-72E8B01EE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6" y="2402"/>
                <a:ext cx="158" cy="230"/>
              </a:xfrm>
              <a:custGeom>
                <a:avLst/>
                <a:gdLst>
                  <a:gd name="T0" fmla="*/ 2 w 158"/>
                  <a:gd name="T1" fmla="*/ 14 h 230"/>
                  <a:gd name="T2" fmla="*/ 24 w 158"/>
                  <a:gd name="T3" fmla="*/ 0 h 230"/>
                  <a:gd name="T4" fmla="*/ 64 w 158"/>
                  <a:gd name="T5" fmla="*/ 0 h 230"/>
                  <a:gd name="T6" fmla="*/ 92 w 158"/>
                  <a:gd name="T7" fmla="*/ 4 h 230"/>
                  <a:gd name="T8" fmla="*/ 118 w 158"/>
                  <a:gd name="T9" fmla="*/ 16 h 230"/>
                  <a:gd name="T10" fmla="*/ 140 w 158"/>
                  <a:gd name="T11" fmla="*/ 40 h 230"/>
                  <a:gd name="T12" fmla="*/ 158 w 158"/>
                  <a:gd name="T13" fmla="*/ 72 h 230"/>
                  <a:gd name="T14" fmla="*/ 158 w 158"/>
                  <a:gd name="T15" fmla="*/ 150 h 230"/>
                  <a:gd name="T16" fmla="*/ 140 w 158"/>
                  <a:gd name="T17" fmla="*/ 194 h 230"/>
                  <a:gd name="T18" fmla="*/ 106 w 158"/>
                  <a:gd name="T19" fmla="*/ 214 h 230"/>
                  <a:gd name="T20" fmla="*/ 78 w 158"/>
                  <a:gd name="T21" fmla="*/ 224 h 230"/>
                  <a:gd name="T22" fmla="*/ 32 w 158"/>
                  <a:gd name="T23" fmla="*/ 230 h 230"/>
                  <a:gd name="T24" fmla="*/ 0 w 158"/>
                  <a:gd name="T25" fmla="*/ 222 h 230"/>
                  <a:gd name="T26" fmla="*/ 0 w 158"/>
                  <a:gd name="T27" fmla="*/ 182 h 230"/>
                  <a:gd name="T28" fmla="*/ 56 w 158"/>
                  <a:gd name="T29" fmla="*/ 184 h 230"/>
                  <a:gd name="T30" fmla="*/ 80 w 158"/>
                  <a:gd name="T31" fmla="*/ 168 h 230"/>
                  <a:gd name="T32" fmla="*/ 82 w 158"/>
                  <a:gd name="T33" fmla="*/ 64 h 230"/>
                  <a:gd name="T34" fmla="*/ 56 w 158"/>
                  <a:gd name="T35" fmla="*/ 48 h 230"/>
                  <a:gd name="T36" fmla="*/ 10 w 158"/>
                  <a:gd name="T37" fmla="*/ 48 h 230"/>
                  <a:gd name="T38" fmla="*/ 2 w 158"/>
                  <a:gd name="T39" fmla="*/ 14 h 2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58"/>
                  <a:gd name="T61" fmla="*/ 0 h 230"/>
                  <a:gd name="T62" fmla="*/ 158 w 158"/>
                  <a:gd name="T63" fmla="*/ 230 h 2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58" h="230">
                    <a:moveTo>
                      <a:pt x="2" y="14"/>
                    </a:moveTo>
                    <a:lnTo>
                      <a:pt x="24" y="0"/>
                    </a:lnTo>
                    <a:lnTo>
                      <a:pt x="64" y="0"/>
                    </a:lnTo>
                    <a:lnTo>
                      <a:pt x="92" y="4"/>
                    </a:lnTo>
                    <a:lnTo>
                      <a:pt x="118" y="16"/>
                    </a:lnTo>
                    <a:lnTo>
                      <a:pt x="140" y="40"/>
                    </a:lnTo>
                    <a:lnTo>
                      <a:pt x="158" y="72"/>
                    </a:lnTo>
                    <a:lnTo>
                      <a:pt x="158" y="150"/>
                    </a:lnTo>
                    <a:lnTo>
                      <a:pt x="140" y="194"/>
                    </a:lnTo>
                    <a:lnTo>
                      <a:pt x="106" y="214"/>
                    </a:lnTo>
                    <a:lnTo>
                      <a:pt x="78" y="224"/>
                    </a:lnTo>
                    <a:lnTo>
                      <a:pt x="32" y="230"/>
                    </a:lnTo>
                    <a:lnTo>
                      <a:pt x="0" y="222"/>
                    </a:lnTo>
                    <a:lnTo>
                      <a:pt x="0" y="182"/>
                    </a:lnTo>
                    <a:cubicBezTo>
                      <a:pt x="54" y="184"/>
                      <a:pt x="35" y="184"/>
                      <a:pt x="56" y="184"/>
                    </a:cubicBezTo>
                    <a:lnTo>
                      <a:pt x="80" y="168"/>
                    </a:lnTo>
                    <a:lnTo>
                      <a:pt x="82" y="64"/>
                    </a:lnTo>
                    <a:lnTo>
                      <a:pt x="56" y="48"/>
                    </a:lnTo>
                    <a:lnTo>
                      <a:pt x="10" y="48"/>
                    </a:lnTo>
                    <a:lnTo>
                      <a:pt x="2" y="14"/>
                    </a:lnTo>
                    <a:close/>
                  </a:path>
                </a:pathLst>
              </a:custGeom>
              <a:solidFill>
                <a:srgbClr val="175097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03" name="Oval 10">
                <a:extLst>
                  <a:ext uri="{FF2B5EF4-FFF2-40B4-BE49-F238E27FC236}">
                    <a16:creationId xmlns:a16="http://schemas.microsoft.com/office/drawing/2014/main" id="{5549DED6-5F1B-8369-7233-4D037C41A9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8" y="2470"/>
                <a:ext cx="94" cy="84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grpSp>
          <p:nvGrpSpPr>
            <p:cNvPr id="77" name="Group 11">
              <a:extLst>
                <a:ext uri="{FF2B5EF4-FFF2-40B4-BE49-F238E27FC236}">
                  <a16:creationId xmlns:a16="http://schemas.microsoft.com/office/drawing/2014/main" id="{63428DBB-A085-AE56-04DD-F6F7E59BBD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6" y="1889"/>
              <a:ext cx="1570" cy="819"/>
              <a:chOff x="3496" y="1889"/>
              <a:chExt cx="1570" cy="819"/>
            </a:xfrm>
          </p:grpSpPr>
          <p:grpSp>
            <p:nvGrpSpPr>
              <p:cNvPr id="83" name="Group 12">
                <a:extLst>
                  <a:ext uri="{FF2B5EF4-FFF2-40B4-BE49-F238E27FC236}">
                    <a16:creationId xmlns:a16="http://schemas.microsoft.com/office/drawing/2014/main" id="{838FE5CC-A426-D2EC-62F9-6D8828AE42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3636438">
                <a:off x="3707" y="2104"/>
                <a:ext cx="198" cy="230"/>
                <a:chOff x="1186" y="2402"/>
                <a:chExt cx="198" cy="230"/>
              </a:xfrm>
            </p:grpSpPr>
            <p:sp>
              <p:nvSpPr>
                <p:cNvPr id="96" name="Oval 13">
                  <a:extLst>
                    <a:ext uri="{FF2B5EF4-FFF2-40B4-BE49-F238E27FC236}">
                      <a16:creationId xmlns:a16="http://schemas.microsoft.com/office/drawing/2014/main" id="{3AEE0491-8BB5-51E8-F796-857CD47120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6" y="2588"/>
                  <a:ext cx="46" cy="36"/>
                </a:xfrm>
                <a:prstGeom prst="ellipse">
                  <a:avLst/>
                </a:prstGeom>
                <a:solidFill>
                  <a:srgbClr val="CA8C02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97" name="Oval 14">
                  <a:extLst>
                    <a:ext uri="{FF2B5EF4-FFF2-40B4-BE49-F238E27FC236}">
                      <a16:creationId xmlns:a16="http://schemas.microsoft.com/office/drawing/2014/main" id="{C875D163-DE60-635F-A9B2-2486589D10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2" y="2420"/>
                  <a:ext cx="46" cy="40"/>
                </a:xfrm>
                <a:prstGeom prst="ellipse">
                  <a:avLst/>
                </a:prstGeom>
                <a:solidFill>
                  <a:srgbClr val="CA8C02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98" name="Freeform 15">
                  <a:extLst>
                    <a:ext uri="{FF2B5EF4-FFF2-40B4-BE49-F238E27FC236}">
                      <a16:creationId xmlns:a16="http://schemas.microsoft.com/office/drawing/2014/main" id="{65C5ECEE-75C3-AB9E-B4B8-2207C5321F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26" y="2402"/>
                  <a:ext cx="158" cy="230"/>
                </a:xfrm>
                <a:custGeom>
                  <a:avLst/>
                  <a:gdLst>
                    <a:gd name="T0" fmla="*/ 2 w 158"/>
                    <a:gd name="T1" fmla="*/ 14 h 230"/>
                    <a:gd name="T2" fmla="*/ 24 w 158"/>
                    <a:gd name="T3" fmla="*/ 0 h 230"/>
                    <a:gd name="T4" fmla="*/ 64 w 158"/>
                    <a:gd name="T5" fmla="*/ 0 h 230"/>
                    <a:gd name="T6" fmla="*/ 92 w 158"/>
                    <a:gd name="T7" fmla="*/ 4 h 230"/>
                    <a:gd name="T8" fmla="*/ 118 w 158"/>
                    <a:gd name="T9" fmla="*/ 16 h 230"/>
                    <a:gd name="T10" fmla="*/ 140 w 158"/>
                    <a:gd name="T11" fmla="*/ 40 h 230"/>
                    <a:gd name="T12" fmla="*/ 158 w 158"/>
                    <a:gd name="T13" fmla="*/ 72 h 230"/>
                    <a:gd name="T14" fmla="*/ 158 w 158"/>
                    <a:gd name="T15" fmla="*/ 150 h 230"/>
                    <a:gd name="T16" fmla="*/ 140 w 158"/>
                    <a:gd name="T17" fmla="*/ 194 h 230"/>
                    <a:gd name="T18" fmla="*/ 106 w 158"/>
                    <a:gd name="T19" fmla="*/ 214 h 230"/>
                    <a:gd name="T20" fmla="*/ 78 w 158"/>
                    <a:gd name="T21" fmla="*/ 224 h 230"/>
                    <a:gd name="T22" fmla="*/ 32 w 158"/>
                    <a:gd name="T23" fmla="*/ 230 h 230"/>
                    <a:gd name="T24" fmla="*/ 0 w 158"/>
                    <a:gd name="T25" fmla="*/ 222 h 230"/>
                    <a:gd name="T26" fmla="*/ 0 w 158"/>
                    <a:gd name="T27" fmla="*/ 182 h 230"/>
                    <a:gd name="T28" fmla="*/ 56 w 158"/>
                    <a:gd name="T29" fmla="*/ 184 h 230"/>
                    <a:gd name="T30" fmla="*/ 80 w 158"/>
                    <a:gd name="T31" fmla="*/ 168 h 230"/>
                    <a:gd name="T32" fmla="*/ 82 w 158"/>
                    <a:gd name="T33" fmla="*/ 64 h 230"/>
                    <a:gd name="T34" fmla="*/ 56 w 158"/>
                    <a:gd name="T35" fmla="*/ 48 h 230"/>
                    <a:gd name="T36" fmla="*/ 10 w 158"/>
                    <a:gd name="T37" fmla="*/ 48 h 230"/>
                    <a:gd name="T38" fmla="*/ 2 w 158"/>
                    <a:gd name="T39" fmla="*/ 14 h 230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8"/>
                    <a:gd name="T61" fmla="*/ 0 h 230"/>
                    <a:gd name="T62" fmla="*/ 158 w 158"/>
                    <a:gd name="T63" fmla="*/ 230 h 230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8" h="230">
                      <a:moveTo>
                        <a:pt x="2" y="14"/>
                      </a:moveTo>
                      <a:lnTo>
                        <a:pt x="24" y="0"/>
                      </a:lnTo>
                      <a:lnTo>
                        <a:pt x="64" y="0"/>
                      </a:lnTo>
                      <a:lnTo>
                        <a:pt x="92" y="4"/>
                      </a:lnTo>
                      <a:lnTo>
                        <a:pt x="118" y="16"/>
                      </a:lnTo>
                      <a:lnTo>
                        <a:pt x="140" y="40"/>
                      </a:lnTo>
                      <a:lnTo>
                        <a:pt x="158" y="72"/>
                      </a:lnTo>
                      <a:lnTo>
                        <a:pt x="158" y="150"/>
                      </a:lnTo>
                      <a:lnTo>
                        <a:pt x="140" y="194"/>
                      </a:lnTo>
                      <a:lnTo>
                        <a:pt x="106" y="214"/>
                      </a:lnTo>
                      <a:lnTo>
                        <a:pt x="78" y="224"/>
                      </a:lnTo>
                      <a:lnTo>
                        <a:pt x="32" y="230"/>
                      </a:lnTo>
                      <a:lnTo>
                        <a:pt x="0" y="222"/>
                      </a:lnTo>
                      <a:lnTo>
                        <a:pt x="0" y="182"/>
                      </a:lnTo>
                      <a:cubicBezTo>
                        <a:pt x="54" y="184"/>
                        <a:pt x="35" y="184"/>
                        <a:pt x="56" y="184"/>
                      </a:cubicBezTo>
                      <a:lnTo>
                        <a:pt x="80" y="168"/>
                      </a:lnTo>
                      <a:lnTo>
                        <a:pt x="82" y="64"/>
                      </a:lnTo>
                      <a:lnTo>
                        <a:pt x="56" y="48"/>
                      </a:lnTo>
                      <a:lnTo>
                        <a:pt x="10" y="48"/>
                      </a:lnTo>
                      <a:lnTo>
                        <a:pt x="2" y="14"/>
                      </a:lnTo>
                      <a:close/>
                    </a:path>
                  </a:pathLst>
                </a:custGeom>
                <a:solidFill>
                  <a:srgbClr val="175097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99" name="Oval 16">
                  <a:extLst>
                    <a:ext uri="{FF2B5EF4-FFF2-40B4-BE49-F238E27FC236}">
                      <a16:creationId xmlns:a16="http://schemas.microsoft.com/office/drawing/2014/main" id="{DD18FB56-F718-AD55-38BC-F7AE0DB791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8" y="2470"/>
                  <a:ext cx="94" cy="84"/>
                </a:xfrm>
                <a:prstGeom prst="ellipse">
                  <a:avLst/>
                </a:prstGeom>
                <a:solidFill>
                  <a:srgbClr val="CA8C02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84" name="Rectangle 17">
                <a:extLst>
                  <a:ext uri="{FF2B5EF4-FFF2-40B4-BE49-F238E27FC236}">
                    <a16:creationId xmlns:a16="http://schemas.microsoft.com/office/drawing/2014/main" id="{E527A293-6D35-1A5A-F713-714F10DDEB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2" y="1889"/>
                <a:ext cx="264" cy="216"/>
              </a:xfrm>
              <a:prstGeom prst="rect">
                <a:avLst/>
              </a:prstGeom>
              <a:solidFill>
                <a:srgbClr val="BDD6AE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Arial" charset="0"/>
                </a:endParaRPr>
              </a:p>
            </p:txBody>
          </p:sp>
          <p:grpSp>
            <p:nvGrpSpPr>
              <p:cNvPr id="85" name="Group 18">
                <a:extLst>
                  <a:ext uri="{FF2B5EF4-FFF2-40B4-BE49-F238E27FC236}">
                    <a16:creationId xmlns:a16="http://schemas.microsoft.com/office/drawing/2014/main" id="{DBA1AF12-9A50-0504-AB17-E4C3DD2C00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7054893">
                <a:off x="4146" y="2045"/>
                <a:ext cx="198" cy="230"/>
                <a:chOff x="1186" y="2402"/>
                <a:chExt cx="198" cy="230"/>
              </a:xfrm>
            </p:grpSpPr>
            <p:sp>
              <p:nvSpPr>
                <p:cNvPr id="92" name="Oval 19">
                  <a:extLst>
                    <a:ext uri="{FF2B5EF4-FFF2-40B4-BE49-F238E27FC236}">
                      <a16:creationId xmlns:a16="http://schemas.microsoft.com/office/drawing/2014/main" id="{AF751120-16F1-6121-CA97-F3B3151689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6" y="2588"/>
                  <a:ext cx="46" cy="36"/>
                </a:xfrm>
                <a:prstGeom prst="ellipse">
                  <a:avLst/>
                </a:prstGeom>
                <a:solidFill>
                  <a:srgbClr val="CA8C02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93" name="Oval 20">
                  <a:extLst>
                    <a:ext uri="{FF2B5EF4-FFF2-40B4-BE49-F238E27FC236}">
                      <a16:creationId xmlns:a16="http://schemas.microsoft.com/office/drawing/2014/main" id="{4459D146-4843-BF07-CD40-0D39A2715A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2" y="2420"/>
                  <a:ext cx="46" cy="40"/>
                </a:xfrm>
                <a:prstGeom prst="ellipse">
                  <a:avLst/>
                </a:prstGeom>
                <a:solidFill>
                  <a:srgbClr val="CA8C02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94" name="Freeform 21">
                  <a:extLst>
                    <a:ext uri="{FF2B5EF4-FFF2-40B4-BE49-F238E27FC236}">
                      <a16:creationId xmlns:a16="http://schemas.microsoft.com/office/drawing/2014/main" id="{85CC7C57-AF41-9379-CCEA-585FE7B89E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26" y="2402"/>
                  <a:ext cx="158" cy="230"/>
                </a:xfrm>
                <a:custGeom>
                  <a:avLst/>
                  <a:gdLst>
                    <a:gd name="T0" fmla="*/ 2 w 158"/>
                    <a:gd name="T1" fmla="*/ 14 h 230"/>
                    <a:gd name="T2" fmla="*/ 24 w 158"/>
                    <a:gd name="T3" fmla="*/ 0 h 230"/>
                    <a:gd name="T4" fmla="*/ 64 w 158"/>
                    <a:gd name="T5" fmla="*/ 0 h 230"/>
                    <a:gd name="T6" fmla="*/ 92 w 158"/>
                    <a:gd name="T7" fmla="*/ 4 h 230"/>
                    <a:gd name="T8" fmla="*/ 118 w 158"/>
                    <a:gd name="T9" fmla="*/ 16 h 230"/>
                    <a:gd name="T10" fmla="*/ 140 w 158"/>
                    <a:gd name="T11" fmla="*/ 40 h 230"/>
                    <a:gd name="T12" fmla="*/ 158 w 158"/>
                    <a:gd name="T13" fmla="*/ 72 h 230"/>
                    <a:gd name="T14" fmla="*/ 158 w 158"/>
                    <a:gd name="T15" fmla="*/ 150 h 230"/>
                    <a:gd name="T16" fmla="*/ 140 w 158"/>
                    <a:gd name="T17" fmla="*/ 194 h 230"/>
                    <a:gd name="T18" fmla="*/ 106 w 158"/>
                    <a:gd name="T19" fmla="*/ 214 h 230"/>
                    <a:gd name="T20" fmla="*/ 78 w 158"/>
                    <a:gd name="T21" fmla="*/ 224 h 230"/>
                    <a:gd name="T22" fmla="*/ 32 w 158"/>
                    <a:gd name="T23" fmla="*/ 230 h 230"/>
                    <a:gd name="T24" fmla="*/ 0 w 158"/>
                    <a:gd name="T25" fmla="*/ 222 h 230"/>
                    <a:gd name="T26" fmla="*/ 0 w 158"/>
                    <a:gd name="T27" fmla="*/ 182 h 230"/>
                    <a:gd name="T28" fmla="*/ 56 w 158"/>
                    <a:gd name="T29" fmla="*/ 184 h 230"/>
                    <a:gd name="T30" fmla="*/ 80 w 158"/>
                    <a:gd name="T31" fmla="*/ 168 h 230"/>
                    <a:gd name="T32" fmla="*/ 82 w 158"/>
                    <a:gd name="T33" fmla="*/ 64 h 230"/>
                    <a:gd name="T34" fmla="*/ 56 w 158"/>
                    <a:gd name="T35" fmla="*/ 48 h 230"/>
                    <a:gd name="T36" fmla="*/ 10 w 158"/>
                    <a:gd name="T37" fmla="*/ 48 h 230"/>
                    <a:gd name="T38" fmla="*/ 2 w 158"/>
                    <a:gd name="T39" fmla="*/ 14 h 230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8"/>
                    <a:gd name="T61" fmla="*/ 0 h 230"/>
                    <a:gd name="T62" fmla="*/ 158 w 158"/>
                    <a:gd name="T63" fmla="*/ 230 h 230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8" h="230">
                      <a:moveTo>
                        <a:pt x="2" y="14"/>
                      </a:moveTo>
                      <a:lnTo>
                        <a:pt x="24" y="0"/>
                      </a:lnTo>
                      <a:lnTo>
                        <a:pt x="64" y="0"/>
                      </a:lnTo>
                      <a:lnTo>
                        <a:pt x="92" y="4"/>
                      </a:lnTo>
                      <a:lnTo>
                        <a:pt x="118" y="16"/>
                      </a:lnTo>
                      <a:lnTo>
                        <a:pt x="140" y="40"/>
                      </a:lnTo>
                      <a:lnTo>
                        <a:pt x="158" y="72"/>
                      </a:lnTo>
                      <a:lnTo>
                        <a:pt x="158" y="150"/>
                      </a:lnTo>
                      <a:lnTo>
                        <a:pt x="140" y="194"/>
                      </a:lnTo>
                      <a:lnTo>
                        <a:pt x="106" y="214"/>
                      </a:lnTo>
                      <a:lnTo>
                        <a:pt x="78" y="224"/>
                      </a:lnTo>
                      <a:lnTo>
                        <a:pt x="32" y="230"/>
                      </a:lnTo>
                      <a:lnTo>
                        <a:pt x="0" y="222"/>
                      </a:lnTo>
                      <a:lnTo>
                        <a:pt x="0" y="182"/>
                      </a:lnTo>
                      <a:cubicBezTo>
                        <a:pt x="54" y="184"/>
                        <a:pt x="35" y="184"/>
                        <a:pt x="56" y="184"/>
                      </a:cubicBezTo>
                      <a:lnTo>
                        <a:pt x="80" y="168"/>
                      </a:lnTo>
                      <a:lnTo>
                        <a:pt x="82" y="64"/>
                      </a:lnTo>
                      <a:lnTo>
                        <a:pt x="56" y="48"/>
                      </a:lnTo>
                      <a:lnTo>
                        <a:pt x="10" y="48"/>
                      </a:lnTo>
                      <a:lnTo>
                        <a:pt x="2" y="14"/>
                      </a:lnTo>
                      <a:close/>
                    </a:path>
                  </a:pathLst>
                </a:custGeom>
                <a:solidFill>
                  <a:srgbClr val="175097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95" name="Oval 22">
                  <a:extLst>
                    <a:ext uri="{FF2B5EF4-FFF2-40B4-BE49-F238E27FC236}">
                      <a16:creationId xmlns:a16="http://schemas.microsoft.com/office/drawing/2014/main" id="{FB1818E2-9CCE-F6CF-DB4B-073A4FEA5E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8" y="2470"/>
                  <a:ext cx="94" cy="84"/>
                </a:xfrm>
                <a:prstGeom prst="ellipse">
                  <a:avLst/>
                </a:prstGeom>
                <a:solidFill>
                  <a:srgbClr val="CA8C02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86" name="Oval 23">
                <a:extLst>
                  <a:ext uri="{FF2B5EF4-FFF2-40B4-BE49-F238E27FC236}">
                    <a16:creationId xmlns:a16="http://schemas.microsoft.com/office/drawing/2014/main" id="{DA7BD54C-6CD9-BBD3-D4AD-16FB612D44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8" y="2500"/>
                <a:ext cx="198" cy="208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87" name="Oval 24">
                <a:extLst>
                  <a:ext uri="{FF2B5EF4-FFF2-40B4-BE49-F238E27FC236}">
                    <a16:creationId xmlns:a16="http://schemas.microsoft.com/office/drawing/2014/main" id="{0AB74012-355D-1B5E-DDF5-89DDD58A4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6" y="2181"/>
                <a:ext cx="198" cy="214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88" name="Oval 25">
                <a:extLst>
                  <a:ext uri="{FF2B5EF4-FFF2-40B4-BE49-F238E27FC236}">
                    <a16:creationId xmlns:a16="http://schemas.microsoft.com/office/drawing/2014/main" id="{8DDE46F9-8E8A-803D-B5C4-45B903991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3" y="2447"/>
                <a:ext cx="198" cy="214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89" name="Oval 26">
                <a:extLst>
                  <a:ext uri="{FF2B5EF4-FFF2-40B4-BE49-F238E27FC236}">
                    <a16:creationId xmlns:a16="http://schemas.microsoft.com/office/drawing/2014/main" id="{642E6FDB-AEA5-8FCC-4F22-D01D3F496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1893"/>
                <a:ext cx="198" cy="208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90" name="Oval 27">
                <a:extLst>
                  <a:ext uri="{FF2B5EF4-FFF2-40B4-BE49-F238E27FC236}">
                    <a16:creationId xmlns:a16="http://schemas.microsoft.com/office/drawing/2014/main" id="{E401A3CB-6A16-E788-3F96-B6343E1A6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1" y="1893"/>
                <a:ext cx="198" cy="208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91" name="Oval 28">
                <a:extLst>
                  <a:ext uri="{FF2B5EF4-FFF2-40B4-BE49-F238E27FC236}">
                    <a16:creationId xmlns:a16="http://schemas.microsoft.com/office/drawing/2014/main" id="{867AABC4-A2C1-9949-AFA1-117C07A53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9" y="1893"/>
                <a:ext cx="198" cy="208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78" name="Rectangle 29">
              <a:extLst>
                <a:ext uri="{FF2B5EF4-FFF2-40B4-BE49-F238E27FC236}">
                  <a16:creationId xmlns:a16="http://schemas.microsoft.com/office/drawing/2014/main" id="{C10B37EE-B7E2-DEE0-8A54-8DD419C56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8" y="2496"/>
              <a:ext cx="264" cy="216"/>
            </a:xfrm>
            <a:prstGeom prst="rect">
              <a:avLst/>
            </a:prstGeom>
            <a:solidFill>
              <a:srgbClr val="BDD6AE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charset="0"/>
                <a:cs typeface="Arial" charset="0"/>
              </a:endParaRPr>
            </a:p>
          </p:txBody>
        </p:sp>
        <p:sp>
          <p:nvSpPr>
            <p:cNvPr id="79" name="Oval 30">
              <a:extLst>
                <a:ext uri="{FF2B5EF4-FFF2-40B4-BE49-F238E27FC236}">
                  <a16:creationId xmlns:a16="http://schemas.microsoft.com/office/drawing/2014/main" id="{21ABD7B7-2F97-300D-5C86-79D8AF999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" y="1946"/>
              <a:ext cx="198" cy="214"/>
            </a:xfrm>
            <a:prstGeom prst="ellipse">
              <a:avLst/>
            </a:prstGeom>
            <a:solidFill>
              <a:srgbClr val="9FACC7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0" name="Oval 31">
              <a:extLst>
                <a:ext uri="{FF2B5EF4-FFF2-40B4-BE49-F238E27FC236}">
                  <a16:creationId xmlns:a16="http://schemas.microsoft.com/office/drawing/2014/main" id="{7B58FA49-ABE4-E0B8-1E76-8073602D4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9" y="2497"/>
              <a:ext cx="198" cy="214"/>
            </a:xfrm>
            <a:prstGeom prst="ellipse">
              <a:avLst/>
            </a:prstGeom>
            <a:solidFill>
              <a:srgbClr val="9FACC7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1" name="Oval 32">
              <a:extLst>
                <a:ext uri="{FF2B5EF4-FFF2-40B4-BE49-F238E27FC236}">
                  <a16:creationId xmlns:a16="http://schemas.microsoft.com/office/drawing/2014/main" id="{5C5E846E-3F9D-140C-61DF-70D63D876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2497"/>
              <a:ext cx="198" cy="214"/>
            </a:xfrm>
            <a:prstGeom prst="ellipse">
              <a:avLst/>
            </a:prstGeom>
            <a:solidFill>
              <a:srgbClr val="9FACC7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82" name="Freeform 33">
              <a:extLst>
                <a:ext uri="{FF2B5EF4-FFF2-40B4-BE49-F238E27FC236}">
                  <a16:creationId xmlns:a16="http://schemas.microsoft.com/office/drawing/2014/main" id="{C8F023A9-0CE5-68CC-C913-CAC7FC79A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5" y="1990"/>
              <a:ext cx="1333" cy="610"/>
            </a:xfrm>
            <a:custGeom>
              <a:avLst/>
              <a:gdLst>
                <a:gd name="T0" fmla="*/ 1333 w 1333"/>
                <a:gd name="T1" fmla="*/ 5 h 610"/>
                <a:gd name="T2" fmla="*/ 413 w 1333"/>
                <a:gd name="T3" fmla="*/ 7 h 610"/>
                <a:gd name="T4" fmla="*/ 322 w 1333"/>
                <a:gd name="T5" fmla="*/ 2 h 610"/>
                <a:gd name="T6" fmla="*/ 245 w 1333"/>
                <a:gd name="T7" fmla="*/ 10 h 610"/>
                <a:gd name="T8" fmla="*/ 133 w 1333"/>
                <a:gd name="T9" fmla="*/ 61 h 610"/>
                <a:gd name="T10" fmla="*/ 40 w 1333"/>
                <a:gd name="T11" fmla="*/ 167 h 610"/>
                <a:gd name="T12" fmla="*/ 2 w 1333"/>
                <a:gd name="T13" fmla="*/ 293 h 610"/>
                <a:gd name="T14" fmla="*/ 29 w 1333"/>
                <a:gd name="T15" fmla="*/ 442 h 610"/>
                <a:gd name="T16" fmla="*/ 136 w 1333"/>
                <a:gd name="T17" fmla="*/ 551 h 610"/>
                <a:gd name="T18" fmla="*/ 216 w 1333"/>
                <a:gd name="T19" fmla="*/ 589 h 610"/>
                <a:gd name="T20" fmla="*/ 306 w 1333"/>
                <a:gd name="T21" fmla="*/ 607 h 610"/>
                <a:gd name="T22" fmla="*/ 408 w 1333"/>
                <a:gd name="T23" fmla="*/ 607 h 610"/>
                <a:gd name="T24" fmla="*/ 1309 w 1333"/>
                <a:gd name="T25" fmla="*/ 607 h 6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33"/>
                <a:gd name="T40" fmla="*/ 0 h 610"/>
                <a:gd name="T41" fmla="*/ 1333 w 1333"/>
                <a:gd name="T42" fmla="*/ 610 h 61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33" h="610">
                  <a:moveTo>
                    <a:pt x="1333" y="5"/>
                  </a:moveTo>
                  <a:cubicBezTo>
                    <a:pt x="1181" y="5"/>
                    <a:pt x="581" y="7"/>
                    <a:pt x="413" y="7"/>
                  </a:cubicBezTo>
                  <a:cubicBezTo>
                    <a:pt x="245" y="7"/>
                    <a:pt x="350" y="2"/>
                    <a:pt x="322" y="2"/>
                  </a:cubicBezTo>
                  <a:cubicBezTo>
                    <a:pt x="294" y="2"/>
                    <a:pt x="276" y="0"/>
                    <a:pt x="245" y="10"/>
                  </a:cubicBezTo>
                  <a:cubicBezTo>
                    <a:pt x="214" y="20"/>
                    <a:pt x="167" y="35"/>
                    <a:pt x="133" y="61"/>
                  </a:cubicBezTo>
                  <a:cubicBezTo>
                    <a:pt x="99" y="87"/>
                    <a:pt x="62" y="128"/>
                    <a:pt x="40" y="167"/>
                  </a:cubicBezTo>
                  <a:cubicBezTo>
                    <a:pt x="18" y="206"/>
                    <a:pt x="4" y="247"/>
                    <a:pt x="2" y="293"/>
                  </a:cubicBezTo>
                  <a:cubicBezTo>
                    <a:pt x="0" y="339"/>
                    <a:pt x="7" y="399"/>
                    <a:pt x="29" y="442"/>
                  </a:cubicBezTo>
                  <a:cubicBezTo>
                    <a:pt x="51" y="485"/>
                    <a:pt x="105" y="527"/>
                    <a:pt x="136" y="551"/>
                  </a:cubicBezTo>
                  <a:cubicBezTo>
                    <a:pt x="167" y="575"/>
                    <a:pt x="188" y="580"/>
                    <a:pt x="216" y="589"/>
                  </a:cubicBezTo>
                  <a:cubicBezTo>
                    <a:pt x="244" y="598"/>
                    <a:pt x="274" y="604"/>
                    <a:pt x="306" y="607"/>
                  </a:cubicBezTo>
                  <a:cubicBezTo>
                    <a:pt x="338" y="610"/>
                    <a:pt x="241" y="607"/>
                    <a:pt x="408" y="607"/>
                  </a:cubicBezTo>
                  <a:cubicBezTo>
                    <a:pt x="575" y="607"/>
                    <a:pt x="946" y="607"/>
                    <a:pt x="1309" y="607"/>
                  </a:cubicBezTo>
                </a:path>
              </a:pathLst>
            </a:custGeom>
            <a:noFill/>
            <a:ln w="38100" cmpd="sng">
              <a:solidFill>
                <a:srgbClr val="000000"/>
              </a:solidFill>
              <a:round/>
              <a:headEnd type="triangle" w="sm" len="sm"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104" name="Group 34">
            <a:extLst>
              <a:ext uri="{FF2B5EF4-FFF2-40B4-BE49-F238E27FC236}">
                <a16:creationId xmlns:a16="http://schemas.microsoft.com/office/drawing/2014/main" id="{695430C0-B15D-689A-14E6-FD85DC2666A8}"/>
              </a:ext>
            </a:extLst>
          </p:cNvPr>
          <p:cNvGrpSpPr>
            <a:grpSpLocks/>
          </p:cNvGrpSpPr>
          <p:nvPr/>
        </p:nvGrpSpPr>
        <p:grpSpPr bwMode="auto">
          <a:xfrm>
            <a:off x="407445" y="1384709"/>
            <a:ext cx="5001167" cy="1193629"/>
            <a:chOff x="472" y="2174"/>
            <a:chExt cx="2468" cy="410"/>
          </a:xfrm>
        </p:grpSpPr>
        <p:grpSp>
          <p:nvGrpSpPr>
            <p:cNvPr id="105" name="Group 35">
              <a:extLst>
                <a:ext uri="{FF2B5EF4-FFF2-40B4-BE49-F238E27FC236}">
                  <a16:creationId xmlns:a16="http://schemas.microsoft.com/office/drawing/2014/main" id="{1217CA17-E22B-FF06-DBDD-1A19F1F2364F}"/>
                </a:ext>
              </a:extLst>
            </p:cNvPr>
            <p:cNvGrpSpPr>
              <a:grpSpLocks/>
            </p:cNvGrpSpPr>
            <p:nvPr/>
          </p:nvGrpSpPr>
          <p:grpSpPr bwMode="auto">
            <a:xfrm rot="3849600">
              <a:off x="1558" y="2343"/>
              <a:ext cx="198" cy="230"/>
              <a:chOff x="1186" y="2402"/>
              <a:chExt cx="198" cy="230"/>
            </a:xfrm>
          </p:grpSpPr>
          <p:sp>
            <p:nvSpPr>
              <p:cNvPr id="134" name="Oval 36">
                <a:extLst>
                  <a:ext uri="{FF2B5EF4-FFF2-40B4-BE49-F238E27FC236}">
                    <a16:creationId xmlns:a16="http://schemas.microsoft.com/office/drawing/2014/main" id="{EB4183EB-DEDA-BABA-A6BF-B144CFAC6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6" y="2588"/>
                <a:ext cx="46" cy="36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5" name="Oval 37">
                <a:extLst>
                  <a:ext uri="{FF2B5EF4-FFF2-40B4-BE49-F238E27FC236}">
                    <a16:creationId xmlns:a16="http://schemas.microsoft.com/office/drawing/2014/main" id="{909AE252-69E2-0E79-CB15-8AFFDE972F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" y="2420"/>
                <a:ext cx="46" cy="40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6" name="Freeform 38">
                <a:extLst>
                  <a:ext uri="{FF2B5EF4-FFF2-40B4-BE49-F238E27FC236}">
                    <a16:creationId xmlns:a16="http://schemas.microsoft.com/office/drawing/2014/main" id="{B97B7345-206B-F9BF-2B99-55D607050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6" y="2402"/>
                <a:ext cx="158" cy="230"/>
              </a:xfrm>
              <a:custGeom>
                <a:avLst/>
                <a:gdLst>
                  <a:gd name="T0" fmla="*/ 2 w 158"/>
                  <a:gd name="T1" fmla="*/ 14 h 230"/>
                  <a:gd name="T2" fmla="*/ 24 w 158"/>
                  <a:gd name="T3" fmla="*/ 0 h 230"/>
                  <a:gd name="T4" fmla="*/ 64 w 158"/>
                  <a:gd name="T5" fmla="*/ 0 h 230"/>
                  <a:gd name="T6" fmla="*/ 92 w 158"/>
                  <a:gd name="T7" fmla="*/ 4 h 230"/>
                  <a:gd name="T8" fmla="*/ 118 w 158"/>
                  <a:gd name="T9" fmla="*/ 16 h 230"/>
                  <a:gd name="T10" fmla="*/ 140 w 158"/>
                  <a:gd name="T11" fmla="*/ 40 h 230"/>
                  <a:gd name="T12" fmla="*/ 158 w 158"/>
                  <a:gd name="T13" fmla="*/ 72 h 230"/>
                  <a:gd name="T14" fmla="*/ 158 w 158"/>
                  <a:gd name="T15" fmla="*/ 150 h 230"/>
                  <a:gd name="T16" fmla="*/ 140 w 158"/>
                  <a:gd name="T17" fmla="*/ 194 h 230"/>
                  <a:gd name="T18" fmla="*/ 106 w 158"/>
                  <a:gd name="T19" fmla="*/ 214 h 230"/>
                  <a:gd name="T20" fmla="*/ 78 w 158"/>
                  <a:gd name="T21" fmla="*/ 224 h 230"/>
                  <a:gd name="T22" fmla="*/ 32 w 158"/>
                  <a:gd name="T23" fmla="*/ 230 h 230"/>
                  <a:gd name="T24" fmla="*/ 0 w 158"/>
                  <a:gd name="T25" fmla="*/ 222 h 230"/>
                  <a:gd name="T26" fmla="*/ 0 w 158"/>
                  <a:gd name="T27" fmla="*/ 182 h 230"/>
                  <a:gd name="T28" fmla="*/ 56 w 158"/>
                  <a:gd name="T29" fmla="*/ 184 h 230"/>
                  <a:gd name="T30" fmla="*/ 80 w 158"/>
                  <a:gd name="T31" fmla="*/ 168 h 230"/>
                  <a:gd name="T32" fmla="*/ 82 w 158"/>
                  <a:gd name="T33" fmla="*/ 64 h 230"/>
                  <a:gd name="T34" fmla="*/ 56 w 158"/>
                  <a:gd name="T35" fmla="*/ 48 h 230"/>
                  <a:gd name="T36" fmla="*/ 10 w 158"/>
                  <a:gd name="T37" fmla="*/ 48 h 230"/>
                  <a:gd name="T38" fmla="*/ 2 w 158"/>
                  <a:gd name="T39" fmla="*/ 14 h 2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58"/>
                  <a:gd name="T61" fmla="*/ 0 h 230"/>
                  <a:gd name="T62" fmla="*/ 158 w 158"/>
                  <a:gd name="T63" fmla="*/ 230 h 2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58" h="230">
                    <a:moveTo>
                      <a:pt x="2" y="14"/>
                    </a:moveTo>
                    <a:lnTo>
                      <a:pt x="24" y="0"/>
                    </a:lnTo>
                    <a:lnTo>
                      <a:pt x="64" y="0"/>
                    </a:lnTo>
                    <a:lnTo>
                      <a:pt x="92" y="4"/>
                    </a:lnTo>
                    <a:lnTo>
                      <a:pt x="118" y="16"/>
                    </a:lnTo>
                    <a:lnTo>
                      <a:pt x="140" y="40"/>
                    </a:lnTo>
                    <a:lnTo>
                      <a:pt x="158" y="72"/>
                    </a:lnTo>
                    <a:lnTo>
                      <a:pt x="158" y="150"/>
                    </a:lnTo>
                    <a:lnTo>
                      <a:pt x="140" y="194"/>
                    </a:lnTo>
                    <a:lnTo>
                      <a:pt x="106" y="214"/>
                    </a:lnTo>
                    <a:lnTo>
                      <a:pt x="78" y="224"/>
                    </a:lnTo>
                    <a:lnTo>
                      <a:pt x="32" y="230"/>
                    </a:lnTo>
                    <a:lnTo>
                      <a:pt x="0" y="222"/>
                    </a:lnTo>
                    <a:lnTo>
                      <a:pt x="0" y="182"/>
                    </a:lnTo>
                    <a:cubicBezTo>
                      <a:pt x="54" y="184"/>
                      <a:pt x="35" y="184"/>
                      <a:pt x="56" y="184"/>
                    </a:cubicBezTo>
                    <a:lnTo>
                      <a:pt x="80" y="168"/>
                    </a:lnTo>
                    <a:lnTo>
                      <a:pt x="82" y="64"/>
                    </a:lnTo>
                    <a:lnTo>
                      <a:pt x="56" y="48"/>
                    </a:lnTo>
                    <a:lnTo>
                      <a:pt x="10" y="48"/>
                    </a:lnTo>
                    <a:lnTo>
                      <a:pt x="2" y="14"/>
                    </a:lnTo>
                    <a:close/>
                  </a:path>
                </a:pathLst>
              </a:custGeom>
              <a:solidFill>
                <a:srgbClr val="175097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7" name="Oval 39">
                <a:extLst>
                  <a:ext uri="{FF2B5EF4-FFF2-40B4-BE49-F238E27FC236}">
                    <a16:creationId xmlns:a16="http://schemas.microsoft.com/office/drawing/2014/main" id="{C4EF2257-E861-2DD5-EDA8-63B8D73141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8" y="2470"/>
                <a:ext cx="94" cy="84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grpSp>
          <p:nvGrpSpPr>
            <p:cNvPr id="106" name="Group 40">
              <a:extLst>
                <a:ext uri="{FF2B5EF4-FFF2-40B4-BE49-F238E27FC236}">
                  <a16:creationId xmlns:a16="http://schemas.microsoft.com/office/drawing/2014/main" id="{6D311F83-30F9-ED8E-81AB-CAC387E51BD0}"/>
                </a:ext>
              </a:extLst>
            </p:cNvPr>
            <p:cNvGrpSpPr>
              <a:grpSpLocks/>
            </p:cNvGrpSpPr>
            <p:nvPr/>
          </p:nvGrpSpPr>
          <p:grpSpPr bwMode="auto">
            <a:xfrm rot="17774561" flipH="1">
              <a:off x="2392" y="2365"/>
              <a:ext cx="198" cy="230"/>
              <a:chOff x="1186" y="2402"/>
              <a:chExt cx="198" cy="230"/>
            </a:xfrm>
          </p:grpSpPr>
          <p:sp>
            <p:nvSpPr>
              <p:cNvPr id="130" name="Oval 41">
                <a:extLst>
                  <a:ext uri="{FF2B5EF4-FFF2-40B4-BE49-F238E27FC236}">
                    <a16:creationId xmlns:a16="http://schemas.microsoft.com/office/drawing/2014/main" id="{C7ABA9DE-D634-7E92-283D-D6B6C44CB9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6" y="2588"/>
                <a:ext cx="46" cy="36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1" name="Oval 42">
                <a:extLst>
                  <a:ext uri="{FF2B5EF4-FFF2-40B4-BE49-F238E27FC236}">
                    <a16:creationId xmlns:a16="http://schemas.microsoft.com/office/drawing/2014/main" id="{8D8C52BA-770F-D6A9-9031-A7EBE9DA6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2" y="2420"/>
                <a:ext cx="46" cy="40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2" name="Freeform 43">
                <a:extLst>
                  <a:ext uri="{FF2B5EF4-FFF2-40B4-BE49-F238E27FC236}">
                    <a16:creationId xmlns:a16="http://schemas.microsoft.com/office/drawing/2014/main" id="{A78E1D5D-6CC6-A3C8-EB1A-E8C957204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6" y="2402"/>
                <a:ext cx="158" cy="230"/>
              </a:xfrm>
              <a:custGeom>
                <a:avLst/>
                <a:gdLst>
                  <a:gd name="T0" fmla="*/ 2 w 158"/>
                  <a:gd name="T1" fmla="*/ 14 h 230"/>
                  <a:gd name="T2" fmla="*/ 24 w 158"/>
                  <a:gd name="T3" fmla="*/ 0 h 230"/>
                  <a:gd name="T4" fmla="*/ 64 w 158"/>
                  <a:gd name="T5" fmla="*/ 0 h 230"/>
                  <a:gd name="T6" fmla="*/ 92 w 158"/>
                  <a:gd name="T7" fmla="*/ 4 h 230"/>
                  <a:gd name="T8" fmla="*/ 118 w 158"/>
                  <a:gd name="T9" fmla="*/ 16 h 230"/>
                  <a:gd name="T10" fmla="*/ 140 w 158"/>
                  <a:gd name="T11" fmla="*/ 40 h 230"/>
                  <a:gd name="T12" fmla="*/ 158 w 158"/>
                  <a:gd name="T13" fmla="*/ 72 h 230"/>
                  <a:gd name="T14" fmla="*/ 158 w 158"/>
                  <a:gd name="T15" fmla="*/ 150 h 230"/>
                  <a:gd name="T16" fmla="*/ 140 w 158"/>
                  <a:gd name="T17" fmla="*/ 194 h 230"/>
                  <a:gd name="T18" fmla="*/ 106 w 158"/>
                  <a:gd name="T19" fmla="*/ 214 h 230"/>
                  <a:gd name="T20" fmla="*/ 78 w 158"/>
                  <a:gd name="T21" fmla="*/ 224 h 230"/>
                  <a:gd name="T22" fmla="*/ 32 w 158"/>
                  <a:gd name="T23" fmla="*/ 230 h 230"/>
                  <a:gd name="T24" fmla="*/ 0 w 158"/>
                  <a:gd name="T25" fmla="*/ 222 h 230"/>
                  <a:gd name="T26" fmla="*/ 0 w 158"/>
                  <a:gd name="T27" fmla="*/ 182 h 230"/>
                  <a:gd name="T28" fmla="*/ 56 w 158"/>
                  <a:gd name="T29" fmla="*/ 184 h 230"/>
                  <a:gd name="T30" fmla="*/ 80 w 158"/>
                  <a:gd name="T31" fmla="*/ 168 h 230"/>
                  <a:gd name="T32" fmla="*/ 82 w 158"/>
                  <a:gd name="T33" fmla="*/ 64 h 230"/>
                  <a:gd name="T34" fmla="*/ 56 w 158"/>
                  <a:gd name="T35" fmla="*/ 48 h 230"/>
                  <a:gd name="T36" fmla="*/ 10 w 158"/>
                  <a:gd name="T37" fmla="*/ 48 h 230"/>
                  <a:gd name="T38" fmla="*/ 2 w 158"/>
                  <a:gd name="T39" fmla="*/ 14 h 23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58"/>
                  <a:gd name="T61" fmla="*/ 0 h 230"/>
                  <a:gd name="T62" fmla="*/ 158 w 158"/>
                  <a:gd name="T63" fmla="*/ 230 h 23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58" h="230">
                    <a:moveTo>
                      <a:pt x="2" y="14"/>
                    </a:moveTo>
                    <a:lnTo>
                      <a:pt x="24" y="0"/>
                    </a:lnTo>
                    <a:lnTo>
                      <a:pt x="64" y="0"/>
                    </a:lnTo>
                    <a:lnTo>
                      <a:pt x="92" y="4"/>
                    </a:lnTo>
                    <a:lnTo>
                      <a:pt x="118" y="16"/>
                    </a:lnTo>
                    <a:lnTo>
                      <a:pt x="140" y="40"/>
                    </a:lnTo>
                    <a:lnTo>
                      <a:pt x="158" y="72"/>
                    </a:lnTo>
                    <a:lnTo>
                      <a:pt x="158" y="150"/>
                    </a:lnTo>
                    <a:lnTo>
                      <a:pt x="140" y="194"/>
                    </a:lnTo>
                    <a:lnTo>
                      <a:pt x="106" y="214"/>
                    </a:lnTo>
                    <a:lnTo>
                      <a:pt x="78" y="224"/>
                    </a:lnTo>
                    <a:lnTo>
                      <a:pt x="32" y="230"/>
                    </a:lnTo>
                    <a:lnTo>
                      <a:pt x="0" y="222"/>
                    </a:lnTo>
                    <a:lnTo>
                      <a:pt x="0" y="182"/>
                    </a:lnTo>
                    <a:cubicBezTo>
                      <a:pt x="54" y="184"/>
                      <a:pt x="35" y="184"/>
                      <a:pt x="56" y="184"/>
                    </a:cubicBezTo>
                    <a:lnTo>
                      <a:pt x="80" y="168"/>
                    </a:lnTo>
                    <a:lnTo>
                      <a:pt x="82" y="64"/>
                    </a:lnTo>
                    <a:lnTo>
                      <a:pt x="56" y="48"/>
                    </a:lnTo>
                    <a:lnTo>
                      <a:pt x="10" y="48"/>
                    </a:lnTo>
                    <a:lnTo>
                      <a:pt x="2" y="14"/>
                    </a:lnTo>
                    <a:close/>
                  </a:path>
                </a:pathLst>
              </a:custGeom>
              <a:solidFill>
                <a:srgbClr val="175097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3" name="Oval 44">
                <a:extLst>
                  <a:ext uri="{FF2B5EF4-FFF2-40B4-BE49-F238E27FC236}">
                    <a16:creationId xmlns:a16="http://schemas.microsoft.com/office/drawing/2014/main" id="{CF252B3B-9AEE-3035-03E6-AFFA1F92D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8" y="2470"/>
                <a:ext cx="94" cy="84"/>
              </a:xfrm>
              <a:prstGeom prst="ellipse">
                <a:avLst/>
              </a:prstGeom>
              <a:solidFill>
                <a:srgbClr val="CA8C02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grpSp>
          <p:nvGrpSpPr>
            <p:cNvPr id="107" name="Group 45">
              <a:extLst>
                <a:ext uri="{FF2B5EF4-FFF2-40B4-BE49-F238E27FC236}">
                  <a16:creationId xmlns:a16="http://schemas.microsoft.com/office/drawing/2014/main" id="{9592A0BC-C4E6-5C09-FFD3-726DCB7147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" y="2386"/>
              <a:ext cx="639" cy="198"/>
              <a:chOff x="789" y="2386"/>
              <a:chExt cx="639" cy="198"/>
            </a:xfrm>
          </p:grpSpPr>
          <p:grpSp>
            <p:nvGrpSpPr>
              <p:cNvPr id="120" name="Group 46">
                <a:extLst>
                  <a:ext uri="{FF2B5EF4-FFF2-40B4-BE49-F238E27FC236}">
                    <a16:creationId xmlns:a16="http://schemas.microsoft.com/office/drawing/2014/main" id="{71FCDDD9-FCA5-B666-CFD1-F231CC8786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4533724">
                <a:off x="805" y="2370"/>
                <a:ext cx="198" cy="230"/>
                <a:chOff x="1186" y="2402"/>
                <a:chExt cx="198" cy="230"/>
              </a:xfrm>
            </p:grpSpPr>
            <p:sp>
              <p:nvSpPr>
                <p:cNvPr id="126" name="Oval 47">
                  <a:extLst>
                    <a:ext uri="{FF2B5EF4-FFF2-40B4-BE49-F238E27FC236}">
                      <a16:creationId xmlns:a16="http://schemas.microsoft.com/office/drawing/2014/main" id="{A33121D1-0B7C-3AC1-9E2E-28E44C0CBD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6" y="2588"/>
                  <a:ext cx="46" cy="36"/>
                </a:xfrm>
                <a:prstGeom prst="ellipse">
                  <a:avLst/>
                </a:prstGeom>
                <a:solidFill>
                  <a:srgbClr val="CA8C02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27" name="Oval 48">
                  <a:extLst>
                    <a:ext uri="{FF2B5EF4-FFF2-40B4-BE49-F238E27FC236}">
                      <a16:creationId xmlns:a16="http://schemas.microsoft.com/office/drawing/2014/main" id="{4F829FB8-7517-1514-7553-F6CEBDC154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2" y="2420"/>
                  <a:ext cx="46" cy="40"/>
                </a:xfrm>
                <a:prstGeom prst="ellipse">
                  <a:avLst/>
                </a:prstGeom>
                <a:solidFill>
                  <a:srgbClr val="CA8C02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28" name="Freeform 49">
                  <a:extLst>
                    <a:ext uri="{FF2B5EF4-FFF2-40B4-BE49-F238E27FC236}">
                      <a16:creationId xmlns:a16="http://schemas.microsoft.com/office/drawing/2014/main" id="{4BA0BD5F-EB6E-1E9D-4448-905FCFA5F4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26" y="2402"/>
                  <a:ext cx="158" cy="230"/>
                </a:xfrm>
                <a:custGeom>
                  <a:avLst/>
                  <a:gdLst>
                    <a:gd name="T0" fmla="*/ 2 w 158"/>
                    <a:gd name="T1" fmla="*/ 14 h 230"/>
                    <a:gd name="T2" fmla="*/ 24 w 158"/>
                    <a:gd name="T3" fmla="*/ 0 h 230"/>
                    <a:gd name="T4" fmla="*/ 64 w 158"/>
                    <a:gd name="T5" fmla="*/ 0 h 230"/>
                    <a:gd name="T6" fmla="*/ 92 w 158"/>
                    <a:gd name="T7" fmla="*/ 4 h 230"/>
                    <a:gd name="T8" fmla="*/ 118 w 158"/>
                    <a:gd name="T9" fmla="*/ 16 h 230"/>
                    <a:gd name="T10" fmla="*/ 140 w 158"/>
                    <a:gd name="T11" fmla="*/ 40 h 230"/>
                    <a:gd name="T12" fmla="*/ 158 w 158"/>
                    <a:gd name="T13" fmla="*/ 72 h 230"/>
                    <a:gd name="T14" fmla="*/ 158 w 158"/>
                    <a:gd name="T15" fmla="*/ 150 h 230"/>
                    <a:gd name="T16" fmla="*/ 140 w 158"/>
                    <a:gd name="T17" fmla="*/ 194 h 230"/>
                    <a:gd name="T18" fmla="*/ 106 w 158"/>
                    <a:gd name="T19" fmla="*/ 214 h 230"/>
                    <a:gd name="T20" fmla="*/ 78 w 158"/>
                    <a:gd name="T21" fmla="*/ 224 h 230"/>
                    <a:gd name="T22" fmla="*/ 32 w 158"/>
                    <a:gd name="T23" fmla="*/ 230 h 230"/>
                    <a:gd name="T24" fmla="*/ 0 w 158"/>
                    <a:gd name="T25" fmla="*/ 222 h 230"/>
                    <a:gd name="T26" fmla="*/ 0 w 158"/>
                    <a:gd name="T27" fmla="*/ 182 h 230"/>
                    <a:gd name="T28" fmla="*/ 56 w 158"/>
                    <a:gd name="T29" fmla="*/ 184 h 230"/>
                    <a:gd name="T30" fmla="*/ 80 w 158"/>
                    <a:gd name="T31" fmla="*/ 168 h 230"/>
                    <a:gd name="T32" fmla="*/ 82 w 158"/>
                    <a:gd name="T33" fmla="*/ 64 h 230"/>
                    <a:gd name="T34" fmla="*/ 56 w 158"/>
                    <a:gd name="T35" fmla="*/ 48 h 230"/>
                    <a:gd name="T36" fmla="*/ 10 w 158"/>
                    <a:gd name="T37" fmla="*/ 48 h 230"/>
                    <a:gd name="T38" fmla="*/ 2 w 158"/>
                    <a:gd name="T39" fmla="*/ 14 h 230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8"/>
                    <a:gd name="T61" fmla="*/ 0 h 230"/>
                    <a:gd name="T62" fmla="*/ 158 w 158"/>
                    <a:gd name="T63" fmla="*/ 230 h 230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8" h="230">
                      <a:moveTo>
                        <a:pt x="2" y="14"/>
                      </a:moveTo>
                      <a:lnTo>
                        <a:pt x="24" y="0"/>
                      </a:lnTo>
                      <a:lnTo>
                        <a:pt x="64" y="0"/>
                      </a:lnTo>
                      <a:lnTo>
                        <a:pt x="92" y="4"/>
                      </a:lnTo>
                      <a:lnTo>
                        <a:pt x="118" y="16"/>
                      </a:lnTo>
                      <a:lnTo>
                        <a:pt x="140" y="40"/>
                      </a:lnTo>
                      <a:lnTo>
                        <a:pt x="158" y="72"/>
                      </a:lnTo>
                      <a:lnTo>
                        <a:pt x="158" y="150"/>
                      </a:lnTo>
                      <a:lnTo>
                        <a:pt x="140" y="194"/>
                      </a:lnTo>
                      <a:lnTo>
                        <a:pt x="106" y="214"/>
                      </a:lnTo>
                      <a:lnTo>
                        <a:pt x="78" y="224"/>
                      </a:lnTo>
                      <a:lnTo>
                        <a:pt x="32" y="230"/>
                      </a:lnTo>
                      <a:lnTo>
                        <a:pt x="0" y="222"/>
                      </a:lnTo>
                      <a:lnTo>
                        <a:pt x="0" y="182"/>
                      </a:lnTo>
                      <a:cubicBezTo>
                        <a:pt x="54" y="184"/>
                        <a:pt x="35" y="184"/>
                        <a:pt x="56" y="184"/>
                      </a:cubicBezTo>
                      <a:lnTo>
                        <a:pt x="80" y="168"/>
                      </a:lnTo>
                      <a:lnTo>
                        <a:pt x="82" y="64"/>
                      </a:lnTo>
                      <a:lnTo>
                        <a:pt x="56" y="48"/>
                      </a:lnTo>
                      <a:lnTo>
                        <a:pt x="10" y="48"/>
                      </a:lnTo>
                      <a:lnTo>
                        <a:pt x="2" y="14"/>
                      </a:lnTo>
                      <a:close/>
                    </a:path>
                  </a:pathLst>
                </a:custGeom>
                <a:solidFill>
                  <a:srgbClr val="175097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29" name="Oval 50">
                  <a:extLst>
                    <a:ext uri="{FF2B5EF4-FFF2-40B4-BE49-F238E27FC236}">
                      <a16:creationId xmlns:a16="http://schemas.microsoft.com/office/drawing/2014/main" id="{96B8C013-9D69-DF2E-E752-A48E88F9FE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8" y="2470"/>
                  <a:ext cx="94" cy="84"/>
                </a:xfrm>
                <a:prstGeom prst="ellipse">
                  <a:avLst/>
                </a:prstGeom>
                <a:solidFill>
                  <a:srgbClr val="CA8C02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grpSp>
            <p:nvGrpSpPr>
              <p:cNvPr id="121" name="Group 51">
                <a:extLst>
                  <a:ext uri="{FF2B5EF4-FFF2-40B4-BE49-F238E27FC236}">
                    <a16:creationId xmlns:a16="http://schemas.microsoft.com/office/drawing/2014/main" id="{AB6716CE-6F61-2B7B-43CD-D322ECCC64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7435501" flipH="1">
                <a:off x="1214" y="2370"/>
                <a:ext cx="198" cy="230"/>
                <a:chOff x="1186" y="2402"/>
                <a:chExt cx="198" cy="230"/>
              </a:xfrm>
            </p:grpSpPr>
            <p:sp>
              <p:nvSpPr>
                <p:cNvPr id="122" name="Oval 52">
                  <a:extLst>
                    <a:ext uri="{FF2B5EF4-FFF2-40B4-BE49-F238E27FC236}">
                      <a16:creationId xmlns:a16="http://schemas.microsoft.com/office/drawing/2014/main" id="{EEDDD2E1-2A36-C4C0-892D-5D5AB483CD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86" y="2588"/>
                  <a:ext cx="46" cy="36"/>
                </a:xfrm>
                <a:prstGeom prst="ellipse">
                  <a:avLst/>
                </a:prstGeom>
                <a:solidFill>
                  <a:srgbClr val="CA8C02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23" name="Oval 53">
                  <a:extLst>
                    <a:ext uri="{FF2B5EF4-FFF2-40B4-BE49-F238E27FC236}">
                      <a16:creationId xmlns:a16="http://schemas.microsoft.com/office/drawing/2014/main" id="{F39B4E4B-EAE5-FE83-931B-D32F7497BB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2" y="2420"/>
                  <a:ext cx="46" cy="40"/>
                </a:xfrm>
                <a:prstGeom prst="ellipse">
                  <a:avLst/>
                </a:prstGeom>
                <a:solidFill>
                  <a:srgbClr val="CA8C02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24" name="Freeform 54">
                  <a:extLst>
                    <a:ext uri="{FF2B5EF4-FFF2-40B4-BE49-F238E27FC236}">
                      <a16:creationId xmlns:a16="http://schemas.microsoft.com/office/drawing/2014/main" id="{F670534E-288E-A07F-AB4F-FC8097D5DE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26" y="2402"/>
                  <a:ext cx="158" cy="230"/>
                </a:xfrm>
                <a:custGeom>
                  <a:avLst/>
                  <a:gdLst>
                    <a:gd name="T0" fmla="*/ 2 w 158"/>
                    <a:gd name="T1" fmla="*/ 14 h 230"/>
                    <a:gd name="T2" fmla="*/ 24 w 158"/>
                    <a:gd name="T3" fmla="*/ 0 h 230"/>
                    <a:gd name="T4" fmla="*/ 64 w 158"/>
                    <a:gd name="T5" fmla="*/ 0 h 230"/>
                    <a:gd name="T6" fmla="*/ 92 w 158"/>
                    <a:gd name="T7" fmla="*/ 4 h 230"/>
                    <a:gd name="T8" fmla="*/ 118 w 158"/>
                    <a:gd name="T9" fmla="*/ 16 h 230"/>
                    <a:gd name="T10" fmla="*/ 140 w 158"/>
                    <a:gd name="T11" fmla="*/ 40 h 230"/>
                    <a:gd name="T12" fmla="*/ 158 w 158"/>
                    <a:gd name="T13" fmla="*/ 72 h 230"/>
                    <a:gd name="T14" fmla="*/ 158 w 158"/>
                    <a:gd name="T15" fmla="*/ 150 h 230"/>
                    <a:gd name="T16" fmla="*/ 140 w 158"/>
                    <a:gd name="T17" fmla="*/ 194 h 230"/>
                    <a:gd name="T18" fmla="*/ 106 w 158"/>
                    <a:gd name="T19" fmla="*/ 214 h 230"/>
                    <a:gd name="T20" fmla="*/ 78 w 158"/>
                    <a:gd name="T21" fmla="*/ 224 h 230"/>
                    <a:gd name="T22" fmla="*/ 32 w 158"/>
                    <a:gd name="T23" fmla="*/ 230 h 230"/>
                    <a:gd name="T24" fmla="*/ 0 w 158"/>
                    <a:gd name="T25" fmla="*/ 222 h 230"/>
                    <a:gd name="T26" fmla="*/ 0 w 158"/>
                    <a:gd name="T27" fmla="*/ 182 h 230"/>
                    <a:gd name="T28" fmla="*/ 56 w 158"/>
                    <a:gd name="T29" fmla="*/ 184 h 230"/>
                    <a:gd name="T30" fmla="*/ 80 w 158"/>
                    <a:gd name="T31" fmla="*/ 168 h 230"/>
                    <a:gd name="T32" fmla="*/ 82 w 158"/>
                    <a:gd name="T33" fmla="*/ 64 h 230"/>
                    <a:gd name="T34" fmla="*/ 56 w 158"/>
                    <a:gd name="T35" fmla="*/ 48 h 230"/>
                    <a:gd name="T36" fmla="*/ 10 w 158"/>
                    <a:gd name="T37" fmla="*/ 48 h 230"/>
                    <a:gd name="T38" fmla="*/ 2 w 158"/>
                    <a:gd name="T39" fmla="*/ 14 h 230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158"/>
                    <a:gd name="T61" fmla="*/ 0 h 230"/>
                    <a:gd name="T62" fmla="*/ 158 w 158"/>
                    <a:gd name="T63" fmla="*/ 230 h 230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158" h="230">
                      <a:moveTo>
                        <a:pt x="2" y="14"/>
                      </a:moveTo>
                      <a:lnTo>
                        <a:pt x="24" y="0"/>
                      </a:lnTo>
                      <a:lnTo>
                        <a:pt x="64" y="0"/>
                      </a:lnTo>
                      <a:lnTo>
                        <a:pt x="92" y="4"/>
                      </a:lnTo>
                      <a:lnTo>
                        <a:pt x="118" y="16"/>
                      </a:lnTo>
                      <a:lnTo>
                        <a:pt x="140" y="40"/>
                      </a:lnTo>
                      <a:lnTo>
                        <a:pt x="158" y="72"/>
                      </a:lnTo>
                      <a:lnTo>
                        <a:pt x="158" y="150"/>
                      </a:lnTo>
                      <a:lnTo>
                        <a:pt x="140" y="194"/>
                      </a:lnTo>
                      <a:lnTo>
                        <a:pt x="106" y="214"/>
                      </a:lnTo>
                      <a:lnTo>
                        <a:pt x="78" y="224"/>
                      </a:lnTo>
                      <a:lnTo>
                        <a:pt x="32" y="230"/>
                      </a:lnTo>
                      <a:lnTo>
                        <a:pt x="0" y="222"/>
                      </a:lnTo>
                      <a:lnTo>
                        <a:pt x="0" y="182"/>
                      </a:lnTo>
                      <a:cubicBezTo>
                        <a:pt x="54" y="184"/>
                        <a:pt x="35" y="184"/>
                        <a:pt x="56" y="184"/>
                      </a:cubicBezTo>
                      <a:lnTo>
                        <a:pt x="80" y="168"/>
                      </a:lnTo>
                      <a:lnTo>
                        <a:pt x="82" y="64"/>
                      </a:lnTo>
                      <a:lnTo>
                        <a:pt x="56" y="48"/>
                      </a:lnTo>
                      <a:lnTo>
                        <a:pt x="10" y="48"/>
                      </a:lnTo>
                      <a:lnTo>
                        <a:pt x="2" y="14"/>
                      </a:lnTo>
                      <a:close/>
                    </a:path>
                  </a:pathLst>
                </a:custGeom>
                <a:solidFill>
                  <a:srgbClr val="175097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25" name="Oval 55">
                  <a:extLst>
                    <a:ext uri="{FF2B5EF4-FFF2-40B4-BE49-F238E27FC236}">
                      <a16:creationId xmlns:a16="http://schemas.microsoft.com/office/drawing/2014/main" id="{9BBF6900-99F8-B105-29FF-8058633A0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78" y="2470"/>
                  <a:ext cx="94" cy="84"/>
                </a:xfrm>
                <a:prstGeom prst="ellipse">
                  <a:avLst/>
                </a:prstGeom>
                <a:solidFill>
                  <a:srgbClr val="CA8C02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</p:grpSp>
        <p:grpSp>
          <p:nvGrpSpPr>
            <p:cNvPr id="108" name="Group 56">
              <a:extLst>
                <a:ext uri="{FF2B5EF4-FFF2-40B4-BE49-F238E27FC236}">
                  <a16:creationId xmlns:a16="http://schemas.microsoft.com/office/drawing/2014/main" id="{26182FAE-8633-2619-9BCD-AD54955485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2" y="2174"/>
              <a:ext cx="2468" cy="242"/>
              <a:chOff x="472" y="2174"/>
              <a:chExt cx="2468" cy="242"/>
            </a:xfrm>
          </p:grpSpPr>
          <p:sp>
            <p:nvSpPr>
              <p:cNvPr id="109" name="Rectangle 57">
                <a:extLst>
                  <a:ext uri="{FF2B5EF4-FFF2-40B4-BE49-F238E27FC236}">
                    <a16:creationId xmlns:a16="http://schemas.microsoft.com/office/drawing/2014/main" id="{7C1FAA53-5148-9B8A-4013-8BD7D871E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" y="2174"/>
                <a:ext cx="236" cy="242"/>
              </a:xfrm>
              <a:prstGeom prst="rect">
                <a:avLst/>
              </a:prstGeom>
              <a:solidFill>
                <a:srgbClr val="BDD6AE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0" name="Oval 58">
                <a:extLst>
                  <a:ext uri="{FF2B5EF4-FFF2-40B4-BE49-F238E27FC236}">
                    <a16:creationId xmlns:a16="http://schemas.microsoft.com/office/drawing/2014/main" id="{A78D36E2-A9B4-31CE-6D00-5DC3D40F94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1" y="2188"/>
                <a:ext cx="198" cy="214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1" name="Oval 59">
                <a:extLst>
                  <a:ext uri="{FF2B5EF4-FFF2-40B4-BE49-F238E27FC236}">
                    <a16:creationId xmlns:a16="http://schemas.microsoft.com/office/drawing/2014/main" id="{C2D533E6-5990-F5BF-1356-9F7B9C9B66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3" y="2188"/>
                <a:ext cx="198" cy="214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2" name="Oval 60">
                <a:extLst>
                  <a:ext uri="{FF2B5EF4-FFF2-40B4-BE49-F238E27FC236}">
                    <a16:creationId xmlns:a16="http://schemas.microsoft.com/office/drawing/2014/main" id="{A1BC0255-5843-2EC0-A135-D99C7C879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7" y="2188"/>
                <a:ext cx="198" cy="214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3" name="Oval 61">
                <a:extLst>
                  <a:ext uri="{FF2B5EF4-FFF2-40B4-BE49-F238E27FC236}">
                    <a16:creationId xmlns:a16="http://schemas.microsoft.com/office/drawing/2014/main" id="{C6AAE761-67DB-D743-C352-24C89A9E4D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216" y="2188"/>
                <a:ext cx="198" cy="214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4" name="Oval 62">
                <a:extLst>
                  <a:ext uri="{FF2B5EF4-FFF2-40B4-BE49-F238E27FC236}">
                    <a16:creationId xmlns:a16="http://schemas.microsoft.com/office/drawing/2014/main" id="{71671DB7-DA6B-59C7-6AA3-D4EEB1EEE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85" y="2188"/>
                <a:ext cx="198" cy="214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5" name="Oval 63">
                <a:extLst>
                  <a:ext uri="{FF2B5EF4-FFF2-40B4-BE49-F238E27FC236}">
                    <a16:creationId xmlns:a16="http://schemas.microsoft.com/office/drawing/2014/main" id="{6C9073EE-29C9-9DE6-E958-C2F1CEC4EA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460" y="2188"/>
                <a:ext cx="198" cy="214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6" name="Rectangle 64">
                <a:extLst>
                  <a:ext uri="{FF2B5EF4-FFF2-40B4-BE49-F238E27FC236}">
                    <a16:creationId xmlns:a16="http://schemas.microsoft.com/office/drawing/2014/main" id="{343BF904-F2FA-3E72-B61F-9807B34753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4" y="2174"/>
                <a:ext cx="236" cy="242"/>
              </a:xfrm>
              <a:prstGeom prst="rect">
                <a:avLst/>
              </a:prstGeom>
              <a:solidFill>
                <a:srgbClr val="BDD6AE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7" name="Oval 65">
                <a:extLst>
                  <a:ext uri="{FF2B5EF4-FFF2-40B4-BE49-F238E27FC236}">
                    <a16:creationId xmlns:a16="http://schemas.microsoft.com/office/drawing/2014/main" id="{67E3BBCC-4930-C75B-2BE0-85130EB74A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2188"/>
                <a:ext cx="198" cy="214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8" name="Oval 66">
                <a:extLst>
                  <a:ext uri="{FF2B5EF4-FFF2-40B4-BE49-F238E27FC236}">
                    <a16:creationId xmlns:a16="http://schemas.microsoft.com/office/drawing/2014/main" id="{FFD56CC1-4CFA-3E85-6129-6F727B78C1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2" y="2188"/>
                <a:ext cx="198" cy="214"/>
              </a:xfrm>
              <a:prstGeom prst="ellipse">
                <a:avLst/>
              </a:prstGeom>
              <a:solidFill>
                <a:srgbClr val="9FACC7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9" name="Line 67">
                <a:extLst>
                  <a:ext uri="{FF2B5EF4-FFF2-40B4-BE49-F238E27FC236}">
                    <a16:creationId xmlns:a16="http://schemas.microsoft.com/office/drawing/2014/main" id="{DC14F5E9-4EA0-485C-4336-4AF1AAB17C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2" y="2296"/>
                <a:ext cx="218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</p:grpSp>
      <p:sp>
        <p:nvSpPr>
          <p:cNvPr id="138" name="Rectangle 69">
            <a:extLst>
              <a:ext uri="{FF2B5EF4-FFF2-40B4-BE49-F238E27FC236}">
                <a16:creationId xmlns:a16="http://schemas.microsoft.com/office/drawing/2014/main" id="{382F51BF-6510-E92A-4913-9E3F72217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050" y="4542231"/>
            <a:ext cx="10326125" cy="1476019"/>
          </a:xfrm>
          <a:prstGeom prst="rect">
            <a:avLst/>
          </a:prstGeom>
          <a:solidFill>
            <a:srgbClr val="BDD6AE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lIns="162000" tIns="154800" rIns="162000" bIns="154800">
            <a:spAutoFit/>
          </a:bodyPr>
          <a:lstStyle/>
          <a:p>
            <a:pPr defTabSz="4572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sz="2800" kern="1200" dirty="0"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rPr>
              <a:t>U-shaped line may reduce employee movement and space requirements while enhancing communication, reducing the number of workers, and facilitating inspection</a:t>
            </a:r>
          </a:p>
        </p:txBody>
      </p:sp>
    </p:spTree>
    <p:extLst>
      <p:ext uri="{BB962C8B-B14F-4D97-AF65-F5344CB8AC3E}">
        <p14:creationId xmlns:p14="http://schemas.microsoft.com/office/powerpoint/2010/main" val="122138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 autoUpdateAnimBg="0"/>
      <p:bldP spid="74" grpId="0" animBg="1" autoUpdateAnimBg="0"/>
      <p:bldP spid="138" grpId="0" animBg="1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0B162-80E2-1FEE-6E34-3ABC8990D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balancing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8B80A-C91C-BCCA-D3C4-447C30F304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process of equalizing the amount of work at each workstation is called </a:t>
            </a:r>
            <a:r>
              <a:rPr lang="en-US" b="1" dirty="0">
                <a:solidFill>
                  <a:srgbClr val="FF0000"/>
                </a:solidFill>
              </a:rPr>
              <a:t>line balancing</a:t>
            </a:r>
            <a:r>
              <a:rPr lang="en-US" dirty="0"/>
              <a:t>.</a:t>
            </a:r>
          </a:p>
          <a:p>
            <a:r>
              <a:rPr lang="en-US" dirty="0"/>
              <a:t>The main aim is to </a:t>
            </a:r>
            <a:r>
              <a:rPr lang="en-US" dirty="0">
                <a:solidFill>
                  <a:srgbClr val="00B050"/>
                </a:solidFill>
              </a:rPr>
              <a:t>obtain task grouping </a:t>
            </a:r>
            <a:r>
              <a:rPr lang="en-US" dirty="0"/>
              <a:t>that represents approximately equal time requirements. This will minimize the idle time along the line and results in a high utilization of equipment and labor.</a:t>
            </a:r>
          </a:p>
          <a:p>
            <a:r>
              <a:rPr lang="en-US" dirty="0"/>
              <a:t>Assembly-line balancing operates under two constraints: </a:t>
            </a:r>
          </a:p>
          <a:p>
            <a:pPr marL="1073150">
              <a:buFont typeface="Wingdings" panose="05000000000000000000" pitchFamily="2" charset="2"/>
              <a:buChar char="Ø"/>
            </a:pPr>
            <a:r>
              <a:rPr lang="en-US" dirty="0"/>
              <a:t>Precedence requirements</a:t>
            </a:r>
          </a:p>
          <a:p>
            <a:pPr marL="1073150">
              <a:buFont typeface="Wingdings" panose="05000000000000000000" pitchFamily="2" charset="2"/>
              <a:buChar char="Ø"/>
            </a:pPr>
            <a:r>
              <a:rPr lang="en-US" dirty="0"/>
              <a:t>Cycle time restrictions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648D1-A3DE-B7B5-C438-9F767522DD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FF221-3062-808C-5699-06A3276ABC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A6C94-A3CD-3AD4-6579-E4003037EF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01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DE01E-8840-CCBF-D19C-78593E223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balancing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7E38-14D5-B5E7-0859-60137D1CC42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38C2F-A82B-5547-33F2-981409E99D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05730-3CA6-2A09-36A5-F4AB52FC19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D760571C-A2F4-F1C0-06DB-EC0483A03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484" y="1550137"/>
            <a:ext cx="5186364" cy="3638552"/>
          </a:xfrm>
          <a:prstGeom prst="rect">
            <a:avLst/>
          </a:prstGeom>
          <a:solidFill>
            <a:srgbClr val="4F81BD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5" name="Group 12">
            <a:extLst>
              <a:ext uri="{FF2B5EF4-FFF2-40B4-BE49-F238E27FC236}">
                <a16:creationId xmlns:a16="http://schemas.microsoft.com/office/drawing/2014/main" id="{B643AA7D-4AD5-DB29-C86F-BE8F284EC676}"/>
              </a:ext>
            </a:extLst>
          </p:cNvPr>
          <p:cNvGrpSpPr>
            <a:grpSpLocks/>
          </p:cNvGrpSpPr>
          <p:nvPr/>
        </p:nvGrpSpPr>
        <p:grpSpPr bwMode="auto">
          <a:xfrm>
            <a:off x="7016947" y="2291499"/>
            <a:ext cx="4791075" cy="968375"/>
            <a:chOff x="1550" y="1437"/>
            <a:chExt cx="3018" cy="61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F27BD55-2DA6-78C2-5104-E14C8925F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1590"/>
              <a:ext cx="63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C</a:t>
              </a:r>
              <a:r>
                <a:rPr kumimoji="0" lang="en-US" sz="2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d</a:t>
              </a:r>
              <a:r>
                <a:rPr kumimoji="0" lang="en-US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= </a:t>
              </a:r>
            </a:p>
          </p:txBody>
        </p:sp>
        <p:grpSp>
          <p:nvGrpSpPr>
            <p:cNvPr id="27" name="Group 11">
              <a:extLst>
                <a:ext uri="{FF2B5EF4-FFF2-40B4-BE49-F238E27FC236}">
                  <a16:creationId xmlns:a16="http://schemas.microsoft.com/office/drawing/2014/main" id="{F2C9F977-B78B-AF95-25AE-E084EF5052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9" y="1437"/>
              <a:ext cx="2429" cy="610"/>
              <a:chOff x="2139" y="1437"/>
              <a:chExt cx="2429" cy="61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D6F58E3-28D7-C4C0-585F-C6BDE3CDE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9" y="1437"/>
                <a:ext cx="2429" cy="6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production time available</a:t>
                </a:r>
              </a:p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desired units of output</a:t>
                </a:r>
              </a:p>
            </p:txBody>
          </p:sp>
          <p:sp>
            <p:nvSpPr>
              <p:cNvPr id="29" name="Line 9">
                <a:extLst>
                  <a:ext uri="{FF2B5EF4-FFF2-40B4-BE49-F238E27FC236}">
                    <a16:creationId xmlns:a16="http://schemas.microsoft.com/office/drawing/2014/main" id="{26CB777C-6C5A-C975-E74B-34E26EB06E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41" y="1769"/>
                <a:ext cx="2418" cy="0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Rectangle 13">
            <a:extLst>
              <a:ext uri="{FF2B5EF4-FFF2-40B4-BE49-F238E27FC236}">
                <a16:creationId xmlns:a16="http://schemas.microsoft.com/office/drawing/2014/main" id="{6587DC04-8510-92A9-BFA2-D4E2C7A7A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0834" y="1550137"/>
            <a:ext cx="3489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Tx/>
              <a:buFontTx/>
              <a:buNone/>
            </a:pPr>
            <a:r>
              <a:rPr lang="en-US" sz="2800" b="1" kern="120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Cycle time example</a:t>
            </a:r>
          </a:p>
        </p:txBody>
      </p:sp>
      <p:grpSp>
        <p:nvGrpSpPr>
          <p:cNvPr id="31" name="Group 19">
            <a:extLst>
              <a:ext uri="{FF2B5EF4-FFF2-40B4-BE49-F238E27FC236}">
                <a16:creationId xmlns:a16="http://schemas.microsoft.com/office/drawing/2014/main" id="{153918DE-29FB-BDAA-F251-E146B965A8FF}"/>
              </a:ext>
            </a:extLst>
          </p:cNvPr>
          <p:cNvGrpSpPr>
            <a:grpSpLocks/>
          </p:cNvGrpSpPr>
          <p:nvPr/>
        </p:nvGrpSpPr>
        <p:grpSpPr bwMode="auto">
          <a:xfrm>
            <a:off x="6745484" y="3374174"/>
            <a:ext cx="5186363" cy="949325"/>
            <a:chOff x="1406" y="2316"/>
            <a:chExt cx="3267" cy="598"/>
          </a:xfrm>
        </p:grpSpPr>
        <p:sp>
          <p:nvSpPr>
            <p:cNvPr id="32" name="Rectangle 15">
              <a:extLst>
                <a:ext uri="{FF2B5EF4-FFF2-40B4-BE49-F238E27FC236}">
                  <a16:creationId xmlns:a16="http://schemas.microsoft.com/office/drawing/2014/main" id="{CB6783CE-9D2F-DE62-E5AB-740F0C5B2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2469"/>
              <a:ext cx="63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C</a:t>
              </a:r>
              <a:r>
                <a:rPr kumimoji="0" lang="en-US" sz="2800" b="1" i="1" u="none" strike="noStrike" kern="1200" cap="none" spc="0" normalizeH="0" baseline="-2500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d</a:t>
              </a:r>
              <a:r>
                <a:rPr kumimoji="0" lang="en-US" sz="1800" b="1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= </a:t>
              </a:r>
            </a:p>
          </p:txBody>
        </p:sp>
        <p:sp>
          <p:nvSpPr>
            <p:cNvPr id="33" name="Rectangle 17">
              <a:extLst>
                <a:ext uri="{FF2B5EF4-FFF2-40B4-BE49-F238E27FC236}">
                  <a16:creationId xmlns:a16="http://schemas.microsoft.com/office/drawing/2014/main" id="{E8918A58-4251-80CC-46D9-9DD2BBDC4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5" y="2316"/>
              <a:ext cx="1947" cy="5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(8 hours x 60 minutes)</a:t>
              </a:r>
            </a:p>
            <a:p>
              <a:pPr marL="0" marR="0" lvl="0" indent="0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(120 units)</a:t>
              </a:r>
            </a:p>
          </p:txBody>
        </p:sp>
        <p:sp>
          <p:nvSpPr>
            <p:cNvPr id="34" name="Line 18">
              <a:extLst>
                <a:ext uri="{FF2B5EF4-FFF2-40B4-BE49-F238E27FC236}">
                  <a16:creationId xmlns:a16="http://schemas.microsoft.com/office/drawing/2014/main" id="{D7DABEE2-592A-B71B-B7FD-8F553BAD8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7" y="2648"/>
              <a:ext cx="2676" cy="0"/>
            </a:xfrm>
            <a:prstGeom prst="line">
              <a:avLst/>
            </a:prstGeom>
            <a:noFill/>
            <a:ln w="28575">
              <a:solidFill>
                <a:sysClr val="windowText" lastClr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5" name="Group 25">
            <a:extLst>
              <a:ext uri="{FF2B5EF4-FFF2-40B4-BE49-F238E27FC236}">
                <a16:creationId xmlns:a16="http://schemas.microsoft.com/office/drawing/2014/main" id="{95D31A18-9B9F-B754-4A41-BF9BA5CF6393}"/>
              </a:ext>
            </a:extLst>
          </p:cNvPr>
          <p:cNvGrpSpPr>
            <a:grpSpLocks/>
          </p:cNvGrpSpPr>
          <p:nvPr/>
        </p:nvGrpSpPr>
        <p:grpSpPr bwMode="auto">
          <a:xfrm>
            <a:off x="7585272" y="4372713"/>
            <a:ext cx="3465517" cy="968375"/>
            <a:chOff x="1393" y="3123"/>
            <a:chExt cx="2183" cy="610"/>
          </a:xfrm>
        </p:grpSpPr>
        <p:sp>
          <p:nvSpPr>
            <p:cNvPr id="36" name="Rectangle 21">
              <a:extLst>
                <a:ext uri="{FF2B5EF4-FFF2-40B4-BE49-F238E27FC236}">
                  <a16:creationId xmlns:a16="http://schemas.microsoft.com/office/drawing/2014/main" id="{52ECE0B7-170B-116A-83EB-F38D63CDC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3" y="3258"/>
              <a:ext cx="218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C</a:t>
              </a:r>
              <a:r>
                <a:rPr kumimoji="0" lang="en-US" sz="28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d</a:t>
              </a:r>
              <a:r>
                <a:rPr kumimoji="0" lang="en-US" sz="18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=                         =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4 minutes</a:t>
              </a:r>
              <a:endPara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37" name="Group 24">
              <a:extLst>
                <a:ext uri="{FF2B5EF4-FFF2-40B4-BE49-F238E27FC236}">
                  <a16:creationId xmlns:a16="http://schemas.microsoft.com/office/drawing/2014/main" id="{91E32E5C-6567-3252-7BDA-317DFD9A22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05" y="3123"/>
              <a:ext cx="463" cy="610"/>
              <a:chOff x="2023" y="3123"/>
              <a:chExt cx="463" cy="610"/>
            </a:xfrm>
          </p:grpSpPr>
          <p:sp>
            <p:nvSpPr>
              <p:cNvPr id="38" name="Rectangle 22">
                <a:extLst>
                  <a:ext uri="{FF2B5EF4-FFF2-40B4-BE49-F238E27FC236}">
                    <a16:creationId xmlns:a16="http://schemas.microsoft.com/office/drawing/2014/main" id="{1CFF8AC7-FC5C-5156-3A82-E7E1765216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8" y="3123"/>
                <a:ext cx="437" cy="6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480</a:t>
                </a:r>
              </a:p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120</a:t>
                </a:r>
              </a:p>
            </p:txBody>
          </p:sp>
          <p:sp>
            <p:nvSpPr>
              <p:cNvPr id="39" name="Line 23">
                <a:extLst>
                  <a:ext uri="{FF2B5EF4-FFF2-40B4-BE49-F238E27FC236}">
                    <a16:creationId xmlns:a16="http://schemas.microsoft.com/office/drawing/2014/main" id="{12779166-5C0A-F04E-2309-3891EB9275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3" y="3437"/>
                <a:ext cx="463" cy="0"/>
              </a:xfrm>
              <a:prstGeom prst="line">
                <a:avLst/>
              </a:prstGeom>
              <a:noFill/>
              <a:ln w="28575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40" name="Picture 2">
            <a:extLst>
              <a:ext uri="{FF2B5EF4-FFF2-40B4-BE49-F238E27FC236}">
                <a16:creationId xmlns:a16="http://schemas.microsoft.com/office/drawing/2014/main" id="{F0E448AC-52B1-3380-D786-98D88F3CD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219" y="1482310"/>
            <a:ext cx="5691951" cy="217208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DBE326-0A97-DECD-B26D-FB432814FC11}"/>
              </a:ext>
            </a:extLst>
          </p:cNvPr>
          <p:cNvSpPr txBox="1"/>
          <p:nvPr/>
        </p:nvSpPr>
        <p:spPr>
          <a:xfrm>
            <a:off x="503377" y="3927251"/>
            <a:ext cx="5653791" cy="1384995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time = 8 Hours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Desired units of output= 120 Units</a:t>
            </a:r>
          </a:p>
        </p:txBody>
      </p:sp>
    </p:spTree>
    <p:extLst>
      <p:ext uri="{BB962C8B-B14F-4D97-AF65-F5344CB8AC3E}">
        <p14:creationId xmlns:p14="http://schemas.microsoft.com/office/powerpoint/2010/main" val="1843035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0" grpId="0"/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4F889-398B-F32E-D146-D00249E2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Efficiency of line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57173-E9AC-4854-28B8-FE318B379B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AD1AC-F399-0C93-330D-BE6B2005CBE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72B7C-D9C1-F31F-440F-1373F648FB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46</a:t>
            </a:fld>
            <a:endParaRPr lang="en-US" dirty="0"/>
          </a:p>
        </p:txBody>
      </p:sp>
      <p:grpSp>
        <p:nvGrpSpPr>
          <p:cNvPr id="7" name="Group 29">
            <a:extLst>
              <a:ext uri="{FF2B5EF4-FFF2-40B4-BE49-F238E27FC236}">
                <a16:creationId xmlns:a16="http://schemas.microsoft.com/office/drawing/2014/main" id="{A06AF369-735E-D95C-984F-C74E3B3C436C}"/>
              </a:ext>
            </a:extLst>
          </p:cNvPr>
          <p:cNvGrpSpPr>
            <a:grpSpLocks/>
          </p:cNvGrpSpPr>
          <p:nvPr/>
        </p:nvGrpSpPr>
        <p:grpSpPr bwMode="auto">
          <a:xfrm>
            <a:off x="5497706" y="1204203"/>
            <a:ext cx="6465888" cy="2370138"/>
            <a:chOff x="1086" y="1084"/>
            <a:chExt cx="4073" cy="1493"/>
          </a:xfrm>
        </p:grpSpPr>
        <p:grpSp>
          <p:nvGrpSpPr>
            <p:cNvPr id="8" name="Group 17">
              <a:extLst>
                <a:ext uri="{FF2B5EF4-FFF2-40B4-BE49-F238E27FC236}">
                  <a16:creationId xmlns:a16="http://schemas.microsoft.com/office/drawing/2014/main" id="{758C6241-28BF-9E47-B9DE-A918DD66E6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76" y="1295"/>
              <a:ext cx="1108" cy="1282"/>
              <a:chOff x="900" y="1095"/>
              <a:chExt cx="1108" cy="1282"/>
            </a:xfrm>
          </p:grpSpPr>
          <p:grpSp>
            <p:nvGrpSpPr>
              <p:cNvPr id="20" name="Group 8">
                <a:extLst>
                  <a:ext uri="{FF2B5EF4-FFF2-40B4-BE49-F238E27FC236}">
                    <a16:creationId xmlns:a16="http://schemas.microsoft.com/office/drawing/2014/main" id="{271A1365-B68A-3FB9-7F5D-DB87CFCABA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1" y="1095"/>
                <a:ext cx="547" cy="1038"/>
                <a:chOff x="1461" y="1095"/>
                <a:chExt cx="547" cy="1038"/>
              </a:xfrm>
            </p:grpSpPr>
            <p:grpSp>
              <p:nvGrpSpPr>
                <p:cNvPr id="24" name="Group 6">
                  <a:extLst>
                    <a:ext uri="{FF2B5EF4-FFF2-40B4-BE49-F238E27FC236}">
                      <a16:creationId xmlns:a16="http://schemas.microsoft.com/office/drawing/2014/main" id="{2F5D08E5-3B63-B229-802A-1E6377ACA76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61" y="1095"/>
                  <a:ext cx="390" cy="1038"/>
                  <a:chOff x="1461" y="1095"/>
                  <a:chExt cx="390" cy="1038"/>
                </a:xfrm>
              </p:grpSpPr>
              <p:sp>
                <p:nvSpPr>
                  <p:cNvPr id="26" name="Rectangle 4">
                    <a:extLst>
                      <a:ext uri="{FF2B5EF4-FFF2-40B4-BE49-F238E27FC236}">
                        <a16:creationId xmlns:a16="http://schemas.microsoft.com/office/drawing/2014/main" id="{2D2BA03F-12EA-154F-B675-F6210201C4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61" y="1497"/>
                    <a:ext cx="390" cy="51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4800" dirty="0">
                        <a:latin typeface="Arial" pitchFamily="34" charset="0"/>
                        <a:cs typeface="Arial" pitchFamily="34" charset="0"/>
                        <a:sym typeface="Symbol" charset="2"/>
                      </a:rPr>
                      <a:t></a:t>
                    </a:r>
                    <a:endParaRPr lang="en-US" sz="4800" dirty="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27" name="Rectangle 5">
                    <a:extLst>
                      <a:ext uri="{FF2B5EF4-FFF2-40B4-BE49-F238E27FC236}">
                        <a16:creationId xmlns:a16="http://schemas.microsoft.com/office/drawing/2014/main" id="{6898E867-346F-AA46-A659-4A65788F0D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69" y="1095"/>
                    <a:ext cx="373" cy="103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>
                      <a:lnSpc>
                        <a:spcPct val="350000"/>
                      </a:lnSpc>
                      <a:defRPr/>
                    </a:pPr>
                    <a:r>
                      <a:rPr lang="en-US" sz="1600" b="1" i="1" dirty="0">
                        <a:latin typeface="Arial" pitchFamily="34" charset="0"/>
                        <a:cs typeface="Arial" pitchFamily="34" charset="0"/>
                      </a:rPr>
                      <a:t>   j</a:t>
                    </a:r>
                    <a:endParaRPr lang="en-US" sz="1600" b="1" dirty="0">
                      <a:latin typeface="Arial" pitchFamily="34" charset="0"/>
                      <a:cs typeface="Arial" pitchFamily="34" charset="0"/>
                    </a:endParaRPr>
                  </a:p>
                  <a:p>
                    <a:pPr>
                      <a:lnSpc>
                        <a:spcPct val="350000"/>
                      </a:lnSpc>
                      <a:defRPr/>
                    </a:pPr>
                    <a:r>
                      <a:rPr lang="en-US" sz="1600" b="1" i="1" dirty="0" err="1">
                        <a:latin typeface="Arial" pitchFamily="34" charset="0"/>
                        <a:cs typeface="Arial" pitchFamily="34" charset="0"/>
                      </a:rPr>
                      <a:t>i</a:t>
                    </a:r>
                    <a:r>
                      <a:rPr lang="en-US" sz="1600" b="1" i="1" dirty="0">
                        <a:latin typeface="Arial" pitchFamily="34" charset="0"/>
                        <a:cs typeface="Arial" pitchFamily="34" charset="0"/>
                      </a:rPr>
                      <a:t> </a:t>
                    </a:r>
                    <a:r>
                      <a:rPr lang="en-US" sz="1600" b="1" dirty="0">
                        <a:latin typeface="Arial" pitchFamily="34" charset="0"/>
                        <a:cs typeface="Arial" pitchFamily="34" charset="0"/>
                      </a:rPr>
                      <a:t>= 1</a:t>
                    </a:r>
                  </a:p>
                </p:txBody>
              </p:sp>
            </p:grpSp>
            <p:sp>
              <p:nvSpPr>
                <p:cNvPr id="25" name="Rectangle 7">
                  <a:extLst>
                    <a:ext uri="{FF2B5EF4-FFF2-40B4-BE49-F238E27FC236}">
                      <a16:creationId xmlns:a16="http://schemas.microsoft.com/office/drawing/2014/main" id="{767A4BB1-072B-DF2F-4398-44EFD60C80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1" y="1599"/>
                  <a:ext cx="21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2400" b="1" i="1">
                      <a:latin typeface="Arial" pitchFamily="34" charset="0"/>
                      <a:cs typeface="Arial" pitchFamily="34" charset="0"/>
                    </a:rPr>
                    <a:t>t</a:t>
                  </a:r>
                  <a:r>
                    <a:rPr lang="en-US" sz="2400" b="1" i="1" baseline="-25000">
                      <a:latin typeface="Arial" pitchFamily="34" charset="0"/>
                      <a:cs typeface="Arial" pitchFamily="34" charset="0"/>
                    </a:rPr>
                    <a:t>i</a:t>
                  </a:r>
                  <a:endParaRPr lang="en-US" sz="2400" b="1" i="1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21" name="Rectangle 14">
                <a:extLst>
                  <a:ext uri="{FF2B5EF4-FFF2-40B4-BE49-F238E27FC236}">
                    <a16:creationId xmlns:a16="http://schemas.microsoft.com/office/drawing/2014/main" id="{DABCF4C1-56B3-573E-2628-55C292049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3" y="2086"/>
                <a:ext cx="335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2400" b="1" i="1" dirty="0">
                    <a:latin typeface="Arial" pitchFamily="34" charset="0"/>
                    <a:cs typeface="Arial" pitchFamily="34" charset="0"/>
                  </a:rPr>
                  <a:t>C</a:t>
                </a:r>
                <a:r>
                  <a:rPr lang="en-US" sz="2400" b="1" i="1" baseline="-25000" dirty="0">
                    <a:latin typeface="Arial" pitchFamily="34" charset="0"/>
                    <a:cs typeface="Arial" pitchFamily="34" charset="0"/>
                  </a:rPr>
                  <a:t>d</a:t>
                </a:r>
                <a:endParaRPr lang="en-US" sz="2400" b="1" i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" name="Line 15">
                <a:extLst>
                  <a:ext uri="{FF2B5EF4-FFF2-40B4-BE49-F238E27FC236}">
                    <a16:creationId xmlns:a16="http://schemas.microsoft.com/office/drawing/2014/main" id="{E52182F0-C0F1-DEE7-D7AA-51634287D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7" y="2106"/>
                <a:ext cx="57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3" name="Rectangle 16">
                <a:extLst>
                  <a:ext uri="{FF2B5EF4-FFF2-40B4-BE49-F238E27FC236}">
                    <a16:creationId xmlns:a16="http://schemas.microsoft.com/office/drawing/2014/main" id="{96E21B2D-F4C1-FE78-F5DF-281F0B6DCB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" y="1948"/>
                <a:ext cx="47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2800" b="1" i="1" dirty="0">
                    <a:latin typeface="Arial" pitchFamily="34" charset="0"/>
                    <a:cs typeface="Arial" pitchFamily="34" charset="0"/>
                  </a:rPr>
                  <a:t>N</a:t>
                </a:r>
                <a:r>
                  <a:rPr lang="en-US" sz="2800" b="1" dirty="0">
                    <a:latin typeface="Arial" pitchFamily="34" charset="0"/>
                    <a:cs typeface="Arial" pitchFamily="34" charset="0"/>
                  </a:rPr>
                  <a:t> =</a:t>
                </a:r>
              </a:p>
            </p:txBody>
          </p:sp>
        </p:grpSp>
        <p:grpSp>
          <p:nvGrpSpPr>
            <p:cNvPr id="9" name="Group 18">
              <a:extLst>
                <a:ext uri="{FF2B5EF4-FFF2-40B4-BE49-F238E27FC236}">
                  <a16:creationId xmlns:a16="http://schemas.microsoft.com/office/drawing/2014/main" id="{F3843BC6-BCD6-65C4-A4D4-80FCB392DE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3" y="1295"/>
              <a:ext cx="1114" cy="1282"/>
              <a:chOff x="894" y="1095"/>
              <a:chExt cx="1114" cy="1282"/>
            </a:xfrm>
          </p:grpSpPr>
          <p:grpSp>
            <p:nvGrpSpPr>
              <p:cNvPr id="12" name="Group 19">
                <a:extLst>
                  <a:ext uri="{FF2B5EF4-FFF2-40B4-BE49-F238E27FC236}">
                    <a16:creationId xmlns:a16="http://schemas.microsoft.com/office/drawing/2014/main" id="{F92896FD-ACB4-8824-461E-A101D2EEE0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1" y="1095"/>
                <a:ext cx="547" cy="1038"/>
                <a:chOff x="1461" y="1095"/>
                <a:chExt cx="547" cy="1038"/>
              </a:xfrm>
            </p:grpSpPr>
            <p:grpSp>
              <p:nvGrpSpPr>
                <p:cNvPr id="16" name="Group 20">
                  <a:extLst>
                    <a:ext uri="{FF2B5EF4-FFF2-40B4-BE49-F238E27FC236}">
                      <a16:creationId xmlns:a16="http://schemas.microsoft.com/office/drawing/2014/main" id="{39739422-C3C9-9B5F-57D8-18227758DC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61" y="1095"/>
                  <a:ext cx="390" cy="1038"/>
                  <a:chOff x="1461" y="1095"/>
                  <a:chExt cx="390" cy="1038"/>
                </a:xfrm>
              </p:grpSpPr>
              <p:sp>
                <p:nvSpPr>
                  <p:cNvPr id="18" name="Rectangle 21">
                    <a:extLst>
                      <a:ext uri="{FF2B5EF4-FFF2-40B4-BE49-F238E27FC236}">
                        <a16:creationId xmlns:a16="http://schemas.microsoft.com/office/drawing/2014/main" id="{5D54EE58-10D7-4CDB-6427-6D6B4E16AF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61" y="1497"/>
                    <a:ext cx="390" cy="51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sz="4800">
                        <a:latin typeface="Arial" pitchFamily="34" charset="0"/>
                        <a:cs typeface="Arial" pitchFamily="34" charset="0"/>
                        <a:sym typeface="Symbol" charset="2"/>
                      </a:rPr>
                      <a:t></a:t>
                    </a:r>
                    <a:endParaRPr lang="en-US" sz="4800"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9" name="Rectangle 22">
                    <a:extLst>
                      <a:ext uri="{FF2B5EF4-FFF2-40B4-BE49-F238E27FC236}">
                        <a16:creationId xmlns:a16="http://schemas.microsoft.com/office/drawing/2014/main" id="{8462611E-433E-7F3E-3751-86779A65F3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69" y="1095"/>
                    <a:ext cx="373" cy="103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>
                      <a:lnSpc>
                        <a:spcPct val="350000"/>
                      </a:lnSpc>
                      <a:defRPr/>
                    </a:pPr>
                    <a:r>
                      <a:rPr lang="en-US" sz="1600" b="1" i="1" dirty="0">
                        <a:latin typeface="Arial" pitchFamily="34" charset="0"/>
                        <a:cs typeface="Arial" pitchFamily="34" charset="0"/>
                      </a:rPr>
                      <a:t>   j</a:t>
                    </a:r>
                    <a:endParaRPr lang="en-US" sz="1600" b="1" dirty="0">
                      <a:latin typeface="Arial" pitchFamily="34" charset="0"/>
                      <a:cs typeface="Arial" pitchFamily="34" charset="0"/>
                    </a:endParaRPr>
                  </a:p>
                  <a:p>
                    <a:pPr>
                      <a:lnSpc>
                        <a:spcPct val="350000"/>
                      </a:lnSpc>
                      <a:defRPr/>
                    </a:pPr>
                    <a:r>
                      <a:rPr lang="en-US" sz="1600" b="1" i="1" dirty="0" err="1">
                        <a:latin typeface="Arial" pitchFamily="34" charset="0"/>
                        <a:cs typeface="Arial" pitchFamily="34" charset="0"/>
                      </a:rPr>
                      <a:t>i</a:t>
                    </a:r>
                    <a:r>
                      <a:rPr lang="en-US" sz="1600" b="1" i="1" dirty="0">
                        <a:latin typeface="Arial" pitchFamily="34" charset="0"/>
                        <a:cs typeface="Arial" pitchFamily="34" charset="0"/>
                      </a:rPr>
                      <a:t> </a:t>
                    </a:r>
                    <a:r>
                      <a:rPr lang="en-US" sz="1600" b="1" dirty="0">
                        <a:latin typeface="Arial" pitchFamily="34" charset="0"/>
                        <a:cs typeface="Arial" pitchFamily="34" charset="0"/>
                      </a:rPr>
                      <a:t>= 1</a:t>
                    </a:r>
                  </a:p>
                </p:txBody>
              </p:sp>
            </p:grpSp>
            <p:sp>
              <p:nvSpPr>
                <p:cNvPr id="17" name="Rectangle 23">
                  <a:extLst>
                    <a:ext uri="{FF2B5EF4-FFF2-40B4-BE49-F238E27FC236}">
                      <a16:creationId xmlns:a16="http://schemas.microsoft.com/office/drawing/2014/main" id="{FF7FB1DF-D05C-2815-E69E-38DF21DDDF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91" y="1599"/>
                  <a:ext cx="21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sz="2400" b="1" i="1">
                      <a:latin typeface="Arial" pitchFamily="34" charset="0"/>
                      <a:cs typeface="Arial" pitchFamily="34" charset="0"/>
                    </a:rPr>
                    <a:t>t</a:t>
                  </a:r>
                  <a:r>
                    <a:rPr lang="en-US" sz="2400" b="1" i="1" baseline="-25000">
                      <a:latin typeface="Arial" pitchFamily="34" charset="0"/>
                      <a:cs typeface="Arial" pitchFamily="34" charset="0"/>
                    </a:rPr>
                    <a:t>i</a:t>
                  </a:r>
                  <a:endParaRPr lang="en-US" sz="2400" b="1" i="1"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  <p:sp>
            <p:nvSpPr>
              <p:cNvPr id="13" name="Rectangle 24">
                <a:extLst>
                  <a:ext uri="{FF2B5EF4-FFF2-40B4-BE49-F238E27FC236}">
                    <a16:creationId xmlns:a16="http://schemas.microsoft.com/office/drawing/2014/main" id="{9D6B45E8-D9D5-80CF-6F3A-D9A0B322D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6" y="2086"/>
                <a:ext cx="44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2400" b="1" i="1" dirty="0" err="1">
                    <a:latin typeface="Arial" pitchFamily="34" charset="0"/>
                    <a:cs typeface="Arial" pitchFamily="34" charset="0"/>
                  </a:rPr>
                  <a:t>nC</a:t>
                </a:r>
                <a:r>
                  <a:rPr lang="en-US" sz="2400" b="1" i="1" baseline="-25000" dirty="0" err="1">
                    <a:latin typeface="Arial" pitchFamily="34" charset="0"/>
                    <a:cs typeface="Arial" pitchFamily="34" charset="0"/>
                  </a:rPr>
                  <a:t>a</a:t>
                </a:r>
                <a:endParaRPr lang="en-US" sz="2400" b="1" i="1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4" name="Line 25">
                <a:extLst>
                  <a:ext uri="{FF2B5EF4-FFF2-40B4-BE49-F238E27FC236}">
                    <a16:creationId xmlns:a16="http://schemas.microsoft.com/office/drawing/2014/main" id="{B0B64B25-66B7-8B2A-4932-0D9600EA87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7" y="2106"/>
                <a:ext cx="57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5" name="Rectangle 26">
                <a:extLst>
                  <a:ext uri="{FF2B5EF4-FFF2-40B4-BE49-F238E27FC236}">
                    <a16:creationId xmlns:a16="http://schemas.microsoft.com/office/drawing/2014/main" id="{A0577657-BDD4-0947-C7FF-3D9F37BD8B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4" y="1948"/>
                <a:ext cx="462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sz="2800" b="1" i="1" dirty="0">
                    <a:latin typeface="Arial" pitchFamily="34" charset="0"/>
                    <a:cs typeface="Arial" pitchFamily="34" charset="0"/>
                  </a:rPr>
                  <a:t>E</a:t>
                </a:r>
                <a:r>
                  <a:rPr lang="en-US" sz="2800" b="1" dirty="0">
                    <a:latin typeface="Arial" pitchFamily="34" charset="0"/>
                    <a:cs typeface="Arial" pitchFamily="34" charset="0"/>
                  </a:rPr>
                  <a:t> =</a:t>
                </a:r>
              </a:p>
            </p:txBody>
          </p:sp>
        </p:grpSp>
        <p:sp>
          <p:nvSpPr>
            <p:cNvPr id="10" name="Rectangle 27">
              <a:extLst>
                <a:ext uri="{FF2B5EF4-FFF2-40B4-BE49-F238E27FC236}">
                  <a16:creationId xmlns:a16="http://schemas.microsoft.com/office/drawing/2014/main" id="{2B9C90B0-DF56-782B-53E0-7052CC6947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" y="1084"/>
              <a:ext cx="1731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b="1" dirty="0">
                  <a:latin typeface="Arial" pitchFamily="34" charset="0"/>
                  <a:cs typeface="Arial" pitchFamily="34" charset="0"/>
                </a:rPr>
                <a:t>Minimum number</a:t>
              </a:r>
            </a:p>
            <a:p>
              <a:pPr>
                <a:defRPr/>
              </a:pPr>
              <a:r>
                <a:rPr lang="en-US" sz="2400" b="1" dirty="0">
                  <a:latin typeface="Arial" pitchFamily="34" charset="0"/>
                  <a:cs typeface="Arial" pitchFamily="34" charset="0"/>
                </a:rPr>
                <a:t>Of workstations</a:t>
              </a:r>
            </a:p>
          </p:txBody>
        </p:sp>
        <p:sp>
          <p:nvSpPr>
            <p:cNvPr id="11" name="Rectangle 28">
              <a:extLst>
                <a:ext uri="{FF2B5EF4-FFF2-40B4-BE49-F238E27FC236}">
                  <a16:creationId xmlns:a16="http://schemas.microsoft.com/office/drawing/2014/main" id="{33D00A85-04D6-5500-E58E-DE5077D8C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2" y="1200"/>
              <a:ext cx="18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b="1" dirty="0">
                  <a:latin typeface="Arial" pitchFamily="34" charset="0"/>
                  <a:cs typeface="Arial" pitchFamily="34" charset="0"/>
                </a:rPr>
                <a:t>Efficiency</a:t>
              </a:r>
            </a:p>
          </p:txBody>
        </p:sp>
      </p:grpSp>
      <p:sp>
        <p:nvSpPr>
          <p:cNvPr id="28" name="Rectangle 30">
            <a:extLst>
              <a:ext uri="{FF2B5EF4-FFF2-40B4-BE49-F238E27FC236}">
                <a16:creationId xmlns:a16="http://schemas.microsoft.com/office/drawing/2014/main" id="{2A9BE3A8-E3E2-6752-805D-B48F735C6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9652" y="3779274"/>
            <a:ext cx="10727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9B614DF5-58BD-76B9-823B-88706C0D1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547" y="4179252"/>
            <a:ext cx="4653838" cy="193899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tabLst>
                <a:tab pos="381000" algn="r"/>
                <a:tab pos="479425" algn="l"/>
              </a:tabLst>
              <a:defRPr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= completion time for element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tabLst>
                <a:tab pos="381000" algn="r"/>
                <a:tab pos="479425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= number of work elements</a:t>
            </a:r>
          </a:p>
          <a:p>
            <a:pPr algn="l">
              <a:tabLst>
                <a:tab pos="381000" algn="r"/>
                <a:tab pos="479425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= actual number of workstations</a:t>
            </a:r>
          </a:p>
          <a:p>
            <a:pPr algn="l">
              <a:tabLst>
                <a:tab pos="381000" algn="r"/>
                <a:tab pos="479425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= actual cycle time</a:t>
            </a:r>
          </a:p>
          <a:p>
            <a:pPr algn="l">
              <a:tabLst>
                <a:tab pos="381000" algn="r"/>
                <a:tab pos="479425" algn="l"/>
              </a:tabLs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= desired cycle time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4529CA-0E25-F3FF-EFDD-9B5C8ABE07D4}"/>
              </a:ext>
            </a:extLst>
          </p:cNvPr>
          <p:cNvSpPr/>
          <p:nvPr/>
        </p:nvSpPr>
        <p:spPr>
          <a:xfrm>
            <a:off x="106326" y="4179509"/>
            <a:ext cx="7240524" cy="19389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cycle time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the maximum workstation time on the line.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differs from the desired cycle time when the production quota does not match the maximum output attainable by the system.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3D1FC6-DBBA-5075-2421-AB76B1548D9C}"/>
                  </a:ext>
                </a:extLst>
              </p:cNvPr>
              <p:cNvSpPr txBox="1"/>
              <p:nvPr/>
            </p:nvSpPr>
            <p:spPr>
              <a:xfrm>
                <a:off x="228406" y="1297099"/>
                <a:ext cx="4795284" cy="15041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en-IN" sz="2400" b="1" dirty="0">
                    <a:latin typeface="Arial" pitchFamily="34" charset="0"/>
                    <a:cs typeface="Arial" pitchFamily="34" charset="0"/>
                  </a:rPr>
                  <a:t>Desired cycle time</a:t>
                </a:r>
              </a:p>
              <a:p>
                <a:endParaRPr lang="en-IN" sz="2400" dirty="0">
                  <a:latin typeface="+mn-lt"/>
                </a:endParaRPr>
              </a:p>
              <a:p>
                <a:r>
                  <a:rPr lang="en-US" sz="2400" b="1" i="1" dirty="0">
                    <a:latin typeface="+mn-lt"/>
                    <a:cs typeface="Arial" pitchFamily="34" charset="0"/>
                  </a:rPr>
                  <a:t>C</a:t>
                </a:r>
                <a:r>
                  <a:rPr lang="en-US" sz="2400" b="1" i="1" baseline="-25000" dirty="0">
                    <a:latin typeface="+mn-lt"/>
                    <a:cs typeface="Arial" pitchFamily="34" charset="0"/>
                  </a:rPr>
                  <a:t>d </a:t>
                </a:r>
                <a:r>
                  <a:rPr lang="en-IN" sz="2400" b="1" dirty="0">
                    <a:latin typeface="+mn-lt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b="1" kern="1200" dirty="0">
                            <a:solidFill>
                              <a:prstClr val="black"/>
                            </a:solidFill>
                            <a:latin typeface="+mn-lt"/>
                            <a:cs typeface="Arial" pitchFamily="34" charset="0"/>
                          </a:rPr>
                          <m:t>Production</m:t>
                        </m:r>
                        <m:r>
                          <m:rPr>
                            <m:nor/>
                          </m:rPr>
                          <a:rPr lang="en-IN" sz="2400" b="1" kern="1200" dirty="0">
                            <a:solidFill>
                              <a:prstClr val="black"/>
                            </a:solidFill>
                            <a:latin typeface="+mn-lt"/>
                            <a:cs typeface="Arial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kern="1200" dirty="0">
                            <a:solidFill>
                              <a:prstClr val="black"/>
                            </a:solidFill>
                            <a:latin typeface="+mn-lt"/>
                            <a:cs typeface="Arial" pitchFamily="34" charset="0"/>
                          </a:rPr>
                          <m:t>time</m:t>
                        </m:r>
                        <m:r>
                          <m:rPr>
                            <m:nor/>
                          </m:rPr>
                          <a:rPr lang="en-IN" sz="2400" b="1" kern="1200" dirty="0">
                            <a:solidFill>
                              <a:prstClr val="black"/>
                            </a:solidFill>
                            <a:latin typeface="+mn-lt"/>
                            <a:cs typeface="Arial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kern="1200" dirty="0">
                            <a:solidFill>
                              <a:prstClr val="black"/>
                            </a:solidFill>
                            <a:latin typeface="+mn-lt"/>
                            <a:cs typeface="Arial" pitchFamily="34" charset="0"/>
                          </a:rPr>
                          <m:t>available</m:t>
                        </m:r>
                        <m:r>
                          <m:rPr>
                            <m:nor/>
                          </m:rPr>
                          <a:rPr lang="en-IN" sz="2400" b="1" kern="1200" dirty="0">
                            <a:solidFill>
                              <a:prstClr val="black"/>
                            </a:solidFill>
                            <a:latin typeface="+mn-lt"/>
                            <a:cs typeface="Arial" pitchFamily="34" charset="0"/>
                          </a:rPr>
                          <m:t>  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1" kern="1200" dirty="0">
                            <a:solidFill>
                              <a:prstClr val="black"/>
                            </a:solidFill>
                            <a:latin typeface="+mn-lt"/>
                            <a:cs typeface="Arial" pitchFamily="34" charset="0"/>
                          </a:rPr>
                          <m:t>Desired</m:t>
                        </m:r>
                        <m:r>
                          <m:rPr>
                            <m:nor/>
                          </m:rPr>
                          <a:rPr lang="en-IN" sz="2400" b="1" kern="1200" dirty="0">
                            <a:solidFill>
                              <a:prstClr val="black"/>
                            </a:solidFill>
                            <a:latin typeface="+mn-lt"/>
                            <a:cs typeface="Arial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kern="1200" dirty="0">
                            <a:solidFill>
                              <a:prstClr val="black"/>
                            </a:solidFill>
                            <a:latin typeface="+mn-lt"/>
                            <a:cs typeface="Arial" pitchFamily="34" charset="0"/>
                          </a:rPr>
                          <m:t>units</m:t>
                        </m:r>
                        <m:r>
                          <m:rPr>
                            <m:nor/>
                          </m:rPr>
                          <a:rPr lang="en-IN" sz="2400" b="1" kern="1200" dirty="0">
                            <a:solidFill>
                              <a:prstClr val="black"/>
                            </a:solidFill>
                            <a:latin typeface="+mn-lt"/>
                            <a:cs typeface="Arial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kern="1200" dirty="0">
                            <a:solidFill>
                              <a:prstClr val="black"/>
                            </a:solidFill>
                            <a:latin typeface="+mn-lt"/>
                            <a:cs typeface="Arial" pitchFamily="34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lang="en-IN" sz="2400" b="1" kern="1200" dirty="0">
                            <a:solidFill>
                              <a:prstClr val="black"/>
                            </a:solidFill>
                            <a:latin typeface="+mn-lt"/>
                            <a:cs typeface="Arial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IN" sz="2400" b="1" kern="1200" dirty="0">
                            <a:solidFill>
                              <a:prstClr val="black"/>
                            </a:solidFill>
                            <a:latin typeface="+mn-lt"/>
                            <a:cs typeface="Arial" pitchFamily="34" charset="0"/>
                          </a:rPr>
                          <m:t>output</m:t>
                        </m:r>
                      </m:den>
                    </m:f>
                  </m:oMath>
                </a14:m>
                <a:endParaRPr lang="en-IN" sz="24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3D1FC6-DBBA-5075-2421-AB76B1548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06" y="1297099"/>
                <a:ext cx="4795284" cy="1504130"/>
              </a:xfrm>
              <a:prstGeom prst="rect">
                <a:avLst/>
              </a:prstGeom>
              <a:blipFill>
                <a:blip r:embed="rId2"/>
                <a:stretch>
                  <a:fillRect l="-1774" t="-24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918B8E8C-1EDA-CF1D-E1BA-6DDD870DEA70}"/>
              </a:ext>
            </a:extLst>
          </p:cNvPr>
          <p:cNvSpPr txBox="1"/>
          <p:nvPr/>
        </p:nvSpPr>
        <p:spPr>
          <a:xfrm>
            <a:off x="5483419" y="1266502"/>
            <a:ext cx="2916238" cy="23078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D352561-BC0D-1E98-98F8-E9A199E63F9B}"/>
              </a:ext>
            </a:extLst>
          </p:cNvPr>
          <p:cNvSpPr txBox="1"/>
          <p:nvPr/>
        </p:nvSpPr>
        <p:spPr>
          <a:xfrm>
            <a:off x="8736207" y="1266502"/>
            <a:ext cx="2916238" cy="23078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142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 animBg="1"/>
      <p:bldP spid="30" grpId="0" animBg="1"/>
      <p:bldP spid="3" grpId="0" animBg="1"/>
      <p:bldP spid="31" grpId="0" animBg="1"/>
      <p:bldP spid="3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D10C-2A5B-820C-3C24-D9F2B4CBE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 balancing procedure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13B0C-F2B8-946B-3CA2-C40939FA9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various steps of line balancing are—</a:t>
            </a:r>
          </a:p>
          <a:p>
            <a:pPr marL="712788">
              <a:buFont typeface="Wingdings" panose="05000000000000000000" pitchFamily="2" charset="2"/>
              <a:buChar char="Ø"/>
            </a:pPr>
            <a:r>
              <a:rPr lang="en-US" dirty="0"/>
              <a:t>Draw and label a precedence diagram.</a:t>
            </a:r>
          </a:p>
          <a:p>
            <a:pPr marL="712788">
              <a:buFont typeface="Wingdings" panose="05000000000000000000" pitchFamily="2" charset="2"/>
              <a:buChar char="Ø"/>
            </a:pPr>
            <a:r>
              <a:rPr lang="en-US" dirty="0"/>
              <a:t>Calculate the desired cycle time required for the line.</a:t>
            </a:r>
          </a:p>
          <a:p>
            <a:pPr marL="712788">
              <a:buFont typeface="Wingdings" panose="05000000000000000000" pitchFamily="2" charset="2"/>
              <a:buChar char="Ø"/>
            </a:pPr>
            <a:r>
              <a:rPr lang="en-US" dirty="0"/>
              <a:t>Calculate the theoretical minimum number of workstations.</a:t>
            </a:r>
          </a:p>
          <a:p>
            <a:pPr marL="712788">
              <a:buFont typeface="Wingdings" panose="05000000000000000000" pitchFamily="2" charset="2"/>
              <a:buChar char="Ø"/>
            </a:pPr>
            <a:r>
              <a:rPr lang="en-US" dirty="0"/>
              <a:t>Group elements into workstations, recognizing cycle time and precedence constraints.</a:t>
            </a:r>
          </a:p>
          <a:p>
            <a:pPr marL="712788">
              <a:buFont typeface="Wingdings" panose="05000000000000000000" pitchFamily="2" charset="2"/>
              <a:buChar char="Ø"/>
            </a:pPr>
            <a:r>
              <a:rPr lang="en-US" dirty="0"/>
              <a:t>Calculate the efficiency of the line.</a:t>
            </a:r>
          </a:p>
          <a:p>
            <a:pPr marL="712788">
              <a:buFont typeface="Wingdings" panose="05000000000000000000" pitchFamily="2" charset="2"/>
              <a:buChar char="Ø"/>
            </a:pPr>
            <a:r>
              <a:rPr lang="en-US" dirty="0"/>
              <a:t>Determine if the theoretical minimum number of workstations or an acceptable efficiency level has been reached or not. If not, go back to step 4.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5AF2A-7FD1-C809-8479-4B4DB26E9DE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CB488-BDAC-541F-634C-28CDCFD7A34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8129A-BED4-FD64-616A-E426C17BB9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06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BC7B1-4F05-6F09-B617-9C4B4109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D3C6C-137F-6A6E-FB0D-3551EB2B36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977B2-8443-DDFC-1F13-F1D52784FE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63D23-B362-46F2-ECAF-B598774F9C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48</a:t>
            </a:fld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03996E2-D5DB-EB30-23EA-A836DEBA05C8}"/>
              </a:ext>
            </a:extLst>
          </p:cNvPr>
          <p:cNvGrpSpPr>
            <a:grpSpLocks/>
          </p:cNvGrpSpPr>
          <p:nvPr/>
        </p:nvGrpSpPr>
        <p:grpSpPr bwMode="auto">
          <a:xfrm>
            <a:off x="1922723" y="1024270"/>
            <a:ext cx="7446962" cy="1987550"/>
            <a:chOff x="587" y="1049"/>
            <a:chExt cx="4691" cy="1252"/>
          </a:xfrm>
        </p:grpSpPr>
        <p:sp>
          <p:nvSpPr>
            <p:cNvPr id="53" name="Line 4">
              <a:extLst>
                <a:ext uri="{FF2B5EF4-FFF2-40B4-BE49-F238E27FC236}">
                  <a16:creationId xmlns:a16="http://schemas.microsoft.com/office/drawing/2014/main" id="{4CECD4AE-8A16-99B5-BCF7-5D89219702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" y="1343"/>
              <a:ext cx="4648" cy="0"/>
            </a:xfrm>
            <a:prstGeom prst="line">
              <a:avLst/>
            </a:prstGeom>
            <a:noFill/>
            <a:ln w="57150">
              <a:solidFill>
                <a:srgbClr val="C0504D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4B01FF1-2A0B-BFBA-08F1-AA8EB92DF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" y="1049"/>
              <a:ext cx="4685" cy="1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77850" algn="l"/>
                  <a:tab pos="4670425" algn="ctr"/>
                  <a:tab pos="6575425" algn="ctr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	WORK ELEMENT	PRECEDENCE	TIME (MIN)</a:t>
              </a:r>
              <a:endParaRPr kumimoji="0" lang="en-US" sz="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77850" algn="l"/>
                  <a:tab pos="4670425" algn="ctr"/>
                  <a:tab pos="6575425" algn="ctr"/>
                </a:tabLst>
                <a:defRPr/>
              </a:pPr>
              <a:endParaRPr kumimoji="0" lang="en-US" sz="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77850" algn="l"/>
                  <a:tab pos="4670425" algn="ctr"/>
                  <a:tab pos="6575425" algn="ctr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A	Press out sheet of fruit	—	0.1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77850" algn="l"/>
                  <a:tab pos="4670425" algn="ctr"/>
                  <a:tab pos="6575425" algn="ctr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B	Cut into strips	A	0.2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77850" algn="l"/>
                  <a:tab pos="4670425" algn="ctr"/>
                  <a:tab pos="6575425" algn="ctr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C	Outline fun shapes	A	0.4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77850" algn="l"/>
                  <a:tab pos="4670425" algn="ctr"/>
                  <a:tab pos="6575425" algn="ctr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	Roll up and package	B, C	0.3</a:t>
              </a:r>
            </a:p>
          </p:txBody>
        </p:sp>
      </p:grpSp>
      <p:grpSp>
        <p:nvGrpSpPr>
          <p:cNvPr id="55" name="Group 6">
            <a:extLst>
              <a:ext uri="{FF2B5EF4-FFF2-40B4-BE49-F238E27FC236}">
                <a16:creationId xmlns:a16="http://schemas.microsoft.com/office/drawing/2014/main" id="{B731A05E-6ACF-119B-5127-6EE18154BADA}"/>
              </a:ext>
            </a:extLst>
          </p:cNvPr>
          <p:cNvGrpSpPr>
            <a:grpSpLocks/>
          </p:cNvGrpSpPr>
          <p:nvPr/>
        </p:nvGrpSpPr>
        <p:grpSpPr bwMode="auto">
          <a:xfrm>
            <a:off x="1465655" y="3234070"/>
            <a:ext cx="2825052" cy="2560638"/>
            <a:chOff x="1789" y="2339"/>
            <a:chExt cx="2154" cy="1613"/>
          </a:xfrm>
        </p:grpSpPr>
        <p:sp>
          <p:nvSpPr>
            <p:cNvPr id="56" name="Rectangle 7">
              <a:extLst>
                <a:ext uri="{FF2B5EF4-FFF2-40B4-BE49-F238E27FC236}">
                  <a16:creationId xmlns:a16="http://schemas.microsoft.com/office/drawing/2014/main" id="{6F2647BD-A52E-6668-BC2A-726067298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9" y="3034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0.1</a:t>
              </a:r>
            </a:p>
          </p:txBody>
        </p:sp>
        <p:sp>
          <p:nvSpPr>
            <p:cNvPr id="57" name="Rectangle 8">
              <a:extLst>
                <a:ext uri="{FF2B5EF4-FFF2-40B4-BE49-F238E27FC236}">
                  <a16:creationId xmlns:a16="http://schemas.microsoft.com/office/drawing/2014/main" id="{74A9E67D-5EC3-F16A-5F0F-292931B87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" y="2339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0.2</a:t>
              </a:r>
            </a:p>
          </p:txBody>
        </p:sp>
        <p:sp>
          <p:nvSpPr>
            <p:cNvPr id="58" name="Rectangle 9">
              <a:extLst>
                <a:ext uri="{FF2B5EF4-FFF2-40B4-BE49-F238E27FC236}">
                  <a16:creationId xmlns:a16="http://schemas.microsoft.com/office/drawing/2014/main" id="{4B8CB0DB-CE6C-6049-4A2F-5DDC19B7E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" y="3702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0.4</a:t>
              </a:r>
            </a:p>
          </p:txBody>
        </p:sp>
        <p:sp>
          <p:nvSpPr>
            <p:cNvPr id="59" name="Rectangle 10">
              <a:extLst>
                <a:ext uri="{FF2B5EF4-FFF2-40B4-BE49-F238E27FC236}">
                  <a16:creationId xmlns:a16="http://schemas.microsoft.com/office/drawing/2014/main" id="{F11516D8-22DA-D03E-3A1E-8FADBA945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4" y="3031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0.3</a:t>
              </a:r>
            </a:p>
          </p:txBody>
        </p:sp>
        <p:grpSp>
          <p:nvGrpSpPr>
            <p:cNvPr id="60" name="Group 11">
              <a:extLst>
                <a:ext uri="{FF2B5EF4-FFF2-40B4-BE49-F238E27FC236}">
                  <a16:creationId xmlns:a16="http://schemas.microsoft.com/office/drawing/2014/main" id="{5896E26C-0486-23B7-CAED-70FFFCE358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4" y="2470"/>
              <a:ext cx="1428" cy="1383"/>
              <a:chOff x="2174" y="2470"/>
              <a:chExt cx="1428" cy="1383"/>
            </a:xfrm>
          </p:grpSpPr>
          <p:sp>
            <p:nvSpPr>
              <p:cNvPr id="61" name="Line 12">
                <a:extLst>
                  <a:ext uri="{FF2B5EF4-FFF2-40B4-BE49-F238E27FC236}">
                    <a16:creationId xmlns:a16="http://schemas.microsoft.com/office/drawing/2014/main" id="{D077F5A4-29A8-76A0-0895-6FF9FAF60E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7" y="2694"/>
                <a:ext cx="338" cy="338"/>
              </a:xfrm>
              <a:prstGeom prst="line">
                <a:avLst/>
              </a:prstGeom>
              <a:noFill/>
              <a:ln w="57150">
                <a:solidFill>
                  <a:sysClr val="windowText" lastClr="000000"/>
                </a:solidFill>
                <a:round/>
                <a:headEnd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2" name="Line 13">
                <a:extLst>
                  <a:ext uri="{FF2B5EF4-FFF2-40B4-BE49-F238E27FC236}">
                    <a16:creationId xmlns:a16="http://schemas.microsoft.com/office/drawing/2014/main" id="{AD772AE3-A6B8-A0D2-C0BA-79C01A67BF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1" y="2725"/>
                <a:ext cx="382" cy="382"/>
              </a:xfrm>
              <a:prstGeom prst="line">
                <a:avLst/>
              </a:prstGeom>
              <a:noFill/>
              <a:ln w="57150">
                <a:solidFill>
                  <a:sysClr val="windowText" lastClr="000000"/>
                </a:solidFill>
                <a:round/>
                <a:headEnd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63" name="Group 14">
                <a:extLst>
                  <a:ext uri="{FF2B5EF4-FFF2-40B4-BE49-F238E27FC236}">
                    <a16:creationId xmlns:a16="http://schemas.microsoft.com/office/drawing/2014/main" id="{FD1736AA-7545-F35A-6A54-EA3E9F62BF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98" y="3008"/>
                <a:ext cx="304" cy="304"/>
                <a:chOff x="3316" y="3230"/>
                <a:chExt cx="304" cy="304"/>
              </a:xfrm>
            </p:grpSpPr>
            <p:sp>
              <p:nvSpPr>
                <p:cNvPr id="74" name="Oval 15">
                  <a:extLst>
                    <a:ext uri="{FF2B5EF4-FFF2-40B4-BE49-F238E27FC236}">
                      <a16:creationId xmlns:a16="http://schemas.microsoft.com/office/drawing/2014/main" id="{29FA5AC6-7424-50EE-5431-3E4BACFF4B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6" y="3230"/>
                  <a:ext cx="304" cy="304"/>
                </a:xfrm>
                <a:prstGeom prst="ellipse">
                  <a:avLst/>
                </a:prstGeom>
                <a:solidFill>
                  <a:srgbClr val="C0504D"/>
                </a:solidFill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Rectangle 16">
                  <a:extLst>
                    <a:ext uri="{FF2B5EF4-FFF2-40B4-BE49-F238E27FC236}">
                      <a16:creationId xmlns:a16="http://schemas.microsoft.com/office/drawing/2014/main" id="{0FAC1FAB-29DA-9D96-5463-4BB05A3AE3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41" y="3240"/>
                  <a:ext cx="253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D</a:t>
                  </a:r>
                </a:p>
              </p:txBody>
            </p:sp>
          </p:grpSp>
          <p:sp>
            <p:nvSpPr>
              <p:cNvPr id="64" name="Line 17">
                <a:extLst>
                  <a:ext uri="{FF2B5EF4-FFF2-40B4-BE49-F238E27FC236}">
                    <a16:creationId xmlns:a16="http://schemas.microsoft.com/office/drawing/2014/main" id="{2FFE5079-5497-4C78-52FC-3A42802E74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50" y="3270"/>
                <a:ext cx="382" cy="382"/>
              </a:xfrm>
              <a:prstGeom prst="line">
                <a:avLst/>
              </a:prstGeom>
              <a:noFill/>
              <a:ln w="57150">
                <a:solidFill>
                  <a:sysClr val="windowText" lastClr="000000"/>
                </a:solidFill>
                <a:round/>
                <a:headEnd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65" name="Group 18">
                <a:extLst>
                  <a:ext uri="{FF2B5EF4-FFF2-40B4-BE49-F238E27FC236}">
                    <a16:creationId xmlns:a16="http://schemas.microsoft.com/office/drawing/2014/main" id="{932FCD7A-CD24-1BB4-4A40-A158E3EAB5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4" y="2470"/>
                <a:ext cx="304" cy="1383"/>
                <a:chOff x="2734" y="2470"/>
                <a:chExt cx="304" cy="1383"/>
              </a:xfrm>
            </p:grpSpPr>
            <p:sp>
              <p:nvSpPr>
                <p:cNvPr id="70" name="Oval 19">
                  <a:extLst>
                    <a:ext uri="{FF2B5EF4-FFF2-40B4-BE49-F238E27FC236}">
                      <a16:creationId xmlns:a16="http://schemas.microsoft.com/office/drawing/2014/main" id="{87BD57A1-5F43-9E53-D320-9B6FD9CFC9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4" y="2470"/>
                  <a:ext cx="304" cy="304"/>
                </a:xfrm>
                <a:prstGeom prst="ellipse">
                  <a:avLst/>
                </a:prstGeom>
                <a:solidFill>
                  <a:srgbClr val="C0504D"/>
                </a:solidFill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1" name="Rectangle 20">
                  <a:extLst>
                    <a:ext uri="{FF2B5EF4-FFF2-40B4-BE49-F238E27FC236}">
                      <a16:creationId xmlns:a16="http://schemas.microsoft.com/office/drawing/2014/main" id="{354A8CF3-7BA5-E744-5AAC-E9AA020BD2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65" y="2479"/>
                  <a:ext cx="253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72" name="Oval 21">
                  <a:extLst>
                    <a:ext uri="{FF2B5EF4-FFF2-40B4-BE49-F238E27FC236}">
                      <a16:creationId xmlns:a16="http://schemas.microsoft.com/office/drawing/2014/main" id="{52950340-D7A7-D77D-0E4C-78FF4E7C2B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4" y="3549"/>
                  <a:ext cx="304" cy="304"/>
                </a:xfrm>
                <a:prstGeom prst="ellipse">
                  <a:avLst/>
                </a:prstGeom>
                <a:solidFill>
                  <a:srgbClr val="C0504D"/>
                </a:solidFill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Rectangle 22">
                  <a:extLst>
                    <a:ext uri="{FF2B5EF4-FFF2-40B4-BE49-F238E27FC236}">
                      <a16:creationId xmlns:a16="http://schemas.microsoft.com/office/drawing/2014/main" id="{C2901DEE-874F-9C2A-5C9F-372878216A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9" y="3559"/>
                  <a:ext cx="253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C</a:t>
                  </a:r>
                </a:p>
              </p:txBody>
            </p:sp>
          </p:grpSp>
          <p:sp>
            <p:nvSpPr>
              <p:cNvPr id="66" name="Line 23">
                <a:extLst>
                  <a:ext uri="{FF2B5EF4-FFF2-40B4-BE49-F238E27FC236}">
                    <a16:creationId xmlns:a16="http://schemas.microsoft.com/office/drawing/2014/main" id="{EC4A8A36-2811-BFE4-9C76-AB58AB38EB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7" y="3251"/>
                <a:ext cx="338" cy="338"/>
              </a:xfrm>
              <a:prstGeom prst="line">
                <a:avLst/>
              </a:prstGeom>
              <a:noFill/>
              <a:ln w="57150">
                <a:solidFill>
                  <a:sysClr val="windowText" lastClr="000000"/>
                </a:solidFill>
                <a:round/>
                <a:headEnd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67" name="Group 24">
                <a:extLst>
                  <a:ext uri="{FF2B5EF4-FFF2-40B4-BE49-F238E27FC236}">
                    <a16:creationId xmlns:a16="http://schemas.microsoft.com/office/drawing/2014/main" id="{4F71345B-63E7-D634-4288-3BE116AC3B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74" y="3009"/>
                <a:ext cx="304" cy="304"/>
                <a:chOff x="2174" y="3011"/>
                <a:chExt cx="304" cy="304"/>
              </a:xfrm>
            </p:grpSpPr>
            <p:sp>
              <p:nvSpPr>
                <p:cNvPr id="68" name="Oval 25">
                  <a:extLst>
                    <a:ext uri="{FF2B5EF4-FFF2-40B4-BE49-F238E27FC236}">
                      <a16:creationId xmlns:a16="http://schemas.microsoft.com/office/drawing/2014/main" id="{CD791F32-5409-F710-B097-F8918B776A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4" y="3011"/>
                  <a:ext cx="304" cy="304"/>
                </a:xfrm>
                <a:prstGeom prst="ellipse">
                  <a:avLst/>
                </a:prstGeom>
                <a:solidFill>
                  <a:srgbClr val="C0504D"/>
                </a:solidFill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69" name="Rectangle 26">
                  <a:extLst>
                    <a:ext uri="{FF2B5EF4-FFF2-40B4-BE49-F238E27FC236}">
                      <a16:creationId xmlns:a16="http://schemas.microsoft.com/office/drawing/2014/main" id="{D8880A92-E73D-EF89-3BD7-B4E2565934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5" y="3020"/>
                  <a:ext cx="253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rPr>
                    <a:t>A</a:t>
                  </a:r>
                </a:p>
              </p:txBody>
            </p:sp>
          </p:grpSp>
        </p:grpSp>
      </p:grpSp>
      <p:sp>
        <p:nvSpPr>
          <p:cNvPr id="76" name="Rectangle 28">
            <a:extLst>
              <a:ext uri="{FF2B5EF4-FFF2-40B4-BE49-F238E27FC236}">
                <a16:creationId xmlns:a16="http://schemas.microsoft.com/office/drawing/2014/main" id="{DC6F30EC-5007-189F-1AB3-868EA6501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8673" y="4064298"/>
            <a:ext cx="6199678" cy="1912937"/>
          </a:xfrm>
          <a:prstGeom prst="rect">
            <a:avLst/>
          </a:prstGeom>
          <a:solidFill>
            <a:srgbClr val="4F81BD"/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77" name="Group 46">
            <a:extLst>
              <a:ext uri="{FF2B5EF4-FFF2-40B4-BE49-F238E27FC236}">
                <a16:creationId xmlns:a16="http://schemas.microsoft.com/office/drawing/2014/main" id="{3DFFFEA1-3C9C-53DE-DA08-08986C9DD6EF}"/>
              </a:ext>
            </a:extLst>
          </p:cNvPr>
          <p:cNvGrpSpPr>
            <a:grpSpLocks/>
          </p:cNvGrpSpPr>
          <p:nvPr/>
        </p:nvGrpSpPr>
        <p:grpSpPr bwMode="auto">
          <a:xfrm>
            <a:off x="5374360" y="4138910"/>
            <a:ext cx="6359552" cy="823913"/>
            <a:chOff x="804" y="2682"/>
            <a:chExt cx="4316" cy="519"/>
          </a:xfrm>
        </p:grpSpPr>
        <p:sp>
          <p:nvSpPr>
            <p:cNvPr id="78" name="Rectangle 29">
              <a:extLst>
                <a:ext uri="{FF2B5EF4-FFF2-40B4-BE49-F238E27FC236}">
                  <a16:creationId xmlns:a16="http://schemas.microsoft.com/office/drawing/2014/main" id="{920F6634-D6B5-39FC-2A1C-07E627FDDB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2820"/>
              <a:ext cx="431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C</a:t>
              </a:r>
              <a:r>
                <a:rPr kumimoji="0" lang="en-US" sz="20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charset="0"/>
                  <a:ea typeface="+mn-ea"/>
                  <a:cs typeface="+mn-cs"/>
                </a:rPr>
                <a:t>d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=                                                              =            = 0.4 minute</a:t>
              </a:r>
            </a:p>
          </p:txBody>
        </p:sp>
        <p:grpSp>
          <p:nvGrpSpPr>
            <p:cNvPr id="79" name="Group 45">
              <a:extLst>
                <a:ext uri="{FF2B5EF4-FFF2-40B4-BE49-F238E27FC236}">
                  <a16:creationId xmlns:a16="http://schemas.microsoft.com/office/drawing/2014/main" id="{781C13A5-FA72-5BBA-AB6E-809ADFFFFB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2682"/>
              <a:ext cx="2283" cy="518"/>
              <a:chOff x="1200" y="2682"/>
              <a:chExt cx="2283" cy="518"/>
            </a:xfrm>
          </p:grpSpPr>
          <p:sp>
            <p:nvSpPr>
              <p:cNvPr id="83" name="Rectangle 30">
                <a:extLst>
                  <a:ext uri="{FF2B5EF4-FFF2-40B4-BE49-F238E27FC236}">
                    <a16:creationId xmlns:a16="http://schemas.microsoft.com/office/drawing/2014/main" id="{DA3A2ED4-659A-D1FB-ED7C-BB34511A6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2682"/>
                <a:ext cx="2283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40 hours x 60 minutes / hour</a:t>
                </a:r>
              </a:p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6,000 units</a:t>
                </a:r>
              </a:p>
            </p:txBody>
          </p:sp>
          <p:sp>
            <p:nvSpPr>
              <p:cNvPr id="84" name="Line 32">
                <a:extLst>
                  <a:ext uri="{FF2B5EF4-FFF2-40B4-BE49-F238E27FC236}">
                    <a16:creationId xmlns:a16="http://schemas.microsoft.com/office/drawing/2014/main" id="{70E0E56B-05FA-1833-1652-8BF0621137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33" y="2951"/>
                <a:ext cx="2178" cy="0"/>
              </a:xfrm>
              <a:prstGeom prst="line">
                <a:avLst/>
              </a:prstGeom>
              <a:noFill/>
              <a:ln w="38100">
                <a:solidFill>
                  <a:sysClr val="windowText" lastClr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80" name="Group 34">
              <a:extLst>
                <a:ext uri="{FF2B5EF4-FFF2-40B4-BE49-F238E27FC236}">
                  <a16:creationId xmlns:a16="http://schemas.microsoft.com/office/drawing/2014/main" id="{18D8A13C-D698-8308-48B6-76F93E0C24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0" y="2683"/>
              <a:ext cx="472" cy="518"/>
              <a:chOff x="4928" y="2514"/>
              <a:chExt cx="472" cy="518"/>
            </a:xfrm>
          </p:grpSpPr>
          <p:sp>
            <p:nvSpPr>
              <p:cNvPr id="81" name="Rectangle 31">
                <a:extLst>
                  <a:ext uri="{FF2B5EF4-FFF2-40B4-BE49-F238E27FC236}">
                    <a16:creationId xmlns:a16="http://schemas.microsoft.com/office/drawing/2014/main" id="{27BE4141-4497-B787-5B52-B0477D4E55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8" y="2514"/>
                <a:ext cx="472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2400</a:t>
                </a:r>
              </a:p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6000</a:t>
                </a:r>
              </a:p>
            </p:txBody>
          </p:sp>
          <p:sp>
            <p:nvSpPr>
              <p:cNvPr id="82" name="Line 33">
                <a:extLst>
                  <a:ext uri="{FF2B5EF4-FFF2-40B4-BE49-F238E27FC236}">
                    <a16:creationId xmlns:a16="http://schemas.microsoft.com/office/drawing/2014/main" id="{CA612D98-DCA6-617E-6DA2-8A6647C177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2" y="2782"/>
                <a:ext cx="42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5" name="Group 48">
            <a:extLst>
              <a:ext uri="{FF2B5EF4-FFF2-40B4-BE49-F238E27FC236}">
                <a16:creationId xmlns:a16="http://schemas.microsoft.com/office/drawing/2014/main" id="{0CA8242E-A0FF-8D7D-9049-CCF57701E69C}"/>
              </a:ext>
            </a:extLst>
          </p:cNvPr>
          <p:cNvGrpSpPr>
            <a:grpSpLocks/>
          </p:cNvGrpSpPr>
          <p:nvPr/>
        </p:nvGrpSpPr>
        <p:grpSpPr bwMode="auto">
          <a:xfrm>
            <a:off x="5718311" y="5183485"/>
            <a:ext cx="5693539" cy="830263"/>
            <a:chOff x="912" y="3322"/>
            <a:chExt cx="3864" cy="523"/>
          </a:xfrm>
        </p:grpSpPr>
        <p:sp>
          <p:nvSpPr>
            <p:cNvPr id="86" name="Rectangle 37">
              <a:extLst>
                <a:ext uri="{FF2B5EF4-FFF2-40B4-BE49-F238E27FC236}">
                  <a16:creationId xmlns:a16="http://schemas.microsoft.com/office/drawing/2014/main" id="{4536285C-9850-1D0F-A8A6-1BDD0A42F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460"/>
              <a:ext cx="386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2000" b="1" i="1" kern="1200" dirty="0">
                  <a:solidFill>
                    <a:prstClr val="black"/>
                  </a:solidFill>
                  <a:latin typeface="Times New Roman" charset="0"/>
                  <a:ea typeface="+mn-ea"/>
                  <a:cs typeface="+mn-cs"/>
                </a:rPr>
                <a:t>N</a:t>
              </a:r>
              <a:r>
                <a:rPr lang="en-US" sz="2000" b="1" kern="1200" dirty="0">
                  <a:solidFill>
                    <a:prstClr val="black"/>
                  </a:solidFill>
                  <a:latin typeface="Calibri"/>
                  <a:ea typeface="+mn-ea"/>
                  <a:cs typeface="+mn-cs"/>
                </a:rPr>
                <a:t> =                                           =          = 2.5 workstations</a:t>
              </a:r>
            </a:p>
          </p:txBody>
        </p:sp>
        <p:grpSp>
          <p:nvGrpSpPr>
            <p:cNvPr id="87" name="Group 47">
              <a:extLst>
                <a:ext uri="{FF2B5EF4-FFF2-40B4-BE49-F238E27FC236}">
                  <a16:creationId xmlns:a16="http://schemas.microsoft.com/office/drawing/2014/main" id="{35EA2F6C-21D7-824A-00F5-EF8B5DA51F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7" y="3323"/>
              <a:ext cx="347" cy="518"/>
              <a:chOff x="2977" y="3323"/>
              <a:chExt cx="347" cy="518"/>
            </a:xfrm>
          </p:grpSpPr>
          <p:sp>
            <p:nvSpPr>
              <p:cNvPr id="91" name="Rectangle 39">
                <a:extLst>
                  <a:ext uri="{FF2B5EF4-FFF2-40B4-BE49-F238E27FC236}">
                    <a16:creationId xmlns:a16="http://schemas.microsoft.com/office/drawing/2014/main" id="{F02DE5DC-82E2-8E9A-1AE7-99C06B2C88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4" y="3323"/>
                <a:ext cx="338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  <a:buClrTx/>
                  <a:buFontTx/>
                  <a:buNone/>
                </a:pPr>
                <a:r>
                  <a:rPr lang="en-US" sz="2000" b="1" kern="120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rPr>
                  <a:t>1.0</a:t>
                </a:r>
              </a:p>
              <a:p>
                <a:pPr>
                  <a:lnSpc>
                    <a:spcPct val="120000"/>
                  </a:lnSpc>
                  <a:buClrTx/>
                  <a:buFontTx/>
                  <a:buNone/>
                </a:pPr>
                <a:r>
                  <a:rPr lang="en-US" sz="2000" b="1" kern="120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rPr>
                  <a:t>0.4</a:t>
                </a:r>
              </a:p>
            </p:txBody>
          </p:sp>
          <p:sp>
            <p:nvSpPr>
              <p:cNvPr id="92" name="Line 40">
                <a:extLst>
                  <a:ext uri="{FF2B5EF4-FFF2-40B4-BE49-F238E27FC236}">
                    <a16:creationId xmlns:a16="http://schemas.microsoft.com/office/drawing/2014/main" id="{1CB9162F-6EC7-8922-5A38-5ED9893BA9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77" y="3592"/>
                <a:ext cx="34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buClrTx/>
                  <a:buFontTx/>
                  <a:buNone/>
                </a:pPr>
                <a:endParaRPr lang="en-IN" sz="1800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88" name="Group 44">
              <a:extLst>
                <a:ext uri="{FF2B5EF4-FFF2-40B4-BE49-F238E27FC236}">
                  <a16:creationId xmlns:a16="http://schemas.microsoft.com/office/drawing/2014/main" id="{191A55AB-0196-7BBD-DD6A-E52F1177A6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5" y="3322"/>
              <a:ext cx="1513" cy="523"/>
              <a:chOff x="-478" y="2478"/>
              <a:chExt cx="1513" cy="523"/>
            </a:xfrm>
          </p:grpSpPr>
          <p:sp>
            <p:nvSpPr>
              <p:cNvPr id="89" name="Rectangle 38">
                <a:extLst>
                  <a:ext uri="{FF2B5EF4-FFF2-40B4-BE49-F238E27FC236}">
                    <a16:creationId xmlns:a16="http://schemas.microsoft.com/office/drawing/2014/main" id="{E4761B65-29C6-6420-A065-59DC71D59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478" y="2478"/>
                <a:ext cx="1513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  <a:buClrTx/>
                  <a:buFontTx/>
                  <a:buNone/>
                </a:pPr>
                <a:r>
                  <a:rPr lang="en-US" sz="2000" b="1" kern="120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rPr>
                  <a:t>0.1 + 0.2 + 0.3 + 0.4</a:t>
                </a:r>
              </a:p>
              <a:p>
                <a:pPr>
                  <a:lnSpc>
                    <a:spcPct val="120000"/>
                  </a:lnSpc>
                  <a:buClrTx/>
                  <a:buFontTx/>
                  <a:buNone/>
                </a:pPr>
                <a:r>
                  <a:rPr lang="en-US" sz="2000" b="1" kern="1200" dirty="0">
                    <a:solidFill>
                      <a:prstClr val="black"/>
                    </a:solidFill>
                    <a:latin typeface="Calibri"/>
                    <a:ea typeface="+mn-ea"/>
                    <a:cs typeface="+mn-cs"/>
                  </a:rPr>
                  <a:t>                0.4</a:t>
                </a:r>
              </a:p>
            </p:txBody>
          </p:sp>
          <p:sp>
            <p:nvSpPr>
              <p:cNvPr id="90" name="Line 43">
                <a:extLst>
                  <a:ext uri="{FF2B5EF4-FFF2-40B4-BE49-F238E27FC236}">
                    <a16:creationId xmlns:a16="http://schemas.microsoft.com/office/drawing/2014/main" id="{2FFD29E9-C889-B857-511E-D2DFEA3B8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453" y="2746"/>
                <a:ext cx="148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buClrTx/>
                  <a:buFontTx/>
                  <a:buNone/>
                </a:pPr>
                <a:endParaRPr lang="en-IN" sz="1800" kern="1200">
                  <a:solidFill>
                    <a:prstClr val="black"/>
                  </a:solidFill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93" name="Rectangle 45">
            <a:extLst>
              <a:ext uri="{FF2B5EF4-FFF2-40B4-BE49-F238E27FC236}">
                <a16:creationId xmlns:a16="http://schemas.microsoft.com/office/drawing/2014/main" id="{18E43A2B-D572-2748-A1AA-D1634F187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6389" y="5653386"/>
            <a:ext cx="19605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en-US" sz="2000" b="1" kern="1200" dirty="0">
                <a:solidFill>
                  <a:srgbClr val="FF0000"/>
                </a:solidFill>
                <a:latin typeface="Calibri"/>
                <a:ea typeface="+mn-ea"/>
                <a:cs typeface="+mn-cs"/>
              </a:rPr>
              <a:t>3 workstations</a:t>
            </a:r>
          </a:p>
        </p:txBody>
      </p:sp>
      <p:sp>
        <p:nvSpPr>
          <p:cNvPr id="94" name="Freeform 46">
            <a:extLst>
              <a:ext uri="{FF2B5EF4-FFF2-40B4-BE49-F238E27FC236}">
                <a16:creationId xmlns:a16="http://schemas.microsoft.com/office/drawing/2014/main" id="{15316DE1-4831-B912-1C1F-ADA6E27E2A6C}"/>
              </a:ext>
            </a:extLst>
          </p:cNvPr>
          <p:cNvSpPr>
            <a:spLocks/>
          </p:cNvSpPr>
          <p:nvPr/>
        </p:nvSpPr>
        <p:spPr bwMode="auto">
          <a:xfrm>
            <a:off x="9459989" y="5693073"/>
            <a:ext cx="422275" cy="184150"/>
          </a:xfrm>
          <a:custGeom>
            <a:avLst/>
            <a:gdLst>
              <a:gd name="T0" fmla="*/ 0 w 266"/>
              <a:gd name="T1" fmla="*/ 0 h 116"/>
              <a:gd name="T2" fmla="*/ 182563 w 266"/>
              <a:gd name="T3" fmla="*/ 155575 h 116"/>
              <a:gd name="T4" fmla="*/ 422275 w 266"/>
              <a:gd name="T5" fmla="*/ 169863 h 11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66" h="116">
                <a:moveTo>
                  <a:pt x="0" y="0"/>
                </a:moveTo>
                <a:cubicBezTo>
                  <a:pt x="35" y="40"/>
                  <a:pt x="71" y="80"/>
                  <a:pt x="115" y="98"/>
                </a:cubicBezTo>
                <a:cubicBezTo>
                  <a:pt x="159" y="116"/>
                  <a:pt x="212" y="111"/>
                  <a:pt x="266" y="107"/>
                </a:cubicBezTo>
              </a:path>
            </a:pathLst>
          </a:custGeom>
          <a:noFill/>
          <a:ln w="38100" cap="flat" cmpd="sng">
            <a:solidFill>
              <a:sysClr val="windowText" lastClr="000000"/>
            </a:solidFill>
            <a:prstDash val="solid"/>
            <a:round/>
            <a:headEnd/>
            <a:tailEnd type="triangle" w="med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5" name="Line 47">
            <a:extLst>
              <a:ext uri="{FF2B5EF4-FFF2-40B4-BE49-F238E27FC236}">
                <a16:creationId xmlns:a16="http://schemas.microsoft.com/office/drawing/2014/main" id="{062C4016-1585-F681-72D6-FD483AB33E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03256" y="5594646"/>
            <a:ext cx="1888733" cy="0"/>
          </a:xfrm>
          <a:prstGeom prst="line">
            <a:avLst/>
          </a:prstGeom>
          <a:noFill/>
          <a:ln w="38100">
            <a:solidFill>
              <a:srgbClr val="C0504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DF4B84FD-63F8-F346-B50A-98B5C6AFE47C}"/>
              </a:ext>
            </a:extLst>
          </p:cNvPr>
          <p:cNvSpPr/>
          <p:nvPr/>
        </p:nvSpPr>
        <p:spPr>
          <a:xfrm>
            <a:off x="4641586" y="3270217"/>
            <a:ext cx="4572000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buClrTx/>
              <a:buFontTx/>
              <a:buNone/>
            </a:pPr>
            <a:r>
              <a:rPr lang="en-IN" sz="1800" b="1" kern="120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Production time available = 40 </a:t>
            </a:r>
            <a:r>
              <a:rPr lang="en-IN" sz="1800" b="1" kern="1200" dirty="0" err="1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Hrs</a:t>
            </a:r>
            <a:endParaRPr lang="en-IN" sz="1800" b="1" kern="1200" dirty="0">
              <a:solidFill>
                <a:prstClr val="black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pPr>
              <a:buClrTx/>
              <a:buFontTx/>
              <a:buNone/>
            </a:pPr>
            <a:r>
              <a:rPr lang="en-IN" sz="1800" b="1" kern="120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Desired units of output= 6000 units</a:t>
            </a:r>
          </a:p>
        </p:txBody>
      </p:sp>
    </p:spTree>
    <p:extLst>
      <p:ext uri="{BB962C8B-B14F-4D97-AF65-F5344CB8AC3E}">
        <p14:creationId xmlns:p14="http://schemas.microsoft.com/office/powerpoint/2010/main" val="129861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93" grpId="0"/>
      <p:bldP spid="94" grpId="0" animBg="1"/>
      <p:bldP spid="9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5A779-C160-10B5-2F2F-64ED5535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89F1D-423B-EC22-E4DA-6FA5ECFE675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22B97-59CB-BC3C-57ED-7C1539E2AA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EC831-4655-30BB-61FF-704FADEE2F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49</a:t>
            </a:fld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B294608-33C4-99DB-5AE2-C19F86C1949E}"/>
              </a:ext>
            </a:extLst>
          </p:cNvPr>
          <p:cNvGrpSpPr>
            <a:grpSpLocks/>
          </p:cNvGrpSpPr>
          <p:nvPr/>
        </p:nvGrpSpPr>
        <p:grpSpPr bwMode="auto">
          <a:xfrm>
            <a:off x="2186505" y="1293145"/>
            <a:ext cx="7446962" cy="1987550"/>
            <a:chOff x="587" y="1049"/>
            <a:chExt cx="4691" cy="1252"/>
          </a:xfrm>
        </p:grpSpPr>
        <p:sp>
          <p:nvSpPr>
            <p:cNvPr id="41" name="Line 4">
              <a:extLst>
                <a:ext uri="{FF2B5EF4-FFF2-40B4-BE49-F238E27FC236}">
                  <a16:creationId xmlns:a16="http://schemas.microsoft.com/office/drawing/2014/main" id="{FEC1CA37-F125-BFAC-70EC-FE8EC0774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" y="1343"/>
              <a:ext cx="4648" cy="0"/>
            </a:xfrm>
            <a:prstGeom prst="line">
              <a:avLst/>
            </a:prstGeom>
            <a:noFill/>
            <a:ln w="57150">
              <a:solidFill>
                <a:srgbClr val="C0504D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3E3994A-F6E3-8706-1CCF-D3165570E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3" y="1049"/>
              <a:ext cx="4685" cy="1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77850" algn="l"/>
                  <a:tab pos="4670425" algn="ctr"/>
                  <a:tab pos="6575425" algn="ctr"/>
                </a:tabLst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	WORK ELEMENT	PRECEDENCE	TIME (MIN)</a:t>
              </a:r>
              <a:endParaRPr kumimoji="0" lang="en-US" sz="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77850" algn="l"/>
                  <a:tab pos="4670425" algn="ctr"/>
                  <a:tab pos="6575425" algn="ctr"/>
                </a:tabLst>
                <a:defRPr/>
              </a:pPr>
              <a:endParaRPr kumimoji="0" lang="en-US" sz="600" b="1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77850" algn="l"/>
                  <a:tab pos="4670425" algn="ctr"/>
                  <a:tab pos="6575425" algn="ctr"/>
                </a:tabLst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A	Press out sheet of fruit	—	0.1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77850" algn="l"/>
                  <a:tab pos="4670425" algn="ctr"/>
                  <a:tab pos="6575425" algn="ctr"/>
                </a:tabLst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B	Cut into strips	A	0.2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77850" algn="l"/>
                  <a:tab pos="4670425" algn="ctr"/>
                  <a:tab pos="6575425" algn="ctr"/>
                </a:tabLst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C	Outline fun shapes	A	0.4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577850" algn="l"/>
                  <a:tab pos="4670425" algn="ctr"/>
                  <a:tab pos="6575425" algn="ctr"/>
                </a:tabLst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D	Roll up and package	B, C	0.3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A377E0B-47F1-2753-FCD5-88488EBFFCCE}"/>
              </a:ext>
            </a:extLst>
          </p:cNvPr>
          <p:cNvGrpSpPr>
            <a:grpSpLocks/>
          </p:cNvGrpSpPr>
          <p:nvPr/>
        </p:nvGrpSpPr>
        <p:grpSpPr bwMode="auto">
          <a:xfrm>
            <a:off x="4158180" y="3523582"/>
            <a:ext cx="3327399" cy="2560638"/>
            <a:chOff x="1847" y="2339"/>
            <a:chExt cx="2096" cy="161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CED698E-EAB3-12D6-8D36-70A8C06F4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7" y="3034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0.1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7BDB418-61AD-CF4C-17F2-0F53379C2F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" y="2339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0.2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C90EF84-37DA-B7EB-5CBD-FAD631D37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0" y="3702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0.4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4B39322-A0AF-9054-2C4C-8CFEDDFF7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4" y="3031"/>
              <a:ext cx="33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rPr>
                <a:t>0.3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EAB23FC4-CF8D-646A-EFD1-B52E91A87D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74" y="2470"/>
              <a:ext cx="1428" cy="1383"/>
              <a:chOff x="2174" y="2470"/>
              <a:chExt cx="1428" cy="1383"/>
            </a:xfrm>
          </p:grpSpPr>
          <p:sp>
            <p:nvSpPr>
              <p:cNvPr id="49" name="Line 12">
                <a:extLst>
                  <a:ext uri="{FF2B5EF4-FFF2-40B4-BE49-F238E27FC236}">
                    <a16:creationId xmlns:a16="http://schemas.microsoft.com/office/drawing/2014/main" id="{37EA711E-1449-EFC3-9BEF-B84CC4FE7F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7" y="2694"/>
                <a:ext cx="338" cy="338"/>
              </a:xfrm>
              <a:prstGeom prst="line">
                <a:avLst/>
              </a:prstGeom>
              <a:noFill/>
              <a:ln w="57150">
                <a:solidFill>
                  <a:sysClr val="windowText" lastClr="000000"/>
                </a:solidFill>
                <a:round/>
                <a:headEnd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sp>
            <p:nvSpPr>
              <p:cNvPr id="50" name="Line 13">
                <a:extLst>
                  <a:ext uri="{FF2B5EF4-FFF2-40B4-BE49-F238E27FC236}">
                    <a16:creationId xmlns:a16="http://schemas.microsoft.com/office/drawing/2014/main" id="{49BCB446-918E-422A-64E1-043EC27E89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1" y="2725"/>
                <a:ext cx="382" cy="382"/>
              </a:xfrm>
              <a:prstGeom prst="line">
                <a:avLst/>
              </a:prstGeom>
              <a:noFill/>
              <a:ln w="57150">
                <a:solidFill>
                  <a:sysClr val="windowText" lastClr="000000"/>
                </a:solidFill>
                <a:round/>
                <a:headEnd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9B42A8E-6B77-CBCD-8EA5-274AA66F36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98" y="3008"/>
                <a:ext cx="304" cy="304"/>
                <a:chOff x="3316" y="3230"/>
                <a:chExt cx="304" cy="304"/>
              </a:xfrm>
            </p:grpSpPr>
            <p:sp>
              <p:nvSpPr>
                <p:cNvPr id="62" name="Oval 15">
                  <a:extLst>
                    <a:ext uri="{FF2B5EF4-FFF2-40B4-BE49-F238E27FC236}">
                      <a16:creationId xmlns:a16="http://schemas.microsoft.com/office/drawing/2014/main" id="{EE430DA8-C572-7F99-1B8A-6F276E0422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16" y="3230"/>
                  <a:ext cx="304" cy="304"/>
                </a:xfrm>
                <a:prstGeom prst="ellipse">
                  <a:avLst/>
                </a:prstGeom>
                <a:solidFill>
                  <a:srgbClr val="C0504D"/>
                </a:solidFill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sp>
              <p:nvSpPr>
                <p:cNvPr id="63" name="Rectangle 16">
                  <a:extLst>
                    <a:ext uri="{FF2B5EF4-FFF2-40B4-BE49-F238E27FC236}">
                      <a16:creationId xmlns:a16="http://schemas.microsoft.com/office/drawing/2014/main" id="{61A33BC1-4407-33BC-5308-D68976387E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41" y="3240"/>
                  <a:ext cx="255" cy="2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itchFamily="34" charset="0"/>
                      <a:ea typeface="+mn-ea"/>
                      <a:cs typeface="Arial" pitchFamily="34" charset="0"/>
                    </a:rPr>
                    <a:t>D</a:t>
                  </a:r>
                </a:p>
              </p:txBody>
            </p:sp>
          </p:grpSp>
          <p:sp>
            <p:nvSpPr>
              <p:cNvPr id="52" name="Line 17">
                <a:extLst>
                  <a:ext uri="{FF2B5EF4-FFF2-40B4-BE49-F238E27FC236}">
                    <a16:creationId xmlns:a16="http://schemas.microsoft.com/office/drawing/2014/main" id="{8314FCD1-F048-D49F-DC78-E3BD64A338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50" y="3270"/>
                <a:ext cx="382" cy="382"/>
              </a:xfrm>
              <a:prstGeom prst="line">
                <a:avLst/>
              </a:prstGeom>
              <a:noFill/>
              <a:ln w="57150">
                <a:solidFill>
                  <a:sysClr val="windowText" lastClr="000000"/>
                </a:solidFill>
                <a:round/>
                <a:headEnd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53" name="Group 18">
                <a:extLst>
                  <a:ext uri="{FF2B5EF4-FFF2-40B4-BE49-F238E27FC236}">
                    <a16:creationId xmlns:a16="http://schemas.microsoft.com/office/drawing/2014/main" id="{4AE19309-2397-FBCC-D20A-B2DDE02DBF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4" y="2470"/>
                <a:ext cx="304" cy="1383"/>
                <a:chOff x="2734" y="2470"/>
                <a:chExt cx="304" cy="1383"/>
              </a:xfrm>
            </p:grpSpPr>
            <p:sp>
              <p:nvSpPr>
                <p:cNvPr id="58" name="Oval 19">
                  <a:extLst>
                    <a:ext uri="{FF2B5EF4-FFF2-40B4-BE49-F238E27FC236}">
                      <a16:creationId xmlns:a16="http://schemas.microsoft.com/office/drawing/2014/main" id="{7040AC5C-55C3-C08E-DA2D-B75C7A109B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4" y="2470"/>
                  <a:ext cx="304" cy="304"/>
                </a:xfrm>
                <a:prstGeom prst="ellipse">
                  <a:avLst/>
                </a:prstGeom>
                <a:solidFill>
                  <a:srgbClr val="C0504D"/>
                </a:solidFill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sp>
              <p:nvSpPr>
                <p:cNvPr id="59" name="Rectangle 20">
                  <a:extLst>
                    <a:ext uri="{FF2B5EF4-FFF2-40B4-BE49-F238E27FC236}">
                      <a16:creationId xmlns:a16="http://schemas.microsoft.com/office/drawing/2014/main" id="{AACFBEAC-680E-B290-9083-BE1DC6AA42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65" y="2479"/>
                  <a:ext cx="255" cy="2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itchFamily="34" charset="0"/>
                      <a:ea typeface="+mn-ea"/>
                      <a:cs typeface="Arial" pitchFamily="34" charset="0"/>
                    </a:rPr>
                    <a:t>B</a:t>
                  </a:r>
                </a:p>
              </p:txBody>
            </p:sp>
            <p:sp>
              <p:nvSpPr>
                <p:cNvPr id="60" name="Oval 21">
                  <a:extLst>
                    <a:ext uri="{FF2B5EF4-FFF2-40B4-BE49-F238E27FC236}">
                      <a16:creationId xmlns:a16="http://schemas.microsoft.com/office/drawing/2014/main" id="{DC9C1863-0BF9-4BDE-A7F0-B4CFD31FD1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34" y="3549"/>
                  <a:ext cx="304" cy="304"/>
                </a:xfrm>
                <a:prstGeom prst="ellipse">
                  <a:avLst/>
                </a:prstGeom>
                <a:solidFill>
                  <a:srgbClr val="C0504D"/>
                </a:solidFill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sp>
              <p:nvSpPr>
                <p:cNvPr id="61" name="Rectangle 22">
                  <a:extLst>
                    <a:ext uri="{FF2B5EF4-FFF2-40B4-BE49-F238E27FC236}">
                      <a16:creationId xmlns:a16="http://schemas.microsoft.com/office/drawing/2014/main" id="{49EC100A-E71D-26F1-1C55-F5422C30B8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59" y="3559"/>
                  <a:ext cx="255" cy="2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itchFamily="34" charset="0"/>
                      <a:ea typeface="+mn-ea"/>
                      <a:cs typeface="Arial" pitchFamily="34" charset="0"/>
                    </a:rPr>
                    <a:t>C</a:t>
                  </a:r>
                </a:p>
              </p:txBody>
            </p:sp>
          </p:grpSp>
          <p:sp>
            <p:nvSpPr>
              <p:cNvPr id="54" name="Line 23">
                <a:extLst>
                  <a:ext uri="{FF2B5EF4-FFF2-40B4-BE49-F238E27FC236}">
                    <a16:creationId xmlns:a16="http://schemas.microsoft.com/office/drawing/2014/main" id="{B572BE82-B60A-82E5-4D50-911A2BB703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17" y="3251"/>
                <a:ext cx="338" cy="338"/>
              </a:xfrm>
              <a:prstGeom prst="line">
                <a:avLst/>
              </a:prstGeom>
              <a:noFill/>
              <a:ln w="57150">
                <a:solidFill>
                  <a:sysClr val="windowText" lastClr="000000"/>
                </a:solidFill>
                <a:round/>
                <a:headEnd/>
                <a:tailEnd type="triangle" w="med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itchFamily="34" charset="0"/>
                  <a:ea typeface="+mn-ea"/>
                  <a:cs typeface="Arial" pitchFamily="34" charset="0"/>
                </a:endParaRPr>
              </a:p>
            </p:txBody>
          </p:sp>
          <p:grpSp>
            <p:nvGrpSpPr>
              <p:cNvPr id="55" name="Group 24">
                <a:extLst>
                  <a:ext uri="{FF2B5EF4-FFF2-40B4-BE49-F238E27FC236}">
                    <a16:creationId xmlns:a16="http://schemas.microsoft.com/office/drawing/2014/main" id="{F55D3C29-93BB-C58E-4CAB-DE2E8EDBDA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74" y="3009"/>
                <a:ext cx="304" cy="304"/>
                <a:chOff x="2174" y="3011"/>
                <a:chExt cx="304" cy="304"/>
              </a:xfrm>
            </p:grpSpPr>
            <p:sp>
              <p:nvSpPr>
                <p:cNvPr id="56" name="Oval 25">
                  <a:extLst>
                    <a:ext uri="{FF2B5EF4-FFF2-40B4-BE49-F238E27FC236}">
                      <a16:creationId xmlns:a16="http://schemas.microsoft.com/office/drawing/2014/main" id="{CD769C13-6740-A258-B965-29DF92B173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4" y="3011"/>
                  <a:ext cx="304" cy="304"/>
                </a:xfrm>
                <a:prstGeom prst="ellipse">
                  <a:avLst/>
                </a:prstGeom>
                <a:solidFill>
                  <a:srgbClr val="C0504D"/>
                </a:solidFill>
                <a:ln w="28575">
                  <a:solidFill>
                    <a:sysClr val="windowText" lastClr="00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itchFamily="34" charset="0"/>
                    <a:ea typeface="+mn-ea"/>
                    <a:cs typeface="Arial" pitchFamily="34" charset="0"/>
                  </a:endParaRPr>
                </a:p>
              </p:txBody>
            </p:sp>
            <p:sp>
              <p:nvSpPr>
                <p:cNvPr id="57" name="Rectangle 26">
                  <a:extLst>
                    <a:ext uri="{FF2B5EF4-FFF2-40B4-BE49-F238E27FC236}">
                      <a16:creationId xmlns:a16="http://schemas.microsoft.com/office/drawing/2014/main" id="{3B6D0487-161C-4759-BD32-45D087DD48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5" y="3020"/>
                  <a:ext cx="255" cy="2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itchFamily="34" charset="0"/>
                      <a:ea typeface="+mn-ea"/>
                      <a:cs typeface="Arial" pitchFamily="34" charset="0"/>
                    </a:rPr>
                    <a:t>A</a:t>
                  </a:r>
                </a:p>
              </p:txBody>
            </p:sp>
          </p:grpSp>
        </p:grpSp>
      </p:grpSp>
      <p:sp>
        <p:nvSpPr>
          <p:cNvPr id="64" name="Rectangle 28">
            <a:extLst>
              <a:ext uri="{FF2B5EF4-FFF2-40B4-BE49-F238E27FC236}">
                <a16:creationId xmlns:a16="http://schemas.microsoft.com/office/drawing/2014/main" id="{107667A9-E415-B7FC-A7C7-1B1B962F8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3780" y="3387057"/>
            <a:ext cx="112082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ClrTx/>
              <a:buFontTx/>
              <a:buNone/>
              <a:defRPr/>
            </a:pPr>
            <a:r>
              <a:rPr lang="en-US" sz="2000" b="1" i="1" kern="120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C</a:t>
            </a:r>
            <a:r>
              <a:rPr lang="en-US" sz="2000" b="1" i="1" kern="1200" baseline="-2500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d</a:t>
            </a:r>
            <a:r>
              <a:rPr lang="en-US" sz="2000" b="1" kern="120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 = 0.4</a:t>
            </a:r>
          </a:p>
          <a:p>
            <a:pPr>
              <a:buClrTx/>
              <a:buFontTx/>
              <a:buNone/>
              <a:defRPr/>
            </a:pPr>
            <a:r>
              <a:rPr lang="en-US" sz="2000" b="1" i="1" kern="120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N</a:t>
            </a:r>
            <a:r>
              <a:rPr lang="en-US" sz="2000" b="1" kern="1200" dirty="0">
                <a:solidFill>
                  <a:prstClr val="black"/>
                </a:solidFill>
                <a:latin typeface="Arial" pitchFamily="34" charset="0"/>
                <a:ea typeface="+mn-ea"/>
                <a:cs typeface="Arial" pitchFamily="34" charset="0"/>
              </a:rPr>
              <a:t> = 3</a:t>
            </a:r>
          </a:p>
        </p:txBody>
      </p:sp>
      <p:sp>
        <p:nvSpPr>
          <p:cNvPr id="65" name="Rectangle 29">
            <a:extLst>
              <a:ext uri="{FF2B5EF4-FFF2-40B4-BE49-F238E27FC236}">
                <a16:creationId xmlns:a16="http://schemas.microsoft.com/office/drawing/2014/main" id="{BC3EAE87-FA3F-4DA2-F307-078CFB13B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642" y="1039145"/>
            <a:ext cx="8324850" cy="2271712"/>
          </a:xfrm>
          <a:prstGeom prst="rect">
            <a:avLst/>
          </a:prstGeom>
          <a:solidFill>
            <a:srgbClr val="4F81BD">
              <a:lumMod val="60000"/>
              <a:lumOff val="40000"/>
            </a:srgbClr>
          </a:solidFill>
          <a:ln w="19050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E31EEAF-00E6-A1F7-4762-35BC69507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492" y="1193132"/>
            <a:ext cx="7867650" cy="641350"/>
          </a:xfrm>
          <a:prstGeom prst="rect">
            <a:avLst/>
          </a:prstGeom>
          <a:solidFill>
            <a:srgbClr val="4F81BD">
              <a:lumMod val="60000"/>
              <a:lumOff val="40000"/>
            </a:srgbClr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ctr"/>
                <a:tab pos="3146425" algn="ctr"/>
                <a:tab pos="4953000" algn="ctr"/>
                <a:tab pos="6956425" algn="ctr"/>
              </a:tabLst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		REMAINING	REMAINING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ctr"/>
                <a:tab pos="3146425" algn="ctr"/>
                <a:tab pos="4953000" algn="ctr"/>
                <a:tab pos="6956425" algn="ctr"/>
              </a:tabLst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WORKSTATION	ELEMENT	TIME	ELEMENTS</a:t>
            </a:r>
          </a:p>
        </p:txBody>
      </p:sp>
      <p:sp>
        <p:nvSpPr>
          <p:cNvPr id="67" name="Line 35">
            <a:extLst>
              <a:ext uri="{FF2B5EF4-FFF2-40B4-BE49-F238E27FC236}">
                <a16:creationId xmlns:a16="http://schemas.microsoft.com/office/drawing/2014/main" id="{43BC33B1-056E-1F45-6F33-0847BD033F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2217" y="1829720"/>
            <a:ext cx="7620000" cy="0"/>
          </a:xfrm>
          <a:prstGeom prst="line">
            <a:avLst/>
          </a:prstGeom>
          <a:noFill/>
          <a:ln w="57150">
            <a:solidFill>
              <a:srgbClr val="C0504D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Rectangle 29">
            <a:extLst>
              <a:ext uri="{FF2B5EF4-FFF2-40B4-BE49-F238E27FC236}">
                <a16:creationId xmlns:a16="http://schemas.microsoft.com/office/drawing/2014/main" id="{07F79FCB-2067-8F6C-8EC2-C3A9C25AD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530" y="1831307"/>
            <a:ext cx="66960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  <a:tabLst>
                <a:tab pos="2003425" algn="ctr"/>
                <a:tab pos="3908425" algn="ctr"/>
                <a:tab pos="5911850" algn="ctr"/>
              </a:tabLst>
            </a:pPr>
            <a:r>
              <a:rPr lang="en-US" sz="2000" b="1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	A	0.3	B, C</a:t>
            </a:r>
          </a:p>
          <a:p>
            <a:pPr>
              <a:buClrTx/>
              <a:buFontTx/>
              <a:buNone/>
              <a:tabLst>
                <a:tab pos="2003425" algn="ctr"/>
                <a:tab pos="3908425" algn="ctr"/>
                <a:tab pos="5911850" algn="ctr"/>
              </a:tabLst>
            </a:pPr>
            <a:endParaRPr lang="en-US" sz="2000" b="1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69" name="Rectangle 29">
            <a:extLst>
              <a:ext uri="{FF2B5EF4-FFF2-40B4-BE49-F238E27FC236}">
                <a16:creationId xmlns:a16="http://schemas.microsoft.com/office/drawing/2014/main" id="{1E7748BC-E440-AC8C-B038-7F3F7C5AE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530" y="1831307"/>
            <a:ext cx="66960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  <a:tabLst>
                <a:tab pos="2003425" algn="ctr"/>
                <a:tab pos="3908425" algn="ctr"/>
                <a:tab pos="5911850" algn="ctr"/>
              </a:tabLst>
            </a:pPr>
            <a:r>
              <a:rPr lang="en-US" sz="2000" b="1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	A	0.3	B, C</a:t>
            </a:r>
          </a:p>
          <a:p>
            <a:pPr>
              <a:buClrTx/>
              <a:buFontTx/>
              <a:buNone/>
              <a:tabLst>
                <a:tab pos="2003425" algn="ctr"/>
                <a:tab pos="3908425" algn="ctr"/>
                <a:tab pos="5911850" algn="ctr"/>
              </a:tabLst>
            </a:pPr>
            <a:r>
              <a:rPr lang="en-US" sz="2000" b="1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	B	0.1	C, D</a:t>
            </a:r>
          </a:p>
          <a:p>
            <a:pPr>
              <a:buClrTx/>
              <a:buFontTx/>
              <a:buNone/>
              <a:tabLst>
                <a:tab pos="2003425" algn="ctr"/>
                <a:tab pos="3908425" algn="ctr"/>
                <a:tab pos="5911850" algn="ctr"/>
              </a:tabLst>
            </a:pPr>
            <a:endParaRPr lang="en-US" sz="2000" b="1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0" name="Oval 31">
            <a:extLst>
              <a:ext uri="{FF2B5EF4-FFF2-40B4-BE49-F238E27FC236}">
                <a16:creationId xmlns:a16="http://schemas.microsoft.com/office/drawing/2014/main" id="{2CFE3FCA-DBC0-CB5E-5EEF-13D0C386D5EE}"/>
              </a:ext>
            </a:extLst>
          </p:cNvPr>
          <p:cNvSpPr>
            <a:spLocks noChangeArrowheads="1"/>
          </p:cNvSpPr>
          <p:nvPr/>
        </p:nvSpPr>
        <p:spPr bwMode="auto">
          <a:xfrm rot="18855165">
            <a:off x="4264543" y="3931569"/>
            <a:ext cx="2178050" cy="100647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buClrTx/>
              <a:buFontTx/>
              <a:buNone/>
            </a:pPr>
            <a:endParaRPr lang="en-IN" sz="1800" kern="120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1" name="Rectangle 29">
            <a:extLst>
              <a:ext uri="{FF2B5EF4-FFF2-40B4-BE49-F238E27FC236}">
                <a16:creationId xmlns:a16="http://schemas.microsoft.com/office/drawing/2014/main" id="{E471BE9D-08D0-CBD5-5CDD-6582CB886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530" y="1831307"/>
            <a:ext cx="6696075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  <a:tabLst>
                <a:tab pos="2003425" algn="ctr"/>
                <a:tab pos="3908425" algn="ctr"/>
                <a:tab pos="5911850" algn="ctr"/>
              </a:tabLst>
            </a:pPr>
            <a:r>
              <a:rPr lang="en-US" sz="2000" b="1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1	A	0.3	B, C</a:t>
            </a:r>
          </a:p>
          <a:p>
            <a:pPr>
              <a:buClrTx/>
              <a:buFontTx/>
              <a:buNone/>
              <a:tabLst>
                <a:tab pos="2003425" algn="ctr"/>
                <a:tab pos="3908425" algn="ctr"/>
                <a:tab pos="5911850" algn="ctr"/>
              </a:tabLst>
            </a:pPr>
            <a:r>
              <a:rPr lang="en-US" sz="2000" b="1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	B	0.1	C, D</a:t>
            </a:r>
          </a:p>
          <a:p>
            <a:pPr>
              <a:buClrTx/>
              <a:buFontTx/>
              <a:buNone/>
              <a:tabLst>
                <a:tab pos="2003425" algn="ctr"/>
                <a:tab pos="3908425" algn="ctr"/>
                <a:tab pos="5911850" algn="ctr"/>
              </a:tabLst>
            </a:pPr>
            <a:r>
              <a:rPr lang="en-US" sz="2000" b="1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2	C	0.0	D</a:t>
            </a:r>
          </a:p>
          <a:p>
            <a:pPr>
              <a:buClrTx/>
              <a:buFontTx/>
              <a:buNone/>
              <a:tabLst>
                <a:tab pos="2003425" algn="ctr"/>
                <a:tab pos="3908425" algn="ctr"/>
                <a:tab pos="5911850" algn="ctr"/>
              </a:tabLst>
            </a:pPr>
            <a:endParaRPr lang="en-US" sz="2000" b="1" kern="1200" dirty="0">
              <a:solidFill>
                <a:prstClr val="black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72" name="Rectangle 30">
            <a:extLst>
              <a:ext uri="{FF2B5EF4-FFF2-40B4-BE49-F238E27FC236}">
                <a16:creationId xmlns:a16="http://schemas.microsoft.com/office/drawing/2014/main" id="{53B1B06A-7D07-4C38-9C33-47BCDEFFB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478" y="2809147"/>
            <a:ext cx="66960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Tx/>
              <a:buFontTx/>
              <a:buNone/>
              <a:tabLst>
                <a:tab pos="2003425" algn="ctr"/>
                <a:tab pos="3908425" algn="ctr"/>
                <a:tab pos="5911850" algn="ctr"/>
              </a:tabLst>
            </a:pPr>
            <a:r>
              <a:rPr lang="en-US" sz="2000" b="1" kern="1200" dirty="0">
                <a:solidFill>
                  <a:prstClr val="black"/>
                </a:solidFill>
                <a:latin typeface="Calibri"/>
                <a:ea typeface="+mn-ea"/>
                <a:cs typeface="+mn-cs"/>
              </a:rPr>
              <a:t>3	D	0.1	none</a:t>
            </a:r>
          </a:p>
        </p:txBody>
      </p:sp>
    </p:spTree>
    <p:extLst>
      <p:ext uri="{BB962C8B-B14F-4D97-AF65-F5344CB8AC3E}">
        <p14:creationId xmlns:p14="http://schemas.microsoft.com/office/powerpoint/2010/main" val="122676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68" grpId="0"/>
      <p:bldP spid="69" grpId="0"/>
      <p:bldP spid="70" grpId="0" animBg="1"/>
      <p:bldP spid="71" grpId="0"/>
      <p:bldP spid="7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B7FEB-1798-E9E4-C235-7741E29E1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Arial" charset="0"/>
                <a:cs typeface="Arial" charset="0"/>
              </a:rPr>
              <a:t>Example 2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3BCB3-9585-522B-E5A7-F65D6BD8E5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6FB77-CA4F-0F3F-FD05-02B5A76ECD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71C58-D85E-AC0A-ECCE-E70966A0B1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50</a:t>
            </a:fld>
            <a:endParaRPr lang="en-US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8FEFA43-4272-CD60-04A8-FA39856C6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087274"/>
              </p:ext>
            </p:extLst>
          </p:nvPr>
        </p:nvGraphicFramePr>
        <p:xfrm>
          <a:off x="1536400" y="992960"/>
          <a:ext cx="7772400" cy="466534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63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475"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TABLE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Precedence Data for Wing Component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TASK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3320"/>
                    </a:solidFill>
                  </a:tcPr>
                </a:tc>
                <a:tc gridSpan="4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ASSEMBLY TIME (MINUTES)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332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PRECEDENCE REQUIREMENT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3320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33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C, 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47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G,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1475">
                <a:tc gridSpan="3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Total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65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15" name="Group 3">
            <a:extLst>
              <a:ext uri="{FF2B5EF4-FFF2-40B4-BE49-F238E27FC236}">
                <a16:creationId xmlns:a16="http://schemas.microsoft.com/office/drawing/2014/main" id="{245040E6-A536-8286-4A47-969D1C0FBCF2}"/>
              </a:ext>
            </a:extLst>
          </p:cNvPr>
          <p:cNvGrpSpPr>
            <a:grpSpLocks/>
          </p:cNvGrpSpPr>
          <p:nvPr/>
        </p:nvGrpSpPr>
        <p:grpSpPr bwMode="auto">
          <a:xfrm>
            <a:off x="5803600" y="2032773"/>
            <a:ext cx="3308350" cy="1601787"/>
            <a:chOff x="3108" y="1763"/>
            <a:chExt cx="2084" cy="1009"/>
          </a:xfrm>
        </p:grpSpPr>
        <p:sp>
          <p:nvSpPr>
            <p:cNvPr id="16" name="Rectangle 4">
              <a:extLst>
                <a:ext uri="{FF2B5EF4-FFF2-40B4-BE49-F238E27FC236}">
                  <a16:creationId xmlns:a16="http://schemas.microsoft.com/office/drawing/2014/main" id="{AE517331-7CA3-5B52-E8DF-9A33C14C5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0" y="1763"/>
              <a:ext cx="1322" cy="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defTabSz="45720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This means that tasks B and E cannot be done until task A has been completed</a:t>
              </a:r>
            </a:p>
          </p:txBody>
        </p:sp>
        <p:sp>
          <p:nvSpPr>
            <p:cNvPr id="17" name="Line 5">
              <a:extLst>
                <a:ext uri="{FF2B5EF4-FFF2-40B4-BE49-F238E27FC236}">
                  <a16:creationId xmlns:a16="http://schemas.microsoft.com/office/drawing/2014/main" id="{7EDED0D8-2768-8464-2DAC-80A2F7C799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8" y="1900"/>
              <a:ext cx="756" cy="12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8" name="Line 6">
              <a:extLst>
                <a:ext uri="{FF2B5EF4-FFF2-40B4-BE49-F238E27FC236}">
                  <a16:creationId xmlns:a16="http://schemas.microsoft.com/office/drawing/2014/main" id="{7861A676-E791-3950-F7FE-97E908945B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8" y="1900"/>
              <a:ext cx="762" cy="872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120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6" presetClass="entr" presetSubtype="37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1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E794C-1751-0150-2D45-476B5A1AA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Arial" charset="0"/>
                <a:cs typeface="Arial" charset="0"/>
              </a:rPr>
              <a:t>Example 2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662AB-CB3A-40FC-ED01-19FDEA399A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346F7-B68B-00CE-8EE0-266477D1EB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66DF9-0A05-7119-8849-D14EC669C4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51</a:t>
            </a:fld>
            <a:endParaRPr lang="en-US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989C470B-CA64-9D95-AA2F-1AE40505A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2462"/>
              </p:ext>
            </p:extLst>
          </p:nvPr>
        </p:nvGraphicFramePr>
        <p:xfrm>
          <a:off x="685800" y="1163084"/>
          <a:ext cx="4457700" cy="4150360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2750"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TABLE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Precedence Data for Wing Component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TASK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3320"/>
                    </a:solidFill>
                  </a:tcPr>
                </a:tc>
                <a:tc gridSpan="4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ASSEMBLY TIME (MINUTES)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332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PRECEDENCE REQUIREMENT</a:t>
                      </a:r>
                    </a:p>
                  </a:txBody>
                  <a:tcPr anchor="b"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333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88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–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88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88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88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C, 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88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11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88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G, 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888">
                <a:tc gridSpan="3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Total 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Arial" charset="0"/>
                        </a:rPr>
                        <a:t>65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pSp>
        <p:nvGrpSpPr>
          <p:cNvPr id="69" name="Group 68">
            <a:extLst>
              <a:ext uri="{FF2B5EF4-FFF2-40B4-BE49-F238E27FC236}">
                <a16:creationId xmlns:a16="http://schemas.microsoft.com/office/drawing/2014/main" id="{8DE81E34-537B-E75F-FFC6-CAE5B8F07645}"/>
              </a:ext>
            </a:extLst>
          </p:cNvPr>
          <p:cNvGrpSpPr>
            <a:grpSpLocks/>
          </p:cNvGrpSpPr>
          <p:nvPr/>
        </p:nvGrpSpPr>
        <p:grpSpPr bwMode="auto">
          <a:xfrm>
            <a:off x="5587782" y="3676097"/>
            <a:ext cx="3660775" cy="2141537"/>
            <a:chOff x="4949825" y="3910013"/>
            <a:chExt cx="3660775" cy="2141537"/>
          </a:xfrm>
        </p:grpSpPr>
        <p:grpSp>
          <p:nvGrpSpPr>
            <p:cNvPr id="70" name="Group 3">
              <a:extLst>
                <a:ext uri="{FF2B5EF4-FFF2-40B4-BE49-F238E27FC236}">
                  <a16:creationId xmlns:a16="http://schemas.microsoft.com/office/drawing/2014/main" id="{27E5889C-7E03-CE55-EA4C-491AADF86B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3000" y="4197350"/>
              <a:ext cx="3657600" cy="1854200"/>
              <a:chOff x="4953000" y="4197350"/>
              <a:chExt cx="3657600" cy="1854200"/>
            </a:xfrm>
          </p:grpSpPr>
          <p:grpSp>
            <p:nvGrpSpPr>
              <p:cNvPr id="81" name="Group 8">
                <a:extLst>
                  <a:ext uri="{FF2B5EF4-FFF2-40B4-BE49-F238E27FC236}">
                    <a16:creationId xmlns:a16="http://schemas.microsoft.com/office/drawing/2014/main" id="{E8E74192-40B6-04F8-4899-047E0AFCC4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35850" y="4902200"/>
                <a:ext cx="1174750" cy="952500"/>
                <a:chOff x="4756" y="2304"/>
                <a:chExt cx="740" cy="600"/>
              </a:xfrm>
            </p:grpSpPr>
            <p:sp>
              <p:nvSpPr>
                <p:cNvPr id="120" name="Line 9">
                  <a:extLst>
                    <a:ext uri="{FF2B5EF4-FFF2-40B4-BE49-F238E27FC236}">
                      <a16:creationId xmlns:a16="http://schemas.microsoft.com/office/drawing/2014/main" id="{E7FE6B27-4798-ECB6-4170-B429983365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44" y="2304"/>
                  <a:ext cx="152" cy="264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21" name="Line 10">
                  <a:extLst>
                    <a:ext uri="{FF2B5EF4-FFF2-40B4-BE49-F238E27FC236}">
                      <a16:creationId xmlns:a16="http://schemas.microsoft.com/office/drawing/2014/main" id="{BB1AEA77-32F9-1C82-2715-D6D201725D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56" y="2728"/>
                  <a:ext cx="480" cy="176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122" name="Group 11">
                  <a:extLst>
                    <a:ext uri="{FF2B5EF4-FFF2-40B4-BE49-F238E27FC236}">
                      <a16:creationId xmlns:a16="http://schemas.microsoft.com/office/drawing/2014/main" id="{F1417E2E-B5F0-448C-E603-48586A877B2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40" y="2556"/>
                  <a:ext cx="256" cy="256"/>
                  <a:chOff x="5616" y="2396"/>
                  <a:chExt cx="256" cy="256"/>
                </a:xfrm>
              </p:grpSpPr>
              <p:sp>
                <p:nvSpPr>
                  <p:cNvPr id="123" name="Oval 12">
                    <a:extLst>
                      <a:ext uri="{FF2B5EF4-FFF2-40B4-BE49-F238E27FC236}">
                        <a16:creationId xmlns:a16="http://schemas.microsoft.com/office/drawing/2014/main" id="{8F972153-9D56-764F-DBEF-3E69EC63268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16" y="2396"/>
                    <a:ext cx="256" cy="25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124" name="Rectangle 13">
                    <a:extLst>
                      <a:ext uri="{FF2B5EF4-FFF2-40B4-BE49-F238E27FC236}">
                        <a16:creationId xmlns:a16="http://schemas.microsoft.com/office/drawing/2014/main" id="{EA02C467-475D-6B8C-1B06-07D6056107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60" y="2418"/>
                    <a:ext cx="152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I</a:t>
                    </a:r>
                  </a:p>
                </p:txBody>
              </p:sp>
            </p:grpSp>
          </p:grpSp>
          <p:grpSp>
            <p:nvGrpSpPr>
              <p:cNvPr id="82" name="Group 14">
                <a:extLst>
                  <a:ext uri="{FF2B5EF4-FFF2-40B4-BE49-F238E27FC236}">
                    <a16:creationId xmlns:a16="http://schemas.microsoft.com/office/drawing/2014/main" id="{FC43A4B4-4676-0723-81D1-1522218194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02500" y="4695825"/>
                <a:ext cx="927100" cy="406400"/>
                <a:chOff x="4672" y="2174"/>
                <a:chExt cx="584" cy="256"/>
              </a:xfrm>
            </p:grpSpPr>
            <p:sp>
              <p:nvSpPr>
                <p:cNvPr id="116" name="Line 15">
                  <a:extLst>
                    <a:ext uri="{FF2B5EF4-FFF2-40B4-BE49-F238E27FC236}">
                      <a16:creationId xmlns:a16="http://schemas.microsoft.com/office/drawing/2014/main" id="{73E60403-1F94-74BE-AB4E-12E3BD4C49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72" y="2294"/>
                  <a:ext cx="320" cy="16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117" name="Group 16">
                  <a:extLst>
                    <a:ext uri="{FF2B5EF4-FFF2-40B4-BE49-F238E27FC236}">
                      <a16:creationId xmlns:a16="http://schemas.microsoft.com/office/drawing/2014/main" id="{20E097C3-9D5B-1D15-00E7-881EF4CE41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00" y="2174"/>
                  <a:ext cx="256" cy="256"/>
                  <a:chOff x="5184" y="2164"/>
                  <a:chExt cx="256" cy="256"/>
                </a:xfrm>
              </p:grpSpPr>
              <p:sp>
                <p:nvSpPr>
                  <p:cNvPr id="118" name="Oval 17">
                    <a:extLst>
                      <a:ext uri="{FF2B5EF4-FFF2-40B4-BE49-F238E27FC236}">
                        <a16:creationId xmlns:a16="http://schemas.microsoft.com/office/drawing/2014/main" id="{0A1524B8-BA36-7CC2-E520-8A7BE2A183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84" y="2164"/>
                    <a:ext cx="256" cy="25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119" name="Rectangle 18">
                    <a:extLst>
                      <a:ext uri="{FF2B5EF4-FFF2-40B4-BE49-F238E27FC236}">
                        <a16:creationId xmlns:a16="http://schemas.microsoft.com/office/drawing/2014/main" id="{73E331C4-B870-DF6C-AACB-13ED976253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96" y="2182"/>
                    <a:ext cx="216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G</a:t>
                    </a:r>
                  </a:p>
                </p:txBody>
              </p:sp>
            </p:grpSp>
          </p:grpSp>
          <p:grpSp>
            <p:nvGrpSpPr>
              <p:cNvPr id="83" name="Group 19">
                <a:extLst>
                  <a:ext uri="{FF2B5EF4-FFF2-40B4-BE49-F238E27FC236}">
                    <a16:creationId xmlns:a16="http://schemas.microsoft.com/office/drawing/2014/main" id="{67288E42-63C3-2793-A41B-7B57F8E222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46850" y="4394200"/>
                <a:ext cx="946150" cy="1016000"/>
                <a:chOff x="4196" y="1984"/>
                <a:chExt cx="596" cy="640"/>
              </a:xfrm>
            </p:grpSpPr>
            <p:sp>
              <p:nvSpPr>
                <p:cNvPr id="111" name="Line 20">
                  <a:extLst>
                    <a:ext uri="{FF2B5EF4-FFF2-40B4-BE49-F238E27FC236}">
                      <a16:creationId xmlns:a16="http://schemas.microsoft.com/office/drawing/2014/main" id="{98AF15DF-1229-D23E-AA37-FD2815FBC5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96" y="2368"/>
                  <a:ext cx="360" cy="256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12" name="Line 21">
                  <a:extLst>
                    <a:ext uri="{FF2B5EF4-FFF2-40B4-BE49-F238E27FC236}">
                      <a16:creationId xmlns:a16="http://schemas.microsoft.com/office/drawing/2014/main" id="{F307F93A-9387-9439-61E7-BEC510E92A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8" y="1984"/>
                  <a:ext cx="312" cy="224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113" name="Group 22">
                  <a:extLst>
                    <a:ext uri="{FF2B5EF4-FFF2-40B4-BE49-F238E27FC236}">
                      <a16:creationId xmlns:a16="http://schemas.microsoft.com/office/drawing/2014/main" id="{C1397DD8-40CB-888D-1718-AECC9A41988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36" y="2174"/>
                  <a:ext cx="256" cy="256"/>
                  <a:chOff x="4688" y="2164"/>
                  <a:chExt cx="256" cy="256"/>
                </a:xfrm>
              </p:grpSpPr>
              <p:sp>
                <p:nvSpPr>
                  <p:cNvPr id="114" name="Oval 23">
                    <a:extLst>
                      <a:ext uri="{FF2B5EF4-FFF2-40B4-BE49-F238E27FC236}">
                        <a16:creationId xmlns:a16="http://schemas.microsoft.com/office/drawing/2014/main" id="{DB6B171D-2DD6-3761-73DB-A1A903E000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88" y="2164"/>
                    <a:ext cx="256" cy="25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115" name="Rectangle 24">
                    <a:extLst>
                      <a:ext uri="{FF2B5EF4-FFF2-40B4-BE49-F238E27FC236}">
                        <a16:creationId xmlns:a16="http://schemas.microsoft.com/office/drawing/2014/main" id="{FF4E7EE4-4498-F34C-8EE1-8E7EE54A82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11" y="2190"/>
                    <a:ext cx="19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F</a:t>
                    </a:r>
                  </a:p>
                </p:txBody>
              </p:sp>
            </p:grpSp>
          </p:grpSp>
          <p:grpSp>
            <p:nvGrpSpPr>
              <p:cNvPr id="84" name="Group 25">
                <a:extLst>
                  <a:ext uri="{FF2B5EF4-FFF2-40B4-BE49-F238E27FC236}">
                    <a16:creationId xmlns:a16="http://schemas.microsoft.com/office/drawing/2014/main" id="{A26FCD77-76EC-54BC-883E-7DFDCB4E3B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48350" y="4197350"/>
                <a:ext cx="908050" cy="1422400"/>
                <a:chOff x="3756" y="1860"/>
                <a:chExt cx="572" cy="896"/>
              </a:xfrm>
            </p:grpSpPr>
            <p:grpSp>
              <p:nvGrpSpPr>
                <p:cNvPr id="103" name="Group 26">
                  <a:extLst>
                    <a:ext uri="{FF2B5EF4-FFF2-40B4-BE49-F238E27FC236}">
                      <a16:creationId xmlns:a16="http://schemas.microsoft.com/office/drawing/2014/main" id="{B56F173F-7BC9-6FD2-56DD-1AB59931D6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72" y="1860"/>
                  <a:ext cx="256" cy="256"/>
                  <a:chOff x="4192" y="1948"/>
                  <a:chExt cx="256" cy="256"/>
                </a:xfrm>
              </p:grpSpPr>
              <p:sp>
                <p:nvSpPr>
                  <p:cNvPr id="109" name="Oval 27">
                    <a:extLst>
                      <a:ext uri="{FF2B5EF4-FFF2-40B4-BE49-F238E27FC236}">
                        <a16:creationId xmlns:a16="http://schemas.microsoft.com/office/drawing/2014/main" id="{916D00B2-2F25-3473-7ABB-0AB7944C6D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92" y="1948"/>
                    <a:ext cx="256" cy="25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110" name="Rectangle 28">
                    <a:extLst>
                      <a:ext uri="{FF2B5EF4-FFF2-40B4-BE49-F238E27FC236}">
                        <a16:creationId xmlns:a16="http://schemas.microsoft.com/office/drawing/2014/main" id="{F5C37811-F2D9-F45E-60A4-33D4EF3CB4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6" y="1970"/>
                    <a:ext cx="208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C</a:t>
                    </a:r>
                  </a:p>
                </p:txBody>
              </p:sp>
            </p:grpSp>
            <p:sp>
              <p:nvSpPr>
                <p:cNvPr id="104" name="Line 29">
                  <a:extLst>
                    <a:ext uri="{FF2B5EF4-FFF2-40B4-BE49-F238E27FC236}">
                      <a16:creationId xmlns:a16="http://schemas.microsoft.com/office/drawing/2014/main" id="{FC947548-81EF-C12D-52BC-787987061C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2" y="2304"/>
                  <a:ext cx="312" cy="24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05" name="Line 30">
                  <a:extLst>
                    <a:ext uri="{FF2B5EF4-FFF2-40B4-BE49-F238E27FC236}">
                      <a16:creationId xmlns:a16="http://schemas.microsoft.com/office/drawing/2014/main" id="{094AA887-633D-733D-17C4-BE6913F05A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56" y="2040"/>
                  <a:ext cx="328" cy="272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106" name="Group 31">
                  <a:extLst>
                    <a:ext uri="{FF2B5EF4-FFF2-40B4-BE49-F238E27FC236}">
                      <a16:creationId xmlns:a16="http://schemas.microsoft.com/office/drawing/2014/main" id="{E27BB9C1-01E7-B968-C854-AC5764C1ED1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72" y="2500"/>
                  <a:ext cx="256" cy="256"/>
                  <a:chOff x="4192" y="2380"/>
                  <a:chExt cx="256" cy="256"/>
                </a:xfrm>
              </p:grpSpPr>
              <p:sp>
                <p:nvSpPr>
                  <p:cNvPr id="107" name="Oval 32">
                    <a:extLst>
                      <a:ext uri="{FF2B5EF4-FFF2-40B4-BE49-F238E27FC236}">
                        <a16:creationId xmlns:a16="http://schemas.microsoft.com/office/drawing/2014/main" id="{1ED2008C-38FD-65AB-BB74-A4CD8CCEDF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92" y="2380"/>
                    <a:ext cx="256" cy="25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108" name="Rectangle 33">
                    <a:extLst>
                      <a:ext uri="{FF2B5EF4-FFF2-40B4-BE49-F238E27FC236}">
                        <a16:creationId xmlns:a16="http://schemas.microsoft.com/office/drawing/2014/main" id="{F63171EF-77B7-32D3-DD3B-EF356BD7DC7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6" y="2402"/>
                    <a:ext cx="208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D</a:t>
                    </a:r>
                  </a:p>
                </p:txBody>
              </p:sp>
            </p:grpSp>
          </p:grpSp>
          <p:grpSp>
            <p:nvGrpSpPr>
              <p:cNvPr id="85" name="Group 34">
                <a:extLst>
                  <a:ext uri="{FF2B5EF4-FFF2-40B4-BE49-F238E27FC236}">
                    <a16:creationId xmlns:a16="http://schemas.microsoft.com/office/drawing/2014/main" id="{5A78EECC-ECD3-7FC8-4AD6-17A8570281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19800" y="5645150"/>
                <a:ext cx="1600200" cy="406400"/>
                <a:chOff x="3864" y="2772"/>
                <a:chExt cx="1008" cy="256"/>
              </a:xfrm>
            </p:grpSpPr>
            <p:sp>
              <p:nvSpPr>
                <p:cNvPr id="99" name="Line 35">
                  <a:extLst>
                    <a:ext uri="{FF2B5EF4-FFF2-40B4-BE49-F238E27FC236}">
                      <a16:creationId xmlns:a16="http://schemas.microsoft.com/office/drawing/2014/main" id="{848C131A-D617-4D0C-DB18-B3D64D3343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64" y="2904"/>
                  <a:ext cx="744" cy="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100" name="Group 36">
                  <a:extLst>
                    <a:ext uri="{FF2B5EF4-FFF2-40B4-BE49-F238E27FC236}">
                      <a16:creationId xmlns:a16="http://schemas.microsoft.com/office/drawing/2014/main" id="{33558DE5-2594-2C1F-54A0-6E2C3A8139B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16" y="2772"/>
                  <a:ext cx="256" cy="256"/>
                  <a:chOff x="4872" y="2676"/>
                  <a:chExt cx="256" cy="256"/>
                </a:xfrm>
              </p:grpSpPr>
              <p:sp>
                <p:nvSpPr>
                  <p:cNvPr id="101" name="Oval 37">
                    <a:extLst>
                      <a:ext uri="{FF2B5EF4-FFF2-40B4-BE49-F238E27FC236}">
                        <a16:creationId xmlns:a16="http://schemas.microsoft.com/office/drawing/2014/main" id="{E91912E6-CEE5-8D02-78BD-79F88F91DA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72" y="2676"/>
                    <a:ext cx="256" cy="25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102" name="Rectangle 38">
                    <a:extLst>
                      <a:ext uri="{FF2B5EF4-FFF2-40B4-BE49-F238E27FC236}">
                        <a16:creationId xmlns:a16="http://schemas.microsoft.com/office/drawing/2014/main" id="{D494DFFA-1D37-12CB-3DB7-ABF695B4E1A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88" y="2698"/>
                    <a:ext cx="208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H</a:t>
                    </a:r>
                  </a:p>
                </p:txBody>
              </p:sp>
            </p:grpSp>
          </p:grpSp>
          <p:grpSp>
            <p:nvGrpSpPr>
              <p:cNvPr id="86" name="Group 39">
                <a:extLst>
                  <a:ext uri="{FF2B5EF4-FFF2-40B4-BE49-F238E27FC236}">
                    <a16:creationId xmlns:a16="http://schemas.microsoft.com/office/drawing/2014/main" id="{82083E64-248D-A22D-77D2-F3000DB5DC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67300" y="4695825"/>
                <a:ext cx="1155700" cy="1355725"/>
                <a:chOff x="3144" y="3006"/>
                <a:chExt cx="728" cy="854"/>
              </a:xfrm>
            </p:grpSpPr>
            <p:sp>
              <p:nvSpPr>
                <p:cNvPr id="90" name="Line 40">
                  <a:extLst>
                    <a:ext uri="{FF2B5EF4-FFF2-40B4-BE49-F238E27FC236}">
                      <a16:creationId xmlns:a16="http://schemas.microsoft.com/office/drawing/2014/main" id="{EDFEB410-CB6E-19BD-2551-CE45ADD36B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4" y="3134"/>
                  <a:ext cx="368" cy="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91" name="Group 41">
                  <a:extLst>
                    <a:ext uri="{FF2B5EF4-FFF2-40B4-BE49-F238E27FC236}">
                      <a16:creationId xmlns:a16="http://schemas.microsoft.com/office/drawing/2014/main" id="{6F9B9AD8-CE7D-FEAD-494E-0ABC3531D1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20" y="3006"/>
                  <a:ext cx="652" cy="854"/>
                  <a:chOff x="3340" y="2174"/>
                  <a:chExt cx="652" cy="854"/>
                </a:xfrm>
              </p:grpSpPr>
              <p:sp>
                <p:nvSpPr>
                  <p:cNvPr id="92" name="Line 42">
                    <a:extLst>
                      <a:ext uri="{FF2B5EF4-FFF2-40B4-BE49-F238E27FC236}">
                        <a16:creationId xmlns:a16="http://schemas.microsoft.com/office/drawing/2014/main" id="{7115FD13-CC81-B151-A57A-E8DFA9C1D4C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40" y="2312"/>
                    <a:ext cx="424" cy="488"/>
                  </a:xfrm>
                  <a:prstGeom prst="line">
                    <a:avLst/>
                  </a:prstGeom>
                  <a:noFill/>
                  <a:ln w="57150">
                    <a:solidFill>
                      <a:srgbClr val="000000"/>
                    </a:solidFill>
                    <a:round/>
                    <a:headEnd/>
                    <a:tailEnd type="triangle" w="sm" len="sm"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endParaRPr>
                  </a:p>
                </p:txBody>
              </p:sp>
              <p:grpSp>
                <p:nvGrpSpPr>
                  <p:cNvPr id="93" name="Group 43">
                    <a:extLst>
                      <a:ext uri="{FF2B5EF4-FFF2-40B4-BE49-F238E27FC236}">
                        <a16:creationId xmlns:a16="http://schemas.microsoft.com/office/drawing/2014/main" id="{2E6491B2-9FB6-108C-785B-C747E8E9851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8" y="2174"/>
                    <a:ext cx="256" cy="256"/>
                    <a:chOff x="3648" y="2184"/>
                    <a:chExt cx="256" cy="256"/>
                  </a:xfrm>
                </p:grpSpPr>
                <p:sp>
                  <p:nvSpPr>
                    <p:cNvPr id="97" name="Oval 44">
                      <a:extLst>
                        <a:ext uri="{FF2B5EF4-FFF2-40B4-BE49-F238E27FC236}">
                          <a16:creationId xmlns:a16="http://schemas.microsoft.com/office/drawing/2014/main" id="{1702448D-AD55-4D2A-5D4B-5E0E742421E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48" y="2184"/>
                      <a:ext cx="256" cy="256"/>
                    </a:xfrm>
                    <a:prstGeom prst="ellipse">
                      <a:avLst/>
                    </a:prstGeom>
                    <a:solidFill>
                      <a:srgbClr val="F7D7AC"/>
                    </a:solidFill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 marL="0" marR="0" lvl="0" indent="0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98" name="Rectangle 45">
                      <a:extLst>
                        <a:ext uri="{FF2B5EF4-FFF2-40B4-BE49-F238E27FC236}">
                          <a16:creationId xmlns:a16="http://schemas.microsoft.com/office/drawing/2014/main" id="{58D435A4-719F-B188-E007-69581F53C20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72" y="2202"/>
                      <a:ext cx="208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algn="ctr" defTabSz="4572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B</a:t>
                      </a:r>
                    </a:p>
                  </p:txBody>
                </p:sp>
              </p:grpSp>
              <p:grpSp>
                <p:nvGrpSpPr>
                  <p:cNvPr id="94" name="Group 46">
                    <a:extLst>
                      <a:ext uri="{FF2B5EF4-FFF2-40B4-BE49-F238E27FC236}">
                        <a16:creationId xmlns:a16="http://schemas.microsoft.com/office/drawing/2014/main" id="{6A65470C-BAC3-E0E4-0902-748C153019D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736" y="2772"/>
                    <a:ext cx="256" cy="256"/>
                    <a:chOff x="3896" y="2676"/>
                    <a:chExt cx="256" cy="256"/>
                  </a:xfrm>
                </p:grpSpPr>
                <p:sp>
                  <p:nvSpPr>
                    <p:cNvPr id="95" name="Oval 47">
                      <a:extLst>
                        <a:ext uri="{FF2B5EF4-FFF2-40B4-BE49-F238E27FC236}">
                          <a16:creationId xmlns:a16="http://schemas.microsoft.com/office/drawing/2014/main" id="{5EF94A27-BA3A-13CB-3F77-92AC3134263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96" y="2676"/>
                      <a:ext cx="256" cy="256"/>
                    </a:xfrm>
                    <a:prstGeom prst="ellipse">
                      <a:avLst/>
                    </a:prstGeom>
                    <a:solidFill>
                      <a:srgbClr val="F7D7AC"/>
                    </a:solidFill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 marL="0" marR="0" lvl="0" indent="0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96" name="Rectangle 48">
                      <a:extLst>
                        <a:ext uri="{FF2B5EF4-FFF2-40B4-BE49-F238E27FC236}">
                          <a16:creationId xmlns:a16="http://schemas.microsoft.com/office/drawing/2014/main" id="{5CC50E13-67B2-53F4-DBF0-63987164FD7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16" y="2690"/>
                      <a:ext cx="201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algn="ctr" defTabSz="4572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E</a:t>
                      </a:r>
                    </a:p>
                  </p:txBody>
                </p:sp>
              </p:grpSp>
            </p:grpSp>
          </p:grpSp>
          <p:grpSp>
            <p:nvGrpSpPr>
              <p:cNvPr id="87" name="Group 49">
                <a:extLst>
                  <a:ext uri="{FF2B5EF4-FFF2-40B4-BE49-F238E27FC236}">
                    <a16:creationId xmlns:a16="http://schemas.microsoft.com/office/drawing/2014/main" id="{37BD877F-7AFA-9D58-639B-3F951B443E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53000" y="4695825"/>
                <a:ext cx="406400" cy="406400"/>
                <a:chOff x="3192" y="2184"/>
                <a:chExt cx="256" cy="256"/>
              </a:xfrm>
            </p:grpSpPr>
            <p:sp>
              <p:nvSpPr>
                <p:cNvPr id="88" name="Oval 50">
                  <a:extLst>
                    <a:ext uri="{FF2B5EF4-FFF2-40B4-BE49-F238E27FC236}">
                      <a16:creationId xmlns:a16="http://schemas.microsoft.com/office/drawing/2014/main" id="{1475D71D-FF1A-6287-1E36-6C92810A00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92" y="2184"/>
                  <a:ext cx="256" cy="256"/>
                </a:xfrm>
                <a:prstGeom prst="ellipse">
                  <a:avLst/>
                </a:prstGeom>
                <a:solidFill>
                  <a:srgbClr val="F7D7AC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89" name="Rectangle 51">
                  <a:extLst>
                    <a:ext uri="{FF2B5EF4-FFF2-40B4-BE49-F238E27FC236}">
                      <a16:creationId xmlns:a16="http://schemas.microsoft.com/office/drawing/2014/main" id="{D29A0435-C991-35A1-5E2D-BF130892BE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3" y="2202"/>
                  <a:ext cx="197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A</a:t>
                  </a:r>
                </a:p>
              </p:txBody>
            </p:sp>
          </p:grpSp>
        </p:grpSp>
        <p:grpSp>
          <p:nvGrpSpPr>
            <p:cNvPr id="71" name="Group 52">
              <a:extLst>
                <a:ext uri="{FF2B5EF4-FFF2-40B4-BE49-F238E27FC236}">
                  <a16:creationId xmlns:a16="http://schemas.microsoft.com/office/drawing/2014/main" id="{399B8522-8EF8-30E6-B839-9E73F7CD43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9825" y="3910013"/>
              <a:ext cx="3622675" cy="1782762"/>
              <a:chOff x="3070" y="2511"/>
              <a:chExt cx="2282" cy="1123"/>
            </a:xfrm>
          </p:grpSpPr>
          <p:sp>
            <p:nvSpPr>
              <p:cNvPr id="72" name="Rectangle 53">
                <a:extLst>
                  <a:ext uri="{FF2B5EF4-FFF2-40B4-BE49-F238E27FC236}">
                    <a16:creationId xmlns:a16="http://schemas.microsoft.com/office/drawing/2014/main" id="{A727D1E0-09CF-12C2-F113-2F2FA1331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0" y="2824"/>
                <a:ext cx="24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10</a:t>
                </a:r>
              </a:p>
            </p:txBody>
          </p:sp>
          <p:sp>
            <p:nvSpPr>
              <p:cNvPr id="73" name="Rectangle 54">
                <a:extLst>
                  <a:ext uri="{FF2B5EF4-FFF2-40B4-BE49-F238E27FC236}">
                    <a16:creationId xmlns:a16="http://schemas.microsoft.com/office/drawing/2014/main" id="{531E29D3-239E-3435-26D3-6ADD66DA0E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2" y="3440"/>
                <a:ext cx="24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11</a:t>
                </a:r>
              </a:p>
            </p:txBody>
          </p:sp>
          <p:sp>
            <p:nvSpPr>
              <p:cNvPr id="74" name="Rectangle 55">
                <a:extLst>
                  <a:ext uri="{FF2B5EF4-FFF2-40B4-BE49-F238E27FC236}">
                    <a16:creationId xmlns:a16="http://schemas.microsoft.com/office/drawing/2014/main" id="{E755069B-9A2A-9F72-AECC-6CFFD9D3DE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2" y="3440"/>
                <a:ext cx="236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11</a:t>
                </a:r>
              </a:p>
            </p:txBody>
          </p:sp>
          <p:sp>
            <p:nvSpPr>
              <p:cNvPr id="75" name="Rectangle 56">
                <a:extLst>
                  <a:ext uri="{FF2B5EF4-FFF2-40B4-BE49-F238E27FC236}">
                    <a16:creationId xmlns:a16="http://schemas.microsoft.com/office/drawing/2014/main" id="{2E9FC710-B970-8CCD-EC30-029D6F36E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0" y="251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5</a:t>
                </a:r>
              </a:p>
            </p:txBody>
          </p:sp>
          <p:sp>
            <p:nvSpPr>
              <p:cNvPr id="76" name="Rectangle 57">
                <a:extLst>
                  <a:ext uri="{FF2B5EF4-FFF2-40B4-BE49-F238E27FC236}">
                    <a16:creationId xmlns:a16="http://schemas.microsoft.com/office/drawing/2014/main" id="{E8394174-77C5-C8CB-A868-00809EF02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0" y="315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4</a:t>
                </a:r>
              </a:p>
            </p:txBody>
          </p:sp>
          <p:sp>
            <p:nvSpPr>
              <p:cNvPr id="77" name="Rectangle 58">
                <a:extLst>
                  <a:ext uri="{FF2B5EF4-FFF2-40B4-BE49-F238E27FC236}">
                    <a16:creationId xmlns:a16="http://schemas.microsoft.com/office/drawing/2014/main" id="{A35882F9-8334-FABC-795D-D323FCE42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4" y="3216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3</a:t>
                </a:r>
              </a:p>
            </p:txBody>
          </p:sp>
          <p:sp>
            <p:nvSpPr>
              <p:cNvPr id="78" name="Rectangle 59">
                <a:extLst>
                  <a:ext uri="{FF2B5EF4-FFF2-40B4-BE49-F238E27FC236}">
                    <a16:creationId xmlns:a16="http://schemas.microsoft.com/office/drawing/2014/main" id="{AEF2CA68-DFC8-754A-EA5C-1ED3625B84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8" y="2824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7</a:t>
                </a:r>
              </a:p>
            </p:txBody>
          </p:sp>
          <p:sp>
            <p:nvSpPr>
              <p:cNvPr id="79" name="Rectangle 60">
                <a:extLst>
                  <a:ext uri="{FF2B5EF4-FFF2-40B4-BE49-F238E27FC236}">
                    <a16:creationId xmlns:a16="http://schemas.microsoft.com/office/drawing/2014/main" id="{85A6B4B1-CCE1-6D6D-A025-850D68064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4" y="2824"/>
                <a:ext cx="24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11</a:t>
                </a:r>
              </a:p>
            </p:txBody>
          </p:sp>
          <p:sp>
            <p:nvSpPr>
              <p:cNvPr id="80" name="Rectangle 61">
                <a:extLst>
                  <a:ext uri="{FF2B5EF4-FFF2-40B4-BE49-F238E27FC236}">
                    <a16:creationId xmlns:a16="http://schemas.microsoft.com/office/drawing/2014/main" id="{5DC79066-E8CD-0743-8816-0B68F053F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" y="2824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3</a:t>
                </a:r>
              </a:p>
            </p:txBody>
          </p:sp>
        </p:grp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0CC08F2-9B4C-3C03-0B6B-C726E5230091}"/>
              </a:ext>
            </a:extLst>
          </p:cNvPr>
          <p:cNvGrpSpPr/>
          <p:nvPr/>
        </p:nvGrpSpPr>
        <p:grpSpPr>
          <a:xfrm>
            <a:off x="5613400" y="967263"/>
            <a:ext cx="3187700" cy="1143000"/>
            <a:chOff x="5613400" y="1435100"/>
            <a:chExt cx="3187700" cy="1143000"/>
          </a:xfrm>
        </p:grpSpPr>
        <p:sp>
          <p:nvSpPr>
            <p:cNvPr id="127" name="Rectangle 64">
              <a:extLst>
                <a:ext uri="{FF2B5EF4-FFF2-40B4-BE49-F238E27FC236}">
                  <a16:creationId xmlns:a16="http://schemas.microsoft.com/office/drawing/2014/main" id="{AB6025E0-F50A-30C1-D955-152A20A77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3400" y="1435100"/>
              <a:ext cx="3187700" cy="1143000"/>
            </a:xfrm>
            <a:prstGeom prst="rect">
              <a:avLst/>
            </a:prstGeom>
            <a:solidFill>
              <a:srgbClr val="F7D7A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charset="0"/>
                <a:cs typeface="Arial" charset="0"/>
              </a:endParaRPr>
            </a:p>
          </p:txBody>
        </p:sp>
        <p:sp>
          <p:nvSpPr>
            <p:cNvPr id="128" name="Rectangle 65">
              <a:extLst>
                <a:ext uri="{FF2B5EF4-FFF2-40B4-BE49-F238E27FC236}">
                  <a16:creationId xmlns:a16="http://schemas.microsoft.com/office/drawing/2014/main" id="{10F7D325-8DDD-2D0B-5127-7C518ED81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1100" y="1522413"/>
              <a:ext cx="2451100" cy="96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571500" marR="0" lvl="0" indent="-571500" defTabSz="45720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25000"/>
                </a:spcAft>
                <a:buClrTx/>
                <a:buSzTx/>
                <a:buFont typeface="Times" charset="0"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480	available mins per day</a:t>
              </a:r>
            </a:p>
            <a:p>
              <a:pPr marL="571500" marR="0" lvl="0" indent="-571500" defTabSz="45720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25000"/>
                </a:spcAft>
                <a:buClrTx/>
                <a:buSzTx/>
                <a:buFont typeface="Times" charset="0"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40	units required</a:t>
              </a: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1E3823BC-9ACD-4516-CA3D-2859E54E3300}"/>
              </a:ext>
            </a:extLst>
          </p:cNvPr>
          <p:cNvGrpSpPr>
            <a:grpSpLocks/>
          </p:cNvGrpSpPr>
          <p:nvPr/>
        </p:nvGrpSpPr>
        <p:grpSpPr bwMode="auto">
          <a:xfrm>
            <a:off x="7522909" y="3463439"/>
            <a:ext cx="3660775" cy="2141537"/>
            <a:chOff x="4949825" y="3910013"/>
            <a:chExt cx="3660775" cy="2141537"/>
          </a:xfrm>
        </p:grpSpPr>
        <p:grpSp>
          <p:nvGrpSpPr>
            <p:cNvPr id="201" name="Group 3">
              <a:extLst>
                <a:ext uri="{FF2B5EF4-FFF2-40B4-BE49-F238E27FC236}">
                  <a16:creationId xmlns:a16="http://schemas.microsoft.com/office/drawing/2014/main" id="{AEDA56CB-528E-507B-9EC8-AA052DBB6C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53000" y="4197350"/>
              <a:ext cx="3657600" cy="1854200"/>
              <a:chOff x="4953000" y="4197350"/>
              <a:chExt cx="3657600" cy="1854200"/>
            </a:xfrm>
          </p:grpSpPr>
          <p:grpSp>
            <p:nvGrpSpPr>
              <p:cNvPr id="212" name="Group 8">
                <a:extLst>
                  <a:ext uri="{FF2B5EF4-FFF2-40B4-BE49-F238E27FC236}">
                    <a16:creationId xmlns:a16="http://schemas.microsoft.com/office/drawing/2014/main" id="{79A3BD3C-5BBB-BBE0-189B-854878DD1D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35850" y="4902200"/>
                <a:ext cx="1174750" cy="952500"/>
                <a:chOff x="4756" y="2304"/>
                <a:chExt cx="740" cy="600"/>
              </a:xfrm>
            </p:grpSpPr>
            <p:sp>
              <p:nvSpPr>
                <p:cNvPr id="251" name="Line 9">
                  <a:extLst>
                    <a:ext uri="{FF2B5EF4-FFF2-40B4-BE49-F238E27FC236}">
                      <a16:creationId xmlns:a16="http://schemas.microsoft.com/office/drawing/2014/main" id="{D21FE79E-D18B-206D-5BCA-99744A5B80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44" y="2304"/>
                  <a:ext cx="152" cy="264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252" name="Line 10">
                  <a:extLst>
                    <a:ext uri="{FF2B5EF4-FFF2-40B4-BE49-F238E27FC236}">
                      <a16:creationId xmlns:a16="http://schemas.microsoft.com/office/drawing/2014/main" id="{8D8D4AE3-DB56-936B-D177-96ABE21223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56" y="2728"/>
                  <a:ext cx="480" cy="176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253" name="Group 11">
                  <a:extLst>
                    <a:ext uri="{FF2B5EF4-FFF2-40B4-BE49-F238E27FC236}">
                      <a16:creationId xmlns:a16="http://schemas.microsoft.com/office/drawing/2014/main" id="{8B767C54-B702-1170-C992-775CDB9436B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40" y="2556"/>
                  <a:ext cx="256" cy="256"/>
                  <a:chOff x="5616" y="2396"/>
                  <a:chExt cx="256" cy="256"/>
                </a:xfrm>
              </p:grpSpPr>
              <p:sp>
                <p:nvSpPr>
                  <p:cNvPr id="254" name="Oval 12">
                    <a:extLst>
                      <a:ext uri="{FF2B5EF4-FFF2-40B4-BE49-F238E27FC236}">
                        <a16:creationId xmlns:a16="http://schemas.microsoft.com/office/drawing/2014/main" id="{88D72C70-F231-0FFD-91E8-F9BC6E0B87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16" y="2396"/>
                    <a:ext cx="256" cy="25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255" name="Rectangle 13">
                    <a:extLst>
                      <a:ext uri="{FF2B5EF4-FFF2-40B4-BE49-F238E27FC236}">
                        <a16:creationId xmlns:a16="http://schemas.microsoft.com/office/drawing/2014/main" id="{D1CF446D-7BA6-4319-A2B6-6B01620659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660" y="2418"/>
                    <a:ext cx="152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I</a:t>
                    </a:r>
                  </a:p>
                </p:txBody>
              </p:sp>
            </p:grpSp>
          </p:grpSp>
          <p:grpSp>
            <p:nvGrpSpPr>
              <p:cNvPr id="213" name="Group 14">
                <a:extLst>
                  <a:ext uri="{FF2B5EF4-FFF2-40B4-BE49-F238E27FC236}">
                    <a16:creationId xmlns:a16="http://schemas.microsoft.com/office/drawing/2014/main" id="{65FC9945-D30D-B0D1-786C-7F4EBB5285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02500" y="4695825"/>
                <a:ext cx="927100" cy="406400"/>
                <a:chOff x="4672" y="2174"/>
                <a:chExt cx="584" cy="256"/>
              </a:xfrm>
            </p:grpSpPr>
            <p:sp>
              <p:nvSpPr>
                <p:cNvPr id="247" name="Line 15">
                  <a:extLst>
                    <a:ext uri="{FF2B5EF4-FFF2-40B4-BE49-F238E27FC236}">
                      <a16:creationId xmlns:a16="http://schemas.microsoft.com/office/drawing/2014/main" id="{E5940557-CCA0-9AA3-308E-8568B866A5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72" y="2294"/>
                  <a:ext cx="320" cy="16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248" name="Group 16">
                  <a:extLst>
                    <a:ext uri="{FF2B5EF4-FFF2-40B4-BE49-F238E27FC236}">
                      <a16:creationId xmlns:a16="http://schemas.microsoft.com/office/drawing/2014/main" id="{AB53F6B2-A3DE-2EAC-6768-6BDDC73529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00" y="2174"/>
                  <a:ext cx="256" cy="256"/>
                  <a:chOff x="5184" y="2164"/>
                  <a:chExt cx="256" cy="256"/>
                </a:xfrm>
              </p:grpSpPr>
              <p:sp>
                <p:nvSpPr>
                  <p:cNvPr id="249" name="Oval 17">
                    <a:extLst>
                      <a:ext uri="{FF2B5EF4-FFF2-40B4-BE49-F238E27FC236}">
                        <a16:creationId xmlns:a16="http://schemas.microsoft.com/office/drawing/2014/main" id="{D8FFE224-E5D9-7105-0F97-950DC25A39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84" y="2164"/>
                    <a:ext cx="256" cy="25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250" name="Rectangle 18">
                    <a:extLst>
                      <a:ext uri="{FF2B5EF4-FFF2-40B4-BE49-F238E27FC236}">
                        <a16:creationId xmlns:a16="http://schemas.microsoft.com/office/drawing/2014/main" id="{DC403A1E-1DCC-22CA-4A8F-FDEA7B5D94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96" y="2182"/>
                    <a:ext cx="216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G</a:t>
                    </a:r>
                  </a:p>
                </p:txBody>
              </p:sp>
            </p:grpSp>
          </p:grpSp>
          <p:grpSp>
            <p:nvGrpSpPr>
              <p:cNvPr id="214" name="Group 19">
                <a:extLst>
                  <a:ext uri="{FF2B5EF4-FFF2-40B4-BE49-F238E27FC236}">
                    <a16:creationId xmlns:a16="http://schemas.microsoft.com/office/drawing/2014/main" id="{608BDC6E-7E28-BA50-FAD7-5C65D4E304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46850" y="4394200"/>
                <a:ext cx="946150" cy="1016000"/>
                <a:chOff x="4196" y="1984"/>
                <a:chExt cx="596" cy="640"/>
              </a:xfrm>
            </p:grpSpPr>
            <p:sp>
              <p:nvSpPr>
                <p:cNvPr id="242" name="Line 20">
                  <a:extLst>
                    <a:ext uri="{FF2B5EF4-FFF2-40B4-BE49-F238E27FC236}">
                      <a16:creationId xmlns:a16="http://schemas.microsoft.com/office/drawing/2014/main" id="{76FBFEF2-AD32-5B36-C416-B9A93F1C51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96" y="2368"/>
                  <a:ext cx="360" cy="256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243" name="Line 21">
                  <a:extLst>
                    <a:ext uri="{FF2B5EF4-FFF2-40B4-BE49-F238E27FC236}">
                      <a16:creationId xmlns:a16="http://schemas.microsoft.com/office/drawing/2014/main" id="{DD0FA24F-FC70-E248-37DC-A6E595533E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8" y="1984"/>
                  <a:ext cx="312" cy="224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244" name="Group 22">
                  <a:extLst>
                    <a:ext uri="{FF2B5EF4-FFF2-40B4-BE49-F238E27FC236}">
                      <a16:creationId xmlns:a16="http://schemas.microsoft.com/office/drawing/2014/main" id="{2CAB8CCA-8721-3708-7641-458ABAEEECD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36" y="2174"/>
                  <a:ext cx="256" cy="256"/>
                  <a:chOff x="4688" y="2164"/>
                  <a:chExt cx="256" cy="256"/>
                </a:xfrm>
              </p:grpSpPr>
              <p:sp>
                <p:nvSpPr>
                  <p:cNvPr id="245" name="Oval 23">
                    <a:extLst>
                      <a:ext uri="{FF2B5EF4-FFF2-40B4-BE49-F238E27FC236}">
                        <a16:creationId xmlns:a16="http://schemas.microsoft.com/office/drawing/2014/main" id="{D12E8C3E-02BC-23B3-5A18-D8EB888C32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88" y="2164"/>
                    <a:ext cx="256" cy="25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246" name="Rectangle 24">
                    <a:extLst>
                      <a:ext uri="{FF2B5EF4-FFF2-40B4-BE49-F238E27FC236}">
                        <a16:creationId xmlns:a16="http://schemas.microsoft.com/office/drawing/2014/main" id="{57AEDF00-D4D2-EE35-552E-4E6A8F3FDB6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11" y="2190"/>
                    <a:ext cx="194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F</a:t>
                    </a:r>
                  </a:p>
                </p:txBody>
              </p:sp>
            </p:grpSp>
          </p:grpSp>
          <p:grpSp>
            <p:nvGrpSpPr>
              <p:cNvPr id="215" name="Group 25">
                <a:extLst>
                  <a:ext uri="{FF2B5EF4-FFF2-40B4-BE49-F238E27FC236}">
                    <a16:creationId xmlns:a16="http://schemas.microsoft.com/office/drawing/2014/main" id="{2ABC46F4-766D-F9CB-941E-1D0D552591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48350" y="4197350"/>
                <a:ext cx="908050" cy="1422400"/>
                <a:chOff x="3756" y="1860"/>
                <a:chExt cx="572" cy="896"/>
              </a:xfrm>
            </p:grpSpPr>
            <p:grpSp>
              <p:nvGrpSpPr>
                <p:cNvPr id="234" name="Group 26">
                  <a:extLst>
                    <a:ext uri="{FF2B5EF4-FFF2-40B4-BE49-F238E27FC236}">
                      <a16:creationId xmlns:a16="http://schemas.microsoft.com/office/drawing/2014/main" id="{4CAC004D-C852-3351-E1A2-3AB0353716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72" y="1860"/>
                  <a:ext cx="256" cy="256"/>
                  <a:chOff x="4192" y="1948"/>
                  <a:chExt cx="256" cy="256"/>
                </a:xfrm>
              </p:grpSpPr>
              <p:sp>
                <p:nvSpPr>
                  <p:cNvPr id="240" name="Oval 27">
                    <a:extLst>
                      <a:ext uri="{FF2B5EF4-FFF2-40B4-BE49-F238E27FC236}">
                        <a16:creationId xmlns:a16="http://schemas.microsoft.com/office/drawing/2014/main" id="{061A783D-19BF-B3DE-1064-4354DA308B1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92" y="1948"/>
                    <a:ext cx="256" cy="25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241" name="Rectangle 28">
                    <a:extLst>
                      <a:ext uri="{FF2B5EF4-FFF2-40B4-BE49-F238E27FC236}">
                        <a16:creationId xmlns:a16="http://schemas.microsoft.com/office/drawing/2014/main" id="{E8473EC7-BA11-F995-3B6C-62310BCDC7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6" y="1970"/>
                    <a:ext cx="208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C</a:t>
                    </a:r>
                  </a:p>
                </p:txBody>
              </p:sp>
            </p:grpSp>
            <p:sp>
              <p:nvSpPr>
                <p:cNvPr id="235" name="Line 29">
                  <a:extLst>
                    <a:ext uri="{FF2B5EF4-FFF2-40B4-BE49-F238E27FC236}">
                      <a16:creationId xmlns:a16="http://schemas.microsoft.com/office/drawing/2014/main" id="{50C568E3-EBFE-F93A-0B35-6A74E3FD5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92" y="2304"/>
                  <a:ext cx="312" cy="24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236" name="Line 30">
                  <a:extLst>
                    <a:ext uri="{FF2B5EF4-FFF2-40B4-BE49-F238E27FC236}">
                      <a16:creationId xmlns:a16="http://schemas.microsoft.com/office/drawing/2014/main" id="{740C80E4-0A54-FF37-E70C-560A3516CB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756" y="2040"/>
                  <a:ext cx="328" cy="272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237" name="Group 31">
                  <a:extLst>
                    <a:ext uri="{FF2B5EF4-FFF2-40B4-BE49-F238E27FC236}">
                      <a16:creationId xmlns:a16="http://schemas.microsoft.com/office/drawing/2014/main" id="{2520C817-93E3-231E-4586-872855E61E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72" y="2500"/>
                  <a:ext cx="256" cy="256"/>
                  <a:chOff x="4192" y="2380"/>
                  <a:chExt cx="256" cy="256"/>
                </a:xfrm>
              </p:grpSpPr>
              <p:sp>
                <p:nvSpPr>
                  <p:cNvPr id="238" name="Oval 32">
                    <a:extLst>
                      <a:ext uri="{FF2B5EF4-FFF2-40B4-BE49-F238E27FC236}">
                        <a16:creationId xmlns:a16="http://schemas.microsoft.com/office/drawing/2014/main" id="{9D599214-984D-C73B-AEE1-E120F8F161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92" y="2380"/>
                    <a:ext cx="256" cy="25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239" name="Rectangle 33">
                    <a:extLst>
                      <a:ext uri="{FF2B5EF4-FFF2-40B4-BE49-F238E27FC236}">
                        <a16:creationId xmlns:a16="http://schemas.microsoft.com/office/drawing/2014/main" id="{137C745A-955C-ACD2-323B-2F2724D2D7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6" y="2402"/>
                    <a:ext cx="208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D</a:t>
                    </a:r>
                  </a:p>
                </p:txBody>
              </p:sp>
            </p:grpSp>
          </p:grpSp>
          <p:grpSp>
            <p:nvGrpSpPr>
              <p:cNvPr id="216" name="Group 34">
                <a:extLst>
                  <a:ext uri="{FF2B5EF4-FFF2-40B4-BE49-F238E27FC236}">
                    <a16:creationId xmlns:a16="http://schemas.microsoft.com/office/drawing/2014/main" id="{45B032A8-1911-C536-A4C1-6C8477FCCA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19800" y="5645150"/>
                <a:ext cx="1600200" cy="406400"/>
                <a:chOff x="3864" y="2772"/>
                <a:chExt cx="1008" cy="256"/>
              </a:xfrm>
            </p:grpSpPr>
            <p:sp>
              <p:nvSpPr>
                <p:cNvPr id="230" name="Line 35">
                  <a:extLst>
                    <a:ext uri="{FF2B5EF4-FFF2-40B4-BE49-F238E27FC236}">
                      <a16:creationId xmlns:a16="http://schemas.microsoft.com/office/drawing/2014/main" id="{72ADAB24-4360-CABE-AC99-78157E54BB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64" y="2904"/>
                  <a:ext cx="744" cy="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231" name="Group 36">
                  <a:extLst>
                    <a:ext uri="{FF2B5EF4-FFF2-40B4-BE49-F238E27FC236}">
                      <a16:creationId xmlns:a16="http://schemas.microsoft.com/office/drawing/2014/main" id="{2049E6E6-D9B6-A254-2CBE-5BD5470624E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16" y="2772"/>
                  <a:ext cx="256" cy="256"/>
                  <a:chOff x="4872" y="2676"/>
                  <a:chExt cx="256" cy="256"/>
                </a:xfrm>
              </p:grpSpPr>
              <p:sp>
                <p:nvSpPr>
                  <p:cNvPr id="232" name="Oval 37">
                    <a:extLst>
                      <a:ext uri="{FF2B5EF4-FFF2-40B4-BE49-F238E27FC236}">
                        <a16:creationId xmlns:a16="http://schemas.microsoft.com/office/drawing/2014/main" id="{0F41D7B2-4300-78A5-F611-FEEBABD0A2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72" y="2676"/>
                    <a:ext cx="256" cy="25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233" name="Rectangle 38">
                    <a:extLst>
                      <a:ext uri="{FF2B5EF4-FFF2-40B4-BE49-F238E27FC236}">
                        <a16:creationId xmlns:a16="http://schemas.microsoft.com/office/drawing/2014/main" id="{4B858155-8739-8315-5AE0-374CB9950F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88" y="2698"/>
                    <a:ext cx="208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H</a:t>
                    </a:r>
                  </a:p>
                </p:txBody>
              </p:sp>
            </p:grpSp>
          </p:grpSp>
          <p:grpSp>
            <p:nvGrpSpPr>
              <p:cNvPr id="217" name="Group 39">
                <a:extLst>
                  <a:ext uri="{FF2B5EF4-FFF2-40B4-BE49-F238E27FC236}">
                    <a16:creationId xmlns:a16="http://schemas.microsoft.com/office/drawing/2014/main" id="{7D5666C3-A72A-E2BE-B52B-DAAE3923EA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67300" y="4695825"/>
                <a:ext cx="1155700" cy="1355725"/>
                <a:chOff x="3144" y="3006"/>
                <a:chExt cx="728" cy="854"/>
              </a:xfrm>
            </p:grpSpPr>
            <p:sp>
              <p:nvSpPr>
                <p:cNvPr id="221" name="Line 40">
                  <a:extLst>
                    <a:ext uri="{FF2B5EF4-FFF2-40B4-BE49-F238E27FC236}">
                      <a16:creationId xmlns:a16="http://schemas.microsoft.com/office/drawing/2014/main" id="{A473114E-3037-016D-0C7F-5922BB8E3D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4" y="3134"/>
                  <a:ext cx="368" cy="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222" name="Group 41">
                  <a:extLst>
                    <a:ext uri="{FF2B5EF4-FFF2-40B4-BE49-F238E27FC236}">
                      <a16:creationId xmlns:a16="http://schemas.microsoft.com/office/drawing/2014/main" id="{868FBB1A-9BF9-46F0-975D-66DDF7FF590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20" y="3006"/>
                  <a:ext cx="652" cy="854"/>
                  <a:chOff x="3340" y="2174"/>
                  <a:chExt cx="652" cy="854"/>
                </a:xfrm>
              </p:grpSpPr>
              <p:sp>
                <p:nvSpPr>
                  <p:cNvPr id="223" name="Line 42">
                    <a:extLst>
                      <a:ext uri="{FF2B5EF4-FFF2-40B4-BE49-F238E27FC236}">
                        <a16:creationId xmlns:a16="http://schemas.microsoft.com/office/drawing/2014/main" id="{31966D13-DF06-6AAA-9F01-8A831ABD5C3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40" y="2312"/>
                    <a:ext cx="424" cy="488"/>
                  </a:xfrm>
                  <a:prstGeom prst="line">
                    <a:avLst/>
                  </a:prstGeom>
                  <a:noFill/>
                  <a:ln w="57150">
                    <a:solidFill>
                      <a:srgbClr val="000000"/>
                    </a:solidFill>
                    <a:round/>
                    <a:headEnd/>
                    <a:tailEnd type="triangle" w="sm" len="sm"/>
                  </a:ln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endParaRPr>
                  </a:p>
                </p:txBody>
              </p:sp>
              <p:grpSp>
                <p:nvGrpSpPr>
                  <p:cNvPr id="224" name="Group 43">
                    <a:extLst>
                      <a:ext uri="{FF2B5EF4-FFF2-40B4-BE49-F238E27FC236}">
                        <a16:creationId xmlns:a16="http://schemas.microsoft.com/office/drawing/2014/main" id="{4D76F829-95BB-9F94-3351-C043B96C600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648" y="2174"/>
                    <a:ext cx="256" cy="256"/>
                    <a:chOff x="3648" y="2184"/>
                    <a:chExt cx="256" cy="256"/>
                  </a:xfrm>
                </p:grpSpPr>
                <p:sp>
                  <p:nvSpPr>
                    <p:cNvPr id="228" name="Oval 44">
                      <a:extLst>
                        <a:ext uri="{FF2B5EF4-FFF2-40B4-BE49-F238E27FC236}">
                          <a16:creationId xmlns:a16="http://schemas.microsoft.com/office/drawing/2014/main" id="{10F56977-341E-C528-57F9-A3E63427D7D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48" y="2184"/>
                      <a:ext cx="256" cy="256"/>
                    </a:xfrm>
                    <a:prstGeom prst="ellipse">
                      <a:avLst/>
                    </a:prstGeom>
                    <a:solidFill>
                      <a:srgbClr val="F7D7AC"/>
                    </a:solidFill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 marL="0" marR="0" lvl="0" indent="0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9" name="Rectangle 45">
                      <a:extLst>
                        <a:ext uri="{FF2B5EF4-FFF2-40B4-BE49-F238E27FC236}">
                          <a16:creationId xmlns:a16="http://schemas.microsoft.com/office/drawing/2014/main" id="{6CC608AA-843E-1180-AF8C-59FCFE95A22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72" y="2202"/>
                      <a:ext cx="208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algn="ctr" defTabSz="4572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B</a:t>
                      </a:r>
                    </a:p>
                  </p:txBody>
                </p:sp>
              </p:grpSp>
              <p:grpSp>
                <p:nvGrpSpPr>
                  <p:cNvPr id="225" name="Group 46">
                    <a:extLst>
                      <a:ext uri="{FF2B5EF4-FFF2-40B4-BE49-F238E27FC236}">
                        <a16:creationId xmlns:a16="http://schemas.microsoft.com/office/drawing/2014/main" id="{C96D70B4-FFF1-B1EC-610B-B186DF5D058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736" y="2772"/>
                    <a:ext cx="256" cy="256"/>
                    <a:chOff x="3896" y="2676"/>
                    <a:chExt cx="256" cy="256"/>
                  </a:xfrm>
                </p:grpSpPr>
                <p:sp>
                  <p:nvSpPr>
                    <p:cNvPr id="226" name="Oval 47">
                      <a:extLst>
                        <a:ext uri="{FF2B5EF4-FFF2-40B4-BE49-F238E27FC236}">
                          <a16:creationId xmlns:a16="http://schemas.microsoft.com/office/drawing/2014/main" id="{822A4119-C196-0EDB-8208-9B48D4A675E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96" y="2676"/>
                      <a:ext cx="256" cy="256"/>
                    </a:xfrm>
                    <a:prstGeom prst="ellipse">
                      <a:avLst/>
                    </a:prstGeom>
                    <a:solidFill>
                      <a:srgbClr val="F7D7AC"/>
                    </a:solidFill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 marL="0" marR="0" lvl="0" indent="0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227" name="Rectangle 48">
                      <a:extLst>
                        <a:ext uri="{FF2B5EF4-FFF2-40B4-BE49-F238E27FC236}">
                          <a16:creationId xmlns:a16="http://schemas.microsoft.com/office/drawing/2014/main" id="{DA855C9E-3C2E-EA2B-3216-F3601503FAF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916" y="2690"/>
                      <a:ext cx="201" cy="21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algn="ctr" defTabSz="4572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E</a:t>
                      </a:r>
                    </a:p>
                  </p:txBody>
                </p:sp>
              </p:grpSp>
            </p:grpSp>
          </p:grpSp>
          <p:grpSp>
            <p:nvGrpSpPr>
              <p:cNvPr id="218" name="Group 49">
                <a:extLst>
                  <a:ext uri="{FF2B5EF4-FFF2-40B4-BE49-F238E27FC236}">
                    <a16:creationId xmlns:a16="http://schemas.microsoft.com/office/drawing/2014/main" id="{37C93DD1-789F-CE11-069A-0A79A2038C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53000" y="4695825"/>
                <a:ext cx="406400" cy="406400"/>
                <a:chOff x="3192" y="2184"/>
                <a:chExt cx="256" cy="256"/>
              </a:xfrm>
            </p:grpSpPr>
            <p:sp>
              <p:nvSpPr>
                <p:cNvPr id="219" name="Oval 50">
                  <a:extLst>
                    <a:ext uri="{FF2B5EF4-FFF2-40B4-BE49-F238E27FC236}">
                      <a16:creationId xmlns:a16="http://schemas.microsoft.com/office/drawing/2014/main" id="{C18E6DF6-10A6-15D1-5A55-4729555DA6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92" y="2184"/>
                  <a:ext cx="256" cy="256"/>
                </a:xfrm>
                <a:prstGeom prst="ellipse">
                  <a:avLst/>
                </a:prstGeom>
                <a:solidFill>
                  <a:srgbClr val="F7D7AC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220" name="Rectangle 51">
                  <a:extLst>
                    <a:ext uri="{FF2B5EF4-FFF2-40B4-BE49-F238E27FC236}">
                      <a16:creationId xmlns:a16="http://schemas.microsoft.com/office/drawing/2014/main" id="{65C39593-08EE-C360-8E18-A7F17E52A7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13" y="2202"/>
                  <a:ext cx="197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A</a:t>
                  </a:r>
                </a:p>
              </p:txBody>
            </p:sp>
          </p:grpSp>
        </p:grpSp>
        <p:grpSp>
          <p:nvGrpSpPr>
            <p:cNvPr id="202" name="Group 52">
              <a:extLst>
                <a:ext uri="{FF2B5EF4-FFF2-40B4-BE49-F238E27FC236}">
                  <a16:creationId xmlns:a16="http://schemas.microsoft.com/office/drawing/2014/main" id="{2DF5DBAD-35CA-7B2D-8228-A5D1D8487D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9825" y="3910013"/>
              <a:ext cx="3622675" cy="1782762"/>
              <a:chOff x="3070" y="2511"/>
              <a:chExt cx="2282" cy="1123"/>
            </a:xfrm>
          </p:grpSpPr>
          <p:sp>
            <p:nvSpPr>
              <p:cNvPr id="203" name="Rectangle 53">
                <a:extLst>
                  <a:ext uri="{FF2B5EF4-FFF2-40B4-BE49-F238E27FC236}">
                    <a16:creationId xmlns:a16="http://schemas.microsoft.com/office/drawing/2014/main" id="{DB2659A2-48BF-1E6A-6461-936686C101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0" y="2824"/>
                <a:ext cx="24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10</a:t>
                </a:r>
              </a:p>
            </p:txBody>
          </p:sp>
          <p:sp>
            <p:nvSpPr>
              <p:cNvPr id="204" name="Rectangle 54">
                <a:extLst>
                  <a:ext uri="{FF2B5EF4-FFF2-40B4-BE49-F238E27FC236}">
                    <a16:creationId xmlns:a16="http://schemas.microsoft.com/office/drawing/2014/main" id="{3B2B20E8-E43B-2E6E-9C7F-853F3BDA5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2" y="3440"/>
                <a:ext cx="24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11</a:t>
                </a:r>
              </a:p>
            </p:txBody>
          </p:sp>
          <p:sp>
            <p:nvSpPr>
              <p:cNvPr id="205" name="Rectangle 55">
                <a:extLst>
                  <a:ext uri="{FF2B5EF4-FFF2-40B4-BE49-F238E27FC236}">
                    <a16:creationId xmlns:a16="http://schemas.microsoft.com/office/drawing/2014/main" id="{53B310EA-E2E9-7170-16EE-44A87C0E4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2" y="3440"/>
                <a:ext cx="236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11</a:t>
                </a:r>
              </a:p>
            </p:txBody>
          </p:sp>
          <p:sp>
            <p:nvSpPr>
              <p:cNvPr id="206" name="Rectangle 56">
                <a:extLst>
                  <a:ext uri="{FF2B5EF4-FFF2-40B4-BE49-F238E27FC236}">
                    <a16:creationId xmlns:a16="http://schemas.microsoft.com/office/drawing/2014/main" id="{7498ACE7-9081-8523-6127-F5869C77F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0" y="2511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5</a:t>
                </a:r>
              </a:p>
            </p:txBody>
          </p:sp>
          <p:sp>
            <p:nvSpPr>
              <p:cNvPr id="207" name="Rectangle 57">
                <a:extLst>
                  <a:ext uri="{FF2B5EF4-FFF2-40B4-BE49-F238E27FC236}">
                    <a16:creationId xmlns:a16="http://schemas.microsoft.com/office/drawing/2014/main" id="{DFFC574A-B02B-3B4E-A74E-1FECE808C8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0" y="3159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4</a:t>
                </a:r>
              </a:p>
            </p:txBody>
          </p:sp>
          <p:sp>
            <p:nvSpPr>
              <p:cNvPr id="208" name="Rectangle 58">
                <a:extLst>
                  <a:ext uri="{FF2B5EF4-FFF2-40B4-BE49-F238E27FC236}">
                    <a16:creationId xmlns:a16="http://schemas.microsoft.com/office/drawing/2014/main" id="{464B4727-94BF-CF06-6F31-B144D52D9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4" y="3216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3</a:t>
                </a:r>
              </a:p>
            </p:txBody>
          </p:sp>
          <p:sp>
            <p:nvSpPr>
              <p:cNvPr id="209" name="Rectangle 59">
                <a:extLst>
                  <a:ext uri="{FF2B5EF4-FFF2-40B4-BE49-F238E27FC236}">
                    <a16:creationId xmlns:a16="http://schemas.microsoft.com/office/drawing/2014/main" id="{F16F1D2A-8EFF-E13F-D9F3-31633E315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8" y="2824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7</a:t>
                </a:r>
              </a:p>
            </p:txBody>
          </p:sp>
          <p:sp>
            <p:nvSpPr>
              <p:cNvPr id="210" name="Rectangle 60">
                <a:extLst>
                  <a:ext uri="{FF2B5EF4-FFF2-40B4-BE49-F238E27FC236}">
                    <a16:creationId xmlns:a16="http://schemas.microsoft.com/office/drawing/2014/main" id="{E5966059-64CF-0F8A-AAEC-2924F03E89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4" y="2824"/>
                <a:ext cx="24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11</a:t>
                </a:r>
              </a:p>
            </p:txBody>
          </p:sp>
          <p:sp>
            <p:nvSpPr>
              <p:cNvPr id="211" name="Rectangle 61">
                <a:extLst>
                  <a:ext uri="{FF2B5EF4-FFF2-40B4-BE49-F238E27FC236}">
                    <a16:creationId xmlns:a16="http://schemas.microsoft.com/office/drawing/2014/main" id="{A5B79167-4836-3B5A-C162-2FA96C1D4F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" y="2824"/>
                <a:ext cx="1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3</a:t>
                </a:r>
              </a:p>
            </p:txBody>
          </p:sp>
        </p:grpSp>
      </p:grpSp>
      <p:sp>
        <p:nvSpPr>
          <p:cNvPr id="256" name="Rectangle 62">
            <a:extLst>
              <a:ext uri="{FF2B5EF4-FFF2-40B4-BE49-F238E27FC236}">
                <a16:creationId xmlns:a16="http://schemas.microsoft.com/office/drawing/2014/main" id="{AA34EADF-D374-B3E0-4CEE-9EC0B24AB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9572" y="3106251"/>
            <a:ext cx="1266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sz="1600" kern="1200" dirty="0">
                <a:latin typeface="Arial" charset="0"/>
                <a:ea typeface="ＭＳ Ｐゴシック" charset="0"/>
                <a:cs typeface="Arial" charset="0"/>
              </a:rPr>
              <a:t>Figure </a:t>
            </a:r>
            <a:r>
              <a:rPr lang="en-US" sz="1600" kern="1200" dirty="0">
                <a:solidFill>
                  <a:srgbClr val="255898"/>
                </a:solidFill>
                <a:latin typeface="Arial" charset="0"/>
                <a:ea typeface="ＭＳ Ｐゴシック" charset="0"/>
                <a:cs typeface="Arial" charset="0"/>
              </a:rPr>
              <a:t>9.12</a:t>
            </a:r>
          </a:p>
        </p:txBody>
      </p:sp>
      <p:sp>
        <p:nvSpPr>
          <p:cNvPr id="257" name="Rectangle 66">
            <a:extLst>
              <a:ext uri="{FF2B5EF4-FFF2-40B4-BE49-F238E27FC236}">
                <a16:creationId xmlns:a16="http://schemas.microsoft.com/office/drawing/2014/main" id="{E578BC60-8569-AE6E-0DB2-3C114F680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5984" y="2037864"/>
            <a:ext cx="5283200" cy="4144962"/>
          </a:xfrm>
          <a:prstGeom prst="rect">
            <a:avLst/>
          </a:prstGeom>
          <a:solidFill>
            <a:srgbClr val="BDD6AE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charset="0"/>
              <a:cs typeface="Arial" charset="0"/>
            </a:endParaRPr>
          </a:p>
        </p:txBody>
      </p:sp>
      <p:grpSp>
        <p:nvGrpSpPr>
          <p:cNvPr id="258" name="Group 67">
            <a:extLst>
              <a:ext uri="{FF2B5EF4-FFF2-40B4-BE49-F238E27FC236}">
                <a16:creationId xmlns:a16="http://schemas.microsoft.com/office/drawing/2014/main" id="{5EAFCAA9-71AE-D1E3-CAFD-7496CECCE83E}"/>
              </a:ext>
            </a:extLst>
          </p:cNvPr>
          <p:cNvGrpSpPr>
            <a:grpSpLocks/>
          </p:cNvGrpSpPr>
          <p:nvPr/>
        </p:nvGrpSpPr>
        <p:grpSpPr bwMode="auto">
          <a:xfrm>
            <a:off x="6151309" y="2295039"/>
            <a:ext cx="4324350" cy="1673225"/>
            <a:chOff x="2278" y="2191"/>
            <a:chExt cx="2724" cy="1054"/>
          </a:xfrm>
        </p:grpSpPr>
        <p:grpSp>
          <p:nvGrpSpPr>
            <p:cNvPr id="259" name="Group 68">
              <a:extLst>
                <a:ext uri="{FF2B5EF4-FFF2-40B4-BE49-F238E27FC236}">
                  <a16:creationId xmlns:a16="http://schemas.microsoft.com/office/drawing/2014/main" id="{05FA5979-B6C6-8DF5-55F5-95B7B60576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8" y="2191"/>
              <a:ext cx="2724" cy="581"/>
              <a:chOff x="2462" y="1895"/>
              <a:chExt cx="2724" cy="581"/>
            </a:xfrm>
          </p:grpSpPr>
          <p:sp>
            <p:nvSpPr>
              <p:cNvPr id="261" name="Rectangle 69">
                <a:extLst>
                  <a:ext uri="{FF2B5EF4-FFF2-40B4-BE49-F238E27FC236}">
                    <a16:creationId xmlns:a16="http://schemas.microsoft.com/office/drawing/2014/main" id="{B34CDF06-1CCE-0DE8-727A-5F81B33926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2" y="2160"/>
                <a:ext cx="1010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Cycle time =</a:t>
                </a:r>
              </a:p>
            </p:txBody>
          </p:sp>
          <p:grpSp>
            <p:nvGrpSpPr>
              <p:cNvPr id="262" name="Group 70">
                <a:extLst>
                  <a:ext uri="{FF2B5EF4-FFF2-40B4-BE49-F238E27FC236}">
                    <a16:creationId xmlns:a16="http://schemas.microsoft.com/office/drawing/2014/main" id="{01EBEE05-22B5-2D75-C29B-1B8E296F57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62" y="1895"/>
                <a:ext cx="1724" cy="581"/>
                <a:chOff x="3454" y="1935"/>
                <a:chExt cx="1724" cy="581"/>
              </a:xfrm>
            </p:grpSpPr>
            <p:sp>
              <p:nvSpPr>
                <p:cNvPr id="263" name="Rectangle 71">
                  <a:extLst>
                    <a:ext uri="{FF2B5EF4-FFF2-40B4-BE49-F238E27FC236}">
                      <a16:creationId xmlns:a16="http://schemas.microsoft.com/office/drawing/2014/main" id="{02719E17-2AA3-29C6-7CA5-B5B9FB8C1C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4" y="1935"/>
                  <a:ext cx="1724" cy="5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algn="ctr" defTabSz="45720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Production time available per day</a:t>
                  </a:r>
                </a:p>
                <a:p>
                  <a:pPr marL="0" marR="0" lvl="0" indent="0" algn="ctr" defTabSz="45720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Units required per day</a:t>
                  </a:r>
                </a:p>
              </p:txBody>
            </p:sp>
            <p:sp>
              <p:nvSpPr>
                <p:cNvPr id="264" name="Line 72">
                  <a:extLst>
                    <a:ext uri="{FF2B5EF4-FFF2-40B4-BE49-F238E27FC236}">
                      <a16:creationId xmlns:a16="http://schemas.microsoft.com/office/drawing/2014/main" id="{C2CD1728-2772-D271-40BB-DBE35EF78B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20" y="2320"/>
                  <a:ext cx="160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</p:grpSp>
        <p:sp>
          <p:nvSpPr>
            <p:cNvPr id="260" name="Rectangle 73">
              <a:extLst>
                <a:ext uri="{FF2B5EF4-FFF2-40B4-BE49-F238E27FC236}">
                  <a16:creationId xmlns:a16="http://schemas.microsoft.com/office/drawing/2014/main" id="{5EA228A1-18CD-D38B-A441-6F2F7F7F1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8" y="2751"/>
              <a:ext cx="1630" cy="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= 480 / 40</a:t>
              </a:r>
            </a:p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= 12 minutes per unit</a:t>
              </a:r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82FB008E-3430-E69B-28D0-A129BB05E90C}"/>
              </a:ext>
            </a:extLst>
          </p:cNvPr>
          <p:cNvGrpSpPr>
            <a:grpSpLocks/>
          </p:cNvGrpSpPr>
          <p:nvPr/>
        </p:nvGrpSpPr>
        <p:grpSpPr bwMode="auto">
          <a:xfrm>
            <a:off x="5697284" y="4019064"/>
            <a:ext cx="4735223" cy="1875090"/>
            <a:chOff x="3124200" y="4516438"/>
            <a:chExt cx="4735005" cy="1875695"/>
          </a:xfrm>
        </p:grpSpPr>
        <p:grpSp>
          <p:nvGrpSpPr>
            <p:cNvPr id="266" name="Group 4">
              <a:extLst>
                <a:ext uri="{FF2B5EF4-FFF2-40B4-BE49-F238E27FC236}">
                  <a16:creationId xmlns:a16="http://schemas.microsoft.com/office/drawing/2014/main" id="{38AFA21C-C385-CE79-D4E3-C137C0A2BE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200" y="4516438"/>
              <a:ext cx="4521200" cy="1092200"/>
              <a:chOff x="2578100" y="4516438"/>
              <a:chExt cx="4521200" cy="1092200"/>
            </a:xfrm>
          </p:grpSpPr>
          <p:graphicFrame>
            <p:nvGraphicFramePr>
              <p:cNvPr id="268" name="Object 27">
                <a:extLst>
                  <a:ext uri="{FF2B5EF4-FFF2-40B4-BE49-F238E27FC236}">
                    <a16:creationId xmlns:a16="http://schemas.microsoft.com/office/drawing/2014/main" id="{E4EE7362-84B5-AEAF-5F71-DE42CC1F878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965700" y="4516438"/>
              <a:ext cx="2133600" cy="1092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2121120" imgH="1078560" progId="Equation.3">
                      <p:embed/>
                    </p:oleObj>
                  </mc:Choice>
                  <mc:Fallback>
                    <p:oleObj name="Equation" r:id="rId2" imgW="2121120" imgH="1078560" progId="Equation.3">
                      <p:embed/>
                      <p:pic>
                        <p:nvPicPr>
                          <p:cNvPr id="268" name="Object 27">
                            <a:extLst>
                              <a:ext uri="{FF2B5EF4-FFF2-40B4-BE49-F238E27FC236}">
                                <a16:creationId xmlns:a16="http://schemas.microsoft.com/office/drawing/2014/main" id="{E4EE7362-84B5-AEAF-5F71-DE42CC1F878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65700" y="4516438"/>
                            <a:ext cx="2133600" cy="1092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=""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=""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69" name="TextBox 2">
                <a:extLst>
                  <a:ext uri="{FF2B5EF4-FFF2-40B4-BE49-F238E27FC236}">
                    <a16:creationId xmlns:a16="http://schemas.microsoft.com/office/drawing/2014/main" id="{2FE550CF-DF2A-FCD7-B816-18FCD00087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78100" y="4889500"/>
                <a:ext cx="2355850" cy="651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Arial" charset="0"/>
                    <a:cs typeface="Arial" charset="0"/>
                  </a:defRPr>
                </a:lvl9pPr>
              </a:lstStyle>
              <a:p>
                <a:pPr marL="0" marR="0" lvl="0" indent="0" algn="r" defTabSz="45720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Minimum number of workstations</a:t>
                </a:r>
              </a:p>
            </p:txBody>
          </p:sp>
        </p:grpSp>
        <p:sp>
          <p:nvSpPr>
            <p:cNvPr id="267" name="TextBox 5">
              <a:extLst>
                <a:ext uri="{FF2B5EF4-FFF2-40B4-BE49-F238E27FC236}">
                  <a16:creationId xmlns:a16="http://schemas.microsoft.com/office/drawing/2014/main" id="{972F0FC8-DAF6-C814-99A2-E0DB5D9852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4794" y="5607050"/>
              <a:ext cx="2444411" cy="7850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= 65 / 12</a:t>
              </a:r>
            </a:p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= 5.42, or 6 stations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858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1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1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1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09D8-57F6-7C59-196D-549322722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Arial" charset="0"/>
                <a:cs typeface="Arial" charset="0"/>
              </a:rPr>
              <a:t>Example 2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428B1-C750-28F4-FB68-3B09F128E80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D7F21-8559-8082-62D1-F818D9A16AF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48635-F597-409C-FEA7-9CEFE7AA32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52</a:t>
            </a:fld>
            <a:endParaRPr lang="en-US" dirty="0"/>
          </a:p>
        </p:txBody>
      </p:sp>
      <p:grpSp>
        <p:nvGrpSpPr>
          <p:cNvPr id="93" name="Group 72">
            <a:extLst>
              <a:ext uri="{FF2B5EF4-FFF2-40B4-BE49-F238E27FC236}">
                <a16:creationId xmlns:a16="http://schemas.microsoft.com/office/drawing/2014/main" id="{1589C14E-787C-AB43-3AB9-24FD0B3C4E29}"/>
              </a:ext>
            </a:extLst>
          </p:cNvPr>
          <p:cNvGrpSpPr>
            <a:grpSpLocks/>
          </p:cNvGrpSpPr>
          <p:nvPr/>
        </p:nvGrpSpPr>
        <p:grpSpPr bwMode="auto">
          <a:xfrm>
            <a:off x="1808795" y="2921593"/>
            <a:ext cx="890588" cy="2628900"/>
            <a:chOff x="550" y="2056"/>
            <a:chExt cx="561" cy="1656"/>
          </a:xfrm>
        </p:grpSpPr>
        <p:sp>
          <p:nvSpPr>
            <p:cNvPr id="94" name="Rectangle 73">
              <a:extLst>
                <a:ext uri="{FF2B5EF4-FFF2-40B4-BE49-F238E27FC236}">
                  <a16:creationId xmlns:a16="http://schemas.microsoft.com/office/drawing/2014/main" id="{0289858D-7FAA-AF3D-9D55-B96B8AC5A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056"/>
              <a:ext cx="520" cy="1656"/>
            </a:xfrm>
            <a:prstGeom prst="rect">
              <a:avLst/>
            </a:prstGeom>
            <a:solidFill>
              <a:srgbClr val="9FACC7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5" name="Rectangle 74">
              <a:extLst>
                <a:ext uri="{FF2B5EF4-FFF2-40B4-BE49-F238E27FC236}">
                  <a16:creationId xmlns:a16="http://schemas.microsoft.com/office/drawing/2014/main" id="{19DB8CFD-08DA-BE3A-7D0D-6C65BE0A8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" y="3366"/>
              <a:ext cx="561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45720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Station 1</a:t>
              </a:r>
            </a:p>
          </p:txBody>
        </p:sp>
      </p:grpSp>
      <p:grpSp>
        <p:nvGrpSpPr>
          <p:cNvPr id="96" name="Group 75">
            <a:extLst>
              <a:ext uri="{FF2B5EF4-FFF2-40B4-BE49-F238E27FC236}">
                <a16:creationId xmlns:a16="http://schemas.microsoft.com/office/drawing/2014/main" id="{D77A2CF0-0085-A50E-44E6-B9B0B4754039}"/>
              </a:ext>
            </a:extLst>
          </p:cNvPr>
          <p:cNvGrpSpPr>
            <a:grpSpLocks/>
          </p:cNvGrpSpPr>
          <p:nvPr/>
        </p:nvGrpSpPr>
        <p:grpSpPr bwMode="auto">
          <a:xfrm>
            <a:off x="2773995" y="2610443"/>
            <a:ext cx="890588" cy="1727200"/>
            <a:chOff x="1158" y="1860"/>
            <a:chExt cx="561" cy="1088"/>
          </a:xfrm>
        </p:grpSpPr>
        <p:sp>
          <p:nvSpPr>
            <p:cNvPr id="97" name="Rectangle 76">
              <a:extLst>
                <a:ext uri="{FF2B5EF4-FFF2-40B4-BE49-F238E27FC236}">
                  <a16:creationId xmlns:a16="http://schemas.microsoft.com/office/drawing/2014/main" id="{C5A5F398-6D4B-7890-2A11-ECE98E4D7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4" y="1860"/>
              <a:ext cx="520" cy="1088"/>
            </a:xfrm>
            <a:prstGeom prst="rect">
              <a:avLst/>
            </a:prstGeom>
            <a:solidFill>
              <a:srgbClr val="9FACC7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8" name="Rectangle 77">
              <a:extLst>
                <a:ext uri="{FF2B5EF4-FFF2-40B4-BE49-F238E27FC236}">
                  <a16:creationId xmlns:a16="http://schemas.microsoft.com/office/drawing/2014/main" id="{6C22540C-EE8F-D1A7-D4EC-D6DBC0593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" y="1888"/>
              <a:ext cx="561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45720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Station 2</a:t>
              </a:r>
            </a:p>
          </p:txBody>
        </p:sp>
      </p:grpSp>
      <p:grpSp>
        <p:nvGrpSpPr>
          <p:cNvPr id="99" name="Group 94">
            <a:extLst>
              <a:ext uri="{FF2B5EF4-FFF2-40B4-BE49-F238E27FC236}">
                <a16:creationId xmlns:a16="http://schemas.microsoft.com/office/drawing/2014/main" id="{C9126A6D-F73E-D4DB-8590-618F13F8CF6B}"/>
              </a:ext>
            </a:extLst>
          </p:cNvPr>
          <p:cNvGrpSpPr>
            <a:grpSpLocks/>
          </p:cNvGrpSpPr>
          <p:nvPr/>
        </p:nvGrpSpPr>
        <p:grpSpPr bwMode="auto">
          <a:xfrm>
            <a:off x="4263070" y="2604093"/>
            <a:ext cx="2616200" cy="2197100"/>
            <a:chOff x="2096" y="1856"/>
            <a:chExt cx="1648" cy="1384"/>
          </a:xfrm>
        </p:grpSpPr>
        <p:grpSp>
          <p:nvGrpSpPr>
            <p:cNvPr id="100" name="Group 84">
              <a:extLst>
                <a:ext uri="{FF2B5EF4-FFF2-40B4-BE49-F238E27FC236}">
                  <a16:creationId xmlns:a16="http://schemas.microsoft.com/office/drawing/2014/main" id="{559D6F63-5372-EC1C-8123-992256B5C2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6" y="1856"/>
              <a:ext cx="1648" cy="1384"/>
              <a:chOff x="2096" y="1856"/>
              <a:chExt cx="1648" cy="1384"/>
            </a:xfrm>
          </p:grpSpPr>
          <p:sp>
            <p:nvSpPr>
              <p:cNvPr id="102" name="Rectangle 85">
                <a:extLst>
                  <a:ext uri="{FF2B5EF4-FFF2-40B4-BE49-F238E27FC236}">
                    <a16:creationId xmlns:a16="http://schemas.microsoft.com/office/drawing/2014/main" id="{A8D3F954-9663-5A2D-7654-5CFB90A38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870"/>
                <a:ext cx="689" cy="194"/>
              </a:xfrm>
              <a:prstGeom prst="rect">
                <a:avLst/>
              </a:prstGeom>
              <a:solidFill>
                <a:srgbClr val="D33320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45720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Station 3</a:t>
                </a:r>
              </a:p>
            </p:txBody>
          </p:sp>
          <p:sp>
            <p:nvSpPr>
              <p:cNvPr id="103" name="Rectangle 86">
                <a:extLst>
                  <a:ext uri="{FF2B5EF4-FFF2-40B4-BE49-F238E27FC236}">
                    <a16:creationId xmlns:a16="http://schemas.microsoft.com/office/drawing/2014/main" id="{3EC1A5B4-FB75-3440-0353-1FFB094EE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6" y="1856"/>
                <a:ext cx="1648" cy="1384"/>
              </a:xfrm>
              <a:prstGeom prst="rect">
                <a:avLst/>
              </a:prstGeom>
              <a:solidFill>
                <a:srgbClr val="9FACC7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01" name="Text Box 92">
              <a:extLst>
                <a:ext uri="{FF2B5EF4-FFF2-40B4-BE49-F238E27FC236}">
                  <a16:creationId xmlns:a16="http://schemas.microsoft.com/office/drawing/2014/main" id="{5AED5023-F589-B9EB-8875-DB93A06AC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4" y="2990"/>
              <a:ext cx="62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Station 4</a:t>
              </a:r>
            </a:p>
          </p:txBody>
        </p:sp>
      </p:grpSp>
      <p:grpSp>
        <p:nvGrpSpPr>
          <p:cNvPr id="104" name="Group 78">
            <a:extLst>
              <a:ext uri="{FF2B5EF4-FFF2-40B4-BE49-F238E27FC236}">
                <a16:creationId xmlns:a16="http://schemas.microsoft.com/office/drawing/2014/main" id="{980B9A5F-1A77-4C33-67E6-B641D7EBAA27}"/>
              </a:ext>
            </a:extLst>
          </p:cNvPr>
          <p:cNvGrpSpPr>
            <a:grpSpLocks/>
          </p:cNvGrpSpPr>
          <p:nvPr/>
        </p:nvGrpSpPr>
        <p:grpSpPr bwMode="auto">
          <a:xfrm>
            <a:off x="3459795" y="4623393"/>
            <a:ext cx="890588" cy="1460500"/>
            <a:chOff x="1590" y="3128"/>
            <a:chExt cx="561" cy="920"/>
          </a:xfrm>
        </p:grpSpPr>
        <p:sp>
          <p:nvSpPr>
            <p:cNvPr id="105" name="Rectangle 79">
              <a:extLst>
                <a:ext uri="{FF2B5EF4-FFF2-40B4-BE49-F238E27FC236}">
                  <a16:creationId xmlns:a16="http://schemas.microsoft.com/office/drawing/2014/main" id="{02FF4C82-9837-1FAF-16F5-9B80812D3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4" y="3128"/>
              <a:ext cx="520" cy="920"/>
            </a:xfrm>
            <a:prstGeom prst="rect">
              <a:avLst/>
            </a:prstGeom>
            <a:solidFill>
              <a:srgbClr val="9FACC7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06" name="Rectangle 80">
              <a:extLst>
                <a:ext uri="{FF2B5EF4-FFF2-40B4-BE49-F238E27FC236}">
                  <a16:creationId xmlns:a16="http://schemas.microsoft.com/office/drawing/2014/main" id="{EA9C6FDC-AAFA-6A62-2CF1-54684AB69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0" y="3710"/>
              <a:ext cx="561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45720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Station 3</a:t>
              </a:r>
            </a:p>
          </p:txBody>
        </p:sp>
      </p:grpSp>
      <p:grpSp>
        <p:nvGrpSpPr>
          <p:cNvPr id="107" name="Group 81">
            <a:extLst>
              <a:ext uri="{FF2B5EF4-FFF2-40B4-BE49-F238E27FC236}">
                <a16:creationId xmlns:a16="http://schemas.microsoft.com/office/drawing/2014/main" id="{889CB7AC-BF43-A5C9-C1ED-250589B54904}"/>
              </a:ext>
            </a:extLst>
          </p:cNvPr>
          <p:cNvGrpSpPr>
            <a:grpSpLocks/>
          </p:cNvGrpSpPr>
          <p:nvPr/>
        </p:nvGrpSpPr>
        <p:grpSpPr bwMode="auto">
          <a:xfrm>
            <a:off x="6431595" y="4623393"/>
            <a:ext cx="890588" cy="1460500"/>
            <a:chOff x="3462" y="3128"/>
            <a:chExt cx="561" cy="920"/>
          </a:xfrm>
        </p:grpSpPr>
        <p:sp>
          <p:nvSpPr>
            <p:cNvPr id="108" name="Rectangle 82">
              <a:extLst>
                <a:ext uri="{FF2B5EF4-FFF2-40B4-BE49-F238E27FC236}">
                  <a16:creationId xmlns:a16="http://schemas.microsoft.com/office/drawing/2014/main" id="{94D66BD9-3556-FEB1-33B2-01F811B0B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6" y="3128"/>
              <a:ext cx="520" cy="920"/>
            </a:xfrm>
            <a:prstGeom prst="rect">
              <a:avLst/>
            </a:prstGeom>
            <a:solidFill>
              <a:srgbClr val="9FACC7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09" name="Rectangle 83">
              <a:extLst>
                <a:ext uri="{FF2B5EF4-FFF2-40B4-BE49-F238E27FC236}">
                  <a16:creationId xmlns:a16="http://schemas.microsoft.com/office/drawing/2014/main" id="{13047202-033B-7E28-5B4B-8F4FE38E3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2" y="3710"/>
              <a:ext cx="561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45720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Station 5</a:t>
              </a:r>
            </a:p>
          </p:txBody>
        </p:sp>
      </p:grpSp>
      <p:grpSp>
        <p:nvGrpSpPr>
          <p:cNvPr id="110" name="Group 95">
            <a:extLst>
              <a:ext uri="{FF2B5EF4-FFF2-40B4-BE49-F238E27FC236}">
                <a16:creationId xmlns:a16="http://schemas.microsoft.com/office/drawing/2014/main" id="{3DC6AF1B-BEA0-A3A1-51CE-3120F3FD8F76}"/>
              </a:ext>
            </a:extLst>
          </p:cNvPr>
          <p:cNvGrpSpPr>
            <a:grpSpLocks/>
          </p:cNvGrpSpPr>
          <p:nvPr/>
        </p:nvGrpSpPr>
        <p:grpSpPr bwMode="auto">
          <a:xfrm>
            <a:off x="7412670" y="3172418"/>
            <a:ext cx="1917700" cy="2149475"/>
            <a:chOff x="4080" y="2264"/>
            <a:chExt cx="1208" cy="1304"/>
          </a:xfrm>
        </p:grpSpPr>
        <p:grpSp>
          <p:nvGrpSpPr>
            <p:cNvPr id="111" name="Group 87">
              <a:extLst>
                <a:ext uri="{FF2B5EF4-FFF2-40B4-BE49-F238E27FC236}">
                  <a16:creationId xmlns:a16="http://schemas.microsoft.com/office/drawing/2014/main" id="{CDDC58E8-0645-6DF9-2FE4-5EFB9943D4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0" y="2264"/>
              <a:ext cx="1208" cy="1304"/>
              <a:chOff x="4080" y="2264"/>
              <a:chExt cx="1208" cy="1304"/>
            </a:xfrm>
          </p:grpSpPr>
          <p:sp>
            <p:nvSpPr>
              <p:cNvPr id="113" name="Rectangle 88">
                <a:extLst>
                  <a:ext uri="{FF2B5EF4-FFF2-40B4-BE49-F238E27FC236}">
                    <a16:creationId xmlns:a16="http://schemas.microsoft.com/office/drawing/2014/main" id="{179AFC19-A5AE-A217-D118-93B75C09C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4" y="3302"/>
                <a:ext cx="665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ctr" defTabSz="45720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Station 6</a:t>
                </a:r>
              </a:p>
            </p:txBody>
          </p:sp>
          <p:sp>
            <p:nvSpPr>
              <p:cNvPr id="114" name="Rectangle 89">
                <a:extLst>
                  <a:ext uri="{FF2B5EF4-FFF2-40B4-BE49-F238E27FC236}">
                    <a16:creationId xmlns:a16="http://schemas.microsoft.com/office/drawing/2014/main" id="{F88A7F39-CD8D-D99E-54AF-C92C650D34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264"/>
                <a:ext cx="1208" cy="1304"/>
              </a:xfrm>
              <a:prstGeom prst="rect">
                <a:avLst/>
              </a:prstGeom>
              <a:solidFill>
                <a:srgbClr val="9FACC7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112" name="Text Box 93">
              <a:extLst>
                <a:ext uri="{FF2B5EF4-FFF2-40B4-BE49-F238E27FC236}">
                  <a16:creationId xmlns:a16="http://schemas.microsoft.com/office/drawing/2014/main" id="{DE92CE78-9673-45F7-C0DF-E7067D365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2" y="3342"/>
              <a:ext cx="62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Station 6</a:t>
              </a:r>
            </a:p>
          </p:txBody>
        </p:sp>
      </p:grpSp>
      <p:grpSp>
        <p:nvGrpSpPr>
          <p:cNvPr id="115" name="Group 16">
            <a:extLst>
              <a:ext uri="{FF2B5EF4-FFF2-40B4-BE49-F238E27FC236}">
                <a16:creationId xmlns:a16="http://schemas.microsoft.com/office/drawing/2014/main" id="{61300A5A-49F2-9DE9-83BE-784F2F828E09}"/>
              </a:ext>
            </a:extLst>
          </p:cNvPr>
          <p:cNvGrpSpPr>
            <a:grpSpLocks/>
          </p:cNvGrpSpPr>
          <p:nvPr/>
        </p:nvGrpSpPr>
        <p:grpSpPr bwMode="auto">
          <a:xfrm>
            <a:off x="2002470" y="2640606"/>
            <a:ext cx="7188200" cy="2922587"/>
            <a:chOff x="672" y="1879"/>
            <a:chExt cx="4528" cy="1841"/>
          </a:xfrm>
        </p:grpSpPr>
        <p:grpSp>
          <p:nvGrpSpPr>
            <p:cNvPr id="116" name="Group 17">
              <a:extLst>
                <a:ext uri="{FF2B5EF4-FFF2-40B4-BE49-F238E27FC236}">
                  <a16:creationId xmlns:a16="http://schemas.microsoft.com/office/drawing/2014/main" id="{04DEC1B1-C791-7736-12DF-53B84C31F6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2096"/>
              <a:ext cx="4528" cy="1624"/>
              <a:chOff x="672" y="2096"/>
              <a:chExt cx="4528" cy="1624"/>
            </a:xfrm>
          </p:grpSpPr>
          <p:grpSp>
            <p:nvGrpSpPr>
              <p:cNvPr id="127" name="Group 18">
                <a:extLst>
                  <a:ext uri="{FF2B5EF4-FFF2-40B4-BE49-F238E27FC236}">
                    <a16:creationId xmlns:a16="http://schemas.microsoft.com/office/drawing/2014/main" id="{7A9E5122-A1FD-6E6A-AC66-DA335641CA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36" y="2672"/>
                <a:ext cx="1364" cy="856"/>
                <a:chOff x="3852" y="2632"/>
                <a:chExt cx="1364" cy="856"/>
              </a:xfrm>
            </p:grpSpPr>
            <p:sp>
              <p:nvSpPr>
                <p:cNvPr id="166" name="Line 19">
                  <a:extLst>
                    <a:ext uri="{FF2B5EF4-FFF2-40B4-BE49-F238E27FC236}">
                      <a16:creationId xmlns:a16="http://schemas.microsoft.com/office/drawing/2014/main" id="{6B20E811-75D5-1CC6-A3BF-E39BE6DD3D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52" y="3056"/>
                  <a:ext cx="1032" cy="432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67" name="Line 20">
                  <a:extLst>
                    <a:ext uri="{FF2B5EF4-FFF2-40B4-BE49-F238E27FC236}">
                      <a16:creationId xmlns:a16="http://schemas.microsoft.com/office/drawing/2014/main" id="{221E66F1-A2FB-66F2-386B-F4D4F70A5F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88" y="2632"/>
                  <a:ext cx="496" cy="272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168" name="Group 21">
                  <a:extLst>
                    <a:ext uri="{FF2B5EF4-FFF2-40B4-BE49-F238E27FC236}">
                      <a16:creationId xmlns:a16="http://schemas.microsoft.com/office/drawing/2014/main" id="{5B876BBF-FC1D-981C-6403-E9EB6A450B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80" y="2832"/>
                  <a:ext cx="336" cy="336"/>
                  <a:chOff x="856" y="2424"/>
                  <a:chExt cx="336" cy="336"/>
                </a:xfrm>
              </p:grpSpPr>
              <p:sp>
                <p:nvSpPr>
                  <p:cNvPr id="169" name="Oval 22">
                    <a:extLst>
                      <a:ext uri="{FF2B5EF4-FFF2-40B4-BE49-F238E27FC236}">
                        <a16:creationId xmlns:a16="http://schemas.microsoft.com/office/drawing/2014/main" id="{FD6D2E3D-3D11-C46C-FB93-D352BDB3A6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56" y="2424"/>
                    <a:ext cx="336" cy="33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170" name="Rectangle 23">
                    <a:extLst>
                      <a:ext uri="{FF2B5EF4-FFF2-40B4-BE49-F238E27FC236}">
                        <a16:creationId xmlns:a16="http://schemas.microsoft.com/office/drawing/2014/main" id="{E35324D9-9814-3517-7320-6433A1AE1E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36" y="2451"/>
                    <a:ext cx="160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I</a:t>
                    </a:r>
                  </a:p>
                </p:txBody>
              </p:sp>
            </p:grpSp>
          </p:grpSp>
          <p:grpSp>
            <p:nvGrpSpPr>
              <p:cNvPr id="128" name="Group 24">
                <a:extLst>
                  <a:ext uri="{FF2B5EF4-FFF2-40B4-BE49-F238E27FC236}">
                    <a16:creationId xmlns:a16="http://schemas.microsoft.com/office/drawing/2014/main" id="{FD3E0CB3-98BD-8375-2389-D80D9CF25FA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60" y="2484"/>
                <a:ext cx="936" cy="336"/>
                <a:chOff x="3576" y="2444"/>
                <a:chExt cx="936" cy="336"/>
              </a:xfrm>
            </p:grpSpPr>
            <p:grpSp>
              <p:nvGrpSpPr>
                <p:cNvPr id="162" name="Group 25">
                  <a:extLst>
                    <a:ext uri="{FF2B5EF4-FFF2-40B4-BE49-F238E27FC236}">
                      <a16:creationId xmlns:a16="http://schemas.microsoft.com/office/drawing/2014/main" id="{176D4983-7924-4419-AA83-B64C8FD6374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76" y="2444"/>
                  <a:ext cx="336" cy="336"/>
                  <a:chOff x="856" y="2424"/>
                  <a:chExt cx="336" cy="336"/>
                </a:xfrm>
              </p:grpSpPr>
              <p:sp>
                <p:nvSpPr>
                  <p:cNvPr id="164" name="Oval 26">
                    <a:extLst>
                      <a:ext uri="{FF2B5EF4-FFF2-40B4-BE49-F238E27FC236}">
                        <a16:creationId xmlns:a16="http://schemas.microsoft.com/office/drawing/2014/main" id="{0C10A124-F8DF-F5B8-5B7B-0C8B5EF682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56" y="2424"/>
                    <a:ext cx="336" cy="33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165" name="Rectangle 27">
                    <a:extLst>
                      <a:ext uri="{FF2B5EF4-FFF2-40B4-BE49-F238E27FC236}">
                        <a16:creationId xmlns:a16="http://schemas.microsoft.com/office/drawing/2014/main" id="{4210F76B-1063-D85A-51C8-E3865C60CA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96" y="2451"/>
                    <a:ext cx="240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G</a:t>
                    </a:r>
                  </a:p>
                </p:txBody>
              </p:sp>
            </p:grpSp>
            <p:sp>
              <p:nvSpPr>
                <p:cNvPr id="163" name="Line 28">
                  <a:extLst>
                    <a:ext uri="{FF2B5EF4-FFF2-40B4-BE49-F238E27FC236}">
                      <a16:creationId xmlns:a16="http://schemas.microsoft.com/office/drawing/2014/main" id="{CD1C5FD7-7ECD-FE2A-F6C6-BCB4FD3168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76" y="2608"/>
                  <a:ext cx="592" cy="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grpSp>
            <p:nvGrpSpPr>
              <p:cNvPr id="129" name="Group 29">
                <a:extLst>
                  <a:ext uri="{FF2B5EF4-FFF2-40B4-BE49-F238E27FC236}">
                    <a16:creationId xmlns:a16="http://schemas.microsoft.com/office/drawing/2014/main" id="{01D6F0B6-FA24-A93F-3521-48A7087EF3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92" y="2264"/>
                <a:ext cx="1172" cy="704"/>
                <a:chOff x="2508" y="2224"/>
                <a:chExt cx="1172" cy="704"/>
              </a:xfrm>
            </p:grpSpPr>
            <p:sp>
              <p:nvSpPr>
                <p:cNvPr id="157" name="Line 30">
                  <a:extLst>
                    <a:ext uri="{FF2B5EF4-FFF2-40B4-BE49-F238E27FC236}">
                      <a16:creationId xmlns:a16="http://schemas.microsoft.com/office/drawing/2014/main" id="{51621EEC-E139-57FB-C304-637AF5C81C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612" y="2672"/>
                  <a:ext cx="736" cy="256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58" name="Line 31">
                  <a:extLst>
                    <a:ext uri="{FF2B5EF4-FFF2-40B4-BE49-F238E27FC236}">
                      <a16:creationId xmlns:a16="http://schemas.microsoft.com/office/drawing/2014/main" id="{C333E6B4-D8E6-B1BC-3EC8-8612CFD558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08" y="2224"/>
                  <a:ext cx="824" cy="312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159" name="Group 32">
                  <a:extLst>
                    <a:ext uri="{FF2B5EF4-FFF2-40B4-BE49-F238E27FC236}">
                      <a16:creationId xmlns:a16="http://schemas.microsoft.com/office/drawing/2014/main" id="{F23A9348-3356-9BBF-8ABC-70680CC0BF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344" y="2444"/>
                  <a:ext cx="336" cy="336"/>
                  <a:chOff x="3344" y="2444"/>
                  <a:chExt cx="336" cy="336"/>
                </a:xfrm>
              </p:grpSpPr>
              <p:sp>
                <p:nvSpPr>
                  <p:cNvPr id="160" name="Oval 33">
                    <a:extLst>
                      <a:ext uri="{FF2B5EF4-FFF2-40B4-BE49-F238E27FC236}">
                        <a16:creationId xmlns:a16="http://schemas.microsoft.com/office/drawing/2014/main" id="{059FFA99-A6BB-4975-BC28-E2A897D5B9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44" y="2444"/>
                    <a:ext cx="336" cy="33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161" name="Rectangle 34">
                    <a:extLst>
                      <a:ext uri="{FF2B5EF4-FFF2-40B4-BE49-F238E27FC236}">
                        <a16:creationId xmlns:a16="http://schemas.microsoft.com/office/drawing/2014/main" id="{432BD0F5-A36E-A0E5-64F3-952F3ADE9B0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97" y="2471"/>
                    <a:ext cx="214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F</a:t>
                    </a:r>
                  </a:p>
                </p:txBody>
              </p:sp>
            </p:grpSp>
          </p:grpSp>
          <p:grpSp>
            <p:nvGrpSpPr>
              <p:cNvPr id="130" name="Group 35">
                <a:extLst>
                  <a:ext uri="{FF2B5EF4-FFF2-40B4-BE49-F238E27FC236}">
                    <a16:creationId xmlns:a16="http://schemas.microsoft.com/office/drawing/2014/main" id="{974A7901-DE38-1945-485C-75E1AE7D4E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92" y="3384"/>
                <a:ext cx="1952" cy="336"/>
                <a:chOff x="2008" y="3344"/>
                <a:chExt cx="1952" cy="336"/>
              </a:xfrm>
            </p:grpSpPr>
            <p:grpSp>
              <p:nvGrpSpPr>
                <p:cNvPr id="153" name="Group 36">
                  <a:extLst>
                    <a:ext uri="{FF2B5EF4-FFF2-40B4-BE49-F238E27FC236}">
                      <a16:creationId xmlns:a16="http://schemas.microsoft.com/office/drawing/2014/main" id="{E7385351-14FB-87A8-A0C5-85D54DA4378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24" y="3344"/>
                  <a:ext cx="336" cy="336"/>
                  <a:chOff x="856" y="2424"/>
                  <a:chExt cx="336" cy="336"/>
                </a:xfrm>
              </p:grpSpPr>
              <p:sp>
                <p:nvSpPr>
                  <p:cNvPr id="155" name="Oval 37">
                    <a:extLst>
                      <a:ext uri="{FF2B5EF4-FFF2-40B4-BE49-F238E27FC236}">
                        <a16:creationId xmlns:a16="http://schemas.microsoft.com/office/drawing/2014/main" id="{1B3B8BDD-1116-ECDB-27DB-FC3E54D321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56" y="2424"/>
                    <a:ext cx="336" cy="33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156" name="Rectangle 38">
                    <a:extLst>
                      <a:ext uri="{FF2B5EF4-FFF2-40B4-BE49-F238E27FC236}">
                        <a16:creationId xmlns:a16="http://schemas.microsoft.com/office/drawing/2014/main" id="{63D962E9-ED67-BF1D-DD24-8A1D6B1E60A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" y="2451"/>
                    <a:ext cx="23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H</a:t>
                    </a:r>
                  </a:p>
                </p:txBody>
              </p:sp>
            </p:grpSp>
            <p:sp>
              <p:nvSpPr>
                <p:cNvPr id="154" name="Line 39">
                  <a:extLst>
                    <a:ext uri="{FF2B5EF4-FFF2-40B4-BE49-F238E27FC236}">
                      <a16:creationId xmlns:a16="http://schemas.microsoft.com/office/drawing/2014/main" id="{AB276381-D56A-889E-FC51-9636297D47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8" y="3512"/>
                  <a:ext cx="1608" cy="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grpSp>
            <p:nvGrpSpPr>
              <p:cNvPr id="131" name="Group 40">
                <a:extLst>
                  <a:ext uri="{FF2B5EF4-FFF2-40B4-BE49-F238E27FC236}">
                    <a16:creationId xmlns:a16="http://schemas.microsoft.com/office/drawing/2014/main" id="{1FB794D1-38B2-7BA1-887C-9B36C3FB73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" y="2096"/>
                <a:ext cx="1140" cy="1072"/>
                <a:chOff x="1516" y="2056"/>
                <a:chExt cx="1140" cy="1072"/>
              </a:xfrm>
            </p:grpSpPr>
            <p:sp>
              <p:nvSpPr>
                <p:cNvPr id="144" name="Line 41">
                  <a:extLst>
                    <a:ext uri="{FF2B5EF4-FFF2-40B4-BE49-F238E27FC236}">
                      <a16:creationId xmlns:a16="http://schemas.microsoft.com/office/drawing/2014/main" id="{CE0E2EE9-E205-A68D-EED8-B085B742E1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8" y="2640"/>
                  <a:ext cx="792" cy="256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45" name="Line 42">
                  <a:extLst>
                    <a:ext uri="{FF2B5EF4-FFF2-40B4-BE49-F238E27FC236}">
                      <a16:creationId xmlns:a16="http://schemas.microsoft.com/office/drawing/2014/main" id="{9847DBBE-1069-486B-90CD-DDF76DD8BC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516" y="2272"/>
                  <a:ext cx="792" cy="312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146" name="Group 43">
                  <a:extLst>
                    <a:ext uri="{FF2B5EF4-FFF2-40B4-BE49-F238E27FC236}">
                      <a16:creationId xmlns:a16="http://schemas.microsoft.com/office/drawing/2014/main" id="{3B8C11B3-EC93-EFB1-F21A-1F2203098B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20" y="2056"/>
                  <a:ext cx="336" cy="1072"/>
                  <a:chOff x="2244" y="2056"/>
                  <a:chExt cx="336" cy="1072"/>
                </a:xfrm>
              </p:grpSpPr>
              <p:grpSp>
                <p:nvGrpSpPr>
                  <p:cNvPr id="147" name="Group 44">
                    <a:extLst>
                      <a:ext uri="{FF2B5EF4-FFF2-40B4-BE49-F238E27FC236}">
                        <a16:creationId xmlns:a16="http://schemas.microsoft.com/office/drawing/2014/main" id="{75E3B9FD-44E8-2CFA-50EE-77745FDCD3B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244" y="2056"/>
                    <a:ext cx="336" cy="336"/>
                    <a:chOff x="856" y="2424"/>
                    <a:chExt cx="336" cy="336"/>
                  </a:xfrm>
                </p:grpSpPr>
                <p:sp>
                  <p:nvSpPr>
                    <p:cNvPr id="151" name="Oval 45">
                      <a:extLst>
                        <a:ext uri="{FF2B5EF4-FFF2-40B4-BE49-F238E27FC236}">
                          <a16:creationId xmlns:a16="http://schemas.microsoft.com/office/drawing/2014/main" id="{3AD6EA86-1D36-B19E-DF49-9F4CBF1CA90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56" y="2424"/>
                      <a:ext cx="336" cy="336"/>
                    </a:xfrm>
                    <a:prstGeom prst="ellipse">
                      <a:avLst/>
                    </a:prstGeom>
                    <a:solidFill>
                      <a:srgbClr val="F7D7AC"/>
                    </a:solidFill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 marL="0" marR="0" lvl="0" indent="0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152" name="Rectangle 46">
                      <a:extLst>
                        <a:ext uri="{FF2B5EF4-FFF2-40B4-BE49-F238E27FC236}">
                          <a16:creationId xmlns:a16="http://schemas.microsoft.com/office/drawing/2014/main" id="{A8E5B3AC-76EB-885A-5FAA-E286FE157DE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0" y="2451"/>
                      <a:ext cx="232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algn="ctr" defTabSz="4572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C</a:t>
                      </a:r>
                    </a:p>
                  </p:txBody>
                </p:sp>
              </p:grpSp>
              <p:grpSp>
                <p:nvGrpSpPr>
                  <p:cNvPr id="148" name="Group 47">
                    <a:extLst>
                      <a:ext uri="{FF2B5EF4-FFF2-40B4-BE49-F238E27FC236}">
                        <a16:creationId xmlns:a16="http://schemas.microsoft.com/office/drawing/2014/main" id="{3FC57471-6BAD-5DA5-04EE-D99563C6010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244" y="2792"/>
                    <a:ext cx="336" cy="336"/>
                    <a:chOff x="856" y="2424"/>
                    <a:chExt cx="336" cy="336"/>
                  </a:xfrm>
                </p:grpSpPr>
                <p:sp>
                  <p:nvSpPr>
                    <p:cNvPr id="149" name="Oval 48">
                      <a:extLst>
                        <a:ext uri="{FF2B5EF4-FFF2-40B4-BE49-F238E27FC236}">
                          <a16:creationId xmlns:a16="http://schemas.microsoft.com/office/drawing/2014/main" id="{DB157113-E552-2382-6A28-73735BC1B33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56" y="2424"/>
                      <a:ext cx="336" cy="336"/>
                    </a:xfrm>
                    <a:prstGeom prst="ellipse">
                      <a:avLst/>
                    </a:prstGeom>
                    <a:solidFill>
                      <a:srgbClr val="F7D7AC"/>
                    </a:solidFill>
                    <a:ln w="2857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ffectLst/>
                  </p:spPr>
                  <p:txBody>
                    <a:bodyPr wrap="none" anchor="ctr"/>
                    <a:lstStyle/>
                    <a:p>
                      <a:pPr marL="0" marR="0" lvl="0" indent="0" defTabSz="4572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/>
                        <a:ea typeface="ＭＳ Ｐゴシック" charset="0"/>
                        <a:cs typeface="Arial" charset="0"/>
                      </a:endParaRPr>
                    </a:p>
                  </p:txBody>
                </p:sp>
                <p:sp>
                  <p:nvSpPr>
                    <p:cNvPr id="150" name="Rectangle 49">
                      <a:extLst>
                        <a:ext uri="{FF2B5EF4-FFF2-40B4-BE49-F238E27FC236}">
                          <a16:creationId xmlns:a16="http://schemas.microsoft.com/office/drawing/2014/main" id="{B9080F00-8707-6612-FDEA-85CE8AF18C9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900" y="2451"/>
                      <a:ext cx="232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=""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=""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>
                      <a:spAutoFit/>
                    </a:bodyPr>
                    <a:lstStyle/>
                    <a:p>
                      <a:pPr marL="0" marR="0" lvl="0" indent="0" algn="ctr" defTabSz="45720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Arial" charset="0"/>
                          <a:ea typeface="ＭＳ Ｐゴシック" charset="0"/>
                          <a:cs typeface="Arial" charset="0"/>
                        </a:rPr>
                        <a:t>D</a:t>
                      </a:r>
                    </a:p>
                  </p:txBody>
                </p:sp>
              </p:grpSp>
            </p:grpSp>
          </p:grpSp>
          <p:grpSp>
            <p:nvGrpSpPr>
              <p:cNvPr id="132" name="Group 50">
                <a:extLst>
                  <a:ext uri="{FF2B5EF4-FFF2-40B4-BE49-F238E27FC236}">
                    <a16:creationId xmlns:a16="http://schemas.microsoft.com/office/drawing/2014/main" id="{C8BF0371-28F1-4B7B-90EB-D3B472BB9A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60" y="2484"/>
                <a:ext cx="1196" cy="1236"/>
                <a:chOff x="876" y="2444"/>
                <a:chExt cx="1196" cy="1236"/>
              </a:xfrm>
            </p:grpSpPr>
            <p:sp>
              <p:nvSpPr>
                <p:cNvPr id="136" name="Line 51">
                  <a:extLst>
                    <a:ext uri="{FF2B5EF4-FFF2-40B4-BE49-F238E27FC236}">
                      <a16:creationId xmlns:a16="http://schemas.microsoft.com/office/drawing/2014/main" id="{3ABF8D4A-9E2F-05F1-2F1B-477C7F8977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20" y="2608"/>
                  <a:ext cx="368" cy="0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37" name="Line 52">
                  <a:extLst>
                    <a:ext uri="{FF2B5EF4-FFF2-40B4-BE49-F238E27FC236}">
                      <a16:creationId xmlns:a16="http://schemas.microsoft.com/office/drawing/2014/main" id="{2EC03249-A75A-7FC3-8D8B-1044BBC66D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76" y="2632"/>
                  <a:ext cx="880" cy="776"/>
                </a:xfrm>
                <a:prstGeom prst="line">
                  <a:avLst/>
                </a:prstGeom>
                <a:noFill/>
                <a:ln w="57150">
                  <a:solidFill>
                    <a:srgbClr val="000000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grpSp>
              <p:nvGrpSpPr>
                <p:cNvPr id="138" name="Group 53">
                  <a:extLst>
                    <a:ext uri="{FF2B5EF4-FFF2-40B4-BE49-F238E27FC236}">
                      <a16:creationId xmlns:a16="http://schemas.microsoft.com/office/drawing/2014/main" id="{A09BC51C-818D-EFB6-80B7-861E3F99B8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96" y="2444"/>
                  <a:ext cx="336" cy="336"/>
                  <a:chOff x="856" y="2424"/>
                  <a:chExt cx="336" cy="336"/>
                </a:xfrm>
              </p:grpSpPr>
              <p:sp>
                <p:nvSpPr>
                  <p:cNvPr id="142" name="Oval 54">
                    <a:extLst>
                      <a:ext uri="{FF2B5EF4-FFF2-40B4-BE49-F238E27FC236}">
                        <a16:creationId xmlns:a16="http://schemas.microsoft.com/office/drawing/2014/main" id="{0423D07A-7E86-BF1E-302A-1C9303E314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56" y="2424"/>
                    <a:ext cx="336" cy="33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143" name="Rectangle 55">
                    <a:extLst>
                      <a:ext uri="{FF2B5EF4-FFF2-40B4-BE49-F238E27FC236}">
                        <a16:creationId xmlns:a16="http://schemas.microsoft.com/office/drawing/2014/main" id="{DFB22D10-2A6C-8F89-11F5-E35A289A66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0" y="2451"/>
                    <a:ext cx="23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B</a:t>
                    </a:r>
                  </a:p>
                </p:txBody>
              </p:sp>
            </p:grpSp>
            <p:grpSp>
              <p:nvGrpSpPr>
                <p:cNvPr id="139" name="Group 56">
                  <a:extLst>
                    <a:ext uri="{FF2B5EF4-FFF2-40B4-BE49-F238E27FC236}">
                      <a16:creationId xmlns:a16="http://schemas.microsoft.com/office/drawing/2014/main" id="{04BA285D-0DC9-93F9-7D9C-971ACBECE5C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36" y="3344"/>
                  <a:ext cx="336" cy="336"/>
                  <a:chOff x="856" y="2424"/>
                  <a:chExt cx="336" cy="336"/>
                </a:xfrm>
              </p:grpSpPr>
              <p:sp>
                <p:nvSpPr>
                  <p:cNvPr id="140" name="Oval 57">
                    <a:extLst>
                      <a:ext uri="{FF2B5EF4-FFF2-40B4-BE49-F238E27FC236}">
                        <a16:creationId xmlns:a16="http://schemas.microsoft.com/office/drawing/2014/main" id="{C9784CDB-7DEA-8A7A-7985-0C9D972F26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56" y="2424"/>
                    <a:ext cx="336" cy="336"/>
                  </a:xfrm>
                  <a:prstGeom prst="ellipse">
                    <a:avLst/>
                  </a:prstGeom>
                  <a:solidFill>
                    <a:srgbClr val="F7D7AC"/>
                  </a:solidFill>
                  <a:ln w="2857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0" marR="0" lvl="0" indent="0" defTabSz="4572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Calibri"/>
                      <a:ea typeface="ＭＳ Ｐゴシック" charset="0"/>
                      <a:cs typeface="Arial" charset="0"/>
                    </a:endParaRPr>
                  </a:p>
                </p:txBody>
              </p:sp>
              <p:sp>
                <p:nvSpPr>
                  <p:cNvPr id="141" name="Rectangle 58">
                    <a:extLst>
                      <a:ext uri="{FF2B5EF4-FFF2-40B4-BE49-F238E27FC236}">
                        <a16:creationId xmlns:a16="http://schemas.microsoft.com/office/drawing/2014/main" id="{F3366345-B032-8E6D-1F88-D2B8AA0807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04" y="2451"/>
                    <a:ext cx="223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ctr" defTabSz="45720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Arial" charset="0"/>
                      </a:rPr>
                      <a:t>E</a:t>
                    </a:r>
                  </a:p>
                </p:txBody>
              </p:sp>
            </p:grpSp>
          </p:grpSp>
          <p:grpSp>
            <p:nvGrpSpPr>
              <p:cNvPr id="133" name="Group 59">
                <a:extLst>
                  <a:ext uri="{FF2B5EF4-FFF2-40B4-BE49-F238E27FC236}">
                    <a16:creationId xmlns:a16="http://schemas.microsoft.com/office/drawing/2014/main" id="{E772EFAD-BF47-554F-A8F9-4C6B0BD19A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2484"/>
                <a:ext cx="336" cy="336"/>
                <a:chOff x="856" y="2424"/>
                <a:chExt cx="336" cy="336"/>
              </a:xfrm>
            </p:grpSpPr>
            <p:sp>
              <p:nvSpPr>
                <p:cNvPr id="134" name="Oval 60">
                  <a:extLst>
                    <a:ext uri="{FF2B5EF4-FFF2-40B4-BE49-F238E27FC236}">
                      <a16:creationId xmlns:a16="http://schemas.microsoft.com/office/drawing/2014/main" id="{7652EFEF-E6FB-D099-2C0F-40F75046CC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56" y="2424"/>
                  <a:ext cx="336" cy="336"/>
                </a:xfrm>
                <a:prstGeom prst="ellipse">
                  <a:avLst/>
                </a:prstGeom>
                <a:solidFill>
                  <a:srgbClr val="F7D7AC"/>
                </a:solidFill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35" name="Rectangle 61">
                  <a:extLst>
                    <a:ext uri="{FF2B5EF4-FFF2-40B4-BE49-F238E27FC236}">
                      <a16:creationId xmlns:a16="http://schemas.microsoft.com/office/drawing/2014/main" id="{040F131E-D8B4-1952-B083-6991440C6F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7" y="2451"/>
                  <a:ext cx="237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A</a:t>
                  </a:r>
                </a:p>
              </p:txBody>
            </p:sp>
          </p:grpSp>
        </p:grpSp>
        <p:grpSp>
          <p:nvGrpSpPr>
            <p:cNvPr id="117" name="Group 62">
              <a:extLst>
                <a:ext uri="{FF2B5EF4-FFF2-40B4-BE49-F238E27FC236}">
                  <a16:creationId xmlns:a16="http://schemas.microsoft.com/office/drawing/2014/main" id="{EF56C559-8B88-445C-3E49-57BC5683E6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4" y="1879"/>
              <a:ext cx="4428" cy="1521"/>
              <a:chOff x="694" y="1879"/>
              <a:chExt cx="4428" cy="1521"/>
            </a:xfrm>
          </p:grpSpPr>
          <p:sp>
            <p:nvSpPr>
              <p:cNvPr id="118" name="Rectangle 63">
                <a:extLst>
                  <a:ext uri="{FF2B5EF4-FFF2-40B4-BE49-F238E27FC236}">
                    <a16:creationId xmlns:a16="http://schemas.microsoft.com/office/drawing/2014/main" id="{7301ADE8-EBD8-A11C-AEE7-77C07369C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4" y="2272"/>
                <a:ext cx="2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10</a:t>
                </a:r>
              </a:p>
            </p:txBody>
          </p:sp>
          <p:sp>
            <p:nvSpPr>
              <p:cNvPr id="119" name="Rectangle 64">
                <a:extLst>
                  <a:ext uri="{FF2B5EF4-FFF2-40B4-BE49-F238E27FC236}">
                    <a16:creationId xmlns:a16="http://schemas.microsoft.com/office/drawing/2014/main" id="{CA0E1BE5-9DF1-61EA-1BC2-8F44E2334F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0" y="2272"/>
                <a:ext cx="2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11</a:t>
                </a:r>
              </a:p>
            </p:txBody>
          </p:sp>
          <p:sp>
            <p:nvSpPr>
              <p:cNvPr id="120" name="Rectangle 65">
                <a:extLst>
                  <a:ext uri="{FF2B5EF4-FFF2-40B4-BE49-F238E27FC236}">
                    <a16:creationId xmlns:a16="http://schemas.microsoft.com/office/drawing/2014/main" id="{79606D2E-8BFA-148C-F6ED-B6C9A5D920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3167"/>
                <a:ext cx="26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11</a:t>
                </a:r>
              </a:p>
            </p:txBody>
          </p:sp>
          <p:sp>
            <p:nvSpPr>
              <p:cNvPr id="121" name="Rectangle 66">
                <a:extLst>
                  <a:ext uri="{FF2B5EF4-FFF2-40B4-BE49-F238E27FC236}">
                    <a16:creationId xmlns:a16="http://schemas.microsoft.com/office/drawing/2014/main" id="{617A638B-900D-1CF7-D681-2AD3C163CF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4" y="1879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5</a:t>
                </a:r>
              </a:p>
            </p:txBody>
          </p:sp>
          <p:sp>
            <p:nvSpPr>
              <p:cNvPr id="122" name="Rectangle 67">
                <a:extLst>
                  <a:ext uri="{FF2B5EF4-FFF2-40B4-BE49-F238E27FC236}">
                    <a16:creationId xmlns:a16="http://schemas.microsoft.com/office/drawing/2014/main" id="{9D540FD6-98BA-B394-93F2-273D99ED7A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4" y="2615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4</a:t>
                </a:r>
              </a:p>
            </p:txBody>
          </p:sp>
          <p:sp>
            <p:nvSpPr>
              <p:cNvPr id="123" name="Rectangle 68">
                <a:extLst>
                  <a:ext uri="{FF2B5EF4-FFF2-40B4-BE49-F238E27FC236}">
                    <a16:creationId xmlns:a16="http://schemas.microsoft.com/office/drawing/2014/main" id="{C17BE6AD-C9DB-0B8B-E09C-DB5757D90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8" y="2272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3</a:t>
                </a:r>
              </a:p>
            </p:txBody>
          </p:sp>
          <p:sp>
            <p:nvSpPr>
              <p:cNvPr id="124" name="Rectangle 69">
                <a:extLst>
                  <a:ext uri="{FF2B5EF4-FFF2-40B4-BE49-F238E27FC236}">
                    <a16:creationId xmlns:a16="http://schemas.microsoft.com/office/drawing/2014/main" id="{7BD72F82-9CC7-8691-1001-C041011382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8" y="2272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7</a:t>
                </a:r>
              </a:p>
            </p:txBody>
          </p:sp>
          <p:sp>
            <p:nvSpPr>
              <p:cNvPr id="125" name="Rectangle 70">
                <a:extLst>
                  <a:ext uri="{FF2B5EF4-FFF2-40B4-BE49-F238E27FC236}">
                    <a16:creationId xmlns:a16="http://schemas.microsoft.com/office/drawing/2014/main" id="{E7BC299C-B74A-4F41-2ED5-75C30D6B6E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8" y="3167"/>
                <a:ext cx="2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11</a:t>
                </a:r>
              </a:p>
            </p:txBody>
          </p:sp>
          <p:sp>
            <p:nvSpPr>
              <p:cNvPr id="126" name="Rectangle 71">
                <a:extLst>
                  <a:ext uri="{FF2B5EF4-FFF2-40B4-BE49-F238E27FC236}">
                    <a16:creationId xmlns:a16="http://schemas.microsoft.com/office/drawing/2014/main" id="{3457242C-E2BD-3544-8ABE-46CA37E979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6" y="2623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3</a:t>
                </a:r>
              </a:p>
            </p:txBody>
          </p:sp>
        </p:grpSp>
      </p:grpSp>
      <p:grpSp>
        <p:nvGrpSpPr>
          <p:cNvPr id="172" name="Group 9">
            <a:extLst>
              <a:ext uri="{FF2B5EF4-FFF2-40B4-BE49-F238E27FC236}">
                <a16:creationId xmlns:a16="http://schemas.microsoft.com/office/drawing/2014/main" id="{C6BEFF2A-9D9B-3E20-DECF-1E436195F91D}"/>
              </a:ext>
            </a:extLst>
          </p:cNvPr>
          <p:cNvGrpSpPr>
            <a:grpSpLocks/>
          </p:cNvGrpSpPr>
          <p:nvPr/>
        </p:nvGrpSpPr>
        <p:grpSpPr bwMode="auto">
          <a:xfrm>
            <a:off x="6495095" y="978493"/>
            <a:ext cx="3241675" cy="2159000"/>
            <a:chOff x="3598" y="904"/>
            <a:chExt cx="2042" cy="1360"/>
          </a:xfrm>
        </p:grpSpPr>
        <p:sp>
          <p:nvSpPr>
            <p:cNvPr id="173" name="Rectangle 10">
              <a:extLst>
                <a:ext uri="{FF2B5EF4-FFF2-40B4-BE49-F238E27FC236}">
                  <a16:creationId xmlns:a16="http://schemas.microsoft.com/office/drawing/2014/main" id="{4D3CC0C0-6BE5-6A43-1A61-087853681A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2" y="904"/>
              <a:ext cx="2008" cy="1360"/>
            </a:xfrm>
            <a:prstGeom prst="rect">
              <a:avLst/>
            </a:prstGeom>
            <a:solidFill>
              <a:srgbClr val="F7D7A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ＭＳ Ｐゴシック" charset="0"/>
                <a:cs typeface="Arial" charset="0"/>
              </a:endParaRPr>
            </a:p>
          </p:txBody>
        </p:sp>
        <p:sp>
          <p:nvSpPr>
            <p:cNvPr id="174" name="Rectangle 11">
              <a:extLst>
                <a:ext uri="{FF2B5EF4-FFF2-40B4-BE49-F238E27FC236}">
                  <a16:creationId xmlns:a16="http://schemas.microsoft.com/office/drawing/2014/main" id="{1FB3C4B4-3F93-F94E-E972-C2B3AF97B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0" y="959"/>
              <a:ext cx="1544" cy="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571500" marR="0" lvl="0" indent="-571500" defTabSz="45720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25000"/>
                </a:spcAft>
                <a:buClrTx/>
                <a:buSzTx/>
                <a:buFont typeface="Times" charset="0"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480	available mins per day</a:t>
              </a:r>
            </a:p>
            <a:p>
              <a:pPr marL="571500" marR="0" lvl="0" indent="-571500" defTabSz="45720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ct val="25000"/>
                </a:spcAft>
                <a:buClrTx/>
                <a:buSzTx/>
                <a:buFont typeface="Times" charset="0"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40	units required</a:t>
              </a:r>
            </a:p>
          </p:txBody>
        </p:sp>
        <p:sp>
          <p:nvSpPr>
            <p:cNvPr id="175" name="Rectangle 12">
              <a:extLst>
                <a:ext uri="{FF2B5EF4-FFF2-40B4-BE49-F238E27FC236}">
                  <a16:creationId xmlns:a16="http://schemas.microsoft.com/office/drawing/2014/main" id="{E3EC8D04-1434-A111-BD2B-73E4645A1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7" y="1560"/>
              <a:ext cx="162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4572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Cycle time = 12 mins</a:t>
              </a:r>
            </a:p>
          </p:txBody>
        </p:sp>
        <p:grpSp>
          <p:nvGrpSpPr>
            <p:cNvPr id="176" name="Group 13">
              <a:extLst>
                <a:ext uri="{FF2B5EF4-FFF2-40B4-BE49-F238E27FC236}">
                  <a16:creationId xmlns:a16="http://schemas.microsoft.com/office/drawing/2014/main" id="{C0143297-BA58-A37C-FFC2-EB57619A4E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8" y="1816"/>
              <a:ext cx="1962" cy="393"/>
              <a:chOff x="3598" y="1976"/>
              <a:chExt cx="1962" cy="393"/>
            </a:xfrm>
          </p:grpSpPr>
          <p:sp>
            <p:nvSpPr>
              <p:cNvPr id="177" name="Rectangle 14">
                <a:extLst>
                  <a:ext uri="{FF2B5EF4-FFF2-40B4-BE49-F238E27FC236}">
                    <a16:creationId xmlns:a16="http://schemas.microsoft.com/office/drawing/2014/main" id="{0AA0559F-0BEA-8646-F751-2B91FB1EC8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8" y="1976"/>
                <a:ext cx="1108" cy="3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ctr" defTabSz="457200" eaLnBrk="1" fontAlgn="base" latinLnBrk="0" hangingPunct="1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Minimum workstations</a:t>
                </a:r>
              </a:p>
            </p:txBody>
          </p:sp>
          <p:sp>
            <p:nvSpPr>
              <p:cNvPr id="178" name="Rectangle 15">
                <a:extLst>
                  <a:ext uri="{FF2B5EF4-FFF2-40B4-BE49-F238E27FC236}">
                    <a16:creationId xmlns:a16="http://schemas.microsoft.com/office/drawing/2014/main" id="{F22CF93F-E574-020F-DE97-4E1E0B0049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7" y="2035"/>
                <a:ext cx="89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= 5.42 or 6</a:t>
                </a:r>
              </a:p>
            </p:txBody>
          </p:sp>
        </p:grpSp>
      </p:grpSp>
      <p:sp>
        <p:nvSpPr>
          <p:cNvPr id="300" name="Rectangle 7">
            <a:extLst>
              <a:ext uri="{FF2B5EF4-FFF2-40B4-BE49-F238E27FC236}">
                <a16:creationId xmlns:a16="http://schemas.microsoft.com/office/drawing/2014/main" id="{5954364E-BC62-688A-2DB0-371D59755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208" y="3571648"/>
            <a:ext cx="8636000" cy="2540000"/>
          </a:xfrm>
          <a:prstGeom prst="rect">
            <a:avLst/>
          </a:prstGeom>
          <a:solidFill>
            <a:srgbClr val="BDD6AE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ＭＳ Ｐゴシック" charset="0"/>
              <a:cs typeface="Arial" charset="0"/>
            </a:endParaRPr>
          </a:p>
        </p:txBody>
      </p:sp>
      <p:grpSp>
        <p:nvGrpSpPr>
          <p:cNvPr id="301" name="Group 16">
            <a:extLst>
              <a:ext uri="{FF2B5EF4-FFF2-40B4-BE49-F238E27FC236}">
                <a16:creationId xmlns:a16="http://schemas.microsoft.com/office/drawing/2014/main" id="{9B0C57B1-0B6B-49BE-A3BA-5A253D8A54C1}"/>
              </a:ext>
            </a:extLst>
          </p:cNvPr>
          <p:cNvGrpSpPr>
            <a:grpSpLocks/>
          </p:cNvGrpSpPr>
          <p:nvPr/>
        </p:nvGrpSpPr>
        <p:grpSpPr bwMode="auto">
          <a:xfrm>
            <a:off x="1287533" y="3819923"/>
            <a:ext cx="8131175" cy="1639887"/>
            <a:chOff x="302" y="2647"/>
            <a:chExt cx="5122" cy="1033"/>
          </a:xfrm>
        </p:grpSpPr>
        <p:grpSp>
          <p:nvGrpSpPr>
            <p:cNvPr id="302" name="Group 17">
              <a:extLst>
                <a:ext uri="{FF2B5EF4-FFF2-40B4-BE49-F238E27FC236}">
                  <a16:creationId xmlns:a16="http://schemas.microsoft.com/office/drawing/2014/main" id="{EEB95C1F-F152-6CD1-50A9-1DC600E406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" y="2647"/>
              <a:ext cx="5122" cy="494"/>
              <a:chOff x="390" y="3591"/>
              <a:chExt cx="5122" cy="494"/>
            </a:xfrm>
          </p:grpSpPr>
          <p:sp>
            <p:nvSpPr>
              <p:cNvPr id="304" name="Rectangle 18">
                <a:extLst>
                  <a:ext uri="{FF2B5EF4-FFF2-40B4-BE49-F238E27FC236}">
                    <a16:creationId xmlns:a16="http://schemas.microsoft.com/office/drawing/2014/main" id="{6046191B-CA85-29BE-3E3D-25820FA215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" y="3727"/>
                <a:ext cx="94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defTabSz="4572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rPr>
                  <a:t>Efficiency =</a:t>
                </a:r>
              </a:p>
            </p:txBody>
          </p:sp>
          <p:grpSp>
            <p:nvGrpSpPr>
              <p:cNvPr id="305" name="Group 19">
                <a:extLst>
                  <a:ext uri="{FF2B5EF4-FFF2-40B4-BE49-F238E27FC236}">
                    <a16:creationId xmlns:a16="http://schemas.microsoft.com/office/drawing/2014/main" id="{1FAF8C22-3A37-FC21-0EFE-C13011645E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32" y="3591"/>
                <a:ext cx="4080" cy="494"/>
                <a:chOff x="1496" y="3583"/>
                <a:chExt cx="4080" cy="494"/>
              </a:xfrm>
            </p:grpSpPr>
            <p:sp>
              <p:nvSpPr>
                <p:cNvPr id="306" name="Rectangle 20">
                  <a:extLst>
                    <a:ext uri="{FF2B5EF4-FFF2-40B4-BE49-F238E27FC236}">
                      <a16:creationId xmlns:a16="http://schemas.microsoft.com/office/drawing/2014/main" id="{1D688145-9B75-F8A8-5E2A-6F80FA03B4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1" y="3583"/>
                  <a:ext cx="3968" cy="4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2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charset="0"/>
                      <a:ea typeface="ＭＳ Ｐゴシック" charset="0"/>
                      <a:cs typeface="Times New Roman" charset="0"/>
                    </a:rPr>
                    <a:t>∑ </a:t>
                  </a: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Task times</a:t>
                  </a:r>
                </a:p>
                <a:p>
                  <a:pPr marL="0" marR="0" lvl="0" indent="0" algn="ctr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2500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(</a:t>
                  </a:r>
                  <a:r>
                    <a:rPr kumimoji="0" lang="en-US" sz="20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Actual</a:t>
                  </a: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Arial" charset="0"/>
                    </a:rPr>
                    <a:t> number of workstations) x (Largest cycle time)</a:t>
                  </a:r>
                </a:p>
              </p:txBody>
            </p:sp>
            <p:sp>
              <p:nvSpPr>
                <p:cNvPr id="307" name="Line 21">
                  <a:extLst>
                    <a:ext uri="{FF2B5EF4-FFF2-40B4-BE49-F238E27FC236}">
                      <a16:creationId xmlns:a16="http://schemas.microsoft.com/office/drawing/2014/main" id="{8E1EF208-DE92-F9A0-BBB7-58C1573150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96" y="3840"/>
                  <a:ext cx="4080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4572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</p:grpSp>
        <p:sp>
          <p:nvSpPr>
            <p:cNvPr id="303" name="Rectangle 22">
              <a:extLst>
                <a:ext uri="{FF2B5EF4-FFF2-40B4-BE49-F238E27FC236}">
                  <a16:creationId xmlns:a16="http://schemas.microsoft.com/office/drawing/2014/main" id="{47BF9F15-C7F2-CB42-3B23-67D4AA49A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0" y="3145"/>
              <a:ext cx="3156" cy="5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45720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= 65 minutes / ((6 stations) x (12 minutes))</a:t>
              </a:r>
            </a:p>
            <a:p>
              <a:pPr marL="0" marR="0" lvl="0" indent="0" defTabSz="457200" eaLnBrk="1" fontAlgn="base" latinLnBrk="0" hangingPunct="1">
                <a:lnSpc>
                  <a:spcPct val="12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= 90.3%</a:t>
              </a:r>
            </a:p>
          </p:txBody>
        </p:sp>
      </p:grpSp>
      <p:sp>
        <p:nvSpPr>
          <p:cNvPr id="308" name="TextBox 307">
            <a:extLst>
              <a:ext uri="{FF2B5EF4-FFF2-40B4-BE49-F238E27FC236}">
                <a16:creationId xmlns:a16="http://schemas.microsoft.com/office/drawing/2014/main" id="{06FB9255-1D2C-6AE4-E0D0-A00F7B4053FD}"/>
              </a:ext>
            </a:extLst>
          </p:cNvPr>
          <p:cNvSpPr txBox="1"/>
          <p:nvPr/>
        </p:nvSpPr>
        <p:spPr>
          <a:xfrm>
            <a:off x="1336746" y="5497910"/>
            <a:ext cx="7618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sz="2000" kern="1200" dirty="0">
                <a:latin typeface="Arial" charset="0"/>
                <a:ea typeface="ＭＳ Ｐゴシック" charset="0"/>
                <a:cs typeface="Arial" charset="0"/>
              </a:rPr>
              <a:t>Idle Time = ((6 stations) × (12 minutes)) – 65 minutes = 7 minutes</a:t>
            </a:r>
            <a:r>
              <a:rPr lang="en-NZ" sz="2000" kern="1200" dirty="0">
                <a:latin typeface="Arial" charset="0"/>
                <a:ea typeface="ＭＳ Ｐゴシック" charset="0"/>
                <a:cs typeface="Arial" charset="0"/>
              </a:rPr>
              <a:t> </a:t>
            </a:r>
            <a:endParaRPr lang="en-US" sz="2000" kern="1200" dirty="0">
              <a:latin typeface="Arial" charset="0"/>
              <a:ea typeface="ＭＳ Ｐゴシック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743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 animBg="1"/>
      <p:bldP spid="30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AE2A-C3FF-0BDD-D58E-82FC500D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Quick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82CDF-9A62-D740-201F-41040E7C6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9890" y="1725026"/>
            <a:ext cx="3433034" cy="685801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114300" indent="0" algn="ctr">
              <a:buNone/>
            </a:pPr>
            <a:r>
              <a:rPr lang="en-IN" sz="3600" b="1" dirty="0">
                <a:solidFill>
                  <a:srgbClr val="FF0000"/>
                </a:solidFill>
              </a:rPr>
              <a:t>True or False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0FCAC-B3FB-F4D7-14FE-C9A22C5A71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DF968-C6D0-DE34-A5DC-DE788794A5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Sourcing Decisions in a Supply Chain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FC000-1886-70BE-55E3-3345CE7231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B6EBBDD-8016-0BDE-2DD6-646C2D691877}"/>
              </a:ext>
            </a:extLst>
          </p:cNvPr>
          <p:cNvSpPr txBox="1">
            <a:spLocks/>
          </p:cNvSpPr>
          <p:nvPr/>
        </p:nvSpPr>
        <p:spPr>
          <a:xfrm>
            <a:off x="2137410" y="2583093"/>
            <a:ext cx="5452109" cy="571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en-IN" sz="3200" b="1" dirty="0">
                <a:solidFill>
                  <a:srgbClr val="00B050"/>
                </a:solidFill>
              </a:rPr>
              <a:t>Correct Answer: False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4EDA02-5EE2-1F34-BBC1-A35456D82EC8}"/>
              </a:ext>
            </a:extLst>
          </p:cNvPr>
          <p:cNvSpPr txBox="1"/>
          <p:nvPr/>
        </p:nvSpPr>
        <p:spPr>
          <a:xfrm>
            <a:off x="497439" y="3967844"/>
            <a:ext cx="1076278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Process layouts require simple planning and control systems.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840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AE2A-C3FF-0BDD-D58E-82FC500D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Quick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82CDF-9A62-D740-201F-41040E7C6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9890" y="1725026"/>
            <a:ext cx="3433034" cy="685801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114300" indent="0" algn="ctr">
              <a:buNone/>
            </a:pPr>
            <a:r>
              <a:rPr lang="en-IN" sz="3600" b="1" dirty="0">
                <a:solidFill>
                  <a:srgbClr val="FF0000"/>
                </a:solidFill>
              </a:rPr>
              <a:t>True or False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0FCAC-B3FB-F4D7-14FE-C9A22C5A71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DF968-C6D0-DE34-A5DC-DE788794A5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Sourcing Decisions in a Supply Chain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FC000-1886-70BE-55E3-3345CE7231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B6EBBDD-8016-0BDE-2DD6-646C2D691877}"/>
              </a:ext>
            </a:extLst>
          </p:cNvPr>
          <p:cNvSpPr txBox="1">
            <a:spLocks/>
          </p:cNvSpPr>
          <p:nvPr/>
        </p:nvSpPr>
        <p:spPr>
          <a:xfrm>
            <a:off x="2137410" y="2583093"/>
            <a:ext cx="5452109" cy="571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en-IN" sz="3200" b="1" dirty="0">
                <a:solidFill>
                  <a:srgbClr val="00B050"/>
                </a:solidFill>
              </a:rPr>
              <a:t>Correct Answer: False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4EDA02-5EE2-1F34-BBC1-A35456D82EC8}"/>
              </a:ext>
            </a:extLst>
          </p:cNvPr>
          <p:cNvSpPr txBox="1"/>
          <p:nvPr/>
        </p:nvSpPr>
        <p:spPr>
          <a:xfrm>
            <a:off x="497439" y="3967844"/>
            <a:ext cx="10762781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Process layouts typically have low levels of work-in-process inventory.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0279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AE2A-C3FF-0BDD-D58E-82FC500D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Quick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82CDF-9A62-D740-201F-41040E7C6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9890" y="1725026"/>
            <a:ext cx="3433034" cy="685801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114300" indent="0" algn="ctr">
              <a:buNone/>
            </a:pPr>
            <a:r>
              <a:rPr lang="en-IN" sz="3600" b="1" dirty="0">
                <a:solidFill>
                  <a:srgbClr val="FF0000"/>
                </a:solidFill>
              </a:rPr>
              <a:t>True or False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0FCAC-B3FB-F4D7-14FE-C9A22C5A71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DF968-C6D0-DE34-A5DC-DE788794A5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Sourcing Decisions in a Supply Chain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FC000-1886-70BE-55E3-3345CE7231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B6EBBDD-8016-0BDE-2DD6-646C2D691877}"/>
              </a:ext>
            </a:extLst>
          </p:cNvPr>
          <p:cNvSpPr txBox="1">
            <a:spLocks/>
          </p:cNvSpPr>
          <p:nvPr/>
        </p:nvSpPr>
        <p:spPr>
          <a:xfrm>
            <a:off x="2137410" y="2583093"/>
            <a:ext cx="5452109" cy="571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en-IN" sz="3200" b="1" dirty="0">
                <a:solidFill>
                  <a:srgbClr val="00B050"/>
                </a:solidFill>
              </a:rPr>
              <a:t>Correct Answer: True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4EDA02-5EE2-1F34-BBC1-A35456D82EC8}"/>
              </a:ext>
            </a:extLst>
          </p:cNvPr>
          <p:cNvSpPr txBox="1"/>
          <p:nvPr/>
        </p:nvSpPr>
        <p:spPr>
          <a:xfrm>
            <a:off x="497439" y="3967844"/>
            <a:ext cx="1076278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The most common tactic to arrange departments in a process-oriented layout is to minimize material handling costs.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4095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0D950-CB36-AFA8-D19D-DD3A9F71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Hybrid layouts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0FA0C-C456-15CC-6216-E3D22F685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Hybrid layouts modify and/or combine some aspects of product and process layouts.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There are two hybrid layouts: </a:t>
            </a:r>
          </a:p>
          <a:p>
            <a:pPr marL="1169988">
              <a:buFont typeface="Wingdings" panose="05000000000000000000" pitchFamily="2" charset="2"/>
              <a:buChar char="Ø"/>
            </a:pPr>
            <a:r>
              <a:rPr lang="en-IN" dirty="0"/>
              <a:t>Cellular layouts</a:t>
            </a:r>
          </a:p>
          <a:p>
            <a:pPr marL="1169988">
              <a:buFont typeface="Wingdings" panose="05000000000000000000" pitchFamily="2" charset="2"/>
              <a:buChar char="Ø"/>
            </a:pPr>
            <a:r>
              <a:rPr lang="en-IN" dirty="0"/>
              <a:t>Flexible manufacturing systems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F6B73-79B8-A3ED-3605-9D914FC44D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9F421-8898-677C-7D1C-2D55841542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5B33E-D2F5-5A08-C93A-F7ECDBA513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0394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F4B1-1735-1AB5-F3EF-C79DC06CC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Cellular layouts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C04F7-4113-CA60-AD10-43AE5DD34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Cellular layouts </a:t>
            </a:r>
            <a:r>
              <a:rPr lang="en-IN" dirty="0"/>
              <a:t>attempt to combine the flexibility of a process layout with the efficiency of a product layout. </a:t>
            </a:r>
          </a:p>
          <a:p>
            <a:r>
              <a:rPr lang="en-IN" dirty="0"/>
              <a:t>Based on the concept of group technology (GT), dissimilar machines or activities are grouped into work </a:t>
            </a:r>
            <a:r>
              <a:rPr lang="en-IN" dirty="0" err="1"/>
              <a:t>centers</a:t>
            </a:r>
            <a:r>
              <a:rPr lang="en-IN" dirty="0"/>
              <a:t>, called </a:t>
            </a:r>
            <a:r>
              <a:rPr lang="en-IN" i="1" dirty="0"/>
              <a:t>cells</a:t>
            </a:r>
            <a:r>
              <a:rPr lang="en-IN" dirty="0"/>
              <a:t>, to process families of parts or customers with similar requirements.</a:t>
            </a:r>
          </a:p>
          <a:p>
            <a:r>
              <a:rPr lang="en-IN" dirty="0"/>
              <a:t>The cells are arranged in relation to each other so that material movement is minimized.</a:t>
            </a:r>
          </a:p>
          <a:p>
            <a:r>
              <a:rPr lang="en-IN" dirty="0"/>
              <a:t>The layout of machines </a:t>
            </a:r>
            <a:r>
              <a:rPr lang="en-IN" i="1" dirty="0">
                <a:solidFill>
                  <a:srgbClr val="FF0000"/>
                </a:solidFill>
              </a:rPr>
              <a:t>within </a:t>
            </a:r>
            <a:r>
              <a:rPr lang="en-IN" dirty="0">
                <a:solidFill>
                  <a:srgbClr val="FF0000"/>
                </a:solidFill>
              </a:rPr>
              <a:t>each cell </a:t>
            </a:r>
            <a:r>
              <a:rPr lang="en-IN" dirty="0"/>
              <a:t>resembles a small assembly line. </a:t>
            </a:r>
          </a:p>
          <a:p>
            <a:r>
              <a:rPr lang="en-IN" dirty="0"/>
              <a:t>Thus, line-balancing procedures, with some adjustment, can be used to arrange the machines within the cell.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F2FCB-B407-5738-7C70-EF30B2F92E0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E4A9C-CCE2-617F-5125-420E16496B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7527E-BE20-F452-4F94-C0F85795D7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91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C159C-52A4-86C2-DD11-C4C114490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Steps in Cellular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D7415-78C5-0A5F-7984-749333304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897" y="1076546"/>
            <a:ext cx="4588033" cy="5035928"/>
          </a:xfrm>
        </p:spPr>
        <p:txBody>
          <a:bodyPr/>
          <a:lstStyle/>
          <a:p>
            <a:r>
              <a:rPr lang="en-IN" dirty="0"/>
              <a:t>Grouping of parts into families involving a similar sequence operations.</a:t>
            </a:r>
          </a:p>
          <a:p>
            <a:r>
              <a:rPr lang="en-IN" dirty="0"/>
              <a:t>Identification of major flow patterns to determine a basis for relocating of processes.</a:t>
            </a:r>
          </a:p>
          <a:p>
            <a:r>
              <a:rPr lang="en-IN" dirty="0"/>
              <a:t>Developing cells by physical grouping of processes.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E75AB-CB7E-B5FA-CA6E-4EAD3849DE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04B40-7CA0-A453-E2B4-AF5918D734B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BE7CA-56CC-DB76-821A-EB42342241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A39AFE-B9CE-9F8F-1DED-AF5F62C24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398" y="1131133"/>
            <a:ext cx="7444709" cy="406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1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D771F-994C-6C79-41AF-7595DBD0F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Cellular Layout Example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DC896-F7EF-C59D-731C-A62216ED064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4DF4F-B921-FC5E-89C8-15D666C65A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76CE-E100-52B5-55A8-90B202FB98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AB6770-1683-6DE0-AD75-BD9B1285BB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6790"/>
          <a:stretch/>
        </p:blipFill>
        <p:spPr>
          <a:xfrm>
            <a:off x="153319" y="1063260"/>
            <a:ext cx="6364439" cy="49016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D4CB83-605E-1056-E3FA-64D8FE86A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19" y="1063260"/>
            <a:ext cx="11961066" cy="490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2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71A5-79DF-1512-ADA9-F443535A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Cellular Layout Example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B923C-09CE-2CC4-3B11-B697DFBDCE9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A6203-04EE-9371-BF5A-3236FAD3A0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A746B-0D8F-E162-27E9-548E590E27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C4CC2815-51FD-1350-50BF-A1B4E93ED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906" y="1021638"/>
            <a:ext cx="7772400" cy="224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EEA367E5-3681-233D-913E-47B7B135F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309" y="3378066"/>
            <a:ext cx="6546850" cy="273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7B6D1E8-581B-B80F-72A5-31DA14D9ACD1}"/>
              </a:ext>
            </a:extLst>
          </p:cNvPr>
          <p:cNvSpPr txBox="1">
            <a:spLocks/>
          </p:cNvSpPr>
          <p:nvPr/>
        </p:nvSpPr>
        <p:spPr>
          <a:xfrm>
            <a:off x="1479706" y="3524690"/>
            <a:ext cx="1752600" cy="11430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0" indent="-342900" algn="l" defTabSz="914400" rtl="0" eaLnBrk="1" latinLnBrk="0" hangingPunct="1">
              <a:lnSpc>
                <a:spcPts val="3600"/>
              </a:lnSpc>
              <a:spcBef>
                <a:spcPts val="0"/>
              </a:spcBef>
              <a:buFont typeface="Arial" pitchFamily="34" charset="0"/>
              <a:buNone/>
              <a:defRPr sz="3600" b="1" kern="1200" spc="-150" baseline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2000" b="0" i="0" u="none" strike="noStrike" kern="1200" cap="none" spc="-1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Revised </a:t>
            </a:r>
          </a:p>
          <a:p>
            <a:pPr marL="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2000" b="0" i="0" u="none" strike="noStrike" kern="1200" cap="none" spc="-1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cellular layout</a:t>
            </a:r>
            <a:endParaRPr kumimoji="0" lang="en-IN" sz="2000" b="0" i="0" u="none" strike="noStrike" kern="1200" cap="none" spc="-15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450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C2674-9BAD-FD8E-66D4-28A487157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and disadvantages of Cellular Layouts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2D3F6-6BF9-26F2-EF96-3DB323014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98511" y="994428"/>
            <a:ext cx="5105647" cy="5076937"/>
          </a:xfrm>
        </p:spPr>
        <p:txBody>
          <a:bodyPr>
            <a:normAutofit/>
          </a:bodyPr>
          <a:lstStyle/>
          <a:p>
            <a:pPr marL="0" indent="0" algn="just">
              <a:defRPr/>
            </a:pPr>
            <a:r>
              <a:rPr lang="en-US" b="1" dirty="0"/>
              <a:t>Disadvantages</a:t>
            </a:r>
          </a:p>
          <a:p>
            <a:pPr marL="722313" indent="-381000">
              <a:buFont typeface="Wingdings" charset="2"/>
              <a:buChar char="ü"/>
              <a:defRPr/>
            </a:pPr>
            <a:r>
              <a:rPr lang="en-US" dirty="0"/>
              <a:t>Inadequate part families</a:t>
            </a:r>
          </a:p>
          <a:p>
            <a:pPr marL="722313" indent="-381000">
              <a:buFont typeface="Wingdings" charset="2"/>
              <a:buChar char="ü"/>
              <a:defRPr/>
            </a:pPr>
            <a:r>
              <a:rPr lang="en-US" dirty="0"/>
              <a:t>Poorly balanced cells</a:t>
            </a:r>
          </a:p>
          <a:p>
            <a:pPr marL="722313" indent="-381000">
              <a:buFont typeface="Wingdings" charset="2"/>
              <a:buChar char="ü"/>
              <a:defRPr/>
            </a:pPr>
            <a:r>
              <a:rPr lang="en-US" dirty="0"/>
              <a:t>Expanded training and scheduling of workers</a:t>
            </a:r>
          </a:p>
          <a:p>
            <a:pPr marL="722313" indent="-381000">
              <a:buFont typeface="Wingdings" charset="2"/>
              <a:buChar char="ü"/>
              <a:defRPr/>
            </a:pPr>
            <a:r>
              <a:rPr lang="en-US" dirty="0"/>
              <a:t>Increased capital investment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45281-73BD-C04A-281F-1269E8016EE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CF4CF-67B3-8DC6-3F7B-268E63E041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7095A-91A1-C6EC-213B-8045EF02B1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61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80B09F8-EEAB-ED6F-CDD2-3D6734BE9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301459"/>
              </p:ext>
            </p:extLst>
          </p:nvPr>
        </p:nvGraphicFramePr>
        <p:xfrm>
          <a:off x="187842" y="1576962"/>
          <a:ext cx="6618072" cy="452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7631">
                  <a:extLst>
                    <a:ext uri="{9D8B030D-6E8A-4147-A177-3AD203B41FA5}">
                      <a16:colId xmlns:a16="http://schemas.microsoft.com/office/drawing/2014/main" val="3709896491"/>
                    </a:ext>
                  </a:extLst>
                </a:gridCol>
                <a:gridCol w="1756989">
                  <a:extLst>
                    <a:ext uri="{9D8B030D-6E8A-4147-A177-3AD203B41FA5}">
                      <a16:colId xmlns:a16="http://schemas.microsoft.com/office/drawing/2014/main" val="1643513204"/>
                    </a:ext>
                  </a:extLst>
                </a:gridCol>
                <a:gridCol w="1333452">
                  <a:extLst>
                    <a:ext uri="{9D8B030D-6E8A-4147-A177-3AD203B41FA5}">
                      <a16:colId xmlns:a16="http://schemas.microsoft.com/office/drawing/2014/main" val="283602876"/>
                    </a:ext>
                  </a:extLst>
                </a:gridCol>
              </a:tblGrid>
              <a:tr h="37341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Dimension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Cellular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64433382"/>
                  </a:ext>
                </a:extLst>
              </a:tr>
              <a:tr h="70347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moves between departments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Few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9605613"/>
                  </a:ext>
                </a:extLst>
              </a:tr>
              <a:tr h="43396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Travel distances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Shorter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8030276"/>
                  </a:ext>
                </a:extLst>
              </a:tr>
              <a:tr h="43396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Travel paths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30625679"/>
                  </a:ext>
                </a:extLst>
              </a:tr>
              <a:tr h="43396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 waiting time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Greater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Shorter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07864879"/>
                  </a:ext>
                </a:extLst>
              </a:tr>
              <a:tr h="43396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Throughput time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41503517"/>
                  </a:ext>
                </a:extLst>
              </a:tr>
              <a:tr h="43396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 of work in process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22580720"/>
                  </a:ext>
                </a:extLst>
              </a:tr>
              <a:tr h="43396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Supervision difficulty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58926134"/>
                  </a:ext>
                </a:extLst>
              </a:tr>
              <a:tr h="433963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Scheduling complexity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42155284"/>
                  </a:ext>
                </a:extLst>
              </a:tr>
              <a:tr h="379771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Equipment utilization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962561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D0BEC4F-71B0-3338-3A11-4327897DF9B1}"/>
              </a:ext>
            </a:extLst>
          </p:cNvPr>
          <p:cNvSpPr txBox="1"/>
          <p:nvPr/>
        </p:nvSpPr>
        <p:spPr>
          <a:xfrm>
            <a:off x="412269" y="994428"/>
            <a:ext cx="45488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</p:spTree>
    <p:extLst>
      <p:ext uri="{BB962C8B-B14F-4D97-AF65-F5344CB8AC3E}">
        <p14:creationId xmlns:p14="http://schemas.microsoft.com/office/powerpoint/2010/main" val="490676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AE2A-C3FF-0BDD-D58E-82FC500D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Quick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82CDF-9A62-D740-201F-41040E7C6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9890" y="1725026"/>
            <a:ext cx="3433034" cy="685801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114300" indent="0" algn="ctr">
              <a:buNone/>
            </a:pPr>
            <a:r>
              <a:rPr lang="en-IN" sz="3600" b="1" dirty="0">
                <a:solidFill>
                  <a:srgbClr val="FF0000"/>
                </a:solidFill>
              </a:rPr>
              <a:t>True or False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0FCAC-B3FB-F4D7-14FE-C9A22C5A71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DF968-C6D0-DE34-A5DC-DE788794A5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Sourcing Decisions in a Supply Chain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FC000-1886-70BE-55E3-3345CE7231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B6EBBDD-8016-0BDE-2DD6-646C2D691877}"/>
              </a:ext>
            </a:extLst>
          </p:cNvPr>
          <p:cNvSpPr txBox="1">
            <a:spLocks/>
          </p:cNvSpPr>
          <p:nvPr/>
        </p:nvSpPr>
        <p:spPr>
          <a:xfrm>
            <a:off x="2137410" y="2583093"/>
            <a:ext cx="5452109" cy="571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en-IN" sz="3200" b="1" dirty="0">
                <a:solidFill>
                  <a:srgbClr val="00B050"/>
                </a:solidFill>
              </a:rPr>
              <a:t>Correct Answer: False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4EDA02-5EE2-1F34-BBC1-A35456D82EC8}"/>
              </a:ext>
            </a:extLst>
          </p:cNvPr>
          <p:cNvSpPr txBox="1"/>
          <p:nvPr/>
        </p:nvSpPr>
        <p:spPr>
          <a:xfrm>
            <a:off x="497439" y="3967844"/>
            <a:ext cx="1076278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 a cellular layout, additional floor space is required because machines are not very closely linked within a cell.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65547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AE2A-C3FF-0BDD-D58E-82FC500D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Quick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82CDF-9A62-D740-201F-41040E7C6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9890" y="1725026"/>
            <a:ext cx="3433034" cy="685801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114300" indent="0" algn="ctr">
              <a:buNone/>
            </a:pPr>
            <a:r>
              <a:rPr lang="en-IN" sz="3600" b="1" dirty="0">
                <a:solidFill>
                  <a:srgbClr val="FF0000"/>
                </a:solidFill>
              </a:rPr>
              <a:t>MCQ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0FCAC-B3FB-F4D7-14FE-C9A22C5A71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DF968-C6D0-DE34-A5DC-DE788794A5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Sourcing Decisions in a Supply Chain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FC000-1886-70BE-55E3-3345CE7231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B6EBBDD-8016-0BDE-2DD6-646C2D691877}"/>
              </a:ext>
            </a:extLst>
          </p:cNvPr>
          <p:cNvSpPr txBox="1">
            <a:spLocks/>
          </p:cNvSpPr>
          <p:nvPr/>
        </p:nvSpPr>
        <p:spPr>
          <a:xfrm>
            <a:off x="2137410" y="2583093"/>
            <a:ext cx="5452109" cy="571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en-IN" sz="3200" b="1" dirty="0">
                <a:solidFill>
                  <a:srgbClr val="00B050"/>
                </a:solidFill>
              </a:rPr>
              <a:t>Correct Answer: 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4EDA02-5EE2-1F34-BBC1-A35456D82EC8}"/>
              </a:ext>
            </a:extLst>
          </p:cNvPr>
          <p:cNvSpPr txBox="1"/>
          <p:nvPr/>
        </p:nvSpPr>
        <p:spPr>
          <a:xfrm>
            <a:off x="191386" y="3861514"/>
            <a:ext cx="11738344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 special arrangement of machinery and equipment to focus on production of a single product or group of related products" describes what layout type?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fixed-position layout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intermittent production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job shop layout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>
                <a:latin typeface="Times New Roman" panose="02020603050405020304" pitchFamily="18" charset="0"/>
              </a:rPr>
              <a:t>cellular layout</a:t>
            </a:r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50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AE2A-C3FF-0BDD-D58E-82FC500D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Quick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082CDF-9A62-D740-201F-41040E7C6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9890" y="1725026"/>
            <a:ext cx="3433034" cy="685801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114300" indent="0" algn="ctr">
              <a:buNone/>
            </a:pPr>
            <a:r>
              <a:rPr lang="en-IN" sz="3600" b="1" dirty="0">
                <a:solidFill>
                  <a:srgbClr val="FF0000"/>
                </a:solidFill>
              </a:rPr>
              <a:t>MCQ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0FCAC-B3FB-F4D7-14FE-C9A22C5A71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DF968-C6D0-DE34-A5DC-DE788794A5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Sourcing Decisions in a Supply Chain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FC000-1886-70BE-55E3-3345CE7231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B6EBBDD-8016-0BDE-2DD6-646C2D691877}"/>
              </a:ext>
            </a:extLst>
          </p:cNvPr>
          <p:cNvSpPr txBox="1">
            <a:spLocks/>
          </p:cNvSpPr>
          <p:nvPr/>
        </p:nvSpPr>
        <p:spPr>
          <a:xfrm>
            <a:off x="2137410" y="2583093"/>
            <a:ext cx="5452109" cy="5715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 algn="ctr">
              <a:buFont typeface="Arial"/>
              <a:buNone/>
            </a:pPr>
            <a:r>
              <a:rPr lang="en-IN" sz="3200" b="1" dirty="0">
                <a:solidFill>
                  <a:srgbClr val="00B050"/>
                </a:solidFill>
              </a:rPr>
              <a:t>Correct Answer: 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4EDA02-5EE2-1F34-BBC1-A35456D82EC8}"/>
              </a:ext>
            </a:extLst>
          </p:cNvPr>
          <p:cNvSpPr txBox="1"/>
          <p:nvPr/>
        </p:nvSpPr>
        <p:spPr>
          <a:xfrm>
            <a:off x="106322" y="3989110"/>
            <a:ext cx="12000614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Which of the following is true of a cellular layout?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It remains stationary rather than moving work-in-process from one work center to another.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Its workflow is not standardized.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It is not designed according to the functional characteristics of equipment.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Its quality problems are not addressed timely.</a:t>
            </a:r>
          </a:p>
        </p:txBody>
      </p:sp>
    </p:spTree>
    <p:extLst>
      <p:ext uri="{BB962C8B-B14F-4D97-AF65-F5344CB8AC3E}">
        <p14:creationId xmlns:p14="http://schemas.microsoft.com/office/powerpoint/2010/main" val="253932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4DA8-DE12-6360-3881-C2AD2B9F2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Flexible Manufacturing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E1CC2-4D97-6C1A-025C-F78AAEA64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group of machines designed to handle intermittent processing requirements and produce a </a:t>
            </a:r>
            <a:r>
              <a:rPr lang="en-US" dirty="0">
                <a:solidFill>
                  <a:srgbClr val="FF0000"/>
                </a:solidFill>
              </a:rPr>
              <a:t>variety of similar products</a:t>
            </a:r>
            <a:r>
              <a:rPr lang="en-US" dirty="0"/>
              <a:t>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Have some of the benefits of automation and some of the flexibility of individual, or stand-alone, machines</a:t>
            </a:r>
            <a:endParaRPr lang="en-IN" dirty="0"/>
          </a:p>
          <a:p>
            <a:pPr algn="just"/>
            <a:r>
              <a:rPr lang="en-IN" dirty="0"/>
              <a:t>A </a:t>
            </a:r>
            <a:r>
              <a:rPr lang="en-IN" b="1" dirty="0"/>
              <a:t>flexible manufacturing system (FMS) </a:t>
            </a:r>
            <a:r>
              <a:rPr lang="en-IN" dirty="0"/>
              <a:t>consists of numerous programmable machine tools connected by </a:t>
            </a:r>
            <a:r>
              <a:rPr lang="en-IN" dirty="0">
                <a:solidFill>
                  <a:srgbClr val="FF0000"/>
                </a:solidFill>
              </a:rPr>
              <a:t>an automated material handling system, </a:t>
            </a:r>
            <a:r>
              <a:rPr lang="en-US" dirty="0"/>
              <a:t>robots or other automated processing equipment</a:t>
            </a:r>
            <a:r>
              <a:rPr lang="en-IN" dirty="0"/>
              <a:t> and controlled by </a:t>
            </a:r>
            <a:r>
              <a:rPr lang="en-IN" dirty="0">
                <a:solidFill>
                  <a:srgbClr val="00B050"/>
                </a:solidFill>
              </a:rPr>
              <a:t>a common supervisory computer network</a:t>
            </a:r>
            <a:r>
              <a:rPr lang="en-IN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52481-D70E-84A9-914D-370929442D1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51B3E-8809-2E90-9DD7-996B565842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7CD32-54A4-51FE-F943-6132D99ECE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10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1BCF6-3AA4-1630-ECE8-F5F7110A8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Flexible Manufacturing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9534C-1B96-A3B7-31E3-A9D0D8506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IN" dirty="0">
                <a:solidFill>
                  <a:srgbClr val="FF0000"/>
                </a:solidFill>
              </a:rPr>
              <a:t>Most automated production lines </a:t>
            </a:r>
            <a:r>
              <a:rPr lang="en-IN" dirty="0"/>
              <a:t>can produce only one type (model) of product and a change in product design would </a:t>
            </a:r>
            <a:r>
              <a:rPr lang="en-IN" dirty="0">
                <a:solidFill>
                  <a:srgbClr val="FF0000"/>
                </a:solidFill>
              </a:rPr>
              <a:t>require extensive changes</a:t>
            </a:r>
            <a:r>
              <a:rPr lang="en-IN" dirty="0"/>
              <a:t> in the line and its equipment.</a:t>
            </a:r>
          </a:p>
          <a:p>
            <a:pPr algn="just"/>
            <a:r>
              <a:rPr lang="en-IN" b="1" dirty="0"/>
              <a:t>An FMS combines flexibility with efficiency.</a:t>
            </a:r>
          </a:p>
          <a:p>
            <a:pPr algn="just"/>
            <a:r>
              <a:rPr lang="en-IN" dirty="0"/>
              <a:t>The efficiency of an FMS is derived from reductions in setup and queue times. Setup activities take place </a:t>
            </a:r>
            <a:r>
              <a:rPr lang="en-IN" i="1" dirty="0"/>
              <a:t>before </a:t>
            </a:r>
            <a:r>
              <a:rPr lang="en-IN" dirty="0"/>
              <a:t>the part reaches the machine.</a:t>
            </a:r>
          </a:p>
          <a:p>
            <a:pPr algn="just"/>
            <a:r>
              <a:rPr lang="en-IN" dirty="0"/>
              <a:t>FMS layouts differ based on the variety of parts that the system can process, the size of the parts processed, and the average processing time required for part completion.</a:t>
            </a:r>
          </a:p>
          <a:p>
            <a:pPr algn="just"/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7A55F-F01B-5F32-27F1-64249682963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0F31B-A9A7-C299-B8AE-8C0E27A2EE7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F10E0-1A78-8040-0991-148BA8F8BD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64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21E-0DF3-1764-DD60-98DE6503D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Flexible Manufacturing Systems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AF7BD-3E2C-8490-D118-722ED78510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FBB12C-6AF2-404C-B802-656F1A988312}" type="datetime1">
              <a:rPr lang="en-IN" smtClean="0"/>
              <a:pPr/>
              <a:t>19-11-2025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35AB3-EA95-441B-902F-8FA651F73FA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/>
              <a:t>Facility Layout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F983D6-106A-C08C-52E0-75EB56B860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EB2C8499-EA6F-0942-3E3C-39DAB5E0E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286" y="1183246"/>
            <a:ext cx="8485188" cy="490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AF8E2C-F9DE-800E-4D8C-182580D99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585" y="1188009"/>
            <a:ext cx="8510588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EF7932-6EA1-64D7-672C-1A7100C88BD0}"/>
              </a:ext>
            </a:extLst>
          </p:cNvPr>
          <p:cNvSpPr txBox="1"/>
          <p:nvPr/>
        </p:nvSpPr>
        <p:spPr>
          <a:xfrm>
            <a:off x="8153400" y="5933146"/>
            <a:ext cx="38958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https://www.youtube.com/shorts/CiZGKe_hbyE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504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"/>
          <p:cNvSpPr txBox="1"/>
          <p:nvPr/>
        </p:nvSpPr>
        <p:spPr>
          <a:xfrm>
            <a:off x="4709161" y="2743196"/>
            <a:ext cx="3047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 sz="3600">
              <a:solidFill>
                <a:srgbClr val="15438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2" name="Google Shape;352;p18" descr="Smiling face outlin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6864" y="3492157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8" descr="Questions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64231" y="3511878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FCFA605-D1C3-4588-8847-89E0794F1E34}" type="datetime1">
              <a:rPr lang="en-IN" smtClean="0"/>
              <a:t>19-11-2025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dirty="0"/>
              <a:t>Facility Layout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68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3496</TotalTime>
  <Words>4603</Words>
  <Application>Microsoft Office PowerPoint</Application>
  <PresentationFormat>Widescreen</PresentationFormat>
  <Paragraphs>1086</Paragraphs>
  <Slides>68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8" baseType="lpstr">
      <vt:lpstr>Times New Roman</vt:lpstr>
      <vt:lpstr>Times</vt:lpstr>
      <vt:lpstr>Wingdings</vt:lpstr>
      <vt:lpstr>Cambria Math</vt:lpstr>
      <vt:lpstr>Arial</vt:lpstr>
      <vt:lpstr>Century Gothic</vt:lpstr>
      <vt:lpstr>Calibri</vt:lpstr>
      <vt:lpstr>Constantia</vt:lpstr>
      <vt:lpstr>Office</vt:lpstr>
      <vt:lpstr>Equation</vt:lpstr>
      <vt:lpstr>PowerPoint Presentation</vt:lpstr>
      <vt:lpstr>Classroom rules</vt:lpstr>
      <vt:lpstr>Learning Objectives</vt:lpstr>
      <vt:lpstr>Process</vt:lpstr>
      <vt:lpstr>Process Selection and Capacity Planning in System Design</vt:lpstr>
      <vt:lpstr>Process Selection</vt:lpstr>
      <vt:lpstr>Process Types</vt:lpstr>
      <vt:lpstr>Process Types</vt:lpstr>
      <vt:lpstr>Process Types</vt:lpstr>
      <vt:lpstr>Variety and Equipment Flexibility</vt:lpstr>
      <vt:lpstr>Process Choice and Activities</vt:lpstr>
      <vt:lpstr>Facility Layout </vt:lpstr>
      <vt:lpstr>Objectives of Facility Layout </vt:lpstr>
      <vt:lpstr>Objectives of Facility Layout</vt:lpstr>
      <vt:lpstr>Types of Layouts</vt:lpstr>
      <vt:lpstr>Process Layout </vt:lpstr>
      <vt:lpstr>Process Layout</vt:lpstr>
      <vt:lpstr>Process Layout</vt:lpstr>
      <vt:lpstr>Product Layout </vt:lpstr>
      <vt:lpstr>Product Layout</vt:lpstr>
      <vt:lpstr>Comparison of Product and Process Layout</vt:lpstr>
      <vt:lpstr>Fixed-position layouts</vt:lpstr>
      <vt:lpstr>Comparison Between the Layouts</vt:lpstr>
      <vt:lpstr>Quick Review</vt:lpstr>
      <vt:lpstr>Quick Review</vt:lpstr>
      <vt:lpstr>Quick Review</vt:lpstr>
      <vt:lpstr>Designing Process Layouts </vt:lpstr>
      <vt:lpstr>Block Diagraming</vt:lpstr>
      <vt:lpstr>Block Diagramming Example 1</vt:lpstr>
      <vt:lpstr>Block Diagramming Example 1</vt:lpstr>
      <vt:lpstr>Block Diagramming Example 1</vt:lpstr>
      <vt:lpstr>Block Diagramming Example 1</vt:lpstr>
      <vt:lpstr>Block Diagramming Example 1</vt:lpstr>
      <vt:lpstr>Block Diagramming Example 1</vt:lpstr>
      <vt:lpstr>Block Diagramming Example 1</vt:lpstr>
      <vt:lpstr>Process Layout Example 2</vt:lpstr>
      <vt:lpstr>Process Layout Example 2</vt:lpstr>
      <vt:lpstr>Process Layout Example 2</vt:lpstr>
      <vt:lpstr>Relationship Diagramming </vt:lpstr>
      <vt:lpstr>Relationship Diagramming</vt:lpstr>
      <vt:lpstr>Designing product layouts</vt:lpstr>
      <vt:lpstr>Improving Product Layouts</vt:lpstr>
      <vt:lpstr>Improving Product Layouts</vt:lpstr>
      <vt:lpstr>Line balancing</vt:lpstr>
      <vt:lpstr>Line balancing</vt:lpstr>
      <vt:lpstr>Efficiency of line</vt:lpstr>
      <vt:lpstr>Line balancing procedure</vt:lpstr>
      <vt:lpstr>Example 2</vt:lpstr>
      <vt:lpstr>Example 1</vt:lpstr>
      <vt:lpstr>Example 2</vt:lpstr>
      <vt:lpstr>Example 2</vt:lpstr>
      <vt:lpstr>Example 2</vt:lpstr>
      <vt:lpstr>Quick Review</vt:lpstr>
      <vt:lpstr>Quick Review</vt:lpstr>
      <vt:lpstr>Quick Review</vt:lpstr>
      <vt:lpstr>Hybrid layouts</vt:lpstr>
      <vt:lpstr>Cellular layouts</vt:lpstr>
      <vt:lpstr>Steps in Cellular Layout</vt:lpstr>
      <vt:lpstr>Cellular Layout Example 1</vt:lpstr>
      <vt:lpstr>Cellular Layout Example 2</vt:lpstr>
      <vt:lpstr>Advantages and disadvantages of Cellular Layouts</vt:lpstr>
      <vt:lpstr>Quick Review</vt:lpstr>
      <vt:lpstr>Quick Review</vt:lpstr>
      <vt:lpstr>Quick Review</vt:lpstr>
      <vt:lpstr>Flexible Manufacturing Systems</vt:lpstr>
      <vt:lpstr>Flexible Manufacturing Systems</vt:lpstr>
      <vt:lpstr>Flexible Manufacturing Systems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Matthias Thomitzek</dc:creator>
  <cp:lastModifiedBy>Narpat Sangwa</cp:lastModifiedBy>
  <cp:revision>318</cp:revision>
  <dcterms:created xsi:type="dcterms:W3CDTF">2020-03-31T09:12:54Z</dcterms:created>
  <dcterms:modified xsi:type="dcterms:W3CDTF">2025-11-19T04:01:41Z</dcterms:modified>
</cp:coreProperties>
</file>