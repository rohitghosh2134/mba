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51"/>
  </p:notesMasterIdLst>
  <p:sldIdLst>
    <p:sldId id="256" r:id="rId2"/>
    <p:sldId id="317" r:id="rId3"/>
    <p:sldId id="406" r:id="rId4"/>
    <p:sldId id="376" r:id="rId5"/>
    <p:sldId id="409" r:id="rId6"/>
    <p:sldId id="410" r:id="rId7"/>
    <p:sldId id="329" r:id="rId8"/>
    <p:sldId id="330" r:id="rId9"/>
    <p:sldId id="386" r:id="rId10"/>
    <p:sldId id="377" r:id="rId11"/>
    <p:sldId id="382" r:id="rId12"/>
    <p:sldId id="379" r:id="rId13"/>
    <p:sldId id="378" r:id="rId14"/>
    <p:sldId id="381" r:id="rId15"/>
    <p:sldId id="318" r:id="rId16"/>
    <p:sldId id="388" r:id="rId17"/>
    <p:sldId id="375" r:id="rId18"/>
    <p:sldId id="384" r:id="rId19"/>
    <p:sldId id="383" r:id="rId20"/>
    <p:sldId id="324" r:id="rId21"/>
    <p:sldId id="407" r:id="rId22"/>
    <p:sldId id="326" r:id="rId23"/>
    <p:sldId id="408" r:id="rId24"/>
    <p:sldId id="325" r:id="rId25"/>
    <p:sldId id="385" r:id="rId26"/>
    <p:sldId id="389" r:id="rId27"/>
    <p:sldId id="390" r:id="rId28"/>
    <p:sldId id="391" r:id="rId29"/>
    <p:sldId id="387" r:id="rId30"/>
    <p:sldId id="392" r:id="rId31"/>
    <p:sldId id="393" r:id="rId32"/>
    <p:sldId id="394" r:id="rId33"/>
    <p:sldId id="395" r:id="rId34"/>
    <p:sldId id="396" r:id="rId35"/>
    <p:sldId id="397" r:id="rId36"/>
    <p:sldId id="398" r:id="rId37"/>
    <p:sldId id="399" r:id="rId38"/>
    <p:sldId id="400" r:id="rId39"/>
    <p:sldId id="331" r:id="rId40"/>
    <p:sldId id="333" r:id="rId41"/>
    <p:sldId id="335" r:id="rId42"/>
    <p:sldId id="336" r:id="rId43"/>
    <p:sldId id="337" r:id="rId44"/>
    <p:sldId id="401" r:id="rId45"/>
    <p:sldId id="402" r:id="rId46"/>
    <p:sldId id="403" r:id="rId47"/>
    <p:sldId id="404" r:id="rId48"/>
    <p:sldId id="405" r:id="rId49"/>
    <p:sldId id="295" r:id="rId50"/>
  </p:sldIdLst>
  <p:sldSz cx="12192000" cy="6858000"/>
  <p:notesSz cx="6400800" cy="11736388"/>
  <p:embeddedFontLst>
    <p:embeddedFont>
      <p:font typeface="Calibri" panose="020F0502020204030204" pitchFamily="34" charset="0"/>
      <p:regular r:id="rId52"/>
      <p:bold r:id="rId53"/>
      <p:italic r:id="rId54"/>
      <p:boldItalic r:id="rId55"/>
    </p:embeddedFont>
    <p:embeddedFont>
      <p:font typeface="Century Gothic" panose="020B0502020202020204" pitchFamily="34" charset="0"/>
      <p:regular r:id="rId56"/>
      <p:bold r:id="rId57"/>
      <p:italic r:id="rId58"/>
      <p:boldItalic r:id="rId5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3" roundtripDataSignature="AMtx7miVhhpRSbsVfJTdG03n2He+SCFp9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6057DFE-E6D9-463C-876A-ED63FAAF74D6}">
  <a:tblStyle styleId="{A6057DFE-E6D9-463C-876A-ED63FAAF74D6}"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0F0EA631-3CC5-4A67-AC19-FCB2EDBDCE24}"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60" d="100"/>
          <a:sy n="60" d="100"/>
        </p:scale>
        <p:origin x="840"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4.fntdata"/><Relationship Id="rId84"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2.fntdata"/><Relationship Id="rId58" Type="http://schemas.openxmlformats.org/officeDocument/2006/relationships/font" Target="fonts/font7.fntdata"/><Relationship Id="rId87"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5.fntdata"/><Relationship Id="rId8" Type="http://schemas.openxmlformats.org/officeDocument/2006/relationships/slide" Target="slides/slide7.xml"/><Relationship Id="rId51" Type="http://schemas.openxmlformats.org/officeDocument/2006/relationships/notesMaster" Target="notesMasters/notesMaster1.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8.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3.fntdata"/><Relationship Id="rId83"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6.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1.fntdata"/><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067000" y="880225"/>
            <a:ext cx="4267400" cy="4401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40075" y="5574775"/>
            <a:ext cx="5120625" cy="528135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7461243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
        <p:cNvGrpSpPr/>
        <p:nvPr/>
      </p:nvGrpSpPr>
      <p:grpSpPr>
        <a:xfrm>
          <a:off x="0" y="0"/>
          <a:ext cx="0" cy="0"/>
          <a:chOff x="0" y="0"/>
          <a:chExt cx="0" cy="0"/>
        </a:xfrm>
      </p:grpSpPr>
      <p:sp>
        <p:nvSpPr>
          <p:cNvPr id="21" name="Google Shape;21;p1:notes"/>
          <p:cNvSpPr txBox="1">
            <a:spLocks noGrp="1"/>
          </p:cNvSpPr>
          <p:nvPr>
            <p:ph type="body" idx="1"/>
          </p:nvPr>
        </p:nvSpPr>
        <p:spPr>
          <a:xfrm>
            <a:off x="640075" y="5574775"/>
            <a:ext cx="5120625" cy="52813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 name="Google Shape;22;p1:notes"/>
          <p:cNvSpPr>
            <a:spLocks noGrp="1" noRot="1" noChangeAspect="1"/>
          </p:cNvSpPr>
          <p:nvPr>
            <p:ph type="sldImg" idx="2"/>
          </p:nvPr>
        </p:nvSpPr>
        <p:spPr>
          <a:xfrm>
            <a:off x="-711200" y="879475"/>
            <a:ext cx="7823200" cy="440213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299658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18:notes"/>
          <p:cNvSpPr txBox="1">
            <a:spLocks noGrp="1"/>
          </p:cNvSpPr>
          <p:nvPr>
            <p:ph type="body" idx="1"/>
          </p:nvPr>
        </p:nvSpPr>
        <p:spPr>
          <a:xfrm>
            <a:off x="640075" y="5574775"/>
            <a:ext cx="5120625" cy="52813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9" name="Google Shape;349;p18:notes"/>
          <p:cNvSpPr>
            <a:spLocks noGrp="1" noRot="1" noChangeAspect="1"/>
          </p:cNvSpPr>
          <p:nvPr>
            <p:ph type="sldImg" idx="2"/>
          </p:nvPr>
        </p:nvSpPr>
        <p:spPr>
          <a:xfrm>
            <a:off x="-711200" y="879475"/>
            <a:ext cx="7823200" cy="440213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161523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elfolie" type="title">
  <p:cSld name="TITLE">
    <p:spTree>
      <p:nvGrpSpPr>
        <p:cNvPr id="1" name="Shape 12"/>
        <p:cNvGrpSpPr/>
        <p:nvPr/>
      </p:nvGrpSpPr>
      <p:grpSpPr>
        <a:xfrm>
          <a:off x="0" y="0"/>
          <a:ext cx="0" cy="0"/>
          <a:chOff x="0" y="0"/>
          <a:chExt cx="0" cy="0"/>
        </a:xfrm>
      </p:grpSpPr>
      <p:sp>
        <p:nvSpPr>
          <p:cNvPr id="13" name="Google Shape;13;p20"/>
          <p:cNvSpPr txBox="1">
            <a:spLocks noGrp="1"/>
          </p:cNvSpPr>
          <p:nvPr>
            <p:ph type="ctrTitle"/>
          </p:nvPr>
        </p:nvSpPr>
        <p:spPr>
          <a:xfrm>
            <a:off x="596900" y="1317996"/>
            <a:ext cx="8610600" cy="1552204"/>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entury Gothic"/>
              <a:buNone/>
              <a:defRPr sz="4400" b="0" i="0" u="none" strike="noStrike" cap="none">
                <a:solidFill>
                  <a:schemeClr val="dk1"/>
                </a:solidFill>
                <a:latin typeface="Times New Roman" panose="02020603050405020304" pitchFamily="18" charset="0"/>
                <a:ea typeface="Times New Roman" panose="02020603050405020304" pitchFamily="18" charset="0"/>
                <a:cs typeface="Times New Roman" panose="02020603050405020304" pitchFamily="18" charset="0"/>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sp>
        <p:nvSpPr>
          <p:cNvPr id="14" name="Google Shape;14;p20"/>
          <p:cNvSpPr txBox="1">
            <a:spLocks noGrp="1"/>
          </p:cNvSpPr>
          <p:nvPr>
            <p:ph type="subTitle" idx="1"/>
          </p:nvPr>
        </p:nvSpPr>
        <p:spPr>
          <a:xfrm>
            <a:off x="596900" y="3741803"/>
            <a:ext cx="8610600" cy="2074797"/>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dk1"/>
              </a:buClr>
              <a:buSzPts val="2400"/>
              <a:buNone/>
              <a:defRPr sz="2400">
                <a:latin typeface="Times New Roman" panose="02020603050405020304" pitchFamily="18" charset="0"/>
                <a:ea typeface="Times New Roman" panose="02020603050405020304" pitchFamily="18" charset="0"/>
                <a:cs typeface="Times New Roman" panose="02020603050405020304" pitchFamily="18" charset="0"/>
                <a:sym typeface="Century Gothic"/>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dirty="0"/>
          </a:p>
        </p:txBody>
      </p:sp>
      <p:cxnSp>
        <p:nvCxnSpPr>
          <p:cNvPr id="15" name="Google Shape;15;p20"/>
          <p:cNvCxnSpPr/>
          <p:nvPr/>
        </p:nvCxnSpPr>
        <p:spPr>
          <a:xfrm>
            <a:off x="-942" y="6214340"/>
            <a:ext cx="12196800" cy="193"/>
          </a:xfrm>
          <a:prstGeom prst="straightConnector1">
            <a:avLst/>
          </a:prstGeom>
          <a:noFill/>
          <a:ln w="19050" cap="flat" cmpd="sng">
            <a:solidFill>
              <a:srgbClr val="15438E"/>
            </a:solidFill>
            <a:prstDash val="solid"/>
            <a:miter lim="800000"/>
            <a:headEnd type="none" w="sm" len="sm"/>
            <a:tailEnd type="none" w="sm" len="sm"/>
          </a:ln>
        </p:spPr>
      </p:cxnSp>
      <p:sp>
        <p:nvSpPr>
          <p:cNvPr id="5" name="Google Shape;7;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Times New Roman" panose="02020603050405020304" pitchFamily="18" charset="0"/>
                <a:ea typeface="Times New Roman" panose="02020603050405020304" pitchFamily="18" charset="0"/>
                <a:cs typeface="Times New Roman" panose="02020603050405020304" pitchFamily="18" charset="0"/>
                <a:sym typeface="Century Gothic"/>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fld id="{62335CFD-B3E9-4812-AF47-A129F230FDF1}" type="datetime1">
              <a:rPr lang="en-IN" smtClean="0"/>
              <a:pPr/>
              <a:t>02-12-2025</a:t>
            </a:fld>
            <a:endParaRPr lang="en-IN" dirty="0"/>
          </a:p>
        </p:txBody>
      </p:sp>
      <p:sp>
        <p:nvSpPr>
          <p:cNvPr id="6" name="Google Shape;8;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Times New Roman" panose="02020603050405020304" pitchFamily="18" charset="0"/>
                <a:ea typeface="Times New Roman" panose="02020603050405020304" pitchFamily="18" charset="0"/>
                <a:cs typeface="Times New Roman" panose="02020603050405020304" pitchFamily="18" charset="0"/>
                <a:sym typeface="Century Gothic"/>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r>
              <a:rPr lang="en-IN" dirty="0"/>
              <a:t>Aggregate Planning</a:t>
            </a:r>
          </a:p>
        </p:txBody>
      </p:sp>
      <p:sp>
        <p:nvSpPr>
          <p:cNvPr id="7" name="Google Shape;9;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Times New Roman" panose="02020603050405020304" pitchFamily="18" charset="0"/>
                <a:ea typeface="Times New Roman" panose="02020603050405020304" pitchFamily="18" charset="0"/>
                <a:cs typeface="Times New Roman" panose="02020603050405020304" pitchFamily="18" charset="0"/>
                <a:sym typeface="Century Gothic"/>
              </a:defRPr>
            </a:lvl1pPr>
            <a:lvl2pPr marL="0" marR="0" lvl="1" indent="0" algn="r" rtl="0">
              <a:spcBef>
                <a:spcPts val="0"/>
              </a:spcBef>
              <a:buNone/>
              <a:defRPr sz="1200" b="0" i="0" u="none" strike="noStrike" cap="none">
                <a:solidFill>
                  <a:srgbClr val="888888"/>
                </a:solidFill>
                <a:latin typeface="Century Gothic"/>
                <a:ea typeface="Century Gothic"/>
                <a:cs typeface="Century Gothic"/>
                <a:sym typeface="Century Gothic"/>
              </a:defRPr>
            </a:lvl2pPr>
            <a:lvl3pPr marL="0" marR="0" lvl="2" indent="0" algn="r" rtl="0">
              <a:spcBef>
                <a:spcPts val="0"/>
              </a:spcBef>
              <a:buNone/>
              <a:defRPr sz="1200" b="0" i="0" u="none" strike="noStrike" cap="none">
                <a:solidFill>
                  <a:srgbClr val="888888"/>
                </a:solidFill>
                <a:latin typeface="Century Gothic"/>
                <a:ea typeface="Century Gothic"/>
                <a:cs typeface="Century Gothic"/>
                <a:sym typeface="Century Gothic"/>
              </a:defRPr>
            </a:lvl3pPr>
            <a:lvl4pPr marL="0" marR="0" lvl="3" indent="0" algn="r" rtl="0">
              <a:spcBef>
                <a:spcPts val="0"/>
              </a:spcBef>
              <a:buNone/>
              <a:defRPr sz="1200" b="0" i="0" u="none" strike="noStrike" cap="none">
                <a:solidFill>
                  <a:srgbClr val="888888"/>
                </a:solidFill>
                <a:latin typeface="Century Gothic"/>
                <a:ea typeface="Century Gothic"/>
                <a:cs typeface="Century Gothic"/>
                <a:sym typeface="Century Gothic"/>
              </a:defRPr>
            </a:lvl4pPr>
            <a:lvl5pPr marL="0" marR="0" lvl="4" indent="0" algn="r" rtl="0">
              <a:spcBef>
                <a:spcPts val="0"/>
              </a:spcBef>
              <a:buNone/>
              <a:defRPr sz="1200" b="0" i="0" u="none" strike="noStrike" cap="none">
                <a:solidFill>
                  <a:srgbClr val="888888"/>
                </a:solidFill>
                <a:latin typeface="Century Gothic"/>
                <a:ea typeface="Century Gothic"/>
                <a:cs typeface="Century Gothic"/>
                <a:sym typeface="Century Gothic"/>
              </a:defRPr>
            </a:lvl5pPr>
            <a:lvl6pPr marL="0" marR="0" lvl="5" indent="0" algn="r" rtl="0">
              <a:spcBef>
                <a:spcPts val="0"/>
              </a:spcBef>
              <a:buNone/>
              <a:defRPr sz="1200" b="0" i="0" u="none" strike="noStrike" cap="none">
                <a:solidFill>
                  <a:srgbClr val="888888"/>
                </a:solidFill>
                <a:latin typeface="Century Gothic"/>
                <a:ea typeface="Century Gothic"/>
                <a:cs typeface="Century Gothic"/>
                <a:sym typeface="Century Gothic"/>
              </a:defRPr>
            </a:lvl6pPr>
            <a:lvl7pPr marL="0" marR="0" lvl="6" indent="0" algn="r" rtl="0">
              <a:spcBef>
                <a:spcPts val="0"/>
              </a:spcBef>
              <a:buNone/>
              <a:defRPr sz="1200" b="0" i="0" u="none" strike="noStrike" cap="none">
                <a:solidFill>
                  <a:srgbClr val="888888"/>
                </a:solidFill>
                <a:latin typeface="Century Gothic"/>
                <a:ea typeface="Century Gothic"/>
                <a:cs typeface="Century Gothic"/>
                <a:sym typeface="Century Gothic"/>
              </a:defRPr>
            </a:lvl7pPr>
            <a:lvl8pPr marL="0" marR="0" lvl="7" indent="0" algn="r" rtl="0">
              <a:spcBef>
                <a:spcPts val="0"/>
              </a:spcBef>
              <a:buNone/>
              <a:defRPr sz="1200" b="0" i="0" u="none" strike="noStrike" cap="none">
                <a:solidFill>
                  <a:srgbClr val="888888"/>
                </a:solidFill>
                <a:latin typeface="Century Gothic"/>
                <a:ea typeface="Century Gothic"/>
                <a:cs typeface="Century Gothic"/>
                <a:sym typeface="Century Gothic"/>
              </a:defRPr>
            </a:lvl8pPr>
            <a:lvl9pPr marL="0" marR="0" lvl="8" indent="0" algn="r" rtl="0">
              <a:spcBef>
                <a:spcPts val="0"/>
              </a:spcBef>
              <a:buNone/>
              <a:defRPr sz="1200" b="0" i="0" u="none" strike="noStrike" cap="none">
                <a:solidFill>
                  <a:srgbClr val="888888"/>
                </a:solidFill>
                <a:latin typeface="Century Gothic"/>
                <a:ea typeface="Century Gothic"/>
                <a:cs typeface="Century Gothic"/>
                <a:sym typeface="Century Gothic"/>
              </a:defRPr>
            </a:lvl9pPr>
          </a:lstStyle>
          <a:p>
            <a:fld id="{00000000-1234-1234-1234-123412341234}" type="slidenum">
              <a:rPr lang="en-US" smtClean="0"/>
              <a:pPr/>
              <a:t>‹#›</a:t>
            </a:fld>
            <a:endParaRPr lang="en-US" dirty="0"/>
          </a:p>
        </p:txBody>
      </p:sp>
      <p:pic>
        <p:nvPicPr>
          <p:cNvPr id="1026" name="Picture 2" descr="https://www.iimsirmaur.ac.in/img/iimlogo.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308772" y="10391"/>
            <a:ext cx="883228" cy="8832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Nur Titel">
  <p:cSld name="Nur Titel">
    <p:spTree>
      <p:nvGrpSpPr>
        <p:cNvPr id="1" name="Shape 16"/>
        <p:cNvGrpSpPr/>
        <p:nvPr/>
      </p:nvGrpSpPr>
      <p:grpSpPr>
        <a:xfrm>
          <a:off x="0" y="0"/>
          <a:ext cx="0" cy="0"/>
          <a:chOff x="0" y="0"/>
          <a:chExt cx="0" cy="0"/>
        </a:xfrm>
      </p:grpSpPr>
      <p:sp>
        <p:nvSpPr>
          <p:cNvPr id="17" name="Google Shape;17;p21"/>
          <p:cNvSpPr txBox="1">
            <a:spLocks noGrp="1"/>
          </p:cNvSpPr>
          <p:nvPr>
            <p:ph type="title"/>
          </p:nvPr>
        </p:nvSpPr>
        <p:spPr>
          <a:xfrm>
            <a:off x="407446" y="146869"/>
            <a:ext cx="10762781" cy="685801"/>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3600"/>
              <a:buFont typeface="Century Gothic"/>
              <a:buNone/>
              <a:defRPr sz="3600" b="1" i="0" u="none" strike="noStrike" cap="none">
                <a:solidFill>
                  <a:schemeClr val="dk1"/>
                </a:solidFill>
                <a:latin typeface="Times New Roman" panose="02020603050405020304" pitchFamily="18" charset="0"/>
                <a:ea typeface="Times New Roman" panose="02020603050405020304" pitchFamily="18" charset="0"/>
                <a:cs typeface="Times New Roman" panose="02020603050405020304" pitchFamily="18" charset="0"/>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cxnSp>
        <p:nvCxnSpPr>
          <p:cNvPr id="18" name="Google Shape;18;p21"/>
          <p:cNvCxnSpPr/>
          <p:nvPr/>
        </p:nvCxnSpPr>
        <p:spPr>
          <a:xfrm>
            <a:off x="-942" y="6214340"/>
            <a:ext cx="12196800" cy="193"/>
          </a:xfrm>
          <a:prstGeom prst="straightConnector1">
            <a:avLst/>
          </a:prstGeom>
          <a:noFill/>
          <a:ln w="19050" cap="flat" cmpd="sng">
            <a:solidFill>
              <a:srgbClr val="15438E"/>
            </a:solidFill>
            <a:prstDash val="solid"/>
            <a:miter lim="800000"/>
            <a:headEnd type="none" w="sm" len="sm"/>
            <a:tailEnd type="none" w="sm" len="sm"/>
          </a:ln>
        </p:spPr>
      </p:cxnSp>
      <p:sp>
        <p:nvSpPr>
          <p:cNvPr id="19" name="Google Shape;19;p21"/>
          <p:cNvSpPr txBox="1">
            <a:spLocks noGrp="1"/>
          </p:cNvSpPr>
          <p:nvPr>
            <p:ph type="body" idx="1"/>
          </p:nvPr>
        </p:nvSpPr>
        <p:spPr>
          <a:xfrm>
            <a:off x="407446" y="1035437"/>
            <a:ext cx="11596712" cy="503592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atin typeface="Times New Roman" panose="02020603050405020304" pitchFamily="18" charset="0"/>
                <a:cs typeface="Times New Roman" panose="02020603050405020304" pitchFamily="18" charset="0"/>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5" name="Google Shape;7;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Times New Roman" panose="02020603050405020304" pitchFamily="18" charset="0"/>
                <a:ea typeface="Times New Roman" panose="02020603050405020304" pitchFamily="18" charset="0"/>
                <a:cs typeface="Times New Roman" panose="02020603050405020304" pitchFamily="18" charset="0"/>
                <a:sym typeface="Century Gothic"/>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fld id="{D1FBB12C-6AF2-404C-B802-656F1A988312}" type="datetime1">
              <a:rPr lang="en-IN" smtClean="0"/>
              <a:pPr/>
              <a:t>02-12-2025</a:t>
            </a:fld>
            <a:endParaRPr lang="en-IN" dirty="0"/>
          </a:p>
        </p:txBody>
      </p:sp>
      <p:sp>
        <p:nvSpPr>
          <p:cNvPr id="6" name="Google Shape;8;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Times New Roman" panose="02020603050405020304" pitchFamily="18" charset="0"/>
                <a:ea typeface="Times New Roman" panose="02020603050405020304" pitchFamily="18" charset="0"/>
                <a:cs typeface="Times New Roman" panose="02020603050405020304" pitchFamily="18" charset="0"/>
                <a:sym typeface="Century Gothic"/>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r>
              <a:rPr lang="en-IN" dirty="0"/>
              <a:t>Aggregate Planning</a:t>
            </a:r>
          </a:p>
        </p:txBody>
      </p:sp>
      <p:sp>
        <p:nvSpPr>
          <p:cNvPr id="7" name="Google Shape;9;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Times New Roman" panose="02020603050405020304" pitchFamily="18" charset="0"/>
                <a:ea typeface="Times New Roman" panose="02020603050405020304" pitchFamily="18" charset="0"/>
                <a:cs typeface="Times New Roman" panose="02020603050405020304" pitchFamily="18" charset="0"/>
                <a:sym typeface="Century Gothic"/>
              </a:defRPr>
            </a:lvl1pPr>
            <a:lvl2pPr marL="0" marR="0" lvl="1" indent="0" algn="r" rtl="0">
              <a:spcBef>
                <a:spcPts val="0"/>
              </a:spcBef>
              <a:buNone/>
              <a:defRPr sz="1200" b="0" i="0" u="none" strike="noStrike" cap="none">
                <a:solidFill>
                  <a:srgbClr val="888888"/>
                </a:solidFill>
                <a:latin typeface="Century Gothic"/>
                <a:ea typeface="Century Gothic"/>
                <a:cs typeface="Century Gothic"/>
                <a:sym typeface="Century Gothic"/>
              </a:defRPr>
            </a:lvl2pPr>
            <a:lvl3pPr marL="0" marR="0" lvl="2" indent="0" algn="r" rtl="0">
              <a:spcBef>
                <a:spcPts val="0"/>
              </a:spcBef>
              <a:buNone/>
              <a:defRPr sz="1200" b="0" i="0" u="none" strike="noStrike" cap="none">
                <a:solidFill>
                  <a:srgbClr val="888888"/>
                </a:solidFill>
                <a:latin typeface="Century Gothic"/>
                <a:ea typeface="Century Gothic"/>
                <a:cs typeface="Century Gothic"/>
                <a:sym typeface="Century Gothic"/>
              </a:defRPr>
            </a:lvl3pPr>
            <a:lvl4pPr marL="0" marR="0" lvl="3" indent="0" algn="r" rtl="0">
              <a:spcBef>
                <a:spcPts val="0"/>
              </a:spcBef>
              <a:buNone/>
              <a:defRPr sz="1200" b="0" i="0" u="none" strike="noStrike" cap="none">
                <a:solidFill>
                  <a:srgbClr val="888888"/>
                </a:solidFill>
                <a:latin typeface="Century Gothic"/>
                <a:ea typeface="Century Gothic"/>
                <a:cs typeface="Century Gothic"/>
                <a:sym typeface="Century Gothic"/>
              </a:defRPr>
            </a:lvl4pPr>
            <a:lvl5pPr marL="0" marR="0" lvl="4" indent="0" algn="r" rtl="0">
              <a:spcBef>
                <a:spcPts val="0"/>
              </a:spcBef>
              <a:buNone/>
              <a:defRPr sz="1200" b="0" i="0" u="none" strike="noStrike" cap="none">
                <a:solidFill>
                  <a:srgbClr val="888888"/>
                </a:solidFill>
                <a:latin typeface="Century Gothic"/>
                <a:ea typeface="Century Gothic"/>
                <a:cs typeface="Century Gothic"/>
                <a:sym typeface="Century Gothic"/>
              </a:defRPr>
            </a:lvl5pPr>
            <a:lvl6pPr marL="0" marR="0" lvl="5" indent="0" algn="r" rtl="0">
              <a:spcBef>
                <a:spcPts val="0"/>
              </a:spcBef>
              <a:buNone/>
              <a:defRPr sz="1200" b="0" i="0" u="none" strike="noStrike" cap="none">
                <a:solidFill>
                  <a:srgbClr val="888888"/>
                </a:solidFill>
                <a:latin typeface="Century Gothic"/>
                <a:ea typeface="Century Gothic"/>
                <a:cs typeface="Century Gothic"/>
                <a:sym typeface="Century Gothic"/>
              </a:defRPr>
            </a:lvl6pPr>
            <a:lvl7pPr marL="0" marR="0" lvl="6" indent="0" algn="r" rtl="0">
              <a:spcBef>
                <a:spcPts val="0"/>
              </a:spcBef>
              <a:buNone/>
              <a:defRPr sz="1200" b="0" i="0" u="none" strike="noStrike" cap="none">
                <a:solidFill>
                  <a:srgbClr val="888888"/>
                </a:solidFill>
                <a:latin typeface="Century Gothic"/>
                <a:ea typeface="Century Gothic"/>
                <a:cs typeface="Century Gothic"/>
                <a:sym typeface="Century Gothic"/>
              </a:defRPr>
            </a:lvl7pPr>
            <a:lvl8pPr marL="0" marR="0" lvl="7" indent="0" algn="r" rtl="0">
              <a:spcBef>
                <a:spcPts val="0"/>
              </a:spcBef>
              <a:buNone/>
              <a:defRPr sz="1200" b="0" i="0" u="none" strike="noStrike" cap="none">
                <a:solidFill>
                  <a:srgbClr val="888888"/>
                </a:solidFill>
                <a:latin typeface="Century Gothic"/>
                <a:ea typeface="Century Gothic"/>
                <a:cs typeface="Century Gothic"/>
                <a:sym typeface="Century Gothic"/>
              </a:defRPr>
            </a:lvl8pPr>
            <a:lvl9pPr marL="0" marR="0" lvl="8" indent="0" algn="r" rtl="0">
              <a:spcBef>
                <a:spcPts val="0"/>
              </a:spcBef>
              <a:buNone/>
              <a:defRPr sz="1200" b="0" i="0" u="none" strike="noStrike" cap="none">
                <a:solidFill>
                  <a:srgbClr val="888888"/>
                </a:solidFill>
                <a:latin typeface="Century Gothic"/>
                <a:ea typeface="Century Gothic"/>
                <a:cs typeface="Century Gothic"/>
                <a:sym typeface="Century Gothic"/>
              </a:defRPr>
            </a:lvl9pPr>
          </a:lstStyle>
          <a:p>
            <a:fld id="{00000000-1234-1234-1234-123412341234}" type="slidenum">
              <a:rPr lang="en-US" smtClean="0"/>
              <a:pPr/>
              <a:t>‹#›</a:t>
            </a:fld>
            <a:endParaRPr lang="en-US" dirty="0"/>
          </a:p>
        </p:txBody>
      </p:sp>
      <p:pic>
        <p:nvPicPr>
          <p:cNvPr id="10" name="Picture 2" descr="https://www.iimsirmaur.ac.in/img/iimlogo.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308772" y="10391"/>
            <a:ext cx="883228" cy="8832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entury Gothic"/>
                <a:ea typeface="Century Gothic"/>
                <a:cs typeface="Century Gothic"/>
                <a:sym typeface="Century Gothic"/>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dirty="0"/>
          </a:p>
        </p:txBody>
      </p:sp>
      <p:sp>
        <p:nvSpPr>
          <p:cNvPr id="7" name="Google Shape;7;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Times New Roman" panose="02020603050405020304" pitchFamily="18" charset="0"/>
                <a:ea typeface="Times New Roman" panose="02020603050405020304" pitchFamily="18" charset="0"/>
                <a:cs typeface="Times New Roman" panose="02020603050405020304" pitchFamily="18" charset="0"/>
                <a:sym typeface="Century Gothic"/>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fld id="{4C8EE48C-6F84-430B-99C8-6D09B5D884B9}" type="datetime1">
              <a:rPr lang="en-IN" smtClean="0"/>
              <a:pPr/>
              <a:t>02-12-2025</a:t>
            </a:fld>
            <a:endParaRPr lang="en-IN" dirty="0"/>
          </a:p>
        </p:txBody>
      </p:sp>
      <p:sp>
        <p:nvSpPr>
          <p:cNvPr id="8" name="Google Shape;8;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Times New Roman" panose="02020603050405020304" pitchFamily="18" charset="0"/>
                <a:ea typeface="Times New Roman" panose="02020603050405020304" pitchFamily="18" charset="0"/>
                <a:cs typeface="Times New Roman" panose="02020603050405020304" pitchFamily="18" charset="0"/>
                <a:sym typeface="Century Gothic"/>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r>
              <a:rPr lang="en-IN" dirty="0"/>
              <a:t>Aggregate Planning</a:t>
            </a:r>
          </a:p>
        </p:txBody>
      </p:sp>
      <p:sp>
        <p:nvSpPr>
          <p:cNvPr id="9" name="Google Shape;9;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Times New Roman" panose="02020603050405020304" pitchFamily="18" charset="0"/>
                <a:ea typeface="Times New Roman" panose="02020603050405020304" pitchFamily="18" charset="0"/>
                <a:cs typeface="Times New Roman" panose="02020603050405020304" pitchFamily="18" charset="0"/>
                <a:sym typeface="Century Gothic"/>
              </a:defRPr>
            </a:lvl1pPr>
            <a:lvl2pPr marL="0" marR="0" lvl="1" indent="0" algn="r" rtl="0">
              <a:spcBef>
                <a:spcPts val="0"/>
              </a:spcBef>
              <a:buNone/>
              <a:defRPr sz="1200" b="0" i="0" u="none" strike="noStrike" cap="none">
                <a:solidFill>
                  <a:srgbClr val="888888"/>
                </a:solidFill>
                <a:latin typeface="Century Gothic"/>
                <a:ea typeface="Century Gothic"/>
                <a:cs typeface="Century Gothic"/>
                <a:sym typeface="Century Gothic"/>
              </a:defRPr>
            </a:lvl2pPr>
            <a:lvl3pPr marL="0" marR="0" lvl="2" indent="0" algn="r" rtl="0">
              <a:spcBef>
                <a:spcPts val="0"/>
              </a:spcBef>
              <a:buNone/>
              <a:defRPr sz="1200" b="0" i="0" u="none" strike="noStrike" cap="none">
                <a:solidFill>
                  <a:srgbClr val="888888"/>
                </a:solidFill>
                <a:latin typeface="Century Gothic"/>
                <a:ea typeface="Century Gothic"/>
                <a:cs typeface="Century Gothic"/>
                <a:sym typeface="Century Gothic"/>
              </a:defRPr>
            </a:lvl3pPr>
            <a:lvl4pPr marL="0" marR="0" lvl="3" indent="0" algn="r" rtl="0">
              <a:spcBef>
                <a:spcPts val="0"/>
              </a:spcBef>
              <a:buNone/>
              <a:defRPr sz="1200" b="0" i="0" u="none" strike="noStrike" cap="none">
                <a:solidFill>
                  <a:srgbClr val="888888"/>
                </a:solidFill>
                <a:latin typeface="Century Gothic"/>
                <a:ea typeface="Century Gothic"/>
                <a:cs typeface="Century Gothic"/>
                <a:sym typeface="Century Gothic"/>
              </a:defRPr>
            </a:lvl4pPr>
            <a:lvl5pPr marL="0" marR="0" lvl="4" indent="0" algn="r" rtl="0">
              <a:spcBef>
                <a:spcPts val="0"/>
              </a:spcBef>
              <a:buNone/>
              <a:defRPr sz="1200" b="0" i="0" u="none" strike="noStrike" cap="none">
                <a:solidFill>
                  <a:srgbClr val="888888"/>
                </a:solidFill>
                <a:latin typeface="Century Gothic"/>
                <a:ea typeface="Century Gothic"/>
                <a:cs typeface="Century Gothic"/>
                <a:sym typeface="Century Gothic"/>
              </a:defRPr>
            </a:lvl5pPr>
            <a:lvl6pPr marL="0" marR="0" lvl="5" indent="0" algn="r" rtl="0">
              <a:spcBef>
                <a:spcPts val="0"/>
              </a:spcBef>
              <a:buNone/>
              <a:defRPr sz="1200" b="0" i="0" u="none" strike="noStrike" cap="none">
                <a:solidFill>
                  <a:srgbClr val="888888"/>
                </a:solidFill>
                <a:latin typeface="Century Gothic"/>
                <a:ea typeface="Century Gothic"/>
                <a:cs typeface="Century Gothic"/>
                <a:sym typeface="Century Gothic"/>
              </a:defRPr>
            </a:lvl6pPr>
            <a:lvl7pPr marL="0" marR="0" lvl="6" indent="0" algn="r" rtl="0">
              <a:spcBef>
                <a:spcPts val="0"/>
              </a:spcBef>
              <a:buNone/>
              <a:defRPr sz="1200" b="0" i="0" u="none" strike="noStrike" cap="none">
                <a:solidFill>
                  <a:srgbClr val="888888"/>
                </a:solidFill>
                <a:latin typeface="Century Gothic"/>
                <a:ea typeface="Century Gothic"/>
                <a:cs typeface="Century Gothic"/>
                <a:sym typeface="Century Gothic"/>
              </a:defRPr>
            </a:lvl7pPr>
            <a:lvl8pPr marL="0" marR="0" lvl="7" indent="0" algn="r" rtl="0">
              <a:spcBef>
                <a:spcPts val="0"/>
              </a:spcBef>
              <a:buNone/>
              <a:defRPr sz="1200" b="0" i="0" u="none" strike="noStrike" cap="none">
                <a:solidFill>
                  <a:srgbClr val="888888"/>
                </a:solidFill>
                <a:latin typeface="Century Gothic"/>
                <a:ea typeface="Century Gothic"/>
                <a:cs typeface="Century Gothic"/>
                <a:sym typeface="Century Gothic"/>
              </a:defRPr>
            </a:lvl8pPr>
            <a:lvl9pPr marL="0" marR="0" lvl="8" indent="0" algn="r" rtl="0">
              <a:spcBef>
                <a:spcPts val="0"/>
              </a:spcBef>
              <a:buNone/>
              <a:defRPr sz="1200" b="0" i="0" u="none" strike="noStrike" cap="none">
                <a:solidFill>
                  <a:srgbClr val="888888"/>
                </a:solidFill>
                <a:latin typeface="Century Gothic"/>
                <a:ea typeface="Century Gothic"/>
                <a:cs typeface="Century Gothic"/>
                <a:sym typeface="Century Gothic"/>
              </a:defRPr>
            </a:lvl9pPr>
          </a:lstStyle>
          <a:p>
            <a:fld id="{00000000-1234-1234-1234-123412341234}" type="slidenum">
              <a:rPr lang="en-US" smtClean="0"/>
              <a:pPr/>
              <a:t>‹#›</a:t>
            </a:fld>
            <a:endParaRPr lang="en-US" dirty="0"/>
          </a:p>
        </p:txBody>
      </p:sp>
      <p:cxnSp>
        <p:nvCxnSpPr>
          <p:cNvPr id="10" name="Google Shape;10;p19"/>
          <p:cNvCxnSpPr/>
          <p:nvPr/>
        </p:nvCxnSpPr>
        <p:spPr>
          <a:xfrm>
            <a:off x="-942" y="931140"/>
            <a:ext cx="12196800" cy="193"/>
          </a:xfrm>
          <a:prstGeom prst="straightConnector1">
            <a:avLst/>
          </a:prstGeom>
          <a:noFill/>
          <a:ln w="38100" cap="flat" cmpd="sng">
            <a:solidFill>
              <a:srgbClr val="15438E"/>
            </a:solidFill>
            <a:prstDash val="solid"/>
            <a:miter lim="800000"/>
            <a:headEnd type="none" w="sm" len="sm"/>
            <a:tailEnd type="none" w="sm" len="sm"/>
          </a:ln>
        </p:spPr>
      </p:cxnSp>
      <p:sp>
        <p:nvSpPr>
          <p:cNvPr id="11" name="Google Shape;11;p19"/>
          <p:cNvSpPr txBox="1"/>
          <p:nvPr/>
        </p:nvSpPr>
        <p:spPr>
          <a:xfrm>
            <a:off x="838200" y="57869"/>
            <a:ext cx="8699500" cy="705904"/>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Calibri"/>
              <a:buNone/>
            </a:pPr>
            <a:endParaRPr sz="4400" b="0" i="0" u="none" strike="noStrike" cap="none">
              <a:solidFill>
                <a:schemeClr val="dk1"/>
              </a:solidFill>
              <a:latin typeface="Calibri"/>
              <a:ea typeface="Calibri"/>
              <a:cs typeface="Calibri"/>
              <a:sym typeface="Calibri"/>
            </a:endParaRPr>
          </a:p>
        </p:txBody>
      </p:sp>
      <p:pic>
        <p:nvPicPr>
          <p:cNvPr id="12" name="Picture 2" descr="https://www.iimsirmaur.ac.in/img/iimlogo.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1308772" y="10391"/>
            <a:ext cx="883228" cy="883229"/>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dk2" tx2="lt2" accent1="accent1" accent2="accent2" accent3="accent3" accent4="accent4" accent5="accent5" accent6="accent6" hlink="hlink" folHlink="folHlink"/>
  <p:sldLayoutIdLst>
    <p:sldLayoutId id="2147483649" r:id="rId1"/>
    <p:sldLayoutId id="2147483650" r:id="rId2"/>
  </p:sldLayoutIdLst>
  <p:hf hd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image" Target="../media/image12.wmf"/><Relationship Id="rId7" Type="http://schemas.openxmlformats.org/officeDocument/2006/relationships/image" Target="../media/image14.wmf"/><Relationship Id="rId2" Type="http://schemas.openxmlformats.org/officeDocument/2006/relationships/oleObject" Target="../embeddings/oleObject2.bin"/><Relationship Id="rId1" Type="http://schemas.openxmlformats.org/officeDocument/2006/relationships/slideLayout" Target="../slideLayouts/slideLayout2.xml"/><Relationship Id="rId6" Type="http://schemas.openxmlformats.org/officeDocument/2006/relationships/oleObject" Target="../embeddings/oleObject4.bin"/><Relationship Id="rId5" Type="http://schemas.openxmlformats.org/officeDocument/2006/relationships/image" Target="../media/image13.wmf"/><Relationship Id="rId4" Type="http://schemas.openxmlformats.org/officeDocument/2006/relationships/oleObject" Target="../embeddings/oleObject3.bin"/><Relationship Id="rId9" Type="http://schemas.openxmlformats.org/officeDocument/2006/relationships/image" Target="../media/image15.w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4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
        <p:cNvGrpSpPr/>
        <p:nvPr/>
      </p:nvGrpSpPr>
      <p:grpSpPr>
        <a:xfrm>
          <a:off x="0" y="0"/>
          <a:ext cx="0" cy="0"/>
          <a:chOff x="0" y="0"/>
          <a:chExt cx="0" cy="0"/>
        </a:xfrm>
      </p:grpSpPr>
      <p:sp>
        <p:nvSpPr>
          <p:cNvPr id="25" name="Google Shape;25;p1"/>
          <p:cNvSpPr txBox="1"/>
          <p:nvPr/>
        </p:nvSpPr>
        <p:spPr>
          <a:xfrm>
            <a:off x="1297489" y="2480276"/>
            <a:ext cx="10343400" cy="1897447"/>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rgbClr val="000000"/>
              </a:buClr>
              <a:buFont typeface="Arial"/>
              <a:buNone/>
            </a:pPr>
            <a:r>
              <a:rPr lang="en-IN" sz="4400" b="1" dirty="0">
                <a:solidFill>
                  <a:srgbClr val="0066A1"/>
                </a:solidFill>
                <a:latin typeface="Times New Roman"/>
                <a:ea typeface="Times New Roman"/>
                <a:cs typeface="Times New Roman"/>
                <a:sym typeface="Times New Roman"/>
              </a:rPr>
              <a:t>Aggregate Planning</a:t>
            </a:r>
          </a:p>
          <a:p>
            <a:pPr marL="0" lvl="0" indent="0" algn="ctr" rtl="0">
              <a:spcBef>
                <a:spcPts val="0"/>
              </a:spcBef>
              <a:spcAft>
                <a:spcPts val="0"/>
              </a:spcAft>
              <a:buClr>
                <a:srgbClr val="000000"/>
              </a:buClr>
              <a:buFont typeface="Arial"/>
              <a:buNone/>
            </a:pPr>
            <a:r>
              <a:rPr lang="en-IN" sz="4400" b="1" dirty="0">
                <a:solidFill>
                  <a:srgbClr val="0066A1"/>
                </a:solidFill>
                <a:latin typeface="Times New Roman"/>
                <a:ea typeface="Times New Roman"/>
                <a:cs typeface="Times New Roman"/>
                <a:sym typeface="Times New Roman"/>
              </a:rPr>
              <a:t>(Sales &amp; Operations Planning)</a:t>
            </a:r>
            <a:endParaRPr sz="4400" b="1" dirty="0">
              <a:solidFill>
                <a:srgbClr val="0066A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ct val="100000"/>
              <a:buFont typeface="Arial"/>
              <a:buNone/>
            </a:pPr>
            <a:endParaRPr sz="2800" dirty="0">
              <a:solidFill>
                <a:schemeClr val="dk1"/>
              </a:solidFill>
              <a:latin typeface="Century Gothic"/>
              <a:ea typeface="Century Gothic"/>
              <a:cs typeface="Century Gothic"/>
              <a:sym typeface="Century Gothic"/>
            </a:endParaRPr>
          </a:p>
        </p:txBody>
      </p:sp>
      <p:sp>
        <p:nvSpPr>
          <p:cNvPr id="2" name="Google Shape;24;p1">
            <a:extLst>
              <a:ext uri="{FF2B5EF4-FFF2-40B4-BE49-F238E27FC236}">
                <a16:creationId xmlns:a16="http://schemas.microsoft.com/office/drawing/2014/main" id="{860CCB63-2A70-F201-CD44-E43234AE390C}"/>
              </a:ext>
            </a:extLst>
          </p:cNvPr>
          <p:cNvSpPr txBox="1">
            <a:spLocks noGrp="1"/>
          </p:cNvSpPr>
          <p:nvPr>
            <p:ph type="subTitle" idx="1"/>
          </p:nvPr>
        </p:nvSpPr>
        <p:spPr>
          <a:xfrm>
            <a:off x="7303911" y="4854223"/>
            <a:ext cx="4786489" cy="124177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2000"/>
              <a:buNone/>
            </a:pPr>
            <a:r>
              <a:rPr lang="en-IN" sz="2000" b="1" dirty="0" err="1">
                <a:solidFill>
                  <a:srgbClr val="002060"/>
                </a:solidFill>
                <a:latin typeface="Times New Roman" panose="02020603050405020304" pitchFamily="18" charset="0"/>
                <a:cs typeface="Times New Roman" panose="02020603050405020304" pitchFamily="18" charset="0"/>
              </a:rPr>
              <a:t>Dr.</a:t>
            </a:r>
            <a:r>
              <a:rPr lang="en-IN" sz="2000" b="1" dirty="0">
                <a:solidFill>
                  <a:srgbClr val="002060"/>
                </a:solidFill>
                <a:latin typeface="Times New Roman" panose="02020603050405020304" pitchFamily="18" charset="0"/>
                <a:cs typeface="Times New Roman" panose="02020603050405020304" pitchFamily="18" charset="0"/>
              </a:rPr>
              <a:t> </a:t>
            </a:r>
            <a:r>
              <a:rPr lang="en-IN" sz="2000" b="1" dirty="0" err="1">
                <a:solidFill>
                  <a:srgbClr val="002060"/>
                </a:solidFill>
                <a:latin typeface="Times New Roman" panose="02020603050405020304" pitchFamily="18" charset="0"/>
                <a:cs typeface="Times New Roman" panose="02020603050405020304" pitchFamily="18" charset="0"/>
              </a:rPr>
              <a:t>Narpat</a:t>
            </a:r>
            <a:r>
              <a:rPr lang="en-IN" sz="2000" b="1" dirty="0">
                <a:solidFill>
                  <a:srgbClr val="002060"/>
                </a:solidFill>
                <a:latin typeface="Times New Roman" panose="02020603050405020304" pitchFamily="18" charset="0"/>
                <a:cs typeface="Times New Roman" panose="02020603050405020304" pitchFamily="18" charset="0"/>
              </a:rPr>
              <a:t> Ram </a:t>
            </a:r>
            <a:r>
              <a:rPr lang="en-IN" sz="2000" b="1" dirty="0" err="1">
                <a:solidFill>
                  <a:srgbClr val="002060"/>
                </a:solidFill>
                <a:latin typeface="Times New Roman" panose="02020603050405020304" pitchFamily="18" charset="0"/>
                <a:cs typeface="Times New Roman" panose="02020603050405020304" pitchFamily="18" charset="0"/>
              </a:rPr>
              <a:t>Sangwa</a:t>
            </a:r>
            <a:endParaRPr lang="en-IN" sz="2000" b="1" dirty="0">
              <a:solidFill>
                <a:srgbClr val="002060"/>
              </a:solidFill>
              <a:latin typeface="Times New Roman" panose="02020603050405020304" pitchFamily="18" charset="0"/>
              <a:cs typeface="Times New Roman" panose="02020603050405020304" pitchFamily="18" charset="0"/>
            </a:endParaRPr>
          </a:p>
          <a:p>
            <a:pPr marL="0" lvl="0" indent="0" algn="l" rtl="0">
              <a:lnSpc>
                <a:spcPct val="100000"/>
              </a:lnSpc>
              <a:spcBef>
                <a:spcPts val="0"/>
              </a:spcBef>
              <a:spcAft>
                <a:spcPts val="0"/>
              </a:spcAft>
              <a:buClr>
                <a:schemeClr val="dk1"/>
              </a:buClr>
              <a:buSzPts val="2000"/>
              <a:buNone/>
            </a:pPr>
            <a:r>
              <a:rPr lang="en-IN" sz="2000" b="1" dirty="0">
                <a:solidFill>
                  <a:srgbClr val="002060"/>
                </a:solidFill>
                <a:latin typeface="Times New Roman" panose="02020603050405020304" pitchFamily="18" charset="0"/>
                <a:cs typeface="Times New Roman" panose="02020603050405020304" pitchFamily="18" charset="0"/>
              </a:rPr>
              <a:t>Assistant Professor</a:t>
            </a:r>
          </a:p>
          <a:p>
            <a:pPr marL="0" lvl="0" indent="0" algn="l" rtl="0">
              <a:lnSpc>
                <a:spcPct val="100000"/>
              </a:lnSpc>
              <a:spcBef>
                <a:spcPts val="0"/>
              </a:spcBef>
              <a:spcAft>
                <a:spcPts val="0"/>
              </a:spcAft>
              <a:buClr>
                <a:schemeClr val="dk1"/>
              </a:buClr>
              <a:buSzPts val="2000"/>
              <a:buNone/>
            </a:pPr>
            <a:r>
              <a:rPr lang="en-IN" sz="2000" b="1" dirty="0">
                <a:solidFill>
                  <a:srgbClr val="002060"/>
                </a:solidFill>
                <a:latin typeface="Times New Roman" panose="02020603050405020304" pitchFamily="18" charset="0"/>
                <a:cs typeface="Times New Roman" panose="02020603050405020304" pitchFamily="18" charset="0"/>
              </a:rPr>
              <a:t>Operations &amp; Supply Chain Management</a:t>
            </a:r>
          </a:p>
          <a:p>
            <a:pPr marL="0" lvl="0" indent="0" algn="l" rtl="0">
              <a:lnSpc>
                <a:spcPct val="100000"/>
              </a:lnSpc>
              <a:spcBef>
                <a:spcPts val="0"/>
              </a:spcBef>
              <a:spcAft>
                <a:spcPts val="0"/>
              </a:spcAft>
              <a:buClr>
                <a:schemeClr val="dk1"/>
              </a:buClr>
              <a:buSzPts val="2000"/>
              <a:buNone/>
            </a:pPr>
            <a:r>
              <a:rPr lang="en-IN" sz="2000" b="1" dirty="0">
                <a:solidFill>
                  <a:srgbClr val="002060"/>
                </a:solidFill>
                <a:latin typeface="Times New Roman" panose="02020603050405020304" pitchFamily="18" charset="0"/>
                <a:cs typeface="Times New Roman" panose="02020603050405020304" pitchFamily="18" charset="0"/>
              </a:rPr>
              <a:t>IIM </a:t>
            </a:r>
            <a:r>
              <a:rPr lang="en-IN" sz="2000" b="1" dirty="0" err="1">
                <a:solidFill>
                  <a:srgbClr val="002060"/>
                </a:solidFill>
                <a:latin typeface="Times New Roman" panose="02020603050405020304" pitchFamily="18" charset="0"/>
                <a:cs typeface="Times New Roman" panose="02020603050405020304" pitchFamily="18" charset="0"/>
              </a:rPr>
              <a:t>Sirmaur</a:t>
            </a:r>
            <a:endParaRPr sz="2000" b="1" dirty="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Learning Objectives</a:t>
            </a:r>
          </a:p>
        </p:txBody>
      </p:sp>
      <p:sp>
        <p:nvSpPr>
          <p:cNvPr id="3" name="Text Placeholder 2"/>
          <p:cNvSpPr>
            <a:spLocks noGrp="1"/>
          </p:cNvSpPr>
          <p:nvPr>
            <p:ph type="body" idx="1"/>
          </p:nvPr>
        </p:nvSpPr>
        <p:spPr/>
        <p:txBody>
          <a:bodyPr>
            <a:normAutofit/>
          </a:bodyPr>
          <a:lstStyle/>
          <a:p>
            <a:r>
              <a:rPr lang="en-US" dirty="0">
                <a:solidFill>
                  <a:srgbClr val="CC0066"/>
                </a:solidFill>
                <a:effectLst>
                  <a:outerShdw blurRad="38100" dist="38100" dir="2700000" algn="tl">
                    <a:srgbClr val="000000"/>
                  </a:outerShdw>
                </a:effectLst>
              </a:rPr>
              <a:t>What does </a:t>
            </a:r>
            <a:r>
              <a:rPr lang="en-US" dirty="0"/>
              <a:t>aggregate planning do?</a:t>
            </a:r>
          </a:p>
          <a:p>
            <a:r>
              <a:rPr lang="en-US" dirty="0">
                <a:solidFill>
                  <a:srgbClr val="CC0066"/>
                </a:solidFill>
                <a:effectLst>
                  <a:outerShdw blurRad="38100" dist="38100" dir="2700000" algn="tl">
                    <a:srgbClr val="000000"/>
                  </a:outerShdw>
                </a:effectLst>
              </a:rPr>
              <a:t>How to respond </a:t>
            </a:r>
            <a:r>
              <a:rPr lang="en-US" dirty="0"/>
              <a:t>the demand fluctuation?</a:t>
            </a:r>
          </a:p>
          <a:p>
            <a:r>
              <a:rPr lang="en-US" dirty="0">
                <a:solidFill>
                  <a:srgbClr val="CC0066"/>
                </a:solidFill>
                <a:effectLst>
                  <a:outerShdw blurRad="38100" dist="38100" dir="2700000" algn="tl">
                    <a:srgbClr val="000000"/>
                  </a:outerShdw>
                </a:effectLst>
              </a:rPr>
              <a:t>How do organization </a:t>
            </a:r>
            <a:r>
              <a:rPr lang="en-US" dirty="0"/>
              <a:t>define an aggregate plan?</a:t>
            </a:r>
          </a:p>
          <a:p>
            <a:r>
              <a:rPr lang="en-US" dirty="0">
                <a:solidFill>
                  <a:srgbClr val="CC0066"/>
                </a:solidFill>
                <a:effectLst>
                  <a:outerShdw blurRad="38100" dist="38100" dir="2700000" algn="tl">
                    <a:srgbClr val="000000"/>
                  </a:outerShdw>
                </a:effectLst>
              </a:rPr>
              <a:t>What are the basic trade-offs strategies </a:t>
            </a:r>
            <a:r>
              <a:rPr lang="en-US" dirty="0">
                <a:solidFill>
                  <a:schemeClr val="tx1"/>
                </a:solidFill>
              </a:rPr>
              <a:t>to consider when creating an aggregate plan.</a:t>
            </a:r>
          </a:p>
          <a:p>
            <a:pPr>
              <a:buSzPts val="2600"/>
              <a:buFont typeface="Arial" panose="020B0604020202020204" pitchFamily="34" charset="0"/>
              <a:buChar char="•"/>
            </a:pPr>
            <a:endParaRPr lang="en-IN" kern="1200" dirty="0">
              <a:solidFill>
                <a:srgbClr val="000000"/>
              </a:solidFill>
            </a:endParaRPr>
          </a:p>
          <a:p>
            <a:endParaRPr lang="en-IN" dirty="0"/>
          </a:p>
          <a:p>
            <a:endParaRPr lang="en-IN" dirty="0"/>
          </a:p>
        </p:txBody>
      </p:sp>
      <p:sp>
        <p:nvSpPr>
          <p:cNvPr id="4" name="Date Placeholder 3"/>
          <p:cNvSpPr>
            <a:spLocks noGrp="1"/>
          </p:cNvSpPr>
          <p:nvPr>
            <p:ph type="dt" idx="10"/>
          </p:nvPr>
        </p:nvSpPr>
        <p:spPr/>
        <p:txBody>
          <a:bodyPr/>
          <a:lstStyle/>
          <a:p>
            <a:fld id="{D1FBB12C-6AF2-404C-B802-656F1A988312}" type="datetime1">
              <a:rPr lang="en-IN" smtClean="0"/>
              <a:pPr/>
              <a:t>02-12-2025</a:t>
            </a:fld>
            <a:endParaRPr lang="en-IN" dirty="0"/>
          </a:p>
        </p:txBody>
      </p:sp>
      <p:sp>
        <p:nvSpPr>
          <p:cNvPr id="5" name="Footer Placeholder 4"/>
          <p:cNvSpPr>
            <a:spLocks noGrp="1"/>
          </p:cNvSpPr>
          <p:nvPr>
            <p:ph type="ftr" idx="11"/>
          </p:nvPr>
        </p:nvSpPr>
        <p:spPr/>
        <p:txBody>
          <a:bodyPr/>
          <a:lstStyle/>
          <a:p>
            <a:r>
              <a:rPr lang="en-IN" dirty="0"/>
              <a:t>Aggregate Planning</a:t>
            </a:r>
          </a:p>
        </p:txBody>
      </p:sp>
      <p:sp>
        <p:nvSpPr>
          <p:cNvPr id="6" name="Slide Number Placeholder 5"/>
          <p:cNvSpPr>
            <a:spLocks noGrp="1"/>
          </p:cNvSpPr>
          <p:nvPr>
            <p:ph type="sldNum" idx="12"/>
          </p:nvPr>
        </p:nvSpPr>
        <p:spPr/>
        <p:txBody>
          <a:bodyPr/>
          <a:lstStyle/>
          <a:p>
            <a:fld id="{00000000-1234-1234-1234-123412341234}" type="slidenum">
              <a:rPr lang="en-US" smtClean="0"/>
              <a:pPr/>
              <a:t>2</a:t>
            </a:fld>
            <a:endParaRPr lang="en-US" dirty="0"/>
          </a:p>
        </p:txBody>
      </p:sp>
    </p:spTree>
    <p:extLst>
      <p:ext uri="{BB962C8B-B14F-4D97-AF65-F5344CB8AC3E}">
        <p14:creationId xmlns:p14="http://schemas.microsoft.com/office/powerpoint/2010/main" val="5823271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BBDCC-888C-9C5D-4557-98E5E9DFC189}"/>
              </a:ext>
            </a:extLst>
          </p:cNvPr>
          <p:cNvSpPr>
            <a:spLocks noGrp="1"/>
          </p:cNvSpPr>
          <p:nvPr>
            <p:ph type="title"/>
          </p:nvPr>
        </p:nvSpPr>
        <p:spPr/>
        <p:txBody>
          <a:bodyPr/>
          <a:lstStyle/>
          <a:p>
            <a:r>
              <a:rPr lang="en-IN" dirty="0"/>
              <a:t>The Planning Process</a:t>
            </a:r>
          </a:p>
        </p:txBody>
      </p:sp>
      <p:sp>
        <p:nvSpPr>
          <p:cNvPr id="4" name="Date Placeholder 3">
            <a:extLst>
              <a:ext uri="{FF2B5EF4-FFF2-40B4-BE49-F238E27FC236}">
                <a16:creationId xmlns:a16="http://schemas.microsoft.com/office/drawing/2014/main" id="{0D58FB4A-C513-ACCC-2C34-3D4D64356E58}"/>
              </a:ext>
            </a:extLst>
          </p:cNvPr>
          <p:cNvSpPr>
            <a:spLocks noGrp="1"/>
          </p:cNvSpPr>
          <p:nvPr>
            <p:ph type="dt" idx="10"/>
          </p:nvPr>
        </p:nvSpPr>
        <p:spPr/>
        <p:txBody>
          <a:bodyPr/>
          <a:lstStyle/>
          <a:p>
            <a:fld id="{D1FBB12C-6AF2-404C-B802-656F1A988312}" type="datetime1">
              <a:rPr lang="en-IN" smtClean="0"/>
              <a:pPr/>
              <a:t>02-12-2025</a:t>
            </a:fld>
            <a:endParaRPr lang="en-IN" dirty="0"/>
          </a:p>
        </p:txBody>
      </p:sp>
      <p:sp>
        <p:nvSpPr>
          <p:cNvPr id="5" name="Footer Placeholder 4">
            <a:extLst>
              <a:ext uri="{FF2B5EF4-FFF2-40B4-BE49-F238E27FC236}">
                <a16:creationId xmlns:a16="http://schemas.microsoft.com/office/drawing/2014/main" id="{6118AC5F-0717-0756-718C-2D4BAAFFB667}"/>
              </a:ext>
            </a:extLst>
          </p:cNvPr>
          <p:cNvSpPr>
            <a:spLocks noGrp="1"/>
          </p:cNvSpPr>
          <p:nvPr>
            <p:ph type="ftr" idx="11"/>
          </p:nvPr>
        </p:nvSpPr>
        <p:spPr/>
        <p:txBody>
          <a:bodyPr/>
          <a:lstStyle/>
          <a:p>
            <a:r>
              <a:rPr lang="en-IN"/>
              <a:t>Aggregate Planning</a:t>
            </a:r>
            <a:endParaRPr lang="en-IN" dirty="0"/>
          </a:p>
        </p:txBody>
      </p:sp>
      <p:sp>
        <p:nvSpPr>
          <p:cNvPr id="6" name="Slide Number Placeholder 5">
            <a:extLst>
              <a:ext uri="{FF2B5EF4-FFF2-40B4-BE49-F238E27FC236}">
                <a16:creationId xmlns:a16="http://schemas.microsoft.com/office/drawing/2014/main" id="{C1B18643-B8D5-4D62-86EA-FA1F4A89CE4B}"/>
              </a:ext>
            </a:extLst>
          </p:cNvPr>
          <p:cNvSpPr>
            <a:spLocks noGrp="1"/>
          </p:cNvSpPr>
          <p:nvPr>
            <p:ph type="sldNum" idx="12"/>
          </p:nvPr>
        </p:nvSpPr>
        <p:spPr/>
        <p:txBody>
          <a:bodyPr/>
          <a:lstStyle/>
          <a:p>
            <a:fld id="{00000000-1234-1234-1234-123412341234}" type="slidenum">
              <a:rPr lang="en-US" smtClean="0"/>
              <a:pPr/>
              <a:t>3</a:t>
            </a:fld>
            <a:endParaRPr lang="en-US" dirty="0"/>
          </a:p>
        </p:txBody>
      </p:sp>
      <p:grpSp>
        <p:nvGrpSpPr>
          <p:cNvPr id="28" name="Group 27">
            <a:extLst>
              <a:ext uri="{FF2B5EF4-FFF2-40B4-BE49-F238E27FC236}">
                <a16:creationId xmlns:a16="http://schemas.microsoft.com/office/drawing/2014/main" id="{FB30E850-C5F1-75ED-8B9E-18727AD7AAF1}"/>
              </a:ext>
            </a:extLst>
          </p:cNvPr>
          <p:cNvGrpSpPr>
            <a:grpSpLocks/>
          </p:cNvGrpSpPr>
          <p:nvPr/>
        </p:nvGrpSpPr>
        <p:grpSpPr bwMode="auto">
          <a:xfrm>
            <a:off x="2120900" y="1018035"/>
            <a:ext cx="7950200" cy="5013324"/>
            <a:chOff x="952500" y="1162050"/>
            <a:chExt cx="7950200" cy="5013127"/>
          </a:xfrm>
        </p:grpSpPr>
        <p:sp>
          <p:nvSpPr>
            <p:cNvPr id="29" name="Freeform 5">
              <a:extLst>
                <a:ext uri="{FF2B5EF4-FFF2-40B4-BE49-F238E27FC236}">
                  <a16:creationId xmlns:a16="http://schemas.microsoft.com/office/drawing/2014/main" id="{29D2CE0B-75A7-7C2C-20F2-ED8E96470001}"/>
                </a:ext>
              </a:extLst>
            </p:cNvPr>
            <p:cNvSpPr>
              <a:spLocks/>
            </p:cNvSpPr>
            <p:nvPr/>
          </p:nvSpPr>
          <p:spPr bwMode="auto">
            <a:xfrm>
              <a:off x="3543300" y="1168400"/>
              <a:ext cx="5359400" cy="1552514"/>
            </a:xfrm>
            <a:custGeom>
              <a:avLst/>
              <a:gdLst>
                <a:gd name="T0" fmla="*/ 2888 w 3372"/>
                <a:gd name="T1" fmla="*/ 1048 h 1048"/>
                <a:gd name="T2" fmla="*/ 0 w 3372"/>
                <a:gd name="T3" fmla="*/ 1048 h 1048"/>
                <a:gd name="T4" fmla="*/ 0 w 3372"/>
                <a:gd name="T5" fmla="*/ 4 h 1048"/>
                <a:gd name="T6" fmla="*/ 3372 w 3372"/>
                <a:gd name="T7" fmla="*/ 0 h 1048"/>
                <a:gd name="T8" fmla="*/ 2888 w 3372"/>
                <a:gd name="T9" fmla="*/ 1048 h 1048"/>
              </a:gdLst>
              <a:ahLst/>
              <a:cxnLst>
                <a:cxn ang="0">
                  <a:pos x="T0" y="T1"/>
                </a:cxn>
                <a:cxn ang="0">
                  <a:pos x="T2" y="T3"/>
                </a:cxn>
                <a:cxn ang="0">
                  <a:pos x="T4" y="T5"/>
                </a:cxn>
                <a:cxn ang="0">
                  <a:pos x="T6" y="T7"/>
                </a:cxn>
                <a:cxn ang="0">
                  <a:pos x="T8" y="T9"/>
                </a:cxn>
              </a:cxnLst>
              <a:rect l="0" t="0" r="r" b="b"/>
              <a:pathLst>
                <a:path w="3372" h="1048">
                  <a:moveTo>
                    <a:pt x="2888" y="1048"/>
                  </a:moveTo>
                  <a:lnTo>
                    <a:pt x="0" y="1048"/>
                  </a:lnTo>
                  <a:lnTo>
                    <a:pt x="0" y="4"/>
                  </a:lnTo>
                  <a:lnTo>
                    <a:pt x="3372" y="0"/>
                  </a:lnTo>
                  <a:lnTo>
                    <a:pt x="2888" y="1048"/>
                  </a:lnTo>
                  <a:close/>
                </a:path>
              </a:pathLst>
            </a:custGeom>
            <a:solidFill>
              <a:srgbClr val="9FACC7">
                <a:lumMod val="75000"/>
              </a:srgbClr>
            </a:solidFill>
            <a:ln>
              <a:noFill/>
            </a:ln>
            <a:effectLst/>
          </p:spPr>
          <p:txBody>
            <a:bodyPr wrap="none" anchor="ctr"/>
            <a:lstStyle>
              <a:defPPr>
                <a:defRPr lang="en-US"/>
              </a:defPPr>
              <a:lvl1pPr algn="l" defTabSz="457200" rtl="0" fontAlgn="base">
                <a:spcBef>
                  <a:spcPct val="0"/>
                </a:spcBef>
                <a:spcAft>
                  <a:spcPct val="0"/>
                </a:spcAft>
                <a:defRPr kern="1200">
                  <a:solidFill>
                    <a:schemeClr val="tx1"/>
                  </a:solidFill>
                  <a:latin typeface="Arial" charset="0"/>
                  <a:ea typeface="ＭＳ Ｐゴシック" charset="0"/>
                  <a:cs typeface="Arial" charset="0"/>
                </a:defRPr>
              </a:lvl1pPr>
              <a:lvl2pPr marL="457200" algn="l" defTabSz="457200" rtl="0" fontAlgn="base">
                <a:spcBef>
                  <a:spcPct val="0"/>
                </a:spcBef>
                <a:spcAft>
                  <a:spcPct val="0"/>
                </a:spcAft>
                <a:defRPr kern="1200">
                  <a:solidFill>
                    <a:schemeClr val="tx1"/>
                  </a:solidFill>
                  <a:latin typeface="Arial" charset="0"/>
                  <a:ea typeface="ＭＳ Ｐゴシック" charset="0"/>
                  <a:cs typeface="Arial" charset="0"/>
                </a:defRPr>
              </a:lvl2pPr>
              <a:lvl3pPr marL="914400" algn="l" defTabSz="457200" rtl="0" fontAlgn="base">
                <a:spcBef>
                  <a:spcPct val="0"/>
                </a:spcBef>
                <a:spcAft>
                  <a:spcPct val="0"/>
                </a:spcAft>
                <a:defRPr kern="1200">
                  <a:solidFill>
                    <a:schemeClr val="tx1"/>
                  </a:solidFill>
                  <a:latin typeface="Arial" charset="0"/>
                  <a:ea typeface="ＭＳ Ｐゴシック" charset="0"/>
                  <a:cs typeface="Arial" charset="0"/>
                </a:defRPr>
              </a:lvl3pPr>
              <a:lvl4pPr marL="1371600" algn="l" defTabSz="457200" rtl="0" fontAlgn="base">
                <a:spcBef>
                  <a:spcPct val="0"/>
                </a:spcBef>
                <a:spcAft>
                  <a:spcPct val="0"/>
                </a:spcAft>
                <a:defRPr kern="1200">
                  <a:solidFill>
                    <a:schemeClr val="tx1"/>
                  </a:solidFill>
                  <a:latin typeface="Arial" charset="0"/>
                  <a:ea typeface="ＭＳ Ｐゴシック" charset="0"/>
                  <a:cs typeface="Arial" charset="0"/>
                </a:defRPr>
              </a:lvl4pPr>
              <a:lvl5pPr marL="1828800" algn="l" defTabSz="457200" rtl="0" fontAlgn="base">
                <a:spcBef>
                  <a:spcPct val="0"/>
                </a:spcBef>
                <a:spcAft>
                  <a:spcPct val="0"/>
                </a:spcAft>
                <a:defRPr kern="1200">
                  <a:solidFill>
                    <a:schemeClr val="tx1"/>
                  </a:solidFill>
                  <a:latin typeface="Arial" charset="0"/>
                  <a:ea typeface="ＭＳ Ｐゴシック" charset="0"/>
                  <a:cs typeface="Arial" charset="0"/>
                </a:defRPr>
              </a:lvl5pPr>
              <a:lvl6pPr marL="2286000" algn="l" defTabSz="457200" rtl="0" eaLnBrk="1" latinLnBrk="0" hangingPunct="1">
                <a:defRPr kern="1200">
                  <a:solidFill>
                    <a:schemeClr val="tx1"/>
                  </a:solidFill>
                  <a:latin typeface="Arial" charset="0"/>
                  <a:ea typeface="ＭＳ Ｐゴシック" charset="0"/>
                  <a:cs typeface="Arial" charset="0"/>
                </a:defRPr>
              </a:lvl6pPr>
              <a:lvl7pPr marL="2743200" algn="l" defTabSz="457200" rtl="0" eaLnBrk="1" latinLnBrk="0" hangingPunct="1">
                <a:defRPr kern="1200">
                  <a:solidFill>
                    <a:schemeClr val="tx1"/>
                  </a:solidFill>
                  <a:latin typeface="Arial" charset="0"/>
                  <a:ea typeface="ＭＳ Ｐゴシック" charset="0"/>
                  <a:cs typeface="Arial" charset="0"/>
                </a:defRPr>
              </a:lvl7pPr>
              <a:lvl8pPr marL="3200400" algn="l" defTabSz="457200" rtl="0" eaLnBrk="1" latinLnBrk="0" hangingPunct="1">
                <a:defRPr kern="1200">
                  <a:solidFill>
                    <a:schemeClr val="tx1"/>
                  </a:solidFill>
                  <a:latin typeface="Arial" charset="0"/>
                  <a:ea typeface="ＭＳ Ｐゴシック" charset="0"/>
                  <a:cs typeface="Arial" charset="0"/>
                </a:defRPr>
              </a:lvl8pPr>
              <a:lvl9pPr marL="3657600" algn="l" defTabSz="457200" rtl="0" eaLnBrk="1" latinLnBrk="0" hangingPunct="1">
                <a:defRPr kern="1200">
                  <a:solidFill>
                    <a:schemeClr val="tx1"/>
                  </a:solidFill>
                  <a:latin typeface="Arial" charset="0"/>
                  <a:ea typeface="ＭＳ Ｐゴシック" charset="0"/>
                  <a:cs typeface="Arial" charset="0"/>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a:ea typeface="ＭＳ Ｐゴシック" charset="0"/>
                <a:cs typeface="Arial" charset="0"/>
              </a:endParaRPr>
            </a:p>
          </p:txBody>
        </p:sp>
        <p:sp>
          <p:nvSpPr>
            <p:cNvPr id="30" name="Freeform 6">
              <a:extLst>
                <a:ext uri="{FF2B5EF4-FFF2-40B4-BE49-F238E27FC236}">
                  <a16:creationId xmlns:a16="http://schemas.microsoft.com/office/drawing/2014/main" id="{A664F707-9A74-7696-E03E-144C2F038F60}"/>
                </a:ext>
              </a:extLst>
            </p:cNvPr>
            <p:cNvSpPr>
              <a:spLocks/>
            </p:cNvSpPr>
            <p:nvPr/>
          </p:nvSpPr>
          <p:spPr bwMode="auto">
            <a:xfrm>
              <a:off x="3549650" y="2724088"/>
              <a:ext cx="4584700" cy="1384245"/>
            </a:xfrm>
            <a:custGeom>
              <a:avLst/>
              <a:gdLst>
                <a:gd name="T0" fmla="*/ 2432 w 2888"/>
                <a:gd name="T1" fmla="*/ 984 h 988"/>
                <a:gd name="T2" fmla="*/ 0 w 2888"/>
                <a:gd name="T3" fmla="*/ 988 h 988"/>
                <a:gd name="T4" fmla="*/ 0 w 2888"/>
                <a:gd name="T5" fmla="*/ 0 h 988"/>
                <a:gd name="T6" fmla="*/ 2888 w 2888"/>
                <a:gd name="T7" fmla="*/ 0 h 988"/>
                <a:gd name="T8" fmla="*/ 2432 w 2888"/>
                <a:gd name="T9" fmla="*/ 984 h 988"/>
                <a:gd name="connsiteX0" fmla="*/ 8573 w 10000"/>
                <a:gd name="connsiteY0" fmla="*/ 10052 h 10052"/>
                <a:gd name="connsiteX1" fmla="*/ 0 w 10000"/>
                <a:gd name="connsiteY1" fmla="*/ 10000 h 10052"/>
                <a:gd name="connsiteX2" fmla="*/ 0 w 10000"/>
                <a:gd name="connsiteY2" fmla="*/ 0 h 10052"/>
                <a:gd name="connsiteX3" fmla="*/ 10000 w 10000"/>
                <a:gd name="connsiteY3" fmla="*/ 0 h 10052"/>
                <a:gd name="connsiteX4" fmla="*/ 8573 w 10000"/>
                <a:gd name="connsiteY4" fmla="*/ 10052 h 10052"/>
                <a:gd name="connsiteX0" fmla="*/ 8559 w 10000"/>
                <a:gd name="connsiteY0" fmla="*/ 9914 h 10000"/>
                <a:gd name="connsiteX1" fmla="*/ 0 w 10000"/>
                <a:gd name="connsiteY1" fmla="*/ 10000 h 10000"/>
                <a:gd name="connsiteX2" fmla="*/ 0 w 10000"/>
                <a:gd name="connsiteY2" fmla="*/ 0 h 10000"/>
                <a:gd name="connsiteX3" fmla="*/ 10000 w 10000"/>
                <a:gd name="connsiteY3" fmla="*/ 0 h 10000"/>
                <a:gd name="connsiteX4" fmla="*/ 8559 w 10000"/>
                <a:gd name="connsiteY4" fmla="*/ 9914 h 10000"/>
                <a:gd name="connsiteX0" fmla="*/ 8517 w 10000"/>
                <a:gd name="connsiteY0" fmla="*/ 10052 h 10052"/>
                <a:gd name="connsiteX1" fmla="*/ 0 w 10000"/>
                <a:gd name="connsiteY1" fmla="*/ 10000 h 10052"/>
                <a:gd name="connsiteX2" fmla="*/ 0 w 10000"/>
                <a:gd name="connsiteY2" fmla="*/ 0 h 10052"/>
                <a:gd name="connsiteX3" fmla="*/ 10000 w 10000"/>
                <a:gd name="connsiteY3" fmla="*/ 0 h 10052"/>
                <a:gd name="connsiteX4" fmla="*/ 8517 w 10000"/>
                <a:gd name="connsiteY4" fmla="*/ 10052 h 10052"/>
                <a:gd name="connsiteX0" fmla="*/ 8559 w 10000"/>
                <a:gd name="connsiteY0" fmla="*/ 10006 h 10006"/>
                <a:gd name="connsiteX1" fmla="*/ 0 w 10000"/>
                <a:gd name="connsiteY1" fmla="*/ 10000 h 10006"/>
                <a:gd name="connsiteX2" fmla="*/ 0 w 10000"/>
                <a:gd name="connsiteY2" fmla="*/ 0 h 10006"/>
                <a:gd name="connsiteX3" fmla="*/ 10000 w 10000"/>
                <a:gd name="connsiteY3" fmla="*/ 0 h 10006"/>
                <a:gd name="connsiteX4" fmla="*/ 8559 w 10000"/>
                <a:gd name="connsiteY4" fmla="*/ 10006 h 10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6">
                  <a:moveTo>
                    <a:pt x="8559" y="10006"/>
                  </a:moveTo>
                  <a:lnTo>
                    <a:pt x="0" y="10000"/>
                  </a:lnTo>
                  <a:lnTo>
                    <a:pt x="0" y="0"/>
                  </a:lnTo>
                  <a:lnTo>
                    <a:pt x="10000" y="0"/>
                  </a:lnTo>
                  <a:lnTo>
                    <a:pt x="8559" y="10006"/>
                  </a:lnTo>
                  <a:close/>
                </a:path>
              </a:pathLst>
            </a:custGeom>
            <a:solidFill>
              <a:srgbClr val="F7D7AC">
                <a:lumMod val="50000"/>
              </a:srgbClr>
            </a:solidFill>
            <a:ln>
              <a:noFill/>
            </a:ln>
            <a:effectLst/>
          </p:spPr>
          <p:txBody>
            <a:bodyPr wrap="none" anchor="ctr"/>
            <a:lstStyle>
              <a:defPPr>
                <a:defRPr lang="en-US"/>
              </a:defPPr>
              <a:lvl1pPr algn="l" defTabSz="457200" rtl="0" fontAlgn="base">
                <a:spcBef>
                  <a:spcPct val="0"/>
                </a:spcBef>
                <a:spcAft>
                  <a:spcPct val="0"/>
                </a:spcAft>
                <a:defRPr kern="1200">
                  <a:solidFill>
                    <a:schemeClr val="tx1"/>
                  </a:solidFill>
                  <a:latin typeface="Arial" charset="0"/>
                  <a:ea typeface="ＭＳ Ｐゴシック" charset="0"/>
                  <a:cs typeface="Arial" charset="0"/>
                </a:defRPr>
              </a:lvl1pPr>
              <a:lvl2pPr marL="457200" algn="l" defTabSz="457200" rtl="0" fontAlgn="base">
                <a:spcBef>
                  <a:spcPct val="0"/>
                </a:spcBef>
                <a:spcAft>
                  <a:spcPct val="0"/>
                </a:spcAft>
                <a:defRPr kern="1200">
                  <a:solidFill>
                    <a:schemeClr val="tx1"/>
                  </a:solidFill>
                  <a:latin typeface="Arial" charset="0"/>
                  <a:ea typeface="ＭＳ Ｐゴシック" charset="0"/>
                  <a:cs typeface="Arial" charset="0"/>
                </a:defRPr>
              </a:lvl2pPr>
              <a:lvl3pPr marL="914400" algn="l" defTabSz="457200" rtl="0" fontAlgn="base">
                <a:spcBef>
                  <a:spcPct val="0"/>
                </a:spcBef>
                <a:spcAft>
                  <a:spcPct val="0"/>
                </a:spcAft>
                <a:defRPr kern="1200">
                  <a:solidFill>
                    <a:schemeClr val="tx1"/>
                  </a:solidFill>
                  <a:latin typeface="Arial" charset="0"/>
                  <a:ea typeface="ＭＳ Ｐゴシック" charset="0"/>
                  <a:cs typeface="Arial" charset="0"/>
                </a:defRPr>
              </a:lvl3pPr>
              <a:lvl4pPr marL="1371600" algn="l" defTabSz="457200" rtl="0" fontAlgn="base">
                <a:spcBef>
                  <a:spcPct val="0"/>
                </a:spcBef>
                <a:spcAft>
                  <a:spcPct val="0"/>
                </a:spcAft>
                <a:defRPr kern="1200">
                  <a:solidFill>
                    <a:schemeClr val="tx1"/>
                  </a:solidFill>
                  <a:latin typeface="Arial" charset="0"/>
                  <a:ea typeface="ＭＳ Ｐゴシック" charset="0"/>
                  <a:cs typeface="Arial" charset="0"/>
                </a:defRPr>
              </a:lvl4pPr>
              <a:lvl5pPr marL="1828800" algn="l" defTabSz="457200" rtl="0" fontAlgn="base">
                <a:spcBef>
                  <a:spcPct val="0"/>
                </a:spcBef>
                <a:spcAft>
                  <a:spcPct val="0"/>
                </a:spcAft>
                <a:defRPr kern="1200">
                  <a:solidFill>
                    <a:schemeClr val="tx1"/>
                  </a:solidFill>
                  <a:latin typeface="Arial" charset="0"/>
                  <a:ea typeface="ＭＳ Ｐゴシック" charset="0"/>
                  <a:cs typeface="Arial" charset="0"/>
                </a:defRPr>
              </a:lvl5pPr>
              <a:lvl6pPr marL="2286000" algn="l" defTabSz="457200" rtl="0" eaLnBrk="1" latinLnBrk="0" hangingPunct="1">
                <a:defRPr kern="1200">
                  <a:solidFill>
                    <a:schemeClr val="tx1"/>
                  </a:solidFill>
                  <a:latin typeface="Arial" charset="0"/>
                  <a:ea typeface="ＭＳ Ｐゴシック" charset="0"/>
                  <a:cs typeface="Arial" charset="0"/>
                </a:defRPr>
              </a:lvl6pPr>
              <a:lvl7pPr marL="2743200" algn="l" defTabSz="457200" rtl="0" eaLnBrk="1" latinLnBrk="0" hangingPunct="1">
                <a:defRPr kern="1200">
                  <a:solidFill>
                    <a:schemeClr val="tx1"/>
                  </a:solidFill>
                  <a:latin typeface="Arial" charset="0"/>
                  <a:ea typeface="ＭＳ Ｐゴシック" charset="0"/>
                  <a:cs typeface="Arial" charset="0"/>
                </a:defRPr>
              </a:lvl7pPr>
              <a:lvl8pPr marL="3200400" algn="l" defTabSz="457200" rtl="0" eaLnBrk="1" latinLnBrk="0" hangingPunct="1">
                <a:defRPr kern="1200">
                  <a:solidFill>
                    <a:schemeClr val="tx1"/>
                  </a:solidFill>
                  <a:latin typeface="Arial" charset="0"/>
                  <a:ea typeface="ＭＳ Ｐゴシック" charset="0"/>
                  <a:cs typeface="Arial" charset="0"/>
                </a:defRPr>
              </a:lvl8pPr>
              <a:lvl9pPr marL="3657600" algn="l" defTabSz="457200" rtl="0" eaLnBrk="1" latinLnBrk="0" hangingPunct="1">
                <a:defRPr kern="1200">
                  <a:solidFill>
                    <a:schemeClr val="tx1"/>
                  </a:solidFill>
                  <a:latin typeface="Arial" charset="0"/>
                  <a:ea typeface="ＭＳ Ｐゴシック" charset="0"/>
                  <a:cs typeface="Arial" charset="0"/>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a:ea typeface="ＭＳ Ｐゴシック" charset="0"/>
                <a:cs typeface="Arial" charset="0"/>
              </a:endParaRPr>
            </a:p>
          </p:txBody>
        </p:sp>
        <p:sp>
          <p:nvSpPr>
            <p:cNvPr id="31" name="Freeform 7">
              <a:extLst>
                <a:ext uri="{FF2B5EF4-FFF2-40B4-BE49-F238E27FC236}">
                  <a16:creationId xmlns:a16="http://schemas.microsoft.com/office/drawing/2014/main" id="{47AEF6B7-9313-BF99-82C2-C2CAA51238DE}"/>
                </a:ext>
              </a:extLst>
            </p:cNvPr>
            <p:cNvSpPr>
              <a:spLocks/>
            </p:cNvSpPr>
            <p:nvPr/>
          </p:nvSpPr>
          <p:spPr bwMode="auto">
            <a:xfrm>
              <a:off x="3549650" y="4095634"/>
              <a:ext cx="3949700" cy="1763643"/>
            </a:xfrm>
            <a:custGeom>
              <a:avLst/>
              <a:gdLst>
                <a:gd name="T0" fmla="*/ 1928 w 2424"/>
                <a:gd name="T1" fmla="*/ 1108 h 1108"/>
                <a:gd name="T2" fmla="*/ 0 w 2424"/>
                <a:gd name="T3" fmla="*/ 1108 h 1108"/>
                <a:gd name="T4" fmla="*/ 0 w 2424"/>
                <a:gd name="T5" fmla="*/ 0 h 1108"/>
                <a:gd name="T6" fmla="*/ 2424 w 2424"/>
                <a:gd name="T7" fmla="*/ 0 h 1108"/>
                <a:gd name="T8" fmla="*/ 1928 w 2424"/>
                <a:gd name="T9" fmla="*/ 1108 h 1108"/>
                <a:gd name="connsiteX0" fmla="*/ 7954 w 10264"/>
                <a:gd name="connsiteY0" fmla="*/ 10036 h 10036"/>
                <a:gd name="connsiteX1" fmla="*/ 0 w 10264"/>
                <a:gd name="connsiteY1" fmla="*/ 10036 h 10036"/>
                <a:gd name="connsiteX2" fmla="*/ 0 w 10264"/>
                <a:gd name="connsiteY2" fmla="*/ 36 h 10036"/>
                <a:gd name="connsiteX3" fmla="*/ 10264 w 10264"/>
                <a:gd name="connsiteY3" fmla="*/ 0 h 10036"/>
                <a:gd name="connsiteX4" fmla="*/ 7954 w 10264"/>
                <a:gd name="connsiteY4" fmla="*/ 10036 h 10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64" h="10036">
                  <a:moveTo>
                    <a:pt x="7954" y="10036"/>
                  </a:moveTo>
                  <a:lnTo>
                    <a:pt x="0" y="10036"/>
                  </a:lnTo>
                  <a:lnTo>
                    <a:pt x="0" y="36"/>
                  </a:lnTo>
                  <a:lnTo>
                    <a:pt x="10264" y="0"/>
                  </a:lnTo>
                  <a:lnTo>
                    <a:pt x="7954" y="10036"/>
                  </a:lnTo>
                  <a:close/>
                </a:path>
              </a:pathLst>
            </a:custGeom>
            <a:solidFill>
              <a:srgbClr val="F7D7AC">
                <a:lumMod val="75000"/>
              </a:srgbClr>
            </a:solidFill>
            <a:ln>
              <a:noFill/>
            </a:ln>
            <a:effectLst/>
          </p:spPr>
          <p:txBody>
            <a:bodyPr wrap="none" anchor="ctr"/>
            <a:lstStyle>
              <a:defPPr>
                <a:defRPr lang="en-US"/>
              </a:defPPr>
              <a:lvl1pPr algn="l" defTabSz="457200" rtl="0" fontAlgn="base">
                <a:spcBef>
                  <a:spcPct val="0"/>
                </a:spcBef>
                <a:spcAft>
                  <a:spcPct val="0"/>
                </a:spcAft>
                <a:defRPr kern="1200">
                  <a:solidFill>
                    <a:schemeClr val="tx1"/>
                  </a:solidFill>
                  <a:latin typeface="Arial" charset="0"/>
                  <a:ea typeface="ＭＳ Ｐゴシック" charset="0"/>
                  <a:cs typeface="Arial" charset="0"/>
                </a:defRPr>
              </a:lvl1pPr>
              <a:lvl2pPr marL="457200" algn="l" defTabSz="457200" rtl="0" fontAlgn="base">
                <a:spcBef>
                  <a:spcPct val="0"/>
                </a:spcBef>
                <a:spcAft>
                  <a:spcPct val="0"/>
                </a:spcAft>
                <a:defRPr kern="1200">
                  <a:solidFill>
                    <a:schemeClr val="tx1"/>
                  </a:solidFill>
                  <a:latin typeface="Arial" charset="0"/>
                  <a:ea typeface="ＭＳ Ｐゴシック" charset="0"/>
                  <a:cs typeface="Arial" charset="0"/>
                </a:defRPr>
              </a:lvl2pPr>
              <a:lvl3pPr marL="914400" algn="l" defTabSz="457200" rtl="0" fontAlgn="base">
                <a:spcBef>
                  <a:spcPct val="0"/>
                </a:spcBef>
                <a:spcAft>
                  <a:spcPct val="0"/>
                </a:spcAft>
                <a:defRPr kern="1200">
                  <a:solidFill>
                    <a:schemeClr val="tx1"/>
                  </a:solidFill>
                  <a:latin typeface="Arial" charset="0"/>
                  <a:ea typeface="ＭＳ Ｐゴシック" charset="0"/>
                  <a:cs typeface="Arial" charset="0"/>
                </a:defRPr>
              </a:lvl3pPr>
              <a:lvl4pPr marL="1371600" algn="l" defTabSz="457200" rtl="0" fontAlgn="base">
                <a:spcBef>
                  <a:spcPct val="0"/>
                </a:spcBef>
                <a:spcAft>
                  <a:spcPct val="0"/>
                </a:spcAft>
                <a:defRPr kern="1200">
                  <a:solidFill>
                    <a:schemeClr val="tx1"/>
                  </a:solidFill>
                  <a:latin typeface="Arial" charset="0"/>
                  <a:ea typeface="ＭＳ Ｐゴシック" charset="0"/>
                  <a:cs typeface="Arial" charset="0"/>
                </a:defRPr>
              </a:lvl4pPr>
              <a:lvl5pPr marL="1828800" algn="l" defTabSz="457200" rtl="0" fontAlgn="base">
                <a:spcBef>
                  <a:spcPct val="0"/>
                </a:spcBef>
                <a:spcAft>
                  <a:spcPct val="0"/>
                </a:spcAft>
                <a:defRPr kern="1200">
                  <a:solidFill>
                    <a:schemeClr val="tx1"/>
                  </a:solidFill>
                  <a:latin typeface="Arial" charset="0"/>
                  <a:ea typeface="ＭＳ Ｐゴシック" charset="0"/>
                  <a:cs typeface="Arial" charset="0"/>
                </a:defRPr>
              </a:lvl5pPr>
              <a:lvl6pPr marL="2286000" algn="l" defTabSz="457200" rtl="0" eaLnBrk="1" latinLnBrk="0" hangingPunct="1">
                <a:defRPr kern="1200">
                  <a:solidFill>
                    <a:schemeClr val="tx1"/>
                  </a:solidFill>
                  <a:latin typeface="Arial" charset="0"/>
                  <a:ea typeface="ＭＳ Ｐゴシック" charset="0"/>
                  <a:cs typeface="Arial" charset="0"/>
                </a:defRPr>
              </a:lvl6pPr>
              <a:lvl7pPr marL="2743200" algn="l" defTabSz="457200" rtl="0" eaLnBrk="1" latinLnBrk="0" hangingPunct="1">
                <a:defRPr kern="1200">
                  <a:solidFill>
                    <a:schemeClr val="tx1"/>
                  </a:solidFill>
                  <a:latin typeface="Arial" charset="0"/>
                  <a:ea typeface="ＭＳ Ｐゴシック" charset="0"/>
                  <a:cs typeface="Arial" charset="0"/>
                </a:defRPr>
              </a:lvl7pPr>
              <a:lvl8pPr marL="3200400" algn="l" defTabSz="457200" rtl="0" eaLnBrk="1" latinLnBrk="0" hangingPunct="1">
                <a:defRPr kern="1200">
                  <a:solidFill>
                    <a:schemeClr val="tx1"/>
                  </a:solidFill>
                  <a:latin typeface="Arial" charset="0"/>
                  <a:ea typeface="ＭＳ Ｐゴシック" charset="0"/>
                  <a:cs typeface="Arial" charset="0"/>
                </a:defRPr>
              </a:lvl8pPr>
              <a:lvl9pPr marL="3657600" algn="l" defTabSz="457200" rtl="0" eaLnBrk="1" latinLnBrk="0" hangingPunct="1">
                <a:defRPr kern="1200">
                  <a:solidFill>
                    <a:schemeClr val="tx1"/>
                  </a:solidFill>
                  <a:latin typeface="Arial" charset="0"/>
                  <a:ea typeface="ＭＳ Ｐゴシック" charset="0"/>
                  <a:cs typeface="Arial" charset="0"/>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a:ea typeface="ＭＳ Ｐゴシック" charset="0"/>
                <a:cs typeface="Arial" charset="0"/>
              </a:endParaRPr>
            </a:p>
          </p:txBody>
        </p:sp>
        <p:sp>
          <p:nvSpPr>
            <p:cNvPr id="32" name="Freeform 8">
              <a:extLst>
                <a:ext uri="{FF2B5EF4-FFF2-40B4-BE49-F238E27FC236}">
                  <a16:creationId xmlns:a16="http://schemas.microsoft.com/office/drawing/2014/main" id="{CEADC3E0-59EA-7E17-7B02-6A3DD6B5E125}"/>
                </a:ext>
              </a:extLst>
            </p:cNvPr>
            <p:cNvSpPr>
              <a:spLocks/>
            </p:cNvSpPr>
            <p:nvPr/>
          </p:nvSpPr>
          <p:spPr bwMode="auto">
            <a:xfrm>
              <a:off x="2330450" y="1162050"/>
              <a:ext cx="1206500" cy="1847850"/>
            </a:xfrm>
            <a:custGeom>
              <a:avLst/>
              <a:gdLst>
                <a:gd name="T0" fmla="*/ 0 w 760"/>
                <a:gd name="T1" fmla="*/ 1847850 h 1268"/>
                <a:gd name="T2" fmla="*/ 1206500 w 760"/>
                <a:gd name="T3" fmla="*/ 1847850 h 1268"/>
                <a:gd name="T4" fmla="*/ 1206500 w 760"/>
                <a:gd name="T5" fmla="*/ 0 h 1268"/>
                <a:gd name="T6" fmla="*/ 927100 w 760"/>
                <a:gd name="T7" fmla="*/ 0 h 1268"/>
                <a:gd name="T8" fmla="*/ 0 w 760"/>
                <a:gd name="T9" fmla="*/ 1847850 h 1268"/>
                <a:gd name="T10" fmla="*/ 0 60000 65536"/>
                <a:gd name="T11" fmla="*/ 0 60000 65536"/>
                <a:gd name="T12" fmla="*/ 0 60000 65536"/>
                <a:gd name="T13" fmla="*/ 0 60000 65536"/>
                <a:gd name="T14" fmla="*/ 0 60000 65536"/>
                <a:gd name="T15" fmla="*/ 0 w 760"/>
                <a:gd name="T16" fmla="*/ 0 h 1268"/>
                <a:gd name="T17" fmla="*/ 760 w 760"/>
                <a:gd name="T18" fmla="*/ 1268 h 1268"/>
              </a:gdLst>
              <a:ahLst/>
              <a:cxnLst>
                <a:cxn ang="T10">
                  <a:pos x="T0" y="T1"/>
                </a:cxn>
                <a:cxn ang="T11">
                  <a:pos x="T2" y="T3"/>
                </a:cxn>
                <a:cxn ang="T12">
                  <a:pos x="T4" y="T5"/>
                </a:cxn>
                <a:cxn ang="T13">
                  <a:pos x="T6" y="T7"/>
                </a:cxn>
                <a:cxn ang="T14">
                  <a:pos x="T8" y="T9"/>
                </a:cxn>
              </a:cxnLst>
              <a:rect l="T15" t="T16" r="T17" b="T18"/>
              <a:pathLst>
                <a:path w="760" h="1268">
                  <a:moveTo>
                    <a:pt x="0" y="1268"/>
                  </a:moveTo>
                  <a:lnTo>
                    <a:pt x="760" y="1268"/>
                  </a:lnTo>
                  <a:lnTo>
                    <a:pt x="760" y="0"/>
                  </a:lnTo>
                  <a:lnTo>
                    <a:pt x="584" y="0"/>
                  </a:lnTo>
                  <a:lnTo>
                    <a:pt x="0" y="1268"/>
                  </a:lnTo>
                  <a:close/>
                </a:path>
              </a:pathLst>
            </a:custGeom>
            <a:solidFill>
              <a:srgbClr val="9FACC7"/>
            </a:solidFill>
            <a:ln>
              <a:noFill/>
            </a:ln>
            <a:extLst>
              <a:ext uri="{91240B29-F687-4f45-9708-019B960494DF}">
                <a14:hiddenLine xmlns="" xmlns:a14="http://schemas.microsoft.com/office/drawing/2010/main" xmlns:lc="http://schemas.openxmlformats.org/drawingml/2006/lockedCanvas" w="9525">
                  <a:solidFill>
                    <a:srgbClr val="000000"/>
                  </a:solidFill>
                  <a:round/>
                  <a:headEnd/>
                  <a:tailEnd/>
                </a14:hiddenLine>
              </a:ext>
            </a:extLst>
          </p:spPr>
          <p:txBody>
            <a:bodyPr wrap="none" anchor="ctr"/>
            <a:lstStyle>
              <a:defPPr>
                <a:defRPr lang="en-US"/>
              </a:defPPr>
              <a:lvl1pPr algn="l" defTabSz="457200" rtl="0" fontAlgn="base">
                <a:spcBef>
                  <a:spcPct val="0"/>
                </a:spcBef>
                <a:spcAft>
                  <a:spcPct val="0"/>
                </a:spcAft>
                <a:defRPr kern="1200">
                  <a:solidFill>
                    <a:schemeClr val="tx1"/>
                  </a:solidFill>
                  <a:latin typeface="Arial" charset="0"/>
                  <a:ea typeface="ＭＳ Ｐゴシック" charset="0"/>
                  <a:cs typeface="Arial" charset="0"/>
                </a:defRPr>
              </a:lvl1pPr>
              <a:lvl2pPr marL="457200" algn="l" defTabSz="457200" rtl="0" fontAlgn="base">
                <a:spcBef>
                  <a:spcPct val="0"/>
                </a:spcBef>
                <a:spcAft>
                  <a:spcPct val="0"/>
                </a:spcAft>
                <a:defRPr kern="1200">
                  <a:solidFill>
                    <a:schemeClr val="tx1"/>
                  </a:solidFill>
                  <a:latin typeface="Arial" charset="0"/>
                  <a:ea typeface="ＭＳ Ｐゴシック" charset="0"/>
                  <a:cs typeface="Arial" charset="0"/>
                </a:defRPr>
              </a:lvl2pPr>
              <a:lvl3pPr marL="914400" algn="l" defTabSz="457200" rtl="0" fontAlgn="base">
                <a:spcBef>
                  <a:spcPct val="0"/>
                </a:spcBef>
                <a:spcAft>
                  <a:spcPct val="0"/>
                </a:spcAft>
                <a:defRPr kern="1200">
                  <a:solidFill>
                    <a:schemeClr val="tx1"/>
                  </a:solidFill>
                  <a:latin typeface="Arial" charset="0"/>
                  <a:ea typeface="ＭＳ Ｐゴシック" charset="0"/>
                  <a:cs typeface="Arial" charset="0"/>
                </a:defRPr>
              </a:lvl3pPr>
              <a:lvl4pPr marL="1371600" algn="l" defTabSz="457200" rtl="0" fontAlgn="base">
                <a:spcBef>
                  <a:spcPct val="0"/>
                </a:spcBef>
                <a:spcAft>
                  <a:spcPct val="0"/>
                </a:spcAft>
                <a:defRPr kern="1200">
                  <a:solidFill>
                    <a:schemeClr val="tx1"/>
                  </a:solidFill>
                  <a:latin typeface="Arial" charset="0"/>
                  <a:ea typeface="ＭＳ Ｐゴシック" charset="0"/>
                  <a:cs typeface="Arial" charset="0"/>
                </a:defRPr>
              </a:lvl4pPr>
              <a:lvl5pPr marL="1828800" algn="l" defTabSz="457200" rtl="0" fontAlgn="base">
                <a:spcBef>
                  <a:spcPct val="0"/>
                </a:spcBef>
                <a:spcAft>
                  <a:spcPct val="0"/>
                </a:spcAft>
                <a:defRPr kern="1200">
                  <a:solidFill>
                    <a:schemeClr val="tx1"/>
                  </a:solidFill>
                  <a:latin typeface="Arial" charset="0"/>
                  <a:ea typeface="ＭＳ Ｐゴシック" charset="0"/>
                  <a:cs typeface="Arial" charset="0"/>
                </a:defRPr>
              </a:lvl5pPr>
              <a:lvl6pPr marL="2286000" algn="l" defTabSz="457200" rtl="0" eaLnBrk="1" latinLnBrk="0" hangingPunct="1">
                <a:defRPr kern="1200">
                  <a:solidFill>
                    <a:schemeClr val="tx1"/>
                  </a:solidFill>
                  <a:latin typeface="Arial" charset="0"/>
                  <a:ea typeface="ＭＳ Ｐゴシック" charset="0"/>
                  <a:cs typeface="Arial" charset="0"/>
                </a:defRPr>
              </a:lvl6pPr>
              <a:lvl7pPr marL="2743200" algn="l" defTabSz="457200" rtl="0" eaLnBrk="1" latinLnBrk="0" hangingPunct="1">
                <a:defRPr kern="1200">
                  <a:solidFill>
                    <a:schemeClr val="tx1"/>
                  </a:solidFill>
                  <a:latin typeface="Arial" charset="0"/>
                  <a:ea typeface="ＭＳ Ｐゴシック" charset="0"/>
                  <a:cs typeface="Arial" charset="0"/>
                </a:defRPr>
              </a:lvl7pPr>
              <a:lvl8pPr marL="3200400" algn="l" defTabSz="457200" rtl="0" eaLnBrk="1" latinLnBrk="0" hangingPunct="1">
                <a:defRPr kern="1200">
                  <a:solidFill>
                    <a:schemeClr val="tx1"/>
                  </a:solidFill>
                  <a:latin typeface="Arial" charset="0"/>
                  <a:ea typeface="ＭＳ Ｐゴシック" charset="0"/>
                  <a:cs typeface="Arial" charset="0"/>
                </a:defRPr>
              </a:lvl8pPr>
              <a:lvl9pPr marL="3657600" algn="l" defTabSz="457200" rtl="0" eaLnBrk="1" latinLnBrk="0" hangingPunct="1">
                <a:defRPr kern="1200">
                  <a:solidFill>
                    <a:schemeClr val="tx1"/>
                  </a:solidFill>
                  <a:latin typeface="Arial" charset="0"/>
                  <a:ea typeface="ＭＳ Ｐゴシック" charset="0"/>
                  <a:cs typeface="Arial" charset="0"/>
                </a:defRPr>
              </a:lvl9pPr>
            </a:lstStyle>
            <a:p>
              <a:pPr marL="0" marR="0" lvl="0" indent="0" algn="l"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33" name="Freeform 9">
              <a:extLst>
                <a:ext uri="{FF2B5EF4-FFF2-40B4-BE49-F238E27FC236}">
                  <a16:creationId xmlns:a16="http://schemas.microsoft.com/office/drawing/2014/main" id="{08D983A7-9D89-D12F-DA22-9BF82A17CE36}"/>
                </a:ext>
              </a:extLst>
            </p:cNvPr>
            <p:cNvSpPr>
              <a:spLocks/>
            </p:cNvSpPr>
            <p:nvPr/>
          </p:nvSpPr>
          <p:spPr bwMode="auto">
            <a:xfrm>
              <a:off x="1587500" y="3035226"/>
              <a:ext cx="1955800" cy="1542989"/>
            </a:xfrm>
            <a:custGeom>
              <a:avLst/>
              <a:gdLst>
                <a:gd name="T0" fmla="*/ 0 w 1260"/>
                <a:gd name="T1" fmla="*/ 1084 h 1084"/>
                <a:gd name="T2" fmla="*/ 947 w 1260"/>
                <a:gd name="T3" fmla="*/ 1084 h 1084"/>
                <a:gd name="T4" fmla="*/ 1260 w 1260"/>
                <a:gd name="T5" fmla="*/ 1084 h 1084"/>
                <a:gd name="T6" fmla="*/ 1260 w 1260"/>
                <a:gd name="T7" fmla="*/ 0 h 1084"/>
                <a:gd name="T8" fmla="*/ 492 w 1260"/>
                <a:gd name="T9" fmla="*/ 0 h 1084"/>
                <a:gd name="T10" fmla="*/ 0 w 1260"/>
                <a:gd name="T11" fmla="*/ 1084 h 1084"/>
                <a:gd name="connsiteX0" fmla="*/ 0 w 9778"/>
                <a:gd name="connsiteY0" fmla="*/ 10041 h 10041"/>
                <a:gd name="connsiteX1" fmla="*/ 7294 w 9778"/>
                <a:gd name="connsiteY1" fmla="*/ 10000 h 10041"/>
                <a:gd name="connsiteX2" fmla="*/ 9778 w 9778"/>
                <a:gd name="connsiteY2" fmla="*/ 10000 h 10041"/>
                <a:gd name="connsiteX3" fmla="*/ 9778 w 9778"/>
                <a:gd name="connsiteY3" fmla="*/ 0 h 10041"/>
                <a:gd name="connsiteX4" fmla="*/ 3683 w 9778"/>
                <a:gd name="connsiteY4" fmla="*/ 0 h 10041"/>
                <a:gd name="connsiteX5" fmla="*/ 0 w 9778"/>
                <a:gd name="connsiteY5" fmla="*/ 10041 h 10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778" h="10041">
                  <a:moveTo>
                    <a:pt x="0" y="10041"/>
                  </a:moveTo>
                  <a:lnTo>
                    <a:pt x="7294" y="10000"/>
                  </a:lnTo>
                  <a:lnTo>
                    <a:pt x="9778" y="10000"/>
                  </a:lnTo>
                  <a:lnTo>
                    <a:pt x="9778" y="0"/>
                  </a:lnTo>
                  <a:lnTo>
                    <a:pt x="3683" y="0"/>
                  </a:lnTo>
                  <a:lnTo>
                    <a:pt x="0" y="10041"/>
                  </a:lnTo>
                  <a:close/>
                </a:path>
              </a:pathLst>
            </a:custGeom>
            <a:solidFill>
              <a:srgbClr val="BDD6AE">
                <a:lumMod val="75000"/>
              </a:srgbClr>
            </a:solidFill>
            <a:ln>
              <a:noFill/>
            </a:ln>
            <a:effectLst/>
          </p:spPr>
          <p:txBody>
            <a:bodyPr wrap="none" anchor="ctr"/>
            <a:lstStyle>
              <a:defPPr>
                <a:defRPr lang="en-US"/>
              </a:defPPr>
              <a:lvl1pPr algn="l" defTabSz="457200" rtl="0" fontAlgn="base">
                <a:spcBef>
                  <a:spcPct val="0"/>
                </a:spcBef>
                <a:spcAft>
                  <a:spcPct val="0"/>
                </a:spcAft>
                <a:defRPr kern="1200">
                  <a:solidFill>
                    <a:schemeClr val="tx1"/>
                  </a:solidFill>
                  <a:latin typeface="Arial" charset="0"/>
                  <a:ea typeface="ＭＳ Ｐゴシック" charset="0"/>
                  <a:cs typeface="Arial" charset="0"/>
                </a:defRPr>
              </a:lvl1pPr>
              <a:lvl2pPr marL="457200" algn="l" defTabSz="457200" rtl="0" fontAlgn="base">
                <a:spcBef>
                  <a:spcPct val="0"/>
                </a:spcBef>
                <a:spcAft>
                  <a:spcPct val="0"/>
                </a:spcAft>
                <a:defRPr kern="1200">
                  <a:solidFill>
                    <a:schemeClr val="tx1"/>
                  </a:solidFill>
                  <a:latin typeface="Arial" charset="0"/>
                  <a:ea typeface="ＭＳ Ｐゴシック" charset="0"/>
                  <a:cs typeface="Arial" charset="0"/>
                </a:defRPr>
              </a:lvl2pPr>
              <a:lvl3pPr marL="914400" algn="l" defTabSz="457200" rtl="0" fontAlgn="base">
                <a:spcBef>
                  <a:spcPct val="0"/>
                </a:spcBef>
                <a:spcAft>
                  <a:spcPct val="0"/>
                </a:spcAft>
                <a:defRPr kern="1200">
                  <a:solidFill>
                    <a:schemeClr val="tx1"/>
                  </a:solidFill>
                  <a:latin typeface="Arial" charset="0"/>
                  <a:ea typeface="ＭＳ Ｐゴシック" charset="0"/>
                  <a:cs typeface="Arial" charset="0"/>
                </a:defRPr>
              </a:lvl3pPr>
              <a:lvl4pPr marL="1371600" algn="l" defTabSz="457200" rtl="0" fontAlgn="base">
                <a:spcBef>
                  <a:spcPct val="0"/>
                </a:spcBef>
                <a:spcAft>
                  <a:spcPct val="0"/>
                </a:spcAft>
                <a:defRPr kern="1200">
                  <a:solidFill>
                    <a:schemeClr val="tx1"/>
                  </a:solidFill>
                  <a:latin typeface="Arial" charset="0"/>
                  <a:ea typeface="ＭＳ Ｐゴシック" charset="0"/>
                  <a:cs typeface="Arial" charset="0"/>
                </a:defRPr>
              </a:lvl4pPr>
              <a:lvl5pPr marL="1828800" algn="l" defTabSz="457200" rtl="0" fontAlgn="base">
                <a:spcBef>
                  <a:spcPct val="0"/>
                </a:spcBef>
                <a:spcAft>
                  <a:spcPct val="0"/>
                </a:spcAft>
                <a:defRPr kern="1200">
                  <a:solidFill>
                    <a:schemeClr val="tx1"/>
                  </a:solidFill>
                  <a:latin typeface="Arial" charset="0"/>
                  <a:ea typeface="ＭＳ Ｐゴシック" charset="0"/>
                  <a:cs typeface="Arial" charset="0"/>
                </a:defRPr>
              </a:lvl5pPr>
              <a:lvl6pPr marL="2286000" algn="l" defTabSz="457200" rtl="0" eaLnBrk="1" latinLnBrk="0" hangingPunct="1">
                <a:defRPr kern="1200">
                  <a:solidFill>
                    <a:schemeClr val="tx1"/>
                  </a:solidFill>
                  <a:latin typeface="Arial" charset="0"/>
                  <a:ea typeface="ＭＳ Ｐゴシック" charset="0"/>
                  <a:cs typeface="Arial" charset="0"/>
                </a:defRPr>
              </a:lvl6pPr>
              <a:lvl7pPr marL="2743200" algn="l" defTabSz="457200" rtl="0" eaLnBrk="1" latinLnBrk="0" hangingPunct="1">
                <a:defRPr kern="1200">
                  <a:solidFill>
                    <a:schemeClr val="tx1"/>
                  </a:solidFill>
                  <a:latin typeface="Arial" charset="0"/>
                  <a:ea typeface="ＭＳ Ｐゴシック" charset="0"/>
                  <a:cs typeface="Arial" charset="0"/>
                </a:defRPr>
              </a:lvl7pPr>
              <a:lvl8pPr marL="3200400" algn="l" defTabSz="457200" rtl="0" eaLnBrk="1" latinLnBrk="0" hangingPunct="1">
                <a:defRPr kern="1200">
                  <a:solidFill>
                    <a:schemeClr val="tx1"/>
                  </a:solidFill>
                  <a:latin typeface="Arial" charset="0"/>
                  <a:ea typeface="ＭＳ Ｐゴシック" charset="0"/>
                  <a:cs typeface="Arial" charset="0"/>
                </a:defRPr>
              </a:lvl8pPr>
              <a:lvl9pPr marL="3657600" algn="l" defTabSz="457200" rtl="0" eaLnBrk="1" latinLnBrk="0" hangingPunct="1">
                <a:defRPr kern="1200">
                  <a:solidFill>
                    <a:schemeClr val="tx1"/>
                  </a:solidFill>
                  <a:latin typeface="Arial" charset="0"/>
                  <a:ea typeface="ＭＳ Ｐゴシック" charset="0"/>
                  <a:cs typeface="Arial" charset="0"/>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a:ea typeface="ＭＳ Ｐゴシック" charset="0"/>
                <a:cs typeface="Arial" charset="0"/>
              </a:endParaRPr>
            </a:p>
          </p:txBody>
        </p:sp>
        <p:sp>
          <p:nvSpPr>
            <p:cNvPr id="34" name="Freeform 10">
              <a:extLst>
                <a:ext uri="{FF2B5EF4-FFF2-40B4-BE49-F238E27FC236}">
                  <a16:creationId xmlns:a16="http://schemas.microsoft.com/office/drawing/2014/main" id="{916BFD08-E91D-BD42-7CF3-08DE4789866A}"/>
                </a:ext>
              </a:extLst>
            </p:cNvPr>
            <p:cNvSpPr>
              <a:spLocks/>
            </p:cNvSpPr>
            <p:nvPr/>
          </p:nvSpPr>
          <p:spPr bwMode="auto">
            <a:xfrm>
              <a:off x="958850" y="4578215"/>
              <a:ext cx="2603500" cy="1279474"/>
            </a:xfrm>
            <a:custGeom>
              <a:avLst/>
              <a:gdLst>
                <a:gd name="T0" fmla="*/ 360 w 1632"/>
                <a:gd name="T1" fmla="*/ 0 h 784"/>
                <a:gd name="T2" fmla="*/ 1632 w 1632"/>
                <a:gd name="T3" fmla="*/ 0 h 784"/>
                <a:gd name="T4" fmla="*/ 1632 w 1632"/>
                <a:gd name="T5" fmla="*/ 784 h 784"/>
                <a:gd name="T6" fmla="*/ 0 w 1632"/>
                <a:gd name="T7" fmla="*/ 784 h 784"/>
                <a:gd name="T8" fmla="*/ 360 w 1632"/>
                <a:gd name="T9" fmla="*/ 0 h 784"/>
                <a:gd name="connsiteX0" fmla="*/ 2476 w 10000"/>
                <a:gd name="connsiteY0" fmla="*/ 0 h 10119"/>
                <a:gd name="connsiteX1" fmla="*/ 10000 w 10000"/>
                <a:gd name="connsiteY1" fmla="*/ 119 h 10119"/>
                <a:gd name="connsiteX2" fmla="*/ 10000 w 10000"/>
                <a:gd name="connsiteY2" fmla="*/ 10119 h 10119"/>
                <a:gd name="connsiteX3" fmla="*/ 0 w 10000"/>
                <a:gd name="connsiteY3" fmla="*/ 10119 h 10119"/>
                <a:gd name="connsiteX4" fmla="*/ 2476 w 10000"/>
                <a:gd name="connsiteY4" fmla="*/ 0 h 10119"/>
                <a:gd name="connsiteX0" fmla="*/ 2427 w 9951"/>
                <a:gd name="connsiteY0" fmla="*/ 0 h 12029"/>
                <a:gd name="connsiteX1" fmla="*/ 9951 w 9951"/>
                <a:gd name="connsiteY1" fmla="*/ 119 h 12029"/>
                <a:gd name="connsiteX2" fmla="*/ 9951 w 9951"/>
                <a:gd name="connsiteY2" fmla="*/ 10119 h 12029"/>
                <a:gd name="connsiteX3" fmla="*/ 0 w 9951"/>
                <a:gd name="connsiteY3" fmla="*/ 12029 h 12029"/>
                <a:gd name="connsiteX4" fmla="*/ 2427 w 9951"/>
                <a:gd name="connsiteY4" fmla="*/ 0 h 12029"/>
                <a:gd name="connsiteX0" fmla="*/ 2439 w 10099"/>
                <a:gd name="connsiteY0" fmla="*/ 0 h 10000"/>
                <a:gd name="connsiteX1" fmla="*/ 10000 w 10099"/>
                <a:gd name="connsiteY1" fmla="*/ 99 h 10000"/>
                <a:gd name="connsiteX2" fmla="*/ 10099 w 10099"/>
                <a:gd name="connsiteY2" fmla="*/ 10000 h 10000"/>
                <a:gd name="connsiteX3" fmla="*/ 0 w 10099"/>
                <a:gd name="connsiteY3" fmla="*/ 10000 h 10000"/>
                <a:gd name="connsiteX4" fmla="*/ 2439 w 10099"/>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99" h="10000">
                  <a:moveTo>
                    <a:pt x="2439" y="0"/>
                  </a:moveTo>
                  <a:lnTo>
                    <a:pt x="10000" y="99"/>
                  </a:lnTo>
                  <a:cubicBezTo>
                    <a:pt x="10033" y="3399"/>
                    <a:pt x="10066" y="6700"/>
                    <a:pt x="10099" y="10000"/>
                  </a:cubicBezTo>
                  <a:lnTo>
                    <a:pt x="0" y="10000"/>
                  </a:lnTo>
                  <a:lnTo>
                    <a:pt x="2439" y="0"/>
                  </a:lnTo>
                  <a:close/>
                </a:path>
              </a:pathLst>
            </a:custGeom>
            <a:solidFill>
              <a:srgbClr val="F7D7AC"/>
            </a:solidFill>
            <a:ln>
              <a:noFill/>
            </a:ln>
            <a:effectLst/>
          </p:spPr>
          <p:txBody>
            <a:bodyPr wrap="none" anchor="ctr"/>
            <a:lstStyle>
              <a:defPPr>
                <a:defRPr lang="en-US"/>
              </a:defPPr>
              <a:lvl1pPr algn="l" defTabSz="457200" rtl="0" fontAlgn="base">
                <a:spcBef>
                  <a:spcPct val="0"/>
                </a:spcBef>
                <a:spcAft>
                  <a:spcPct val="0"/>
                </a:spcAft>
                <a:defRPr kern="1200">
                  <a:solidFill>
                    <a:schemeClr val="tx1"/>
                  </a:solidFill>
                  <a:latin typeface="Arial" charset="0"/>
                  <a:ea typeface="ＭＳ Ｐゴシック" charset="0"/>
                  <a:cs typeface="Arial" charset="0"/>
                </a:defRPr>
              </a:lvl1pPr>
              <a:lvl2pPr marL="457200" algn="l" defTabSz="457200" rtl="0" fontAlgn="base">
                <a:spcBef>
                  <a:spcPct val="0"/>
                </a:spcBef>
                <a:spcAft>
                  <a:spcPct val="0"/>
                </a:spcAft>
                <a:defRPr kern="1200">
                  <a:solidFill>
                    <a:schemeClr val="tx1"/>
                  </a:solidFill>
                  <a:latin typeface="Arial" charset="0"/>
                  <a:ea typeface="ＭＳ Ｐゴシック" charset="0"/>
                  <a:cs typeface="Arial" charset="0"/>
                </a:defRPr>
              </a:lvl2pPr>
              <a:lvl3pPr marL="914400" algn="l" defTabSz="457200" rtl="0" fontAlgn="base">
                <a:spcBef>
                  <a:spcPct val="0"/>
                </a:spcBef>
                <a:spcAft>
                  <a:spcPct val="0"/>
                </a:spcAft>
                <a:defRPr kern="1200">
                  <a:solidFill>
                    <a:schemeClr val="tx1"/>
                  </a:solidFill>
                  <a:latin typeface="Arial" charset="0"/>
                  <a:ea typeface="ＭＳ Ｐゴシック" charset="0"/>
                  <a:cs typeface="Arial" charset="0"/>
                </a:defRPr>
              </a:lvl3pPr>
              <a:lvl4pPr marL="1371600" algn="l" defTabSz="457200" rtl="0" fontAlgn="base">
                <a:spcBef>
                  <a:spcPct val="0"/>
                </a:spcBef>
                <a:spcAft>
                  <a:spcPct val="0"/>
                </a:spcAft>
                <a:defRPr kern="1200">
                  <a:solidFill>
                    <a:schemeClr val="tx1"/>
                  </a:solidFill>
                  <a:latin typeface="Arial" charset="0"/>
                  <a:ea typeface="ＭＳ Ｐゴシック" charset="0"/>
                  <a:cs typeface="Arial" charset="0"/>
                </a:defRPr>
              </a:lvl4pPr>
              <a:lvl5pPr marL="1828800" algn="l" defTabSz="457200" rtl="0" fontAlgn="base">
                <a:spcBef>
                  <a:spcPct val="0"/>
                </a:spcBef>
                <a:spcAft>
                  <a:spcPct val="0"/>
                </a:spcAft>
                <a:defRPr kern="1200">
                  <a:solidFill>
                    <a:schemeClr val="tx1"/>
                  </a:solidFill>
                  <a:latin typeface="Arial" charset="0"/>
                  <a:ea typeface="ＭＳ Ｐゴシック" charset="0"/>
                  <a:cs typeface="Arial" charset="0"/>
                </a:defRPr>
              </a:lvl5pPr>
              <a:lvl6pPr marL="2286000" algn="l" defTabSz="457200" rtl="0" eaLnBrk="1" latinLnBrk="0" hangingPunct="1">
                <a:defRPr kern="1200">
                  <a:solidFill>
                    <a:schemeClr val="tx1"/>
                  </a:solidFill>
                  <a:latin typeface="Arial" charset="0"/>
                  <a:ea typeface="ＭＳ Ｐゴシック" charset="0"/>
                  <a:cs typeface="Arial" charset="0"/>
                </a:defRPr>
              </a:lvl6pPr>
              <a:lvl7pPr marL="2743200" algn="l" defTabSz="457200" rtl="0" eaLnBrk="1" latinLnBrk="0" hangingPunct="1">
                <a:defRPr kern="1200">
                  <a:solidFill>
                    <a:schemeClr val="tx1"/>
                  </a:solidFill>
                  <a:latin typeface="Arial" charset="0"/>
                  <a:ea typeface="ＭＳ Ｐゴシック" charset="0"/>
                  <a:cs typeface="Arial" charset="0"/>
                </a:defRPr>
              </a:lvl7pPr>
              <a:lvl8pPr marL="3200400" algn="l" defTabSz="457200" rtl="0" eaLnBrk="1" latinLnBrk="0" hangingPunct="1">
                <a:defRPr kern="1200">
                  <a:solidFill>
                    <a:schemeClr val="tx1"/>
                  </a:solidFill>
                  <a:latin typeface="Arial" charset="0"/>
                  <a:ea typeface="ＭＳ Ｐゴシック" charset="0"/>
                  <a:cs typeface="Arial" charset="0"/>
                </a:defRPr>
              </a:lvl8pPr>
              <a:lvl9pPr marL="3657600" algn="l" defTabSz="457200" rtl="0" eaLnBrk="1" latinLnBrk="0" hangingPunct="1">
                <a:defRPr kern="1200">
                  <a:solidFill>
                    <a:schemeClr val="tx1"/>
                  </a:solidFill>
                  <a:latin typeface="Arial" charset="0"/>
                  <a:ea typeface="ＭＳ Ｐゴシック" charset="0"/>
                  <a:cs typeface="Arial" charset="0"/>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a:ea typeface="ＭＳ Ｐゴシック" charset="0"/>
                <a:cs typeface="Arial" charset="0"/>
              </a:endParaRPr>
            </a:p>
          </p:txBody>
        </p:sp>
        <p:sp>
          <p:nvSpPr>
            <p:cNvPr id="35" name="Rectangle 34">
              <a:extLst>
                <a:ext uri="{FF2B5EF4-FFF2-40B4-BE49-F238E27FC236}">
                  <a16:creationId xmlns:a16="http://schemas.microsoft.com/office/drawing/2014/main" id="{8EEB7EDF-F0CC-B899-C752-61DD962D93CC}"/>
                </a:ext>
              </a:extLst>
            </p:cNvPr>
            <p:cNvSpPr>
              <a:spLocks noChangeArrowheads="1"/>
            </p:cNvSpPr>
            <p:nvPr/>
          </p:nvSpPr>
          <p:spPr bwMode="auto">
            <a:xfrm>
              <a:off x="3870325" y="1236663"/>
              <a:ext cx="4264023" cy="1374168"/>
            </a:xfrm>
            <a:prstGeom prst="rect">
              <a:avLst/>
            </a:prstGeom>
            <a:noFill/>
            <a:ln>
              <a:noFill/>
            </a:ln>
            <a:extLst>
              <a:ext uri="{909E8E84-426E-40dd-AFC4-6F175D3DCCD1}">
                <a14:hiddenFill xmlns="" xmlns:a14="http://schemas.microsoft.com/office/drawing/2010/main" xmlns:lc="http://schemas.openxmlformats.org/drawingml/2006/lockedCanvas">
                  <a:solidFill>
                    <a:srgbClr val="FFFFFF"/>
                  </a:solidFill>
                </a14:hiddenFill>
              </a:ext>
              <a:ext uri="{91240B29-F687-4f45-9708-019B960494DF}">
                <a14:hiddenLine xmlns="" xmlns:a14="http://schemas.microsoft.com/office/drawing/2010/main" xmlns:lc="http://schemas.openxmlformats.org/drawingml/2006/lockedCanvas" w="9525">
                  <a:solidFill>
                    <a:srgbClr val="000000"/>
                  </a:solidFill>
                  <a:miter lim="800000"/>
                  <a:headEnd/>
                  <a:tailEnd/>
                </a14:hiddenLine>
              </a:ext>
            </a:extLst>
          </p:spPr>
          <p:txBody>
            <a:bodyPr wrap="square">
              <a:spAutoFit/>
            </a:bodyPr>
            <a:lstStyle>
              <a:defPPr>
                <a:defRPr lang="en-US"/>
              </a:defPPr>
              <a:lvl1pPr algn="l" defTabSz="457200" rtl="0" fontAlgn="base">
                <a:spcBef>
                  <a:spcPct val="0"/>
                </a:spcBef>
                <a:spcAft>
                  <a:spcPct val="0"/>
                </a:spcAft>
                <a:defRPr kern="1200">
                  <a:solidFill>
                    <a:schemeClr val="tx1"/>
                  </a:solidFill>
                  <a:latin typeface="Arial" charset="0"/>
                  <a:ea typeface="ＭＳ Ｐゴシック" charset="0"/>
                  <a:cs typeface="Arial" charset="0"/>
                </a:defRPr>
              </a:lvl1pPr>
              <a:lvl2pPr marL="457200" algn="l" defTabSz="457200" rtl="0" fontAlgn="base">
                <a:spcBef>
                  <a:spcPct val="0"/>
                </a:spcBef>
                <a:spcAft>
                  <a:spcPct val="0"/>
                </a:spcAft>
                <a:defRPr kern="1200">
                  <a:solidFill>
                    <a:schemeClr val="tx1"/>
                  </a:solidFill>
                  <a:latin typeface="Arial" charset="0"/>
                  <a:ea typeface="ＭＳ Ｐゴシック" charset="0"/>
                  <a:cs typeface="Arial" charset="0"/>
                </a:defRPr>
              </a:lvl2pPr>
              <a:lvl3pPr marL="914400" algn="l" defTabSz="457200" rtl="0" fontAlgn="base">
                <a:spcBef>
                  <a:spcPct val="0"/>
                </a:spcBef>
                <a:spcAft>
                  <a:spcPct val="0"/>
                </a:spcAft>
                <a:defRPr kern="1200">
                  <a:solidFill>
                    <a:schemeClr val="tx1"/>
                  </a:solidFill>
                  <a:latin typeface="Arial" charset="0"/>
                  <a:ea typeface="ＭＳ Ｐゴシック" charset="0"/>
                  <a:cs typeface="Arial" charset="0"/>
                </a:defRPr>
              </a:lvl3pPr>
              <a:lvl4pPr marL="1371600" algn="l" defTabSz="457200" rtl="0" fontAlgn="base">
                <a:spcBef>
                  <a:spcPct val="0"/>
                </a:spcBef>
                <a:spcAft>
                  <a:spcPct val="0"/>
                </a:spcAft>
                <a:defRPr kern="1200">
                  <a:solidFill>
                    <a:schemeClr val="tx1"/>
                  </a:solidFill>
                  <a:latin typeface="Arial" charset="0"/>
                  <a:ea typeface="ＭＳ Ｐゴシック" charset="0"/>
                  <a:cs typeface="Arial" charset="0"/>
                </a:defRPr>
              </a:lvl4pPr>
              <a:lvl5pPr marL="1828800" algn="l" defTabSz="457200" rtl="0" fontAlgn="base">
                <a:spcBef>
                  <a:spcPct val="0"/>
                </a:spcBef>
                <a:spcAft>
                  <a:spcPct val="0"/>
                </a:spcAft>
                <a:defRPr kern="1200">
                  <a:solidFill>
                    <a:schemeClr val="tx1"/>
                  </a:solidFill>
                  <a:latin typeface="Arial" charset="0"/>
                  <a:ea typeface="ＭＳ Ｐゴシック" charset="0"/>
                  <a:cs typeface="Arial" charset="0"/>
                </a:defRPr>
              </a:lvl5pPr>
              <a:lvl6pPr marL="2286000" algn="l" defTabSz="457200" rtl="0" eaLnBrk="1" latinLnBrk="0" hangingPunct="1">
                <a:defRPr kern="1200">
                  <a:solidFill>
                    <a:schemeClr val="tx1"/>
                  </a:solidFill>
                  <a:latin typeface="Arial" charset="0"/>
                  <a:ea typeface="ＭＳ Ｐゴシック" charset="0"/>
                  <a:cs typeface="Arial" charset="0"/>
                </a:defRPr>
              </a:lvl6pPr>
              <a:lvl7pPr marL="2743200" algn="l" defTabSz="457200" rtl="0" eaLnBrk="1" latinLnBrk="0" hangingPunct="1">
                <a:defRPr kern="1200">
                  <a:solidFill>
                    <a:schemeClr val="tx1"/>
                  </a:solidFill>
                  <a:latin typeface="Arial" charset="0"/>
                  <a:ea typeface="ＭＳ Ｐゴシック" charset="0"/>
                  <a:cs typeface="Arial" charset="0"/>
                </a:defRPr>
              </a:lvl7pPr>
              <a:lvl8pPr marL="3200400" algn="l" defTabSz="457200" rtl="0" eaLnBrk="1" latinLnBrk="0" hangingPunct="1">
                <a:defRPr kern="1200">
                  <a:solidFill>
                    <a:schemeClr val="tx1"/>
                  </a:solidFill>
                  <a:latin typeface="Arial" charset="0"/>
                  <a:ea typeface="ＭＳ Ｐゴシック" charset="0"/>
                  <a:cs typeface="Arial" charset="0"/>
                </a:defRPr>
              </a:lvl8pPr>
              <a:lvl9pPr marL="3657600" algn="l" defTabSz="457200" rtl="0" eaLnBrk="1" latinLnBrk="0" hangingPunct="1">
                <a:defRPr kern="1200">
                  <a:solidFill>
                    <a:schemeClr val="tx1"/>
                  </a:solidFill>
                  <a:latin typeface="Arial" charset="0"/>
                  <a:ea typeface="ＭＳ Ｐゴシック" charset="0"/>
                  <a:cs typeface="Arial" charset="0"/>
                </a:defRPr>
              </a:lvl9pPr>
            </a:lstStyle>
            <a:p>
              <a:pPr marL="0" marR="0" lvl="0" indent="0" algn="l" defTabSz="457200" rtl="0" eaLnBrk="1" fontAlgn="base" latinLnBrk="0" hangingPunct="1">
                <a:lnSpc>
                  <a:spcPct val="85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Arial" charset="0"/>
                  <a:ea typeface="ＭＳ Ｐゴシック" charset="0"/>
                  <a:cs typeface="Arial" charset="0"/>
                </a:rPr>
                <a:t>Long-range plans (over </a:t>
              </a:r>
              <a:r>
                <a:rPr lang="en-US" b="1" dirty="0">
                  <a:solidFill>
                    <a:srgbClr val="000000"/>
                  </a:solidFill>
                </a:rPr>
                <a:t>two</a:t>
              </a:r>
              <a:r>
                <a:rPr kumimoji="0" lang="en-US" sz="1400" b="1" i="0" u="none" strike="noStrike" kern="1200" cap="none" spc="0" normalizeH="0" baseline="0" noProof="0" dirty="0">
                  <a:ln>
                    <a:noFill/>
                  </a:ln>
                  <a:solidFill>
                    <a:srgbClr val="000000"/>
                  </a:solidFill>
                  <a:effectLst/>
                  <a:uLnTx/>
                  <a:uFillTx/>
                  <a:latin typeface="Arial" charset="0"/>
                  <a:ea typeface="ＭＳ Ｐゴシック" charset="0"/>
                  <a:cs typeface="Arial" charset="0"/>
                </a:rPr>
                <a:t> year)</a:t>
              </a:r>
            </a:p>
            <a:p>
              <a:pPr marL="0" marR="0" lvl="0" indent="0" algn="l" defTabSz="457200" rtl="0" eaLnBrk="1" fontAlgn="base" latinLnBrk="0" hangingPunct="1">
                <a:lnSpc>
                  <a:spcPct val="85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Capacity decisions are critical to long range plans</a:t>
              </a:r>
            </a:p>
            <a:p>
              <a:pPr marL="0" marR="0" lvl="0" indent="0" algn="l" defTabSz="457200" rtl="0" eaLnBrk="1" fontAlgn="base" latinLnBrk="0" hangingPunct="1">
                <a:lnSpc>
                  <a:spcPct val="85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Arial" charset="0"/>
                  <a:ea typeface="ＭＳ Ｐゴシック" charset="0"/>
                  <a:cs typeface="Arial" charset="0"/>
                </a:rPr>
                <a:t>Issues:</a:t>
              </a:r>
            </a:p>
            <a:p>
              <a:pPr marL="0" marR="0" lvl="0" indent="0" algn="l" defTabSz="457200" rtl="0" eaLnBrk="1" fontAlgn="base" latinLnBrk="0" hangingPunct="1">
                <a:lnSpc>
                  <a:spcPct val="85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Research and Development</a:t>
              </a:r>
            </a:p>
            <a:p>
              <a:pPr marL="0" marR="0" lvl="0" indent="0" algn="l" defTabSz="457200" rtl="0" eaLnBrk="1" fontAlgn="base" latinLnBrk="0" hangingPunct="1">
                <a:lnSpc>
                  <a:spcPct val="85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New product plans</a:t>
              </a:r>
            </a:p>
            <a:p>
              <a:pPr marL="0" marR="0" lvl="0" indent="0" algn="l" defTabSz="457200" rtl="0" eaLnBrk="1" fontAlgn="base" latinLnBrk="0" hangingPunct="1">
                <a:lnSpc>
                  <a:spcPct val="85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Capital investments</a:t>
              </a:r>
            </a:p>
            <a:p>
              <a:pPr marL="0" marR="0" lvl="0" indent="0" algn="l" defTabSz="457200" rtl="0" eaLnBrk="1" fontAlgn="base" latinLnBrk="0" hangingPunct="1">
                <a:lnSpc>
                  <a:spcPct val="85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Facility location/expansion</a:t>
              </a:r>
            </a:p>
          </p:txBody>
        </p:sp>
        <p:sp>
          <p:nvSpPr>
            <p:cNvPr id="36" name="Rectangle 35">
              <a:extLst>
                <a:ext uri="{FF2B5EF4-FFF2-40B4-BE49-F238E27FC236}">
                  <a16:creationId xmlns:a16="http://schemas.microsoft.com/office/drawing/2014/main" id="{E31A1BD8-5C05-D6D0-A328-14CA4F5A1E5A}"/>
                </a:ext>
              </a:extLst>
            </p:cNvPr>
            <p:cNvSpPr>
              <a:spLocks noChangeArrowheads="1"/>
            </p:cNvSpPr>
            <p:nvPr/>
          </p:nvSpPr>
          <p:spPr bwMode="auto">
            <a:xfrm>
              <a:off x="3870325" y="2730500"/>
              <a:ext cx="3933825" cy="1379608"/>
            </a:xfrm>
            <a:prstGeom prst="rect">
              <a:avLst/>
            </a:prstGeom>
            <a:noFill/>
            <a:ln>
              <a:noFill/>
            </a:ln>
            <a:extLst>
              <a:ext uri="{909E8E84-426E-40dd-AFC4-6F175D3DCCD1}">
                <a14:hiddenFill xmlns="" xmlns:a14="http://schemas.microsoft.com/office/drawing/2010/main" xmlns:lc="http://schemas.openxmlformats.org/drawingml/2006/lockedCanvas">
                  <a:solidFill>
                    <a:srgbClr val="FFFFFF"/>
                  </a:solidFill>
                </a14:hiddenFill>
              </a:ext>
              <a:ext uri="{91240B29-F687-4f45-9708-019B960494DF}">
                <a14:hiddenLine xmlns="" xmlns:a14="http://schemas.microsoft.com/office/drawing/2010/main" xmlns:lc="http://schemas.openxmlformats.org/drawingml/2006/lockedCanvas" w="9525">
                  <a:solidFill>
                    <a:srgbClr val="000000"/>
                  </a:solidFill>
                  <a:miter lim="800000"/>
                  <a:headEnd/>
                  <a:tailEnd/>
                </a14:hiddenLine>
              </a:ext>
            </a:extLst>
          </p:spPr>
          <p:txBody>
            <a:bodyPr>
              <a:spAutoFit/>
            </a:bodyPr>
            <a:lstStyle>
              <a:defPPr>
                <a:defRPr lang="en-US"/>
              </a:defPPr>
              <a:lvl1pPr algn="l" defTabSz="457200" rtl="0" fontAlgn="base">
                <a:spcBef>
                  <a:spcPct val="0"/>
                </a:spcBef>
                <a:spcAft>
                  <a:spcPct val="0"/>
                </a:spcAft>
                <a:defRPr kern="1200">
                  <a:solidFill>
                    <a:schemeClr val="tx1"/>
                  </a:solidFill>
                  <a:latin typeface="Arial" charset="0"/>
                  <a:ea typeface="ＭＳ Ｐゴシック" charset="0"/>
                  <a:cs typeface="Arial" charset="0"/>
                </a:defRPr>
              </a:lvl1pPr>
              <a:lvl2pPr marL="457200" algn="l" defTabSz="457200" rtl="0" fontAlgn="base">
                <a:spcBef>
                  <a:spcPct val="0"/>
                </a:spcBef>
                <a:spcAft>
                  <a:spcPct val="0"/>
                </a:spcAft>
                <a:defRPr kern="1200">
                  <a:solidFill>
                    <a:schemeClr val="tx1"/>
                  </a:solidFill>
                  <a:latin typeface="Arial" charset="0"/>
                  <a:ea typeface="ＭＳ Ｐゴシック" charset="0"/>
                  <a:cs typeface="Arial" charset="0"/>
                </a:defRPr>
              </a:lvl2pPr>
              <a:lvl3pPr marL="914400" algn="l" defTabSz="457200" rtl="0" fontAlgn="base">
                <a:spcBef>
                  <a:spcPct val="0"/>
                </a:spcBef>
                <a:spcAft>
                  <a:spcPct val="0"/>
                </a:spcAft>
                <a:defRPr kern="1200">
                  <a:solidFill>
                    <a:schemeClr val="tx1"/>
                  </a:solidFill>
                  <a:latin typeface="Arial" charset="0"/>
                  <a:ea typeface="ＭＳ Ｐゴシック" charset="0"/>
                  <a:cs typeface="Arial" charset="0"/>
                </a:defRPr>
              </a:lvl3pPr>
              <a:lvl4pPr marL="1371600" algn="l" defTabSz="457200" rtl="0" fontAlgn="base">
                <a:spcBef>
                  <a:spcPct val="0"/>
                </a:spcBef>
                <a:spcAft>
                  <a:spcPct val="0"/>
                </a:spcAft>
                <a:defRPr kern="1200">
                  <a:solidFill>
                    <a:schemeClr val="tx1"/>
                  </a:solidFill>
                  <a:latin typeface="Arial" charset="0"/>
                  <a:ea typeface="ＭＳ Ｐゴシック" charset="0"/>
                  <a:cs typeface="Arial" charset="0"/>
                </a:defRPr>
              </a:lvl4pPr>
              <a:lvl5pPr marL="1828800" algn="l" defTabSz="457200" rtl="0" fontAlgn="base">
                <a:spcBef>
                  <a:spcPct val="0"/>
                </a:spcBef>
                <a:spcAft>
                  <a:spcPct val="0"/>
                </a:spcAft>
                <a:defRPr kern="1200">
                  <a:solidFill>
                    <a:schemeClr val="tx1"/>
                  </a:solidFill>
                  <a:latin typeface="Arial" charset="0"/>
                  <a:ea typeface="ＭＳ Ｐゴシック" charset="0"/>
                  <a:cs typeface="Arial" charset="0"/>
                </a:defRPr>
              </a:lvl5pPr>
              <a:lvl6pPr marL="2286000" algn="l" defTabSz="457200" rtl="0" eaLnBrk="1" latinLnBrk="0" hangingPunct="1">
                <a:defRPr kern="1200">
                  <a:solidFill>
                    <a:schemeClr val="tx1"/>
                  </a:solidFill>
                  <a:latin typeface="Arial" charset="0"/>
                  <a:ea typeface="ＭＳ Ｐゴシック" charset="0"/>
                  <a:cs typeface="Arial" charset="0"/>
                </a:defRPr>
              </a:lvl6pPr>
              <a:lvl7pPr marL="2743200" algn="l" defTabSz="457200" rtl="0" eaLnBrk="1" latinLnBrk="0" hangingPunct="1">
                <a:defRPr kern="1200">
                  <a:solidFill>
                    <a:schemeClr val="tx1"/>
                  </a:solidFill>
                  <a:latin typeface="Arial" charset="0"/>
                  <a:ea typeface="ＭＳ Ｐゴシック" charset="0"/>
                  <a:cs typeface="Arial" charset="0"/>
                </a:defRPr>
              </a:lvl7pPr>
              <a:lvl8pPr marL="3200400" algn="l" defTabSz="457200" rtl="0" eaLnBrk="1" latinLnBrk="0" hangingPunct="1">
                <a:defRPr kern="1200">
                  <a:solidFill>
                    <a:schemeClr val="tx1"/>
                  </a:solidFill>
                  <a:latin typeface="Arial" charset="0"/>
                  <a:ea typeface="ＭＳ Ｐゴシック" charset="0"/>
                  <a:cs typeface="Arial" charset="0"/>
                </a:defRPr>
              </a:lvl8pPr>
              <a:lvl9pPr marL="3657600" algn="l" defTabSz="457200" rtl="0" eaLnBrk="1" latinLnBrk="0" hangingPunct="1">
                <a:defRPr kern="1200">
                  <a:solidFill>
                    <a:schemeClr val="tx1"/>
                  </a:solidFill>
                  <a:latin typeface="Arial" charset="0"/>
                  <a:ea typeface="ＭＳ Ｐゴシック" charset="0"/>
                  <a:cs typeface="Arial" charset="0"/>
                </a:defRPr>
              </a:lvl9pPr>
            </a:lstStyle>
            <a:p>
              <a:pPr marL="190500" marR="0" lvl="0" indent="-190500" algn="l" defTabSz="457200" rtl="0" eaLnBrk="1" fontAlgn="base" latinLnBrk="0" hangingPunct="1">
                <a:lnSpc>
                  <a:spcPct val="85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Arial" charset="0"/>
                  <a:ea typeface="ＭＳ Ｐゴシック" charset="0"/>
                  <a:cs typeface="Arial" charset="0"/>
                </a:rPr>
                <a:t>Intermediate-range plans (3 to 18 months)</a:t>
              </a:r>
            </a:p>
            <a:p>
              <a:pPr marL="190500" marR="0" lvl="0" indent="-190500" algn="l" defTabSz="457200" rtl="0" eaLnBrk="1" fontAlgn="base" latinLnBrk="0" hangingPunct="1">
                <a:lnSpc>
                  <a:spcPct val="85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Arial" charset="0"/>
                  <a:ea typeface="ＭＳ Ｐゴシック" charset="0"/>
                  <a:cs typeface="Arial" charset="0"/>
                </a:rPr>
                <a:t>Issues:</a:t>
              </a:r>
            </a:p>
            <a:p>
              <a:pPr marL="190500" marR="0" lvl="0" indent="-190500" algn="l" defTabSz="457200" rtl="0" eaLnBrk="1" fontAlgn="base" latinLnBrk="0" hangingPunct="1">
                <a:lnSpc>
                  <a:spcPct val="85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Sales and operations planning</a:t>
              </a:r>
            </a:p>
            <a:p>
              <a:pPr marL="190500" marR="0" lvl="0" indent="-190500" algn="l" defTabSz="457200" rtl="0" eaLnBrk="1" fontAlgn="base" latinLnBrk="0" hangingPunct="1">
                <a:lnSpc>
                  <a:spcPct val="85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Production planning and budgeting</a:t>
              </a:r>
            </a:p>
            <a:p>
              <a:pPr marL="190500" marR="0" lvl="0" indent="-190500" algn="l" defTabSz="457200" rtl="0" eaLnBrk="1" fontAlgn="base" latinLnBrk="0" hangingPunct="1">
                <a:lnSpc>
                  <a:spcPct val="85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Setting employment, inventory, </a:t>
              </a:r>
            </a:p>
            <a:p>
              <a:pPr marL="190500" marR="0" lvl="0" indent="-190500" algn="l" defTabSz="457200" rtl="0" eaLnBrk="1" fontAlgn="base" latinLnBrk="0" hangingPunct="1">
                <a:lnSpc>
                  <a:spcPct val="85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   subcontracting levels</a:t>
              </a:r>
            </a:p>
            <a:p>
              <a:pPr marL="190500" marR="0" lvl="0" indent="-190500" algn="l" defTabSz="457200" rtl="0" eaLnBrk="1" fontAlgn="base" latinLnBrk="0" hangingPunct="1">
                <a:lnSpc>
                  <a:spcPct val="85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Analyzing operating plans</a:t>
              </a:r>
            </a:p>
          </p:txBody>
        </p:sp>
        <p:sp>
          <p:nvSpPr>
            <p:cNvPr id="37" name="Rectangle 36">
              <a:extLst>
                <a:ext uri="{FF2B5EF4-FFF2-40B4-BE49-F238E27FC236}">
                  <a16:creationId xmlns:a16="http://schemas.microsoft.com/office/drawing/2014/main" id="{355BBA1E-57CE-ADEC-4EAE-1EBAE3D50BF8}"/>
                </a:ext>
              </a:extLst>
            </p:cNvPr>
            <p:cNvSpPr>
              <a:spLocks noChangeArrowheads="1"/>
            </p:cNvSpPr>
            <p:nvPr/>
          </p:nvSpPr>
          <p:spPr bwMode="auto">
            <a:xfrm>
              <a:off x="3870325" y="4113213"/>
              <a:ext cx="3197225" cy="1745862"/>
            </a:xfrm>
            <a:prstGeom prst="rect">
              <a:avLst/>
            </a:prstGeom>
            <a:noFill/>
            <a:ln>
              <a:noFill/>
            </a:ln>
            <a:extLst>
              <a:ext uri="{909E8E84-426E-40dd-AFC4-6F175D3DCCD1}">
                <a14:hiddenFill xmlns="" xmlns:a14="http://schemas.microsoft.com/office/drawing/2010/main" xmlns:lc="http://schemas.openxmlformats.org/drawingml/2006/lockedCanvas">
                  <a:solidFill>
                    <a:srgbClr val="FFFFFF"/>
                  </a:solidFill>
                </a14:hiddenFill>
              </a:ext>
              <a:ext uri="{91240B29-F687-4f45-9708-019B960494DF}">
                <a14:hiddenLine xmlns="" xmlns:a14="http://schemas.microsoft.com/office/drawing/2010/main" xmlns:lc="http://schemas.openxmlformats.org/drawingml/2006/lockedCanvas" w="9525">
                  <a:solidFill>
                    <a:srgbClr val="000000"/>
                  </a:solidFill>
                  <a:miter lim="800000"/>
                  <a:headEnd/>
                  <a:tailEnd/>
                </a14:hiddenLine>
              </a:ext>
            </a:extLst>
          </p:spPr>
          <p:txBody>
            <a:bodyPr>
              <a:spAutoFit/>
            </a:bodyPr>
            <a:lstStyle>
              <a:defPPr>
                <a:defRPr lang="en-US"/>
              </a:defPPr>
              <a:lvl1pPr algn="l" defTabSz="457200" rtl="0" fontAlgn="base">
                <a:spcBef>
                  <a:spcPct val="0"/>
                </a:spcBef>
                <a:spcAft>
                  <a:spcPct val="0"/>
                </a:spcAft>
                <a:defRPr kern="1200">
                  <a:solidFill>
                    <a:schemeClr val="tx1"/>
                  </a:solidFill>
                  <a:latin typeface="Arial" charset="0"/>
                  <a:ea typeface="ＭＳ Ｐゴシック" charset="0"/>
                  <a:cs typeface="Arial" charset="0"/>
                </a:defRPr>
              </a:lvl1pPr>
              <a:lvl2pPr marL="457200" algn="l" defTabSz="457200" rtl="0" fontAlgn="base">
                <a:spcBef>
                  <a:spcPct val="0"/>
                </a:spcBef>
                <a:spcAft>
                  <a:spcPct val="0"/>
                </a:spcAft>
                <a:defRPr kern="1200">
                  <a:solidFill>
                    <a:schemeClr val="tx1"/>
                  </a:solidFill>
                  <a:latin typeface="Arial" charset="0"/>
                  <a:ea typeface="ＭＳ Ｐゴシック" charset="0"/>
                  <a:cs typeface="Arial" charset="0"/>
                </a:defRPr>
              </a:lvl2pPr>
              <a:lvl3pPr marL="914400" algn="l" defTabSz="457200" rtl="0" fontAlgn="base">
                <a:spcBef>
                  <a:spcPct val="0"/>
                </a:spcBef>
                <a:spcAft>
                  <a:spcPct val="0"/>
                </a:spcAft>
                <a:defRPr kern="1200">
                  <a:solidFill>
                    <a:schemeClr val="tx1"/>
                  </a:solidFill>
                  <a:latin typeface="Arial" charset="0"/>
                  <a:ea typeface="ＭＳ Ｐゴシック" charset="0"/>
                  <a:cs typeface="Arial" charset="0"/>
                </a:defRPr>
              </a:lvl3pPr>
              <a:lvl4pPr marL="1371600" algn="l" defTabSz="457200" rtl="0" fontAlgn="base">
                <a:spcBef>
                  <a:spcPct val="0"/>
                </a:spcBef>
                <a:spcAft>
                  <a:spcPct val="0"/>
                </a:spcAft>
                <a:defRPr kern="1200">
                  <a:solidFill>
                    <a:schemeClr val="tx1"/>
                  </a:solidFill>
                  <a:latin typeface="Arial" charset="0"/>
                  <a:ea typeface="ＭＳ Ｐゴシック" charset="0"/>
                  <a:cs typeface="Arial" charset="0"/>
                </a:defRPr>
              </a:lvl4pPr>
              <a:lvl5pPr marL="1828800" algn="l" defTabSz="457200" rtl="0" fontAlgn="base">
                <a:spcBef>
                  <a:spcPct val="0"/>
                </a:spcBef>
                <a:spcAft>
                  <a:spcPct val="0"/>
                </a:spcAft>
                <a:defRPr kern="1200">
                  <a:solidFill>
                    <a:schemeClr val="tx1"/>
                  </a:solidFill>
                  <a:latin typeface="Arial" charset="0"/>
                  <a:ea typeface="ＭＳ Ｐゴシック" charset="0"/>
                  <a:cs typeface="Arial" charset="0"/>
                </a:defRPr>
              </a:lvl5pPr>
              <a:lvl6pPr marL="2286000" algn="l" defTabSz="457200" rtl="0" eaLnBrk="1" latinLnBrk="0" hangingPunct="1">
                <a:defRPr kern="1200">
                  <a:solidFill>
                    <a:schemeClr val="tx1"/>
                  </a:solidFill>
                  <a:latin typeface="Arial" charset="0"/>
                  <a:ea typeface="ＭＳ Ｐゴシック" charset="0"/>
                  <a:cs typeface="Arial" charset="0"/>
                </a:defRPr>
              </a:lvl6pPr>
              <a:lvl7pPr marL="2743200" algn="l" defTabSz="457200" rtl="0" eaLnBrk="1" latinLnBrk="0" hangingPunct="1">
                <a:defRPr kern="1200">
                  <a:solidFill>
                    <a:schemeClr val="tx1"/>
                  </a:solidFill>
                  <a:latin typeface="Arial" charset="0"/>
                  <a:ea typeface="ＭＳ Ｐゴシック" charset="0"/>
                  <a:cs typeface="Arial" charset="0"/>
                </a:defRPr>
              </a:lvl7pPr>
              <a:lvl8pPr marL="3200400" algn="l" defTabSz="457200" rtl="0" eaLnBrk="1" latinLnBrk="0" hangingPunct="1">
                <a:defRPr kern="1200">
                  <a:solidFill>
                    <a:schemeClr val="tx1"/>
                  </a:solidFill>
                  <a:latin typeface="Arial" charset="0"/>
                  <a:ea typeface="ＭＳ Ｐゴシック" charset="0"/>
                  <a:cs typeface="Arial" charset="0"/>
                </a:defRPr>
              </a:lvl8pPr>
              <a:lvl9pPr marL="3657600" algn="l" defTabSz="457200" rtl="0" eaLnBrk="1" latinLnBrk="0" hangingPunct="1">
                <a:defRPr kern="1200">
                  <a:solidFill>
                    <a:schemeClr val="tx1"/>
                  </a:solidFill>
                  <a:latin typeface="Arial" charset="0"/>
                  <a:ea typeface="ＭＳ Ｐゴシック" charset="0"/>
                  <a:cs typeface="Arial" charset="0"/>
                </a:defRPr>
              </a:lvl9pPr>
            </a:lstStyle>
            <a:p>
              <a:pPr marL="0" marR="0" lvl="0" indent="0" algn="l" defTabSz="457200" rtl="0" eaLnBrk="1" fontAlgn="base" latinLnBrk="0" hangingPunct="1">
                <a:lnSpc>
                  <a:spcPct val="85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Arial" charset="0"/>
                  <a:ea typeface="ＭＳ Ｐゴシック" charset="0"/>
                  <a:cs typeface="Arial" charset="0"/>
                </a:rPr>
                <a:t>Short-range plans (up to 3 months)</a:t>
              </a:r>
            </a:p>
            <a:p>
              <a:pPr marL="0" marR="0" lvl="0" indent="0" algn="l" defTabSz="457200" rtl="0" eaLnBrk="1" fontAlgn="base" latinLnBrk="0" hangingPunct="1">
                <a:lnSpc>
                  <a:spcPct val="85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Scheduling techniques</a:t>
              </a:r>
            </a:p>
            <a:p>
              <a:pPr marL="0" marR="0" lvl="0" indent="0" algn="l" defTabSz="457200" rtl="0" eaLnBrk="1" fontAlgn="base" latinLnBrk="0" hangingPunct="1">
                <a:lnSpc>
                  <a:spcPct val="85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Arial" charset="0"/>
                  <a:ea typeface="ＭＳ Ｐゴシック" charset="0"/>
                  <a:cs typeface="Arial" charset="0"/>
                </a:rPr>
                <a:t>Issues:</a:t>
              </a:r>
            </a:p>
            <a:p>
              <a:pPr marL="0" marR="0" lvl="0" indent="0" algn="l" defTabSz="457200" rtl="0" eaLnBrk="1" fontAlgn="base" latinLnBrk="0" hangingPunct="1">
                <a:lnSpc>
                  <a:spcPct val="85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Job assignments</a:t>
              </a:r>
            </a:p>
            <a:p>
              <a:pPr marL="0" marR="0" lvl="0" indent="0" algn="l" defTabSz="457200" rtl="0" eaLnBrk="1" fontAlgn="base" latinLnBrk="0" hangingPunct="1">
                <a:lnSpc>
                  <a:spcPct val="85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Ordering</a:t>
              </a:r>
            </a:p>
            <a:p>
              <a:pPr marL="0" marR="0" lvl="0" indent="0" algn="l" defTabSz="457200" rtl="0" eaLnBrk="1" fontAlgn="base" latinLnBrk="0" hangingPunct="1">
                <a:lnSpc>
                  <a:spcPct val="85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Job scheduling</a:t>
              </a:r>
            </a:p>
            <a:p>
              <a:pPr marL="0" marR="0" lvl="0" indent="0" algn="l" defTabSz="457200" rtl="0" eaLnBrk="1" fontAlgn="base" latinLnBrk="0" hangingPunct="1">
                <a:lnSpc>
                  <a:spcPct val="85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Dispatching</a:t>
              </a:r>
            </a:p>
            <a:p>
              <a:pPr marL="0" marR="0" lvl="0" indent="0" algn="l" defTabSz="457200" rtl="0" eaLnBrk="1" fontAlgn="base" latinLnBrk="0" hangingPunct="1">
                <a:lnSpc>
                  <a:spcPct val="85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Overtime</a:t>
              </a:r>
            </a:p>
            <a:p>
              <a:pPr marL="0" marR="0" lvl="0" indent="0" algn="l" defTabSz="457200" rtl="0" eaLnBrk="1" fontAlgn="base" latinLnBrk="0" hangingPunct="1">
                <a:lnSpc>
                  <a:spcPct val="85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Part-time help</a:t>
              </a:r>
            </a:p>
          </p:txBody>
        </p:sp>
        <p:sp>
          <p:nvSpPr>
            <p:cNvPr id="38" name="Rectangle 37">
              <a:extLst>
                <a:ext uri="{FF2B5EF4-FFF2-40B4-BE49-F238E27FC236}">
                  <a16:creationId xmlns:a16="http://schemas.microsoft.com/office/drawing/2014/main" id="{3D5065F0-37C1-6F1E-58B0-124765BBFA8E}"/>
                </a:ext>
              </a:extLst>
            </p:cNvPr>
            <p:cNvSpPr>
              <a:spLocks noChangeArrowheads="1"/>
            </p:cNvSpPr>
            <p:nvPr/>
          </p:nvSpPr>
          <p:spPr bwMode="auto">
            <a:xfrm>
              <a:off x="2486025" y="2530475"/>
              <a:ext cx="1182688" cy="463550"/>
            </a:xfrm>
            <a:prstGeom prst="rect">
              <a:avLst/>
            </a:prstGeom>
            <a:noFill/>
            <a:ln>
              <a:noFill/>
            </a:ln>
            <a:extLst>
              <a:ext uri="{909E8E84-426E-40dd-AFC4-6F175D3DCCD1}">
                <a14:hiddenFill xmlns="" xmlns:a14="http://schemas.microsoft.com/office/drawing/2010/main" xmlns:lc="http://schemas.openxmlformats.org/drawingml/2006/lockedCanvas">
                  <a:solidFill>
                    <a:srgbClr val="FFFFFF"/>
                  </a:solidFill>
                </a14:hiddenFill>
              </a:ext>
              <a:ext uri="{91240B29-F687-4f45-9708-019B960494DF}">
                <a14:hiddenLine xmlns="" xmlns:a14="http://schemas.microsoft.com/office/drawing/2010/main" xmlns:lc="http://schemas.openxmlformats.org/drawingml/2006/lockedCanvas" w="9525">
                  <a:solidFill>
                    <a:srgbClr val="000000"/>
                  </a:solidFill>
                  <a:miter lim="800000"/>
                  <a:headEnd/>
                  <a:tailEnd/>
                </a14:hiddenLine>
              </a:ext>
            </a:extLst>
          </p:spPr>
          <p:txBody>
            <a:bodyPr>
              <a:spAutoFit/>
            </a:bodyPr>
            <a:lstStyle>
              <a:defPPr>
                <a:defRPr lang="en-US"/>
              </a:defPPr>
              <a:lvl1pPr algn="l" defTabSz="457200" rtl="0" fontAlgn="base">
                <a:spcBef>
                  <a:spcPct val="0"/>
                </a:spcBef>
                <a:spcAft>
                  <a:spcPct val="0"/>
                </a:spcAft>
                <a:defRPr kern="1200">
                  <a:solidFill>
                    <a:schemeClr val="tx1"/>
                  </a:solidFill>
                  <a:latin typeface="Arial" charset="0"/>
                  <a:ea typeface="ＭＳ Ｐゴシック" charset="0"/>
                  <a:cs typeface="Arial" charset="0"/>
                </a:defRPr>
              </a:lvl1pPr>
              <a:lvl2pPr marL="457200" algn="l" defTabSz="457200" rtl="0" fontAlgn="base">
                <a:spcBef>
                  <a:spcPct val="0"/>
                </a:spcBef>
                <a:spcAft>
                  <a:spcPct val="0"/>
                </a:spcAft>
                <a:defRPr kern="1200">
                  <a:solidFill>
                    <a:schemeClr val="tx1"/>
                  </a:solidFill>
                  <a:latin typeface="Arial" charset="0"/>
                  <a:ea typeface="ＭＳ Ｐゴシック" charset="0"/>
                  <a:cs typeface="Arial" charset="0"/>
                </a:defRPr>
              </a:lvl2pPr>
              <a:lvl3pPr marL="914400" algn="l" defTabSz="457200" rtl="0" fontAlgn="base">
                <a:spcBef>
                  <a:spcPct val="0"/>
                </a:spcBef>
                <a:spcAft>
                  <a:spcPct val="0"/>
                </a:spcAft>
                <a:defRPr kern="1200">
                  <a:solidFill>
                    <a:schemeClr val="tx1"/>
                  </a:solidFill>
                  <a:latin typeface="Arial" charset="0"/>
                  <a:ea typeface="ＭＳ Ｐゴシック" charset="0"/>
                  <a:cs typeface="Arial" charset="0"/>
                </a:defRPr>
              </a:lvl3pPr>
              <a:lvl4pPr marL="1371600" algn="l" defTabSz="457200" rtl="0" fontAlgn="base">
                <a:spcBef>
                  <a:spcPct val="0"/>
                </a:spcBef>
                <a:spcAft>
                  <a:spcPct val="0"/>
                </a:spcAft>
                <a:defRPr kern="1200">
                  <a:solidFill>
                    <a:schemeClr val="tx1"/>
                  </a:solidFill>
                  <a:latin typeface="Arial" charset="0"/>
                  <a:ea typeface="ＭＳ Ｐゴシック" charset="0"/>
                  <a:cs typeface="Arial" charset="0"/>
                </a:defRPr>
              </a:lvl4pPr>
              <a:lvl5pPr marL="1828800" algn="l" defTabSz="457200" rtl="0" fontAlgn="base">
                <a:spcBef>
                  <a:spcPct val="0"/>
                </a:spcBef>
                <a:spcAft>
                  <a:spcPct val="0"/>
                </a:spcAft>
                <a:defRPr kern="1200">
                  <a:solidFill>
                    <a:schemeClr val="tx1"/>
                  </a:solidFill>
                  <a:latin typeface="Arial" charset="0"/>
                  <a:ea typeface="ＭＳ Ｐゴシック" charset="0"/>
                  <a:cs typeface="Arial" charset="0"/>
                </a:defRPr>
              </a:lvl5pPr>
              <a:lvl6pPr marL="2286000" algn="l" defTabSz="457200" rtl="0" eaLnBrk="1" latinLnBrk="0" hangingPunct="1">
                <a:defRPr kern="1200">
                  <a:solidFill>
                    <a:schemeClr val="tx1"/>
                  </a:solidFill>
                  <a:latin typeface="Arial" charset="0"/>
                  <a:ea typeface="ＭＳ Ｐゴシック" charset="0"/>
                  <a:cs typeface="Arial" charset="0"/>
                </a:defRPr>
              </a:lvl6pPr>
              <a:lvl7pPr marL="2743200" algn="l" defTabSz="457200" rtl="0" eaLnBrk="1" latinLnBrk="0" hangingPunct="1">
                <a:defRPr kern="1200">
                  <a:solidFill>
                    <a:schemeClr val="tx1"/>
                  </a:solidFill>
                  <a:latin typeface="Arial" charset="0"/>
                  <a:ea typeface="ＭＳ Ｐゴシック" charset="0"/>
                  <a:cs typeface="Arial" charset="0"/>
                </a:defRPr>
              </a:lvl7pPr>
              <a:lvl8pPr marL="3200400" algn="l" defTabSz="457200" rtl="0" eaLnBrk="1" latinLnBrk="0" hangingPunct="1">
                <a:defRPr kern="1200">
                  <a:solidFill>
                    <a:schemeClr val="tx1"/>
                  </a:solidFill>
                  <a:latin typeface="Arial" charset="0"/>
                  <a:ea typeface="ＭＳ Ｐゴシック" charset="0"/>
                  <a:cs typeface="Arial" charset="0"/>
                </a:defRPr>
              </a:lvl8pPr>
              <a:lvl9pPr marL="3657600" algn="l" defTabSz="457200" rtl="0" eaLnBrk="1" latinLnBrk="0" hangingPunct="1">
                <a:defRPr kern="1200">
                  <a:solidFill>
                    <a:schemeClr val="tx1"/>
                  </a:solidFill>
                  <a:latin typeface="Arial" charset="0"/>
                  <a:ea typeface="ＭＳ Ｐゴシック" charset="0"/>
                  <a:cs typeface="Arial" charset="0"/>
                </a:defRPr>
              </a:lvl9pPr>
            </a:lstStyle>
            <a:p>
              <a:pPr marL="0" marR="0" lvl="0" indent="0" algn="l" defTabSz="457200" rtl="0" eaLnBrk="1" fontAlgn="base" latinLnBrk="0" hangingPunct="1">
                <a:lnSpc>
                  <a:spcPct val="85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Arial" charset="0"/>
                  <a:ea typeface="ＭＳ Ｐゴシック" charset="0"/>
                  <a:cs typeface="Arial" charset="0"/>
                </a:rPr>
                <a:t>Top executives</a:t>
              </a:r>
            </a:p>
          </p:txBody>
        </p:sp>
        <p:sp>
          <p:nvSpPr>
            <p:cNvPr id="39" name="Rectangle 38">
              <a:extLst>
                <a:ext uri="{FF2B5EF4-FFF2-40B4-BE49-F238E27FC236}">
                  <a16:creationId xmlns:a16="http://schemas.microsoft.com/office/drawing/2014/main" id="{A22677D7-1A92-DD01-46A7-31BB912B031E}"/>
                </a:ext>
              </a:extLst>
            </p:cNvPr>
            <p:cNvSpPr>
              <a:spLocks noChangeArrowheads="1"/>
            </p:cNvSpPr>
            <p:nvPr/>
          </p:nvSpPr>
          <p:spPr bwMode="auto">
            <a:xfrm>
              <a:off x="2057399" y="3509963"/>
              <a:ext cx="1509713" cy="1013354"/>
            </a:xfrm>
            <a:prstGeom prst="rect">
              <a:avLst/>
            </a:prstGeom>
            <a:noFill/>
            <a:ln>
              <a:noFill/>
            </a:ln>
            <a:extLst>
              <a:ext uri="{909E8E84-426E-40dd-AFC4-6F175D3DCCD1}">
                <a14:hiddenFill xmlns="" xmlns:a14="http://schemas.microsoft.com/office/drawing/2010/main" xmlns:lc="http://schemas.openxmlformats.org/drawingml/2006/lockedCanvas">
                  <a:solidFill>
                    <a:srgbClr val="FFFFFF"/>
                  </a:solidFill>
                </a14:hiddenFill>
              </a:ext>
              <a:ext uri="{91240B29-F687-4f45-9708-019B960494DF}">
                <a14:hiddenLine xmlns="" xmlns:a14="http://schemas.microsoft.com/office/drawing/2010/main" xmlns:lc="http://schemas.openxmlformats.org/drawingml/2006/lockedCanvas" w="9525">
                  <a:solidFill>
                    <a:srgbClr val="000000"/>
                  </a:solidFill>
                  <a:miter lim="800000"/>
                  <a:headEnd/>
                  <a:tailEnd/>
                </a14:hiddenLine>
              </a:ext>
            </a:extLst>
          </p:spPr>
          <p:txBody>
            <a:bodyPr>
              <a:spAutoFit/>
            </a:bodyPr>
            <a:lstStyle>
              <a:defPPr>
                <a:defRPr lang="en-US"/>
              </a:defPPr>
              <a:lvl1pPr algn="l" defTabSz="457200" rtl="0" fontAlgn="base">
                <a:spcBef>
                  <a:spcPct val="0"/>
                </a:spcBef>
                <a:spcAft>
                  <a:spcPct val="0"/>
                </a:spcAft>
                <a:defRPr kern="1200">
                  <a:solidFill>
                    <a:schemeClr val="tx1"/>
                  </a:solidFill>
                  <a:latin typeface="Arial" charset="0"/>
                  <a:ea typeface="ＭＳ Ｐゴシック" charset="0"/>
                  <a:cs typeface="Arial" charset="0"/>
                </a:defRPr>
              </a:lvl1pPr>
              <a:lvl2pPr marL="457200" algn="l" defTabSz="457200" rtl="0" fontAlgn="base">
                <a:spcBef>
                  <a:spcPct val="0"/>
                </a:spcBef>
                <a:spcAft>
                  <a:spcPct val="0"/>
                </a:spcAft>
                <a:defRPr kern="1200">
                  <a:solidFill>
                    <a:schemeClr val="tx1"/>
                  </a:solidFill>
                  <a:latin typeface="Arial" charset="0"/>
                  <a:ea typeface="ＭＳ Ｐゴシック" charset="0"/>
                  <a:cs typeface="Arial" charset="0"/>
                </a:defRPr>
              </a:lvl2pPr>
              <a:lvl3pPr marL="914400" algn="l" defTabSz="457200" rtl="0" fontAlgn="base">
                <a:spcBef>
                  <a:spcPct val="0"/>
                </a:spcBef>
                <a:spcAft>
                  <a:spcPct val="0"/>
                </a:spcAft>
                <a:defRPr kern="1200">
                  <a:solidFill>
                    <a:schemeClr val="tx1"/>
                  </a:solidFill>
                  <a:latin typeface="Arial" charset="0"/>
                  <a:ea typeface="ＭＳ Ｐゴシック" charset="0"/>
                  <a:cs typeface="Arial" charset="0"/>
                </a:defRPr>
              </a:lvl3pPr>
              <a:lvl4pPr marL="1371600" algn="l" defTabSz="457200" rtl="0" fontAlgn="base">
                <a:spcBef>
                  <a:spcPct val="0"/>
                </a:spcBef>
                <a:spcAft>
                  <a:spcPct val="0"/>
                </a:spcAft>
                <a:defRPr kern="1200">
                  <a:solidFill>
                    <a:schemeClr val="tx1"/>
                  </a:solidFill>
                  <a:latin typeface="Arial" charset="0"/>
                  <a:ea typeface="ＭＳ Ｐゴシック" charset="0"/>
                  <a:cs typeface="Arial" charset="0"/>
                </a:defRPr>
              </a:lvl4pPr>
              <a:lvl5pPr marL="1828800" algn="l" defTabSz="457200" rtl="0" fontAlgn="base">
                <a:spcBef>
                  <a:spcPct val="0"/>
                </a:spcBef>
                <a:spcAft>
                  <a:spcPct val="0"/>
                </a:spcAft>
                <a:defRPr kern="1200">
                  <a:solidFill>
                    <a:schemeClr val="tx1"/>
                  </a:solidFill>
                  <a:latin typeface="Arial" charset="0"/>
                  <a:ea typeface="ＭＳ Ｐゴシック" charset="0"/>
                  <a:cs typeface="Arial" charset="0"/>
                </a:defRPr>
              </a:lvl5pPr>
              <a:lvl6pPr marL="2286000" algn="l" defTabSz="457200" rtl="0" eaLnBrk="1" latinLnBrk="0" hangingPunct="1">
                <a:defRPr kern="1200">
                  <a:solidFill>
                    <a:schemeClr val="tx1"/>
                  </a:solidFill>
                  <a:latin typeface="Arial" charset="0"/>
                  <a:ea typeface="ＭＳ Ｐゴシック" charset="0"/>
                  <a:cs typeface="Arial" charset="0"/>
                </a:defRPr>
              </a:lvl6pPr>
              <a:lvl7pPr marL="2743200" algn="l" defTabSz="457200" rtl="0" eaLnBrk="1" latinLnBrk="0" hangingPunct="1">
                <a:defRPr kern="1200">
                  <a:solidFill>
                    <a:schemeClr val="tx1"/>
                  </a:solidFill>
                  <a:latin typeface="Arial" charset="0"/>
                  <a:ea typeface="ＭＳ Ｐゴシック" charset="0"/>
                  <a:cs typeface="Arial" charset="0"/>
                </a:defRPr>
              </a:lvl7pPr>
              <a:lvl8pPr marL="3200400" algn="l" defTabSz="457200" rtl="0" eaLnBrk="1" latinLnBrk="0" hangingPunct="1">
                <a:defRPr kern="1200">
                  <a:solidFill>
                    <a:schemeClr val="tx1"/>
                  </a:solidFill>
                  <a:latin typeface="Arial" charset="0"/>
                  <a:ea typeface="ＭＳ Ｐゴシック" charset="0"/>
                  <a:cs typeface="Arial" charset="0"/>
                </a:defRPr>
              </a:lvl8pPr>
              <a:lvl9pPr marL="3657600" algn="l" defTabSz="457200" rtl="0" eaLnBrk="1" latinLnBrk="0" hangingPunct="1">
                <a:defRPr kern="1200">
                  <a:solidFill>
                    <a:schemeClr val="tx1"/>
                  </a:solidFill>
                  <a:latin typeface="Arial" charset="0"/>
                  <a:ea typeface="ＭＳ Ｐゴシック" charset="0"/>
                  <a:cs typeface="Arial" charset="0"/>
                </a:defRPr>
              </a:lvl9pPr>
            </a:lstStyle>
            <a:p>
              <a:pPr marL="0" marR="0" lvl="0" indent="0" algn="l" defTabSz="457200" rtl="0" eaLnBrk="1" fontAlgn="base" latinLnBrk="0" hangingPunct="1">
                <a:lnSpc>
                  <a:spcPct val="85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Arial" charset="0"/>
                  <a:ea typeface="ＭＳ Ｐゴシック" charset="0"/>
                  <a:cs typeface="Arial" charset="0"/>
                </a:rPr>
                <a:t>Operations managers with sales and operations planning team</a:t>
              </a:r>
            </a:p>
          </p:txBody>
        </p:sp>
        <p:sp>
          <p:nvSpPr>
            <p:cNvPr id="40" name="Rectangle 39">
              <a:extLst>
                <a:ext uri="{FF2B5EF4-FFF2-40B4-BE49-F238E27FC236}">
                  <a16:creationId xmlns:a16="http://schemas.microsoft.com/office/drawing/2014/main" id="{4FB97E10-1C74-1838-5A56-05C1DB7E9F4E}"/>
                </a:ext>
              </a:extLst>
            </p:cNvPr>
            <p:cNvSpPr>
              <a:spLocks noChangeArrowheads="1"/>
            </p:cNvSpPr>
            <p:nvPr/>
          </p:nvSpPr>
          <p:spPr bwMode="auto">
            <a:xfrm>
              <a:off x="1692275" y="4811713"/>
              <a:ext cx="1279525" cy="830263"/>
            </a:xfrm>
            <a:prstGeom prst="rect">
              <a:avLst/>
            </a:prstGeom>
            <a:noFill/>
            <a:ln>
              <a:noFill/>
            </a:ln>
            <a:extLst>
              <a:ext uri="{909E8E84-426E-40dd-AFC4-6F175D3DCCD1}">
                <a14:hiddenFill xmlns="" xmlns:a14="http://schemas.microsoft.com/office/drawing/2010/main" xmlns:lc="http://schemas.openxmlformats.org/drawingml/2006/lockedCanvas">
                  <a:solidFill>
                    <a:srgbClr val="FFFFFF"/>
                  </a:solidFill>
                </a14:hiddenFill>
              </a:ext>
              <a:ext uri="{91240B29-F687-4f45-9708-019B960494DF}">
                <a14:hiddenLine xmlns="" xmlns:a14="http://schemas.microsoft.com/office/drawing/2010/main" xmlns:lc="http://schemas.openxmlformats.org/drawingml/2006/lockedCanvas" w="9525">
                  <a:solidFill>
                    <a:srgbClr val="000000"/>
                  </a:solidFill>
                  <a:miter lim="800000"/>
                  <a:headEnd/>
                  <a:tailEnd/>
                </a14:hiddenLine>
              </a:ext>
            </a:extLst>
          </p:spPr>
          <p:txBody>
            <a:bodyPr>
              <a:spAutoFit/>
            </a:bodyPr>
            <a:lstStyle>
              <a:defPPr>
                <a:defRPr lang="en-US"/>
              </a:defPPr>
              <a:lvl1pPr algn="l" defTabSz="457200" rtl="0" fontAlgn="base">
                <a:spcBef>
                  <a:spcPct val="0"/>
                </a:spcBef>
                <a:spcAft>
                  <a:spcPct val="0"/>
                </a:spcAft>
                <a:defRPr kern="1200">
                  <a:solidFill>
                    <a:schemeClr val="tx1"/>
                  </a:solidFill>
                  <a:latin typeface="Arial" charset="0"/>
                  <a:ea typeface="ＭＳ Ｐゴシック" charset="0"/>
                  <a:cs typeface="Arial" charset="0"/>
                </a:defRPr>
              </a:lvl1pPr>
              <a:lvl2pPr marL="457200" algn="l" defTabSz="457200" rtl="0" fontAlgn="base">
                <a:spcBef>
                  <a:spcPct val="0"/>
                </a:spcBef>
                <a:spcAft>
                  <a:spcPct val="0"/>
                </a:spcAft>
                <a:defRPr kern="1200">
                  <a:solidFill>
                    <a:schemeClr val="tx1"/>
                  </a:solidFill>
                  <a:latin typeface="Arial" charset="0"/>
                  <a:ea typeface="ＭＳ Ｐゴシック" charset="0"/>
                  <a:cs typeface="Arial" charset="0"/>
                </a:defRPr>
              </a:lvl2pPr>
              <a:lvl3pPr marL="914400" algn="l" defTabSz="457200" rtl="0" fontAlgn="base">
                <a:spcBef>
                  <a:spcPct val="0"/>
                </a:spcBef>
                <a:spcAft>
                  <a:spcPct val="0"/>
                </a:spcAft>
                <a:defRPr kern="1200">
                  <a:solidFill>
                    <a:schemeClr val="tx1"/>
                  </a:solidFill>
                  <a:latin typeface="Arial" charset="0"/>
                  <a:ea typeface="ＭＳ Ｐゴシック" charset="0"/>
                  <a:cs typeface="Arial" charset="0"/>
                </a:defRPr>
              </a:lvl3pPr>
              <a:lvl4pPr marL="1371600" algn="l" defTabSz="457200" rtl="0" fontAlgn="base">
                <a:spcBef>
                  <a:spcPct val="0"/>
                </a:spcBef>
                <a:spcAft>
                  <a:spcPct val="0"/>
                </a:spcAft>
                <a:defRPr kern="1200">
                  <a:solidFill>
                    <a:schemeClr val="tx1"/>
                  </a:solidFill>
                  <a:latin typeface="Arial" charset="0"/>
                  <a:ea typeface="ＭＳ Ｐゴシック" charset="0"/>
                  <a:cs typeface="Arial" charset="0"/>
                </a:defRPr>
              </a:lvl4pPr>
              <a:lvl5pPr marL="1828800" algn="l" defTabSz="457200" rtl="0" fontAlgn="base">
                <a:spcBef>
                  <a:spcPct val="0"/>
                </a:spcBef>
                <a:spcAft>
                  <a:spcPct val="0"/>
                </a:spcAft>
                <a:defRPr kern="1200">
                  <a:solidFill>
                    <a:schemeClr val="tx1"/>
                  </a:solidFill>
                  <a:latin typeface="Arial" charset="0"/>
                  <a:ea typeface="ＭＳ Ｐゴシック" charset="0"/>
                  <a:cs typeface="Arial" charset="0"/>
                </a:defRPr>
              </a:lvl5pPr>
              <a:lvl6pPr marL="2286000" algn="l" defTabSz="457200" rtl="0" eaLnBrk="1" latinLnBrk="0" hangingPunct="1">
                <a:defRPr kern="1200">
                  <a:solidFill>
                    <a:schemeClr val="tx1"/>
                  </a:solidFill>
                  <a:latin typeface="Arial" charset="0"/>
                  <a:ea typeface="ＭＳ Ｐゴシック" charset="0"/>
                  <a:cs typeface="Arial" charset="0"/>
                </a:defRPr>
              </a:lvl6pPr>
              <a:lvl7pPr marL="2743200" algn="l" defTabSz="457200" rtl="0" eaLnBrk="1" latinLnBrk="0" hangingPunct="1">
                <a:defRPr kern="1200">
                  <a:solidFill>
                    <a:schemeClr val="tx1"/>
                  </a:solidFill>
                  <a:latin typeface="Arial" charset="0"/>
                  <a:ea typeface="ＭＳ Ｐゴシック" charset="0"/>
                  <a:cs typeface="Arial" charset="0"/>
                </a:defRPr>
              </a:lvl7pPr>
              <a:lvl8pPr marL="3200400" algn="l" defTabSz="457200" rtl="0" eaLnBrk="1" latinLnBrk="0" hangingPunct="1">
                <a:defRPr kern="1200">
                  <a:solidFill>
                    <a:schemeClr val="tx1"/>
                  </a:solidFill>
                  <a:latin typeface="Arial" charset="0"/>
                  <a:ea typeface="ＭＳ Ｐゴシック" charset="0"/>
                  <a:cs typeface="Arial" charset="0"/>
                </a:defRPr>
              </a:lvl8pPr>
              <a:lvl9pPr marL="3657600" algn="l" defTabSz="457200" rtl="0" eaLnBrk="1" latinLnBrk="0" hangingPunct="1">
                <a:defRPr kern="1200">
                  <a:solidFill>
                    <a:schemeClr val="tx1"/>
                  </a:solidFill>
                  <a:latin typeface="Arial" charset="0"/>
                  <a:ea typeface="ＭＳ Ｐゴシック" charset="0"/>
                  <a:cs typeface="Arial" charset="0"/>
                </a:defRPr>
              </a:lvl9pPr>
            </a:lstStyle>
            <a:p>
              <a:pPr marL="0" marR="0" lvl="0" indent="0" algn="l" defTabSz="457200" rtl="0" eaLnBrk="1" fontAlgn="base" latinLnBrk="0" hangingPunct="1">
                <a:lnSpc>
                  <a:spcPct val="85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Arial" charset="0"/>
                  <a:ea typeface="ＭＳ Ｐゴシック" charset="0"/>
                  <a:cs typeface="Arial" charset="0"/>
                </a:rPr>
                <a:t>Operations managers, supervisors, foremen</a:t>
              </a:r>
            </a:p>
          </p:txBody>
        </p:sp>
        <p:sp>
          <p:nvSpPr>
            <p:cNvPr id="41" name="Rectangle 40">
              <a:extLst>
                <a:ext uri="{FF2B5EF4-FFF2-40B4-BE49-F238E27FC236}">
                  <a16:creationId xmlns:a16="http://schemas.microsoft.com/office/drawing/2014/main" id="{77FF4CB9-086A-0003-62C6-B129955DE29A}"/>
                </a:ext>
              </a:extLst>
            </p:cNvPr>
            <p:cNvSpPr>
              <a:spLocks noChangeArrowheads="1"/>
            </p:cNvSpPr>
            <p:nvPr/>
          </p:nvSpPr>
          <p:spPr bwMode="auto">
            <a:xfrm>
              <a:off x="1685925" y="5867400"/>
              <a:ext cx="1411702" cy="307777"/>
            </a:xfrm>
            <a:prstGeom prst="rect">
              <a:avLst/>
            </a:prstGeom>
            <a:noFill/>
            <a:ln>
              <a:noFill/>
            </a:ln>
            <a:extLst>
              <a:ext uri="{909E8E84-426E-40dd-AFC4-6F175D3DCCD1}">
                <a14:hiddenFill xmlns="" xmlns:a14="http://schemas.microsoft.com/office/drawing/2010/main" xmlns:lc="http://schemas.openxmlformats.org/drawingml/2006/lockedCanvas">
                  <a:solidFill>
                    <a:srgbClr val="FFFFFF"/>
                  </a:solidFill>
                </a14:hiddenFill>
              </a:ext>
              <a:ext uri="{91240B29-F687-4f45-9708-019B960494DF}">
                <a14:hiddenLine xmlns="" xmlns:a14="http://schemas.microsoft.com/office/drawing/2010/main" xmlns:lc="http://schemas.openxmlformats.org/drawingml/2006/lockedCanvas" w="9525">
                  <a:solidFill>
                    <a:srgbClr val="000000"/>
                  </a:solidFill>
                  <a:miter lim="800000"/>
                  <a:headEnd/>
                  <a:tailEnd/>
                </a14:hiddenLine>
              </a:ext>
            </a:extLst>
          </p:spPr>
          <p:txBody>
            <a:bodyPr wrap="none">
              <a:spAutoFit/>
            </a:bodyPr>
            <a:lstStyle>
              <a:defPPr>
                <a:defRPr lang="en-US"/>
              </a:defPPr>
              <a:lvl1pPr algn="l" defTabSz="457200" rtl="0" fontAlgn="base">
                <a:spcBef>
                  <a:spcPct val="0"/>
                </a:spcBef>
                <a:spcAft>
                  <a:spcPct val="0"/>
                </a:spcAft>
                <a:defRPr kern="1200">
                  <a:solidFill>
                    <a:schemeClr val="tx1"/>
                  </a:solidFill>
                  <a:latin typeface="Arial" charset="0"/>
                  <a:ea typeface="ＭＳ Ｐゴシック" charset="0"/>
                  <a:cs typeface="Arial" charset="0"/>
                </a:defRPr>
              </a:lvl1pPr>
              <a:lvl2pPr marL="457200" algn="l" defTabSz="457200" rtl="0" fontAlgn="base">
                <a:spcBef>
                  <a:spcPct val="0"/>
                </a:spcBef>
                <a:spcAft>
                  <a:spcPct val="0"/>
                </a:spcAft>
                <a:defRPr kern="1200">
                  <a:solidFill>
                    <a:schemeClr val="tx1"/>
                  </a:solidFill>
                  <a:latin typeface="Arial" charset="0"/>
                  <a:ea typeface="ＭＳ Ｐゴシック" charset="0"/>
                  <a:cs typeface="Arial" charset="0"/>
                </a:defRPr>
              </a:lvl2pPr>
              <a:lvl3pPr marL="914400" algn="l" defTabSz="457200" rtl="0" fontAlgn="base">
                <a:spcBef>
                  <a:spcPct val="0"/>
                </a:spcBef>
                <a:spcAft>
                  <a:spcPct val="0"/>
                </a:spcAft>
                <a:defRPr kern="1200">
                  <a:solidFill>
                    <a:schemeClr val="tx1"/>
                  </a:solidFill>
                  <a:latin typeface="Arial" charset="0"/>
                  <a:ea typeface="ＭＳ Ｐゴシック" charset="0"/>
                  <a:cs typeface="Arial" charset="0"/>
                </a:defRPr>
              </a:lvl3pPr>
              <a:lvl4pPr marL="1371600" algn="l" defTabSz="457200" rtl="0" fontAlgn="base">
                <a:spcBef>
                  <a:spcPct val="0"/>
                </a:spcBef>
                <a:spcAft>
                  <a:spcPct val="0"/>
                </a:spcAft>
                <a:defRPr kern="1200">
                  <a:solidFill>
                    <a:schemeClr val="tx1"/>
                  </a:solidFill>
                  <a:latin typeface="Arial" charset="0"/>
                  <a:ea typeface="ＭＳ Ｐゴシック" charset="0"/>
                  <a:cs typeface="Arial" charset="0"/>
                </a:defRPr>
              </a:lvl4pPr>
              <a:lvl5pPr marL="1828800" algn="l" defTabSz="457200" rtl="0" fontAlgn="base">
                <a:spcBef>
                  <a:spcPct val="0"/>
                </a:spcBef>
                <a:spcAft>
                  <a:spcPct val="0"/>
                </a:spcAft>
                <a:defRPr kern="1200">
                  <a:solidFill>
                    <a:schemeClr val="tx1"/>
                  </a:solidFill>
                  <a:latin typeface="Arial" charset="0"/>
                  <a:ea typeface="ＭＳ Ｐゴシック" charset="0"/>
                  <a:cs typeface="Arial" charset="0"/>
                </a:defRPr>
              </a:lvl5pPr>
              <a:lvl6pPr marL="2286000" algn="l" defTabSz="457200" rtl="0" eaLnBrk="1" latinLnBrk="0" hangingPunct="1">
                <a:defRPr kern="1200">
                  <a:solidFill>
                    <a:schemeClr val="tx1"/>
                  </a:solidFill>
                  <a:latin typeface="Arial" charset="0"/>
                  <a:ea typeface="ＭＳ Ｐゴシック" charset="0"/>
                  <a:cs typeface="Arial" charset="0"/>
                </a:defRPr>
              </a:lvl6pPr>
              <a:lvl7pPr marL="2743200" algn="l" defTabSz="457200" rtl="0" eaLnBrk="1" latinLnBrk="0" hangingPunct="1">
                <a:defRPr kern="1200">
                  <a:solidFill>
                    <a:schemeClr val="tx1"/>
                  </a:solidFill>
                  <a:latin typeface="Arial" charset="0"/>
                  <a:ea typeface="ＭＳ Ｐゴシック" charset="0"/>
                  <a:cs typeface="Arial" charset="0"/>
                </a:defRPr>
              </a:lvl7pPr>
              <a:lvl8pPr marL="3200400" algn="l" defTabSz="457200" rtl="0" eaLnBrk="1" latinLnBrk="0" hangingPunct="1">
                <a:defRPr kern="1200">
                  <a:solidFill>
                    <a:schemeClr val="tx1"/>
                  </a:solidFill>
                  <a:latin typeface="Arial" charset="0"/>
                  <a:ea typeface="ＭＳ Ｐゴシック" charset="0"/>
                  <a:cs typeface="Arial" charset="0"/>
                </a:defRPr>
              </a:lvl8pPr>
              <a:lvl9pPr marL="3657600" algn="l" defTabSz="457200" rtl="0" eaLnBrk="1" latinLnBrk="0" hangingPunct="1">
                <a:defRPr kern="1200">
                  <a:solidFill>
                    <a:schemeClr val="tx1"/>
                  </a:solidFill>
                  <a:latin typeface="Arial" charset="0"/>
                  <a:ea typeface="ＭＳ Ｐゴシック" charset="0"/>
                  <a:cs typeface="Arial" charset="0"/>
                </a:defRPr>
              </a:lvl9p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Arial" charset="0"/>
                  <a:ea typeface="ＭＳ Ｐゴシック" charset="0"/>
                  <a:cs typeface="Arial" charset="0"/>
                </a:rPr>
                <a:t>Responsibility</a:t>
              </a:r>
            </a:p>
          </p:txBody>
        </p:sp>
        <p:sp>
          <p:nvSpPr>
            <p:cNvPr id="42" name="Rectangle 41">
              <a:extLst>
                <a:ext uri="{FF2B5EF4-FFF2-40B4-BE49-F238E27FC236}">
                  <a16:creationId xmlns:a16="http://schemas.microsoft.com/office/drawing/2014/main" id="{C0538F69-F0C9-4A40-F6E7-CD11F6E65FC0}"/>
                </a:ext>
              </a:extLst>
            </p:cNvPr>
            <p:cNvSpPr>
              <a:spLocks noChangeArrowheads="1"/>
            </p:cNvSpPr>
            <p:nvPr/>
          </p:nvSpPr>
          <p:spPr bwMode="auto">
            <a:xfrm>
              <a:off x="3697288" y="5867400"/>
              <a:ext cx="3037786" cy="307777"/>
            </a:xfrm>
            <a:prstGeom prst="rect">
              <a:avLst/>
            </a:prstGeom>
            <a:noFill/>
            <a:ln>
              <a:noFill/>
            </a:ln>
            <a:extLst>
              <a:ext uri="{909E8E84-426E-40dd-AFC4-6F175D3DCCD1}">
                <a14:hiddenFill xmlns="" xmlns:a14="http://schemas.microsoft.com/office/drawing/2010/main" xmlns:lc="http://schemas.openxmlformats.org/drawingml/2006/lockedCanvas">
                  <a:solidFill>
                    <a:srgbClr val="FFFFFF"/>
                  </a:solidFill>
                </a14:hiddenFill>
              </a:ext>
              <a:ext uri="{91240B29-F687-4f45-9708-019B960494DF}">
                <a14:hiddenLine xmlns="" xmlns:a14="http://schemas.microsoft.com/office/drawing/2010/main" xmlns:lc="http://schemas.openxmlformats.org/drawingml/2006/lockedCanvas" w="9525">
                  <a:solidFill>
                    <a:srgbClr val="000000"/>
                  </a:solidFill>
                  <a:miter lim="800000"/>
                  <a:headEnd/>
                  <a:tailEnd/>
                </a14:hiddenLine>
              </a:ext>
            </a:extLst>
          </p:spPr>
          <p:txBody>
            <a:bodyPr wrap="none">
              <a:spAutoFit/>
            </a:bodyPr>
            <a:lstStyle>
              <a:defPPr>
                <a:defRPr lang="en-US"/>
              </a:defPPr>
              <a:lvl1pPr algn="l" defTabSz="457200" rtl="0" fontAlgn="base">
                <a:spcBef>
                  <a:spcPct val="0"/>
                </a:spcBef>
                <a:spcAft>
                  <a:spcPct val="0"/>
                </a:spcAft>
                <a:defRPr kern="1200">
                  <a:solidFill>
                    <a:schemeClr val="tx1"/>
                  </a:solidFill>
                  <a:latin typeface="Arial" charset="0"/>
                  <a:ea typeface="ＭＳ Ｐゴシック" charset="0"/>
                  <a:cs typeface="Arial" charset="0"/>
                </a:defRPr>
              </a:lvl1pPr>
              <a:lvl2pPr marL="457200" algn="l" defTabSz="457200" rtl="0" fontAlgn="base">
                <a:spcBef>
                  <a:spcPct val="0"/>
                </a:spcBef>
                <a:spcAft>
                  <a:spcPct val="0"/>
                </a:spcAft>
                <a:defRPr kern="1200">
                  <a:solidFill>
                    <a:schemeClr val="tx1"/>
                  </a:solidFill>
                  <a:latin typeface="Arial" charset="0"/>
                  <a:ea typeface="ＭＳ Ｐゴシック" charset="0"/>
                  <a:cs typeface="Arial" charset="0"/>
                </a:defRPr>
              </a:lvl2pPr>
              <a:lvl3pPr marL="914400" algn="l" defTabSz="457200" rtl="0" fontAlgn="base">
                <a:spcBef>
                  <a:spcPct val="0"/>
                </a:spcBef>
                <a:spcAft>
                  <a:spcPct val="0"/>
                </a:spcAft>
                <a:defRPr kern="1200">
                  <a:solidFill>
                    <a:schemeClr val="tx1"/>
                  </a:solidFill>
                  <a:latin typeface="Arial" charset="0"/>
                  <a:ea typeface="ＭＳ Ｐゴシック" charset="0"/>
                  <a:cs typeface="Arial" charset="0"/>
                </a:defRPr>
              </a:lvl3pPr>
              <a:lvl4pPr marL="1371600" algn="l" defTabSz="457200" rtl="0" fontAlgn="base">
                <a:spcBef>
                  <a:spcPct val="0"/>
                </a:spcBef>
                <a:spcAft>
                  <a:spcPct val="0"/>
                </a:spcAft>
                <a:defRPr kern="1200">
                  <a:solidFill>
                    <a:schemeClr val="tx1"/>
                  </a:solidFill>
                  <a:latin typeface="Arial" charset="0"/>
                  <a:ea typeface="ＭＳ Ｐゴシック" charset="0"/>
                  <a:cs typeface="Arial" charset="0"/>
                </a:defRPr>
              </a:lvl4pPr>
              <a:lvl5pPr marL="1828800" algn="l" defTabSz="457200" rtl="0" fontAlgn="base">
                <a:spcBef>
                  <a:spcPct val="0"/>
                </a:spcBef>
                <a:spcAft>
                  <a:spcPct val="0"/>
                </a:spcAft>
                <a:defRPr kern="1200">
                  <a:solidFill>
                    <a:schemeClr val="tx1"/>
                  </a:solidFill>
                  <a:latin typeface="Arial" charset="0"/>
                  <a:ea typeface="ＭＳ Ｐゴシック" charset="0"/>
                  <a:cs typeface="Arial" charset="0"/>
                </a:defRPr>
              </a:lvl5pPr>
              <a:lvl6pPr marL="2286000" algn="l" defTabSz="457200" rtl="0" eaLnBrk="1" latinLnBrk="0" hangingPunct="1">
                <a:defRPr kern="1200">
                  <a:solidFill>
                    <a:schemeClr val="tx1"/>
                  </a:solidFill>
                  <a:latin typeface="Arial" charset="0"/>
                  <a:ea typeface="ＭＳ Ｐゴシック" charset="0"/>
                  <a:cs typeface="Arial" charset="0"/>
                </a:defRPr>
              </a:lvl6pPr>
              <a:lvl7pPr marL="2743200" algn="l" defTabSz="457200" rtl="0" eaLnBrk="1" latinLnBrk="0" hangingPunct="1">
                <a:defRPr kern="1200">
                  <a:solidFill>
                    <a:schemeClr val="tx1"/>
                  </a:solidFill>
                  <a:latin typeface="Arial" charset="0"/>
                  <a:ea typeface="ＭＳ Ｐゴシック" charset="0"/>
                  <a:cs typeface="Arial" charset="0"/>
                </a:defRPr>
              </a:lvl7pPr>
              <a:lvl8pPr marL="3200400" algn="l" defTabSz="457200" rtl="0" eaLnBrk="1" latinLnBrk="0" hangingPunct="1">
                <a:defRPr kern="1200">
                  <a:solidFill>
                    <a:schemeClr val="tx1"/>
                  </a:solidFill>
                  <a:latin typeface="Arial" charset="0"/>
                  <a:ea typeface="ＭＳ Ｐゴシック" charset="0"/>
                  <a:cs typeface="Arial" charset="0"/>
                </a:defRPr>
              </a:lvl8pPr>
              <a:lvl9pPr marL="3657600" algn="l" defTabSz="457200" rtl="0" eaLnBrk="1" latinLnBrk="0" hangingPunct="1">
                <a:defRPr kern="1200">
                  <a:solidFill>
                    <a:schemeClr val="tx1"/>
                  </a:solidFill>
                  <a:latin typeface="Arial" charset="0"/>
                  <a:ea typeface="ＭＳ Ｐゴシック" charset="0"/>
                  <a:cs typeface="Arial" charset="0"/>
                </a:defRPr>
              </a:lvl9p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Arial" charset="0"/>
                  <a:ea typeface="ＭＳ Ｐゴシック" charset="0"/>
                  <a:cs typeface="Arial" charset="0"/>
                </a:rPr>
                <a:t>Planning tasks and time horizons</a:t>
              </a:r>
            </a:p>
          </p:txBody>
        </p:sp>
        <p:sp>
          <p:nvSpPr>
            <p:cNvPr id="43" name="AutoShape 19">
              <a:extLst>
                <a:ext uri="{FF2B5EF4-FFF2-40B4-BE49-F238E27FC236}">
                  <a16:creationId xmlns:a16="http://schemas.microsoft.com/office/drawing/2014/main" id="{D10F60D1-2E4D-19F0-0903-D7A3333C1622}"/>
                </a:ext>
              </a:extLst>
            </p:cNvPr>
            <p:cNvSpPr>
              <a:spLocks noChangeArrowheads="1"/>
            </p:cNvSpPr>
            <p:nvPr/>
          </p:nvSpPr>
          <p:spPr bwMode="auto">
            <a:xfrm>
              <a:off x="952500" y="1168400"/>
              <a:ext cx="7950200" cy="4690675"/>
            </a:xfrm>
            <a:prstGeom prst="parallelogram">
              <a:avLst>
                <a:gd name="adj" fmla="val 48744"/>
              </a:avLst>
            </a:prstGeom>
            <a:noFill/>
            <a:ln w="38100">
              <a:solidFill>
                <a:srgbClr val="000000"/>
              </a:solidFill>
              <a:miter lim="800000"/>
              <a:headEnd/>
              <a:tailEnd/>
            </a:ln>
            <a:extLst>
              <a:ext uri="{909E8E84-426E-40dd-AFC4-6F175D3DCCD1}">
                <a14:hiddenFill xmlns="" xmlns:a14="http://schemas.microsoft.com/office/drawing/2010/main" xmlns:lc="http://schemas.openxmlformats.org/drawingml/2006/lockedCanvas">
                  <a:solidFill>
                    <a:srgbClr val="FFFFFF"/>
                  </a:solidFill>
                </a14:hiddenFill>
              </a:ext>
            </a:extLst>
          </p:spPr>
          <p:txBody>
            <a:bodyPr wrap="none" anchor="ctr"/>
            <a:lstStyle>
              <a:defPPr>
                <a:defRPr lang="en-US"/>
              </a:defPPr>
              <a:lvl1pPr algn="l" defTabSz="457200" rtl="0" fontAlgn="base">
                <a:spcBef>
                  <a:spcPct val="0"/>
                </a:spcBef>
                <a:spcAft>
                  <a:spcPct val="0"/>
                </a:spcAft>
                <a:defRPr kern="1200">
                  <a:solidFill>
                    <a:schemeClr val="tx1"/>
                  </a:solidFill>
                  <a:latin typeface="Arial" charset="0"/>
                  <a:ea typeface="ＭＳ Ｐゴシック" charset="0"/>
                  <a:cs typeface="Arial" charset="0"/>
                </a:defRPr>
              </a:lvl1pPr>
              <a:lvl2pPr marL="457200" algn="l" defTabSz="457200" rtl="0" fontAlgn="base">
                <a:spcBef>
                  <a:spcPct val="0"/>
                </a:spcBef>
                <a:spcAft>
                  <a:spcPct val="0"/>
                </a:spcAft>
                <a:defRPr kern="1200">
                  <a:solidFill>
                    <a:schemeClr val="tx1"/>
                  </a:solidFill>
                  <a:latin typeface="Arial" charset="0"/>
                  <a:ea typeface="ＭＳ Ｐゴシック" charset="0"/>
                  <a:cs typeface="Arial" charset="0"/>
                </a:defRPr>
              </a:lvl2pPr>
              <a:lvl3pPr marL="914400" algn="l" defTabSz="457200" rtl="0" fontAlgn="base">
                <a:spcBef>
                  <a:spcPct val="0"/>
                </a:spcBef>
                <a:spcAft>
                  <a:spcPct val="0"/>
                </a:spcAft>
                <a:defRPr kern="1200">
                  <a:solidFill>
                    <a:schemeClr val="tx1"/>
                  </a:solidFill>
                  <a:latin typeface="Arial" charset="0"/>
                  <a:ea typeface="ＭＳ Ｐゴシック" charset="0"/>
                  <a:cs typeface="Arial" charset="0"/>
                </a:defRPr>
              </a:lvl3pPr>
              <a:lvl4pPr marL="1371600" algn="l" defTabSz="457200" rtl="0" fontAlgn="base">
                <a:spcBef>
                  <a:spcPct val="0"/>
                </a:spcBef>
                <a:spcAft>
                  <a:spcPct val="0"/>
                </a:spcAft>
                <a:defRPr kern="1200">
                  <a:solidFill>
                    <a:schemeClr val="tx1"/>
                  </a:solidFill>
                  <a:latin typeface="Arial" charset="0"/>
                  <a:ea typeface="ＭＳ Ｐゴシック" charset="0"/>
                  <a:cs typeface="Arial" charset="0"/>
                </a:defRPr>
              </a:lvl4pPr>
              <a:lvl5pPr marL="1828800" algn="l" defTabSz="457200" rtl="0" fontAlgn="base">
                <a:spcBef>
                  <a:spcPct val="0"/>
                </a:spcBef>
                <a:spcAft>
                  <a:spcPct val="0"/>
                </a:spcAft>
                <a:defRPr kern="1200">
                  <a:solidFill>
                    <a:schemeClr val="tx1"/>
                  </a:solidFill>
                  <a:latin typeface="Arial" charset="0"/>
                  <a:ea typeface="ＭＳ Ｐゴシック" charset="0"/>
                  <a:cs typeface="Arial" charset="0"/>
                </a:defRPr>
              </a:lvl5pPr>
              <a:lvl6pPr marL="2286000" algn="l" defTabSz="457200" rtl="0" eaLnBrk="1" latinLnBrk="0" hangingPunct="1">
                <a:defRPr kern="1200">
                  <a:solidFill>
                    <a:schemeClr val="tx1"/>
                  </a:solidFill>
                  <a:latin typeface="Arial" charset="0"/>
                  <a:ea typeface="ＭＳ Ｐゴシック" charset="0"/>
                  <a:cs typeface="Arial" charset="0"/>
                </a:defRPr>
              </a:lvl6pPr>
              <a:lvl7pPr marL="2743200" algn="l" defTabSz="457200" rtl="0" eaLnBrk="1" latinLnBrk="0" hangingPunct="1">
                <a:defRPr kern="1200">
                  <a:solidFill>
                    <a:schemeClr val="tx1"/>
                  </a:solidFill>
                  <a:latin typeface="Arial" charset="0"/>
                  <a:ea typeface="ＭＳ Ｐゴシック" charset="0"/>
                  <a:cs typeface="Arial" charset="0"/>
                </a:defRPr>
              </a:lvl7pPr>
              <a:lvl8pPr marL="3200400" algn="l" defTabSz="457200" rtl="0" eaLnBrk="1" latinLnBrk="0" hangingPunct="1">
                <a:defRPr kern="1200">
                  <a:solidFill>
                    <a:schemeClr val="tx1"/>
                  </a:solidFill>
                  <a:latin typeface="Arial" charset="0"/>
                  <a:ea typeface="ＭＳ Ｐゴシック" charset="0"/>
                  <a:cs typeface="Arial" charset="0"/>
                </a:defRPr>
              </a:lvl8pPr>
              <a:lvl9pPr marL="3657600" algn="l" defTabSz="457200" rtl="0" eaLnBrk="1" latinLnBrk="0" hangingPunct="1">
                <a:defRPr kern="1200">
                  <a:solidFill>
                    <a:schemeClr val="tx1"/>
                  </a:solidFill>
                  <a:latin typeface="Arial" charset="0"/>
                  <a:ea typeface="ＭＳ Ｐゴシック" charset="0"/>
                  <a:cs typeface="Arial" charset="0"/>
                </a:defRPr>
              </a:lvl9pPr>
            </a:lstStyle>
            <a:p>
              <a:pPr marL="0" marR="0" lvl="0" indent="0" algn="l"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44" name="Line 20">
              <a:extLst>
                <a:ext uri="{FF2B5EF4-FFF2-40B4-BE49-F238E27FC236}">
                  <a16:creationId xmlns:a16="http://schemas.microsoft.com/office/drawing/2014/main" id="{6AE8822A-8304-AB2C-C93F-95AA9306EA91}"/>
                </a:ext>
              </a:extLst>
            </p:cNvPr>
            <p:cNvSpPr>
              <a:spLocks noChangeShapeType="1"/>
            </p:cNvSpPr>
            <p:nvPr/>
          </p:nvSpPr>
          <p:spPr bwMode="auto">
            <a:xfrm>
              <a:off x="3544888" y="1168400"/>
              <a:ext cx="0" cy="4689429"/>
            </a:xfrm>
            <a:prstGeom prst="line">
              <a:avLst/>
            </a:prstGeom>
            <a:noFill/>
            <a:ln w="38100">
              <a:solidFill>
                <a:srgbClr val="000000"/>
              </a:solidFill>
              <a:round/>
              <a:headEnd/>
              <a:tailEnd/>
            </a:ln>
            <a:extLst>
              <a:ext uri="{909E8E84-426E-40dd-AFC4-6F175D3DCCD1}">
                <a14:hiddenFill xmlns="" xmlns:a14="http://schemas.microsoft.com/office/drawing/2010/main" xmlns:lc="http://schemas.openxmlformats.org/drawingml/2006/lockedCanvas">
                  <a:noFill/>
                </a14:hiddenFill>
              </a:ext>
            </a:extLst>
          </p:spPr>
          <p:txBody>
            <a:bodyPr wrap="none" anchor="ctr"/>
            <a:lstStyle>
              <a:defPPr>
                <a:defRPr lang="en-US"/>
              </a:defPPr>
              <a:lvl1pPr algn="l" defTabSz="457200" rtl="0" fontAlgn="base">
                <a:spcBef>
                  <a:spcPct val="0"/>
                </a:spcBef>
                <a:spcAft>
                  <a:spcPct val="0"/>
                </a:spcAft>
                <a:defRPr kern="1200">
                  <a:solidFill>
                    <a:schemeClr val="tx1"/>
                  </a:solidFill>
                  <a:latin typeface="Arial" charset="0"/>
                  <a:ea typeface="ＭＳ Ｐゴシック" charset="0"/>
                  <a:cs typeface="Arial" charset="0"/>
                </a:defRPr>
              </a:lvl1pPr>
              <a:lvl2pPr marL="457200" algn="l" defTabSz="457200" rtl="0" fontAlgn="base">
                <a:spcBef>
                  <a:spcPct val="0"/>
                </a:spcBef>
                <a:spcAft>
                  <a:spcPct val="0"/>
                </a:spcAft>
                <a:defRPr kern="1200">
                  <a:solidFill>
                    <a:schemeClr val="tx1"/>
                  </a:solidFill>
                  <a:latin typeface="Arial" charset="0"/>
                  <a:ea typeface="ＭＳ Ｐゴシック" charset="0"/>
                  <a:cs typeface="Arial" charset="0"/>
                </a:defRPr>
              </a:lvl2pPr>
              <a:lvl3pPr marL="914400" algn="l" defTabSz="457200" rtl="0" fontAlgn="base">
                <a:spcBef>
                  <a:spcPct val="0"/>
                </a:spcBef>
                <a:spcAft>
                  <a:spcPct val="0"/>
                </a:spcAft>
                <a:defRPr kern="1200">
                  <a:solidFill>
                    <a:schemeClr val="tx1"/>
                  </a:solidFill>
                  <a:latin typeface="Arial" charset="0"/>
                  <a:ea typeface="ＭＳ Ｐゴシック" charset="0"/>
                  <a:cs typeface="Arial" charset="0"/>
                </a:defRPr>
              </a:lvl3pPr>
              <a:lvl4pPr marL="1371600" algn="l" defTabSz="457200" rtl="0" fontAlgn="base">
                <a:spcBef>
                  <a:spcPct val="0"/>
                </a:spcBef>
                <a:spcAft>
                  <a:spcPct val="0"/>
                </a:spcAft>
                <a:defRPr kern="1200">
                  <a:solidFill>
                    <a:schemeClr val="tx1"/>
                  </a:solidFill>
                  <a:latin typeface="Arial" charset="0"/>
                  <a:ea typeface="ＭＳ Ｐゴシック" charset="0"/>
                  <a:cs typeface="Arial" charset="0"/>
                </a:defRPr>
              </a:lvl4pPr>
              <a:lvl5pPr marL="1828800" algn="l" defTabSz="457200" rtl="0" fontAlgn="base">
                <a:spcBef>
                  <a:spcPct val="0"/>
                </a:spcBef>
                <a:spcAft>
                  <a:spcPct val="0"/>
                </a:spcAft>
                <a:defRPr kern="1200">
                  <a:solidFill>
                    <a:schemeClr val="tx1"/>
                  </a:solidFill>
                  <a:latin typeface="Arial" charset="0"/>
                  <a:ea typeface="ＭＳ Ｐゴシック" charset="0"/>
                  <a:cs typeface="Arial" charset="0"/>
                </a:defRPr>
              </a:lvl5pPr>
              <a:lvl6pPr marL="2286000" algn="l" defTabSz="457200" rtl="0" eaLnBrk="1" latinLnBrk="0" hangingPunct="1">
                <a:defRPr kern="1200">
                  <a:solidFill>
                    <a:schemeClr val="tx1"/>
                  </a:solidFill>
                  <a:latin typeface="Arial" charset="0"/>
                  <a:ea typeface="ＭＳ Ｐゴシック" charset="0"/>
                  <a:cs typeface="Arial" charset="0"/>
                </a:defRPr>
              </a:lvl6pPr>
              <a:lvl7pPr marL="2743200" algn="l" defTabSz="457200" rtl="0" eaLnBrk="1" latinLnBrk="0" hangingPunct="1">
                <a:defRPr kern="1200">
                  <a:solidFill>
                    <a:schemeClr val="tx1"/>
                  </a:solidFill>
                  <a:latin typeface="Arial" charset="0"/>
                  <a:ea typeface="ＭＳ Ｐゴシック" charset="0"/>
                  <a:cs typeface="Arial" charset="0"/>
                </a:defRPr>
              </a:lvl7pPr>
              <a:lvl8pPr marL="3200400" algn="l" defTabSz="457200" rtl="0" eaLnBrk="1" latinLnBrk="0" hangingPunct="1">
                <a:defRPr kern="1200">
                  <a:solidFill>
                    <a:schemeClr val="tx1"/>
                  </a:solidFill>
                  <a:latin typeface="Arial" charset="0"/>
                  <a:ea typeface="ＭＳ Ｐゴシック" charset="0"/>
                  <a:cs typeface="Arial" charset="0"/>
                </a:defRPr>
              </a:lvl8pPr>
              <a:lvl9pPr marL="3657600" algn="l" defTabSz="457200" rtl="0" eaLnBrk="1" latinLnBrk="0" hangingPunct="1">
                <a:defRPr kern="1200">
                  <a:solidFill>
                    <a:schemeClr val="tx1"/>
                  </a:solidFill>
                  <a:latin typeface="Arial" charset="0"/>
                  <a:ea typeface="ＭＳ Ｐゴシック" charset="0"/>
                  <a:cs typeface="Arial" charset="0"/>
                </a:defRPr>
              </a:lvl9pPr>
            </a:lstStyle>
            <a:p>
              <a:pPr marL="0" marR="0" lvl="0" indent="0" algn="l"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45" name="Line 21">
              <a:extLst>
                <a:ext uri="{FF2B5EF4-FFF2-40B4-BE49-F238E27FC236}">
                  <a16:creationId xmlns:a16="http://schemas.microsoft.com/office/drawing/2014/main" id="{44A0B3DF-C4A6-0B7F-6306-B5F85B34DE78}"/>
                </a:ext>
              </a:extLst>
            </p:cNvPr>
            <p:cNvSpPr>
              <a:spLocks noChangeShapeType="1"/>
            </p:cNvSpPr>
            <p:nvPr/>
          </p:nvSpPr>
          <p:spPr bwMode="auto">
            <a:xfrm>
              <a:off x="3536950" y="2717800"/>
              <a:ext cx="4648200" cy="6350"/>
            </a:xfrm>
            <a:prstGeom prst="line">
              <a:avLst/>
            </a:prstGeom>
            <a:noFill/>
            <a:ln w="38100">
              <a:solidFill>
                <a:srgbClr val="000000"/>
              </a:solidFill>
              <a:round/>
              <a:headEnd/>
              <a:tailEnd/>
            </a:ln>
            <a:extLst>
              <a:ext uri="{909E8E84-426E-40dd-AFC4-6F175D3DCCD1}">
                <a14:hiddenFill xmlns="" xmlns:a14="http://schemas.microsoft.com/office/drawing/2010/main" xmlns:lc="http://schemas.openxmlformats.org/drawingml/2006/lockedCanvas">
                  <a:noFill/>
                </a14:hiddenFill>
              </a:ext>
            </a:extLst>
          </p:spPr>
          <p:txBody>
            <a:bodyPr wrap="none" anchor="ctr"/>
            <a:lstStyle>
              <a:defPPr>
                <a:defRPr lang="en-US"/>
              </a:defPPr>
              <a:lvl1pPr algn="l" defTabSz="457200" rtl="0" fontAlgn="base">
                <a:spcBef>
                  <a:spcPct val="0"/>
                </a:spcBef>
                <a:spcAft>
                  <a:spcPct val="0"/>
                </a:spcAft>
                <a:defRPr kern="1200">
                  <a:solidFill>
                    <a:schemeClr val="tx1"/>
                  </a:solidFill>
                  <a:latin typeface="Arial" charset="0"/>
                  <a:ea typeface="ＭＳ Ｐゴシック" charset="0"/>
                  <a:cs typeface="Arial" charset="0"/>
                </a:defRPr>
              </a:lvl1pPr>
              <a:lvl2pPr marL="457200" algn="l" defTabSz="457200" rtl="0" fontAlgn="base">
                <a:spcBef>
                  <a:spcPct val="0"/>
                </a:spcBef>
                <a:spcAft>
                  <a:spcPct val="0"/>
                </a:spcAft>
                <a:defRPr kern="1200">
                  <a:solidFill>
                    <a:schemeClr val="tx1"/>
                  </a:solidFill>
                  <a:latin typeface="Arial" charset="0"/>
                  <a:ea typeface="ＭＳ Ｐゴシック" charset="0"/>
                  <a:cs typeface="Arial" charset="0"/>
                </a:defRPr>
              </a:lvl2pPr>
              <a:lvl3pPr marL="914400" algn="l" defTabSz="457200" rtl="0" fontAlgn="base">
                <a:spcBef>
                  <a:spcPct val="0"/>
                </a:spcBef>
                <a:spcAft>
                  <a:spcPct val="0"/>
                </a:spcAft>
                <a:defRPr kern="1200">
                  <a:solidFill>
                    <a:schemeClr val="tx1"/>
                  </a:solidFill>
                  <a:latin typeface="Arial" charset="0"/>
                  <a:ea typeface="ＭＳ Ｐゴシック" charset="0"/>
                  <a:cs typeface="Arial" charset="0"/>
                </a:defRPr>
              </a:lvl3pPr>
              <a:lvl4pPr marL="1371600" algn="l" defTabSz="457200" rtl="0" fontAlgn="base">
                <a:spcBef>
                  <a:spcPct val="0"/>
                </a:spcBef>
                <a:spcAft>
                  <a:spcPct val="0"/>
                </a:spcAft>
                <a:defRPr kern="1200">
                  <a:solidFill>
                    <a:schemeClr val="tx1"/>
                  </a:solidFill>
                  <a:latin typeface="Arial" charset="0"/>
                  <a:ea typeface="ＭＳ Ｐゴシック" charset="0"/>
                  <a:cs typeface="Arial" charset="0"/>
                </a:defRPr>
              </a:lvl4pPr>
              <a:lvl5pPr marL="1828800" algn="l" defTabSz="457200" rtl="0" fontAlgn="base">
                <a:spcBef>
                  <a:spcPct val="0"/>
                </a:spcBef>
                <a:spcAft>
                  <a:spcPct val="0"/>
                </a:spcAft>
                <a:defRPr kern="1200">
                  <a:solidFill>
                    <a:schemeClr val="tx1"/>
                  </a:solidFill>
                  <a:latin typeface="Arial" charset="0"/>
                  <a:ea typeface="ＭＳ Ｐゴシック" charset="0"/>
                  <a:cs typeface="Arial" charset="0"/>
                </a:defRPr>
              </a:lvl5pPr>
              <a:lvl6pPr marL="2286000" algn="l" defTabSz="457200" rtl="0" eaLnBrk="1" latinLnBrk="0" hangingPunct="1">
                <a:defRPr kern="1200">
                  <a:solidFill>
                    <a:schemeClr val="tx1"/>
                  </a:solidFill>
                  <a:latin typeface="Arial" charset="0"/>
                  <a:ea typeface="ＭＳ Ｐゴシック" charset="0"/>
                  <a:cs typeface="Arial" charset="0"/>
                </a:defRPr>
              </a:lvl6pPr>
              <a:lvl7pPr marL="2743200" algn="l" defTabSz="457200" rtl="0" eaLnBrk="1" latinLnBrk="0" hangingPunct="1">
                <a:defRPr kern="1200">
                  <a:solidFill>
                    <a:schemeClr val="tx1"/>
                  </a:solidFill>
                  <a:latin typeface="Arial" charset="0"/>
                  <a:ea typeface="ＭＳ Ｐゴシック" charset="0"/>
                  <a:cs typeface="Arial" charset="0"/>
                </a:defRPr>
              </a:lvl7pPr>
              <a:lvl8pPr marL="3200400" algn="l" defTabSz="457200" rtl="0" eaLnBrk="1" latinLnBrk="0" hangingPunct="1">
                <a:defRPr kern="1200">
                  <a:solidFill>
                    <a:schemeClr val="tx1"/>
                  </a:solidFill>
                  <a:latin typeface="Arial" charset="0"/>
                  <a:ea typeface="ＭＳ Ｐゴシック" charset="0"/>
                  <a:cs typeface="Arial" charset="0"/>
                </a:defRPr>
              </a:lvl8pPr>
              <a:lvl9pPr marL="3657600" algn="l" defTabSz="457200" rtl="0" eaLnBrk="1" latinLnBrk="0" hangingPunct="1">
                <a:defRPr kern="1200">
                  <a:solidFill>
                    <a:schemeClr val="tx1"/>
                  </a:solidFill>
                  <a:latin typeface="Arial" charset="0"/>
                  <a:ea typeface="ＭＳ Ｐゴシック" charset="0"/>
                  <a:cs typeface="Arial" charset="0"/>
                </a:defRPr>
              </a:lvl9pPr>
            </a:lstStyle>
            <a:p>
              <a:pPr marL="0" marR="0" lvl="0" indent="0" algn="l"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46" name="Line 22">
              <a:extLst>
                <a:ext uri="{FF2B5EF4-FFF2-40B4-BE49-F238E27FC236}">
                  <a16:creationId xmlns:a16="http://schemas.microsoft.com/office/drawing/2014/main" id="{F159A045-9011-1008-49A0-EB01B0B52110}"/>
                </a:ext>
              </a:extLst>
            </p:cNvPr>
            <p:cNvSpPr>
              <a:spLocks noChangeShapeType="1"/>
            </p:cNvSpPr>
            <p:nvPr/>
          </p:nvSpPr>
          <p:spPr bwMode="auto">
            <a:xfrm>
              <a:off x="3536950" y="4107693"/>
              <a:ext cx="3924290" cy="5520"/>
            </a:xfrm>
            <a:prstGeom prst="line">
              <a:avLst/>
            </a:prstGeom>
            <a:noFill/>
            <a:ln w="38100">
              <a:solidFill>
                <a:srgbClr val="000000"/>
              </a:solidFill>
              <a:round/>
              <a:headEnd/>
              <a:tailEnd/>
            </a:ln>
            <a:extLst>
              <a:ext uri="{909E8E84-426E-40dd-AFC4-6F175D3DCCD1}">
                <a14:hiddenFill xmlns="" xmlns:a14="http://schemas.microsoft.com/office/drawing/2010/main" xmlns:lc="http://schemas.openxmlformats.org/drawingml/2006/lockedCanvas">
                  <a:noFill/>
                </a14:hiddenFill>
              </a:ext>
            </a:extLst>
          </p:spPr>
          <p:txBody>
            <a:bodyPr wrap="none" anchor="ctr"/>
            <a:lstStyle>
              <a:defPPr>
                <a:defRPr lang="en-US"/>
              </a:defPPr>
              <a:lvl1pPr algn="l" defTabSz="457200" rtl="0" fontAlgn="base">
                <a:spcBef>
                  <a:spcPct val="0"/>
                </a:spcBef>
                <a:spcAft>
                  <a:spcPct val="0"/>
                </a:spcAft>
                <a:defRPr kern="1200">
                  <a:solidFill>
                    <a:schemeClr val="tx1"/>
                  </a:solidFill>
                  <a:latin typeface="Arial" charset="0"/>
                  <a:ea typeface="ＭＳ Ｐゴシック" charset="0"/>
                  <a:cs typeface="Arial" charset="0"/>
                </a:defRPr>
              </a:lvl1pPr>
              <a:lvl2pPr marL="457200" algn="l" defTabSz="457200" rtl="0" fontAlgn="base">
                <a:spcBef>
                  <a:spcPct val="0"/>
                </a:spcBef>
                <a:spcAft>
                  <a:spcPct val="0"/>
                </a:spcAft>
                <a:defRPr kern="1200">
                  <a:solidFill>
                    <a:schemeClr val="tx1"/>
                  </a:solidFill>
                  <a:latin typeface="Arial" charset="0"/>
                  <a:ea typeface="ＭＳ Ｐゴシック" charset="0"/>
                  <a:cs typeface="Arial" charset="0"/>
                </a:defRPr>
              </a:lvl2pPr>
              <a:lvl3pPr marL="914400" algn="l" defTabSz="457200" rtl="0" fontAlgn="base">
                <a:spcBef>
                  <a:spcPct val="0"/>
                </a:spcBef>
                <a:spcAft>
                  <a:spcPct val="0"/>
                </a:spcAft>
                <a:defRPr kern="1200">
                  <a:solidFill>
                    <a:schemeClr val="tx1"/>
                  </a:solidFill>
                  <a:latin typeface="Arial" charset="0"/>
                  <a:ea typeface="ＭＳ Ｐゴシック" charset="0"/>
                  <a:cs typeface="Arial" charset="0"/>
                </a:defRPr>
              </a:lvl3pPr>
              <a:lvl4pPr marL="1371600" algn="l" defTabSz="457200" rtl="0" fontAlgn="base">
                <a:spcBef>
                  <a:spcPct val="0"/>
                </a:spcBef>
                <a:spcAft>
                  <a:spcPct val="0"/>
                </a:spcAft>
                <a:defRPr kern="1200">
                  <a:solidFill>
                    <a:schemeClr val="tx1"/>
                  </a:solidFill>
                  <a:latin typeface="Arial" charset="0"/>
                  <a:ea typeface="ＭＳ Ｐゴシック" charset="0"/>
                  <a:cs typeface="Arial" charset="0"/>
                </a:defRPr>
              </a:lvl4pPr>
              <a:lvl5pPr marL="1828800" algn="l" defTabSz="457200" rtl="0" fontAlgn="base">
                <a:spcBef>
                  <a:spcPct val="0"/>
                </a:spcBef>
                <a:spcAft>
                  <a:spcPct val="0"/>
                </a:spcAft>
                <a:defRPr kern="1200">
                  <a:solidFill>
                    <a:schemeClr val="tx1"/>
                  </a:solidFill>
                  <a:latin typeface="Arial" charset="0"/>
                  <a:ea typeface="ＭＳ Ｐゴシック" charset="0"/>
                  <a:cs typeface="Arial" charset="0"/>
                </a:defRPr>
              </a:lvl5pPr>
              <a:lvl6pPr marL="2286000" algn="l" defTabSz="457200" rtl="0" eaLnBrk="1" latinLnBrk="0" hangingPunct="1">
                <a:defRPr kern="1200">
                  <a:solidFill>
                    <a:schemeClr val="tx1"/>
                  </a:solidFill>
                  <a:latin typeface="Arial" charset="0"/>
                  <a:ea typeface="ＭＳ Ｐゴシック" charset="0"/>
                  <a:cs typeface="Arial" charset="0"/>
                </a:defRPr>
              </a:lvl6pPr>
              <a:lvl7pPr marL="2743200" algn="l" defTabSz="457200" rtl="0" eaLnBrk="1" latinLnBrk="0" hangingPunct="1">
                <a:defRPr kern="1200">
                  <a:solidFill>
                    <a:schemeClr val="tx1"/>
                  </a:solidFill>
                  <a:latin typeface="Arial" charset="0"/>
                  <a:ea typeface="ＭＳ Ｐゴシック" charset="0"/>
                  <a:cs typeface="Arial" charset="0"/>
                </a:defRPr>
              </a:lvl7pPr>
              <a:lvl8pPr marL="3200400" algn="l" defTabSz="457200" rtl="0" eaLnBrk="1" latinLnBrk="0" hangingPunct="1">
                <a:defRPr kern="1200">
                  <a:solidFill>
                    <a:schemeClr val="tx1"/>
                  </a:solidFill>
                  <a:latin typeface="Arial" charset="0"/>
                  <a:ea typeface="ＭＳ Ｐゴシック" charset="0"/>
                  <a:cs typeface="Arial" charset="0"/>
                </a:defRPr>
              </a:lvl8pPr>
              <a:lvl9pPr marL="3657600" algn="l" defTabSz="457200" rtl="0" eaLnBrk="1" latinLnBrk="0" hangingPunct="1">
                <a:defRPr kern="1200">
                  <a:solidFill>
                    <a:schemeClr val="tx1"/>
                  </a:solidFill>
                  <a:latin typeface="Arial" charset="0"/>
                  <a:ea typeface="ＭＳ Ｐゴシック" charset="0"/>
                  <a:cs typeface="Arial" charset="0"/>
                </a:defRPr>
              </a:lvl9pPr>
            </a:lstStyle>
            <a:p>
              <a:pPr marL="0" marR="0" lvl="0" indent="0" algn="l"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47" name="Line 23">
              <a:extLst>
                <a:ext uri="{FF2B5EF4-FFF2-40B4-BE49-F238E27FC236}">
                  <a16:creationId xmlns:a16="http://schemas.microsoft.com/office/drawing/2014/main" id="{5BAACC75-4E3C-3433-20F7-D25A831188FB}"/>
                </a:ext>
              </a:extLst>
            </p:cNvPr>
            <p:cNvSpPr>
              <a:spLocks noChangeShapeType="1"/>
            </p:cNvSpPr>
            <p:nvPr/>
          </p:nvSpPr>
          <p:spPr bwMode="auto">
            <a:xfrm>
              <a:off x="2330450" y="3022600"/>
              <a:ext cx="1212850" cy="0"/>
            </a:xfrm>
            <a:prstGeom prst="line">
              <a:avLst/>
            </a:prstGeom>
            <a:noFill/>
            <a:ln w="38100">
              <a:solidFill>
                <a:srgbClr val="000000"/>
              </a:solidFill>
              <a:round/>
              <a:headEnd/>
              <a:tailEnd/>
            </a:ln>
            <a:extLst>
              <a:ext uri="{909E8E84-426E-40dd-AFC4-6F175D3DCCD1}">
                <a14:hiddenFill xmlns="" xmlns:a14="http://schemas.microsoft.com/office/drawing/2010/main" xmlns:lc="http://schemas.openxmlformats.org/drawingml/2006/lockedCanvas">
                  <a:noFill/>
                </a14:hiddenFill>
              </a:ext>
            </a:extLst>
          </p:spPr>
          <p:txBody>
            <a:bodyPr wrap="none" anchor="ctr"/>
            <a:lstStyle>
              <a:defPPr>
                <a:defRPr lang="en-US"/>
              </a:defPPr>
              <a:lvl1pPr algn="l" defTabSz="457200" rtl="0" fontAlgn="base">
                <a:spcBef>
                  <a:spcPct val="0"/>
                </a:spcBef>
                <a:spcAft>
                  <a:spcPct val="0"/>
                </a:spcAft>
                <a:defRPr kern="1200">
                  <a:solidFill>
                    <a:schemeClr val="tx1"/>
                  </a:solidFill>
                  <a:latin typeface="Arial" charset="0"/>
                  <a:ea typeface="ＭＳ Ｐゴシック" charset="0"/>
                  <a:cs typeface="Arial" charset="0"/>
                </a:defRPr>
              </a:lvl1pPr>
              <a:lvl2pPr marL="457200" algn="l" defTabSz="457200" rtl="0" fontAlgn="base">
                <a:spcBef>
                  <a:spcPct val="0"/>
                </a:spcBef>
                <a:spcAft>
                  <a:spcPct val="0"/>
                </a:spcAft>
                <a:defRPr kern="1200">
                  <a:solidFill>
                    <a:schemeClr val="tx1"/>
                  </a:solidFill>
                  <a:latin typeface="Arial" charset="0"/>
                  <a:ea typeface="ＭＳ Ｐゴシック" charset="0"/>
                  <a:cs typeface="Arial" charset="0"/>
                </a:defRPr>
              </a:lvl2pPr>
              <a:lvl3pPr marL="914400" algn="l" defTabSz="457200" rtl="0" fontAlgn="base">
                <a:spcBef>
                  <a:spcPct val="0"/>
                </a:spcBef>
                <a:spcAft>
                  <a:spcPct val="0"/>
                </a:spcAft>
                <a:defRPr kern="1200">
                  <a:solidFill>
                    <a:schemeClr val="tx1"/>
                  </a:solidFill>
                  <a:latin typeface="Arial" charset="0"/>
                  <a:ea typeface="ＭＳ Ｐゴシック" charset="0"/>
                  <a:cs typeface="Arial" charset="0"/>
                </a:defRPr>
              </a:lvl3pPr>
              <a:lvl4pPr marL="1371600" algn="l" defTabSz="457200" rtl="0" fontAlgn="base">
                <a:spcBef>
                  <a:spcPct val="0"/>
                </a:spcBef>
                <a:spcAft>
                  <a:spcPct val="0"/>
                </a:spcAft>
                <a:defRPr kern="1200">
                  <a:solidFill>
                    <a:schemeClr val="tx1"/>
                  </a:solidFill>
                  <a:latin typeface="Arial" charset="0"/>
                  <a:ea typeface="ＭＳ Ｐゴシック" charset="0"/>
                  <a:cs typeface="Arial" charset="0"/>
                </a:defRPr>
              </a:lvl4pPr>
              <a:lvl5pPr marL="1828800" algn="l" defTabSz="457200" rtl="0" fontAlgn="base">
                <a:spcBef>
                  <a:spcPct val="0"/>
                </a:spcBef>
                <a:spcAft>
                  <a:spcPct val="0"/>
                </a:spcAft>
                <a:defRPr kern="1200">
                  <a:solidFill>
                    <a:schemeClr val="tx1"/>
                  </a:solidFill>
                  <a:latin typeface="Arial" charset="0"/>
                  <a:ea typeface="ＭＳ Ｐゴシック" charset="0"/>
                  <a:cs typeface="Arial" charset="0"/>
                </a:defRPr>
              </a:lvl5pPr>
              <a:lvl6pPr marL="2286000" algn="l" defTabSz="457200" rtl="0" eaLnBrk="1" latinLnBrk="0" hangingPunct="1">
                <a:defRPr kern="1200">
                  <a:solidFill>
                    <a:schemeClr val="tx1"/>
                  </a:solidFill>
                  <a:latin typeface="Arial" charset="0"/>
                  <a:ea typeface="ＭＳ Ｐゴシック" charset="0"/>
                  <a:cs typeface="Arial" charset="0"/>
                </a:defRPr>
              </a:lvl6pPr>
              <a:lvl7pPr marL="2743200" algn="l" defTabSz="457200" rtl="0" eaLnBrk="1" latinLnBrk="0" hangingPunct="1">
                <a:defRPr kern="1200">
                  <a:solidFill>
                    <a:schemeClr val="tx1"/>
                  </a:solidFill>
                  <a:latin typeface="Arial" charset="0"/>
                  <a:ea typeface="ＭＳ Ｐゴシック" charset="0"/>
                  <a:cs typeface="Arial" charset="0"/>
                </a:defRPr>
              </a:lvl7pPr>
              <a:lvl8pPr marL="3200400" algn="l" defTabSz="457200" rtl="0" eaLnBrk="1" latinLnBrk="0" hangingPunct="1">
                <a:defRPr kern="1200">
                  <a:solidFill>
                    <a:schemeClr val="tx1"/>
                  </a:solidFill>
                  <a:latin typeface="Arial" charset="0"/>
                  <a:ea typeface="ＭＳ Ｐゴシック" charset="0"/>
                  <a:cs typeface="Arial" charset="0"/>
                </a:defRPr>
              </a:lvl8pPr>
              <a:lvl9pPr marL="3657600" algn="l" defTabSz="457200" rtl="0" eaLnBrk="1" latinLnBrk="0" hangingPunct="1">
                <a:defRPr kern="1200">
                  <a:solidFill>
                    <a:schemeClr val="tx1"/>
                  </a:solidFill>
                  <a:latin typeface="Arial" charset="0"/>
                  <a:ea typeface="ＭＳ Ｐゴシック" charset="0"/>
                  <a:cs typeface="Arial" charset="0"/>
                </a:defRPr>
              </a:lvl9pPr>
            </a:lstStyle>
            <a:p>
              <a:pPr marL="0" marR="0" lvl="0" indent="0" algn="l"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48" name="Line 24">
              <a:extLst>
                <a:ext uri="{FF2B5EF4-FFF2-40B4-BE49-F238E27FC236}">
                  <a16:creationId xmlns:a16="http://schemas.microsoft.com/office/drawing/2014/main" id="{9993B288-2EE5-F57C-B4B0-7B0F762DDE1E}"/>
                </a:ext>
              </a:extLst>
            </p:cNvPr>
            <p:cNvSpPr>
              <a:spLocks noChangeShapeType="1"/>
            </p:cNvSpPr>
            <p:nvPr/>
          </p:nvSpPr>
          <p:spPr bwMode="auto">
            <a:xfrm flipV="1">
              <a:off x="1587456" y="4578349"/>
              <a:ext cx="1955843" cy="43"/>
            </a:xfrm>
            <a:prstGeom prst="line">
              <a:avLst/>
            </a:prstGeom>
            <a:noFill/>
            <a:ln w="38100">
              <a:solidFill>
                <a:srgbClr val="000000"/>
              </a:solidFill>
              <a:round/>
              <a:headEnd/>
              <a:tailEnd/>
            </a:ln>
            <a:extLst>
              <a:ext uri="{909E8E84-426E-40dd-AFC4-6F175D3DCCD1}">
                <a14:hiddenFill xmlns="" xmlns:a14="http://schemas.microsoft.com/office/drawing/2010/main" xmlns:lc="http://schemas.openxmlformats.org/drawingml/2006/lockedCanvas">
                  <a:noFill/>
                </a14:hiddenFill>
              </a:ext>
            </a:extLst>
          </p:spPr>
          <p:txBody>
            <a:bodyPr wrap="none" anchor="ctr"/>
            <a:lstStyle>
              <a:defPPr>
                <a:defRPr lang="en-US"/>
              </a:defPPr>
              <a:lvl1pPr algn="l" defTabSz="457200" rtl="0" fontAlgn="base">
                <a:spcBef>
                  <a:spcPct val="0"/>
                </a:spcBef>
                <a:spcAft>
                  <a:spcPct val="0"/>
                </a:spcAft>
                <a:defRPr kern="1200">
                  <a:solidFill>
                    <a:schemeClr val="tx1"/>
                  </a:solidFill>
                  <a:latin typeface="Arial" charset="0"/>
                  <a:ea typeface="ＭＳ Ｐゴシック" charset="0"/>
                  <a:cs typeface="Arial" charset="0"/>
                </a:defRPr>
              </a:lvl1pPr>
              <a:lvl2pPr marL="457200" algn="l" defTabSz="457200" rtl="0" fontAlgn="base">
                <a:spcBef>
                  <a:spcPct val="0"/>
                </a:spcBef>
                <a:spcAft>
                  <a:spcPct val="0"/>
                </a:spcAft>
                <a:defRPr kern="1200">
                  <a:solidFill>
                    <a:schemeClr val="tx1"/>
                  </a:solidFill>
                  <a:latin typeface="Arial" charset="0"/>
                  <a:ea typeface="ＭＳ Ｐゴシック" charset="0"/>
                  <a:cs typeface="Arial" charset="0"/>
                </a:defRPr>
              </a:lvl2pPr>
              <a:lvl3pPr marL="914400" algn="l" defTabSz="457200" rtl="0" fontAlgn="base">
                <a:spcBef>
                  <a:spcPct val="0"/>
                </a:spcBef>
                <a:spcAft>
                  <a:spcPct val="0"/>
                </a:spcAft>
                <a:defRPr kern="1200">
                  <a:solidFill>
                    <a:schemeClr val="tx1"/>
                  </a:solidFill>
                  <a:latin typeface="Arial" charset="0"/>
                  <a:ea typeface="ＭＳ Ｐゴシック" charset="0"/>
                  <a:cs typeface="Arial" charset="0"/>
                </a:defRPr>
              </a:lvl3pPr>
              <a:lvl4pPr marL="1371600" algn="l" defTabSz="457200" rtl="0" fontAlgn="base">
                <a:spcBef>
                  <a:spcPct val="0"/>
                </a:spcBef>
                <a:spcAft>
                  <a:spcPct val="0"/>
                </a:spcAft>
                <a:defRPr kern="1200">
                  <a:solidFill>
                    <a:schemeClr val="tx1"/>
                  </a:solidFill>
                  <a:latin typeface="Arial" charset="0"/>
                  <a:ea typeface="ＭＳ Ｐゴシック" charset="0"/>
                  <a:cs typeface="Arial" charset="0"/>
                </a:defRPr>
              </a:lvl4pPr>
              <a:lvl5pPr marL="1828800" algn="l" defTabSz="457200" rtl="0" fontAlgn="base">
                <a:spcBef>
                  <a:spcPct val="0"/>
                </a:spcBef>
                <a:spcAft>
                  <a:spcPct val="0"/>
                </a:spcAft>
                <a:defRPr kern="1200">
                  <a:solidFill>
                    <a:schemeClr val="tx1"/>
                  </a:solidFill>
                  <a:latin typeface="Arial" charset="0"/>
                  <a:ea typeface="ＭＳ Ｐゴシック" charset="0"/>
                  <a:cs typeface="Arial" charset="0"/>
                </a:defRPr>
              </a:lvl5pPr>
              <a:lvl6pPr marL="2286000" algn="l" defTabSz="457200" rtl="0" eaLnBrk="1" latinLnBrk="0" hangingPunct="1">
                <a:defRPr kern="1200">
                  <a:solidFill>
                    <a:schemeClr val="tx1"/>
                  </a:solidFill>
                  <a:latin typeface="Arial" charset="0"/>
                  <a:ea typeface="ＭＳ Ｐゴシック" charset="0"/>
                  <a:cs typeface="Arial" charset="0"/>
                </a:defRPr>
              </a:lvl6pPr>
              <a:lvl7pPr marL="2743200" algn="l" defTabSz="457200" rtl="0" eaLnBrk="1" latinLnBrk="0" hangingPunct="1">
                <a:defRPr kern="1200">
                  <a:solidFill>
                    <a:schemeClr val="tx1"/>
                  </a:solidFill>
                  <a:latin typeface="Arial" charset="0"/>
                  <a:ea typeface="ＭＳ Ｐゴシック" charset="0"/>
                  <a:cs typeface="Arial" charset="0"/>
                </a:defRPr>
              </a:lvl7pPr>
              <a:lvl8pPr marL="3200400" algn="l" defTabSz="457200" rtl="0" eaLnBrk="1" latinLnBrk="0" hangingPunct="1">
                <a:defRPr kern="1200">
                  <a:solidFill>
                    <a:schemeClr val="tx1"/>
                  </a:solidFill>
                  <a:latin typeface="Arial" charset="0"/>
                  <a:ea typeface="ＭＳ Ｐゴシック" charset="0"/>
                  <a:cs typeface="Arial" charset="0"/>
                </a:defRPr>
              </a:lvl8pPr>
              <a:lvl9pPr marL="3657600" algn="l" defTabSz="457200" rtl="0" eaLnBrk="1" latinLnBrk="0" hangingPunct="1">
                <a:defRPr kern="1200">
                  <a:solidFill>
                    <a:schemeClr val="tx1"/>
                  </a:solidFill>
                  <a:latin typeface="Arial" charset="0"/>
                  <a:ea typeface="ＭＳ Ｐゴシック" charset="0"/>
                  <a:cs typeface="Arial" charset="0"/>
                </a:defRPr>
              </a:lvl9pPr>
            </a:lstStyle>
            <a:p>
              <a:pPr marL="0" marR="0" lvl="0" indent="0" algn="l"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Arial" charset="0"/>
              </a:endParaRPr>
            </a:p>
          </p:txBody>
        </p:sp>
      </p:grpSp>
    </p:spTree>
    <p:extLst>
      <p:ext uri="{BB962C8B-B14F-4D97-AF65-F5344CB8AC3E}">
        <p14:creationId xmlns:p14="http://schemas.microsoft.com/office/powerpoint/2010/main" val="101022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94C87-4F98-0D99-C1DE-62EA8FDCFDB2}"/>
              </a:ext>
            </a:extLst>
          </p:cNvPr>
          <p:cNvSpPr>
            <a:spLocks noGrp="1"/>
          </p:cNvSpPr>
          <p:nvPr>
            <p:ph type="title"/>
          </p:nvPr>
        </p:nvSpPr>
        <p:spPr/>
        <p:txBody>
          <a:bodyPr/>
          <a:lstStyle/>
          <a:p>
            <a:r>
              <a:rPr lang="en-IN" dirty="0"/>
              <a:t>Aggregate Planning</a:t>
            </a:r>
            <a:br>
              <a:rPr lang="en-IN" dirty="0"/>
            </a:br>
            <a:endParaRPr lang="en-IN" dirty="0"/>
          </a:p>
        </p:txBody>
      </p:sp>
      <p:sp>
        <p:nvSpPr>
          <p:cNvPr id="3" name="Text Placeholder 2">
            <a:extLst>
              <a:ext uri="{FF2B5EF4-FFF2-40B4-BE49-F238E27FC236}">
                <a16:creationId xmlns:a16="http://schemas.microsoft.com/office/drawing/2014/main" id="{9801DF08-00B4-04E0-1769-837251579D12}"/>
              </a:ext>
            </a:extLst>
          </p:cNvPr>
          <p:cNvSpPr>
            <a:spLocks noGrp="1"/>
          </p:cNvSpPr>
          <p:nvPr>
            <p:ph type="body" idx="1"/>
          </p:nvPr>
        </p:nvSpPr>
        <p:spPr/>
        <p:txBody>
          <a:bodyPr>
            <a:normAutofit lnSpcReduction="10000"/>
          </a:bodyPr>
          <a:lstStyle/>
          <a:p>
            <a:r>
              <a:rPr lang="en-IN" b="1" dirty="0"/>
              <a:t>Sales and Operations Planning (S&amp;OP) </a:t>
            </a:r>
            <a:r>
              <a:rPr lang="en-IN" dirty="0"/>
              <a:t>is an aggregate planning process that determines the resource capacity a firm will need to meet its demand over an intermediate time horizon—6 to 18 months in the future.</a:t>
            </a:r>
          </a:p>
          <a:p>
            <a:endParaRPr lang="en-IN" dirty="0"/>
          </a:p>
          <a:p>
            <a:endParaRPr lang="en-IN" dirty="0"/>
          </a:p>
          <a:p>
            <a:endParaRPr lang="en-IN" dirty="0"/>
          </a:p>
          <a:p>
            <a:endParaRPr lang="en-IN" dirty="0"/>
          </a:p>
          <a:p>
            <a:endParaRPr lang="en-IN" dirty="0"/>
          </a:p>
          <a:p>
            <a:endParaRPr lang="en-IN" dirty="0"/>
          </a:p>
          <a:p>
            <a:r>
              <a:rPr lang="en-IN" dirty="0"/>
              <a:t>The term ‘</a:t>
            </a:r>
            <a:r>
              <a:rPr lang="en-IN" i="1" dirty="0"/>
              <a:t>aggregate’ is used </a:t>
            </a:r>
            <a:r>
              <a:rPr lang="en-IN" dirty="0"/>
              <a:t>because the plans are developed for product lines or product families, rather than individual products.</a:t>
            </a:r>
          </a:p>
          <a:p>
            <a:endParaRPr lang="en-IN" dirty="0"/>
          </a:p>
        </p:txBody>
      </p:sp>
      <p:sp>
        <p:nvSpPr>
          <p:cNvPr id="4" name="Date Placeholder 3">
            <a:extLst>
              <a:ext uri="{FF2B5EF4-FFF2-40B4-BE49-F238E27FC236}">
                <a16:creationId xmlns:a16="http://schemas.microsoft.com/office/drawing/2014/main" id="{34BDFBF0-4DDF-3CE2-0B99-A8BBE623EBAE}"/>
              </a:ext>
            </a:extLst>
          </p:cNvPr>
          <p:cNvSpPr>
            <a:spLocks noGrp="1"/>
          </p:cNvSpPr>
          <p:nvPr>
            <p:ph type="dt" idx="10"/>
          </p:nvPr>
        </p:nvSpPr>
        <p:spPr/>
        <p:txBody>
          <a:bodyPr/>
          <a:lstStyle/>
          <a:p>
            <a:fld id="{D1FBB12C-6AF2-404C-B802-656F1A988312}" type="datetime1">
              <a:rPr lang="en-IN" smtClean="0"/>
              <a:pPr/>
              <a:t>02-12-2025</a:t>
            </a:fld>
            <a:endParaRPr lang="en-IN" dirty="0"/>
          </a:p>
        </p:txBody>
      </p:sp>
      <p:sp>
        <p:nvSpPr>
          <p:cNvPr id="5" name="Footer Placeholder 4">
            <a:extLst>
              <a:ext uri="{FF2B5EF4-FFF2-40B4-BE49-F238E27FC236}">
                <a16:creationId xmlns:a16="http://schemas.microsoft.com/office/drawing/2014/main" id="{63780FAE-58F5-B6BC-D65F-5EBE10FF1547}"/>
              </a:ext>
            </a:extLst>
          </p:cNvPr>
          <p:cNvSpPr>
            <a:spLocks noGrp="1"/>
          </p:cNvSpPr>
          <p:nvPr>
            <p:ph type="ftr" idx="11"/>
          </p:nvPr>
        </p:nvSpPr>
        <p:spPr/>
        <p:txBody>
          <a:bodyPr/>
          <a:lstStyle/>
          <a:p>
            <a:r>
              <a:rPr lang="en-IN"/>
              <a:t>Aggregate Planning</a:t>
            </a:r>
            <a:endParaRPr lang="en-IN" dirty="0"/>
          </a:p>
        </p:txBody>
      </p:sp>
      <p:sp>
        <p:nvSpPr>
          <p:cNvPr id="6" name="Slide Number Placeholder 5">
            <a:extLst>
              <a:ext uri="{FF2B5EF4-FFF2-40B4-BE49-F238E27FC236}">
                <a16:creationId xmlns:a16="http://schemas.microsoft.com/office/drawing/2014/main" id="{B56F6B8C-C40E-F695-E277-4D4B9A250E94}"/>
              </a:ext>
            </a:extLst>
          </p:cNvPr>
          <p:cNvSpPr>
            <a:spLocks noGrp="1"/>
          </p:cNvSpPr>
          <p:nvPr>
            <p:ph type="sldNum" idx="12"/>
          </p:nvPr>
        </p:nvSpPr>
        <p:spPr/>
        <p:txBody>
          <a:bodyPr/>
          <a:lstStyle/>
          <a:p>
            <a:fld id="{00000000-1234-1234-1234-123412341234}" type="slidenum">
              <a:rPr lang="en-US" smtClean="0"/>
              <a:pPr/>
              <a:t>4</a:t>
            </a:fld>
            <a:endParaRPr lang="en-US" dirty="0"/>
          </a:p>
        </p:txBody>
      </p:sp>
      <p:pic>
        <p:nvPicPr>
          <p:cNvPr id="7" name="Picture 6">
            <a:extLst>
              <a:ext uri="{FF2B5EF4-FFF2-40B4-BE49-F238E27FC236}">
                <a16:creationId xmlns:a16="http://schemas.microsoft.com/office/drawing/2014/main" id="{6E6CFA51-0A8C-E9F8-D7CD-E8137EF925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9888" y="2126511"/>
            <a:ext cx="5560892" cy="31501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69739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90112-8AC8-3F98-E054-C0B10279B011}"/>
              </a:ext>
            </a:extLst>
          </p:cNvPr>
          <p:cNvSpPr>
            <a:spLocks noGrp="1"/>
          </p:cNvSpPr>
          <p:nvPr>
            <p:ph type="title"/>
          </p:nvPr>
        </p:nvSpPr>
        <p:spPr/>
        <p:txBody>
          <a:bodyPr/>
          <a:lstStyle/>
          <a:p>
            <a:r>
              <a:rPr lang="en-US" sz="3600" dirty="0"/>
              <a:t>The Concept of Aggregation</a:t>
            </a:r>
            <a:endParaRPr lang="en-IN" dirty="0"/>
          </a:p>
        </p:txBody>
      </p:sp>
      <p:sp>
        <p:nvSpPr>
          <p:cNvPr id="3" name="Text Placeholder 2">
            <a:extLst>
              <a:ext uri="{FF2B5EF4-FFF2-40B4-BE49-F238E27FC236}">
                <a16:creationId xmlns:a16="http://schemas.microsoft.com/office/drawing/2014/main" id="{EA14C138-A09B-E9E8-6378-34D6DAE200C1}"/>
              </a:ext>
            </a:extLst>
          </p:cNvPr>
          <p:cNvSpPr>
            <a:spLocks noGrp="1"/>
          </p:cNvSpPr>
          <p:nvPr>
            <p:ph type="body" idx="1"/>
          </p:nvPr>
        </p:nvSpPr>
        <p:spPr/>
        <p:txBody>
          <a:bodyPr>
            <a:normAutofit lnSpcReduction="10000"/>
          </a:bodyPr>
          <a:lstStyle/>
          <a:p>
            <a:pPr marL="114300" indent="0">
              <a:buNone/>
            </a:pPr>
            <a:r>
              <a:rPr lang="en-US" dirty="0">
                <a:solidFill>
                  <a:srgbClr val="FF0000"/>
                </a:solidFill>
              </a:rPr>
              <a:t>Why do organizations need to do aggregate planning?</a:t>
            </a:r>
          </a:p>
          <a:p>
            <a:r>
              <a:rPr lang="en-US" dirty="0"/>
              <a:t>Planning.</a:t>
            </a:r>
          </a:p>
          <a:p>
            <a:pPr marL="893763">
              <a:buFont typeface="Wingdings" panose="05000000000000000000" pitchFamily="2" charset="2"/>
              <a:buChar char="Ø"/>
            </a:pPr>
            <a:r>
              <a:rPr lang="en-US" sz="2400" dirty="0"/>
              <a:t>It takes time to implement plans.</a:t>
            </a:r>
          </a:p>
          <a:p>
            <a:pPr marL="893763">
              <a:buFont typeface="Wingdings" panose="05000000000000000000" pitchFamily="2" charset="2"/>
              <a:buChar char="Ø"/>
            </a:pPr>
            <a:r>
              <a:rPr lang="en-US" sz="2400" kern="1200" dirty="0">
                <a:solidFill>
                  <a:srgbClr val="000000"/>
                </a:solidFill>
                <a:ea typeface="+mn-ea"/>
              </a:rPr>
              <a:t>Capacity has a cost and lead times are often long.</a:t>
            </a:r>
            <a:endParaRPr lang="en-US" sz="2400" dirty="0"/>
          </a:p>
          <a:p>
            <a:r>
              <a:rPr lang="en-US" dirty="0"/>
              <a:t>Strategic.</a:t>
            </a:r>
          </a:p>
          <a:p>
            <a:pPr marL="893763">
              <a:buFont typeface="Wingdings" panose="05000000000000000000" pitchFamily="2" charset="2"/>
              <a:buChar char="Ø"/>
            </a:pPr>
            <a:r>
              <a:rPr lang="en-US" sz="2400" dirty="0"/>
              <a:t>Aggregation is important because it is not possible to predict with any degree of accuracy the timing and volume of demand for individual items.</a:t>
            </a:r>
          </a:p>
          <a:p>
            <a:r>
              <a:rPr lang="en-US" dirty="0"/>
              <a:t>It is connected to the budgeting process.</a:t>
            </a:r>
          </a:p>
          <a:p>
            <a:r>
              <a:rPr lang="en-US" dirty="0"/>
              <a:t>It can help synchronize flow throughout the supply chain; it affects costs, equipment utilization, employment levels, and customer satisfaction.</a:t>
            </a:r>
          </a:p>
          <a:p>
            <a:pPr marL="114300" indent="0">
              <a:buNone/>
            </a:pPr>
            <a:r>
              <a:rPr lang="en-US" kern="1200" dirty="0">
                <a:solidFill>
                  <a:srgbClr val="FF0000"/>
                </a:solidFill>
                <a:latin typeface="Times New Roman" panose="02020603050405020304" pitchFamily="18" charset="0"/>
                <a:ea typeface="+mn-ea"/>
                <a:cs typeface="Times New Roman" panose="02020603050405020304" pitchFamily="18" charset="0"/>
              </a:rPr>
              <a:t>How can a firm best use the facilities it has?</a:t>
            </a:r>
            <a:endParaRPr lang="en-US" dirty="0"/>
          </a:p>
          <a:p>
            <a:endParaRPr lang="en-IN" dirty="0"/>
          </a:p>
        </p:txBody>
      </p:sp>
      <p:sp>
        <p:nvSpPr>
          <p:cNvPr id="4" name="Date Placeholder 3">
            <a:extLst>
              <a:ext uri="{FF2B5EF4-FFF2-40B4-BE49-F238E27FC236}">
                <a16:creationId xmlns:a16="http://schemas.microsoft.com/office/drawing/2014/main" id="{E9FBC14B-EE86-89FE-4412-EE08E28971C5}"/>
              </a:ext>
            </a:extLst>
          </p:cNvPr>
          <p:cNvSpPr>
            <a:spLocks noGrp="1"/>
          </p:cNvSpPr>
          <p:nvPr>
            <p:ph type="dt" idx="10"/>
          </p:nvPr>
        </p:nvSpPr>
        <p:spPr/>
        <p:txBody>
          <a:bodyPr/>
          <a:lstStyle/>
          <a:p>
            <a:fld id="{D1FBB12C-6AF2-404C-B802-656F1A988312}" type="datetime1">
              <a:rPr lang="en-IN" smtClean="0"/>
              <a:pPr/>
              <a:t>02-12-2025</a:t>
            </a:fld>
            <a:endParaRPr lang="en-IN" dirty="0"/>
          </a:p>
        </p:txBody>
      </p:sp>
      <p:sp>
        <p:nvSpPr>
          <p:cNvPr id="5" name="Footer Placeholder 4">
            <a:extLst>
              <a:ext uri="{FF2B5EF4-FFF2-40B4-BE49-F238E27FC236}">
                <a16:creationId xmlns:a16="http://schemas.microsoft.com/office/drawing/2014/main" id="{261DD74A-FFF5-1D6A-14EA-54C14A740507}"/>
              </a:ext>
            </a:extLst>
          </p:cNvPr>
          <p:cNvSpPr>
            <a:spLocks noGrp="1"/>
          </p:cNvSpPr>
          <p:nvPr>
            <p:ph type="ftr" idx="11"/>
          </p:nvPr>
        </p:nvSpPr>
        <p:spPr/>
        <p:txBody>
          <a:bodyPr/>
          <a:lstStyle/>
          <a:p>
            <a:r>
              <a:rPr lang="en-IN"/>
              <a:t>Aggregate Planning</a:t>
            </a:r>
            <a:endParaRPr lang="en-IN" dirty="0"/>
          </a:p>
        </p:txBody>
      </p:sp>
      <p:sp>
        <p:nvSpPr>
          <p:cNvPr id="6" name="Slide Number Placeholder 5">
            <a:extLst>
              <a:ext uri="{FF2B5EF4-FFF2-40B4-BE49-F238E27FC236}">
                <a16:creationId xmlns:a16="http://schemas.microsoft.com/office/drawing/2014/main" id="{477A97FA-0A4E-F975-CAED-D1FBBB88BD6B}"/>
              </a:ext>
            </a:extLst>
          </p:cNvPr>
          <p:cNvSpPr>
            <a:spLocks noGrp="1"/>
          </p:cNvSpPr>
          <p:nvPr>
            <p:ph type="sldNum" idx="12"/>
          </p:nvPr>
        </p:nvSpPr>
        <p:spPr/>
        <p:txBody>
          <a:bodyPr/>
          <a:lstStyle/>
          <a:p>
            <a:fld id="{00000000-1234-1234-1234-123412341234}" type="slidenum">
              <a:rPr lang="en-US" smtClean="0"/>
              <a:pPr/>
              <a:t>5</a:t>
            </a:fld>
            <a:endParaRPr lang="en-US" dirty="0"/>
          </a:p>
        </p:txBody>
      </p:sp>
    </p:spTree>
    <p:extLst>
      <p:ext uri="{BB962C8B-B14F-4D97-AF65-F5344CB8AC3E}">
        <p14:creationId xmlns:p14="http://schemas.microsoft.com/office/powerpoint/2010/main" val="3018768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AB74E-AC51-44DA-CB66-8086C1FC9DF0}"/>
              </a:ext>
            </a:extLst>
          </p:cNvPr>
          <p:cNvSpPr>
            <a:spLocks noGrp="1"/>
          </p:cNvSpPr>
          <p:nvPr>
            <p:ph type="title"/>
          </p:nvPr>
        </p:nvSpPr>
        <p:spPr/>
        <p:txBody>
          <a:bodyPr/>
          <a:lstStyle/>
          <a:p>
            <a:r>
              <a:rPr lang="en-US" dirty="0"/>
              <a:t>Aggregation</a:t>
            </a:r>
            <a:endParaRPr lang="en-IN" dirty="0"/>
          </a:p>
        </p:txBody>
      </p:sp>
      <p:sp>
        <p:nvSpPr>
          <p:cNvPr id="3" name="Text Placeholder 2">
            <a:extLst>
              <a:ext uri="{FF2B5EF4-FFF2-40B4-BE49-F238E27FC236}">
                <a16:creationId xmlns:a16="http://schemas.microsoft.com/office/drawing/2014/main" id="{0B9E1B81-FA67-761A-5448-2A67F99E668F}"/>
              </a:ext>
            </a:extLst>
          </p:cNvPr>
          <p:cNvSpPr>
            <a:spLocks noGrp="1"/>
          </p:cNvSpPr>
          <p:nvPr>
            <p:ph type="body" idx="1"/>
          </p:nvPr>
        </p:nvSpPr>
        <p:spPr/>
        <p:txBody>
          <a:bodyPr/>
          <a:lstStyle/>
          <a:p>
            <a:pPr marL="114300" indent="0">
              <a:buNone/>
            </a:pPr>
            <a:r>
              <a:rPr lang="en-US" dirty="0">
                <a:solidFill>
                  <a:schemeClr val="tx1"/>
                </a:solidFill>
              </a:rPr>
              <a:t>The plan must be in </a:t>
            </a:r>
            <a:r>
              <a:rPr lang="en-US" b="1" dirty="0">
                <a:solidFill>
                  <a:srgbClr val="FF0000"/>
                </a:solidFill>
              </a:rPr>
              <a:t>units of measurement </a:t>
            </a:r>
            <a:r>
              <a:rPr lang="en-US" dirty="0">
                <a:solidFill>
                  <a:schemeClr val="tx1"/>
                </a:solidFill>
              </a:rPr>
              <a:t>that can be understood by the firm’s non-operations personnel:</a:t>
            </a:r>
          </a:p>
          <a:p>
            <a:r>
              <a:rPr lang="en-US" dirty="0"/>
              <a:t>Aggregate units of output per month.</a:t>
            </a:r>
          </a:p>
          <a:p>
            <a:r>
              <a:rPr lang="en-US" dirty="0"/>
              <a:t>Dollar value of total monthly output.</a:t>
            </a:r>
          </a:p>
          <a:p>
            <a:r>
              <a:rPr lang="en-US" dirty="0"/>
              <a:t>Total output by factory.</a:t>
            </a:r>
          </a:p>
          <a:p>
            <a:r>
              <a:rPr lang="en-US" dirty="0"/>
              <a:t>Measures that relate to capacity such as labor hours.</a:t>
            </a:r>
          </a:p>
          <a:p>
            <a:endParaRPr lang="en-IN" dirty="0"/>
          </a:p>
        </p:txBody>
      </p:sp>
      <p:sp>
        <p:nvSpPr>
          <p:cNvPr id="4" name="Date Placeholder 3">
            <a:extLst>
              <a:ext uri="{FF2B5EF4-FFF2-40B4-BE49-F238E27FC236}">
                <a16:creationId xmlns:a16="http://schemas.microsoft.com/office/drawing/2014/main" id="{EDA8F68D-1480-ECA1-E6EC-48F68EFE14E0}"/>
              </a:ext>
            </a:extLst>
          </p:cNvPr>
          <p:cNvSpPr>
            <a:spLocks noGrp="1"/>
          </p:cNvSpPr>
          <p:nvPr>
            <p:ph type="dt" idx="10"/>
          </p:nvPr>
        </p:nvSpPr>
        <p:spPr/>
        <p:txBody>
          <a:bodyPr/>
          <a:lstStyle/>
          <a:p>
            <a:fld id="{D1FBB12C-6AF2-404C-B802-656F1A988312}" type="datetime1">
              <a:rPr lang="en-IN" smtClean="0"/>
              <a:pPr/>
              <a:t>02-12-2025</a:t>
            </a:fld>
            <a:endParaRPr lang="en-IN" dirty="0"/>
          </a:p>
        </p:txBody>
      </p:sp>
      <p:sp>
        <p:nvSpPr>
          <p:cNvPr id="5" name="Footer Placeholder 4">
            <a:extLst>
              <a:ext uri="{FF2B5EF4-FFF2-40B4-BE49-F238E27FC236}">
                <a16:creationId xmlns:a16="http://schemas.microsoft.com/office/drawing/2014/main" id="{9600BEC6-3A22-879E-5A0A-152F62CD6670}"/>
              </a:ext>
            </a:extLst>
          </p:cNvPr>
          <p:cNvSpPr>
            <a:spLocks noGrp="1"/>
          </p:cNvSpPr>
          <p:nvPr>
            <p:ph type="ftr" idx="11"/>
          </p:nvPr>
        </p:nvSpPr>
        <p:spPr/>
        <p:txBody>
          <a:bodyPr/>
          <a:lstStyle/>
          <a:p>
            <a:r>
              <a:rPr lang="en-IN"/>
              <a:t>Aggregate Planning</a:t>
            </a:r>
            <a:endParaRPr lang="en-IN" dirty="0"/>
          </a:p>
        </p:txBody>
      </p:sp>
      <p:sp>
        <p:nvSpPr>
          <p:cNvPr id="6" name="Slide Number Placeholder 5">
            <a:extLst>
              <a:ext uri="{FF2B5EF4-FFF2-40B4-BE49-F238E27FC236}">
                <a16:creationId xmlns:a16="http://schemas.microsoft.com/office/drawing/2014/main" id="{81C37456-9B7C-0D5B-983E-C45E4A87F798}"/>
              </a:ext>
            </a:extLst>
          </p:cNvPr>
          <p:cNvSpPr>
            <a:spLocks noGrp="1"/>
          </p:cNvSpPr>
          <p:nvPr>
            <p:ph type="sldNum" idx="12"/>
          </p:nvPr>
        </p:nvSpPr>
        <p:spPr/>
        <p:txBody>
          <a:bodyPr/>
          <a:lstStyle/>
          <a:p>
            <a:fld id="{00000000-1234-1234-1234-123412341234}" type="slidenum">
              <a:rPr lang="en-US" smtClean="0"/>
              <a:pPr/>
              <a:t>6</a:t>
            </a:fld>
            <a:endParaRPr lang="en-US" dirty="0"/>
          </a:p>
        </p:txBody>
      </p:sp>
    </p:spTree>
    <p:extLst>
      <p:ext uri="{BB962C8B-B14F-4D97-AF65-F5344CB8AC3E}">
        <p14:creationId xmlns:p14="http://schemas.microsoft.com/office/powerpoint/2010/main" val="1584525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B72E7-22B0-CB8C-151D-7BDF633802F9}"/>
              </a:ext>
            </a:extLst>
          </p:cNvPr>
          <p:cNvSpPr>
            <a:spLocks noGrp="1"/>
          </p:cNvSpPr>
          <p:nvPr>
            <p:ph type="title"/>
          </p:nvPr>
        </p:nvSpPr>
        <p:spPr>
          <a:xfrm>
            <a:off x="311753" y="66188"/>
            <a:ext cx="10762781" cy="685801"/>
          </a:xfrm>
        </p:spPr>
        <p:txBody>
          <a:bodyPr/>
          <a:lstStyle/>
          <a:p>
            <a:r>
              <a:rPr lang="en-US" dirty="0"/>
              <a:t>Aggregation</a:t>
            </a:r>
            <a:br>
              <a:rPr lang="en-US" dirty="0"/>
            </a:br>
            <a:r>
              <a:rPr lang="en-US" sz="2400" kern="1200" dirty="0">
                <a:solidFill>
                  <a:srgbClr val="FF0000"/>
                </a:solidFill>
                <a:latin typeface="Times New Roman" panose="02020603050405020304" pitchFamily="18" charset="0"/>
                <a:ea typeface="+mj-ea"/>
                <a:cs typeface="+mj-cs"/>
              </a:rPr>
              <a:t>Red Tomato Tools Example</a:t>
            </a:r>
            <a:endParaRPr lang="en-IN" sz="2400" dirty="0">
              <a:solidFill>
                <a:srgbClr val="FF0000"/>
              </a:solidFill>
            </a:endParaRPr>
          </a:p>
        </p:txBody>
      </p:sp>
      <p:sp>
        <p:nvSpPr>
          <p:cNvPr id="4" name="Date Placeholder 3">
            <a:extLst>
              <a:ext uri="{FF2B5EF4-FFF2-40B4-BE49-F238E27FC236}">
                <a16:creationId xmlns:a16="http://schemas.microsoft.com/office/drawing/2014/main" id="{6CE4AA08-3F5E-AAF9-CC7C-D654A113B0DF}"/>
              </a:ext>
            </a:extLst>
          </p:cNvPr>
          <p:cNvSpPr>
            <a:spLocks noGrp="1"/>
          </p:cNvSpPr>
          <p:nvPr>
            <p:ph type="dt" idx="10"/>
          </p:nvPr>
        </p:nvSpPr>
        <p:spPr/>
        <p:txBody>
          <a:bodyPr/>
          <a:lstStyle/>
          <a:p>
            <a:fld id="{D1FBB12C-6AF2-404C-B802-656F1A988312}" type="datetime1">
              <a:rPr lang="en-IN" smtClean="0"/>
              <a:pPr/>
              <a:t>02-12-2025</a:t>
            </a:fld>
            <a:endParaRPr lang="en-IN" dirty="0"/>
          </a:p>
        </p:txBody>
      </p:sp>
      <p:sp>
        <p:nvSpPr>
          <p:cNvPr id="5" name="Footer Placeholder 4">
            <a:extLst>
              <a:ext uri="{FF2B5EF4-FFF2-40B4-BE49-F238E27FC236}">
                <a16:creationId xmlns:a16="http://schemas.microsoft.com/office/drawing/2014/main" id="{855F351B-C37F-27DF-8842-916F654116BB}"/>
              </a:ext>
            </a:extLst>
          </p:cNvPr>
          <p:cNvSpPr>
            <a:spLocks noGrp="1"/>
          </p:cNvSpPr>
          <p:nvPr>
            <p:ph type="ftr" idx="11"/>
          </p:nvPr>
        </p:nvSpPr>
        <p:spPr/>
        <p:txBody>
          <a:bodyPr/>
          <a:lstStyle/>
          <a:p>
            <a:r>
              <a:rPr lang="en-US"/>
              <a:t>Aggregate Planning in a Supply Chain</a:t>
            </a:r>
            <a:endParaRPr lang="en-US" dirty="0"/>
          </a:p>
        </p:txBody>
      </p:sp>
      <p:sp>
        <p:nvSpPr>
          <p:cNvPr id="6" name="Slide Number Placeholder 5">
            <a:extLst>
              <a:ext uri="{FF2B5EF4-FFF2-40B4-BE49-F238E27FC236}">
                <a16:creationId xmlns:a16="http://schemas.microsoft.com/office/drawing/2014/main" id="{791D5091-3E11-CD92-02B3-AD4423BB2673}"/>
              </a:ext>
            </a:extLst>
          </p:cNvPr>
          <p:cNvSpPr>
            <a:spLocks noGrp="1"/>
          </p:cNvSpPr>
          <p:nvPr>
            <p:ph type="sldNum" idx="12"/>
          </p:nvPr>
        </p:nvSpPr>
        <p:spPr/>
        <p:txBody>
          <a:bodyPr/>
          <a:lstStyle/>
          <a:p>
            <a:fld id="{00000000-1234-1234-1234-123412341234}" type="slidenum">
              <a:rPr lang="en-US" smtClean="0"/>
              <a:pPr/>
              <a:t>7</a:t>
            </a:fld>
            <a:endParaRPr lang="en-US" dirty="0"/>
          </a:p>
        </p:txBody>
      </p:sp>
      <p:sp>
        <p:nvSpPr>
          <p:cNvPr id="7" name="Text Placeholder 2">
            <a:extLst>
              <a:ext uri="{FF2B5EF4-FFF2-40B4-BE49-F238E27FC236}">
                <a16:creationId xmlns:a16="http://schemas.microsoft.com/office/drawing/2014/main" id="{B427227F-19FC-4BBA-68A1-A4E47735C58B}"/>
              </a:ext>
            </a:extLst>
          </p:cNvPr>
          <p:cNvSpPr>
            <a:spLocks noGrp="1"/>
          </p:cNvSpPr>
          <p:nvPr>
            <p:ph type="body" idx="1"/>
          </p:nvPr>
        </p:nvSpPr>
        <p:spPr>
          <a:xfrm>
            <a:off x="407446" y="1005841"/>
            <a:ext cx="8229600" cy="446963"/>
          </a:xfrm>
        </p:spPr>
        <p:txBody>
          <a:bodyPr>
            <a:normAutofit fontScale="92500" lnSpcReduction="20000"/>
          </a:bodyPr>
          <a:lstStyle/>
          <a:p>
            <a:pPr marL="0" indent="0">
              <a:buNone/>
            </a:pPr>
            <a:r>
              <a:rPr lang="en-US" sz="2200" b="1" kern="1200" dirty="0">
                <a:solidFill>
                  <a:schemeClr val="tx1"/>
                </a:solidFill>
              </a:rPr>
              <a:t>Table: </a:t>
            </a:r>
            <a:r>
              <a:rPr lang="en-US" sz="2200" kern="1200" dirty="0">
                <a:solidFill>
                  <a:schemeClr val="tx1"/>
                </a:solidFill>
              </a:rPr>
              <a:t>Costs, Revenues, and Times at Red Tomato Tools</a:t>
            </a:r>
            <a:endParaRPr lang="en-US" sz="2200" dirty="0"/>
          </a:p>
        </p:txBody>
      </p:sp>
      <p:graphicFrame>
        <p:nvGraphicFramePr>
          <p:cNvPr id="8" name="Table 7">
            <a:extLst>
              <a:ext uri="{FF2B5EF4-FFF2-40B4-BE49-F238E27FC236}">
                <a16:creationId xmlns:a16="http://schemas.microsoft.com/office/drawing/2014/main" id="{62DB18EF-667E-E650-0E4E-97A1611A90DB}"/>
              </a:ext>
            </a:extLst>
          </p:cNvPr>
          <p:cNvGraphicFramePr>
            <a:graphicFrameLocks noGrp="1"/>
          </p:cNvGraphicFramePr>
          <p:nvPr>
            <p:extLst>
              <p:ext uri="{D42A27DB-BD31-4B8C-83A1-F6EECF244321}">
                <p14:modId xmlns:p14="http://schemas.microsoft.com/office/powerpoint/2010/main" val="2349279125"/>
              </p:ext>
            </p:extLst>
          </p:nvPr>
        </p:nvGraphicFramePr>
        <p:xfrm>
          <a:off x="838200" y="1452805"/>
          <a:ext cx="10134601" cy="4685105"/>
        </p:xfrm>
        <a:graphic>
          <a:graphicData uri="http://schemas.openxmlformats.org/drawingml/2006/table">
            <a:tbl>
              <a:tblPr firstRow="1" bandRow="1">
                <a:tableStyleId>{2D5ABB26-0587-4C30-8999-92F81FD0307C}</a:tableStyleId>
              </a:tblPr>
              <a:tblGrid>
                <a:gridCol w="1001967">
                  <a:extLst>
                    <a:ext uri="{9D8B030D-6E8A-4147-A177-3AD203B41FA5}">
                      <a16:colId xmlns:a16="http://schemas.microsoft.com/office/drawing/2014/main" val="20000"/>
                    </a:ext>
                  </a:extLst>
                </a:gridCol>
                <a:gridCol w="1149792">
                  <a:extLst>
                    <a:ext uri="{9D8B030D-6E8A-4147-A177-3AD203B41FA5}">
                      <a16:colId xmlns:a16="http://schemas.microsoft.com/office/drawing/2014/main" val="20001"/>
                    </a:ext>
                  </a:extLst>
                </a:gridCol>
                <a:gridCol w="1330474">
                  <a:extLst>
                    <a:ext uri="{9D8B030D-6E8A-4147-A177-3AD203B41FA5}">
                      <a16:colId xmlns:a16="http://schemas.microsoft.com/office/drawing/2014/main" val="20002"/>
                    </a:ext>
                  </a:extLst>
                </a:gridCol>
                <a:gridCol w="949618">
                  <a:extLst>
                    <a:ext uri="{9D8B030D-6E8A-4147-A177-3AD203B41FA5}">
                      <a16:colId xmlns:a16="http://schemas.microsoft.com/office/drawing/2014/main" val="20003"/>
                    </a:ext>
                  </a:extLst>
                </a:gridCol>
                <a:gridCol w="1234986">
                  <a:extLst>
                    <a:ext uri="{9D8B030D-6E8A-4147-A177-3AD203B41FA5}">
                      <a16:colId xmlns:a16="http://schemas.microsoft.com/office/drawing/2014/main" val="20004"/>
                    </a:ext>
                  </a:extLst>
                </a:gridCol>
                <a:gridCol w="1478304">
                  <a:extLst>
                    <a:ext uri="{9D8B030D-6E8A-4147-A177-3AD203B41FA5}">
                      <a16:colId xmlns:a16="http://schemas.microsoft.com/office/drawing/2014/main" val="20005"/>
                    </a:ext>
                  </a:extLst>
                </a:gridCol>
                <a:gridCol w="1494730">
                  <a:extLst>
                    <a:ext uri="{9D8B030D-6E8A-4147-A177-3AD203B41FA5}">
                      <a16:colId xmlns:a16="http://schemas.microsoft.com/office/drawing/2014/main" val="20006"/>
                    </a:ext>
                  </a:extLst>
                </a:gridCol>
                <a:gridCol w="1494730">
                  <a:extLst>
                    <a:ext uri="{9D8B030D-6E8A-4147-A177-3AD203B41FA5}">
                      <a16:colId xmlns:a16="http://schemas.microsoft.com/office/drawing/2014/main" val="20007"/>
                    </a:ext>
                  </a:extLst>
                </a:gridCol>
              </a:tblGrid>
              <a:tr h="1396523">
                <a:tc>
                  <a:txBody>
                    <a:bodyPr/>
                    <a:lstStyle/>
                    <a:p>
                      <a:pPr algn="ctr"/>
                      <a:r>
                        <a:rPr lang="en-US" sz="1600" b="1" kern="1200" dirty="0">
                          <a:solidFill>
                            <a:schemeClr val="tx1"/>
                          </a:solidFill>
                          <a:latin typeface="Times New Roman" panose="02020603050405020304" pitchFamily="18" charset="0"/>
                          <a:ea typeface="+mn-ea"/>
                          <a:cs typeface="Times New Roman" panose="02020603050405020304" pitchFamily="18" charset="0"/>
                        </a:rPr>
                        <a:t>Family</a:t>
                      </a:r>
                    </a:p>
                  </a:txBody>
                  <a:tcPr anchor="b">
                    <a:lnT w="28575" cap="flat" cmpd="sng" algn="ctr">
                      <a:solidFill>
                        <a:scrgbClr r="0" g="0" b="0"/>
                      </a:solidFill>
                      <a:prstDash val="solid"/>
                      <a:round/>
                      <a:headEnd type="none" w="med" len="med"/>
                      <a:tailEnd type="none" w="med" len="med"/>
                    </a:lnT>
                    <a:lnB w="19050" cap="flat" cmpd="sng" algn="ctr">
                      <a:solidFill>
                        <a:scrgbClr r="0" g="0" b="0"/>
                      </a:solidFill>
                      <a:prstDash val="solid"/>
                      <a:round/>
                      <a:headEnd type="none" w="med" len="med"/>
                      <a:tailEnd type="none" w="med" len="med"/>
                    </a:lnB>
                    <a:solidFill>
                      <a:srgbClr val="FFFFFF"/>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600" b="1" kern="1200" dirty="0">
                          <a:solidFill>
                            <a:schemeClr val="tx1"/>
                          </a:solidFill>
                          <a:latin typeface="Times New Roman" panose="02020603050405020304" pitchFamily="18" charset="0"/>
                          <a:ea typeface="+mn-ea"/>
                          <a:cs typeface="Times New Roman" panose="02020603050405020304" pitchFamily="18" charset="0"/>
                        </a:rPr>
                        <a:t>Material Cost/ Unit ($)</a:t>
                      </a:r>
                    </a:p>
                  </a:txBody>
                  <a:tcPr anchor="b">
                    <a:lnT w="28575" cap="flat" cmpd="sng" algn="ctr">
                      <a:solidFill>
                        <a:scrgbClr r="0" g="0" b="0"/>
                      </a:solidFill>
                      <a:prstDash val="solid"/>
                      <a:round/>
                      <a:headEnd type="none" w="med" len="med"/>
                      <a:tailEnd type="none" w="med" len="med"/>
                    </a:lnT>
                    <a:lnB w="19050" cap="flat" cmpd="sng" algn="ctr">
                      <a:solidFill>
                        <a:scrgbClr r="0" g="0" b="0"/>
                      </a:solidFill>
                      <a:prstDash val="solid"/>
                      <a:round/>
                      <a:headEnd type="none" w="med" len="med"/>
                      <a:tailEnd type="none" w="med" len="med"/>
                    </a:lnB>
                    <a:solidFill>
                      <a:srgbClr val="FFFFFF"/>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600" b="1" kern="1200" dirty="0">
                          <a:solidFill>
                            <a:schemeClr val="tx1"/>
                          </a:solidFill>
                          <a:latin typeface="Times New Roman" panose="02020603050405020304" pitchFamily="18" charset="0"/>
                          <a:ea typeface="+mn-ea"/>
                          <a:cs typeface="Times New Roman" panose="02020603050405020304" pitchFamily="18" charset="0"/>
                        </a:rPr>
                        <a:t>Revenue/ Unit ($)</a:t>
                      </a:r>
                    </a:p>
                  </a:txBody>
                  <a:tcPr anchor="b">
                    <a:lnT w="28575" cap="flat" cmpd="sng" algn="ctr">
                      <a:solidFill>
                        <a:scrgbClr r="0" g="0" b="0"/>
                      </a:solidFill>
                      <a:prstDash val="solid"/>
                      <a:round/>
                      <a:headEnd type="none" w="med" len="med"/>
                      <a:tailEnd type="none" w="med" len="med"/>
                    </a:lnT>
                    <a:lnB w="19050" cap="flat" cmpd="sng" algn="ctr">
                      <a:solidFill>
                        <a:scrgbClr r="0" g="0" b="0"/>
                      </a:solidFill>
                      <a:prstDash val="solid"/>
                      <a:round/>
                      <a:headEnd type="none" w="med" len="med"/>
                      <a:tailEnd type="none" w="med" len="med"/>
                    </a:lnB>
                    <a:solidFill>
                      <a:srgbClr val="FFFFFF"/>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600" b="1" kern="1200" dirty="0">
                          <a:solidFill>
                            <a:schemeClr val="tx1"/>
                          </a:solidFill>
                          <a:latin typeface="Times New Roman" panose="02020603050405020304" pitchFamily="18" charset="0"/>
                          <a:ea typeface="+mn-ea"/>
                          <a:cs typeface="Times New Roman" panose="02020603050405020304" pitchFamily="18" charset="0"/>
                        </a:rPr>
                        <a:t>Setup Time/Batch (hour)</a:t>
                      </a:r>
                    </a:p>
                  </a:txBody>
                  <a:tcPr anchor="b">
                    <a:lnT w="28575" cap="flat" cmpd="sng" algn="ctr">
                      <a:solidFill>
                        <a:scrgbClr r="0" g="0" b="0"/>
                      </a:solidFill>
                      <a:prstDash val="solid"/>
                      <a:round/>
                      <a:headEnd type="none" w="med" len="med"/>
                      <a:tailEnd type="none" w="med" len="med"/>
                    </a:lnT>
                    <a:lnB w="19050" cap="flat" cmpd="sng" algn="ctr">
                      <a:solidFill>
                        <a:scrgbClr r="0" g="0" b="0"/>
                      </a:solidFill>
                      <a:prstDash val="solid"/>
                      <a:round/>
                      <a:headEnd type="none" w="med" len="med"/>
                      <a:tailEnd type="none" w="med" len="med"/>
                    </a:lnB>
                    <a:solidFill>
                      <a:srgbClr val="FFFFFF"/>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600" b="1" kern="1200" dirty="0">
                          <a:solidFill>
                            <a:schemeClr val="tx1"/>
                          </a:solidFill>
                          <a:latin typeface="Times New Roman" panose="02020603050405020304" pitchFamily="18" charset="0"/>
                          <a:ea typeface="+mn-ea"/>
                          <a:cs typeface="Times New Roman" panose="02020603050405020304" pitchFamily="18" charset="0"/>
                        </a:rPr>
                        <a:t>Average Batch Size</a:t>
                      </a:r>
                    </a:p>
                  </a:txBody>
                  <a:tcPr anchor="b">
                    <a:lnT w="28575" cap="flat" cmpd="sng" algn="ctr">
                      <a:solidFill>
                        <a:scrgbClr r="0" g="0" b="0"/>
                      </a:solidFill>
                      <a:prstDash val="solid"/>
                      <a:round/>
                      <a:headEnd type="none" w="med" len="med"/>
                      <a:tailEnd type="none" w="med" len="med"/>
                    </a:lnT>
                    <a:lnB w="19050" cap="flat" cmpd="sng" algn="ctr">
                      <a:solidFill>
                        <a:scrgbClr r="0" g="0" b="0"/>
                      </a:solidFill>
                      <a:prstDash val="solid"/>
                      <a:round/>
                      <a:headEnd type="none" w="med" len="med"/>
                      <a:tailEnd type="none" w="med" len="med"/>
                    </a:lnB>
                    <a:solidFill>
                      <a:srgbClr val="FFFFFF"/>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600" b="1" kern="1200" dirty="0">
                          <a:solidFill>
                            <a:schemeClr val="tx1"/>
                          </a:solidFill>
                          <a:latin typeface="Times New Roman" panose="02020603050405020304" pitchFamily="18" charset="0"/>
                          <a:ea typeface="+mn-ea"/>
                          <a:cs typeface="Times New Roman" panose="02020603050405020304" pitchFamily="18" charset="0"/>
                        </a:rPr>
                        <a:t>Production Time/ Unit (hour)</a:t>
                      </a:r>
                    </a:p>
                  </a:txBody>
                  <a:tcPr anchor="b">
                    <a:lnT w="28575" cap="flat" cmpd="sng" algn="ctr">
                      <a:solidFill>
                        <a:scrgbClr r="0" g="0" b="0"/>
                      </a:solidFill>
                      <a:prstDash val="solid"/>
                      <a:round/>
                      <a:headEnd type="none" w="med" len="med"/>
                      <a:tailEnd type="none" w="med" len="med"/>
                    </a:lnT>
                    <a:lnB w="19050" cap="flat" cmpd="sng" algn="ctr">
                      <a:solidFill>
                        <a:scrgbClr r="0" g="0" b="0"/>
                      </a:solidFill>
                      <a:prstDash val="solid"/>
                      <a:round/>
                      <a:headEnd type="none" w="med" len="med"/>
                      <a:tailEnd type="none" w="med" len="med"/>
                    </a:lnB>
                    <a:solidFill>
                      <a:srgbClr val="FFFFFF"/>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600" b="1" kern="1200" dirty="0">
                          <a:solidFill>
                            <a:schemeClr val="tx1"/>
                          </a:solidFill>
                          <a:latin typeface="Times New Roman" panose="02020603050405020304" pitchFamily="18" charset="0"/>
                          <a:ea typeface="+mn-ea"/>
                          <a:cs typeface="Times New Roman" panose="02020603050405020304" pitchFamily="18" charset="0"/>
                        </a:rPr>
                        <a:t>Net Production Time/Unit (hour)</a:t>
                      </a:r>
                    </a:p>
                  </a:txBody>
                  <a:tcPr anchor="b">
                    <a:lnT w="28575" cap="flat" cmpd="sng" algn="ctr">
                      <a:solidFill>
                        <a:scrgbClr r="0" g="0" b="0"/>
                      </a:solidFill>
                      <a:prstDash val="solid"/>
                      <a:round/>
                      <a:headEnd type="none" w="med" len="med"/>
                      <a:tailEnd type="none" w="med" len="med"/>
                    </a:lnT>
                    <a:lnB w="19050" cap="flat" cmpd="sng" algn="ctr">
                      <a:solidFill>
                        <a:scrgbClr r="0" g="0" b="0"/>
                      </a:solidFill>
                      <a:prstDash val="solid"/>
                      <a:round/>
                      <a:headEnd type="none" w="med" len="med"/>
                      <a:tailEnd type="none" w="med" len="med"/>
                    </a:lnB>
                    <a:solidFill>
                      <a:srgbClr val="FFFFFF"/>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600" b="1" kern="1200" dirty="0">
                          <a:solidFill>
                            <a:schemeClr val="tx1"/>
                          </a:solidFill>
                          <a:latin typeface="Times New Roman" panose="02020603050405020304" pitchFamily="18" charset="0"/>
                          <a:ea typeface="+mn-ea"/>
                          <a:cs typeface="Times New Roman" panose="02020603050405020304" pitchFamily="18" charset="0"/>
                        </a:rPr>
                        <a:t>Percentage Share of Units Sold</a:t>
                      </a:r>
                      <a:endParaRPr lang="en-US" sz="1600" b="1" dirty="0">
                        <a:latin typeface="Times New Roman" panose="02020603050405020304" pitchFamily="18" charset="0"/>
                        <a:cs typeface="Times New Roman" panose="02020603050405020304" pitchFamily="18" charset="0"/>
                      </a:endParaRPr>
                    </a:p>
                  </a:txBody>
                  <a:tcPr anchor="b">
                    <a:lnT w="28575" cap="flat" cmpd="sng" algn="ctr">
                      <a:solidFill>
                        <a:scrgbClr r="0" g="0" b="0"/>
                      </a:solidFill>
                      <a:prstDash val="solid"/>
                      <a:round/>
                      <a:headEnd type="none" w="med" len="med"/>
                      <a:tailEnd type="none" w="med" len="med"/>
                    </a:lnT>
                    <a:lnB w="1905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097">
                <a:tc>
                  <a:txBody>
                    <a:bodyPr/>
                    <a:lstStyle/>
                    <a:p>
                      <a:pPr algn="ctr"/>
                      <a:r>
                        <a:rPr lang="en-US" sz="1600" dirty="0">
                          <a:latin typeface="Times New Roman" panose="02020603050405020304" pitchFamily="18" charset="0"/>
                          <a:cs typeface="Times New Roman" panose="02020603050405020304" pitchFamily="18" charset="0"/>
                        </a:rPr>
                        <a:t>A</a:t>
                      </a:r>
                    </a:p>
                  </a:txBody>
                  <a:tcPr>
                    <a:lnT w="1905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tabLst>
                          <a:tab pos="444500" algn="r"/>
                        </a:tabLst>
                      </a:pPr>
                      <a:r>
                        <a:rPr lang="en-US" sz="1600" dirty="0">
                          <a:latin typeface="Times New Roman" panose="02020603050405020304" pitchFamily="18" charset="0"/>
                          <a:cs typeface="Times New Roman" panose="02020603050405020304" pitchFamily="18" charset="0"/>
                        </a:rPr>
                        <a:t>	15</a:t>
                      </a:r>
                    </a:p>
                  </a:txBody>
                  <a:tcPr>
                    <a:lnT w="1905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1600" dirty="0">
                          <a:latin typeface="Times New Roman" panose="02020603050405020304" pitchFamily="18" charset="0"/>
                          <a:cs typeface="Times New Roman" panose="02020603050405020304" pitchFamily="18" charset="0"/>
                        </a:rPr>
                        <a:t>54</a:t>
                      </a:r>
                    </a:p>
                  </a:txBody>
                  <a:tcPr>
                    <a:lnT w="1905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tabLst>
                          <a:tab pos="355600" algn="r"/>
                        </a:tabLst>
                      </a:pPr>
                      <a:r>
                        <a:rPr lang="en-US" sz="1600" dirty="0">
                          <a:latin typeface="Times New Roman" panose="02020603050405020304" pitchFamily="18" charset="0"/>
                          <a:cs typeface="Times New Roman" panose="02020603050405020304" pitchFamily="18" charset="0"/>
                        </a:rPr>
                        <a:t>	8</a:t>
                      </a:r>
                    </a:p>
                  </a:txBody>
                  <a:tcPr>
                    <a:lnT w="1905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tabLst>
                          <a:tab pos="533400" algn="r"/>
                        </a:tabLst>
                      </a:pPr>
                      <a:r>
                        <a:rPr lang="en-US" sz="1600" dirty="0">
                          <a:latin typeface="Times New Roman" panose="02020603050405020304" pitchFamily="18" charset="0"/>
                          <a:cs typeface="Times New Roman" panose="02020603050405020304" pitchFamily="18" charset="0"/>
                        </a:rPr>
                        <a:t>	50</a:t>
                      </a:r>
                    </a:p>
                  </a:txBody>
                  <a:tcPr>
                    <a:lnT w="1905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1600" dirty="0">
                          <a:latin typeface="Times New Roman" panose="02020603050405020304" pitchFamily="18" charset="0"/>
                          <a:cs typeface="Times New Roman" panose="02020603050405020304" pitchFamily="18" charset="0"/>
                        </a:rPr>
                        <a:t>5.60</a:t>
                      </a:r>
                    </a:p>
                  </a:txBody>
                  <a:tcPr>
                    <a:lnT w="1905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1600">
                          <a:latin typeface="Times New Roman" panose="02020603050405020304" pitchFamily="18" charset="0"/>
                          <a:cs typeface="Times New Roman" panose="02020603050405020304" pitchFamily="18" charset="0"/>
                        </a:rPr>
                        <a:t>5.76</a:t>
                      </a:r>
                      <a:endParaRPr lang="en-US" sz="1600" dirty="0">
                        <a:latin typeface="Times New Roman" panose="02020603050405020304" pitchFamily="18" charset="0"/>
                        <a:cs typeface="Times New Roman" panose="02020603050405020304" pitchFamily="18" charset="0"/>
                      </a:endParaRPr>
                    </a:p>
                  </a:txBody>
                  <a:tcPr>
                    <a:lnT w="1905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1600" dirty="0">
                          <a:latin typeface="Times New Roman" panose="02020603050405020304" pitchFamily="18" charset="0"/>
                          <a:cs typeface="Times New Roman" panose="02020603050405020304" pitchFamily="18" charset="0"/>
                        </a:rPr>
                        <a:t>10</a:t>
                      </a:r>
                    </a:p>
                  </a:txBody>
                  <a:tcPr>
                    <a:lnT w="1905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097">
                <a:tc>
                  <a:txBody>
                    <a:bodyPr/>
                    <a:lstStyle/>
                    <a:p>
                      <a:pPr algn="ctr"/>
                      <a:r>
                        <a:rPr lang="en-US" sz="1600" dirty="0">
                          <a:latin typeface="Times New Roman" panose="02020603050405020304" pitchFamily="18" charset="0"/>
                          <a:cs typeface="Times New Roman" panose="02020603050405020304" pitchFamily="18" charset="0"/>
                        </a:rPr>
                        <a:t>B</a:t>
                      </a: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tabLst>
                          <a:tab pos="444500" algn="r"/>
                        </a:tabLst>
                      </a:pPr>
                      <a:r>
                        <a:rPr lang="en-US" sz="1600" dirty="0">
                          <a:latin typeface="Times New Roman" panose="02020603050405020304" pitchFamily="18" charset="0"/>
                          <a:cs typeface="Times New Roman" panose="02020603050405020304" pitchFamily="18" charset="0"/>
                        </a:rPr>
                        <a:t>	7</a:t>
                      </a: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1600" dirty="0">
                          <a:latin typeface="Times New Roman" panose="02020603050405020304" pitchFamily="18" charset="0"/>
                          <a:cs typeface="Times New Roman" panose="02020603050405020304" pitchFamily="18" charset="0"/>
                        </a:rPr>
                        <a:t>30</a:t>
                      </a: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tabLst>
                          <a:tab pos="355600" algn="r"/>
                        </a:tabLst>
                      </a:pPr>
                      <a:r>
                        <a:rPr lang="en-US" sz="1600" dirty="0">
                          <a:latin typeface="Times New Roman" panose="02020603050405020304" pitchFamily="18" charset="0"/>
                          <a:cs typeface="Times New Roman" panose="02020603050405020304" pitchFamily="18" charset="0"/>
                        </a:rPr>
                        <a:t>	6</a:t>
                      </a: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tabLst>
                          <a:tab pos="533400" algn="r"/>
                        </a:tabLst>
                      </a:pPr>
                      <a:r>
                        <a:rPr lang="en-US" sz="1600" dirty="0">
                          <a:latin typeface="Times New Roman" panose="02020603050405020304" pitchFamily="18" charset="0"/>
                          <a:cs typeface="Times New Roman" panose="02020603050405020304" pitchFamily="18" charset="0"/>
                        </a:rPr>
                        <a:t>	150</a:t>
                      </a: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1600" dirty="0">
                          <a:latin typeface="Times New Roman" panose="02020603050405020304" pitchFamily="18" charset="0"/>
                          <a:cs typeface="Times New Roman" panose="02020603050405020304" pitchFamily="18" charset="0"/>
                        </a:rPr>
                        <a:t>3.00</a:t>
                      </a: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1600">
                          <a:latin typeface="Times New Roman" panose="02020603050405020304" pitchFamily="18" charset="0"/>
                          <a:cs typeface="Times New Roman" panose="02020603050405020304" pitchFamily="18" charset="0"/>
                        </a:rPr>
                        <a:t>3.04</a:t>
                      </a:r>
                      <a:endParaRPr lang="en-US" sz="1600" dirty="0">
                        <a:latin typeface="Times New Roman" panose="02020603050405020304" pitchFamily="18" charset="0"/>
                        <a:cs typeface="Times New Roman" panose="02020603050405020304" pitchFamily="18" charset="0"/>
                      </a:endParaRP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1600" dirty="0">
                          <a:latin typeface="Times New Roman" panose="02020603050405020304" pitchFamily="18" charset="0"/>
                          <a:cs typeface="Times New Roman" panose="02020603050405020304" pitchFamily="18" charset="0"/>
                        </a:rPr>
                        <a:t>25</a:t>
                      </a: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097">
                <a:tc>
                  <a:txBody>
                    <a:bodyPr/>
                    <a:lstStyle/>
                    <a:p>
                      <a:pPr algn="ctr"/>
                      <a:r>
                        <a:rPr lang="en-US" sz="1600" dirty="0">
                          <a:latin typeface="Times New Roman" panose="02020603050405020304" pitchFamily="18" charset="0"/>
                          <a:cs typeface="Times New Roman" panose="02020603050405020304" pitchFamily="18" charset="0"/>
                        </a:rPr>
                        <a:t>C</a:t>
                      </a: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tabLst>
                          <a:tab pos="444500" algn="r"/>
                        </a:tabLst>
                      </a:pPr>
                      <a:r>
                        <a:rPr lang="en-US" sz="1600" dirty="0">
                          <a:latin typeface="Times New Roman" panose="02020603050405020304" pitchFamily="18" charset="0"/>
                          <a:cs typeface="Times New Roman" panose="02020603050405020304" pitchFamily="18" charset="0"/>
                        </a:rPr>
                        <a:t>	9</a:t>
                      </a: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1600" dirty="0">
                          <a:latin typeface="Times New Roman" panose="02020603050405020304" pitchFamily="18" charset="0"/>
                          <a:cs typeface="Times New Roman" panose="02020603050405020304" pitchFamily="18" charset="0"/>
                        </a:rPr>
                        <a:t>39</a:t>
                      </a: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tabLst>
                          <a:tab pos="355600" algn="r"/>
                        </a:tabLst>
                      </a:pPr>
                      <a:r>
                        <a:rPr lang="en-US" sz="1600" dirty="0">
                          <a:latin typeface="Times New Roman" panose="02020603050405020304" pitchFamily="18" charset="0"/>
                          <a:cs typeface="Times New Roman" panose="02020603050405020304" pitchFamily="18" charset="0"/>
                        </a:rPr>
                        <a:t>	8</a:t>
                      </a: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tabLst>
                          <a:tab pos="533400" algn="r"/>
                        </a:tabLst>
                      </a:pPr>
                      <a:r>
                        <a:rPr lang="en-US" sz="1600" dirty="0">
                          <a:latin typeface="Times New Roman" panose="02020603050405020304" pitchFamily="18" charset="0"/>
                          <a:cs typeface="Times New Roman" panose="02020603050405020304" pitchFamily="18" charset="0"/>
                        </a:rPr>
                        <a:t>	100</a:t>
                      </a: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1600" dirty="0">
                          <a:latin typeface="Times New Roman" panose="02020603050405020304" pitchFamily="18" charset="0"/>
                          <a:cs typeface="Times New Roman" panose="02020603050405020304" pitchFamily="18" charset="0"/>
                        </a:rPr>
                        <a:t>3.80</a:t>
                      </a: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1600" dirty="0">
                          <a:latin typeface="Times New Roman" panose="02020603050405020304" pitchFamily="18" charset="0"/>
                          <a:cs typeface="Times New Roman" panose="02020603050405020304" pitchFamily="18" charset="0"/>
                        </a:rPr>
                        <a:t>3.88</a:t>
                      </a: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1600" dirty="0">
                          <a:latin typeface="Times New Roman" panose="02020603050405020304" pitchFamily="18" charset="0"/>
                          <a:cs typeface="Times New Roman" panose="02020603050405020304" pitchFamily="18" charset="0"/>
                        </a:rPr>
                        <a:t>20</a:t>
                      </a: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48097">
                <a:tc>
                  <a:txBody>
                    <a:bodyPr/>
                    <a:lstStyle/>
                    <a:p>
                      <a:pPr algn="ctr"/>
                      <a:r>
                        <a:rPr lang="en-US" sz="1600" dirty="0">
                          <a:latin typeface="Times New Roman" panose="02020603050405020304" pitchFamily="18" charset="0"/>
                          <a:cs typeface="Times New Roman" panose="02020603050405020304" pitchFamily="18" charset="0"/>
                        </a:rPr>
                        <a:t>D</a:t>
                      </a: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tabLst>
                          <a:tab pos="444500" algn="r"/>
                        </a:tabLst>
                      </a:pPr>
                      <a:r>
                        <a:rPr lang="en-US" sz="1600" dirty="0">
                          <a:latin typeface="Times New Roman" panose="02020603050405020304" pitchFamily="18" charset="0"/>
                          <a:cs typeface="Times New Roman" panose="02020603050405020304" pitchFamily="18" charset="0"/>
                        </a:rPr>
                        <a:t>	12</a:t>
                      </a: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1600" dirty="0">
                          <a:latin typeface="Times New Roman" panose="02020603050405020304" pitchFamily="18" charset="0"/>
                          <a:cs typeface="Times New Roman" panose="02020603050405020304" pitchFamily="18" charset="0"/>
                        </a:rPr>
                        <a:t>49</a:t>
                      </a: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tabLst>
                          <a:tab pos="355600" algn="r"/>
                        </a:tabLst>
                      </a:pPr>
                      <a:r>
                        <a:rPr lang="en-US" sz="1600" dirty="0">
                          <a:latin typeface="Times New Roman" panose="02020603050405020304" pitchFamily="18" charset="0"/>
                          <a:cs typeface="Times New Roman" panose="02020603050405020304" pitchFamily="18" charset="0"/>
                        </a:rPr>
                        <a:t>	10</a:t>
                      </a: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tabLst>
                          <a:tab pos="533400" algn="r"/>
                        </a:tabLst>
                      </a:pPr>
                      <a:r>
                        <a:rPr lang="en-US" sz="1600" dirty="0">
                          <a:latin typeface="Times New Roman" panose="02020603050405020304" pitchFamily="18" charset="0"/>
                          <a:cs typeface="Times New Roman" panose="02020603050405020304" pitchFamily="18" charset="0"/>
                        </a:rPr>
                        <a:t>	50</a:t>
                      </a: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1600" dirty="0">
                          <a:latin typeface="Times New Roman" panose="02020603050405020304" pitchFamily="18" charset="0"/>
                          <a:cs typeface="Times New Roman" panose="02020603050405020304" pitchFamily="18" charset="0"/>
                        </a:rPr>
                        <a:t>4.80</a:t>
                      </a: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1600">
                          <a:latin typeface="Times New Roman" panose="02020603050405020304" pitchFamily="18" charset="0"/>
                          <a:cs typeface="Times New Roman" panose="02020603050405020304" pitchFamily="18" charset="0"/>
                        </a:rPr>
                        <a:t>5.00</a:t>
                      </a:r>
                      <a:endParaRPr lang="en-US" sz="1600" dirty="0">
                        <a:latin typeface="Times New Roman" panose="02020603050405020304" pitchFamily="18" charset="0"/>
                        <a:cs typeface="Times New Roman" panose="02020603050405020304" pitchFamily="18" charset="0"/>
                      </a:endParaRP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1600" dirty="0">
                          <a:latin typeface="Times New Roman" panose="02020603050405020304" pitchFamily="18" charset="0"/>
                          <a:cs typeface="Times New Roman" panose="02020603050405020304" pitchFamily="18" charset="0"/>
                        </a:rPr>
                        <a:t>10</a:t>
                      </a: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097">
                <a:tc>
                  <a:txBody>
                    <a:bodyPr/>
                    <a:lstStyle/>
                    <a:p>
                      <a:pPr algn="ctr"/>
                      <a:r>
                        <a:rPr lang="en-US" sz="1600" dirty="0">
                          <a:latin typeface="Times New Roman" panose="02020603050405020304" pitchFamily="18" charset="0"/>
                          <a:cs typeface="Times New Roman" panose="02020603050405020304" pitchFamily="18" charset="0"/>
                        </a:rPr>
                        <a:t>E</a:t>
                      </a: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tabLst>
                          <a:tab pos="444500" algn="r"/>
                        </a:tabLst>
                      </a:pPr>
                      <a:r>
                        <a:rPr lang="en-US" sz="1600" dirty="0">
                          <a:latin typeface="Times New Roman" panose="02020603050405020304" pitchFamily="18" charset="0"/>
                          <a:cs typeface="Times New Roman" panose="02020603050405020304" pitchFamily="18" charset="0"/>
                        </a:rPr>
                        <a:t>	9</a:t>
                      </a: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1600" dirty="0">
                          <a:latin typeface="Times New Roman" panose="02020603050405020304" pitchFamily="18" charset="0"/>
                          <a:cs typeface="Times New Roman" panose="02020603050405020304" pitchFamily="18" charset="0"/>
                        </a:rPr>
                        <a:t>36</a:t>
                      </a: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tabLst>
                          <a:tab pos="355600" algn="r"/>
                        </a:tabLst>
                      </a:pPr>
                      <a:r>
                        <a:rPr lang="en-US" sz="1600" dirty="0">
                          <a:latin typeface="Times New Roman" panose="02020603050405020304" pitchFamily="18" charset="0"/>
                          <a:cs typeface="Times New Roman" panose="02020603050405020304" pitchFamily="18" charset="0"/>
                        </a:rPr>
                        <a:t>	6</a:t>
                      </a: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tabLst>
                          <a:tab pos="533400" algn="r"/>
                        </a:tabLst>
                      </a:pPr>
                      <a:r>
                        <a:rPr lang="en-US" sz="1600" dirty="0">
                          <a:latin typeface="Times New Roman" panose="02020603050405020304" pitchFamily="18" charset="0"/>
                          <a:cs typeface="Times New Roman" panose="02020603050405020304" pitchFamily="18" charset="0"/>
                        </a:rPr>
                        <a:t>	100</a:t>
                      </a: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1600" dirty="0">
                          <a:latin typeface="Times New Roman" panose="02020603050405020304" pitchFamily="18" charset="0"/>
                          <a:cs typeface="Times New Roman" panose="02020603050405020304" pitchFamily="18" charset="0"/>
                        </a:rPr>
                        <a:t>3.60</a:t>
                      </a: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1600">
                          <a:latin typeface="Times New Roman" panose="02020603050405020304" pitchFamily="18" charset="0"/>
                          <a:cs typeface="Times New Roman" panose="02020603050405020304" pitchFamily="18" charset="0"/>
                        </a:rPr>
                        <a:t>3.66</a:t>
                      </a:r>
                      <a:endParaRPr lang="en-US" sz="1600" dirty="0">
                        <a:latin typeface="Times New Roman" panose="02020603050405020304" pitchFamily="18" charset="0"/>
                        <a:cs typeface="Times New Roman" panose="02020603050405020304" pitchFamily="18" charset="0"/>
                      </a:endParaRP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1600" dirty="0">
                          <a:latin typeface="Times New Roman" panose="02020603050405020304" pitchFamily="18" charset="0"/>
                          <a:cs typeface="Times New Roman" panose="02020603050405020304" pitchFamily="18" charset="0"/>
                        </a:rPr>
                        <a:t>20</a:t>
                      </a: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48097">
                <a:tc>
                  <a:txBody>
                    <a:bodyPr/>
                    <a:lstStyle/>
                    <a:p>
                      <a:pPr algn="ctr"/>
                      <a:r>
                        <a:rPr lang="en-US" sz="1600" dirty="0">
                          <a:latin typeface="Times New Roman" panose="02020603050405020304" pitchFamily="18" charset="0"/>
                          <a:cs typeface="Times New Roman" panose="02020603050405020304" pitchFamily="18" charset="0"/>
                        </a:rPr>
                        <a:t>F</a:t>
                      </a:r>
                    </a:p>
                  </a:txBody>
                  <a:tcPr>
                    <a:lnT w="12700" cap="flat" cmpd="sng" algn="ctr">
                      <a:solidFill>
                        <a:scrgbClr r="0" g="0" b="0"/>
                      </a:solidFill>
                      <a:prstDash val="solid"/>
                      <a:round/>
                      <a:headEnd type="none" w="med" len="med"/>
                      <a:tailEnd type="none" w="med" len="med"/>
                    </a:lnT>
                    <a:lnB w="28575" cap="flat" cmpd="sng" algn="ctr">
                      <a:solidFill>
                        <a:scrgbClr r="0" g="0" b="0"/>
                      </a:solidFill>
                      <a:prstDash val="solid"/>
                      <a:round/>
                      <a:headEnd type="none" w="med" len="med"/>
                      <a:tailEnd type="none" w="med" len="med"/>
                    </a:lnB>
                    <a:solidFill>
                      <a:srgbClr val="FFFFFF"/>
                    </a:solidFill>
                  </a:tcPr>
                </a:tc>
                <a:tc>
                  <a:txBody>
                    <a:bodyPr/>
                    <a:lstStyle/>
                    <a:p>
                      <a:pPr>
                        <a:tabLst>
                          <a:tab pos="444500" algn="r"/>
                        </a:tabLst>
                      </a:pPr>
                      <a:r>
                        <a:rPr lang="en-US" sz="1600" dirty="0">
                          <a:latin typeface="Times New Roman" panose="02020603050405020304" pitchFamily="18" charset="0"/>
                          <a:cs typeface="Times New Roman" panose="02020603050405020304" pitchFamily="18" charset="0"/>
                        </a:rPr>
                        <a:t>	13</a:t>
                      </a:r>
                    </a:p>
                  </a:txBody>
                  <a:tcPr>
                    <a:lnT w="12700" cap="flat" cmpd="sng" algn="ctr">
                      <a:solidFill>
                        <a:scrgbClr r="0" g="0" b="0"/>
                      </a:solidFill>
                      <a:prstDash val="solid"/>
                      <a:round/>
                      <a:headEnd type="none" w="med" len="med"/>
                      <a:tailEnd type="none" w="med" len="med"/>
                    </a:lnT>
                    <a:lnB w="28575" cap="flat" cmpd="sng" algn="ctr">
                      <a:solidFill>
                        <a:scrgbClr r="0" g="0" b="0"/>
                      </a:solidFill>
                      <a:prstDash val="solid"/>
                      <a:round/>
                      <a:headEnd type="none" w="med" len="med"/>
                      <a:tailEnd type="none" w="med" len="med"/>
                    </a:lnB>
                    <a:solidFill>
                      <a:srgbClr val="FFFFFF"/>
                    </a:solidFill>
                  </a:tcPr>
                </a:tc>
                <a:tc>
                  <a:txBody>
                    <a:bodyPr/>
                    <a:lstStyle/>
                    <a:p>
                      <a:pPr algn="ctr"/>
                      <a:r>
                        <a:rPr lang="en-US" sz="1600" dirty="0">
                          <a:latin typeface="Times New Roman" panose="02020603050405020304" pitchFamily="18" charset="0"/>
                          <a:cs typeface="Times New Roman" panose="02020603050405020304" pitchFamily="18" charset="0"/>
                        </a:rPr>
                        <a:t>48</a:t>
                      </a:r>
                    </a:p>
                  </a:txBody>
                  <a:tcPr>
                    <a:lnT w="12700" cap="flat" cmpd="sng" algn="ctr">
                      <a:solidFill>
                        <a:scrgbClr r="0" g="0" b="0"/>
                      </a:solidFill>
                      <a:prstDash val="solid"/>
                      <a:round/>
                      <a:headEnd type="none" w="med" len="med"/>
                      <a:tailEnd type="none" w="med" len="med"/>
                    </a:lnT>
                    <a:lnB w="28575" cap="flat" cmpd="sng" algn="ctr">
                      <a:solidFill>
                        <a:scrgbClr r="0" g="0" b="0"/>
                      </a:solidFill>
                      <a:prstDash val="solid"/>
                      <a:round/>
                      <a:headEnd type="none" w="med" len="med"/>
                      <a:tailEnd type="none" w="med" len="med"/>
                    </a:lnB>
                    <a:solidFill>
                      <a:srgbClr val="FFFFFF"/>
                    </a:solidFill>
                  </a:tcPr>
                </a:tc>
                <a:tc>
                  <a:txBody>
                    <a:bodyPr/>
                    <a:lstStyle/>
                    <a:p>
                      <a:pPr>
                        <a:tabLst>
                          <a:tab pos="355600" algn="r"/>
                        </a:tabLst>
                      </a:pPr>
                      <a:r>
                        <a:rPr lang="en-US" sz="1600" dirty="0">
                          <a:latin typeface="Times New Roman" panose="02020603050405020304" pitchFamily="18" charset="0"/>
                          <a:cs typeface="Times New Roman" panose="02020603050405020304" pitchFamily="18" charset="0"/>
                        </a:rPr>
                        <a:t>	5</a:t>
                      </a:r>
                    </a:p>
                  </a:txBody>
                  <a:tcPr>
                    <a:lnT w="12700" cap="flat" cmpd="sng" algn="ctr">
                      <a:solidFill>
                        <a:scrgbClr r="0" g="0" b="0"/>
                      </a:solidFill>
                      <a:prstDash val="solid"/>
                      <a:round/>
                      <a:headEnd type="none" w="med" len="med"/>
                      <a:tailEnd type="none" w="med" len="med"/>
                    </a:lnT>
                    <a:lnB w="28575" cap="flat" cmpd="sng" algn="ctr">
                      <a:solidFill>
                        <a:scrgbClr r="0" g="0" b="0"/>
                      </a:solidFill>
                      <a:prstDash val="solid"/>
                      <a:round/>
                      <a:headEnd type="none" w="med" len="med"/>
                      <a:tailEnd type="none" w="med" len="med"/>
                    </a:lnB>
                    <a:solidFill>
                      <a:srgbClr val="FFFFFF"/>
                    </a:solidFill>
                  </a:tcPr>
                </a:tc>
                <a:tc>
                  <a:txBody>
                    <a:bodyPr/>
                    <a:lstStyle/>
                    <a:p>
                      <a:pPr>
                        <a:tabLst>
                          <a:tab pos="533400" algn="r"/>
                        </a:tabLst>
                      </a:pPr>
                      <a:r>
                        <a:rPr lang="en-US" sz="1600" dirty="0">
                          <a:latin typeface="Times New Roman" panose="02020603050405020304" pitchFamily="18" charset="0"/>
                          <a:cs typeface="Times New Roman" panose="02020603050405020304" pitchFamily="18" charset="0"/>
                        </a:rPr>
                        <a:t>	75</a:t>
                      </a:r>
                    </a:p>
                  </a:txBody>
                  <a:tcPr>
                    <a:lnT w="12700" cap="flat" cmpd="sng" algn="ctr">
                      <a:solidFill>
                        <a:scrgbClr r="0" g="0" b="0"/>
                      </a:solidFill>
                      <a:prstDash val="solid"/>
                      <a:round/>
                      <a:headEnd type="none" w="med" len="med"/>
                      <a:tailEnd type="none" w="med" len="med"/>
                    </a:lnT>
                    <a:lnB w="28575" cap="flat" cmpd="sng" algn="ctr">
                      <a:solidFill>
                        <a:scrgbClr r="0" g="0" b="0"/>
                      </a:solidFill>
                      <a:prstDash val="solid"/>
                      <a:round/>
                      <a:headEnd type="none" w="med" len="med"/>
                      <a:tailEnd type="none" w="med" len="med"/>
                    </a:lnB>
                    <a:solidFill>
                      <a:srgbClr val="FFFFFF"/>
                    </a:solidFill>
                  </a:tcPr>
                </a:tc>
                <a:tc>
                  <a:txBody>
                    <a:bodyPr/>
                    <a:lstStyle/>
                    <a:p>
                      <a:pPr algn="ctr"/>
                      <a:r>
                        <a:rPr lang="en-US" sz="1600" dirty="0">
                          <a:latin typeface="Times New Roman" panose="02020603050405020304" pitchFamily="18" charset="0"/>
                          <a:cs typeface="Times New Roman" panose="02020603050405020304" pitchFamily="18" charset="0"/>
                        </a:rPr>
                        <a:t>4.30</a:t>
                      </a:r>
                    </a:p>
                  </a:txBody>
                  <a:tcPr>
                    <a:lnT w="12700" cap="flat" cmpd="sng" algn="ctr">
                      <a:solidFill>
                        <a:scrgbClr r="0" g="0" b="0"/>
                      </a:solidFill>
                      <a:prstDash val="solid"/>
                      <a:round/>
                      <a:headEnd type="none" w="med" len="med"/>
                      <a:tailEnd type="none" w="med" len="med"/>
                    </a:lnT>
                    <a:lnB w="28575" cap="flat" cmpd="sng" algn="ctr">
                      <a:solidFill>
                        <a:scrgbClr r="0" g="0" b="0"/>
                      </a:solidFill>
                      <a:prstDash val="solid"/>
                      <a:round/>
                      <a:headEnd type="none" w="med" len="med"/>
                      <a:tailEnd type="none" w="med" len="med"/>
                    </a:lnB>
                    <a:solidFill>
                      <a:srgbClr val="FFFFFF"/>
                    </a:solidFill>
                  </a:tcPr>
                </a:tc>
                <a:tc>
                  <a:txBody>
                    <a:bodyPr/>
                    <a:lstStyle/>
                    <a:p>
                      <a:pPr algn="ctr"/>
                      <a:r>
                        <a:rPr lang="en-US" sz="1600" dirty="0">
                          <a:latin typeface="Times New Roman" panose="02020603050405020304" pitchFamily="18" charset="0"/>
                          <a:cs typeface="Times New Roman" panose="02020603050405020304" pitchFamily="18" charset="0"/>
                        </a:rPr>
                        <a:t>4.37</a:t>
                      </a:r>
                    </a:p>
                  </a:txBody>
                  <a:tcPr>
                    <a:lnT w="12700" cap="flat" cmpd="sng" algn="ctr">
                      <a:solidFill>
                        <a:scrgbClr r="0" g="0" b="0"/>
                      </a:solidFill>
                      <a:prstDash val="solid"/>
                      <a:round/>
                      <a:headEnd type="none" w="med" len="med"/>
                      <a:tailEnd type="none" w="med" len="med"/>
                    </a:lnT>
                    <a:lnB w="28575" cap="flat" cmpd="sng" algn="ctr">
                      <a:solidFill>
                        <a:scrgbClr r="0" g="0" b="0"/>
                      </a:solidFill>
                      <a:prstDash val="solid"/>
                      <a:round/>
                      <a:headEnd type="none" w="med" len="med"/>
                      <a:tailEnd type="none" w="med" len="med"/>
                    </a:lnB>
                    <a:solidFill>
                      <a:srgbClr val="FFFFFF"/>
                    </a:solidFill>
                  </a:tcPr>
                </a:tc>
                <a:tc>
                  <a:txBody>
                    <a:bodyPr/>
                    <a:lstStyle/>
                    <a:p>
                      <a:pPr algn="ctr"/>
                      <a:r>
                        <a:rPr lang="en-US" sz="1600" dirty="0">
                          <a:latin typeface="Times New Roman" panose="02020603050405020304" pitchFamily="18" charset="0"/>
                          <a:cs typeface="Times New Roman" panose="02020603050405020304" pitchFamily="18" charset="0"/>
                        </a:rPr>
                        <a:t>15</a:t>
                      </a:r>
                    </a:p>
                  </a:txBody>
                  <a:tcPr>
                    <a:lnT w="12700" cap="flat" cmpd="sng" algn="ctr">
                      <a:solidFill>
                        <a:scrgbClr r="0" g="0" b="0"/>
                      </a:solidFill>
                      <a:prstDash val="solid"/>
                      <a:round/>
                      <a:headEnd type="none" w="med" len="med"/>
                      <a:tailEnd type="none" w="med" len="med"/>
                    </a:lnT>
                    <a:lnB w="28575"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9688751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6C7B4-8695-2DC0-26F4-B8083B824A15}"/>
              </a:ext>
            </a:extLst>
          </p:cNvPr>
          <p:cNvSpPr>
            <a:spLocks noGrp="1"/>
          </p:cNvSpPr>
          <p:nvPr>
            <p:ph type="title"/>
          </p:nvPr>
        </p:nvSpPr>
        <p:spPr>
          <a:xfrm>
            <a:off x="407446" y="61805"/>
            <a:ext cx="10762781" cy="685801"/>
          </a:xfrm>
        </p:spPr>
        <p:txBody>
          <a:bodyPr/>
          <a:lstStyle/>
          <a:p>
            <a:r>
              <a:rPr lang="en-US" dirty="0"/>
              <a:t>Aggregation</a:t>
            </a:r>
            <a:br>
              <a:rPr lang="en-US" dirty="0"/>
            </a:br>
            <a:r>
              <a:rPr lang="en-US" sz="2400" kern="1200" dirty="0">
                <a:solidFill>
                  <a:srgbClr val="FF0000"/>
                </a:solidFill>
                <a:latin typeface="Times New Roman" panose="02020603050405020304" pitchFamily="18" charset="0"/>
                <a:ea typeface="+mj-ea"/>
                <a:cs typeface="+mj-cs"/>
              </a:rPr>
              <a:t>Red Tomato Tools Example</a:t>
            </a:r>
            <a:endParaRPr lang="en-IN" sz="2400" dirty="0"/>
          </a:p>
        </p:txBody>
      </p:sp>
      <p:sp>
        <p:nvSpPr>
          <p:cNvPr id="4" name="Date Placeholder 3">
            <a:extLst>
              <a:ext uri="{FF2B5EF4-FFF2-40B4-BE49-F238E27FC236}">
                <a16:creationId xmlns:a16="http://schemas.microsoft.com/office/drawing/2014/main" id="{2AAED0E2-8393-3ECF-BEC9-677409D08474}"/>
              </a:ext>
            </a:extLst>
          </p:cNvPr>
          <p:cNvSpPr>
            <a:spLocks noGrp="1"/>
          </p:cNvSpPr>
          <p:nvPr>
            <p:ph type="dt" idx="10"/>
          </p:nvPr>
        </p:nvSpPr>
        <p:spPr/>
        <p:txBody>
          <a:bodyPr/>
          <a:lstStyle/>
          <a:p>
            <a:fld id="{D1FBB12C-6AF2-404C-B802-656F1A988312}" type="datetime1">
              <a:rPr lang="en-IN" smtClean="0"/>
              <a:pPr/>
              <a:t>02-12-2025</a:t>
            </a:fld>
            <a:endParaRPr lang="en-IN" dirty="0"/>
          </a:p>
        </p:txBody>
      </p:sp>
      <p:sp>
        <p:nvSpPr>
          <p:cNvPr id="5" name="Footer Placeholder 4">
            <a:extLst>
              <a:ext uri="{FF2B5EF4-FFF2-40B4-BE49-F238E27FC236}">
                <a16:creationId xmlns:a16="http://schemas.microsoft.com/office/drawing/2014/main" id="{3C763EA4-7E50-9268-D575-2CB6A145DA55}"/>
              </a:ext>
            </a:extLst>
          </p:cNvPr>
          <p:cNvSpPr>
            <a:spLocks noGrp="1"/>
          </p:cNvSpPr>
          <p:nvPr>
            <p:ph type="ftr" idx="11"/>
          </p:nvPr>
        </p:nvSpPr>
        <p:spPr/>
        <p:txBody>
          <a:bodyPr/>
          <a:lstStyle/>
          <a:p>
            <a:r>
              <a:rPr lang="en-US"/>
              <a:t>Aggregate Planning in a Supply Chain</a:t>
            </a:r>
            <a:endParaRPr lang="en-US" dirty="0"/>
          </a:p>
        </p:txBody>
      </p:sp>
      <p:sp>
        <p:nvSpPr>
          <p:cNvPr id="6" name="Slide Number Placeholder 5">
            <a:extLst>
              <a:ext uri="{FF2B5EF4-FFF2-40B4-BE49-F238E27FC236}">
                <a16:creationId xmlns:a16="http://schemas.microsoft.com/office/drawing/2014/main" id="{01EB15AD-277F-EF20-1785-024C95981D09}"/>
              </a:ext>
            </a:extLst>
          </p:cNvPr>
          <p:cNvSpPr>
            <a:spLocks noGrp="1"/>
          </p:cNvSpPr>
          <p:nvPr>
            <p:ph type="sldNum" idx="12"/>
          </p:nvPr>
        </p:nvSpPr>
        <p:spPr/>
        <p:txBody>
          <a:bodyPr/>
          <a:lstStyle/>
          <a:p>
            <a:fld id="{00000000-1234-1234-1234-123412341234}" type="slidenum">
              <a:rPr lang="en-US" smtClean="0"/>
              <a:pPr/>
              <a:t>8</a:t>
            </a:fld>
            <a:endParaRPr lang="en-US" dirty="0"/>
          </a:p>
        </p:txBody>
      </p:sp>
      <p:sp>
        <p:nvSpPr>
          <p:cNvPr id="8" name="Content Placeholder 3">
            <a:extLst>
              <a:ext uri="{FF2B5EF4-FFF2-40B4-BE49-F238E27FC236}">
                <a16:creationId xmlns:a16="http://schemas.microsoft.com/office/drawing/2014/main" id="{96F2C3FE-918B-C99F-F242-1AAB095D9791}"/>
              </a:ext>
            </a:extLst>
          </p:cNvPr>
          <p:cNvSpPr txBox="1">
            <a:spLocks/>
          </p:cNvSpPr>
          <p:nvPr/>
        </p:nvSpPr>
        <p:spPr>
          <a:xfrm>
            <a:off x="205281" y="1162383"/>
            <a:ext cx="11167110" cy="1814966"/>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540000" lvl="1" defTabSz="457200">
              <a:spcAft>
                <a:spcPct val="0"/>
              </a:spcAft>
            </a:pPr>
            <a:r>
              <a:rPr lang="en-US" sz="2800" kern="1200" dirty="0">
                <a:latin typeface="Times New Roman" panose="02020603050405020304" pitchFamily="18" charset="0"/>
                <a:cs typeface="Times New Roman" panose="02020603050405020304" pitchFamily="18" charset="0"/>
              </a:rPr>
              <a:t>Material cost per aggregate unit</a:t>
            </a:r>
          </a:p>
          <a:p>
            <a:pPr marL="887400" lvl="2" defTabSz="457200">
              <a:spcAft>
                <a:spcPct val="0"/>
              </a:spcAft>
            </a:pPr>
            <a:r>
              <a:rPr lang="en-US" sz="2800" kern="1200" dirty="0">
                <a:latin typeface="Times New Roman" panose="02020603050405020304" pitchFamily="18" charset="0"/>
                <a:cs typeface="Times New Roman" panose="02020603050405020304" pitchFamily="18" charset="0"/>
              </a:rPr>
              <a:t>= (15 × 0.10) + (7 × 0.25) + (9 × 0.20) + (12 × 0.10) + (9 × 0.20) + (13 × 0.15) = </a:t>
            </a:r>
            <a:r>
              <a:rPr lang="en-US" sz="2800" b="1" kern="1200" dirty="0">
                <a:solidFill>
                  <a:srgbClr val="FF0000"/>
                </a:solidFill>
                <a:latin typeface="Times New Roman" panose="02020603050405020304" pitchFamily="18" charset="0"/>
                <a:cs typeface="Times New Roman" panose="02020603050405020304" pitchFamily="18" charset="0"/>
              </a:rPr>
              <a:t>$10</a:t>
            </a:r>
          </a:p>
        </p:txBody>
      </p:sp>
      <p:sp>
        <p:nvSpPr>
          <p:cNvPr id="9" name="Content Placeholder 4">
            <a:extLst>
              <a:ext uri="{FF2B5EF4-FFF2-40B4-BE49-F238E27FC236}">
                <a16:creationId xmlns:a16="http://schemas.microsoft.com/office/drawing/2014/main" id="{5F3921D9-D2F0-7DC7-F98E-C72E1581259D}"/>
              </a:ext>
            </a:extLst>
          </p:cNvPr>
          <p:cNvSpPr txBox="1">
            <a:spLocks/>
          </p:cNvSpPr>
          <p:nvPr/>
        </p:nvSpPr>
        <p:spPr>
          <a:xfrm>
            <a:off x="457200" y="2779482"/>
            <a:ext cx="8232775" cy="485548"/>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800" dirty="0"/>
              <a:t>Similarly</a:t>
            </a:r>
          </a:p>
        </p:txBody>
      </p:sp>
      <p:sp>
        <p:nvSpPr>
          <p:cNvPr id="10" name="Content Placeholder 5">
            <a:extLst>
              <a:ext uri="{FF2B5EF4-FFF2-40B4-BE49-F238E27FC236}">
                <a16:creationId xmlns:a16="http://schemas.microsoft.com/office/drawing/2014/main" id="{ECE4DCAF-54E9-EE48-5362-B0231171B845}"/>
              </a:ext>
            </a:extLst>
          </p:cNvPr>
          <p:cNvSpPr txBox="1">
            <a:spLocks/>
          </p:cNvSpPr>
          <p:nvPr/>
        </p:nvSpPr>
        <p:spPr>
          <a:xfrm>
            <a:off x="457200" y="3254146"/>
            <a:ext cx="8229600" cy="103550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800" dirty="0"/>
              <a:t>Revenue per aggregate unit = </a:t>
            </a:r>
            <a:r>
              <a:rPr lang="en-US" sz="2800" b="1" dirty="0">
                <a:solidFill>
                  <a:srgbClr val="FF0000"/>
                </a:solidFill>
              </a:rPr>
              <a:t>$40</a:t>
            </a:r>
          </a:p>
          <a:p>
            <a:pPr algn="ctr">
              <a:spcBef>
                <a:spcPts val="600"/>
              </a:spcBef>
            </a:pPr>
            <a:r>
              <a:rPr lang="en-US" sz="2800" dirty="0"/>
              <a:t>Net production time per aggregate unit = </a:t>
            </a:r>
            <a:r>
              <a:rPr lang="en-US" sz="2800" b="1" dirty="0">
                <a:solidFill>
                  <a:srgbClr val="FF0000"/>
                </a:solidFill>
              </a:rPr>
              <a:t>4.00 hours</a:t>
            </a:r>
          </a:p>
        </p:txBody>
      </p:sp>
    </p:spTree>
    <p:extLst>
      <p:ext uri="{BB962C8B-B14F-4D97-AF65-F5344CB8AC3E}">
        <p14:creationId xmlns:p14="http://schemas.microsoft.com/office/powerpoint/2010/main" val="12821836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44118-0705-FA45-1DF0-3CD262472BF6}"/>
              </a:ext>
            </a:extLst>
          </p:cNvPr>
          <p:cNvSpPr>
            <a:spLocks noGrp="1"/>
          </p:cNvSpPr>
          <p:nvPr>
            <p:ph type="title"/>
          </p:nvPr>
        </p:nvSpPr>
        <p:spPr/>
        <p:txBody>
          <a:bodyPr/>
          <a:lstStyle/>
          <a:p>
            <a:r>
              <a:rPr lang="en-US" altLang="en-US" sz="3600" dirty="0"/>
              <a:t>The Role of the Aggregate Plan</a:t>
            </a:r>
            <a:endParaRPr lang="en-IN" dirty="0"/>
          </a:p>
        </p:txBody>
      </p:sp>
      <p:sp>
        <p:nvSpPr>
          <p:cNvPr id="4" name="Date Placeholder 3">
            <a:extLst>
              <a:ext uri="{FF2B5EF4-FFF2-40B4-BE49-F238E27FC236}">
                <a16:creationId xmlns:a16="http://schemas.microsoft.com/office/drawing/2014/main" id="{EA78C1A0-AAAE-40EE-0997-62107752CABA}"/>
              </a:ext>
            </a:extLst>
          </p:cNvPr>
          <p:cNvSpPr>
            <a:spLocks noGrp="1"/>
          </p:cNvSpPr>
          <p:nvPr>
            <p:ph type="dt" idx="10"/>
          </p:nvPr>
        </p:nvSpPr>
        <p:spPr/>
        <p:txBody>
          <a:bodyPr/>
          <a:lstStyle/>
          <a:p>
            <a:fld id="{D1FBB12C-6AF2-404C-B802-656F1A988312}" type="datetime1">
              <a:rPr lang="en-IN" smtClean="0"/>
              <a:pPr/>
              <a:t>02-12-2025</a:t>
            </a:fld>
            <a:endParaRPr lang="en-IN" dirty="0"/>
          </a:p>
        </p:txBody>
      </p:sp>
      <p:sp>
        <p:nvSpPr>
          <p:cNvPr id="5" name="Footer Placeholder 4">
            <a:extLst>
              <a:ext uri="{FF2B5EF4-FFF2-40B4-BE49-F238E27FC236}">
                <a16:creationId xmlns:a16="http://schemas.microsoft.com/office/drawing/2014/main" id="{9DBBF42A-6B29-0C03-0437-1E2F7070080C}"/>
              </a:ext>
            </a:extLst>
          </p:cNvPr>
          <p:cNvSpPr>
            <a:spLocks noGrp="1"/>
          </p:cNvSpPr>
          <p:nvPr>
            <p:ph type="ftr" idx="11"/>
          </p:nvPr>
        </p:nvSpPr>
        <p:spPr/>
        <p:txBody>
          <a:bodyPr/>
          <a:lstStyle/>
          <a:p>
            <a:r>
              <a:rPr lang="en-IN"/>
              <a:t>Aggregate Planning</a:t>
            </a:r>
            <a:endParaRPr lang="en-IN" dirty="0"/>
          </a:p>
        </p:txBody>
      </p:sp>
      <p:sp>
        <p:nvSpPr>
          <p:cNvPr id="6" name="Slide Number Placeholder 5">
            <a:extLst>
              <a:ext uri="{FF2B5EF4-FFF2-40B4-BE49-F238E27FC236}">
                <a16:creationId xmlns:a16="http://schemas.microsoft.com/office/drawing/2014/main" id="{27AA4293-95EA-3385-FD42-E9DA28A9C340}"/>
              </a:ext>
            </a:extLst>
          </p:cNvPr>
          <p:cNvSpPr>
            <a:spLocks noGrp="1"/>
          </p:cNvSpPr>
          <p:nvPr>
            <p:ph type="sldNum" idx="12"/>
          </p:nvPr>
        </p:nvSpPr>
        <p:spPr/>
        <p:txBody>
          <a:bodyPr/>
          <a:lstStyle/>
          <a:p>
            <a:fld id="{00000000-1234-1234-1234-123412341234}" type="slidenum">
              <a:rPr lang="en-US" smtClean="0"/>
              <a:pPr/>
              <a:t>9</a:t>
            </a:fld>
            <a:endParaRPr lang="en-US" dirty="0"/>
          </a:p>
        </p:txBody>
      </p:sp>
      <p:pic>
        <p:nvPicPr>
          <p:cNvPr id="7" name="Picture 6">
            <a:extLst>
              <a:ext uri="{FF2B5EF4-FFF2-40B4-BE49-F238E27FC236}">
                <a16:creationId xmlns:a16="http://schemas.microsoft.com/office/drawing/2014/main" id="{CD37B248-D998-A747-F76A-7B3CCD62F4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1560" y="1000397"/>
            <a:ext cx="8118617" cy="51558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3052611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61405-EE36-0BFC-6540-38EC1B79D1CE}"/>
              </a:ext>
            </a:extLst>
          </p:cNvPr>
          <p:cNvSpPr>
            <a:spLocks noGrp="1"/>
          </p:cNvSpPr>
          <p:nvPr>
            <p:ph type="title"/>
          </p:nvPr>
        </p:nvSpPr>
        <p:spPr/>
        <p:txBody>
          <a:bodyPr/>
          <a:lstStyle/>
          <a:p>
            <a:r>
              <a:rPr lang="en-US" dirty="0"/>
              <a:t>Objectives of Aggregate Planning</a:t>
            </a:r>
            <a:endParaRPr lang="en-IN" dirty="0"/>
          </a:p>
        </p:txBody>
      </p:sp>
      <p:sp>
        <p:nvSpPr>
          <p:cNvPr id="3" name="Text Placeholder 2">
            <a:extLst>
              <a:ext uri="{FF2B5EF4-FFF2-40B4-BE49-F238E27FC236}">
                <a16:creationId xmlns:a16="http://schemas.microsoft.com/office/drawing/2014/main" id="{2D9C472B-7703-E7A6-FC61-EE63A00F414B}"/>
              </a:ext>
            </a:extLst>
          </p:cNvPr>
          <p:cNvSpPr>
            <a:spLocks noGrp="1"/>
          </p:cNvSpPr>
          <p:nvPr>
            <p:ph type="body" idx="1"/>
          </p:nvPr>
        </p:nvSpPr>
        <p:spPr/>
        <p:txBody>
          <a:bodyPr>
            <a:normAutofit/>
          </a:bodyPr>
          <a:lstStyle/>
          <a:p>
            <a:pPr marL="342900" indent="-342900">
              <a:buFont typeface="Arial" panose="020B0604020202020204" pitchFamily="34" charset="0"/>
              <a:buChar char="•"/>
            </a:pPr>
            <a:r>
              <a:rPr lang="en-IN" dirty="0"/>
              <a:t>To establish a company-wide operation plan for allocating resources</a:t>
            </a:r>
          </a:p>
          <a:p>
            <a:pPr marL="342900" indent="-342900">
              <a:buFont typeface="Arial" panose="020B0604020202020204" pitchFamily="34" charset="0"/>
              <a:buChar char="•"/>
            </a:pPr>
            <a:r>
              <a:rPr lang="en-IN" dirty="0"/>
              <a:t>To develop an economic strategy for meeting demand.</a:t>
            </a:r>
          </a:p>
          <a:p>
            <a:pPr marL="342900" indent="-342900">
              <a:lnSpc>
                <a:spcPct val="90000"/>
              </a:lnSpc>
              <a:spcBef>
                <a:spcPct val="40000"/>
              </a:spcBef>
              <a:buFont typeface="Arial" panose="020B0604020202020204" pitchFamily="34" charset="0"/>
              <a:buChar char="•"/>
            </a:pPr>
            <a:r>
              <a:rPr lang="en-US" dirty="0"/>
              <a:t>To minimize cost over the planning period by adjusting</a:t>
            </a:r>
          </a:p>
          <a:p>
            <a:pPr marL="1054100" lvl="1" indent="-381000">
              <a:lnSpc>
                <a:spcPct val="90000"/>
              </a:lnSpc>
              <a:spcBef>
                <a:spcPct val="40000"/>
              </a:spcBef>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Production rates</a:t>
            </a:r>
          </a:p>
          <a:p>
            <a:pPr marL="1054100" lvl="1" indent="-381000">
              <a:lnSpc>
                <a:spcPct val="90000"/>
              </a:lnSpc>
              <a:spcBef>
                <a:spcPct val="40000"/>
              </a:spcBef>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Labor levels</a:t>
            </a:r>
          </a:p>
          <a:p>
            <a:pPr marL="1054100" lvl="1" indent="-381000">
              <a:lnSpc>
                <a:spcPct val="90000"/>
              </a:lnSpc>
              <a:spcBef>
                <a:spcPct val="40000"/>
              </a:spcBef>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Inventory levels</a:t>
            </a:r>
          </a:p>
          <a:p>
            <a:pPr marL="1054100" lvl="1" indent="-381000">
              <a:lnSpc>
                <a:spcPct val="90000"/>
              </a:lnSpc>
              <a:spcBef>
                <a:spcPct val="40000"/>
              </a:spcBef>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Overtime work</a:t>
            </a:r>
          </a:p>
          <a:p>
            <a:pPr marL="1054100" lvl="1" indent="-381000">
              <a:lnSpc>
                <a:spcPct val="90000"/>
              </a:lnSpc>
              <a:spcBef>
                <a:spcPct val="40000"/>
              </a:spcBef>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Subcontracting rates</a:t>
            </a:r>
          </a:p>
          <a:p>
            <a:pPr marL="1054100" lvl="1" indent="-381000">
              <a:lnSpc>
                <a:spcPct val="90000"/>
              </a:lnSpc>
              <a:spcBef>
                <a:spcPct val="40000"/>
              </a:spcBef>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Other controllable variables</a:t>
            </a:r>
          </a:p>
        </p:txBody>
      </p:sp>
      <p:sp>
        <p:nvSpPr>
          <p:cNvPr id="4" name="Date Placeholder 3">
            <a:extLst>
              <a:ext uri="{FF2B5EF4-FFF2-40B4-BE49-F238E27FC236}">
                <a16:creationId xmlns:a16="http://schemas.microsoft.com/office/drawing/2014/main" id="{F480770E-8B93-D05B-D7AF-B82C95C0A651}"/>
              </a:ext>
            </a:extLst>
          </p:cNvPr>
          <p:cNvSpPr>
            <a:spLocks noGrp="1"/>
          </p:cNvSpPr>
          <p:nvPr>
            <p:ph type="dt" idx="10"/>
          </p:nvPr>
        </p:nvSpPr>
        <p:spPr/>
        <p:txBody>
          <a:bodyPr/>
          <a:lstStyle/>
          <a:p>
            <a:fld id="{D1FBB12C-6AF2-404C-B802-656F1A988312}" type="datetime1">
              <a:rPr lang="en-IN" smtClean="0"/>
              <a:pPr/>
              <a:t>02-12-2025</a:t>
            </a:fld>
            <a:endParaRPr lang="en-IN" dirty="0"/>
          </a:p>
        </p:txBody>
      </p:sp>
      <p:sp>
        <p:nvSpPr>
          <p:cNvPr id="5" name="Footer Placeholder 4">
            <a:extLst>
              <a:ext uri="{FF2B5EF4-FFF2-40B4-BE49-F238E27FC236}">
                <a16:creationId xmlns:a16="http://schemas.microsoft.com/office/drawing/2014/main" id="{7913C600-A6C1-960F-3049-6CFFA7DEC223}"/>
              </a:ext>
            </a:extLst>
          </p:cNvPr>
          <p:cNvSpPr>
            <a:spLocks noGrp="1"/>
          </p:cNvSpPr>
          <p:nvPr>
            <p:ph type="ftr" idx="11"/>
          </p:nvPr>
        </p:nvSpPr>
        <p:spPr/>
        <p:txBody>
          <a:bodyPr/>
          <a:lstStyle/>
          <a:p>
            <a:r>
              <a:rPr lang="en-IN"/>
              <a:t>Aggregate Planning</a:t>
            </a:r>
            <a:endParaRPr lang="en-IN" dirty="0"/>
          </a:p>
        </p:txBody>
      </p:sp>
      <p:sp>
        <p:nvSpPr>
          <p:cNvPr id="6" name="Slide Number Placeholder 5">
            <a:extLst>
              <a:ext uri="{FF2B5EF4-FFF2-40B4-BE49-F238E27FC236}">
                <a16:creationId xmlns:a16="http://schemas.microsoft.com/office/drawing/2014/main" id="{4181E6A4-A350-9610-297B-692EE8FA22F9}"/>
              </a:ext>
            </a:extLst>
          </p:cNvPr>
          <p:cNvSpPr>
            <a:spLocks noGrp="1"/>
          </p:cNvSpPr>
          <p:nvPr>
            <p:ph type="sldNum" idx="12"/>
          </p:nvPr>
        </p:nvSpPr>
        <p:spPr/>
        <p:txBody>
          <a:bodyPr/>
          <a:lstStyle/>
          <a:p>
            <a:fld id="{00000000-1234-1234-1234-123412341234}" type="slidenum">
              <a:rPr lang="en-US" smtClean="0"/>
              <a:pPr/>
              <a:t>10</a:t>
            </a:fld>
            <a:endParaRPr lang="en-US" dirty="0"/>
          </a:p>
        </p:txBody>
      </p:sp>
    </p:spTree>
    <p:extLst>
      <p:ext uri="{BB962C8B-B14F-4D97-AF65-F5344CB8AC3E}">
        <p14:creationId xmlns:p14="http://schemas.microsoft.com/office/powerpoint/2010/main" val="127629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B5664-95A3-BC38-3F8C-F09CAC178B8C}"/>
              </a:ext>
            </a:extLst>
          </p:cNvPr>
          <p:cNvSpPr>
            <a:spLocks noGrp="1"/>
          </p:cNvSpPr>
          <p:nvPr>
            <p:ph type="title"/>
          </p:nvPr>
        </p:nvSpPr>
        <p:spPr/>
        <p:txBody>
          <a:bodyPr/>
          <a:lstStyle/>
          <a:p>
            <a:r>
              <a:rPr lang="en-US" kern="1200" dirty="0">
                <a:latin typeface="Times New Roman" panose="02020603050405020304" pitchFamily="18" charset="0"/>
                <a:ea typeface="+mj-ea"/>
                <a:cs typeface="+mj-cs"/>
              </a:rPr>
              <a:t>Characteristics of Aggregate Planning</a:t>
            </a:r>
            <a:endParaRPr lang="en-IN" dirty="0"/>
          </a:p>
        </p:txBody>
      </p:sp>
      <p:sp>
        <p:nvSpPr>
          <p:cNvPr id="3" name="Text Placeholder 2">
            <a:extLst>
              <a:ext uri="{FF2B5EF4-FFF2-40B4-BE49-F238E27FC236}">
                <a16:creationId xmlns:a16="http://schemas.microsoft.com/office/drawing/2014/main" id="{030BCF9E-9449-352B-F0C5-B6AEE205AA08}"/>
              </a:ext>
            </a:extLst>
          </p:cNvPr>
          <p:cNvSpPr>
            <a:spLocks noGrp="1"/>
          </p:cNvSpPr>
          <p:nvPr>
            <p:ph type="body" idx="1"/>
          </p:nvPr>
        </p:nvSpPr>
        <p:spPr/>
        <p:txBody>
          <a:bodyPr/>
          <a:lstStyle/>
          <a:p>
            <a:pPr marL="255651" lvl="0" indent="-255651" defTabSz="457200">
              <a:spcAft>
                <a:spcPct val="0"/>
              </a:spcAft>
              <a:buFont typeface="Arial" panose="020B0604020202020204" pitchFamily="34" charset="0"/>
              <a:buChar char="•"/>
              <a:tabLst/>
            </a:pPr>
            <a:r>
              <a:rPr lang="en-US" sz="2800" kern="1200" dirty="0">
                <a:solidFill>
                  <a:srgbClr val="000000"/>
                </a:solidFill>
                <a:ea typeface="+mn-ea"/>
              </a:rPr>
              <a:t>It specify the planning horizon (typically </a:t>
            </a:r>
            <a:r>
              <a:rPr lang="en-US" kern="1200" dirty="0">
                <a:solidFill>
                  <a:srgbClr val="000000"/>
                </a:solidFill>
                <a:ea typeface="+mn-ea"/>
              </a:rPr>
              <a:t>3</a:t>
            </a:r>
            <a:r>
              <a:rPr lang="en-US" sz="2800" kern="1200" dirty="0">
                <a:solidFill>
                  <a:srgbClr val="000000"/>
                </a:solidFill>
                <a:ea typeface="+mn-ea"/>
              </a:rPr>
              <a:t>-18 months)</a:t>
            </a:r>
          </a:p>
          <a:p>
            <a:pPr marL="255651" lvl="0" indent="-255651" defTabSz="457200">
              <a:spcAft>
                <a:spcPct val="0"/>
              </a:spcAft>
              <a:buFont typeface="Arial" panose="020B0604020202020204" pitchFamily="34" charset="0"/>
              <a:buChar char="•"/>
              <a:tabLst/>
            </a:pPr>
            <a:r>
              <a:rPr lang="en-US" sz="2800" kern="1200" dirty="0">
                <a:solidFill>
                  <a:srgbClr val="000000"/>
                </a:solidFill>
                <a:ea typeface="+mn-ea"/>
              </a:rPr>
              <a:t>It specify the duration of each period</a:t>
            </a:r>
          </a:p>
          <a:p>
            <a:pPr marL="255651" lvl="0" indent="-255651" defTabSz="457200">
              <a:spcAft>
                <a:spcPct val="0"/>
              </a:spcAft>
              <a:buFont typeface="Arial" panose="020B0604020202020204" pitchFamily="34" charset="0"/>
              <a:buChar char="•"/>
              <a:tabLst/>
            </a:pPr>
            <a:r>
              <a:rPr lang="en-US" sz="2800" kern="1200" dirty="0">
                <a:solidFill>
                  <a:srgbClr val="000000"/>
                </a:solidFill>
                <a:ea typeface="+mn-ea"/>
              </a:rPr>
              <a:t>It specify key information required to develop an aggregate plan</a:t>
            </a:r>
          </a:p>
        </p:txBody>
      </p:sp>
      <p:sp>
        <p:nvSpPr>
          <p:cNvPr id="4" name="Date Placeholder 3">
            <a:extLst>
              <a:ext uri="{FF2B5EF4-FFF2-40B4-BE49-F238E27FC236}">
                <a16:creationId xmlns:a16="http://schemas.microsoft.com/office/drawing/2014/main" id="{E90D8838-E615-3F92-6FC9-7D5DBA2FFF20}"/>
              </a:ext>
            </a:extLst>
          </p:cNvPr>
          <p:cNvSpPr>
            <a:spLocks noGrp="1"/>
          </p:cNvSpPr>
          <p:nvPr>
            <p:ph type="dt" idx="10"/>
          </p:nvPr>
        </p:nvSpPr>
        <p:spPr/>
        <p:txBody>
          <a:bodyPr/>
          <a:lstStyle/>
          <a:p>
            <a:fld id="{D1FBB12C-6AF2-404C-B802-656F1A988312}" type="datetime1">
              <a:rPr lang="en-IN" smtClean="0"/>
              <a:pPr/>
              <a:t>02-12-2025</a:t>
            </a:fld>
            <a:endParaRPr lang="en-IN" dirty="0"/>
          </a:p>
        </p:txBody>
      </p:sp>
      <p:sp>
        <p:nvSpPr>
          <p:cNvPr id="5" name="Footer Placeholder 4">
            <a:extLst>
              <a:ext uri="{FF2B5EF4-FFF2-40B4-BE49-F238E27FC236}">
                <a16:creationId xmlns:a16="http://schemas.microsoft.com/office/drawing/2014/main" id="{BD3450AE-8117-71E2-9462-0AF582BF2809}"/>
              </a:ext>
            </a:extLst>
          </p:cNvPr>
          <p:cNvSpPr>
            <a:spLocks noGrp="1"/>
          </p:cNvSpPr>
          <p:nvPr>
            <p:ph type="ftr" idx="11"/>
          </p:nvPr>
        </p:nvSpPr>
        <p:spPr/>
        <p:txBody>
          <a:bodyPr/>
          <a:lstStyle/>
          <a:p>
            <a:r>
              <a:rPr lang="en-IN"/>
              <a:t>Aggregate Planning</a:t>
            </a:r>
            <a:endParaRPr lang="en-IN" dirty="0"/>
          </a:p>
        </p:txBody>
      </p:sp>
      <p:sp>
        <p:nvSpPr>
          <p:cNvPr id="6" name="Slide Number Placeholder 5">
            <a:extLst>
              <a:ext uri="{FF2B5EF4-FFF2-40B4-BE49-F238E27FC236}">
                <a16:creationId xmlns:a16="http://schemas.microsoft.com/office/drawing/2014/main" id="{49A66551-2E74-5F13-3E6E-71BC1F545801}"/>
              </a:ext>
            </a:extLst>
          </p:cNvPr>
          <p:cNvSpPr>
            <a:spLocks noGrp="1"/>
          </p:cNvSpPr>
          <p:nvPr>
            <p:ph type="sldNum" idx="12"/>
          </p:nvPr>
        </p:nvSpPr>
        <p:spPr/>
        <p:txBody>
          <a:bodyPr/>
          <a:lstStyle/>
          <a:p>
            <a:fld id="{00000000-1234-1234-1234-123412341234}" type="slidenum">
              <a:rPr lang="en-US" smtClean="0"/>
              <a:pPr/>
              <a:t>11</a:t>
            </a:fld>
            <a:endParaRPr lang="en-US" dirty="0"/>
          </a:p>
        </p:txBody>
      </p:sp>
    </p:spTree>
    <p:extLst>
      <p:ext uri="{BB962C8B-B14F-4D97-AF65-F5344CB8AC3E}">
        <p14:creationId xmlns:p14="http://schemas.microsoft.com/office/powerpoint/2010/main" val="1564790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6A098-2C54-5E9E-4919-EF1C5F66C9A1}"/>
              </a:ext>
            </a:extLst>
          </p:cNvPr>
          <p:cNvSpPr>
            <a:spLocks noGrp="1"/>
          </p:cNvSpPr>
          <p:nvPr>
            <p:ph type="title"/>
          </p:nvPr>
        </p:nvSpPr>
        <p:spPr/>
        <p:txBody>
          <a:bodyPr/>
          <a:lstStyle/>
          <a:p>
            <a:r>
              <a:rPr lang="en-IN" dirty="0"/>
              <a:t>Sales and Operations Planning</a:t>
            </a:r>
            <a:br>
              <a:rPr lang="en-IN" dirty="0"/>
            </a:br>
            <a:endParaRPr lang="en-IN" dirty="0"/>
          </a:p>
        </p:txBody>
      </p:sp>
      <p:sp>
        <p:nvSpPr>
          <p:cNvPr id="4" name="Date Placeholder 3">
            <a:extLst>
              <a:ext uri="{FF2B5EF4-FFF2-40B4-BE49-F238E27FC236}">
                <a16:creationId xmlns:a16="http://schemas.microsoft.com/office/drawing/2014/main" id="{2E69BC0B-960D-A48D-5917-07A83831CC51}"/>
              </a:ext>
            </a:extLst>
          </p:cNvPr>
          <p:cNvSpPr>
            <a:spLocks noGrp="1"/>
          </p:cNvSpPr>
          <p:nvPr>
            <p:ph type="dt" idx="10"/>
          </p:nvPr>
        </p:nvSpPr>
        <p:spPr/>
        <p:txBody>
          <a:bodyPr/>
          <a:lstStyle/>
          <a:p>
            <a:fld id="{D1FBB12C-6AF2-404C-B802-656F1A988312}" type="datetime1">
              <a:rPr lang="en-IN" smtClean="0"/>
              <a:pPr/>
              <a:t>02-12-2025</a:t>
            </a:fld>
            <a:endParaRPr lang="en-IN" dirty="0"/>
          </a:p>
        </p:txBody>
      </p:sp>
      <p:sp>
        <p:nvSpPr>
          <p:cNvPr id="5" name="Footer Placeholder 4">
            <a:extLst>
              <a:ext uri="{FF2B5EF4-FFF2-40B4-BE49-F238E27FC236}">
                <a16:creationId xmlns:a16="http://schemas.microsoft.com/office/drawing/2014/main" id="{5FF82495-CE3E-F96F-812D-49E0D57B50E1}"/>
              </a:ext>
            </a:extLst>
          </p:cNvPr>
          <p:cNvSpPr>
            <a:spLocks noGrp="1"/>
          </p:cNvSpPr>
          <p:nvPr>
            <p:ph type="ftr" idx="11"/>
          </p:nvPr>
        </p:nvSpPr>
        <p:spPr/>
        <p:txBody>
          <a:bodyPr/>
          <a:lstStyle/>
          <a:p>
            <a:r>
              <a:rPr lang="en-IN"/>
              <a:t>Aggregate Planning</a:t>
            </a:r>
            <a:endParaRPr lang="en-IN" dirty="0"/>
          </a:p>
        </p:txBody>
      </p:sp>
      <p:sp>
        <p:nvSpPr>
          <p:cNvPr id="6" name="Slide Number Placeholder 5">
            <a:extLst>
              <a:ext uri="{FF2B5EF4-FFF2-40B4-BE49-F238E27FC236}">
                <a16:creationId xmlns:a16="http://schemas.microsoft.com/office/drawing/2014/main" id="{3576D83C-5583-E875-D6F5-B69520FE5748}"/>
              </a:ext>
            </a:extLst>
          </p:cNvPr>
          <p:cNvSpPr>
            <a:spLocks noGrp="1"/>
          </p:cNvSpPr>
          <p:nvPr>
            <p:ph type="sldNum" idx="12"/>
          </p:nvPr>
        </p:nvSpPr>
        <p:spPr/>
        <p:txBody>
          <a:bodyPr/>
          <a:lstStyle/>
          <a:p>
            <a:fld id="{00000000-1234-1234-1234-123412341234}" type="slidenum">
              <a:rPr lang="en-US" smtClean="0"/>
              <a:pPr/>
              <a:t>12</a:t>
            </a:fld>
            <a:endParaRPr lang="en-US" dirty="0"/>
          </a:p>
        </p:txBody>
      </p:sp>
      <p:pic>
        <p:nvPicPr>
          <p:cNvPr id="8" name="Picture 7">
            <a:extLst>
              <a:ext uri="{FF2B5EF4-FFF2-40B4-BE49-F238E27FC236}">
                <a16:creationId xmlns:a16="http://schemas.microsoft.com/office/drawing/2014/main" id="{55082B8C-8F03-4373-ED35-562E6BA2C6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0719" y="1000593"/>
            <a:ext cx="6650562" cy="511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386115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6D181-7B3A-883D-F32A-268E75DABAA2}"/>
              </a:ext>
            </a:extLst>
          </p:cNvPr>
          <p:cNvSpPr>
            <a:spLocks noGrp="1"/>
          </p:cNvSpPr>
          <p:nvPr>
            <p:ph type="title"/>
          </p:nvPr>
        </p:nvSpPr>
        <p:spPr>
          <a:xfrm>
            <a:off x="407446" y="136525"/>
            <a:ext cx="10762781" cy="685801"/>
          </a:xfrm>
        </p:spPr>
        <p:txBody>
          <a:bodyPr/>
          <a:lstStyle/>
          <a:p>
            <a:r>
              <a:rPr lang="en-US" dirty="0">
                <a:solidFill>
                  <a:schemeClr val="tx1"/>
                </a:solidFill>
              </a:rPr>
              <a:t>Aggregate Planning Inputs</a:t>
            </a:r>
            <a:endParaRPr lang="en-IN" dirty="0"/>
          </a:p>
        </p:txBody>
      </p:sp>
      <p:sp>
        <p:nvSpPr>
          <p:cNvPr id="4" name="Date Placeholder 3">
            <a:extLst>
              <a:ext uri="{FF2B5EF4-FFF2-40B4-BE49-F238E27FC236}">
                <a16:creationId xmlns:a16="http://schemas.microsoft.com/office/drawing/2014/main" id="{6CC63BEB-0D82-B492-D265-9017F1E492F1}"/>
              </a:ext>
            </a:extLst>
          </p:cNvPr>
          <p:cNvSpPr>
            <a:spLocks noGrp="1"/>
          </p:cNvSpPr>
          <p:nvPr>
            <p:ph type="dt" idx="10"/>
          </p:nvPr>
        </p:nvSpPr>
        <p:spPr/>
        <p:txBody>
          <a:bodyPr/>
          <a:lstStyle/>
          <a:p>
            <a:fld id="{D1FBB12C-6AF2-404C-B802-656F1A988312}" type="datetime1">
              <a:rPr lang="en-IN" smtClean="0"/>
              <a:pPr/>
              <a:t>02-12-2025</a:t>
            </a:fld>
            <a:endParaRPr lang="en-IN" dirty="0"/>
          </a:p>
        </p:txBody>
      </p:sp>
      <p:sp>
        <p:nvSpPr>
          <p:cNvPr id="5" name="Footer Placeholder 4">
            <a:extLst>
              <a:ext uri="{FF2B5EF4-FFF2-40B4-BE49-F238E27FC236}">
                <a16:creationId xmlns:a16="http://schemas.microsoft.com/office/drawing/2014/main" id="{6127E7C9-AD98-D3A9-08D6-8FDDAA61F09C}"/>
              </a:ext>
            </a:extLst>
          </p:cNvPr>
          <p:cNvSpPr>
            <a:spLocks noGrp="1"/>
          </p:cNvSpPr>
          <p:nvPr>
            <p:ph type="ftr" idx="11"/>
          </p:nvPr>
        </p:nvSpPr>
        <p:spPr/>
        <p:txBody>
          <a:bodyPr/>
          <a:lstStyle/>
          <a:p>
            <a:r>
              <a:rPr lang="en-IN"/>
              <a:t>Aggregate Planning</a:t>
            </a:r>
            <a:endParaRPr lang="en-IN" dirty="0"/>
          </a:p>
        </p:txBody>
      </p:sp>
      <p:sp>
        <p:nvSpPr>
          <p:cNvPr id="6" name="Slide Number Placeholder 5">
            <a:extLst>
              <a:ext uri="{FF2B5EF4-FFF2-40B4-BE49-F238E27FC236}">
                <a16:creationId xmlns:a16="http://schemas.microsoft.com/office/drawing/2014/main" id="{16A40467-AEDC-310F-CE95-C0F1F6510167}"/>
              </a:ext>
            </a:extLst>
          </p:cNvPr>
          <p:cNvSpPr>
            <a:spLocks noGrp="1"/>
          </p:cNvSpPr>
          <p:nvPr>
            <p:ph type="sldNum" idx="12"/>
          </p:nvPr>
        </p:nvSpPr>
        <p:spPr/>
        <p:txBody>
          <a:bodyPr/>
          <a:lstStyle/>
          <a:p>
            <a:fld id="{00000000-1234-1234-1234-123412341234}" type="slidenum">
              <a:rPr lang="en-US" smtClean="0"/>
              <a:pPr/>
              <a:t>13</a:t>
            </a:fld>
            <a:endParaRPr lang="en-US" dirty="0"/>
          </a:p>
        </p:txBody>
      </p:sp>
      <p:sp>
        <p:nvSpPr>
          <p:cNvPr id="7" name="Rectangle 6">
            <a:extLst>
              <a:ext uri="{FF2B5EF4-FFF2-40B4-BE49-F238E27FC236}">
                <a16:creationId xmlns:a16="http://schemas.microsoft.com/office/drawing/2014/main" id="{6F2C3C82-936E-CA92-1004-AC6812991467}"/>
              </a:ext>
            </a:extLst>
          </p:cNvPr>
          <p:cNvSpPr>
            <a:spLocks noGrp="1" noChangeArrowheads="1"/>
          </p:cNvSpPr>
          <p:nvPr/>
        </p:nvSpPr>
        <p:spPr bwMode="auto">
          <a:xfrm>
            <a:off x="520995" y="1104900"/>
            <a:ext cx="5575005"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57200"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Resources/ capacity constraints </a:t>
            </a:r>
          </a:p>
          <a:p>
            <a:pPr marL="800100" lvl="1"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Workforce </a:t>
            </a:r>
          </a:p>
          <a:p>
            <a:pPr marL="800100" lvl="1"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Facilities</a:t>
            </a:r>
            <a:endParaRPr lang="en-US" sz="2400" dirty="0">
              <a:solidFill>
                <a:srgbClr val="FF0000"/>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Demand forecast</a:t>
            </a:r>
          </a:p>
          <a:p>
            <a:pPr marL="457200"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Policy statements</a:t>
            </a:r>
          </a:p>
          <a:p>
            <a:pPr marL="800100" lvl="1"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Subcontracting</a:t>
            </a:r>
            <a:endParaRPr lang="en-US" sz="2400" dirty="0">
              <a:solidFill>
                <a:srgbClr val="FF0000"/>
              </a:solidFill>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Overtime</a:t>
            </a:r>
            <a:endParaRPr lang="en-US" sz="2400" dirty="0">
              <a:solidFill>
                <a:srgbClr val="FF0000"/>
              </a:solidFill>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Inventory levels</a:t>
            </a:r>
            <a:endParaRPr lang="en-US" sz="2400" dirty="0">
              <a:solidFill>
                <a:srgbClr val="FF0000"/>
              </a:solidFill>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Back orders</a:t>
            </a:r>
          </a:p>
        </p:txBody>
      </p:sp>
      <p:sp>
        <p:nvSpPr>
          <p:cNvPr id="8" name="Rectangle 7">
            <a:extLst>
              <a:ext uri="{FF2B5EF4-FFF2-40B4-BE49-F238E27FC236}">
                <a16:creationId xmlns:a16="http://schemas.microsoft.com/office/drawing/2014/main" id="{09EFA624-6C82-A6F8-3C8E-2C5B6D24BA33}"/>
              </a:ext>
            </a:extLst>
          </p:cNvPr>
          <p:cNvSpPr>
            <a:spLocks noGrp="1" noChangeArrowheads="1"/>
          </p:cNvSpPr>
          <p:nvPr/>
        </p:nvSpPr>
        <p:spPr bwMode="auto">
          <a:xfrm>
            <a:off x="6409855" y="1104900"/>
            <a:ext cx="5317858"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Costs/</a:t>
            </a:r>
            <a:r>
              <a:rPr lang="en-IN" sz="2800" b="1" dirty="0">
                <a:latin typeface="Times New Roman" panose="02020603050405020304" pitchFamily="18" charset="0"/>
                <a:cs typeface="Times New Roman" panose="02020603050405020304" pitchFamily="18" charset="0"/>
              </a:rPr>
              <a:t>financial constraints</a:t>
            </a:r>
            <a:endParaRPr lang="en-US" sz="2800" b="1"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Inventory carrying </a:t>
            </a:r>
            <a:r>
              <a:rPr lang="en-US" sz="2400" dirty="0">
                <a:solidFill>
                  <a:srgbClr val="FF0000"/>
                </a:solidFill>
                <a:latin typeface="Times New Roman" panose="02020603050405020304" pitchFamily="18" charset="0"/>
                <a:cs typeface="Times New Roman" panose="02020603050405020304" pitchFamily="18" charset="0"/>
              </a:rPr>
              <a:t>($/unit/period)</a:t>
            </a:r>
            <a:endParaRPr lang="en-US" sz="2400"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Backlog orders </a:t>
            </a:r>
            <a:r>
              <a:rPr lang="en-US" sz="2400" dirty="0">
                <a:solidFill>
                  <a:srgbClr val="FF0000"/>
                </a:solidFill>
                <a:latin typeface="Times New Roman" panose="02020603050405020304" pitchFamily="18" charset="0"/>
                <a:cs typeface="Times New Roman" panose="02020603050405020304" pitchFamily="18" charset="0"/>
              </a:rPr>
              <a:t>($/unit/period)</a:t>
            </a:r>
          </a:p>
          <a:p>
            <a:pPr marL="800100" lvl="1"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Hiring/firing </a:t>
            </a:r>
            <a:r>
              <a:rPr lang="en-US" sz="2400" dirty="0">
                <a:solidFill>
                  <a:srgbClr val="FF0000"/>
                </a:solidFill>
                <a:latin typeface="Times New Roman" panose="02020603050405020304" pitchFamily="18" charset="0"/>
                <a:cs typeface="Times New Roman" panose="02020603050405020304" pitchFamily="18" charset="0"/>
              </a:rPr>
              <a:t>($/labor)</a:t>
            </a:r>
          </a:p>
          <a:p>
            <a:pPr marL="800100" lvl="1"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Overtime </a:t>
            </a:r>
            <a:r>
              <a:rPr lang="en-US" sz="2400" dirty="0">
                <a:solidFill>
                  <a:srgbClr val="FF0000"/>
                </a:solidFill>
                <a:latin typeface="Times New Roman" panose="02020603050405020304" pitchFamily="18" charset="0"/>
                <a:cs typeface="Times New Roman" panose="02020603050405020304" pitchFamily="18" charset="0"/>
              </a:rPr>
              <a:t>($/</a:t>
            </a:r>
            <a:r>
              <a:rPr lang="en-US" sz="2400" dirty="0" err="1">
                <a:solidFill>
                  <a:srgbClr val="FF0000"/>
                </a:solidFill>
                <a:latin typeface="Times New Roman" panose="02020603050405020304" pitchFamily="18" charset="0"/>
                <a:cs typeface="Times New Roman" panose="02020603050405020304" pitchFamily="18" charset="0"/>
              </a:rPr>
              <a:t>hr</a:t>
            </a:r>
            <a:r>
              <a:rPr lang="en-US" sz="2400" dirty="0">
                <a:solidFill>
                  <a:srgbClr val="FF0000"/>
                </a:solidFill>
                <a:latin typeface="Times New Roman" panose="02020603050405020304" pitchFamily="18" charset="0"/>
                <a:cs typeface="Times New Roman" panose="02020603050405020304" pitchFamily="18" charset="0"/>
              </a:rPr>
              <a:t>)</a:t>
            </a:r>
          </a:p>
          <a:p>
            <a:pPr marL="800100" lvl="1"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Subcontracting </a:t>
            </a:r>
            <a:r>
              <a:rPr lang="en-US" sz="2400" dirty="0">
                <a:solidFill>
                  <a:srgbClr val="FF0000"/>
                </a:solidFill>
                <a:latin typeface="Times New Roman" panose="02020603050405020304" pitchFamily="18" charset="0"/>
                <a:cs typeface="Times New Roman" panose="02020603050405020304" pitchFamily="18" charset="0"/>
              </a:rPr>
              <a:t>($/</a:t>
            </a:r>
            <a:r>
              <a:rPr lang="en-US" sz="2400" dirty="0" err="1">
                <a:solidFill>
                  <a:srgbClr val="FF0000"/>
                </a:solidFill>
                <a:latin typeface="Times New Roman" panose="02020603050405020304" pitchFamily="18" charset="0"/>
                <a:cs typeface="Times New Roman" panose="02020603050405020304" pitchFamily="18" charset="0"/>
              </a:rPr>
              <a:t>hr</a:t>
            </a:r>
            <a:r>
              <a:rPr lang="en-US" sz="2400" dirty="0">
                <a:solidFill>
                  <a:srgbClr val="FF0000"/>
                </a:solidFill>
                <a:latin typeface="Times New Roman" panose="02020603050405020304" pitchFamily="18" charset="0"/>
                <a:cs typeface="Times New Roman" panose="02020603050405020304" pitchFamily="18" charset="0"/>
              </a:rPr>
              <a:t> or $/unit)</a:t>
            </a:r>
          </a:p>
          <a:p>
            <a:pPr marL="800100" lvl="1"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Stockout </a:t>
            </a:r>
            <a:r>
              <a:rPr lang="en-US" sz="2400" dirty="0">
                <a:solidFill>
                  <a:srgbClr val="FF0000"/>
                </a:solidFill>
                <a:latin typeface="Times New Roman" panose="02020603050405020304" pitchFamily="18" charset="0"/>
                <a:cs typeface="Times New Roman" panose="02020603050405020304" pitchFamily="18" charset="0"/>
              </a:rPr>
              <a:t>($/unit/period)</a:t>
            </a:r>
          </a:p>
          <a:p>
            <a:pPr marL="800100" lvl="1" indent="-342900">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1191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D360A-C07C-38D8-21BE-9D97D2D8A2C7}"/>
              </a:ext>
            </a:extLst>
          </p:cNvPr>
          <p:cNvSpPr>
            <a:spLocks noGrp="1"/>
          </p:cNvSpPr>
          <p:nvPr>
            <p:ph type="title"/>
          </p:nvPr>
        </p:nvSpPr>
        <p:spPr/>
        <p:txBody>
          <a:bodyPr/>
          <a:lstStyle/>
          <a:p>
            <a:r>
              <a:rPr lang="en-US" kern="1200" dirty="0">
                <a:latin typeface="Times New Roman" panose="02020603050405020304" pitchFamily="18" charset="0"/>
                <a:ea typeface="+mj-ea"/>
                <a:cs typeface="+mj-cs"/>
              </a:rPr>
              <a:t>Aggregate Planning Outputs</a:t>
            </a:r>
            <a:endParaRPr lang="en-IN" dirty="0"/>
          </a:p>
        </p:txBody>
      </p:sp>
      <p:sp>
        <p:nvSpPr>
          <p:cNvPr id="3" name="Text Placeholder 2">
            <a:extLst>
              <a:ext uri="{FF2B5EF4-FFF2-40B4-BE49-F238E27FC236}">
                <a16:creationId xmlns:a16="http://schemas.microsoft.com/office/drawing/2014/main" id="{926928FC-87BB-1748-41F6-DD30CE579180}"/>
              </a:ext>
            </a:extLst>
          </p:cNvPr>
          <p:cNvSpPr>
            <a:spLocks noGrp="1"/>
          </p:cNvSpPr>
          <p:nvPr>
            <p:ph type="body" idx="1"/>
          </p:nvPr>
        </p:nvSpPr>
        <p:spPr/>
        <p:txBody>
          <a:bodyPr/>
          <a:lstStyle/>
          <a:p>
            <a:pPr marL="255651" lvl="0" indent="-255651" defTabSz="457200">
              <a:spcAft>
                <a:spcPct val="0"/>
              </a:spcAft>
              <a:buFont typeface="Arial" panose="020B0604020202020204" pitchFamily="34" charset="0"/>
              <a:buChar char="•"/>
              <a:tabLst/>
            </a:pPr>
            <a:r>
              <a:rPr lang="en-US" sz="2800" kern="1200" dirty="0">
                <a:solidFill>
                  <a:srgbClr val="000000"/>
                </a:solidFill>
                <a:ea typeface="+mn-ea"/>
              </a:rPr>
              <a:t>Production quantity from regular time, overtime, and subcontracted time</a:t>
            </a:r>
          </a:p>
          <a:p>
            <a:pPr marL="255651" lvl="0" indent="-255651" defTabSz="457200">
              <a:spcAft>
                <a:spcPct val="0"/>
              </a:spcAft>
              <a:buFont typeface="Arial" panose="020B0604020202020204" pitchFamily="34" charset="0"/>
              <a:buChar char="•"/>
              <a:tabLst/>
            </a:pPr>
            <a:r>
              <a:rPr lang="en-US" sz="2800" kern="1200" dirty="0">
                <a:solidFill>
                  <a:srgbClr val="000000"/>
                </a:solidFill>
                <a:ea typeface="+mn-ea"/>
              </a:rPr>
              <a:t>Inventory held</a:t>
            </a:r>
          </a:p>
          <a:p>
            <a:pPr marL="255651" lvl="0" indent="-255651" defTabSz="457200">
              <a:spcAft>
                <a:spcPct val="0"/>
              </a:spcAft>
              <a:buFont typeface="Arial" panose="020B0604020202020204" pitchFamily="34" charset="0"/>
              <a:buChar char="•"/>
              <a:tabLst/>
            </a:pPr>
            <a:r>
              <a:rPr lang="en-US" sz="2800" kern="1200" dirty="0">
                <a:solidFill>
                  <a:srgbClr val="000000"/>
                </a:solidFill>
                <a:ea typeface="+mn-ea"/>
              </a:rPr>
              <a:t>Backlog/stockout quantity</a:t>
            </a:r>
          </a:p>
          <a:p>
            <a:pPr marL="255651" lvl="0" indent="-255651" defTabSz="457200">
              <a:spcAft>
                <a:spcPct val="0"/>
              </a:spcAft>
              <a:buFont typeface="Arial" panose="020B0604020202020204" pitchFamily="34" charset="0"/>
              <a:buChar char="•"/>
              <a:tabLst/>
            </a:pPr>
            <a:r>
              <a:rPr lang="en-US" sz="2800" kern="1200" dirty="0">
                <a:solidFill>
                  <a:srgbClr val="000000"/>
                </a:solidFill>
                <a:ea typeface="+mn-ea"/>
              </a:rPr>
              <a:t>Workforce hired/laid off</a:t>
            </a:r>
          </a:p>
          <a:p>
            <a:pPr marL="255651" lvl="0" indent="-255651" defTabSz="457200">
              <a:spcAft>
                <a:spcPct val="0"/>
              </a:spcAft>
              <a:buFont typeface="Arial" panose="020B0604020202020204" pitchFamily="34" charset="0"/>
              <a:buChar char="•"/>
              <a:tabLst/>
            </a:pPr>
            <a:r>
              <a:rPr lang="en-US" sz="2800" kern="1200" dirty="0">
                <a:solidFill>
                  <a:srgbClr val="000000"/>
                </a:solidFill>
                <a:ea typeface="+mn-ea"/>
              </a:rPr>
              <a:t>Machine capacity increase/decrease</a:t>
            </a:r>
          </a:p>
          <a:p>
            <a:pPr marL="255651" lvl="0" indent="-255651" defTabSz="457200">
              <a:spcAft>
                <a:spcPct val="0"/>
              </a:spcAft>
              <a:buFont typeface="Arial" panose="020B0604020202020204" pitchFamily="34" charset="0"/>
              <a:buChar char="•"/>
              <a:tabLst/>
            </a:pPr>
            <a:r>
              <a:rPr lang="en-US" sz="2800" kern="1200" dirty="0">
                <a:solidFill>
                  <a:srgbClr val="FF0000"/>
                </a:solidFill>
                <a:ea typeface="+mn-ea"/>
              </a:rPr>
              <a:t>A poor aggregate plan can result in lost sales, lost profits, excess inventory, or excess capacity</a:t>
            </a:r>
          </a:p>
        </p:txBody>
      </p:sp>
      <p:sp>
        <p:nvSpPr>
          <p:cNvPr id="4" name="Date Placeholder 3">
            <a:extLst>
              <a:ext uri="{FF2B5EF4-FFF2-40B4-BE49-F238E27FC236}">
                <a16:creationId xmlns:a16="http://schemas.microsoft.com/office/drawing/2014/main" id="{0BEDAB08-6C25-E596-51DC-AF18B7254964}"/>
              </a:ext>
            </a:extLst>
          </p:cNvPr>
          <p:cNvSpPr>
            <a:spLocks noGrp="1"/>
          </p:cNvSpPr>
          <p:nvPr>
            <p:ph type="dt" idx="10"/>
          </p:nvPr>
        </p:nvSpPr>
        <p:spPr/>
        <p:txBody>
          <a:bodyPr/>
          <a:lstStyle/>
          <a:p>
            <a:fld id="{D1FBB12C-6AF2-404C-B802-656F1A988312}" type="datetime1">
              <a:rPr lang="en-IN" smtClean="0"/>
              <a:pPr/>
              <a:t>02-12-2025</a:t>
            </a:fld>
            <a:endParaRPr lang="en-IN" dirty="0"/>
          </a:p>
        </p:txBody>
      </p:sp>
      <p:sp>
        <p:nvSpPr>
          <p:cNvPr id="5" name="Footer Placeholder 4">
            <a:extLst>
              <a:ext uri="{FF2B5EF4-FFF2-40B4-BE49-F238E27FC236}">
                <a16:creationId xmlns:a16="http://schemas.microsoft.com/office/drawing/2014/main" id="{D3600166-0015-94E7-BB13-DA173AFD01DE}"/>
              </a:ext>
            </a:extLst>
          </p:cNvPr>
          <p:cNvSpPr>
            <a:spLocks noGrp="1"/>
          </p:cNvSpPr>
          <p:nvPr>
            <p:ph type="ftr" idx="11"/>
          </p:nvPr>
        </p:nvSpPr>
        <p:spPr/>
        <p:txBody>
          <a:bodyPr/>
          <a:lstStyle/>
          <a:p>
            <a:r>
              <a:rPr lang="en-IN"/>
              <a:t>Aggregate Planning</a:t>
            </a:r>
            <a:endParaRPr lang="en-IN" dirty="0"/>
          </a:p>
        </p:txBody>
      </p:sp>
      <p:sp>
        <p:nvSpPr>
          <p:cNvPr id="6" name="Slide Number Placeholder 5">
            <a:extLst>
              <a:ext uri="{FF2B5EF4-FFF2-40B4-BE49-F238E27FC236}">
                <a16:creationId xmlns:a16="http://schemas.microsoft.com/office/drawing/2014/main" id="{8E4B8967-CE2C-6D12-A33E-017C047F8814}"/>
              </a:ext>
            </a:extLst>
          </p:cNvPr>
          <p:cNvSpPr>
            <a:spLocks noGrp="1"/>
          </p:cNvSpPr>
          <p:nvPr>
            <p:ph type="sldNum" idx="12"/>
          </p:nvPr>
        </p:nvSpPr>
        <p:spPr/>
        <p:txBody>
          <a:bodyPr/>
          <a:lstStyle/>
          <a:p>
            <a:fld id="{00000000-1234-1234-1234-123412341234}" type="slidenum">
              <a:rPr lang="en-US" smtClean="0"/>
              <a:pPr/>
              <a:t>14</a:t>
            </a:fld>
            <a:endParaRPr lang="en-US" dirty="0"/>
          </a:p>
        </p:txBody>
      </p:sp>
    </p:spTree>
    <p:extLst>
      <p:ext uri="{BB962C8B-B14F-4D97-AF65-F5344CB8AC3E}">
        <p14:creationId xmlns:p14="http://schemas.microsoft.com/office/powerpoint/2010/main" val="3005975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0AE2A-C3FF-0BDD-D58E-82FC500D5BA8}"/>
              </a:ext>
            </a:extLst>
          </p:cNvPr>
          <p:cNvSpPr>
            <a:spLocks noGrp="1"/>
          </p:cNvSpPr>
          <p:nvPr>
            <p:ph type="title"/>
          </p:nvPr>
        </p:nvSpPr>
        <p:spPr/>
        <p:txBody>
          <a:bodyPr/>
          <a:lstStyle/>
          <a:p>
            <a:r>
              <a:rPr lang="en-IN" dirty="0"/>
              <a:t>Quick Review</a:t>
            </a:r>
          </a:p>
        </p:txBody>
      </p:sp>
      <p:sp>
        <p:nvSpPr>
          <p:cNvPr id="3" name="Text Placeholder 2">
            <a:extLst>
              <a:ext uri="{FF2B5EF4-FFF2-40B4-BE49-F238E27FC236}">
                <a16:creationId xmlns:a16="http://schemas.microsoft.com/office/drawing/2014/main" id="{0F082CDF-9A62-D740-201F-41040E7C6C69}"/>
              </a:ext>
            </a:extLst>
          </p:cNvPr>
          <p:cNvSpPr>
            <a:spLocks noGrp="1"/>
          </p:cNvSpPr>
          <p:nvPr>
            <p:ph type="body" idx="1"/>
          </p:nvPr>
        </p:nvSpPr>
        <p:spPr>
          <a:xfrm>
            <a:off x="2929890" y="1725026"/>
            <a:ext cx="3433034" cy="685801"/>
          </a:xfrm>
          <a:ln>
            <a:solidFill>
              <a:schemeClr val="tx1"/>
            </a:solidFill>
          </a:ln>
        </p:spPr>
        <p:txBody>
          <a:bodyPr>
            <a:normAutofit lnSpcReduction="10000"/>
          </a:bodyPr>
          <a:lstStyle/>
          <a:p>
            <a:pPr marL="114300" indent="0" algn="ctr">
              <a:buNone/>
            </a:pPr>
            <a:r>
              <a:rPr lang="en-IN" sz="3600" b="1" dirty="0">
                <a:solidFill>
                  <a:srgbClr val="FF0000"/>
                </a:solidFill>
              </a:rPr>
              <a:t>True or False</a:t>
            </a:r>
          </a:p>
        </p:txBody>
      </p:sp>
      <p:sp>
        <p:nvSpPr>
          <p:cNvPr id="4" name="Date Placeholder 3">
            <a:extLst>
              <a:ext uri="{FF2B5EF4-FFF2-40B4-BE49-F238E27FC236}">
                <a16:creationId xmlns:a16="http://schemas.microsoft.com/office/drawing/2014/main" id="{45B0FCAC-B3FB-F4D7-14FE-C9A22C5A71BB}"/>
              </a:ext>
            </a:extLst>
          </p:cNvPr>
          <p:cNvSpPr>
            <a:spLocks noGrp="1"/>
          </p:cNvSpPr>
          <p:nvPr>
            <p:ph type="dt" idx="10"/>
          </p:nvPr>
        </p:nvSpPr>
        <p:spPr/>
        <p:txBody>
          <a:bodyPr/>
          <a:lstStyle/>
          <a:p>
            <a:fld id="{D1FBB12C-6AF2-404C-B802-656F1A988312}" type="datetime1">
              <a:rPr lang="en-IN" smtClean="0"/>
              <a:pPr/>
              <a:t>02-12-2025</a:t>
            </a:fld>
            <a:endParaRPr lang="en-IN" dirty="0"/>
          </a:p>
        </p:txBody>
      </p:sp>
      <p:sp>
        <p:nvSpPr>
          <p:cNvPr id="5" name="Footer Placeholder 4">
            <a:extLst>
              <a:ext uri="{FF2B5EF4-FFF2-40B4-BE49-F238E27FC236}">
                <a16:creationId xmlns:a16="http://schemas.microsoft.com/office/drawing/2014/main" id="{234DF968-C6D0-DE34-A5DC-DE788794A554}"/>
              </a:ext>
            </a:extLst>
          </p:cNvPr>
          <p:cNvSpPr>
            <a:spLocks noGrp="1"/>
          </p:cNvSpPr>
          <p:nvPr>
            <p:ph type="ftr" idx="11"/>
          </p:nvPr>
        </p:nvSpPr>
        <p:spPr/>
        <p:txBody>
          <a:bodyPr/>
          <a:lstStyle/>
          <a:p>
            <a:r>
              <a:rPr lang="en-IN" dirty="0"/>
              <a:t>Aggregate Planning</a:t>
            </a:r>
          </a:p>
        </p:txBody>
      </p:sp>
      <p:sp>
        <p:nvSpPr>
          <p:cNvPr id="6" name="Slide Number Placeholder 5">
            <a:extLst>
              <a:ext uri="{FF2B5EF4-FFF2-40B4-BE49-F238E27FC236}">
                <a16:creationId xmlns:a16="http://schemas.microsoft.com/office/drawing/2014/main" id="{18BFC000-1886-70BE-55E3-3345CE7231F0}"/>
              </a:ext>
            </a:extLst>
          </p:cNvPr>
          <p:cNvSpPr>
            <a:spLocks noGrp="1"/>
          </p:cNvSpPr>
          <p:nvPr>
            <p:ph type="sldNum" idx="12"/>
          </p:nvPr>
        </p:nvSpPr>
        <p:spPr/>
        <p:txBody>
          <a:bodyPr/>
          <a:lstStyle/>
          <a:p>
            <a:fld id="{00000000-1234-1234-1234-123412341234}" type="slidenum">
              <a:rPr lang="en-US" smtClean="0"/>
              <a:pPr/>
              <a:t>15</a:t>
            </a:fld>
            <a:endParaRPr lang="en-US" dirty="0"/>
          </a:p>
        </p:txBody>
      </p:sp>
      <p:sp>
        <p:nvSpPr>
          <p:cNvPr id="7" name="Text Placeholder 2">
            <a:extLst>
              <a:ext uri="{FF2B5EF4-FFF2-40B4-BE49-F238E27FC236}">
                <a16:creationId xmlns:a16="http://schemas.microsoft.com/office/drawing/2014/main" id="{EB6EBBDD-8016-0BDE-2DD6-646C2D691877}"/>
              </a:ext>
            </a:extLst>
          </p:cNvPr>
          <p:cNvSpPr txBox="1">
            <a:spLocks/>
          </p:cNvSpPr>
          <p:nvPr/>
        </p:nvSpPr>
        <p:spPr>
          <a:xfrm>
            <a:off x="2137410" y="2583093"/>
            <a:ext cx="5452109" cy="571588"/>
          </a:xfrm>
          <a:prstGeom prst="rect">
            <a:avLst/>
          </a:prstGeom>
          <a:noFill/>
          <a:ln>
            <a:solidFill>
              <a:schemeClr val="tx1"/>
            </a:solid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Times New Roman" panose="02020603050405020304" pitchFamily="18" charset="0"/>
                <a:ea typeface="Century Gothic"/>
                <a:cs typeface="Times New Roman" panose="02020603050405020304" pitchFamily="18" charset="0"/>
                <a:sym typeface="Century Gothic"/>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lgn="ctr">
              <a:buFont typeface="Arial"/>
              <a:buNone/>
            </a:pPr>
            <a:r>
              <a:rPr lang="en-IN" sz="3200" b="1" dirty="0">
                <a:solidFill>
                  <a:srgbClr val="00B050"/>
                </a:solidFill>
              </a:rPr>
              <a:t>Correct Answer: True</a:t>
            </a:r>
          </a:p>
        </p:txBody>
      </p:sp>
      <p:sp>
        <p:nvSpPr>
          <p:cNvPr id="18" name="TextBox 17">
            <a:extLst>
              <a:ext uri="{FF2B5EF4-FFF2-40B4-BE49-F238E27FC236}">
                <a16:creationId xmlns:a16="http://schemas.microsoft.com/office/drawing/2014/main" id="{374EDA02-5EE2-1F34-BBC1-A35456D82EC8}"/>
              </a:ext>
            </a:extLst>
          </p:cNvPr>
          <p:cNvSpPr txBox="1"/>
          <p:nvPr/>
        </p:nvSpPr>
        <p:spPr>
          <a:xfrm>
            <a:off x="497439" y="3967844"/>
            <a:ext cx="10762781" cy="1384995"/>
          </a:xfrm>
          <a:prstGeom prst="rect">
            <a:avLst/>
          </a:prstGeom>
          <a:noFill/>
          <a:ln>
            <a:solidFill>
              <a:schemeClr val="tx1"/>
            </a:solidFill>
          </a:ln>
        </p:spPr>
        <p:txBody>
          <a:bodyPr wrap="square">
            <a:spAutoFit/>
          </a:bodyPr>
          <a:lstStyle/>
          <a:p>
            <a:pPr algn="ctr"/>
            <a:r>
              <a:rPr lang="en-US" sz="2800" b="0" i="0" u="none" strike="noStrike" baseline="0" dirty="0">
                <a:solidFill>
                  <a:srgbClr val="000000"/>
                </a:solidFill>
                <a:latin typeface="Times New Roman" panose="02020603050405020304" pitchFamily="18" charset="0"/>
              </a:rPr>
              <a:t>The goal of aggregate planning is to achieve a production plan that attempts to balance the organization's resources and meet expected demand.  </a:t>
            </a:r>
            <a:endParaRPr lang="en-IN" sz="2800" dirty="0"/>
          </a:p>
        </p:txBody>
      </p:sp>
    </p:spTree>
    <p:extLst>
      <p:ext uri="{BB962C8B-B14F-4D97-AF65-F5344CB8AC3E}">
        <p14:creationId xmlns:p14="http://schemas.microsoft.com/office/powerpoint/2010/main" val="278406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0AE2A-C3FF-0BDD-D58E-82FC500D5BA8}"/>
              </a:ext>
            </a:extLst>
          </p:cNvPr>
          <p:cNvSpPr>
            <a:spLocks noGrp="1"/>
          </p:cNvSpPr>
          <p:nvPr>
            <p:ph type="title"/>
          </p:nvPr>
        </p:nvSpPr>
        <p:spPr/>
        <p:txBody>
          <a:bodyPr/>
          <a:lstStyle/>
          <a:p>
            <a:r>
              <a:rPr lang="en-IN" dirty="0"/>
              <a:t>Quick Review</a:t>
            </a:r>
          </a:p>
        </p:txBody>
      </p:sp>
      <p:sp>
        <p:nvSpPr>
          <p:cNvPr id="3" name="Text Placeholder 2">
            <a:extLst>
              <a:ext uri="{FF2B5EF4-FFF2-40B4-BE49-F238E27FC236}">
                <a16:creationId xmlns:a16="http://schemas.microsoft.com/office/drawing/2014/main" id="{0F082CDF-9A62-D740-201F-41040E7C6C69}"/>
              </a:ext>
            </a:extLst>
          </p:cNvPr>
          <p:cNvSpPr>
            <a:spLocks noGrp="1"/>
          </p:cNvSpPr>
          <p:nvPr>
            <p:ph type="body" idx="1"/>
          </p:nvPr>
        </p:nvSpPr>
        <p:spPr>
          <a:xfrm>
            <a:off x="2929890" y="1725026"/>
            <a:ext cx="3433034" cy="685801"/>
          </a:xfrm>
          <a:ln>
            <a:solidFill>
              <a:schemeClr val="tx1"/>
            </a:solidFill>
          </a:ln>
        </p:spPr>
        <p:txBody>
          <a:bodyPr>
            <a:normAutofit lnSpcReduction="10000"/>
          </a:bodyPr>
          <a:lstStyle/>
          <a:p>
            <a:pPr marL="114300" indent="0" algn="ctr">
              <a:buNone/>
            </a:pPr>
            <a:r>
              <a:rPr lang="en-IN" sz="3600" b="1" dirty="0">
                <a:solidFill>
                  <a:srgbClr val="FF0000"/>
                </a:solidFill>
              </a:rPr>
              <a:t>True or False</a:t>
            </a:r>
          </a:p>
        </p:txBody>
      </p:sp>
      <p:sp>
        <p:nvSpPr>
          <p:cNvPr id="4" name="Date Placeholder 3">
            <a:extLst>
              <a:ext uri="{FF2B5EF4-FFF2-40B4-BE49-F238E27FC236}">
                <a16:creationId xmlns:a16="http://schemas.microsoft.com/office/drawing/2014/main" id="{45B0FCAC-B3FB-F4D7-14FE-C9A22C5A71BB}"/>
              </a:ext>
            </a:extLst>
          </p:cNvPr>
          <p:cNvSpPr>
            <a:spLocks noGrp="1"/>
          </p:cNvSpPr>
          <p:nvPr>
            <p:ph type="dt" idx="10"/>
          </p:nvPr>
        </p:nvSpPr>
        <p:spPr/>
        <p:txBody>
          <a:bodyPr/>
          <a:lstStyle/>
          <a:p>
            <a:fld id="{D1FBB12C-6AF2-404C-B802-656F1A988312}" type="datetime1">
              <a:rPr lang="en-IN" smtClean="0"/>
              <a:pPr/>
              <a:t>02-12-2025</a:t>
            </a:fld>
            <a:endParaRPr lang="en-IN" dirty="0"/>
          </a:p>
        </p:txBody>
      </p:sp>
      <p:sp>
        <p:nvSpPr>
          <p:cNvPr id="5" name="Footer Placeholder 4">
            <a:extLst>
              <a:ext uri="{FF2B5EF4-FFF2-40B4-BE49-F238E27FC236}">
                <a16:creationId xmlns:a16="http://schemas.microsoft.com/office/drawing/2014/main" id="{234DF968-C6D0-DE34-A5DC-DE788794A554}"/>
              </a:ext>
            </a:extLst>
          </p:cNvPr>
          <p:cNvSpPr>
            <a:spLocks noGrp="1"/>
          </p:cNvSpPr>
          <p:nvPr>
            <p:ph type="ftr" idx="11"/>
          </p:nvPr>
        </p:nvSpPr>
        <p:spPr/>
        <p:txBody>
          <a:bodyPr/>
          <a:lstStyle/>
          <a:p>
            <a:r>
              <a:rPr lang="en-IN" dirty="0"/>
              <a:t>Aggregate Planning</a:t>
            </a:r>
          </a:p>
        </p:txBody>
      </p:sp>
      <p:sp>
        <p:nvSpPr>
          <p:cNvPr id="6" name="Slide Number Placeholder 5">
            <a:extLst>
              <a:ext uri="{FF2B5EF4-FFF2-40B4-BE49-F238E27FC236}">
                <a16:creationId xmlns:a16="http://schemas.microsoft.com/office/drawing/2014/main" id="{18BFC000-1886-70BE-55E3-3345CE7231F0}"/>
              </a:ext>
            </a:extLst>
          </p:cNvPr>
          <p:cNvSpPr>
            <a:spLocks noGrp="1"/>
          </p:cNvSpPr>
          <p:nvPr>
            <p:ph type="sldNum" idx="12"/>
          </p:nvPr>
        </p:nvSpPr>
        <p:spPr/>
        <p:txBody>
          <a:bodyPr/>
          <a:lstStyle/>
          <a:p>
            <a:fld id="{00000000-1234-1234-1234-123412341234}" type="slidenum">
              <a:rPr lang="en-US" smtClean="0"/>
              <a:pPr/>
              <a:t>16</a:t>
            </a:fld>
            <a:endParaRPr lang="en-US" dirty="0"/>
          </a:p>
        </p:txBody>
      </p:sp>
      <p:sp>
        <p:nvSpPr>
          <p:cNvPr id="7" name="Text Placeholder 2">
            <a:extLst>
              <a:ext uri="{FF2B5EF4-FFF2-40B4-BE49-F238E27FC236}">
                <a16:creationId xmlns:a16="http://schemas.microsoft.com/office/drawing/2014/main" id="{EB6EBBDD-8016-0BDE-2DD6-646C2D691877}"/>
              </a:ext>
            </a:extLst>
          </p:cNvPr>
          <p:cNvSpPr txBox="1">
            <a:spLocks/>
          </p:cNvSpPr>
          <p:nvPr/>
        </p:nvSpPr>
        <p:spPr>
          <a:xfrm>
            <a:off x="2137410" y="2583093"/>
            <a:ext cx="5452109" cy="571588"/>
          </a:xfrm>
          <a:prstGeom prst="rect">
            <a:avLst/>
          </a:prstGeom>
          <a:noFill/>
          <a:ln>
            <a:solidFill>
              <a:schemeClr val="tx1"/>
            </a:solid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Times New Roman" panose="02020603050405020304" pitchFamily="18" charset="0"/>
                <a:ea typeface="Century Gothic"/>
                <a:cs typeface="Times New Roman" panose="02020603050405020304" pitchFamily="18" charset="0"/>
                <a:sym typeface="Century Gothic"/>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lgn="ctr">
              <a:buFont typeface="Arial"/>
              <a:buNone/>
            </a:pPr>
            <a:r>
              <a:rPr lang="en-IN" sz="3200" b="1" dirty="0">
                <a:solidFill>
                  <a:srgbClr val="00B050"/>
                </a:solidFill>
              </a:rPr>
              <a:t>Correct Answer: True</a:t>
            </a:r>
          </a:p>
        </p:txBody>
      </p:sp>
      <p:sp>
        <p:nvSpPr>
          <p:cNvPr id="18" name="TextBox 17">
            <a:extLst>
              <a:ext uri="{FF2B5EF4-FFF2-40B4-BE49-F238E27FC236}">
                <a16:creationId xmlns:a16="http://schemas.microsoft.com/office/drawing/2014/main" id="{374EDA02-5EE2-1F34-BBC1-A35456D82EC8}"/>
              </a:ext>
            </a:extLst>
          </p:cNvPr>
          <p:cNvSpPr txBox="1"/>
          <p:nvPr/>
        </p:nvSpPr>
        <p:spPr>
          <a:xfrm>
            <a:off x="497439" y="3967844"/>
            <a:ext cx="10762781" cy="954107"/>
          </a:xfrm>
          <a:prstGeom prst="rect">
            <a:avLst/>
          </a:prstGeom>
          <a:noFill/>
          <a:ln>
            <a:solidFill>
              <a:schemeClr val="tx1"/>
            </a:solidFill>
          </a:ln>
        </p:spPr>
        <p:txBody>
          <a:bodyPr wrap="square">
            <a:spAutoFit/>
          </a:bodyPr>
          <a:lstStyle/>
          <a:p>
            <a:pPr algn="ctr"/>
            <a:r>
              <a:rPr lang="en-US" sz="2800" b="0" i="0" u="none" strike="noStrike" baseline="0" dirty="0">
                <a:solidFill>
                  <a:srgbClr val="000000"/>
                </a:solidFill>
                <a:latin typeface="Times New Roman" panose="02020603050405020304" pitchFamily="18" charset="0"/>
              </a:rPr>
              <a:t>Ultimately the overriding factor in choosing a strategy in aggregate planning is overall cost. </a:t>
            </a:r>
            <a:endParaRPr lang="en-IN" sz="2800" dirty="0"/>
          </a:p>
        </p:txBody>
      </p:sp>
    </p:spTree>
    <p:extLst>
      <p:ext uri="{BB962C8B-B14F-4D97-AF65-F5344CB8AC3E}">
        <p14:creationId xmlns:p14="http://schemas.microsoft.com/office/powerpoint/2010/main" val="1387889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0AE2A-C3FF-0BDD-D58E-82FC500D5BA8}"/>
              </a:ext>
            </a:extLst>
          </p:cNvPr>
          <p:cNvSpPr>
            <a:spLocks noGrp="1"/>
          </p:cNvSpPr>
          <p:nvPr>
            <p:ph type="title"/>
          </p:nvPr>
        </p:nvSpPr>
        <p:spPr/>
        <p:txBody>
          <a:bodyPr/>
          <a:lstStyle/>
          <a:p>
            <a:r>
              <a:rPr lang="en-IN" dirty="0"/>
              <a:t>Quick Review</a:t>
            </a:r>
          </a:p>
        </p:txBody>
      </p:sp>
      <p:sp>
        <p:nvSpPr>
          <p:cNvPr id="3" name="Text Placeholder 2">
            <a:extLst>
              <a:ext uri="{FF2B5EF4-FFF2-40B4-BE49-F238E27FC236}">
                <a16:creationId xmlns:a16="http://schemas.microsoft.com/office/drawing/2014/main" id="{0F082CDF-9A62-D740-201F-41040E7C6C69}"/>
              </a:ext>
            </a:extLst>
          </p:cNvPr>
          <p:cNvSpPr>
            <a:spLocks noGrp="1"/>
          </p:cNvSpPr>
          <p:nvPr>
            <p:ph type="body" idx="1"/>
          </p:nvPr>
        </p:nvSpPr>
        <p:spPr>
          <a:xfrm>
            <a:off x="2929890" y="1725026"/>
            <a:ext cx="3433034" cy="685801"/>
          </a:xfrm>
          <a:ln>
            <a:solidFill>
              <a:schemeClr val="tx1"/>
            </a:solidFill>
          </a:ln>
        </p:spPr>
        <p:txBody>
          <a:bodyPr>
            <a:normAutofit lnSpcReduction="10000"/>
          </a:bodyPr>
          <a:lstStyle/>
          <a:p>
            <a:pPr marL="114300" indent="0" algn="ctr">
              <a:buNone/>
            </a:pPr>
            <a:r>
              <a:rPr lang="en-IN" sz="3600" b="1" dirty="0">
                <a:solidFill>
                  <a:srgbClr val="FF0000"/>
                </a:solidFill>
              </a:rPr>
              <a:t>MCQ</a:t>
            </a:r>
          </a:p>
        </p:txBody>
      </p:sp>
      <p:sp>
        <p:nvSpPr>
          <p:cNvPr id="4" name="Date Placeholder 3">
            <a:extLst>
              <a:ext uri="{FF2B5EF4-FFF2-40B4-BE49-F238E27FC236}">
                <a16:creationId xmlns:a16="http://schemas.microsoft.com/office/drawing/2014/main" id="{45B0FCAC-B3FB-F4D7-14FE-C9A22C5A71BB}"/>
              </a:ext>
            </a:extLst>
          </p:cNvPr>
          <p:cNvSpPr>
            <a:spLocks noGrp="1"/>
          </p:cNvSpPr>
          <p:nvPr>
            <p:ph type="dt" idx="10"/>
          </p:nvPr>
        </p:nvSpPr>
        <p:spPr/>
        <p:txBody>
          <a:bodyPr/>
          <a:lstStyle/>
          <a:p>
            <a:fld id="{D1FBB12C-6AF2-404C-B802-656F1A988312}" type="datetime1">
              <a:rPr lang="en-IN" smtClean="0"/>
              <a:pPr/>
              <a:t>02-12-2025</a:t>
            </a:fld>
            <a:endParaRPr lang="en-IN" dirty="0"/>
          </a:p>
        </p:txBody>
      </p:sp>
      <p:sp>
        <p:nvSpPr>
          <p:cNvPr id="5" name="Footer Placeholder 4">
            <a:extLst>
              <a:ext uri="{FF2B5EF4-FFF2-40B4-BE49-F238E27FC236}">
                <a16:creationId xmlns:a16="http://schemas.microsoft.com/office/drawing/2014/main" id="{234DF968-C6D0-DE34-A5DC-DE788794A554}"/>
              </a:ext>
            </a:extLst>
          </p:cNvPr>
          <p:cNvSpPr>
            <a:spLocks noGrp="1"/>
          </p:cNvSpPr>
          <p:nvPr>
            <p:ph type="ftr" idx="11"/>
          </p:nvPr>
        </p:nvSpPr>
        <p:spPr/>
        <p:txBody>
          <a:bodyPr/>
          <a:lstStyle/>
          <a:p>
            <a:r>
              <a:rPr lang="en-IN" dirty="0"/>
              <a:t>Aggregate Planning</a:t>
            </a:r>
          </a:p>
        </p:txBody>
      </p:sp>
      <p:sp>
        <p:nvSpPr>
          <p:cNvPr id="6" name="Slide Number Placeholder 5">
            <a:extLst>
              <a:ext uri="{FF2B5EF4-FFF2-40B4-BE49-F238E27FC236}">
                <a16:creationId xmlns:a16="http://schemas.microsoft.com/office/drawing/2014/main" id="{18BFC000-1886-70BE-55E3-3345CE7231F0}"/>
              </a:ext>
            </a:extLst>
          </p:cNvPr>
          <p:cNvSpPr>
            <a:spLocks noGrp="1"/>
          </p:cNvSpPr>
          <p:nvPr>
            <p:ph type="sldNum" idx="12"/>
          </p:nvPr>
        </p:nvSpPr>
        <p:spPr/>
        <p:txBody>
          <a:bodyPr/>
          <a:lstStyle/>
          <a:p>
            <a:fld id="{00000000-1234-1234-1234-123412341234}" type="slidenum">
              <a:rPr lang="en-US" smtClean="0"/>
              <a:pPr/>
              <a:t>17</a:t>
            </a:fld>
            <a:endParaRPr lang="en-US" dirty="0"/>
          </a:p>
        </p:txBody>
      </p:sp>
      <p:sp>
        <p:nvSpPr>
          <p:cNvPr id="7" name="Text Placeholder 2">
            <a:extLst>
              <a:ext uri="{FF2B5EF4-FFF2-40B4-BE49-F238E27FC236}">
                <a16:creationId xmlns:a16="http://schemas.microsoft.com/office/drawing/2014/main" id="{EB6EBBDD-8016-0BDE-2DD6-646C2D691877}"/>
              </a:ext>
            </a:extLst>
          </p:cNvPr>
          <p:cNvSpPr txBox="1">
            <a:spLocks/>
          </p:cNvSpPr>
          <p:nvPr/>
        </p:nvSpPr>
        <p:spPr>
          <a:xfrm>
            <a:off x="2137410" y="2583093"/>
            <a:ext cx="5452109" cy="571588"/>
          </a:xfrm>
          <a:prstGeom prst="rect">
            <a:avLst/>
          </a:prstGeom>
          <a:noFill/>
          <a:ln>
            <a:solidFill>
              <a:schemeClr val="tx1"/>
            </a:solid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Times New Roman" panose="02020603050405020304" pitchFamily="18" charset="0"/>
                <a:ea typeface="Century Gothic"/>
                <a:cs typeface="Times New Roman" panose="02020603050405020304" pitchFamily="18" charset="0"/>
                <a:sym typeface="Century Gothic"/>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lgn="ctr">
              <a:buFont typeface="Arial"/>
              <a:buNone/>
            </a:pPr>
            <a:r>
              <a:rPr lang="en-IN" sz="3200" b="1" dirty="0">
                <a:solidFill>
                  <a:srgbClr val="00B050"/>
                </a:solidFill>
              </a:rPr>
              <a:t>Correct Answer: D</a:t>
            </a:r>
          </a:p>
        </p:txBody>
      </p:sp>
      <p:sp>
        <p:nvSpPr>
          <p:cNvPr id="18" name="TextBox 17">
            <a:extLst>
              <a:ext uri="{FF2B5EF4-FFF2-40B4-BE49-F238E27FC236}">
                <a16:creationId xmlns:a16="http://schemas.microsoft.com/office/drawing/2014/main" id="{374EDA02-5EE2-1F34-BBC1-A35456D82EC8}"/>
              </a:ext>
            </a:extLst>
          </p:cNvPr>
          <p:cNvSpPr txBox="1"/>
          <p:nvPr/>
        </p:nvSpPr>
        <p:spPr>
          <a:xfrm>
            <a:off x="497439" y="3967844"/>
            <a:ext cx="11474821" cy="2246769"/>
          </a:xfrm>
          <a:prstGeom prst="rect">
            <a:avLst/>
          </a:prstGeom>
          <a:noFill/>
          <a:ln>
            <a:solidFill>
              <a:schemeClr val="tx1"/>
            </a:solidFill>
          </a:ln>
        </p:spPr>
        <p:txBody>
          <a:bodyPr wrap="square">
            <a:spAutoFit/>
          </a:bodyPr>
          <a:lstStyle/>
          <a:p>
            <a:r>
              <a:rPr lang="en-US" sz="2800" b="1" i="0" u="none" strike="noStrike" baseline="0" dirty="0">
                <a:solidFill>
                  <a:srgbClr val="000000"/>
                </a:solidFill>
                <a:latin typeface="Times New Roman" panose="02020603050405020304" pitchFamily="18" charset="0"/>
              </a:rPr>
              <a:t>Which of the following is an input to aggregate planning? </a:t>
            </a:r>
          </a:p>
          <a:p>
            <a:pPr marL="514350" indent="-514350">
              <a:buFont typeface="+mj-lt"/>
              <a:buAutoNum type="alphaUcPeriod"/>
            </a:pPr>
            <a:r>
              <a:rPr lang="en-US" sz="2800" i="0" u="none" strike="noStrike" baseline="0" dirty="0">
                <a:solidFill>
                  <a:srgbClr val="000000"/>
                </a:solidFill>
                <a:latin typeface="Times New Roman" panose="02020603050405020304" pitchFamily="18" charset="0"/>
              </a:rPr>
              <a:t> Beginning inventory </a:t>
            </a:r>
          </a:p>
          <a:p>
            <a:pPr marL="514350" indent="-514350">
              <a:buFont typeface="+mj-lt"/>
              <a:buAutoNum type="alphaUcPeriod"/>
            </a:pPr>
            <a:r>
              <a:rPr lang="en-US" sz="2800" i="0" u="none" strike="noStrike" baseline="0" dirty="0">
                <a:solidFill>
                  <a:srgbClr val="000000"/>
                </a:solidFill>
                <a:latin typeface="Times New Roman" panose="02020603050405020304" pitchFamily="18" charset="0"/>
              </a:rPr>
              <a:t> Forecasts for each period of the schedule </a:t>
            </a:r>
          </a:p>
          <a:p>
            <a:pPr marL="514350" indent="-514350">
              <a:buFont typeface="+mj-lt"/>
              <a:buAutoNum type="alphaUcPeriod"/>
            </a:pPr>
            <a:r>
              <a:rPr lang="en-US" sz="2800" i="0" u="none" strike="noStrike" baseline="0" dirty="0">
                <a:solidFill>
                  <a:srgbClr val="000000"/>
                </a:solidFill>
                <a:latin typeface="Times New Roman" panose="02020603050405020304" pitchFamily="18" charset="0"/>
              </a:rPr>
              <a:t> Customer orders </a:t>
            </a:r>
          </a:p>
          <a:p>
            <a:pPr marL="514350" indent="-514350">
              <a:buFont typeface="+mj-lt"/>
              <a:buAutoNum type="alphaUcPeriod"/>
            </a:pPr>
            <a:r>
              <a:rPr lang="en-US" sz="2800" i="0" u="none" strike="noStrike" baseline="0" dirty="0">
                <a:solidFill>
                  <a:srgbClr val="000000"/>
                </a:solidFill>
                <a:latin typeface="Times New Roman" panose="02020603050405020304" pitchFamily="18" charset="0"/>
              </a:rPr>
              <a:t> All of the above </a:t>
            </a:r>
          </a:p>
        </p:txBody>
      </p:sp>
    </p:spTree>
    <p:extLst>
      <p:ext uri="{BB962C8B-B14F-4D97-AF65-F5344CB8AC3E}">
        <p14:creationId xmlns:p14="http://schemas.microsoft.com/office/powerpoint/2010/main" val="3772084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2F19C-C644-1B0C-86EE-FF19097489D4}"/>
              </a:ext>
            </a:extLst>
          </p:cNvPr>
          <p:cNvSpPr>
            <a:spLocks noGrp="1"/>
          </p:cNvSpPr>
          <p:nvPr>
            <p:ph type="title"/>
          </p:nvPr>
        </p:nvSpPr>
        <p:spPr/>
        <p:txBody>
          <a:bodyPr/>
          <a:lstStyle/>
          <a:p>
            <a:r>
              <a:rPr lang="en-US" kern="1200" dirty="0">
                <a:ea typeface="+mj-ea"/>
                <a:cs typeface="+mj-cs"/>
              </a:rPr>
              <a:t>Dealing with Variation in </a:t>
            </a:r>
            <a:r>
              <a:rPr lang="en-US" kern="1200" dirty="0">
                <a:latin typeface="Times New Roman" panose="02020603050405020304" pitchFamily="18" charset="0"/>
                <a:ea typeface="+mj-ea"/>
                <a:cs typeface="+mj-cs"/>
              </a:rPr>
              <a:t>Aggregate Plans</a:t>
            </a:r>
            <a:endParaRPr lang="en-IN" dirty="0"/>
          </a:p>
        </p:txBody>
      </p:sp>
      <p:sp>
        <p:nvSpPr>
          <p:cNvPr id="3" name="Text Placeholder 2">
            <a:extLst>
              <a:ext uri="{FF2B5EF4-FFF2-40B4-BE49-F238E27FC236}">
                <a16:creationId xmlns:a16="http://schemas.microsoft.com/office/drawing/2014/main" id="{891D0CB0-93E8-DCB6-3194-62E415954D75}"/>
              </a:ext>
            </a:extLst>
          </p:cNvPr>
          <p:cNvSpPr>
            <a:spLocks noGrp="1"/>
          </p:cNvSpPr>
          <p:nvPr>
            <p:ph type="body" idx="1"/>
          </p:nvPr>
        </p:nvSpPr>
        <p:spPr>
          <a:xfrm>
            <a:off x="244549" y="850611"/>
            <a:ext cx="11759609" cy="5380249"/>
          </a:xfrm>
        </p:spPr>
        <p:txBody>
          <a:bodyPr>
            <a:normAutofit/>
          </a:bodyPr>
          <a:lstStyle/>
          <a:p>
            <a:pPr marL="255651" lvl="0" indent="-255651" defTabSz="457200">
              <a:spcAft>
                <a:spcPct val="0"/>
              </a:spcAft>
              <a:buFont typeface="Arial" panose="020B0604020202020204" pitchFamily="34" charset="0"/>
              <a:buChar char="•"/>
            </a:pPr>
            <a:r>
              <a:rPr lang="en-US" kern="1200" dirty="0">
                <a:solidFill>
                  <a:srgbClr val="000000"/>
                </a:solidFill>
                <a:ea typeface="+mn-ea"/>
              </a:rPr>
              <a:t>Most organizations use rolling 3-, 6-, 9-, and 12- month forecasts:</a:t>
            </a:r>
          </a:p>
          <a:p>
            <a:pPr marL="255651" lvl="0" indent="-255651" defTabSz="457200">
              <a:spcAft>
                <a:spcPct val="0"/>
              </a:spcAft>
              <a:buFont typeface="Arial" panose="020B0604020202020204" pitchFamily="34" charset="0"/>
              <a:buChar char="•"/>
            </a:pPr>
            <a:r>
              <a:rPr lang="en-US" kern="1200" dirty="0">
                <a:solidFill>
                  <a:srgbClr val="000000"/>
                </a:solidFill>
                <a:ea typeface="+mn-ea"/>
              </a:rPr>
              <a:t>Forecasts are updated periodically - rather than relying on a once-a-year forecast.</a:t>
            </a:r>
          </a:p>
          <a:p>
            <a:pPr marL="255651" lvl="0" indent="-255651" defTabSz="457200">
              <a:spcAft>
                <a:spcPct val="0"/>
              </a:spcAft>
              <a:tabLst/>
            </a:pPr>
            <a:endParaRPr lang="en-US" b="1" kern="1200" dirty="0">
              <a:solidFill>
                <a:srgbClr val="000000"/>
              </a:solidFill>
            </a:endParaRPr>
          </a:p>
          <a:p>
            <a:pPr marL="255651" lvl="0" indent="-255651" defTabSz="457200">
              <a:spcAft>
                <a:spcPct val="0"/>
              </a:spcAft>
              <a:tabLst/>
            </a:pPr>
            <a:endParaRPr lang="en-US" b="1" kern="1200" dirty="0">
              <a:solidFill>
                <a:srgbClr val="000000"/>
              </a:solidFill>
            </a:endParaRPr>
          </a:p>
          <a:p>
            <a:pPr marL="255651" lvl="0" indent="-255651" defTabSz="457200">
              <a:spcAft>
                <a:spcPct val="0"/>
              </a:spcAft>
              <a:tabLst/>
            </a:pPr>
            <a:endParaRPr lang="en-US" b="1" kern="1200" dirty="0">
              <a:solidFill>
                <a:srgbClr val="000000"/>
              </a:solidFill>
            </a:endParaRPr>
          </a:p>
          <a:p>
            <a:pPr marL="255651" lvl="0" indent="-255651" defTabSz="457200">
              <a:spcAft>
                <a:spcPct val="0"/>
              </a:spcAft>
              <a:tabLst/>
            </a:pPr>
            <a:r>
              <a:rPr lang="en-US" b="1" kern="1200" dirty="0">
                <a:solidFill>
                  <a:srgbClr val="000000"/>
                </a:solidFill>
              </a:rPr>
              <a:t>Capacity strategies (reactive)</a:t>
            </a:r>
          </a:p>
          <a:p>
            <a:pPr lvl="1" indent="-457200" defTabSz="457200">
              <a:spcAft>
                <a:spcPct val="0"/>
              </a:spcAft>
              <a:buFont typeface="Wingdings" panose="05000000000000000000" pitchFamily="2" charset="2"/>
              <a:buChar char="Ø"/>
            </a:pPr>
            <a:r>
              <a:rPr lang="en-US" kern="1200" dirty="0">
                <a:solidFill>
                  <a:srgbClr val="000000"/>
                </a:solidFill>
                <a:latin typeface="Times New Roman" panose="02020603050405020304" pitchFamily="18" charset="0"/>
                <a:cs typeface="Times New Roman" panose="02020603050405020304" pitchFamily="18" charset="0"/>
              </a:rPr>
              <a:t>Change in capacity to satisfy higher demand than forecasted </a:t>
            </a:r>
          </a:p>
          <a:p>
            <a:pPr lvl="1" indent="-457200" defTabSz="457200">
              <a:spcAft>
                <a:spcPct val="0"/>
              </a:spcAft>
              <a:buFont typeface="Wingdings" panose="05000000000000000000" pitchFamily="2" charset="2"/>
              <a:buChar char="Ø"/>
            </a:pPr>
            <a:r>
              <a:rPr lang="en-US" kern="1200" dirty="0">
                <a:solidFill>
                  <a:srgbClr val="000000"/>
                </a:solidFill>
                <a:latin typeface="Times New Roman" panose="02020603050405020304" pitchFamily="18" charset="0"/>
                <a:cs typeface="Times New Roman" panose="02020603050405020304" pitchFamily="18" charset="0"/>
              </a:rPr>
              <a:t>Build and carry extra inventories to satisfy higher than forecasted demand</a:t>
            </a:r>
          </a:p>
          <a:p>
            <a:r>
              <a:rPr lang="en-IN" b="1" dirty="0"/>
              <a:t>Demand strategies (proactive)</a:t>
            </a:r>
          </a:p>
          <a:p>
            <a:pPr marL="893763">
              <a:buFont typeface="Wingdings" panose="05000000000000000000" pitchFamily="2" charset="2"/>
              <a:buChar char="Ø"/>
            </a:pPr>
            <a:r>
              <a:rPr lang="en-IN" sz="2400" dirty="0"/>
              <a:t>Change in demand by offering incentives in other periods</a:t>
            </a:r>
          </a:p>
        </p:txBody>
      </p:sp>
      <p:sp>
        <p:nvSpPr>
          <p:cNvPr id="4" name="Date Placeholder 3">
            <a:extLst>
              <a:ext uri="{FF2B5EF4-FFF2-40B4-BE49-F238E27FC236}">
                <a16:creationId xmlns:a16="http://schemas.microsoft.com/office/drawing/2014/main" id="{5DBCC7CD-59BB-BC49-6379-9A7CBE39F900}"/>
              </a:ext>
            </a:extLst>
          </p:cNvPr>
          <p:cNvSpPr>
            <a:spLocks noGrp="1"/>
          </p:cNvSpPr>
          <p:nvPr>
            <p:ph type="dt" idx="10"/>
          </p:nvPr>
        </p:nvSpPr>
        <p:spPr/>
        <p:txBody>
          <a:bodyPr/>
          <a:lstStyle/>
          <a:p>
            <a:fld id="{D1FBB12C-6AF2-404C-B802-656F1A988312}" type="datetime1">
              <a:rPr lang="en-IN" smtClean="0"/>
              <a:pPr/>
              <a:t>02-12-2025</a:t>
            </a:fld>
            <a:endParaRPr lang="en-IN" dirty="0"/>
          </a:p>
        </p:txBody>
      </p:sp>
      <p:sp>
        <p:nvSpPr>
          <p:cNvPr id="5" name="Footer Placeholder 4">
            <a:extLst>
              <a:ext uri="{FF2B5EF4-FFF2-40B4-BE49-F238E27FC236}">
                <a16:creationId xmlns:a16="http://schemas.microsoft.com/office/drawing/2014/main" id="{49E0C114-BE0E-4198-F783-36FBA4CD7379}"/>
              </a:ext>
            </a:extLst>
          </p:cNvPr>
          <p:cNvSpPr>
            <a:spLocks noGrp="1"/>
          </p:cNvSpPr>
          <p:nvPr>
            <p:ph type="ftr" idx="11"/>
          </p:nvPr>
        </p:nvSpPr>
        <p:spPr/>
        <p:txBody>
          <a:bodyPr/>
          <a:lstStyle/>
          <a:p>
            <a:r>
              <a:rPr lang="en-IN"/>
              <a:t>Aggregate Planning</a:t>
            </a:r>
            <a:endParaRPr lang="en-IN" dirty="0"/>
          </a:p>
        </p:txBody>
      </p:sp>
      <p:sp>
        <p:nvSpPr>
          <p:cNvPr id="6" name="Slide Number Placeholder 5">
            <a:extLst>
              <a:ext uri="{FF2B5EF4-FFF2-40B4-BE49-F238E27FC236}">
                <a16:creationId xmlns:a16="http://schemas.microsoft.com/office/drawing/2014/main" id="{745C4988-27A3-32C3-9CC0-5672EF97B093}"/>
              </a:ext>
            </a:extLst>
          </p:cNvPr>
          <p:cNvSpPr>
            <a:spLocks noGrp="1"/>
          </p:cNvSpPr>
          <p:nvPr>
            <p:ph type="sldNum" idx="12"/>
          </p:nvPr>
        </p:nvSpPr>
        <p:spPr/>
        <p:txBody>
          <a:bodyPr/>
          <a:lstStyle/>
          <a:p>
            <a:fld id="{00000000-1234-1234-1234-123412341234}" type="slidenum">
              <a:rPr lang="en-US" smtClean="0"/>
              <a:pPr/>
              <a:t>18</a:t>
            </a:fld>
            <a:endParaRPr lang="en-US" dirty="0"/>
          </a:p>
        </p:txBody>
      </p:sp>
      <p:pic>
        <p:nvPicPr>
          <p:cNvPr id="7" name="Picture 6" descr="A part of a master schedule where periods 1-3 are frozen (firm or fixed), 4-5 are slushy (somewhat firm), and 6-9 are liquid (open).">
            <a:extLst>
              <a:ext uri="{FF2B5EF4-FFF2-40B4-BE49-F238E27FC236}">
                <a16:creationId xmlns:a16="http://schemas.microsoft.com/office/drawing/2014/main" id="{5D70612E-C56E-1230-A900-B6F465385D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41227" y="2029901"/>
            <a:ext cx="5612173" cy="1831623"/>
          </a:xfrm>
          <a:prstGeom prst="rect">
            <a:avLst/>
          </a:prstGeom>
        </p:spPr>
      </p:pic>
    </p:spTree>
    <p:extLst>
      <p:ext uri="{BB962C8B-B14F-4D97-AF65-F5344CB8AC3E}">
        <p14:creationId xmlns:p14="http://schemas.microsoft.com/office/powerpoint/2010/main" val="3681287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A968C-6171-631A-621A-D8DB2EB406FB}"/>
              </a:ext>
            </a:extLst>
          </p:cNvPr>
          <p:cNvSpPr>
            <a:spLocks noGrp="1"/>
          </p:cNvSpPr>
          <p:nvPr>
            <p:ph type="title"/>
          </p:nvPr>
        </p:nvSpPr>
        <p:spPr/>
        <p:txBody>
          <a:bodyPr/>
          <a:lstStyle/>
          <a:p>
            <a:r>
              <a:rPr lang="en-IN" dirty="0"/>
              <a:t>Strategies for Adjusting Capacity</a:t>
            </a:r>
          </a:p>
        </p:txBody>
      </p:sp>
      <p:sp>
        <p:nvSpPr>
          <p:cNvPr id="3" name="Text Placeholder 2">
            <a:extLst>
              <a:ext uri="{FF2B5EF4-FFF2-40B4-BE49-F238E27FC236}">
                <a16:creationId xmlns:a16="http://schemas.microsoft.com/office/drawing/2014/main" id="{3C507DD4-B229-52ED-344D-D77E2660C489}"/>
              </a:ext>
            </a:extLst>
          </p:cNvPr>
          <p:cNvSpPr>
            <a:spLocks noGrp="1"/>
          </p:cNvSpPr>
          <p:nvPr>
            <p:ph type="body" idx="1"/>
          </p:nvPr>
        </p:nvSpPr>
        <p:spPr>
          <a:xfrm>
            <a:off x="124047" y="847237"/>
            <a:ext cx="11943905" cy="4277656"/>
          </a:xfrm>
        </p:spPr>
        <p:txBody>
          <a:bodyPr>
            <a:normAutofit/>
          </a:bodyPr>
          <a:lstStyle/>
          <a:p>
            <a:pPr>
              <a:spcBef>
                <a:spcPts val="300"/>
              </a:spcBef>
            </a:pPr>
            <a:r>
              <a:rPr lang="en-IN" sz="2800" dirty="0"/>
              <a:t>Aggregate planning becomes more of a challenge when demand fluctuates over the planning horizon. </a:t>
            </a:r>
          </a:p>
          <a:p>
            <a:pPr>
              <a:spcBef>
                <a:spcPts val="300"/>
              </a:spcBef>
            </a:pPr>
            <a:r>
              <a:rPr lang="en-IN" sz="2800" dirty="0"/>
              <a:t>For example, seasonal demand patterns can be met by:</a:t>
            </a:r>
          </a:p>
          <a:p>
            <a:pPr marL="712788" indent="0">
              <a:spcBef>
                <a:spcPts val="300"/>
              </a:spcBef>
              <a:buNone/>
            </a:pPr>
            <a:r>
              <a:rPr lang="en-IN" sz="2400" b="1" dirty="0"/>
              <a:t>1. </a:t>
            </a:r>
            <a:r>
              <a:rPr lang="en-IN" sz="2400" dirty="0"/>
              <a:t>Hiring and firing workers to match demand (</a:t>
            </a:r>
            <a:r>
              <a:rPr lang="en-IN" sz="2400" i="1" dirty="0">
                <a:solidFill>
                  <a:srgbClr val="0070C0"/>
                </a:solidFill>
              </a:rPr>
              <a:t>chase demand</a:t>
            </a:r>
            <a:r>
              <a:rPr lang="en-IN" sz="2400" dirty="0"/>
              <a:t>)</a:t>
            </a:r>
          </a:p>
          <a:p>
            <a:pPr marL="712788" indent="0">
              <a:spcBef>
                <a:spcPts val="300"/>
              </a:spcBef>
              <a:buNone/>
            </a:pPr>
            <a:r>
              <a:rPr lang="en-IN" sz="2400" b="1" dirty="0"/>
              <a:t>2. </a:t>
            </a:r>
            <a:r>
              <a:rPr lang="en-IN" sz="2400" dirty="0"/>
              <a:t>Producing at a constant rate and using inventory to absorb fluctuations in demand (</a:t>
            </a:r>
            <a:r>
              <a:rPr lang="en-IN" sz="2400" i="1" dirty="0">
                <a:solidFill>
                  <a:srgbClr val="0070C0"/>
                </a:solidFill>
              </a:rPr>
              <a:t>level production</a:t>
            </a:r>
            <a:r>
              <a:rPr lang="en-IN" sz="2400" dirty="0"/>
              <a:t>)</a:t>
            </a:r>
          </a:p>
          <a:p>
            <a:pPr marL="712788" indent="0">
              <a:spcBef>
                <a:spcPts val="300"/>
              </a:spcBef>
              <a:buNone/>
            </a:pPr>
            <a:r>
              <a:rPr lang="en-IN" sz="2400" b="1" dirty="0"/>
              <a:t>3. </a:t>
            </a:r>
            <a:r>
              <a:rPr lang="en-IN" sz="2400" dirty="0"/>
              <a:t>Maintaining resources for high-demand levels (</a:t>
            </a:r>
            <a:r>
              <a:rPr lang="en-IN" sz="2400" i="1" dirty="0">
                <a:solidFill>
                  <a:srgbClr val="0070C0"/>
                </a:solidFill>
              </a:rPr>
              <a:t>Peak demand</a:t>
            </a:r>
            <a:r>
              <a:rPr lang="en-IN" sz="2400" dirty="0"/>
              <a:t>)</a:t>
            </a:r>
          </a:p>
          <a:p>
            <a:pPr marL="712788" indent="0">
              <a:spcBef>
                <a:spcPts val="300"/>
              </a:spcBef>
              <a:buNone/>
            </a:pPr>
            <a:r>
              <a:rPr lang="en-IN" sz="2400" b="1" dirty="0"/>
              <a:t>4. </a:t>
            </a:r>
            <a:r>
              <a:rPr lang="en-IN" sz="2400" dirty="0"/>
              <a:t>Increasing or decreasing working hours (</a:t>
            </a:r>
            <a:r>
              <a:rPr lang="en-IN" sz="2400" i="1" dirty="0">
                <a:solidFill>
                  <a:srgbClr val="0070C0"/>
                </a:solidFill>
              </a:rPr>
              <a:t>overtime </a:t>
            </a:r>
            <a:r>
              <a:rPr lang="en-IN" sz="2400" dirty="0">
                <a:solidFill>
                  <a:srgbClr val="0070C0"/>
                </a:solidFill>
              </a:rPr>
              <a:t>and </a:t>
            </a:r>
            <a:r>
              <a:rPr lang="en-IN" sz="2400" i="1" dirty="0">
                <a:solidFill>
                  <a:srgbClr val="0070C0"/>
                </a:solidFill>
              </a:rPr>
              <a:t>undertime</a:t>
            </a:r>
            <a:r>
              <a:rPr lang="en-IN" sz="2400" dirty="0"/>
              <a:t>)</a:t>
            </a:r>
          </a:p>
          <a:p>
            <a:pPr marL="712788" indent="0">
              <a:spcBef>
                <a:spcPts val="300"/>
              </a:spcBef>
              <a:buNone/>
            </a:pPr>
            <a:r>
              <a:rPr lang="en-IN" sz="2400" b="1" dirty="0"/>
              <a:t>5. </a:t>
            </a:r>
            <a:r>
              <a:rPr lang="en-IN" sz="2400" dirty="0"/>
              <a:t>Subcontracting work to other firms</a:t>
            </a:r>
          </a:p>
          <a:p>
            <a:pPr marL="712788" indent="0">
              <a:spcBef>
                <a:spcPts val="300"/>
              </a:spcBef>
              <a:buNone/>
            </a:pPr>
            <a:r>
              <a:rPr lang="en-IN" sz="2400" b="1" dirty="0"/>
              <a:t>6. </a:t>
            </a:r>
            <a:r>
              <a:rPr lang="en-IN" sz="2400" dirty="0"/>
              <a:t>Using part-time workers</a:t>
            </a:r>
          </a:p>
          <a:p>
            <a:pPr marL="712788" indent="0">
              <a:spcBef>
                <a:spcPts val="300"/>
              </a:spcBef>
              <a:buNone/>
            </a:pPr>
            <a:r>
              <a:rPr lang="en-IN" sz="2400" b="1" dirty="0"/>
              <a:t>7. </a:t>
            </a:r>
            <a:r>
              <a:rPr lang="en-IN" sz="2400" dirty="0"/>
              <a:t>Providing the service or product at a later time period (</a:t>
            </a:r>
            <a:r>
              <a:rPr lang="en-IN" sz="2400" i="1" dirty="0">
                <a:solidFill>
                  <a:srgbClr val="0070C0"/>
                </a:solidFill>
              </a:rPr>
              <a:t>backordering</a:t>
            </a:r>
            <a:r>
              <a:rPr lang="en-IN" sz="2400" dirty="0"/>
              <a:t>)</a:t>
            </a:r>
          </a:p>
        </p:txBody>
      </p:sp>
      <p:sp>
        <p:nvSpPr>
          <p:cNvPr id="4" name="Date Placeholder 3">
            <a:extLst>
              <a:ext uri="{FF2B5EF4-FFF2-40B4-BE49-F238E27FC236}">
                <a16:creationId xmlns:a16="http://schemas.microsoft.com/office/drawing/2014/main" id="{5E94A107-324A-7D5D-BFF3-9B56DBEAB3D9}"/>
              </a:ext>
            </a:extLst>
          </p:cNvPr>
          <p:cNvSpPr>
            <a:spLocks noGrp="1"/>
          </p:cNvSpPr>
          <p:nvPr>
            <p:ph type="dt" idx="10"/>
          </p:nvPr>
        </p:nvSpPr>
        <p:spPr/>
        <p:txBody>
          <a:bodyPr/>
          <a:lstStyle/>
          <a:p>
            <a:fld id="{D1FBB12C-6AF2-404C-B802-656F1A988312}" type="datetime1">
              <a:rPr lang="en-IN" smtClean="0"/>
              <a:pPr/>
              <a:t>02-12-2025</a:t>
            </a:fld>
            <a:endParaRPr lang="en-IN" dirty="0"/>
          </a:p>
        </p:txBody>
      </p:sp>
      <p:sp>
        <p:nvSpPr>
          <p:cNvPr id="5" name="Footer Placeholder 4">
            <a:extLst>
              <a:ext uri="{FF2B5EF4-FFF2-40B4-BE49-F238E27FC236}">
                <a16:creationId xmlns:a16="http://schemas.microsoft.com/office/drawing/2014/main" id="{CE1B1694-2AF4-6DB8-6617-9C77DF52DDAF}"/>
              </a:ext>
            </a:extLst>
          </p:cNvPr>
          <p:cNvSpPr>
            <a:spLocks noGrp="1"/>
          </p:cNvSpPr>
          <p:nvPr>
            <p:ph type="ftr" idx="11"/>
          </p:nvPr>
        </p:nvSpPr>
        <p:spPr/>
        <p:txBody>
          <a:bodyPr/>
          <a:lstStyle/>
          <a:p>
            <a:r>
              <a:rPr lang="en-IN"/>
              <a:t>Aggregate Planning</a:t>
            </a:r>
            <a:endParaRPr lang="en-IN" dirty="0"/>
          </a:p>
        </p:txBody>
      </p:sp>
      <p:sp>
        <p:nvSpPr>
          <p:cNvPr id="6" name="Slide Number Placeholder 5">
            <a:extLst>
              <a:ext uri="{FF2B5EF4-FFF2-40B4-BE49-F238E27FC236}">
                <a16:creationId xmlns:a16="http://schemas.microsoft.com/office/drawing/2014/main" id="{C74290B5-4CDB-B086-677C-05E80275A9EA}"/>
              </a:ext>
            </a:extLst>
          </p:cNvPr>
          <p:cNvSpPr>
            <a:spLocks noGrp="1"/>
          </p:cNvSpPr>
          <p:nvPr>
            <p:ph type="sldNum" idx="12"/>
          </p:nvPr>
        </p:nvSpPr>
        <p:spPr/>
        <p:txBody>
          <a:bodyPr/>
          <a:lstStyle/>
          <a:p>
            <a:fld id="{00000000-1234-1234-1234-123412341234}" type="slidenum">
              <a:rPr lang="en-US" smtClean="0"/>
              <a:pPr/>
              <a:t>19</a:t>
            </a:fld>
            <a:endParaRPr lang="en-US" dirty="0"/>
          </a:p>
        </p:txBody>
      </p:sp>
      <p:sp>
        <p:nvSpPr>
          <p:cNvPr id="8" name="Rectangle 7">
            <a:extLst>
              <a:ext uri="{FF2B5EF4-FFF2-40B4-BE49-F238E27FC236}">
                <a16:creationId xmlns:a16="http://schemas.microsoft.com/office/drawing/2014/main" id="{D8EACB99-D7E1-79BA-F6E5-EE5237D10FE7}"/>
              </a:ext>
            </a:extLst>
          </p:cNvPr>
          <p:cNvSpPr/>
          <p:nvPr/>
        </p:nvSpPr>
        <p:spPr>
          <a:xfrm>
            <a:off x="124047" y="4990496"/>
            <a:ext cx="11943905" cy="1200329"/>
          </a:xfrm>
          <a:prstGeom prst="rect">
            <a:avLst/>
          </a:prstGeom>
          <a:solidFill>
            <a:srgbClr val="1F497D">
              <a:lumMod val="40000"/>
              <a:lumOff val="60000"/>
            </a:srgbClr>
          </a:solid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When one of these alternatives is selected, a company is said to have a </a:t>
            </a:r>
            <a:r>
              <a:rPr kumimoji="0" lang="en-IN" sz="2400" b="1"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pure strategy </a:t>
            </a:r>
            <a:r>
              <a:rPr kumimoji="0" lang="en-IN" sz="2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for meeting demand.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When two or more are selected, a company has a </a:t>
            </a:r>
            <a:r>
              <a:rPr kumimoji="0" lang="en-IN" sz="2400" b="1"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mixed strategy</a:t>
            </a:r>
            <a:r>
              <a:rPr kumimoji="0" lang="en-IN" sz="2400" b="0" i="0" u="none" strike="noStrike" kern="120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645130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E0739-4BF0-DFB3-BBFD-03974A375AD7}"/>
              </a:ext>
            </a:extLst>
          </p:cNvPr>
          <p:cNvSpPr>
            <a:spLocks noGrp="1"/>
          </p:cNvSpPr>
          <p:nvPr>
            <p:ph type="title"/>
          </p:nvPr>
        </p:nvSpPr>
        <p:spPr/>
        <p:txBody>
          <a:bodyPr/>
          <a:lstStyle/>
          <a:p>
            <a:r>
              <a:rPr lang="en-US" kern="1200" dirty="0">
                <a:latin typeface="Times New Roman" panose="02020603050405020304" pitchFamily="18" charset="0"/>
                <a:ea typeface="+mj-ea"/>
                <a:cs typeface="+mj-cs"/>
              </a:rPr>
              <a:t>Chase Strategy</a:t>
            </a:r>
            <a:endParaRPr lang="en-IN" dirty="0"/>
          </a:p>
        </p:txBody>
      </p:sp>
      <p:sp>
        <p:nvSpPr>
          <p:cNvPr id="3" name="Text Placeholder 2">
            <a:extLst>
              <a:ext uri="{FF2B5EF4-FFF2-40B4-BE49-F238E27FC236}">
                <a16:creationId xmlns:a16="http://schemas.microsoft.com/office/drawing/2014/main" id="{D58B795B-998B-5D21-BCCA-83009A8CE644}"/>
              </a:ext>
            </a:extLst>
          </p:cNvPr>
          <p:cNvSpPr>
            <a:spLocks noGrp="1"/>
          </p:cNvSpPr>
          <p:nvPr>
            <p:ph type="body" idx="1"/>
          </p:nvPr>
        </p:nvSpPr>
        <p:spPr>
          <a:xfrm>
            <a:off x="407446" y="1035437"/>
            <a:ext cx="8056070" cy="5035928"/>
          </a:xfrm>
        </p:spPr>
        <p:txBody>
          <a:bodyPr/>
          <a:lstStyle/>
          <a:p>
            <a:pPr marL="255651" lvl="0" indent="-255651" defTabSz="457200">
              <a:spcAft>
                <a:spcPct val="0"/>
              </a:spcAft>
              <a:buFont typeface="Arial" panose="020B0604020202020204" pitchFamily="34" charset="0"/>
              <a:buChar char="•"/>
              <a:tabLst/>
            </a:pPr>
            <a:r>
              <a:rPr lang="en-US" sz="2800" kern="1200" dirty="0">
                <a:solidFill>
                  <a:srgbClr val="000000"/>
                </a:solidFill>
                <a:ea typeface="+mn-ea"/>
              </a:rPr>
              <a:t>Vary machine capacity or hire and lay off workers as demand varies</a:t>
            </a:r>
          </a:p>
          <a:p>
            <a:pPr marL="255651" lvl="0" indent="-255651" defTabSz="457200">
              <a:spcAft>
                <a:spcPct val="0"/>
              </a:spcAft>
              <a:buFont typeface="Arial" panose="020B0604020202020204" pitchFamily="34" charset="0"/>
              <a:buChar char="•"/>
              <a:tabLst/>
            </a:pPr>
            <a:r>
              <a:rPr lang="en-US" sz="2800" kern="1200" dirty="0">
                <a:solidFill>
                  <a:srgbClr val="000000"/>
                </a:solidFill>
                <a:ea typeface="+mn-ea"/>
              </a:rPr>
              <a:t>Often difficult to vary capacity and workforce on short notice</a:t>
            </a:r>
          </a:p>
          <a:p>
            <a:pPr marL="255651" lvl="0" indent="-255651" defTabSz="457200">
              <a:spcAft>
                <a:spcPct val="0"/>
              </a:spcAft>
              <a:buFont typeface="Arial" panose="020B0604020202020204" pitchFamily="34" charset="0"/>
              <a:buChar char="•"/>
              <a:tabLst/>
            </a:pPr>
            <a:r>
              <a:rPr lang="en-US" sz="2800" kern="1200" dirty="0">
                <a:solidFill>
                  <a:srgbClr val="000000"/>
                </a:solidFill>
                <a:ea typeface="+mn-ea"/>
              </a:rPr>
              <a:t>Expensive if cost of varying capacity is high</a:t>
            </a:r>
          </a:p>
          <a:p>
            <a:pPr marL="255651" lvl="0" indent="-255651" defTabSz="457200">
              <a:spcAft>
                <a:spcPct val="0"/>
              </a:spcAft>
              <a:buFont typeface="Arial" panose="020B0604020202020204" pitchFamily="34" charset="0"/>
              <a:buChar char="•"/>
              <a:tabLst/>
            </a:pPr>
            <a:r>
              <a:rPr lang="en-US" sz="2800" kern="1200" dirty="0">
                <a:solidFill>
                  <a:srgbClr val="000000"/>
                </a:solidFill>
                <a:ea typeface="+mn-ea"/>
              </a:rPr>
              <a:t>Negative effect on workforce morale</a:t>
            </a:r>
          </a:p>
          <a:p>
            <a:pPr marL="255651" lvl="0" indent="-255651" defTabSz="457200">
              <a:spcAft>
                <a:spcPct val="0"/>
              </a:spcAft>
              <a:buFont typeface="Arial" panose="020B0604020202020204" pitchFamily="34" charset="0"/>
              <a:buChar char="•"/>
              <a:tabLst/>
            </a:pPr>
            <a:r>
              <a:rPr lang="en-US" sz="2800" kern="1200" dirty="0">
                <a:solidFill>
                  <a:srgbClr val="000000"/>
                </a:solidFill>
                <a:ea typeface="+mn-ea"/>
              </a:rPr>
              <a:t>Results in low levels of inventory</a:t>
            </a:r>
          </a:p>
          <a:p>
            <a:pPr marL="255651" lvl="0" indent="-255651" defTabSz="457200">
              <a:spcAft>
                <a:spcPct val="0"/>
              </a:spcAft>
              <a:buFont typeface="Arial" panose="020B0604020202020204" pitchFamily="34" charset="0"/>
              <a:buChar char="•"/>
              <a:tabLst/>
            </a:pPr>
            <a:r>
              <a:rPr lang="en-US" sz="2800" kern="1200" dirty="0">
                <a:solidFill>
                  <a:srgbClr val="000000"/>
                </a:solidFill>
                <a:ea typeface="+mn-ea"/>
              </a:rPr>
              <a:t>Used when inventory holding costs are high and costs of changing capacity are low</a:t>
            </a:r>
          </a:p>
        </p:txBody>
      </p:sp>
      <p:sp>
        <p:nvSpPr>
          <p:cNvPr id="4" name="Date Placeholder 3">
            <a:extLst>
              <a:ext uri="{FF2B5EF4-FFF2-40B4-BE49-F238E27FC236}">
                <a16:creationId xmlns:a16="http://schemas.microsoft.com/office/drawing/2014/main" id="{B3031DF2-E2A6-9289-0AC2-2BA1B0DDA585}"/>
              </a:ext>
            </a:extLst>
          </p:cNvPr>
          <p:cNvSpPr>
            <a:spLocks noGrp="1"/>
          </p:cNvSpPr>
          <p:nvPr>
            <p:ph type="dt" idx="10"/>
          </p:nvPr>
        </p:nvSpPr>
        <p:spPr/>
        <p:txBody>
          <a:bodyPr/>
          <a:lstStyle/>
          <a:p>
            <a:fld id="{D1FBB12C-6AF2-404C-B802-656F1A988312}" type="datetime1">
              <a:rPr lang="en-IN" smtClean="0"/>
              <a:pPr/>
              <a:t>02-12-2025</a:t>
            </a:fld>
            <a:endParaRPr lang="en-IN" dirty="0"/>
          </a:p>
        </p:txBody>
      </p:sp>
      <p:sp>
        <p:nvSpPr>
          <p:cNvPr id="5" name="Footer Placeholder 4">
            <a:extLst>
              <a:ext uri="{FF2B5EF4-FFF2-40B4-BE49-F238E27FC236}">
                <a16:creationId xmlns:a16="http://schemas.microsoft.com/office/drawing/2014/main" id="{5AD486F7-1C02-506B-6747-EE08228CDD96}"/>
              </a:ext>
            </a:extLst>
          </p:cNvPr>
          <p:cNvSpPr>
            <a:spLocks noGrp="1"/>
          </p:cNvSpPr>
          <p:nvPr>
            <p:ph type="ftr" idx="11"/>
          </p:nvPr>
        </p:nvSpPr>
        <p:spPr/>
        <p:txBody>
          <a:bodyPr/>
          <a:lstStyle/>
          <a:p>
            <a:r>
              <a:rPr lang="en-US" dirty="0"/>
              <a:t>Aggregate Planning</a:t>
            </a:r>
          </a:p>
        </p:txBody>
      </p:sp>
      <p:sp>
        <p:nvSpPr>
          <p:cNvPr id="6" name="Slide Number Placeholder 5">
            <a:extLst>
              <a:ext uri="{FF2B5EF4-FFF2-40B4-BE49-F238E27FC236}">
                <a16:creationId xmlns:a16="http://schemas.microsoft.com/office/drawing/2014/main" id="{32A2A582-1A01-74D9-23C1-9C7E3A06DE6E}"/>
              </a:ext>
            </a:extLst>
          </p:cNvPr>
          <p:cNvSpPr>
            <a:spLocks noGrp="1"/>
          </p:cNvSpPr>
          <p:nvPr>
            <p:ph type="sldNum" idx="12"/>
          </p:nvPr>
        </p:nvSpPr>
        <p:spPr/>
        <p:txBody>
          <a:bodyPr/>
          <a:lstStyle/>
          <a:p>
            <a:fld id="{00000000-1234-1234-1234-123412341234}" type="slidenum">
              <a:rPr lang="en-US" smtClean="0"/>
              <a:pPr/>
              <a:t>20</a:t>
            </a:fld>
            <a:endParaRPr lang="en-US" dirty="0"/>
          </a:p>
        </p:txBody>
      </p:sp>
      <p:pic>
        <p:nvPicPr>
          <p:cNvPr id="7" name="Picture 6">
            <a:extLst>
              <a:ext uri="{FF2B5EF4-FFF2-40B4-BE49-F238E27FC236}">
                <a16:creationId xmlns:a16="http://schemas.microsoft.com/office/drawing/2014/main" id="{C4615033-BDF2-52EC-3893-D027FE7773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65608" y="1297947"/>
            <a:ext cx="3790950" cy="23907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38582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C9B15-9EBA-F82E-F14E-C629CDE28D06}"/>
              </a:ext>
            </a:extLst>
          </p:cNvPr>
          <p:cNvSpPr>
            <a:spLocks noGrp="1"/>
          </p:cNvSpPr>
          <p:nvPr>
            <p:ph type="title"/>
          </p:nvPr>
        </p:nvSpPr>
        <p:spPr/>
        <p:txBody>
          <a:bodyPr/>
          <a:lstStyle/>
          <a:p>
            <a:r>
              <a:rPr lang="en-US" kern="1200" dirty="0">
                <a:latin typeface="Times New Roman" panose="02020603050405020304" pitchFamily="18" charset="0"/>
                <a:ea typeface="+mj-ea"/>
                <a:cs typeface="+mj-cs"/>
              </a:rPr>
              <a:t>Chase Strategy </a:t>
            </a:r>
            <a:r>
              <a:rPr lang="en-IN" dirty="0">
                <a:solidFill>
                  <a:srgbClr val="FF0000"/>
                </a:solidFill>
              </a:rPr>
              <a:t>Example</a:t>
            </a:r>
          </a:p>
        </p:txBody>
      </p:sp>
      <p:sp>
        <p:nvSpPr>
          <p:cNvPr id="4" name="Date Placeholder 3">
            <a:extLst>
              <a:ext uri="{FF2B5EF4-FFF2-40B4-BE49-F238E27FC236}">
                <a16:creationId xmlns:a16="http://schemas.microsoft.com/office/drawing/2014/main" id="{E1BCCA1B-59F5-C889-FF25-675D4E005F53}"/>
              </a:ext>
            </a:extLst>
          </p:cNvPr>
          <p:cNvSpPr>
            <a:spLocks noGrp="1"/>
          </p:cNvSpPr>
          <p:nvPr>
            <p:ph type="dt" idx="10"/>
          </p:nvPr>
        </p:nvSpPr>
        <p:spPr/>
        <p:txBody>
          <a:bodyPr/>
          <a:lstStyle/>
          <a:p>
            <a:fld id="{D1FBB12C-6AF2-404C-B802-656F1A988312}" type="datetime1">
              <a:rPr lang="en-IN" smtClean="0"/>
              <a:pPr/>
              <a:t>02-12-2025</a:t>
            </a:fld>
            <a:endParaRPr lang="en-IN" dirty="0"/>
          </a:p>
        </p:txBody>
      </p:sp>
      <p:sp>
        <p:nvSpPr>
          <p:cNvPr id="5" name="Footer Placeholder 4">
            <a:extLst>
              <a:ext uri="{FF2B5EF4-FFF2-40B4-BE49-F238E27FC236}">
                <a16:creationId xmlns:a16="http://schemas.microsoft.com/office/drawing/2014/main" id="{6AE02A49-8266-11D5-54DF-77FCC6C2500E}"/>
              </a:ext>
            </a:extLst>
          </p:cNvPr>
          <p:cNvSpPr>
            <a:spLocks noGrp="1"/>
          </p:cNvSpPr>
          <p:nvPr>
            <p:ph type="ftr" idx="11"/>
          </p:nvPr>
        </p:nvSpPr>
        <p:spPr/>
        <p:txBody>
          <a:bodyPr/>
          <a:lstStyle/>
          <a:p>
            <a:r>
              <a:rPr lang="en-IN"/>
              <a:t>Aggregate Planning</a:t>
            </a:r>
            <a:endParaRPr lang="en-IN" dirty="0"/>
          </a:p>
        </p:txBody>
      </p:sp>
      <p:sp>
        <p:nvSpPr>
          <p:cNvPr id="6" name="Slide Number Placeholder 5">
            <a:extLst>
              <a:ext uri="{FF2B5EF4-FFF2-40B4-BE49-F238E27FC236}">
                <a16:creationId xmlns:a16="http://schemas.microsoft.com/office/drawing/2014/main" id="{12FC425D-C0D9-1135-55EA-F75A99A8A9F5}"/>
              </a:ext>
            </a:extLst>
          </p:cNvPr>
          <p:cNvSpPr>
            <a:spLocks noGrp="1"/>
          </p:cNvSpPr>
          <p:nvPr>
            <p:ph type="sldNum" idx="12"/>
          </p:nvPr>
        </p:nvSpPr>
        <p:spPr/>
        <p:txBody>
          <a:bodyPr/>
          <a:lstStyle/>
          <a:p>
            <a:fld id="{00000000-1234-1234-1234-123412341234}" type="slidenum">
              <a:rPr lang="en-US" smtClean="0"/>
              <a:pPr/>
              <a:t>21</a:t>
            </a:fld>
            <a:endParaRPr lang="en-US" dirty="0"/>
          </a:p>
        </p:txBody>
      </p:sp>
      <p:pic>
        <p:nvPicPr>
          <p:cNvPr id="8" name="Picture 7">
            <a:extLst>
              <a:ext uri="{FF2B5EF4-FFF2-40B4-BE49-F238E27FC236}">
                <a16:creationId xmlns:a16="http://schemas.microsoft.com/office/drawing/2014/main" id="{18F869DB-50B9-B455-DCE8-1B2E15A6D40A}"/>
              </a:ext>
            </a:extLst>
          </p:cNvPr>
          <p:cNvPicPr>
            <a:picLocks noChangeAspect="1"/>
          </p:cNvPicPr>
          <p:nvPr/>
        </p:nvPicPr>
        <p:blipFill>
          <a:blip r:embed="rId2"/>
          <a:stretch>
            <a:fillRect/>
          </a:stretch>
        </p:blipFill>
        <p:spPr>
          <a:xfrm>
            <a:off x="749025" y="1122353"/>
            <a:ext cx="10693950" cy="4889751"/>
          </a:xfrm>
          <a:prstGeom prst="rect">
            <a:avLst/>
          </a:prstGeom>
        </p:spPr>
      </p:pic>
    </p:spTree>
    <p:extLst>
      <p:ext uri="{BB962C8B-B14F-4D97-AF65-F5344CB8AC3E}">
        <p14:creationId xmlns:p14="http://schemas.microsoft.com/office/powerpoint/2010/main" val="14307514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C5666-5A67-FDD0-5031-BB5FD0A245DF}"/>
              </a:ext>
            </a:extLst>
          </p:cNvPr>
          <p:cNvSpPr>
            <a:spLocks noGrp="1"/>
          </p:cNvSpPr>
          <p:nvPr>
            <p:ph type="title"/>
          </p:nvPr>
        </p:nvSpPr>
        <p:spPr/>
        <p:txBody>
          <a:bodyPr/>
          <a:lstStyle/>
          <a:p>
            <a:r>
              <a:rPr lang="en-US" kern="1200" dirty="0">
                <a:latin typeface="Times New Roman" panose="02020603050405020304" pitchFamily="18" charset="0"/>
                <a:ea typeface="+mj-ea"/>
                <a:cs typeface="+mj-cs"/>
              </a:rPr>
              <a:t>Level Strategy</a:t>
            </a:r>
            <a:endParaRPr lang="en-IN" dirty="0"/>
          </a:p>
        </p:txBody>
      </p:sp>
      <p:sp>
        <p:nvSpPr>
          <p:cNvPr id="3" name="Text Placeholder 2">
            <a:extLst>
              <a:ext uri="{FF2B5EF4-FFF2-40B4-BE49-F238E27FC236}">
                <a16:creationId xmlns:a16="http://schemas.microsoft.com/office/drawing/2014/main" id="{E202F941-F704-D670-EBD3-DE9CE5B6FFD4}"/>
              </a:ext>
            </a:extLst>
          </p:cNvPr>
          <p:cNvSpPr>
            <a:spLocks noGrp="1"/>
          </p:cNvSpPr>
          <p:nvPr>
            <p:ph type="body" idx="1"/>
          </p:nvPr>
        </p:nvSpPr>
        <p:spPr>
          <a:xfrm>
            <a:off x="407447" y="1035437"/>
            <a:ext cx="7588238" cy="5035928"/>
          </a:xfrm>
        </p:spPr>
        <p:txBody>
          <a:bodyPr/>
          <a:lstStyle/>
          <a:p>
            <a:pPr marL="255651" lvl="0" indent="-255651" defTabSz="457200">
              <a:spcAft>
                <a:spcPct val="0"/>
              </a:spcAft>
              <a:buFont typeface="Arial" panose="020B0604020202020204" pitchFamily="34" charset="0"/>
              <a:buChar char="•"/>
              <a:tabLst/>
            </a:pPr>
            <a:r>
              <a:rPr lang="en-US" sz="2800" kern="1200" dirty="0">
                <a:solidFill>
                  <a:srgbClr val="000000"/>
                </a:solidFill>
                <a:ea typeface="+mn-ea"/>
              </a:rPr>
              <a:t>Stable machine capacity and workforce levels, constant output rate</a:t>
            </a:r>
          </a:p>
          <a:p>
            <a:pPr marL="255651" lvl="0" indent="-255651" defTabSz="457200">
              <a:spcAft>
                <a:spcPct val="0"/>
              </a:spcAft>
              <a:buFont typeface="Arial" panose="020B0604020202020204" pitchFamily="34" charset="0"/>
              <a:buChar char="•"/>
              <a:tabLst/>
            </a:pPr>
            <a:r>
              <a:rPr lang="en-US" sz="2800" kern="1200" dirty="0">
                <a:solidFill>
                  <a:srgbClr val="000000"/>
                </a:solidFill>
                <a:ea typeface="+mn-ea"/>
              </a:rPr>
              <a:t>Inventory levels fluctuate over time</a:t>
            </a:r>
          </a:p>
          <a:p>
            <a:pPr marL="255651" lvl="0" indent="-255651" defTabSz="457200">
              <a:spcAft>
                <a:spcPct val="0"/>
              </a:spcAft>
              <a:buFont typeface="Arial" panose="020B0604020202020204" pitchFamily="34" charset="0"/>
              <a:buChar char="•"/>
              <a:tabLst/>
            </a:pPr>
            <a:r>
              <a:rPr lang="en-US" sz="2800" kern="1200" dirty="0">
                <a:solidFill>
                  <a:srgbClr val="000000"/>
                </a:solidFill>
                <a:ea typeface="+mn-ea"/>
              </a:rPr>
              <a:t>Inventories carried over from high to low demand periods</a:t>
            </a:r>
          </a:p>
          <a:p>
            <a:pPr marL="255651" lvl="0" indent="-255651" defTabSz="457200">
              <a:spcAft>
                <a:spcPct val="0"/>
              </a:spcAft>
              <a:buFont typeface="Arial" panose="020B0604020202020204" pitchFamily="34" charset="0"/>
              <a:buChar char="•"/>
              <a:tabLst/>
            </a:pPr>
            <a:r>
              <a:rPr lang="en-US" sz="2800" kern="1200" dirty="0">
                <a:solidFill>
                  <a:srgbClr val="000000"/>
                </a:solidFill>
                <a:ea typeface="+mn-ea"/>
              </a:rPr>
              <a:t>Better for worker morale</a:t>
            </a:r>
          </a:p>
          <a:p>
            <a:pPr marL="255651" lvl="0" indent="-255651" defTabSz="457200">
              <a:spcAft>
                <a:spcPct val="0"/>
              </a:spcAft>
              <a:buFont typeface="Arial" panose="020B0604020202020204" pitchFamily="34" charset="0"/>
              <a:buChar char="•"/>
              <a:tabLst/>
            </a:pPr>
            <a:r>
              <a:rPr lang="en-US" sz="2800" kern="1200" dirty="0">
                <a:solidFill>
                  <a:srgbClr val="000000"/>
                </a:solidFill>
                <a:ea typeface="+mn-ea"/>
              </a:rPr>
              <a:t>Large inventories and backlogs may accumulate</a:t>
            </a:r>
          </a:p>
          <a:p>
            <a:pPr marL="255651" lvl="0" indent="-255651" defTabSz="457200">
              <a:spcAft>
                <a:spcPct val="0"/>
              </a:spcAft>
              <a:buFont typeface="Arial" panose="020B0604020202020204" pitchFamily="34" charset="0"/>
              <a:buChar char="•"/>
              <a:tabLst/>
            </a:pPr>
            <a:r>
              <a:rPr lang="en-US" sz="2800" kern="1200" dirty="0">
                <a:solidFill>
                  <a:srgbClr val="000000"/>
                </a:solidFill>
                <a:ea typeface="+mn-ea"/>
              </a:rPr>
              <a:t>Used when inventory holding and backlog costs are relatively low</a:t>
            </a:r>
          </a:p>
        </p:txBody>
      </p:sp>
      <p:sp>
        <p:nvSpPr>
          <p:cNvPr id="4" name="Date Placeholder 3">
            <a:extLst>
              <a:ext uri="{FF2B5EF4-FFF2-40B4-BE49-F238E27FC236}">
                <a16:creationId xmlns:a16="http://schemas.microsoft.com/office/drawing/2014/main" id="{FB1F0D60-45D0-675E-DCCD-75D7DD1C00FA}"/>
              </a:ext>
            </a:extLst>
          </p:cNvPr>
          <p:cNvSpPr>
            <a:spLocks noGrp="1"/>
          </p:cNvSpPr>
          <p:nvPr>
            <p:ph type="dt" idx="10"/>
          </p:nvPr>
        </p:nvSpPr>
        <p:spPr/>
        <p:txBody>
          <a:bodyPr/>
          <a:lstStyle/>
          <a:p>
            <a:fld id="{D1FBB12C-6AF2-404C-B802-656F1A988312}" type="datetime1">
              <a:rPr lang="en-IN" smtClean="0"/>
              <a:pPr/>
              <a:t>02-12-2025</a:t>
            </a:fld>
            <a:endParaRPr lang="en-IN" dirty="0"/>
          </a:p>
        </p:txBody>
      </p:sp>
      <p:sp>
        <p:nvSpPr>
          <p:cNvPr id="5" name="Footer Placeholder 4">
            <a:extLst>
              <a:ext uri="{FF2B5EF4-FFF2-40B4-BE49-F238E27FC236}">
                <a16:creationId xmlns:a16="http://schemas.microsoft.com/office/drawing/2014/main" id="{62544F57-DE06-EBB0-ECD6-EB09D54FDD03}"/>
              </a:ext>
            </a:extLst>
          </p:cNvPr>
          <p:cNvSpPr>
            <a:spLocks noGrp="1"/>
          </p:cNvSpPr>
          <p:nvPr>
            <p:ph type="ftr" idx="11"/>
          </p:nvPr>
        </p:nvSpPr>
        <p:spPr/>
        <p:txBody>
          <a:bodyPr/>
          <a:lstStyle/>
          <a:p>
            <a:r>
              <a:rPr lang="en-US" dirty="0"/>
              <a:t>Aggregate Planning</a:t>
            </a:r>
          </a:p>
        </p:txBody>
      </p:sp>
      <p:sp>
        <p:nvSpPr>
          <p:cNvPr id="6" name="Slide Number Placeholder 5">
            <a:extLst>
              <a:ext uri="{FF2B5EF4-FFF2-40B4-BE49-F238E27FC236}">
                <a16:creationId xmlns:a16="http://schemas.microsoft.com/office/drawing/2014/main" id="{5574D971-5C75-92A4-10AC-E30FC58A53F0}"/>
              </a:ext>
            </a:extLst>
          </p:cNvPr>
          <p:cNvSpPr>
            <a:spLocks noGrp="1"/>
          </p:cNvSpPr>
          <p:nvPr>
            <p:ph type="sldNum" idx="12"/>
          </p:nvPr>
        </p:nvSpPr>
        <p:spPr/>
        <p:txBody>
          <a:bodyPr/>
          <a:lstStyle/>
          <a:p>
            <a:fld id="{00000000-1234-1234-1234-123412341234}" type="slidenum">
              <a:rPr lang="en-US" smtClean="0"/>
              <a:pPr/>
              <a:t>22</a:t>
            </a:fld>
            <a:endParaRPr lang="en-US" dirty="0"/>
          </a:p>
        </p:txBody>
      </p:sp>
      <p:pic>
        <p:nvPicPr>
          <p:cNvPr id="7" name="Picture 6">
            <a:extLst>
              <a:ext uri="{FF2B5EF4-FFF2-40B4-BE49-F238E27FC236}">
                <a16:creationId xmlns:a16="http://schemas.microsoft.com/office/drawing/2014/main" id="{7A46B055-9674-C2A9-B5E8-1FE71FD532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53400" y="1225403"/>
            <a:ext cx="3905250" cy="2514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07267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6061D-10EB-4E00-543F-3B9B164965EE}"/>
              </a:ext>
            </a:extLst>
          </p:cNvPr>
          <p:cNvSpPr>
            <a:spLocks noGrp="1"/>
          </p:cNvSpPr>
          <p:nvPr>
            <p:ph type="title"/>
          </p:nvPr>
        </p:nvSpPr>
        <p:spPr/>
        <p:txBody>
          <a:bodyPr/>
          <a:lstStyle/>
          <a:p>
            <a:r>
              <a:rPr lang="en-US" kern="1200" dirty="0">
                <a:latin typeface="Times New Roman" panose="02020603050405020304" pitchFamily="18" charset="0"/>
                <a:ea typeface="+mj-ea"/>
                <a:cs typeface="+mj-cs"/>
              </a:rPr>
              <a:t>Level Strategy </a:t>
            </a:r>
            <a:r>
              <a:rPr lang="en-US" kern="1200" dirty="0">
                <a:solidFill>
                  <a:srgbClr val="FF0000"/>
                </a:solidFill>
                <a:latin typeface="Times New Roman" panose="02020603050405020304" pitchFamily="18" charset="0"/>
                <a:ea typeface="+mj-ea"/>
                <a:cs typeface="+mj-cs"/>
              </a:rPr>
              <a:t>Example</a:t>
            </a:r>
            <a:endParaRPr lang="en-IN" dirty="0">
              <a:solidFill>
                <a:srgbClr val="FF0000"/>
              </a:solidFill>
            </a:endParaRPr>
          </a:p>
        </p:txBody>
      </p:sp>
      <p:sp>
        <p:nvSpPr>
          <p:cNvPr id="4" name="Date Placeholder 3">
            <a:extLst>
              <a:ext uri="{FF2B5EF4-FFF2-40B4-BE49-F238E27FC236}">
                <a16:creationId xmlns:a16="http://schemas.microsoft.com/office/drawing/2014/main" id="{381D2C8A-8743-A439-5928-E4CFB6092B83}"/>
              </a:ext>
            </a:extLst>
          </p:cNvPr>
          <p:cNvSpPr>
            <a:spLocks noGrp="1"/>
          </p:cNvSpPr>
          <p:nvPr>
            <p:ph type="dt" idx="10"/>
          </p:nvPr>
        </p:nvSpPr>
        <p:spPr/>
        <p:txBody>
          <a:bodyPr/>
          <a:lstStyle/>
          <a:p>
            <a:fld id="{D1FBB12C-6AF2-404C-B802-656F1A988312}" type="datetime1">
              <a:rPr lang="en-IN" smtClean="0"/>
              <a:pPr/>
              <a:t>02-12-2025</a:t>
            </a:fld>
            <a:endParaRPr lang="en-IN" dirty="0"/>
          </a:p>
        </p:txBody>
      </p:sp>
      <p:sp>
        <p:nvSpPr>
          <p:cNvPr id="5" name="Footer Placeholder 4">
            <a:extLst>
              <a:ext uri="{FF2B5EF4-FFF2-40B4-BE49-F238E27FC236}">
                <a16:creationId xmlns:a16="http://schemas.microsoft.com/office/drawing/2014/main" id="{C7A3A2CF-E801-52C8-4582-FD1887A58E41}"/>
              </a:ext>
            </a:extLst>
          </p:cNvPr>
          <p:cNvSpPr>
            <a:spLocks noGrp="1"/>
          </p:cNvSpPr>
          <p:nvPr>
            <p:ph type="ftr" idx="11"/>
          </p:nvPr>
        </p:nvSpPr>
        <p:spPr/>
        <p:txBody>
          <a:bodyPr/>
          <a:lstStyle/>
          <a:p>
            <a:r>
              <a:rPr lang="en-IN"/>
              <a:t>Aggregate Planning</a:t>
            </a:r>
            <a:endParaRPr lang="en-IN" dirty="0"/>
          </a:p>
        </p:txBody>
      </p:sp>
      <p:sp>
        <p:nvSpPr>
          <p:cNvPr id="6" name="Slide Number Placeholder 5">
            <a:extLst>
              <a:ext uri="{FF2B5EF4-FFF2-40B4-BE49-F238E27FC236}">
                <a16:creationId xmlns:a16="http://schemas.microsoft.com/office/drawing/2014/main" id="{D027C592-E991-F8AD-49AD-6DA729E48DC5}"/>
              </a:ext>
            </a:extLst>
          </p:cNvPr>
          <p:cNvSpPr>
            <a:spLocks noGrp="1"/>
          </p:cNvSpPr>
          <p:nvPr>
            <p:ph type="sldNum" idx="12"/>
          </p:nvPr>
        </p:nvSpPr>
        <p:spPr/>
        <p:txBody>
          <a:bodyPr/>
          <a:lstStyle/>
          <a:p>
            <a:fld id="{00000000-1234-1234-1234-123412341234}" type="slidenum">
              <a:rPr lang="en-US" smtClean="0"/>
              <a:pPr/>
              <a:t>23</a:t>
            </a:fld>
            <a:endParaRPr lang="en-US" dirty="0"/>
          </a:p>
        </p:txBody>
      </p:sp>
      <p:pic>
        <p:nvPicPr>
          <p:cNvPr id="8" name="Picture 7">
            <a:extLst>
              <a:ext uri="{FF2B5EF4-FFF2-40B4-BE49-F238E27FC236}">
                <a16:creationId xmlns:a16="http://schemas.microsoft.com/office/drawing/2014/main" id="{A6BFD0B3-D049-1558-FD68-518B7B8655A3}"/>
              </a:ext>
            </a:extLst>
          </p:cNvPr>
          <p:cNvPicPr>
            <a:picLocks noChangeAspect="1"/>
          </p:cNvPicPr>
          <p:nvPr/>
        </p:nvPicPr>
        <p:blipFill>
          <a:blip r:embed="rId2"/>
          <a:stretch>
            <a:fillRect/>
          </a:stretch>
        </p:blipFill>
        <p:spPr>
          <a:xfrm>
            <a:off x="678008" y="1196968"/>
            <a:ext cx="10528841" cy="3124361"/>
          </a:xfrm>
          <a:prstGeom prst="rect">
            <a:avLst/>
          </a:prstGeom>
        </p:spPr>
      </p:pic>
    </p:spTree>
    <p:extLst>
      <p:ext uri="{BB962C8B-B14F-4D97-AF65-F5344CB8AC3E}">
        <p14:creationId xmlns:p14="http://schemas.microsoft.com/office/powerpoint/2010/main" val="18566543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935FE-E818-9D2B-105E-DF3A7A2D4B53}"/>
              </a:ext>
            </a:extLst>
          </p:cNvPr>
          <p:cNvSpPr>
            <a:spLocks noGrp="1"/>
          </p:cNvSpPr>
          <p:nvPr>
            <p:ph type="title"/>
          </p:nvPr>
        </p:nvSpPr>
        <p:spPr/>
        <p:txBody>
          <a:bodyPr/>
          <a:lstStyle/>
          <a:p>
            <a:r>
              <a:rPr lang="en-US" kern="1200" dirty="0">
                <a:latin typeface="Times New Roman" panose="02020603050405020304" pitchFamily="18" charset="0"/>
                <a:ea typeface="+mj-ea"/>
                <a:cs typeface="+mj-cs"/>
              </a:rPr>
              <a:t>Peak Demand Strategy</a:t>
            </a:r>
            <a:endParaRPr lang="en-IN" dirty="0"/>
          </a:p>
        </p:txBody>
      </p:sp>
      <p:sp>
        <p:nvSpPr>
          <p:cNvPr id="3" name="Text Placeholder 2">
            <a:extLst>
              <a:ext uri="{FF2B5EF4-FFF2-40B4-BE49-F238E27FC236}">
                <a16:creationId xmlns:a16="http://schemas.microsoft.com/office/drawing/2014/main" id="{3BF7D035-DE3B-4A13-74D1-243BF406CB19}"/>
              </a:ext>
            </a:extLst>
          </p:cNvPr>
          <p:cNvSpPr>
            <a:spLocks noGrp="1"/>
          </p:cNvSpPr>
          <p:nvPr>
            <p:ph type="body" idx="1"/>
          </p:nvPr>
        </p:nvSpPr>
        <p:spPr>
          <a:xfrm>
            <a:off x="407446" y="1035437"/>
            <a:ext cx="6926869" cy="5035928"/>
          </a:xfrm>
        </p:spPr>
        <p:txBody>
          <a:bodyPr/>
          <a:lstStyle/>
          <a:p>
            <a:pPr marL="255651" lvl="0" indent="-255651" defTabSz="457200">
              <a:spcAft>
                <a:spcPct val="0"/>
              </a:spcAft>
              <a:buFont typeface="Arial" panose="020B0604020202020204" pitchFamily="34" charset="0"/>
              <a:buChar char="•"/>
              <a:tabLst/>
            </a:pPr>
            <a:r>
              <a:rPr lang="en-US" sz="2800" kern="1200" dirty="0">
                <a:solidFill>
                  <a:srgbClr val="000000"/>
                </a:solidFill>
                <a:ea typeface="+mn-ea"/>
              </a:rPr>
              <a:t>Use excess machine capacity</a:t>
            </a:r>
          </a:p>
          <a:p>
            <a:pPr marL="255651" lvl="0" indent="-255651" defTabSz="457200">
              <a:spcAft>
                <a:spcPct val="0"/>
              </a:spcAft>
              <a:buFont typeface="Arial" panose="020B0604020202020204" pitchFamily="34" charset="0"/>
              <a:buChar char="•"/>
            </a:pPr>
            <a:r>
              <a:rPr lang="en-US" kern="1200" dirty="0">
                <a:solidFill>
                  <a:srgbClr val="000000"/>
                </a:solidFill>
                <a:ea typeface="+mn-ea"/>
              </a:rPr>
              <a:t>Maintaining resources for peak demand levels ensures high levels of customer service but can be very costly in terms of the investment in extra workers and machines that remain idle during low-demand periods. </a:t>
            </a:r>
          </a:p>
          <a:p>
            <a:pPr marL="255651" lvl="0" indent="-255651" defTabSz="457200">
              <a:spcAft>
                <a:spcPct val="0"/>
              </a:spcAft>
              <a:buFont typeface="Arial" panose="020B0604020202020204" pitchFamily="34" charset="0"/>
              <a:buChar char="•"/>
            </a:pPr>
            <a:r>
              <a:rPr lang="en-US" kern="1200" dirty="0">
                <a:solidFill>
                  <a:srgbClr val="000000"/>
                </a:solidFill>
                <a:ea typeface="+mn-ea"/>
              </a:rPr>
              <a:t>This strategy is used when superior customer service is important  or when customers are willing to pay extra for the availability of critical staff or equipment. </a:t>
            </a:r>
          </a:p>
        </p:txBody>
      </p:sp>
      <p:sp>
        <p:nvSpPr>
          <p:cNvPr id="4" name="Date Placeholder 3">
            <a:extLst>
              <a:ext uri="{FF2B5EF4-FFF2-40B4-BE49-F238E27FC236}">
                <a16:creationId xmlns:a16="http://schemas.microsoft.com/office/drawing/2014/main" id="{D1D11934-42E2-2512-274E-47BDF9977EA8}"/>
              </a:ext>
            </a:extLst>
          </p:cNvPr>
          <p:cNvSpPr>
            <a:spLocks noGrp="1"/>
          </p:cNvSpPr>
          <p:nvPr>
            <p:ph type="dt" idx="10"/>
          </p:nvPr>
        </p:nvSpPr>
        <p:spPr/>
        <p:txBody>
          <a:bodyPr/>
          <a:lstStyle/>
          <a:p>
            <a:fld id="{D1FBB12C-6AF2-404C-B802-656F1A988312}" type="datetime1">
              <a:rPr lang="en-IN" smtClean="0"/>
              <a:pPr/>
              <a:t>02-12-2025</a:t>
            </a:fld>
            <a:endParaRPr lang="en-IN" dirty="0"/>
          </a:p>
        </p:txBody>
      </p:sp>
      <p:sp>
        <p:nvSpPr>
          <p:cNvPr id="5" name="Footer Placeholder 4">
            <a:extLst>
              <a:ext uri="{FF2B5EF4-FFF2-40B4-BE49-F238E27FC236}">
                <a16:creationId xmlns:a16="http://schemas.microsoft.com/office/drawing/2014/main" id="{81E054F4-E44E-F4F4-8780-3A63FF312047}"/>
              </a:ext>
            </a:extLst>
          </p:cNvPr>
          <p:cNvSpPr>
            <a:spLocks noGrp="1"/>
          </p:cNvSpPr>
          <p:nvPr>
            <p:ph type="ftr" idx="11"/>
          </p:nvPr>
        </p:nvSpPr>
        <p:spPr/>
        <p:txBody>
          <a:bodyPr/>
          <a:lstStyle/>
          <a:p>
            <a:r>
              <a:rPr lang="en-US" dirty="0"/>
              <a:t>Aggregate Planning</a:t>
            </a:r>
          </a:p>
        </p:txBody>
      </p:sp>
      <p:sp>
        <p:nvSpPr>
          <p:cNvPr id="6" name="Slide Number Placeholder 5">
            <a:extLst>
              <a:ext uri="{FF2B5EF4-FFF2-40B4-BE49-F238E27FC236}">
                <a16:creationId xmlns:a16="http://schemas.microsoft.com/office/drawing/2014/main" id="{21D74B82-0EB9-4766-6FC1-4ACFFE6BC7F9}"/>
              </a:ext>
            </a:extLst>
          </p:cNvPr>
          <p:cNvSpPr>
            <a:spLocks noGrp="1"/>
          </p:cNvSpPr>
          <p:nvPr>
            <p:ph type="sldNum" idx="12"/>
          </p:nvPr>
        </p:nvSpPr>
        <p:spPr/>
        <p:txBody>
          <a:bodyPr/>
          <a:lstStyle/>
          <a:p>
            <a:fld id="{00000000-1234-1234-1234-123412341234}" type="slidenum">
              <a:rPr lang="en-US" smtClean="0"/>
              <a:pPr/>
              <a:t>24</a:t>
            </a:fld>
            <a:endParaRPr lang="en-US" dirty="0"/>
          </a:p>
        </p:txBody>
      </p:sp>
      <p:pic>
        <p:nvPicPr>
          <p:cNvPr id="20" name="Picture 19">
            <a:extLst>
              <a:ext uri="{FF2B5EF4-FFF2-40B4-BE49-F238E27FC236}">
                <a16:creationId xmlns:a16="http://schemas.microsoft.com/office/drawing/2014/main" id="{15FD0C92-72E2-98AE-7E47-D6CCFCF968ED}"/>
              </a:ext>
            </a:extLst>
          </p:cNvPr>
          <p:cNvPicPr>
            <a:picLocks noChangeAspect="1"/>
          </p:cNvPicPr>
          <p:nvPr/>
        </p:nvPicPr>
        <p:blipFill rotWithShape="1">
          <a:blip r:embed="rId2"/>
          <a:srcRect l="13403" t="13931" r="22647" b="3151"/>
          <a:stretch/>
        </p:blipFill>
        <p:spPr>
          <a:xfrm>
            <a:off x="7334315" y="1117655"/>
            <a:ext cx="4965165" cy="2678167"/>
          </a:xfrm>
          <a:prstGeom prst="rect">
            <a:avLst/>
          </a:prstGeom>
        </p:spPr>
      </p:pic>
    </p:spTree>
    <p:extLst>
      <p:ext uri="{BB962C8B-B14F-4D97-AF65-F5344CB8AC3E}">
        <p14:creationId xmlns:p14="http://schemas.microsoft.com/office/powerpoint/2010/main" val="2788997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6A3C6-5709-36EC-DCC4-FDA364741B88}"/>
              </a:ext>
            </a:extLst>
          </p:cNvPr>
          <p:cNvSpPr>
            <a:spLocks noGrp="1"/>
          </p:cNvSpPr>
          <p:nvPr>
            <p:ph type="title"/>
          </p:nvPr>
        </p:nvSpPr>
        <p:spPr/>
        <p:txBody>
          <a:bodyPr/>
          <a:lstStyle/>
          <a:p>
            <a:r>
              <a:rPr lang="en-IN" dirty="0"/>
              <a:t>Overtime and Undertime</a:t>
            </a:r>
          </a:p>
        </p:txBody>
      </p:sp>
      <p:sp>
        <p:nvSpPr>
          <p:cNvPr id="3" name="Text Placeholder 2">
            <a:extLst>
              <a:ext uri="{FF2B5EF4-FFF2-40B4-BE49-F238E27FC236}">
                <a16:creationId xmlns:a16="http://schemas.microsoft.com/office/drawing/2014/main" id="{D83D66FF-630A-81A5-916A-ED566B7D1F7F}"/>
              </a:ext>
            </a:extLst>
          </p:cNvPr>
          <p:cNvSpPr>
            <a:spLocks noGrp="1"/>
          </p:cNvSpPr>
          <p:nvPr>
            <p:ph type="body" idx="1"/>
          </p:nvPr>
        </p:nvSpPr>
        <p:spPr/>
        <p:txBody>
          <a:bodyPr/>
          <a:lstStyle/>
          <a:p>
            <a:r>
              <a:rPr lang="en-IN" i="1" dirty="0"/>
              <a:t>Overtime </a:t>
            </a:r>
            <a:r>
              <a:rPr lang="en-IN" dirty="0"/>
              <a:t>and </a:t>
            </a:r>
            <a:r>
              <a:rPr lang="en-IN" i="1" dirty="0"/>
              <a:t>undertime </a:t>
            </a:r>
            <a:r>
              <a:rPr lang="en-IN" dirty="0"/>
              <a:t>are common strategies when demand fluctuations are not extreme.</a:t>
            </a:r>
          </a:p>
          <a:p>
            <a:r>
              <a:rPr lang="en-IN" sz="3200" b="1" dirty="0"/>
              <a:t>Overtime</a:t>
            </a:r>
            <a:r>
              <a:rPr lang="en-IN" b="1" dirty="0"/>
              <a:t> </a:t>
            </a:r>
          </a:p>
          <a:p>
            <a:pPr>
              <a:buFont typeface="Arial" pitchFamily="34" charset="0"/>
              <a:buChar char="•"/>
            </a:pPr>
            <a:r>
              <a:rPr lang="en-IN" dirty="0"/>
              <a:t>A competent staff is maintained, hiring and firing costs are avoided, and demand is met temporarily without investing in permanent resources. </a:t>
            </a:r>
          </a:p>
          <a:p>
            <a:r>
              <a:rPr lang="en-IN" sz="3200" b="1" dirty="0"/>
              <a:t>Undertime</a:t>
            </a:r>
          </a:p>
          <a:p>
            <a:r>
              <a:rPr lang="en-IN" dirty="0"/>
              <a:t>It </a:t>
            </a:r>
            <a:r>
              <a:rPr lang="en-IN" sz="2800" dirty="0"/>
              <a:t>can be achieved by working fewer hours during the day or fewer days per week. </a:t>
            </a:r>
          </a:p>
          <a:p>
            <a:r>
              <a:rPr lang="en-IN" sz="2800" dirty="0"/>
              <a:t>In addition, vacation time can be scheduled during months of slow demand. </a:t>
            </a:r>
          </a:p>
          <a:p>
            <a:endParaRPr lang="en-IN" dirty="0"/>
          </a:p>
        </p:txBody>
      </p:sp>
      <p:sp>
        <p:nvSpPr>
          <p:cNvPr id="4" name="Date Placeholder 3">
            <a:extLst>
              <a:ext uri="{FF2B5EF4-FFF2-40B4-BE49-F238E27FC236}">
                <a16:creationId xmlns:a16="http://schemas.microsoft.com/office/drawing/2014/main" id="{885F13E7-E912-73C7-37B9-647A970ED5A1}"/>
              </a:ext>
            </a:extLst>
          </p:cNvPr>
          <p:cNvSpPr>
            <a:spLocks noGrp="1"/>
          </p:cNvSpPr>
          <p:nvPr>
            <p:ph type="dt" idx="10"/>
          </p:nvPr>
        </p:nvSpPr>
        <p:spPr/>
        <p:txBody>
          <a:bodyPr/>
          <a:lstStyle/>
          <a:p>
            <a:fld id="{D1FBB12C-6AF2-404C-B802-656F1A988312}" type="datetime1">
              <a:rPr lang="en-IN" smtClean="0"/>
              <a:pPr/>
              <a:t>02-12-2025</a:t>
            </a:fld>
            <a:endParaRPr lang="en-IN" dirty="0"/>
          </a:p>
        </p:txBody>
      </p:sp>
      <p:sp>
        <p:nvSpPr>
          <p:cNvPr id="5" name="Footer Placeholder 4">
            <a:extLst>
              <a:ext uri="{FF2B5EF4-FFF2-40B4-BE49-F238E27FC236}">
                <a16:creationId xmlns:a16="http://schemas.microsoft.com/office/drawing/2014/main" id="{12E6AB2C-2259-6D4B-EBF6-C6F8F7CC209C}"/>
              </a:ext>
            </a:extLst>
          </p:cNvPr>
          <p:cNvSpPr>
            <a:spLocks noGrp="1"/>
          </p:cNvSpPr>
          <p:nvPr>
            <p:ph type="ftr" idx="11"/>
          </p:nvPr>
        </p:nvSpPr>
        <p:spPr/>
        <p:txBody>
          <a:bodyPr/>
          <a:lstStyle/>
          <a:p>
            <a:r>
              <a:rPr lang="en-IN"/>
              <a:t>Aggregate Planning</a:t>
            </a:r>
            <a:endParaRPr lang="en-IN" dirty="0"/>
          </a:p>
        </p:txBody>
      </p:sp>
      <p:sp>
        <p:nvSpPr>
          <p:cNvPr id="6" name="Slide Number Placeholder 5">
            <a:extLst>
              <a:ext uri="{FF2B5EF4-FFF2-40B4-BE49-F238E27FC236}">
                <a16:creationId xmlns:a16="http://schemas.microsoft.com/office/drawing/2014/main" id="{A49D7939-8B85-98C3-D96B-1F1A5F5873C8}"/>
              </a:ext>
            </a:extLst>
          </p:cNvPr>
          <p:cNvSpPr>
            <a:spLocks noGrp="1"/>
          </p:cNvSpPr>
          <p:nvPr>
            <p:ph type="sldNum" idx="12"/>
          </p:nvPr>
        </p:nvSpPr>
        <p:spPr/>
        <p:txBody>
          <a:bodyPr/>
          <a:lstStyle/>
          <a:p>
            <a:fld id="{00000000-1234-1234-1234-123412341234}" type="slidenum">
              <a:rPr lang="en-US" smtClean="0"/>
              <a:pPr/>
              <a:t>25</a:t>
            </a:fld>
            <a:endParaRPr lang="en-US" dirty="0"/>
          </a:p>
        </p:txBody>
      </p:sp>
    </p:spTree>
    <p:extLst>
      <p:ext uri="{BB962C8B-B14F-4D97-AF65-F5344CB8AC3E}">
        <p14:creationId xmlns:p14="http://schemas.microsoft.com/office/powerpoint/2010/main" val="82976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7EA4A-4A0B-4F12-2AA4-1E541C9C7577}"/>
              </a:ext>
            </a:extLst>
          </p:cNvPr>
          <p:cNvSpPr>
            <a:spLocks noGrp="1"/>
          </p:cNvSpPr>
          <p:nvPr>
            <p:ph type="title"/>
          </p:nvPr>
        </p:nvSpPr>
        <p:spPr/>
        <p:txBody>
          <a:bodyPr/>
          <a:lstStyle/>
          <a:p>
            <a:r>
              <a:rPr lang="en-IN" dirty="0"/>
              <a:t>Subcontracting and </a:t>
            </a:r>
            <a:r>
              <a:rPr lang="en-IN" b="1" dirty="0"/>
              <a:t>Part-time Workers</a:t>
            </a:r>
            <a:br>
              <a:rPr lang="en-IN" b="1" dirty="0"/>
            </a:br>
            <a:endParaRPr lang="en-IN" dirty="0"/>
          </a:p>
        </p:txBody>
      </p:sp>
      <p:sp>
        <p:nvSpPr>
          <p:cNvPr id="3" name="Text Placeholder 2">
            <a:extLst>
              <a:ext uri="{FF2B5EF4-FFF2-40B4-BE49-F238E27FC236}">
                <a16:creationId xmlns:a16="http://schemas.microsoft.com/office/drawing/2014/main" id="{EED14167-21E4-A401-4785-E63545B4D5F5}"/>
              </a:ext>
            </a:extLst>
          </p:cNvPr>
          <p:cNvSpPr>
            <a:spLocks noGrp="1"/>
          </p:cNvSpPr>
          <p:nvPr>
            <p:ph type="body" idx="1"/>
          </p:nvPr>
        </p:nvSpPr>
        <p:spPr/>
        <p:txBody>
          <a:bodyPr>
            <a:normAutofit lnSpcReduction="10000"/>
          </a:bodyPr>
          <a:lstStyle/>
          <a:p>
            <a:r>
              <a:rPr lang="en-IN" b="1" dirty="0"/>
              <a:t>Subcontracting</a:t>
            </a:r>
          </a:p>
          <a:p>
            <a:r>
              <a:rPr lang="en-IN" i="1" dirty="0"/>
              <a:t>Subcontracting </a:t>
            </a:r>
            <a:r>
              <a:rPr lang="en-IN" dirty="0"/>
              <a:t>or outsourcing is a feasible alternative if a supplier can reliably meet quality and time requirements. </a:t>
            </a:r>
          </a:p>
          <a:p>
            <a:r>
              <a:rPr lang="en-IN" dirty="0"/>
              <a:t>This is a common solution for component parts when demand exceeds expectations for the final product.</a:t>
            </a:r>
          </a:p>
          <a:p>
            <a:r>
              <a:rPr lang="en-IN" b="1" dirty="0"/>
              <a:t>Part-time workers</a:t>
            </a:r>
          </a:p>
          <a:p>
            <a:r>
              <a:rPr lang="en-IN" dirty="0"/>
              <a:t>Using </a:t>
            </a:r>
            <a:r>
              <a:rPr lang="en-IN" i="1" dirty="0"/>
              <a:t>part-time workers </a:t>
            </a:r>
            <a:r>
              <a:rPr lang="en-IN" dirty="0"/>
              <a:t>is feasible for unskilled jobs or in areas with large temporary </a:t>
            </a:r>
            <a:r>
              <a:rPr lang="en-IN" dirty="0" err="1"/>
              <a:t>labor</a:t>
            </a:r>
            <a:r>
              <a:rPr lang="en-IN" dirty="0"/>
              <a:t> pools (such as students, homemakers, or retirees). </a:t>
            </a:r>
          </a:p>
          <a:p>
            <a:r>
              <a:rPr lang="en-IN" dirty="0"/>
              <a:t>Part-time workers are less costly than full-time workers—they receive no health-care or retirement benefits—and are more flexible—their hours usually vary considerably.</a:t>
            </a:r>
          </a:p>
        </p:txBody>
      </p:sp>
      <p:sp>
        <p:nvSpPr>
          <p:cNvPr id="4" name="Date Placeholder 3">
            <a:extLst>
              <a:ext uri="{FF2B5EF4-FFF2-40B4-BE49-F238E27FC236}">
                <a16:creationId xmlns:a16="http://schemas.microsoft.com/office/drawing/2014/main" id="{AEC5BA5A-21B4-4415-A802-A49876AE750E}"/>
              </a:ext>
            </a:extLst>
          </p:cNvPr>
          <p:cNvSpPr>
            <a:spLocks noGrp="1"/>
          </p:cNvSpPr>
          <p:nvPr>
            <p:ph type="dt" idx="10"/>
          </p:nvPr>
        </p:nvSpPr>
        <p:spPr/>
        <p:txBody>
          <a:bodyPr/>
          <a:lstStyle/>
          <a:p>
            <a:fld id="{D1FBB12C-6AF2-404C-B802-656F1A988312}" type="datetime1">
              <a:rPr lang="en-IN" smtClean="0"/>
              <a:pPr/>
              <a:t>02-12-2025</a:t>
            </a:fld>
            <a:endParaRPr lang="en-IN" dirty="0"/>
          </a:p>
        </p:txBody>
      </p:sp>
      <p:sp>
        <p:nvSpPr>
          <p:cNvPr id="5" name="Footer Placeholder 4">
            <a:extLst>
              <a:ext uri="{FF2B5EF4-FFF2-40B4-BE49-F238E27FC236}">
                <a16:creationId xmlns:a16="http://schemas.microsoft.com/office/drawing/2014/main" id="{6FC2D963-1FB0-42DA-32BD-FFFED70701A0}"/>
              </a:ext>
            </a:extLst>
          </p:cNvPr>
          <p:cNvSpPr>
            <a:spLocks noGrp="1"/>
          </p:cNvSpPr>
          <p:nvPr>
            <p:ph type="ftr" idx="11"/>
          </p:nvPr>
        </p:nvSpPr>
        <p:spPr/>
        <p:txBody>
          <a:bodyPr/>
          <a:lstStyle/>
          <a:p>
            <a:r>
              <a:rPr lang="en-IN"/>
              <a:t>Aggregate Planning</a:t>
            </a:r>
            <a:endParaRPr lang="en-IN" dirty="0"/>
          </a:p>
        </p:txBody>
      </p:sp>
      <p:sp>
        <p:nvSpPr>
          <p:cNvPr id="6" name="Slide Number Placeholder 5">
            <a:extLst>
              <a:ext uri="{FF2B5EF4-FFF2-40B4-BE49-F238E27FC236}">
                <a16:creationId xmlns:a16="http://schemas.microsoft.com/office/drawing/2014/main" id="{0B929480-03E9-B823-218D-6E5FE4C801D3}"/>
              </a:ext>
            </a:extLst>
          </p:cNvPr>
          <p:cNvSpPr>
            <a:spLocks noGrp="1"/>
          </p:cNvSpPr>
          <p:nvPr>
            <p:ph type="sldNum" idx="12"/>
          </p:nvPr>
        </p:nvSpPr>
        <p:spPr/>
        <p:txBody>
          <a:bodyPr/>
          <a:lstStyle/>
          <a:p>
            <a:fld id="{00000000-1234-1234-1234-123412341234}" type="slidenum">
              <a:rPr lang="en-US" smtClean="0"/>
              <a:pPr/>
              <a:t>26</a:t>
            </a:fld>
            <a:endParaRPr lang="en-US" dirty="0"/>
          </a:p>
        </p:txBody>
      </p:sp>
    </p:spTree>
    <p:extLst>
      <p:ext uri="{BB962C8B-B14F-4D97-AF65-F5344CB8AC3E}">
        <p14:creationId xmlns:p14="http://schemas.microsoft.com/office/powerpoint/2010/main" val="391223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F31C4-CE10-EADF-528A-21F3E579110D}"/>
              </a:ext>
            </a:extLst>
          </p:cNvPr>
          <p:cNvSpPr>
            <a:spLocks noGrp="1"/>
          </p:cNvSpPr>
          <p:nvPr>
            <p:ph type="title"/>
          </p:nvPr>
        </p:nvSpPr>
        <p:spPr/>
        <p:txBody>
          <a:bodyPr/>
          <a:lstStyle/>
          <a:p>
            <a:r>
              <a:rPr lang="en-IN" dirty="0"/>
              <a:t>Backlogs and Out-of-stock</a:t>
            </a:r>
            <a:br>
              <a:rPr lang="en-IN" dirty="0"/>
            </a:br>
            <a:endParaRPr lang="en-IN" dirty="0"/>
          </a:p>
        </p:txBody>
      </p:sp>
      <p:sp>
        <p:nvSpPr>
          <p:cNvPr id="3" name="Text Placeholder 2">
            <a:extLst>
              <a:ext uri="{FF2B5EF4-FFF2-40B4-BE49-F238E27FC236}">
                <a16:creationId xmlns:a16="http://schemas.microsoft.com/office/drawing/2014/main" id="{AB6F6630-20A4-0D79-5E72-1053C214A308}"/>
              </a:ext>
            </a:extLst>
          </p:cNvPr>
          <p:cNvSpPr>
            <a:spLocks noGrp="1"/>
          </p:cNvSpPr>
          <p:nvPr>
            <p:ph type="body" idx="1"/>
          </p:nvPr>
        </p:nvSpPr>
        <p:spPr/>
        <p:txBody>
          <a:bodyPr/>
          <a:lstStyle/>
          <a:p>
            <a:r>
              <a:rPr lang="en-IN" b="1" dirty="0"/>
              <a:t>Backlog: </a:t>
            </a:r>
            <a:r>
              <a:rPr lang="en-IN" dirty="0"/>
              <a:t>accumulated customer orders to be completed at a later date.</a:t>
            </a:r>
          </a:p>
          <a:p>
            <a:pPr marL="536575">
              <a:buFont typeface="Wingdings" pitchFamily="2" charset="2"/>
              <a:buChar char="Ø"/>
            </a:pPr>
            <a:r>
              <a:rPr lang="en-IN" dirty="0"/>
              <a:t>It grows during periods of high demand and is depleted during periods of low demand. </a:t>
            </a:r>
          </a:p>
          <a:p>
            <a:pPr marL="536575">
              <a:buFont typeface="Wingdings" pitchFamily="2" charset="2"/>
              <a:buChar char="Ø"/>
            </a:pPr>
            <a:r>
              <a:rPr lang="en-IN" dirty="0"/>
              <a:t>The planned backlog is an important part of the aggregate plan.</a:t>
            </a:r>
          </a:p>
          <a:p>
            <a:pPr marL="650875" indent="-457200"/>
            <a:r>
              <a:rPr lang="en-IN" b="1" dirty="0"/>
              <a:t>Out-of-stock: </a:t>
            </a:r>
            <a:r>
              <a:rPr lang="en-IN" dirty="0"/>
              <a:t>Temporary unavailability of an item. </a:t>
            </a:r>
          </a:p>
          <a:p>
            <a:pPr marL="650875" indent="-457200">
              <a:buFont typeface="Wingdings" panose="05000000000000000000" pitchFamily="2" charset="2"/>
              <a:buChar char="Ø"/>
            </a:pPr>
            <a:r>
              <a:rPr lang="en-IN" dirty="0"/>
              <a:t>Lost sales due to out-of-stock items.</a:t>
            </a:r>
          </a:p>
          <a:p>
            <a:pPr marL="650875" indent="-457200">
              <a:buFont typeface="Wingdings" panose="05000000000000000000" pitchFamily="2" charset="2"/>
              <a:buChar char="Ø"/>
            </a:pPr>
            <a:r>
              <a:rPr lang="en-IN" dirty="0"/>
              <a:t>Backordering can be used to decrease lost in sales.</a:t>
            </a:r>
            <a:br>
              <a:rPr lang="en-IN" dirty="0"/>
            </a:br>
            <a:endParaRPr lang="en-IN" dirty="0"/>
          </a:p>
        </p:txBody>
      </p:sp>
      <p:sp>
        <p:nvSpPr>
          <p:cNvPr id="4" name="Date Placeholder 3">
            <a:extLst>
              <a:ext uri="{FF2B5EF4-FFF2-40B4-BE49-F238E27FC236}">
                <a16:creationId xmlns:a16="http://schemas.microsoft.com/office/drawing/2014/main" id="{ECFA5F5C-7F64-F4D2-FB11-FC38E44F4C7B}"/>
              </a:ext>
            </a:extLst>
          </p:cNvPr>
          <p:cNvSpPr>
            <a:spLocks noGrp="1"/>
          </p:cNvSpPr>
          <p:nvPr>
            <p:ph type="dt" idx="10"/>
          </p:nvPr>
        </p:nvSpPr>
        <p:spPr/>
        <p:txBody>
          <a:bodyPr/>
          <a:lstStyle/>
          <a:p>
            <a:fld id="{D1FBB12C-6AF2-404C-B802-656F1A988312}" type="datetime1">
              <a:rPr lang="en-IN" smtClean="0"/>
              <a:pPr/>
              <a:t>02-12-2025</a:t>
            </a:fld>
            <a:endParaRPr lang="en-IN" dirty="0"/>
          </a:p>
        </p:txBody>
      </p:sp>
      <p:sp>
        <p:nvSpPr>
          <p:cNvPr id="5" name="Footer Placeholder 4">
            <a:extLst>
              <a:ext uri="{FF2B5EF4-FFF2-40B4-BE49-F238E27FC236}">
                <a16:creationId xmlns:a16="http://schemas.microsoft.com/office/drawing/2014/main" id="{BAD21A65-9247-D5C8-0D4D-48240FA4ED56}"/>
              </a:ext>
            </a:extLst>
          </p:cNvPr>
          <p:cNvSpPr>
            <a:spLocks noGrp="1"/>
          </p:cNvSpPr>
          <p:nvPr>
            <p:ph type="ftr" idx="11"/>
          </p:nvPr>
        </p:nvSpPr>
        <p:spPr/>
        <p:txBody>
          <a:bodyPr/>
          <a:lstStyle/>
          <a:p>
            <a:r>
              <a:rPr lang="en-IN"/>
              <a:t>Aggregate Planning</a:t>
            </a:r>
            <a:endParaRPr lang="en-IN" dirty="0"/>
          </a:p>
        </p:txBody>
      </p:sp>
      <p:sp>
        <p:nvSpPr>
          <p:cNvPr id="6" name="Slide Number Placeholder 5">
            <a:extLst>
              <a:ext uri="{FF2B5EF4-FFF2-40B4-BE49-F238E27FC236}">
                <a16:creationId xmlns:a16="http://schemas.microsoft.com/office/drawing/2014/main" id="{A0607099-B551-2DEC-D5FA-CF9789D335AE}"/>
              </a:ext>
            </a:extLst>
          </p:cNvPr>
          <p:cNvSpPr>
            <a:spLocks noGrp="1"/>
          </p:cNvSpPr>
          <p:nvPr>
            <p:ph type="sldNum" idx="12"/>
          </p:nvPr>
        </p:nvSpPr>
        <p:spPr/>
        <p:txBody>
          <a:bodyPr/>
          <a:lstStyle/>
          <a:p>
            <a:fld id="{00000000-1234-1234-1234-123412341234}" type="slidenum">
              <a:rPr lang="en-US" smtClean="0"/>
              <a:pPr/>
              <a:t>27</a:t>
            </a:fld>
            <a:endParaRPr lang="en-US" dirty="0"/>
          </a:p>
        </p:txBody>
      </p:sp>
    </p:spTree>
    <p:extLst>
      <p:ext uri="{BB962C8B-B14F-4D97-AF65-F5344CB8AC3E}">
        <p14:creationId xmlns:p14="http://schemas.microsoft.com/office/powerpoint/2010/main" val="3530115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62BE6-F1B6-ADA2-D12A-E94C2E4DADC6}"/>
              </a:ext>
            </a:extLst>
          </p:cNvPr>
          <p:cNvSpPr>
            <a:spLocks noGrp="1"/>
          </p:cNvSpPr>
          <p:nvPr>
            <p:ph type="title"/>
          </p:nvPr>
        </p:nvSpPr>
        <p:spPr/>
        <p:txBody>
          <a:bodyPr/>
          <a:lstStyle/>
          <a:p>
            <a:r>
              <a:rPr lang="en-IN" dirty="0"/>
              <a:t>Strategies for Managing Demand</a:t>
            </a:r>
          </a:p>
        </p:txBody>
      </p:sp>
      <p:sp>
        <p:nvSpPr>
          <p:cNvPr id="3" name="Text Placeholder 2">
            <a:extLst>
              <a:ext uri="{FF2B5EF4-FFF2-40B4-BE49-F238E27FC236}">
                <a16:creationId xmlns:a16="http://schemas.microsoft.com/office/drawing/2014/main" id="{679E04D7-70B7-EBCE-7384-E048D47010AB}"/>
              </a:ext>
            </a:extLst>
          </p:cNvPr>
          <p:cNvSpPr>
            <a:spLocks noGrp="1"/>
          </p:cNvSpPr>
          <p:nvPr>
            <p:ph type="body" idx="1"/>
          </p:nvPr>
        </p:nvSpPr>
        <p:spPr>
          <a:xfrm>
            <a:off x="407446" y="914400"/>
            <a:ext cx="11596712" cy="5156965"/>
          </a:xfrm>
        </p:spPr>
        <p:txBody>
          <a:bodyPr>
            <a:normAutofit fontScale="92500" lnSpcReduction="10000"/>
          </a:bodyPr>
          <a:lstStyle/>
          <a:p>
            <a:pPr marL="114300" indent="0">
              <a:buNone/>
            </a:pPr>
            <a:r>
              <a:rPr lang="en-IN" sz="3000" dirty="0"/>
              <a:t>Strategies for managing demand include—</a:t>
            </a:r>
          </a:p>
          <a:p>
            <a:r>
              <a:rPr lang="en-IN" sz="3000" dirty="0"/>
              <a:t>Create new demand</a:t>
            </a:r>
          </a:p>
          <a:p>
            <a:r>
              <a:rPr lang="en-IN" sz="3000" dirty="0"/>
              <a:t>Backordering </a:t>
            </a:r>
          </a:p>
          <a:p>
            <a:r>
              <a:rPr lang="en-IN" sz="3000" dirty="0"/>
              <a:t>Shifting demand into other time periods with incentives or by varying pricing, sales promotions, and advertising campaigns.</a:t>
            </a:r>
          </a:p>
          <a:p>
            <a:pPr marL="722313">
              <a:buFont typeface="Wingdings" pitchFamily="2" charset="2"/>
              <a:buChar char="Ø"/>
            </a:pPr>
            <a:r>
              <a:rPr lang="en-IN" sz="2600" dirty="0"/>
              <a:t>Examples: Winter coat specials in July and bathing-suit sales in January are attempts to shift demand into different time periods.</a:t>
            </a:r>
          </a:p>
          <a:p>
            <a:r>
              <a:rPr lang="en-IN" sz="3000" dirty="0"/>
              <a:t>Offering products or services with countercyclical demand patterns.</a:t>
            </a:r>
          </a:p>
          <a:p>
            <a:pPr marL="722313">
              <a:buFont typeface="Wingdings" pitchFamily="2" charset="2"/>
              <a:buChar char="Ø"/>
            </a:pPr>
            <a:r>
              <a:rPr lang="en-IN" sz="2400" dirty="0"/>
              <a:t>This approach involves examining the idleness of resources and creating a demand for those resources. </a:t>
            </a:r>
          </a:p>
          <a:p>
            <a:pPr marL="722313">
              <a:buFont typeface="Wingdings" pitchFamily="2" charset="2"/>
              <a:buChar char="Ø"/>
            </a:pPr>
            <a:r>
              <a:rPr lang="en-IN" sz="2400" dirty="0"/>
              <a:t>McDonald’s offers breakfast to keep its kitchens busy during the </a:t>
            </a:r>
            <a:r>
              <a:rPr lang="en-IN" sz="2400" dirty="0" err="1"/>
              <a:t>prelunch</a:t>
            </a:r>
            <a:r>
              <a:rPr lang="en-IN" sz="2400" dirty="0"/>
              <a:t> hours.</a:t>
            </a:r>
          </a:p>
          <a:p>
            <a:pPr marL="722313">
              <a:buFont typeface="Wingdings" pitchFamily="2" charset="2"/>
              <a:buChar char="Ø"/>
            </a:pPr>
            <a:r>
              <a:rPr lang="en-IN" sz="2400" dirty="0"/>
              <a:t>Heating firms also sell air conditioners.</a:t>
            </a:r>
          </a:p>
        </p:txBody>
      </p:sp>
      <p:sp>
        <p:nvSpPr>
          <p:cNvPr id="4" name="Date Placeholder 3">
            <a:extLst>
              <a:ext uri="{FF2B5EF4-FFF2-40B4-BE49-F238E27FC236}">
                <a16:creationId xmlns:a16="http://schemas.microsoft.com/office/drawing/2014/main" id="{18D3A60B-292A-01FE-28C9-7E5C2FDA86A6}"/>
              </a:ext>
            </a:extLst>
          </p:cNvPr>
          <p:cNvSpPr>
            <a:spLocks noGrp="1"/>
          </p:cNvSpPr>
          <p:nvPr>
            <p:ph type="dt" idx="10"/>
          </p:nvPr>
        </p:nvSpPr>
        <p:spPr/>
        <p:txBody>
          <a:bodyPr/>
          <a:lstStyle/>
          <a:p>
            <a:fld id="{D1FBB12C-6AF2-404C-B802-656F1A988312}" type="datetime1">
              <a:rPr lang="en-IN" smtClean="0"/>
              <a:pPr/>
              <a:t>02-12-2025</a:t>
            </a:fld>
            <a:endParaRPr lang="en-IN" dirty="0"/>
          </a:p>
        </p:txBody>
      </p:sp>
      <p:sp>
        <p:nvSpPr>
          <p:cNvPr id="5" name="Footer Placeholder 4">
            <a:extLst>
              <a:ext uri="{FF2B5EF4-FFF2-40B4-BE49-F238E27FC236}">
                <a16:creationId xmlns:a16="http://schemas.microsoft.com/office/drawing/2014/main" id="{83B25FB2-7276-AAC9-24D9-741CEBB9D7D4}"/>
              </a:ext>
            </a:extLst>
          </p:cNvPr>
          <p:cNvSpPr>
            <a:spLocks noGrp="1"/>
          </p:cNvSpPr>
          <p:nvPr>
            <p:ph type="ftr" idx="11"/>
          </p:nvPr>
        </p:nvSpPr>
        <p:spPr/>
        <p:txBody>
          <a:bodyPr/>
          <a:lstStyle/>
          <a:p>
            <a:r>
              <a:rPr lang="en-IN"/>
              <a:t>Aggregate Planning</a:t>
            </a:r>
            <a:endParaRPr lang="en-IN" dirty="0"/>
          </a:p>
        </p:txBody>
      </p:sp>
      <p:sp>
        <p:nvSpPr>
          <p:cNvPr id="6" name="Slide Number Placeholder 5">
            <a:extLst>
              <a:ext uri="{FF2B5EF4-FFF2-40B4-BE49-F238E27FC236}">
                <a16:creationId xmlns:a16="http://schemas.microsoft.com/office/drawing/2014/main" id="{B44AA61D-5F03-224F-A43A-9B33ECAD16E6}"/>
              </a:ext>
            </a:extLst>
          </p:cNvPr>
          <p:cNvSpPr>
            <a:spLocks noGrp="1"/>
          </p:cNvSpPr>
          <p:nvPr>
            <p:ph type="sldNum" idx="12"/>
          </p:nvPr>
        </p:nvSpPr>
        <p:spPr/>
        <p:txBody>
          <a:bodyPr/>
          <a:lstStyle/>
          <a:p>
            <a:fld id="{00000000-1234-1234-1234-123412341234}" type="slidenum">
              <a:rPr lang="en-US" smtClean="0"/>
              <a:pPr/>
              <a:t>28</a:t>
            </a:fld>
            <a:endParaRPr lang="en-US" dirty="0"/>
          </a:p>
        </p:txBody>
      </p:sp>
    </p:spTree>
    <p:extLst>
      <p:ext uri="{BB962C8B-B14F-4D97-AF65-F5344CB8AC3E}">
        <p14:creationId xmlns:p14="http://schemas.microsoft.com/office/powerpoint/2010/main" val="232589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0AE2A-C3FF-0BDD-D58E-82FC500D5BA8}"/>
              </a:ext>
            </a:extLst>
          </p:cNvPr>
          <p:cNvSpPr>
            <a:spLocks noGrp="1"/>
          </p:cNvSpPr>
          <p:nvPr>
            <p:ph type="title"/>
          </p:nvPr>
        </p:nvSpPr>
        <p:spPr/>
        <p:txBody>
          <a:bodyPr/>
          <a:lstStyle/>
          <a:p>
            <a:r>
              <a:rPr lang="en-IN" dirty="0"/>
              <a:t>Quick Review</a:t>
            </a:r>
          </a:p>
        </p:txBody>
      </p:sp>
      <p:sp>
        <p:nvSpPr>
          <p:cNvPr id="3" name="Text Placeholder 2">
            <a:extLst>
              <a:ext uri="{FF2B5EF4-FFF2-40B4-BE49-F238E27FC236}">
                <a16:creationId xmlns:a16="http://schemas.microsoft.com/office/drawing/2014/main" id="{0F082CDF-9A62-D740-201F-41040E7C6C69}"/>
              </a:ext>
            </a:extLst>
          </p:cNvPr>
          <p:cNvSpPr>
            <a:spLocks noGrp="1"/>
          </p:cNvSpPr>
          <p:nvPr>
            <p:ph type="body" idx="1"/>
          </p:nvPr>
        </p:nvSpPr>
        <p:spPr>
          <a:xfrm>
            <a:off x="2929890" y="1725026"/>
            <a:ext cx="3433034" cy="685801"/>
          </a:xfrm>
          <a:ln>
            <a:solidFill>
              <a:schemeClr val="tx1"/>
            </a:solidFill>
          </a:ln>
        </p:spPr>
        <p:txBody>
          <a:bodyPr>
            <a:normAutofit lnSpcReduction="10000"/>
          </a:bodyPr>
          <a:lstStyle/>
          <a:p>
            <a:pPr marL="114300" indent="0" algn="ctr">
              <a:buNone/>
            </a:pPr>
            <a:r>
              <a:rPr lang="en-IN" sz="3600" b="1" dirty="0">
                <a:solidFill>
                  <a:srgbClr val="FF0000"/>
                </a:solidFill>
              </a:rPr>
              <a:t>True or False</a:t>
            </a:r>
          </a:p>
        </p:txBody>
      </p:sp>
      <p:sp>
        <p:nvSpPr>
          <p:cNvPr id="4" name="Date Placeholder 3">
            <a:extLst>
              <a:ext uri="{FF2B5EF4-FFF2-40B4-BE49-F238E27FC236}">
                <a16:creationId xmlns:a16="http://schemas.microsoft.com/office/drawing/2014/main" id="{45B0FCAC-B3FB-F4D7-14FE-C9A22C5A71BB}"/>
              </a:ext>
            </a:extLst>
          </p:cNvPr>
          <p:cNvSpPr>
            <a:spLocks noGrp="1"/>
          </p:cNvSpPr>
          <p:nvPr>
            <p:ph type="dt" idx="10"/>
          </p:nvPr>
        </p:nvSpPr>
        <p:spPr/>
        <p:txBody>
          <a:bodyPr/>
          <a:lstStyle/>
          <a:p>
            <a:fld id="{D1FBB12C-6AF2-404C-B802-656F1A988312}" type="datetime1">
              <a:rPr lang="en-IN" smtClean="0"/>
              <a:pPr/>
              <a:t>02-12-2025</a:t>
            </a:fld>
            <a:endParaRPr lang="en-IN" dirty="0"/>
          </a:p>
        </p:txBody>
      </p:sp>
      <p:sp>
        <p:nvSpPr>
          <p:cNvPr id="5" name="Footer Placeholder 4">
            <a:extLst>
              <a:ext uri="{FF2B5EF4-FFF2-40B4-BE49-F238E27FC236}">
                <a16:creationId xmlns:a16="http://schemas.microsoft.com/office/drawing/2014/main" id="{234DF968-C6D0-DE34-A5DC-DE788794A554}"/>
              </a:ext>
            </a:extLst>
          </p:cNvPr>
          <p:cNvSpPr>
            <a:spLocks noGrp="1"/>
          </p:cNvSpPr>
          <p:nvPr>
            <p:ph type="ftr" idx="11"/>
          </p:nvPr>
        </p:nvSpPr>
        <p:spPr/>
        <p:txBody>
          <a:bodyPr/>
          <a:lstStyle/>
          <a:p>
            <a:r>
              <a:rPr lang="en-IN" dirty="0"/>
              <a:t>Aggregate Planning</a:t>
            </a:r>
          </a:p>
        </p:txBody>
      </p:sp>
      <p:sp>
        <p:nvSpPr>
          <p:cNvPr id="6" name="Slide Number Placeholder 5">
            <a:extLst>
              <a:ext uri="{FF2B5EF4-FFF2-40B4-BE49-F238E27FC236}">
                <a16:creationId xmlns:a16="http://schemas.microsoft.com/office/drawing/2014/main" id="{18BFC000-1886-70BE-55E3-3345CE7231F0}"/>
              </a:ext>
            </a:extLst>
          </p:cNvPr>
          <p:cNvSpPr>
            <a:spLocks noGrp="1"/>
          </p:cNvSpPr>
          <p:nvPr>
            <p:ph type="sldNum" idx="12"/>
          </p:nvPr>
        </p:nvSpPr>
        <p:spPr/>
        <p:txBody>
          <a:bodyPr/>
          <a:lstStyle/>
          <a:p>
            <a:fld id="{00000000-1234-1234-1234-123412341234}" type="slidenum">
              <a:rPr lang="en-US" smtClean="0"/>
              <a:pPr/>
              <a:t>29</a:t>
            </a:fld>
            <a:endParaRPr lang="en-US" dirty="0"/>
          </a:p>
        </p:txBody>
      </p:sp>
      <p:sp>
        <p:nvSpPr>
          <p:cNvPr id="7" name="Text Placeholder 2">
            <a:extLst>
              <a:ext uri="{FF2B5EF4-FFF2-40B4-BE49-F238E27FC236}">
                <a16:creationId xmlns:a16="http://schemas.microsoft.com/office/drawing/2014/main" id="{EB6EBBDD-8016-0BDE-2DD6-646C2D691877}"/>
              </a:ext>
            </a:extLst>
          </p:cNvPr>
          <p:cNvSpPr txBox="1">
            <a:spLocks/>
          </p:cNvSpPr>
          <p:nvPr/>
        </p:nvSpPr>
        <p:spPr>
          <a:xfrm>
            <a:off x="2137410" y="2583093"/>
            <a:ext cx="5452109" cy="571588"/>
          </a:xfrm>
          <a:prstGeom prst="rect">
            <a:avLst/>
          </a:prstGeom>
          <a:noFill/>
          <a:ln>
            <a:solidFill>
              <a:schemeClr val="tx1"/>
            </a:solid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Times New Roman" panose="02020603050405020304" pitchFamily="18" charset="0"/>
                <a:ea typeface="Century Gothic"/>
                <a:cs typeface="Times New Roman" panose="02020603050405020304" pitchFamily="18" charset="0"/>
                <a:sym typeface="Century Gothic"/>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lgn="ctr">
              <a:buFont typeface="Arial"/>
              <a:buNone/>
            </a:pPr>
            <a:r>
              <a:rPr lang="en-IN" sz="3200" b="1" dirty="0">
                <a:solidFill>
                  <a:srgbClr val="00B050"/>
                </a:solidFill>
              </a:rPr>
              <a:t>Correct Answer: True</a:t>
            </a:r>
          </a:p>
        </p:txBody>
      </p:sp>
      <p:sp>
        <p:nvSpPr>
          <p:cNvPr id="18" name="TextBox 17">
            <a:extLst>
              <a:ext uri="{FF2B5EF4-FFF2-40B4-BE49-F238E27FC236}">
                <a16:creationId xmlns:a16="http://schemas.microsoft.com/office/drawing/2014/main" id="{374EDA02-5EE2-1F34-BBC1-A35456D82EC8}"/>
              </a:ext>
            </a:extLst>
          </p:cNvPr>
          <p:cNvSpPr txBox="1"/>
          <p:nvPr/>
        </p:nvSpPr>
        <p:spPr>
          <a:xfrm>
            <a:off x="497439" y="3967844"/>
            <a:ext cx="10762781" cy="954107"/>
          </a:xfrm>
          <a:prstGeom prst="rect">
            <a:avLst/>
          </a:prstGeom>
          <a:noFill/>
          <a:ln>
            <a:solidFill>
              <a:schemeClr val="tx1"/>
            </a:solidFill>
          </a:ln>
        </p:spPr>
        <p:txBody>
          <a:bodyPr wrap="square">
            <a:spAutoFit/>
          </a:bodyPr>
          <a:lstStyle/>
          <a:p>
            <a:pPr algn="ctr"/>
            <a:r>
              <a:rPr lang="en-US" sz="2800" b="0" i="0" u="none" strike="noStrike" baseline="0" dirty="0">
                <a:solidFill>
                  <a:srgbClr val="000000"/>
                </a:solidFill>
                <a:latin typeface="Times New Roman" panose="02020603050405020304" pitchFamily="18" charset="0"/>
              </a:rPr>
              <a:t>A “chase” strategy in aggregate planning would attempt to match capacity and demand. </a:t>
            </a:r>
            <a:endParaRPr lang="en-IN" sz="2800" dirty="0"/>
          </a:p>
        </p:txBody>
      </p:sp>
    </p:spTree>
    <p:extLst>
      <p:ext uri="{BB962C8B-B14F-4D97-AF65-F5344CB8AC3E}">
        <p14:creationId xmlns:p14="http://schemas.microsoft.com/office/powerpoint/2010/main" val="341075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0AE2A-C3FF-0BDD-D58E-82FC500D5BA8}"/>
              </a:ext>
            </a:extLst>
          </p:cNvPr>
          <p:cNvSpPr>
            <a:spLocks noGrp="1"/>
          </p:cNvSpPr>
          <p:nvPr>
            <p:ph type="title"/>
          </p:nvPr>
        </p:nvSpPr>
        <p:spPr/>
        <p:txBody>
          <a:bodyPr/>
          <a:lstStyle/>
          <a:p>
            <a:r>
              <a:rPr lang="en-IN" dirty="0"/>
              <a:t>Quick Review</a:t>
            </a:r>
          </a:p>
        </p:txBody>
      </p:sp>
      <p:sp>
        <p:nvSpPr>
          <p:cNvPr id="3" name="Text Placeholder 2">
            <a:extLst>
              <a:ext uri="{FF2B5EF4-FFF2-40B4-BE49-F238E27FC236}">
                <a16:creationId xmlns:a16="http://schemas.microsoft.com/office/drawing/2014/main" id="{0F082CDF-9A62-D740-201F-41040E7C6C69}"/>
              </a:ext>
            </a:extLst>
          </p:cNvPr>
          <p:cNvSpPr>
            <a:spLocks noGrp="1"/>
          </p:cNvSpPr>
          <p:nvPr>
            <p:ph type="body" idx="1"/>
          </p:nvPr>
        </p:nvSpPr>
        <p:spPr>
          <a:xfrm>
            <a:off x="2929890" y="1725026"/>
            <a:ext cx="3433034" cy="685801"/>
          </a:xfrm>
          <a:ln>
            <a:solidFill>
              <a:schemeClr val="tx1"/>
            </a:solidFill>
          </a:ln>
        </p:spPr>
        <p:txBody>
          <a:bodyPr>
            <a:normAutofit lnSpcReduction="10000"/>
          </a:bodyPr>
          <a:lstStyle/>
          <a:p>
            <a:pPr marL="114300" indent="0" algn="ctr">
              <a:buNone/>
            </a:pPr>
            <a:r>
              <a:rPr lang="en-IN" sz="3600" b="1" dirty="0">
                <a:solidFill>
                  <a:srgbClr val="FF0000"/>
                </a:solidFill>
              </a:rPr>
              <a:t>MCQ</a:t>
            </a:r>
          </a:p>
        </p:txBody>
      </p:sp>
      <p:sp>
        <p:nvSpPr>
          <p:cNvPr id="4" name="Date Placeholder 3">
            <a:extLst>
              <a:ext uri="{FF2B5EF4-FFF2-40B4-BE49-F238E27FC236}">
                <a16:creationId xmlns:a16="http://schemas.microsoft.com/office/drawing/2014/main" id="{45B0FCAC-B3FB-F4D7-14FE-C9A22C5A71BB}"/>
              </a:ext>
            </a:extLst>
          </p:cNvPr>
          <p:cNvSpPr>
            <a:spLocks noGrp="1"/>
          </p:cNvSpPr>
          <p:nvPr>
            <p:ph type="dt" idx="10"/>
          </p:nvPr>
        </p:nvSpPr>
        <p:spPr/>
        <p:txBody>
          <a:bodyPr/>
          <a:lstStyle/>
          <a:p>
            <a:fld id="{D1FBB12C-6AF2-404C-B802-656F1A988312}" type="datetime1">
              <a:rPr lang="en-IN" smtClean="0"/>
              <a:pPr/>
              <a:t>02-12-2025</a:t>
            </a:fld>
            <a:endParaRPr lang="en-IN" dirty="0"/>
          </a:p>
        </p:txBody>
      </p:sp>
      <p:sp>
        <p:nvSpPr>
          <p:cNvPr id="5" name="Footer Placeholder 4">
            <a:extLst>
              <a:ext uri="{FF2B5EF4-FFF2-40B4-BE49-F238E27FC236}">
                <a16:creationId xmlns:a16="http://schemas.microsoft.com/office/drawing/2014/main" id="{234DF968-C6D0-DE34-A5DC-DE788794A554}"/>
              </a:ext>
            </a:extLst>
          </p:cNvPr>
          <p:cNvSpPr>
            <a:spLocks noGrp="1"/>
          </p:cNvSpPr>
          <p:nvPr>
            <p:ph type="ftr" idx="11"/>
          </p:nvPr>
        </p:nvSpPr>
        <p:spPr/>
        <p:txBody>
          <a:bodyPr/>
          <a:lstStyle/>
          <a:p>
            <a:r>
              <a:rPr lang="en-IN" dirty="0"/>
              <a:t>Aggregate Planning</a:t>
            </a:r>
          </a:p>
        </p:txBody>
      </p:sp>
      <p:sp>
        <p:nvSpPr>
          <p:cNvPr id="6" name="Slide Number Placeholder 5">
            <a:extLst>
              <a:ext uri="{FF2B5EF4-FFF2-40B4-BE49-F238E27FC236}">
                <a16:creationId xmlns:a16="http://schemas.microsoft.com/office/drawing/2014/main" id="{18BFC000-1886-70BE-55E3-3345CE7231F0}"/>
              </a:ext>
            </a:extLst>
          </p:cNvPr>
          <p:cNvSpPr>
            <a:spLocks noGrp="1"/>
          </p:cNvSpPr>
          <p:nvPr>
            <p:ph type="sldNum" idx="12"/>
          </p:nvPr>
        </p:nvSpPr>
        <p:spPr/>
        <p:txBody>
          <a:bodyPr/>
          <a:lstStyle/>
          <a:p>
            <a:fld id="{00000000-1234-1234-1234-123412341234}" type="slidenum">
              <a:rPr lang="en-US" smtClean="0"/>
              <a:pPr/>
              <a:t>30</a:t>
            </a:fld>
            <a:endParaRPr lang="en-US" dirty="0"/>
          </a:p>
        </p:txBody>
      </p:sp>
      <p:sp>
        <p:nvSpPr>
          <p:cNvPr id="7" name="Text Placeholder 2">
            <a:extLst>
              <a:ext uri="{FF2B5EF4-FFF2-40B4-BE49-F238E27FC236}">
                <a16:creationId xmlns:a16="http://schemas.microsoft.com/office/drawing/2014/main" id="{EB6EBBDD-8016-0BDE-2DD6-646C2D691877}"/>
              </a:ext>
            </a:extLst>
          </p:cNvPr>
          <p:cNvSpPr txBox="1">
            <a:spLocks/>
          </p:cNvSpPr>
          <p:nvPr/>
        </p:nvSpPr>
        <p:spPr>
          <a:xfrm>
            <a:off x="2137410" y="2583093"/>
            <a:ext cx="5452109" cy="571588"/>
          </a:xfrm>
          <a:prstGeom prst="rect">
            <a:avLst/>
          </a:prstGeom>
          <a:noFill/>
          <a:ln>
            <a:solidFill>
              <a:schemeClr val="tx1"/>
            </a:solid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Times New Roman" panose="02020603050405020304" pitchFamily="18" charset="0"/>
                <a:ea typeface="Century Gothic"/>
                <a:cs typeface="Times New Roman" panose="02020603050405020304" pitchFamily="18" charset="0"/>
                <a:sym typeface="Century Gothic"/>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lgn="ctr">
              <a:buFont typeface="Arial"/>
              <a:buNone/>
            </a:pPr>
            <a:r>
              <a:rPr lang="en-IN" sz="3200" b="1" dirty="0">
                <a:solidFill>
                  <a:srgbClr val="00B050"/>
                </a:solidFill>
              </a:rPr>
              <a:t>Correct Answer: D</a:t>
            </a:r>
          </a:p>
        </p:txBody>
      </p:sp>
      <p:sp>
        <p:nvSpPr>
          <p:cNvPr id="18" name="TextBox 17">
            <a:extLst>
              <a:ext uri="{FF2B5EF4-FFF2-40B4-BE49-F238E27FC236}">
                <a16:creationId xmlns:a16="http://schemas.microsoft.com/office/drawing/2014/main" id="{374EDA02-5EE2-1F34-BBC1-A35456D82EC8}"/>
              </a:ext>
            </a:extLst>
          </p:cNvPr>
          <p:cNvSpPr txBox="1"/>
          <p:nvPr/>
        </p:nvSpPr>
        <p:spPr>
          <a:xfrm>
            <a:off x="497439" y="3967844"/>
            <a:ext cx="11474821" cy="2246769"/>
          </a:xfrm>
          <a:prstGeom prst="rect">
            <a:avLst/>
          </a:prstGeom>
          <a:noFill/>
          <a:ln>
            <a:solidFill>
              <a:schemeClr val="tx1"/>
            </a:solidFill>
          </a:ln>
        </p:spPr>
        <p:txBody>
          <a:bodyPr wrap="square">
            <a:spAutoFit/>
          </a:bodyPr>
          <a:lstStyle/>
          <a:p>
            <a:r>
              <a:rPr lang="en-US" sz="2800" b="1" i="0" u="none" strike="noStrike" baseline="0" dirty="0">
                <a:solidFill>
                  <a:srgbClr val="000000"/>
                </a:solidFill>
                <a:latin typeface="Times New Roman" panose="02020603050405020304" pitchFamily="18" charset="0"/>
              </a:rPr>
              <a:t>Which one of the following is not a basic option for altering demand?  </a:t>
            </a:r>
          </a:p>
          <a:p>
            <a:pPr marL="514350" indent="-514350">
              <a:buFont typeface="+mj-lt"/>
              <a:buAutoNum type="alphaUcPeriod"/>
            </a:pPr>
            <a:r>
              <a:rPr lang="en-US" sz="2800" i="0" u="none" strike="noStrike" baseline="0" dirty="0">
                <a:solidFill>
                  <a:srgbClr val="000000"/>
                </a:solidFill>
                <a:latin typeface="Times New Roman" panose="02020603050405020304" pitchFamily="18" charset="0"/>
              </a:rPr>
              <a:t> Promotion </a:t>
            </a:r>
          </a:p>
          <a:p>
            <a:pPr marL="514350" indent="-514350">
              <a:buFont typeface="+mj-lt"/>
              <a:buAutoNum type="alphaUcPeriod"/>
            </a:pPr>
            <a:r>
              <a:rPr lang="en-US" sz="2800" i="0" u="none" strike="noStrike" baseline="0" dirty="0">
                <a:solidFill>
                  <a:srgbClr val="000000"/>
                </a:solidFill>
                <a:latin typeface="Times New Roman" panose="02020603050405020304" pitchFamily="18" charset="0"/>
              </a:rPr>
              <a:t> Backordering </a:t>
            </a:r>
          </a:p>
          <a:p>
            <a:pPr marL="514350" indent="-514350">
              <a:buFont typeface="+mj-lt"/>
              <a:buAutoNum type="alphaUcPeriod"/>
            </a:pPr>
            <a:r>
              <a:rPr lang="en-US" sz="2800" i="0" u="none" strike="noStrike" baseline="0" dirty="0">
                <a:solidFill>
                  <a:srgbClr val="000000"/>
                </a:solidFill>
                <a:latin typeface="Times New Roman" panose="02020603050405020304" pitchFamily="18" charset="0"/>
              </a:rPr>
              <a:t> Pricing </a:t>
            </a:r>
          </a:p>
          <a:p>
            <a:pPr marL="514350" indent="-514350">
              <a:buFont typeface="+mj-lt"/>
              <a:buAutoNum type="alphaUcPeriod"/>
            </a:pPr>
            <a:r>
              <a:rPr lang="en-US" sz="2800" i="0" u="none" strike="noStrike" baseline="0" dirty="0">
                <a:solidFill>
                  <a:srgbClr val="000000"/>
                </a:solidFill>
                <a:latin typeface="Times New Roman" panose="02020603050405020304" pitchFamily="18" charset="0"/>
              </a:rPr>
              <a:t> Subcontracting </a:t>
            </a:r>
          </a:p>
        </p:txBody>
      </p:sp>
    </p:spTree>
    <p:extLst>
      <p:ext uri="{BB962C8B-B14F-4D97-AF65-F5344CB8AC3E}">
        <p14:creationId xmlns:p14="http://schemas.microsoft.com/office/powerpoint/2010/main" val="69901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C46BC-9B7C-0FD8-6036-C8E6169EBA15}"/>
              </a:ext>
            </a:extLst>
          </p:cNvPr>
          <p:cNvSpPr>
            <a:spLocks noGrp="1"/>
          </p:cNvSpPr>
          <p:nvPr>
            <p:ph type="title"/>
          </p:nvPr>
        </p:nvSpPr>
        <p:spPr/>
        <p:txBody>
          <a:bodyPr/>
          <a:lstStyle/>
          <a:p>
            <a:r>
              <a:rPr lang="en-IN" dirty="0"/>
              <a:t>Quantitative Techniques for Aggregate Planning</a:t>
            </a:r>
            <a:br>
              <a:rPr lang="en-IN" dirty="0"/>
            </a:br>
            <a:endParaRPr lang="en-IN" dirty="0"/>
          </a:p>
        </p:txBody>
      </p:sp>
      <p:sp>
        <p:nvSpPr>
          <p:cNvPr id="3" name="Text Placeholder 2">
            <a:extLst>
              <a:ext uri="{FF2B5EF4-FFF2-40B4-BE49-F238E27FC236}">
                <a16:creationId xmlns:a16="http://schemas.microsoft.com/office/drawing/2014/main" id="{D8CEC881-90C1-8BC3-C1BB-257AE10D4D22}"/>
              </a:ext>
            </a:extLst>
          </p:cNvPr>
          <p:cNvSpPr>
            <a:spLocks noGrp="1"/>
          </p:cNvSpPr>
          <p:nvPr>
            <p:ph type="body" idx="1"/>
          </p:nvPr>
        </p:nvSpPr>
        <p:spPr/>
        <p:txBody>
          <a:bodyPr/>
          <a:lstStyle/>
          <a:p>
            <a:pPr marL="114300" indent="0">
              <a:buNone/>
            </a:pPr>
            <a:r>
              <a:rPr lang="en-IN" dirty="0"/>
              <a:t>The different quantitative techniques are—</a:t>
            </a:r>
          </a:p>
          <a:p>
            <a:pPr marL="808038">
              <a:buFont typeface="Wingdings" pitchFamily="2" charset="2"/>
              <a:buChar char="Ø"/>
            </a:pPr>
            <a:r>
              <a:rPr lang="en-IN" dirty="0"/>
              <a:t>Pure strategies </a:t>
            </a:r>
          </a:p>
          <a:p>
            <a:pPr marL="808038">
              <a:buFont typeface="Wingdings" pitchFamily="2" charset="2"/>
              <a:buChar char="Ø"/>
            </a:pPr>
            <a:r>
              <a:rPr lang="en-IN" dirty="0"/>
              <a:t>Mixed strategies</a:t>
            </a:r>
          </a:p>
          <a:p>
            <a:pPr marL="1254125">
              <a:buFont typeface="Wingdings" panose="05000000000000000000" pitchFamily="2" charset="2"/>
              <a:buChar char="q"/>
            </a:pPr>
            <a:r>
              <a:rPr lang="en-IN" sz="2400" b="1" dirty="0"/>
              <a:t>Linear programming: </a:t>
            </a:r>
            <a:r>
              <a:rPr lang="en-US" sz="2400" dirty="0"/>
              <a:t>Methods for obtaining optimal solutions to problems involving the allocation of scarce resources in terms of cost minimization or profit maximization.</a:t>
            </a:r>
          </a:p>
          <a:p>
            <a:pPr marL="1701800">
              <a:buFont typeface="Courier New" panose="02070309020205020404" pitchFamily="49" charset="0"/>
              <a:buChar char="o"/>
            </a:pPr>
            <a:r>
              <a:rPr lang="en-US" sz="2000" dirty="0"/>
              <a:t>Problem can be formulated as a </a:t>
            </a:r>
            <a:r>
              <a:rPr lang="en-US" sz="2000" dirty="0">
                <a:solidFill>
                  <a:srgbClr val="FF0000"/>
                </a:solidFill>
              </a:rPr>
              <a:t>transportation-type</a:t>
            </a:r>
            <a:r>
              <a:rPr lang="en-US" sz="2000" dirty="0"/>
              <a:t> programming model.</a:t>
            </a:r>
          </a:p>
          <a:p>
            <a:pPr marL="1254125">
              <a:buFont typeface="Wingdings" panose="05000000000000000000" pitchFamily="2" charset="2"/>
              <a:buChar char="q"/>
            </a:pPr>
            <a:r>
              <a:rPr lang="en-IN" sz="2400" b="1" dirty="0"/>
              <a:t>Simulation models: </a:t>
            </a:r>
            <a:r>
              <a:rPr lang="en-US" sz="2400" dirty="0"/>
              <a:t>Computerized models that can be tested under </a:t>
            </a:r>
            <a:r>
              <a:rPr lang="en-US" sz="2400" dirty="0">
                <a:solidFill>
                  <a:srgbClr val="FF0000"/>
                </a:solidFill>
              </a:rPr>
              <a:t>a variety of conditions</a:t>
            </a:r>
            <a:r>
              <a:rPr lang="en-US" sz="2400" dirty="0"/>
              <a:t> in an attempt to identify reasonably acceptable solutions to problems.</a:t>
            </a:r>
          </a:p>
          <a:p>
            <a:pPr marL="1254125">
              <a:buFont typeface="Wingdings" panose="05000000000000000000" pitchFamily="2" charset="2"/>
              <a:buChar char="q"/>
            </a:pPr>
            <a:r>
              <a:rPr lang="en-IN" sz="2400" dirty="0"/>
              <a:t>Some other quantitative techniques</a:t>
            </a:r>
          </a:p>
          <a:p>
            <a:endParaRPr lang="en-IN" dirty="0"/>
          </a:p>
        </p:txBody>
      </p:sp>
      <p:sp>
        <p:nvSpPr>
          <p:cNvPr id="4" name="Date Placeholder 3">
            <a:extLst>
              <a:ext uri="{FF2B5EF4-FFF2-40B4-BE49-F238E27FC236}">
                <a16:creationId xmlns:a16="http://schemas.microsoft.com/office/drawing/2014/main" id="{D348A453-0A1D-0A24-3CAD-9061C08B058D}"/>
              </a:ext>
            </a:extLst>
          </p:cNvPr>
          <p:cNvSpPr>
            <a:spLocks noGrp="1"/>
          </p:cNvSpPr>
          <p:nvPr>
            <p:ph type="dt" idx="10"/>
          </p:nvPr>
        </p:nvSpPr>
        <p:spPr/>
        <p:txBody>
          <a:bodyPr/>
          <a:lstStyle/>
          <a:p>
            <a:fld id="{D1FBB12C-6AF2-404C-B802-656F1A988312}" type="datetime1">
              <a:rPr lang="en-IN" smtClean="0"/>
              <a:pPr/>
              <a:t>02-12-2025</a:t>
            </a:fld>
            <a:endParaRPr lang="en-IN" dirty="0"/>
          </a:p>
        </p:txBody>
      </p:sp>
      <p:sp>
        <p:nvSpPr>
          <p:cNvPr id="5" name="Footer Placeholder 4">
            <a:extLst>
              <a:ext uri="{FF2B5EF4-FFF2-40B4-BE49-F238E27FC236}">
                <a16:creationId xmlns:a16="http://schemas.microsoft.com/office/drawing/2014/main" id="{BF8BA03A-EDC2-B8FE-274C-3058D62909E1}"/>
              </a:ext>
            </a:extLst>
          </p:cNvPr>
          <p:cNvSpPr>
            <a:spLocks noGrp="1"/>
          </p:cNvSpPr>
          <p:nvPr>
            <p:ph type="ftr" idx="11"/>
          </p:nvPr>
        </p:nvSpPr>
        <p:spPr/>
        <p:txBody>
          <a:bodyPr/>
          <a:lstStyle/>
          <a:p>
            <a:r>
              <a:rPr lang="en-IN"/>
              <a:t>Aggregate Planning</a:t>
            </a:r>
            <a:endParaRPr lang="en-IN" dirty="0"/>
          </a:p>
        </p:txBody>
      </p:sp>
      <p:sp>
        <p:nvSpPr>
          <p:cNvPr id="6" name="Slide Number Placeholder 5">
            <a:extLst>
              <a:ext uri="{FF2B5EF4-FFF2-40B4-BE49-F238E27FC236}">
                <a16:creationId xmlns:a16="http://schemas.microsoft.com/office/drawing/2014/main" id="{E29C6F61-4128-8820-1306-8DE95D67DAD9}"/>
              </a:ext>
            </a:extLst>
          </p:cNvPr>
          <p:cNvSpPr>
            <a:spLocks noGrp="1"/>
          </p:cNvSpPr>
          <p:nvPr>
            <p:ph type="sldNum" idx="12"/>
          </p:nvPr>
        </p:nvSpPr>
        <p:spPr/>
        <p:txBody>
          <a:bodyPr/>
          <a:lstStyle/>
          <a:p>
            <a:fld id="{00000000-1234-1234-1234-123412341234}" type="slidenum">
              <a:rPr lang="en-US" smtClean="0"/>
              <a:pPr/>
              <a:t>31</a:t>
            </a:fld>
            <a:endParaRPr lang="en-US" dirty="0"/>
          </a:p>
        </p:txBody>
      </p:sp>
    </p:spTree>
    <p:extLst>
      <p:ext uri="{BB962C8B-B14F-4D97-AF65-F5344CB8AC3E}">
        <p14:creationId xmlns:p14="http://schemas.microsoft.com/office/powerpoint/2010/main" val="660398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BA8F4-013A-F8EF-1F7F-876B25B11759}"/>
              </a:ext>
            </a:extLst>
          </p:cNvPr>
          <p:cNvSpPr>
            <a:spLocks noGrp="1"/>
          </p:cNvSpPr>
          <p:nvPr>
            <p:ph type="title"/>
          </p:nvPr>
        </p:nvSpPr>
        <p:spPr/>
        <p:txBody>
          <a:bodyPr/>
          <a:lstStyle/>
          <a:p>
            <a:r>
              <a:rPr lang="en-IN" dirty="0"/>
              <a:t>Pure Strategies</a:t>
            </a:r>
          </a:p>
        </p:txBody>
      </p:sp>
      <p:sp>
        <p:nvSpPr>
          <p:cNvPr id="3" name="Text Placeholder 2">
            <a:extLst>
              <a:ext uri="{FF2B5EF4-FFF2-40B4-BE49-F238E27FC236}">
                <a16:creationId xmlns:a16="http://schemas.microsoft.com/office/drawing/2014/main" id="{4DA89A1B-B0BC-9833-B558-04D2D270423E}"/>
              </a:ext>
            </a:extLst>
          </p:cNvPr>
          <p:cNvSpPr>
            <a:spLocks noGrp="1"/>
          </p:cNvSpPr>
          <p:nvPr>
            <p:ph type="body" idx="1"/>
          </p:nvPr>
        </p:nvSpPr>
        <p:spPr/>
        <p:txBody>
          <a:bodyPr/>
          <a:lstStyle/>
          <a:p>
            <a:r>
              <a:rPr lang="en-IN" dirty="0"/>
              <a:t>Solving aggregate planning problems involves—</a:t>
            </a:r>
          </a:p>
          <a:p>
            <a:pPr marL="1073150">
              <a:buFont typeface="Wingdings" pitchFamily="2" charset="2"/>
              <a:buChar char="Ø"/>
            </a:pPr>
            <a:r>
              <a:rPr lang="en-IN" sz="2400" dirty="0"/>
              <a:t>Formulating strategies for meeting demand, </a:t>
            </a:r>
          </a:p>
          <a:p>
            <a:pPr marL="1073150">
              <a:buFont typeface="Wingdings" pitchFamily="2" charset="2"/>
              <a:buChar char="Ø"/>
            </a:pPr>
            <a:r>
              <a:rPr lang="en-IN" sz="2400" dirty="0"/>
              <a:t>Constructing production plans from those strategies, </a:t>
            </a:r>
          </a:p>
          <a:p>
            <a:pPr marL="1073150">
              <a:buFont typeface="Wingdings" pitchFamily="2" charset="2"/>
              <a:buChar char="Ø"/>
            </a:pPr>
            <a:r>
              <a:rPr lang="en-IN" sz="2400" dirty="0"/>
              <a:t>Determining the cost and feasibility of each plan, and</a:t>
            </a:r>
          </a:p>
          <a:p>
            <a:pPr marL="1073150">
              <a:buFont typeface="Wingdings" pitchFamily="2" charset="2"/>
              <a:buChar char="Ø"/>
            </a:pPr>
            <a:r>
              <a:rPr lang="en-IN" sz="2400" dirty="0"/>
              <a:t>Selecting the lowest cost plan from among the feasible alternatives. </a:t>
            </a:r>
          </a:p>
          <a:p>
            <a:endParaRPr lang="en-IN" dirty="0"/>
          </a:p>
          <a:p>
            <a:pPr algn="just"/>
            <a:r>
              <a:rPr lang="en-IN" dirty="0">
                <a:solidFill>
                  <a:srgbClr val="FF0000"/>
                </a:solidFill>
              </a:rPr>
              <a:t>The effectiveness of the aggregate planning process is directly related to management’s understanding of the cost variables involved and the reasonableness of the scenarios tested.</a:t>
            </a:r>
          </a:p>
          <a:p>
            <a:pPr marL="114300" indent="0">
              <a:buNone/>
            </a:pPr>
            <a:endParaRPr lang="en-IN" dirty="0"/>
          </a:p>
        </p:txBody>
      </p:sp>
      <p:sp>
        <p:nvSpPr>
          <p:cNvPr id="4" name="Date Placeholder 3">
            <a:extLst>
              <a:ext uri="{FF2B5EF4-FFF2-40B4-BE49-F238E27FC236}">
                <a16:creationId xmlns:a16="http://schemas.microsoft.com/office/drawing/2014/main" id="{41C308EA-738A-29AF-68C2-CEEC92D71A3E}"/>
              </a:ext>
            </a:extLst>
          </p:cNvPr>
          <p:cNvSpPr>
            <a:spLocks noGrp="1"/>
          </p:cNvSpPr>
          <p:nvPr>
            <p:ph type="dt" idx="10"/>
          </p:nvPr>
        </p:nvSpPr>
        <p:spPr/>
        <p:txBody>
          <a:bodyPr/>
          <a:lstStyle/>
          <a:p>
            <a:fld id="{D1FBB12C-6AF2-404C-B802-656F1A988312}" type="datetime1">
              <a:rPr lang="en-IN" smtClean="0"/>
              <a:pPr/>
              <a:t>02-12-2025</a:t>
            </a:fld>
            <a:endParaRPr lang="en-IN" dirty="0"/>
          </a:p>
        </p:txBody>
      </p:sp>
      <p:sp>
        <p:nvSpPr>
          <p:cNvPr id="5" name="Footer Placeholder 4">
            <a:extLst>
              <a:ext uri="{FF2B5EF4-FFF2-40B4-BE49-F238E27FC236}">
                <a16:creationId xmlns:a16="http://schemas.microsoft.com/office/drawing/2014/main" id="{AE613372-25BC-6C4F-B4E4-930081BD5B83}"/>
              </a:ext>
            </a:extLst>
          </p:cNvPr>
          <p:cNvSpPr>
            <a:spLocks noGrp="1"/>
          </p:cNvSpPr>
          <p:nvPr>
            <p:ph type="ftr" idx="11"/>
          </p:nvPr>
        </p:nvSpPr>
        <p:spPr/>
        <p:txBody>
          <a:bodyPr/>
          <a:lstStyle/>
          <a:p>
            <a:r>
              <a:rPr lang="en-IN"/>
              <a:t>Aggregate Planning</a:t>
            </a:r>
            <a:endParaRPr lang="en-IN" dirty="0"/>
          </a:p>
        </p:txBody>
      </p:sp>
      <p:sp>
        <p:nvSpPr>
          <p:cNvPr id="6" name="Slide Number Placeholder 5">
            <a:extLst>
              <a:ext uri="{FF2B5EF4-FFF2-40B4-BE49-F238E27FC236}">
                <a16:creationId xmlns:a16="http://schemas.microsoft.com/office/drawing/2014/main" id="{EA1125EF-F489-22CA-A9AA-80FBF197331E}"/>
              </a:ext>
            </a:extLst>
          </p:cNvPr>
          <p:cNvSpPr>
            <a:spLocks noGrp="1"/>
          </p:cNvSpPr>
          <p:nvPr>
            <p:ph type="sldNum" idx="12"/>
          </p:nvPr>
        </p:nvSpPr>
        <p:spPr/>
        <p:txBody>
          <a:bodyPr/>
          <a:lstStyle/>
          <a:p>
            <a:fld id="{00000000-1234-1234-1234-123412341234}" type="slidenum">
              <a:rPr lang="en-US" smtClean="0"/>
              <a:pPr/>
              <a:t>32</a:t>
            </a:fld>
            <a:endParaRPr lang="en-US" dirty="0"/>
          </a:p>
        </p:txBody>
      </p:sp>
    </p:spTree>
    <p:extLst>
      <p:ext uri="{BB962C8B-B14F-4D97-AF65-F5344CB8AC3E}">
        <p14:creationId xmlns:p14="http://schemas.microsoft.com/office/powerpoint/2010/main" val="3722786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CDEDC-4386-3BE2-AD78-43CD2F168F2B}"/>
              </a:ext>
            </a:extLst>
          </p:cNvPr>
          <p:cNvSpPr>
            <a:spLocks noGrp="1"/>
          </p:cNvSpPr>
          <p:nvPr>
            <p:ph type="title"/>
          </p:nvPr>
        </p:nvSpPr>
        <p:spPr/>
        <p:txBody>
          <a:bodyPr/>
          <a:lstStyle/>
          <a:p>
            <a:r>
              <a:rPr lang="en-IN" sz="3600" dirty="0"/>
              <a:t>Aggregate Planning using Pure Strategies </a:t>
            </a:r>
            <a:r>
              <a:rPr lang="en-IN" sz="3600" dirty="0">
                <a:solidFill>
                  <a:srgbClr val="FF0000"/>
                </a:solidFill>
              </a:rPr>
              <a:t>Example 1</a:t>
            </a:r>
            <a:br>
              <a:rPr lang="en-IN" sz="3600" dirty="0">
                <a:solidFill>
                  <a:srgbClr val="FF0000"/>
                </a:solidFill>
              </a:rPr>
            </a:br>
            <a:endParaRPr lang="en-IN" dirty="0"/>
          </a:p>
        </p:txBody>
      </p:sp>
      <p:sp>
        <p:nvSpPr>
          <p:cNvPr id="3" name="Text Placeholder 2">
            <a:extLst>
              <a:ext uri="{FF2B5EF4-FFF2-40B4-BE49-F238E27FC236}">
                <a16:creationId xmlns:a16="http://schemas.microsoft.com/office/drawing/2014/main" id="{11510789-E956-91DF-6DB1-53A1524F2528}"/>
              </a:ext>
            </a:extLst>
          </p:cNvPr>
          <p:cNvSpPr>
            <a:spLocks noGrp="1"/>
          </p:cNvSpPr>
          <p:nvPr>
            <p:ph type="body" idx="1"/>
          </p:nvPr>
        </p:nvSpPr>
        <p:spPr/>
        <p:txBody>
          <a:bodyPr/>
          <a:lstStyle/>
          <a:p>
            <a:pPr algn="just"/>
            <a:r>
              <a:rPr lang="en-IN" sz="2400" dirty="0"/>
              <a:t>The Good and Rich Candy Company makes a variety of candies in three factories worldwide. Its line of chocolate candies exhibits a highly seasonal demand pattern, with peaks during the winter months (for the holiday season and Valentine’s Day) and valleys during the summer months (when chocolate tends to melt and customers are watching their weight). Given the following costs and quarterly sales forecasts, determine whether (a) </a:t>
            </a:r>
            <a:r>
              <a:rPr lang="en-IN" sz="2400" dirty="0">
                <a:solidFill>
                  <a:srgbClr val="FF0000"/>
                </a:solidFill>
              </a:rPr>
              <a:t>level production</a:t>
            </a:r>
            <a:r>
              <a:rPr lang="en-IN" sz="2400" dirty="0"/>
              <a:t>, or (b) </a:t>
            </a:r>
            <a:r>
              <a:rPr lang="en-IN" sz="2400" dirty="0">
                <a:solidFill>
                  <a:srgbClr val="FF0000"/>
                </a:solidFill>
              </a:rPr>
              <a:t>chase demand </a:t>
            </a:r>
            <a:r>
              <a:rPr lang="en-IN" sz="2400" dirty="0"/>
              <a:t>would more economically meet the demand for chocolate candies:</a:t>
            </a:r>
          </a:p>
          <a:p>
            <a:pPr algn="just"/>
            <a:endParaRPr lang="en-IN" dirty="0"/>
          </a:p>
        </p:txBody>
      </p:sp>
      <p:sp>
        <p:nvSpPr>
          <p:cNvPr id="4" name="Date Placeholder 3">
            <a:extLst>
              <a:ext uri="{FF2B5EF4-FFF2-40B4-BE49-F238E27FC236}">
                <a16:creationId xmlns:a16="http://schemas.microsoft.com/office/drawing/2014/main" id="{404665BD-8A7D-5E77-A305-2293845699C3}"/>
              </a:ext>
            </a:extLst>
          </p:cNvPr>
          <p:cNvSpPr>
            <a:spLocks noGrp="1"/>
          </p:cNvSpPr>
          <p:nvPr>
            <p:ph type="dt" idx="10"/>
          </p:nvPr>
        </p:nvSpPr>
        <p:spPr/>
        <p:txBody>
          <a:bodyPr/>
          <a:lstStyle/>
          <a:p>
            <a:fld id="{D1FBB12C-6AF2-404C-B802-656F1A988312}" type="datetime1">
              <a:rPr lang="en-IN" smtClean="0"/>
              <a:pPr/>
              <a:t>02-12-2025</a:t>
            </a:fld>
            <a:endParaRPr lang="en-IN" dirty="0"/>
          </a:p>
        </p:txBody>
      </p:sp>
      <p:sp>
        <p:nvSpPr>
          <p:cNvPr id="5" name="Footer Placeholder 4">
            <a:extLst>
              <a:ext uri="{FF2B5EF4-FFF2-40B4-BE49-F238E27FC236}">
                <a16:creationId xmlns:a16="http://schemas.microsoft.com/office/drawing/2014/main" id="{773AC25D-246E-2122-E39E-287E65617007}"/>
              </a:ext>
            </a:extLst>
          </p:cNvPr>
          <p:cNvSpPr>
            <a:spLocks noGrp="1"/>
          </p:cNvSpPr>
          <p:nvPr>
            <p:ph type="ftr" idx="11"/>
          </p:nvPr>
        </p:nvSpPr>
        <p:spPr/>
        <p:txBody>
          <a:bodyPr/>
          <a:lstStyle/>
          <a:p>
            <a:r>
              <a:rPr lang="en-IN"/>
              <a:t>Aggregate Planning</a:t>
            </a:r>
            <a:endParaRPr lang="en-IN" dirty="0"/>
          </a:p>
        </p:txBody>
      </p:sp>
      <p:sp>
        <p:nvSpPr>
          <p:cNvPr id="6" name="Slide Number Placeholder 5">
            <a:extLst>
              <a:ext uri="{FF2B5EF4-FFF2-40B4-BE49-F238E27FC236}">
                <a16:creationId xmlns:a16="http://schemas.microsoft.com/office/drawing/2014/main" id="{7A3B8892-B7E8-4BA1-605D-85F59FD1433E}"/>
              </a:ext>
            </a:extLst>
          </p:cNvPr>
          <p:cNvSpPr>
            <a:spLocks noGrp="1"/>
          </p:cNvSpPr>
          <p:nvPr>
            <p:ph type="sldNum" idx="12"/>
          </p:nvPr>
        </p:nvSpPr>
        <p:spPr/>
        <p:txBody>
          <a:bodyPr/>
          <a:lstStyle/>
          <a:p>
            <a:fld id="{00000000-1234-1234-1234-123412341234}" type="slidenum">
              <a:rPr lang="en-US" smtClean="0"/>
              <a:pPr/>
              <a:t>33</a:t>
            </a:fld>
            <a:endParaRPr lang="en-US" dirty="0"/>
          </a:p>
        </p:txBody>
      </p:sp>
      <p:grpSp>
        <p:nvGrpSpPr>
          <p:cNvPr id="7" name="Group 10">
            <a:extLst>
              <a:ext uri="{FF2B5EF4-FFF2-40B4-BE49-F238E27FC236}">
                <a16:creationId xmlns:a16="http://schemas.microsoft.com/office/drawing/2014/main" id="{3173E6AB-7947-2177-136D-440089ED389B}"/>
              </a:ext>
            </a:extLst>
          </p:cNvPr>
          <p:cNvGrpSpPr>
            <a:grpSpLocks/>
          </p:cNvGrpSpPr>
          <p:nvPr/>
        </p:nvGrpSpPr>
        <p:grpSpPr bwMode="auto">
          <a:xfrm>
            <a:off x="3732072" y="3553401"/>
            <a:ext cx="5424487" cy="1906587"/>
            <a:chOff x="1191" y="953"/>
            <a:chExt cx="3417" cy="1201"/>
          </a:xfrm>
        </p:grpSpPr>
        <p:sp>
          <p:nvSpPr>
            <p:cNvPr id="8" name="Rectangle 7">
              <a:extLst>
                <a:ext uri="{FF2B5EF4-FFF2-40B4-BE49-F238E27FC236}">
                  <a16:creationId xmlns:a16="http://schemas.microsoft.com/office/drawing/2014/main" id="{A72AC61C-6F12-0FE9-AAC7-ECB5D8DB6726}"/>
                </a:ext>
              </a:extLst>
            </p:cNvPr>
            <p:cNvSpPr>
              <a:spLocks noChangeArrowheads="1"/>
            </p:cNvSpPr>
            <p:nvPr/>
          </p:nvSpPr>
          <p:spPr bwMode="auto">
            <a:xfrm>
              <a:off x="1195" y="953"/>
              <a:ext cx="3413" cy="1201"/>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10000"/>
                </a:spcBef>
                <a:tabLst>
                  <a:tab pos="2286000" algn="l"/>
                  <a:tab pos="4092575" algn="r"/>
                </a:tabLst>
              </a:pPr>
              <a:r>
                <a:rPr lang="en-US" sz="2000" dirty="0">
                  <a:latin typeface="Times New Roman" panose="02020603050405020304" pitchFamily="18" charset="0"/>
                  <a:cs typeface="Times New Roman" panose="02020603050405020304" pitchFamily="18" charset="0"/>
                </a:rPr>
                <a:t>QUARTER	SALES FORECAST (LB)</a:t>
              </a:r>
              <a:endParaRPr lang="en-US" sz="900" dirty="0">
                <a:latin typeface="Times New Roman" panose="02020603050405020304" pitchFamily="18" charset="0"/>
                <a:cs typeface="Times New Roman" panose="02020603050405020304" pitchFamily="18" charset="0"/>
              </a:endParaRPr>
            </a:p>
            <a:p>
              <a:pPr>
                <a:spcBef>
                  <a:spcPct val="10000"/>
                </a:spcBef>
                <a:tabLst>
                  <a:tab pos="2286000" algn="l"/>
                  <a:tab pos="4092575" algn="r"/>
                </a:tabLst>
              </a:pPr>
              <a:endParaRPr lang="en-US" sz="900" dirty="0">
                <a:latin typeface="Times New Roman" panose="02020603050405020304" pitchFamily="18" charset="0"/>
                <a:cs typeface="Times New Roman" panose="02020603050405020304" pitchFamily="18" charset="0"/>
              </a:endParaRPr>
            </a:p>
            <a:p>
              <a:pPr>
                <a:spcBef>
                  <a:spcPct val="10000"/>
                </a:spcBef>
                <a:tabLst>
                  <a:tab pos="2286000" algn="l"/>
                  <a:tab pos="4092575" algn="r"/>
                </a:tabLst>
              </a:pPr>
              <a:r>
                <a:rPr lang="en-US" sz="2000" dirty="0">
                  <a:latin typeface="Times New Roman" panose="02020603050405020304" pitchFamily="18" charset="0"/>
                  <a:cs typeface="Times New Roman" panose="02020603050405020304" pitchFamily="18" charset="0"/>
                </a:rPr>
                <a:t>Spring		80,000</a:t>
              </a:r>
            </a:p>
            <a:p>
              <a:pPr>
                <a:spcBef>
                  <a:spcPct val="10000"/>
                </a:spcBef>
                <a:tabLst>
                  <a:tab pos="2286000" algn="l"/>
                  <a:tab pos="4092575" algn="r"/>
                </a:tabLst>
              </a:pPr>
              <a:r>
                <a:rPr lang="en-US" sz="2000" dirty="0">
                  <a:latin typeface="Times New Roman" panose="02020603050405020304" pitchFamily="18" charset="0"/>
                  <a:cs typeface="Times New Roman" panose="02020603050405020304" pitchFamily="18" charset="0"/>
                </a:rPr>
                <a:t>Summer		50,000</a:t>
              </a:r>
            </a:p>
            <a:p>
              <a:pPr>
                <a:spcBef>
                  <a:spcPct val="10000"/>
                </a:spcBef>
                <a:tabLst>
                  <a:tab pos="2286000" algn="l"/>
                  <a:tab pos="4092575" algn="r"/>
                </a:tabLst>
              </a:pPr>
              <a:r>
                <a:rPr lang="en-US" sz="2000" dirty="0">
                  <a:latin typeface="Times New Roman" panose="02020603050405020304" pitchFamily="18" charset="0"/>
                  <a:cs typeface="Times New Roman" panose="02020603050405020304" pitchFamily="18" charset="0"/>
                </a:rPr>
                <a:t>Fall		120,000</a:t>
              </a:r>
            </a:p>
            <a:p>
              <a:pPr>
                <a:spcBef>
                  <a:spcPct val="10000"/>
                </a:spcBef>
                <a:tabLst>
                  <a:tab pos="2286000" algn="l"/>
                  <a:tab pos="4092575" algn="r"/>
                </a:tabLst>
              </a:pPr>
              <a:r>
                <a:rPr lang="en-US" sz="2000" dirty="0">
                  <a:latin typeface="Times New Roman" panose="02020603050405020304" pitchFamily="18" charset="0"/>
                  <a:cs typeface="Times New Roman" panose="02020603050405020304" pitchFamily="18" charset="0"/>
                </a:rPr>
                <a:t>Winter		150,000</a:t>
              </a:r>
            </a:p>
          </p:txBody>
        </p:sp>
        <p:sp>
          <p:nvSpPr>
            <p:cNvPr id="9" name="Line 9">
              <a:extLst>
                <a:ext uri="{FF2B5EF4-FFF2-40B4-BE49-F238E27FC236}">
                  <a16:creationId xmlns:a16="http://schemas.microsoft.com/office/drawing/2014/main" id="{83F1F487-A396-380B-1B58-4707EA44F43A}"/>
                </a:ext>
              </a:extLst>
            </p:cNvPr>
            <p:cNvSpPr>
              <a:spLocks noChangeShapeType="1"/>
            </p:cNvSpPr>
            <p:nvPr/>
          </p:nvSpPr>
          <p:spPr bwMode="auto">
            <a:xfrm>
              <a:off x="1191" y="1245"/>
              <a:ext cx="3387"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24907751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81AA4-CED1-6C9F-6021-29F43C27F624}"/>
              </a:ext>
            </a:extLst>
          </p:cNvPr>
          <p:cNvSpPr>
            <a:spLocks noGrp="1"/>
          </p:cNvSpPr>
          <p:nvPr>
            <p:ph type="title"/>
          </p:nvPr>
        </p:nvSpPr>
        <p:spPr/>
        <p:txBody>
          <a:bodyPr/>
          <a:lstStyle/>
          <a:p>
            <a:r>
              <a:rPr lang="en-IN" sz="3600" dirty="0"/>
              <a:t>Aggregate Planning using Pure Strategies </a:t>
            </a:r>
            <a:r>
              <a:rPr lang="en-IN" sz="3600" dirty="0">
                <a:solidFill>
                  <a:srgbClr val="FF0000"/>
                </a:solidFill>
              </a:rPr>
              <a:t>Example 2</a:t>
            </a:r>
            <a:endParaRPr lang="en-IN" dirty="0"/>
          </a:p>
        </p:txBody>
      </p:sp>
      <p:sp>
        <p:nvSpPr>
          <p:cNvPr id="4" name="Date Placeholder 3">
            <a:extLst>
              <a:ext uri="{FF2B5EF4-FFF2-40B4-BE49-F238E27FC236}">
                <a16:creationId xmlns:a16="http://schemas.microsoft.com/office/drawing/2014/main" id="{6F116E57-5F2A-C388-1686-578FB2A8DA54}"/>
              </a:ext>
            </a:extLst>
          </p:cNvPr>
          <p:cNvSpPr>
            <a:spLocks noGrp="1"/>
          </p:cNvSpPr>
          <p:nvPr>
            <p:ph type="dt" idx="10"/>
          </p:nvPr>
        </p:nvSpPr>
        <p:spPr/>
        <p:txBody>
          <a:bodyPr/>
          <a:lstStyle/>
          <a:p>
            <a:fld id="{D1FBB12C-6AF2-404C-B802-656F1A988312}" type="datetime1">
              <a:rPr lang="en-IN" smtClean="0"/>
              <a:pPr/>
              <a:t>02-12-2025</a:t>
            </a:fld>
            <a:endParaRPr lang="en-IN" dirty="0"/>
          </a:p>
        </p:txBody>
      </p:sp>
      <p:sp>
        <p:nvSpPr>
          <p:cNvPr id="5" name="Footer Placeholder 4">
            <a:extLst>
              <a:ext uri="{FF2B5EF4-FFF2-40B4-BE49-F238E27FC236}">
                <a16:creationId xmlns:a16="http://schemas.microsoft.com/office/drawing/2014/main" id="{BCC36468-7D65-4D29-91F7-EF74363D0FA5}"/>
              </a:ext>
            </a:extLst>
          </p:cNvPr>
          <p:cNvSpPr>
            <a:spLocks noGrp="1"/>
          </p:cNvSpPr>
          <p:nvPr>
            <p:ph type="ftr" idx="11"/>
          </p:nvPr>
        </p:nvSpPr>
        <p:spPr/>
        <p:txBody>
          <a:bodyPr/>
          <a:lstStyle/>
          <a:p>
            <a:r>
              <a:rPr lang="en-IN"/>
              <a:t>Aggregate Planning</a:t>
            </a:r>
            <a:endParaRPr lang="en-IN" dirty="0"/>
          </a:p>
        </p:txBody>
      </p:sp>
      <p:sp>
        <p:nvSpPr>
          <p:cNvPr id="6" name="Slide Number Placeholder 5">
            <a:extLst>
              <a:ext uri="{FF2B5EF4-FFF2-40B4-BE49-F238E27FC236}">
                <a16:creationId xmlns:a16="http://schemas.microsoft.com/office/drawing/2014/main" id="{8C519EEA-BAC9-BE0E-6A5E-A6970FCA4262}"/>
              </a:ext>
            </a:extLst>
          </p:cNvPr>
          <p:cNvSpPr>
            <a:spLocks noGrp="1"/>
          </p:cNvSpPr>
          <p:nvPr>
            <p:ph type="sldNum" idx="12"/>
          </p:nvPr>
        </p:nvSpPr>
        <p:spPr/>
        <p:txBody>
          <a:bodyPr/>
          <a:lstStyle/>
          <a:p>
            <a:fld id="{00000000-1234-1234-1234-123412341234}" type="slidenum">
              <a:rPr lang="en-US" smtClean="0"/>
              <a:pPr/>
              <a:t>34</a:t>
            </a:fld>
            <a:endParaRPr lang="en-US" dirty="0"/>
          </a:p>
        </p:txBody>
      </p:sp>
      <p:sp>
        <p:nvSpPr>
          <p:cNvPr id="7" name="Rectangle 8">
            <a:extLst>
              <a:ext uri="{FF2B5EF4-FFF2-40B4-BE49-F238E27FC236}">
                <a16:creationId xmlns:a16="http://schemas.microsoft.com/office/drawing/2014/main" id="{2B073B43-E5C3-2643-476C-F4D8802306EB}"/>
              </a:ext>
            </a:extLst>
          </p:cNvPr>
          <p:cNvSpPr>
            <a:spLocks noChangeArrowheads="1"/>
          </p:cNvSpPr>
          <p:nvPr/>
        </p:nvSpPr>
        <p:spPr bwMode="auto">
          <a:xfrm>
            <a:off x="2794507" y="1004453"/>
            <a:ext cx="6688049" cy="2296013"/>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1" hangingPunct="1">
              <a:spcBef>
                <a:spcPct val="20000"/>
              </a:spcBef>
              <a:tabLst>
                <a:tab pos="3048000" algn="r"/>
                <a:tab pos="3146425" algn="l"/>
              </a:tabLst>
            </a:pPr>
            <a:r>
              <a:rPr lang="en-US" sz="2400" dirty="0">
                <a:latin typeface="Times New Roman" panose="02020603050405020304" pitchFamily="18" charset="0"/>
                <a:cs typeface="Times New Roman" panose="02020603050405020304" pitchFamily="18" charset="0"/>
              </a:rPr>
              <a:t>                       Hiring cost	= $100 per worker</a:t>
            </a:r>
          </a:p>
          <a:p>
            <a:pPr eaLnBrk="1" hangingPunct="1">
              <a:spcBef>
                <a:spcPct val="20000"/>
              </a:spcBef>
              <a:tabLst>
                <a:tab pos="3048000" algn="r"/>
                <a:tab pos="3146425" algn="l"/>
              </a:tabLst>
            </a:pPr>
            <a:r>
              <a:rPr lang="en-US" sz="2400" dirty="0">
                <a:latin typeface="Times New Roman" panose="02020603050405020304" pitchFamily="18" charset="0"/>
                <a:cs typeface="Times New Roman" panose="02020603050405020304" pitchFamily="18" charset="0"/>
              </a:rPr>
              <a:t>	Firing cost	= $500 per worker</a:t>
            </a:r>
          </a:p>
          <a:p>
            <a:pPr eaLnBrk="1" hangingPunct="1">
              <a:spcBef>
                <a:spcPct val="20000"/>
              </a:spcBef>
              <a:tabLst>
                <a:tab pos="3048000" algn="r"/>
                <a:tab pos="3146425" algn="l"/>
              </a:tabLst>
            </a:pPr>
            <a:r>
              <a:rPr lang="en-US" sz="2400" dirty="0">
                <a:latin typeface="Times New Roman" panose="02020603050405020304" pitchFamily="18" charset="0"/>
                <a:cs typeface="Times New Roman" panose="02020603050405020304" pitchFamily="18" charset="0"/>
              </a:rPr>
              <a:t>	Inventory carrying cost	= $0.50 pound per quarter</a:t>
            </a:r>
          </a:p>
          <a:p>
            <a:pPr eaLnBrk="1" hangingPunct="1">
              <a:spcBef>
                <a:spcPct val="20000"/>
              </a:spcBef>
              <a:tabLst>
                <a:tab pos="3048000" algn="r"/>
                <a:tab pos="3146425" algn="l"/>
              </a:tabLst>
            </a:pPr>
            <a:r>
              <a:rPr lang="en-US" sz="2400" dirty="0">
                <a:latin typeface="Times New Roman" panose="02020603050405020304" pitchFamily="18" charset="0"/>
                <a:cs typeface="Times New Roman" panose="02020603050405020304" pitchFamily="18" charset="0"/>
              </a:rPr>
              <a:t>	Production per employee	= 1,000 pounds per quarter</a:t>
            </a:r>
          </a:p>
          <a:p>
            <a:pPr eaLnBrk="1" hangingPunct="1">
              <a:spcBef>
                <a:spcPct val="20000"/>
              </a:spcBef>
              <a:tabLst>
                <a:tab pos="3048000" algn="r"/>
                <a:tab pos="3146425" algn="l"/>
              </a:tabLst>
            </a:pPr>
            <a:r>
              <a:rPr lang="en-US" sz="2400" dirty="0">
                <a:latin typeface="Times New Roman" panose="02020603050405020304" pitchFamily="18" charset="0"/>
                <a:cs typeface="Times New Roman" panose="02020603050405020304" pitchFamily="18" charset="0"/>
              </a:rPr>
              <a:t>	Beginning work force	= 100 workers</a:t>
            </a:r>
          </a:p>
        </p:txBody>
      </p:sp>
      <p:sp>
        <p:nvSpPr>
          <p:cNvPr id="8" name="TextBox 7">
            <a:extLst>
              <a:ext uri="{FF2B5EF4-FFF2-40B4-BE49-F238E27FC236}">
                <a16:creationId xmlns:a16="http://schemas.microsoft.com/office/drawing/2014/main" id="{708948F1-A579-65C6-3BD3-ECD383D8C7C8}"/>
              </a:ext>
            </a:extLst>
          </p:cNvPr>
          <p:cNvSpPr txBox="1"/>
          <p:nvPr/>
        </p:nvSpPr>
        <p:spPr>
          <a:xfrm>
            <a:off x="301258" y="3445971"/>
            <a:ext cx="1752600" cy="523220"/>
          </a:xfrm>
          <a:prstGeom prst="rect">
            <a:avLst/>
          </a:prstGeom>
          <a:noFill/>
        </p:spPr>
        <p:txBody>
          <a:bodyPr wrap="square" rtlCol="0">
            <a:spAutoFit/>
          </a:bodyPr>
          <a:lstStyle/>
          <a:p>
            <a:r>
              <a:rPr lang="en-IN" sz="2800" b="1" dirty="0">
                <a:solidFill>
                  <a:srgbClr val="FF0000"/>
                </a:solidFill>
                <a:latin typeface="Times New Roman" panose="02020603050405020304" pitchFamily="18" charset="0"/>
                <a:cs typeface="Times New Roman" panose="02020603050405020304" pitchFamily="18" charset="0"/>
              </a:rPr>
              <a:t>Solution</a:t>
            </a:r>
          </a:p>
        </p:txBody>
      </p:sp>
      <p:grpSp>
        <p:nvGrpSpPr>
          <p:cNvPr id="9" name="Group 13">
            <a:extLst>
              <a:ext uri="{FF2B5EF4-FFF2-40B4-BE49-F238E27FC236}">
                <a16:creationId xmlns:a16="http://schemas.microsoft.com/office/drawing/2014/main" id="{116ED3D9-99C9-17CA-BC73-C295EB9016A0}"/>
              </a:ext>
            </a:extLst>
          </p:cNvPr>
          <p:cNvGrpSpPr>
            <a:grpSpLocks/>
          </p:cNvGrpSpPr>
          <p:nvPr/>
        </p:nvGrpSpPr>
        <p:grpSpPr bwMode="auto">
          <a:xfrm>
            <a:off x="3334047" y="3431104"/>
            <a:ext cx="5645150" cy="2624138"/>
            <a:chOff x="711" y="2249"/>
            <a:chExt cx="3556" cy="1653"/>
          </a:xfrm>
        </p:grpSpPr>
        <p:sp>
          <p:nvSpPr>
            <p:cNvPr id="10" name="Rectangle 7">
              <a:extLst>
                <a:ext uri="{FF2B5EF4-FFF2-40B4-BE49-F238E27FC236}">
                  <a16:creationId xmlns:a16="http://schemas.microsoft.com/office/drawing/2014/main" id="{0591AFA0-63D8-2F55-BD73-D2BC23371B27}"/>
                </a:ext>
              </a:extLst>
            </p:cNvPr>
            <p:cNvSpPr>
              <a:spLocks noChangeArrowheads="1"/>
            </p:cNvSpPr>
            <p:nvPr/>
          </p:nvSpPr>
          <p:spPr bwMode="auto">
            <a:xfrm>
              <a:off x="711" y="2249"/>
              <a:ext cx="3556" cy="1653"/>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sz="1600">
                <a:latin typeface="Times New Roman" panose="02020603050405020304" pitchFamily="18" charset="0"/>
                <a:cs typeface="Times New Roman" panose="02020603050405020304" pitchFamily="18" charset="0"/>
              </a:endParaRPr>
            </a:p>
          </p:txBody>
        </p:sp>
        <p:sp>
          <p:nvSpPr>
            <p:cNvPr id="11" name="Rectangle 8">
              <a:extLst>
                <a:ext uri="{FF2B5EF4-FFF2-40B4-BE49-F238E27FC236}">
                  <a16:creationId xmlns:a16="http://schemas.microsoft.com/office/drawing/2014/main" id="{5525F872-5497-724B-E3B2-2B2FAAD7ACB4}"/>
                </a:ext>
              </a:extLst>
            </p:cNvPr>
            <p:cNvSpPr>
              <a:spLocks noChangeArrowheads="1"/>
            </p:cNvSpPr>
            <p:nvPr/>
          </p:nvSpPr>
          <p:spPr bwMode="auto">
            <a:xfrm>
              <a:off x="1026" y="2472"/>
              <a:ext cx="1444"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sz="2400">
                  <a:latin typeface="Times New Roman" panose="02020603050405020304" pitchFamily="18" charset="0"/>
                  <a:cs typeface="Times New Roman" panose="02020603050405020304" pitchFamily="18" charset="0"/>
                </a:rPr>
                <a:t>Level production</a:t>
              </a:r>
            </a:p>
          </p:txBody>
        </p:sp>
        <p:sp>
          <p:nvSpPr>
            <p:cNvPr id="12" name="Rectangle 10">
              <a:extLst>
                <a:ext uri="{FF2B5EF4-FFF2-40B4-BE49-F238E27FC236}">
                  <a16:creationId xmlns:a16="http://schemas.microsoft.com/office/drawing/2014/main" id="{D8DB4FEE-34DB-84CF-CF48-6F7B81AA1918}"/>
                </a:ext>
              </a:extLst>
            </p:cNvPr>
            <p:cNvSpPr>
              <a:spLocks noChangeArrowheads="1"/>
            </p:cNvSpPr>
            <p:nvPr/>
          </p:nvSpPr>
          <p:spPr bwMode="auto">
            <a:xfrm>
              <a:off x="1785" y="3434"/>
              <a:ext cx="1513"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sz="2400">
                  <a:latin typeface="Times New Roman" panose="02020603050405020304" pitchFamily="18" charset="0"/>
                  <a:cs typeface="Times New Roman" panose="02020603050405020304" pitchFamily="18" charset="0"/>
                </a:rPr>
                <a:t>= 100,000 pounds</a:t>
              </a:r>
            </a:p>
          </p:txBody>
        </p:sp>
        <p:grpSp>
          <p:nvGrpSpPr>
            <p:cNvPr id="13" name="Group 12">
              <a:extLst>
                <a:ext uri="{FF2B5EF4-FFF2-40B4-BE49-F238E27FC236}">
                  <a16:creationId xmlns:a16="http://schemas.microsoft.com/office/drawing/2014/main" id="{B8C246E5-EE65-2465-670B-13CA84607A33}"/>
                </a:ext>
              </a:extLst>
            </p:cNvPr>
            <p:cNvGrpSpPr>
              <a:grpSpLocks/>
            </p:cNvGrpSpPr>
            <p:nvPr/>
          </p:nvGrpSpPr>
          <p:grpSpPr bwMode="auto">
            <a:xfrm>
              <a:off x="916" y="2874"/>
              <a:ext cx="3190" cy="551"/>
              <a:chOff x="916" y="2814"/>
              <a:chExt cx="3190" cy="551"/>
            </a:xfrm>
          </p:grpSpPr>
          <p:sp>
            <p:nvSpPr>
              <p:cNvPr id="14" name="Rectangle 9">
                <a:extLst>
                  <a:ext uri="{FF2B5EF4-FFF2-40B4-BE49-F238E27FC236}">
                    <a16:creationId xmlns:a16="http://schemas.microsoft.com/office/drawing/2014/main" id="{AE238F55-3419-1E30-B9CC-26EB301E9CF7}"/>
                  </a:ext>
                </a:extLst>
              </p:cNvPr>
              <p:cNvSpPr>
                <a:spLocks noChangeArrowheads="1"/>
              </p:cNvSpPr>
              <p:nvPr/>
            </p:nvSpPr>
            <p:spPr bwMode="auto">
              <a:xfrm>
                <a:off x="916" y="2814"/>
                <a:ext cx="3190" cy="5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lnSpc>
                    <a:spcPct val="110000"/>
                  </a:lnSpc>
                </a:pPr>
                <a:r>
                  <a:rPr lang="en-US" sz="2400">
                    <a:latin typeface="Times New Roman" panose="02020603050405020304" pitchFamily="18" charset="0"/>
                    <a:cs typeface="Times New Roman" panose="02020603050405020304" pitchFamily="18" charset="0"/>
                  </a:rPr>
                  <a:t>(50,000 + 120,000 + 150,000 + 80,000)</a:t>
                </a:r>
              </a:p>
              <a:p>
                <a:pPr algn="ctr">
                  <a:lnSpc>
                    <a:spcPct val="110000"/>
                  </a:lnSpc>
                </a:pPr>
                <a:r>
                  <a:rPr lang="en-US" sz="2400">
                    <a:latin typeface="Times New Roman" panose="02020603050405020304" pitchFamily="18" charset="0"/>
                    <a:cs typeface="Times New Roman" panose="02020603050405020304" pitchFamily="18" charset="0"/>
                  </a:rPr>
                  <a:t>4</a:t>
                </a:r>
              </a:p>
            </p:txBody>
          </p:sp>
          <p:sp>
            <p:nvSpPr>
              <p:cNvPr id="15" name="Line 11">
                <a:extLst>
                  <a:ext uri="{FF2B5EF4-FFF2-40B4-BE49-F238E27FC236}">
                    <a16:creationId xmlns:a16="http://schemas.microsoft.com/office/drawing/2014/main" id="{FDE12D87-D20F-000B-0716-8D9E74784539}"/>
                  </a:ext>
                </a:extLst>
              </p:cNvPr>
              <p:cNvSpPr>
                <a:spLocks noChangeShapeType="1"/>
              </p:cNvSpPr>
              <p:nvPr/>
            </p:nvSpPr>
            <p:spPr bwMode="auto">
              <a:xfrm>
                <a:off x="1084" y="3075"/>
                <a:ext cx="2863"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sz="1600">
                  <a:latin typeface="Times New Roman" panose="02020603050405020304" pitchFamily="18" charset="0"/>
                  <a:cs typeface="Times New Roman" panose="02020603050405020304" pitchFamily="18" charset="0"/>
                </a:endParaRPr>
              </a:p>
            </p:txBody>
          </p:sp>
        </p:grpSp>
      </p:grpSp>
      <p:sp>
        <p:nvSpPr>
          <p:cNvPr id="17" name="TextBox 16">
            <a:extLst>
              <a:ext uri="{FF2B5EF4-FFF2-40B4-BE49-F238E27FC236}">
                <a16:creationId xmlns:a16="http://schemas.microsoft.com/office/drawing/2014/main" id="{C88B83DF-CAA4-44D9-E74A-684620AFA6AE}"/>
              </a:ext>
            </a:extLst>
          </p:cNvPr>
          <p:cNvSpPr txBox="1"/>
          <p:nvPr/>
        </p:nvSpPr>
        <p:spPr>
          <a:xfrm>
            <a:off x="-653943" y="931461"/>
            <a:ext cx="6113720" cy="523220"/>
          </a:xfrm>
          <a:prstGeom prst="rect">
            <a:avLst/>
          </a:prstGeom>
          <a:noFill/>
        </p:spPr>
        <p:txBody>
          <a:bodyPr wrap="square">
            <a:spAutoFit/>
          </a:bodyPr>
          <a:lstStyle/>
          <a:p>
            <a:r>
              <a:rPr lang="en-US" sz="2800" b="1" dirty="0">
                <a:solidFill>
                  <a:srgbClr val="FF0000"/>
                </a:solidFill>
                <a:latin typeface="Times New Roman" panose="02020603050405020304" pitchFamily="18" charset="0"/>
                <a:cs typeface="Times New Roman" panose="02020603050405020304" pitchFamily="18" charset="0"/>
              </a:rPr>
              <a:t>	Given </a:t>
            </a:r>
            <a:endParaRPr lang="en-IN" sz="2800" dirty="0">
              <a:solidFill>
                <a:srgbClr val="FF0000"/>
              </a:solidFill>
            </a:endParaRPr>
          </a:p>
        </p:txBody>
      </p:sp>
    </p:spTree>
    <p:extLst>
      <p:ext uri="{BB962C8B-B14F-4D97-AF65-F5344CB8AC3E}">
        <p14:creationId xmlns:p14="http://schemas.microsoft.com/office/powerpoint/2010/main" val="3234502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D7969-C3A4-DAE5-6829-36BCA44B09D4}"/>
              </a:ext>
            </a:extLst>
          </p:cNvPr>
          <p:cNvSpPr>
            <a:spLocks noGrp="1"/>
          </p:cNvSpPr>
          <p:nvPr>
            <p:ph type="title"/>
          </p:nvPr>
        </p:nvSpPr>
        <p:spPr/>
        <p:txBody>
          <a:bodyPr/>
          <a:lstStyle/>
          <a:p>
            <a:r>
              <a:rPr lang="en-IN" sz="3600" dirty="0"/>
              <a:t>Aggregate Planning using Pure Strategies </a:t>
            </a:r>
            <a:r>
              <a:rPr lang="en-IN" sz="3600" dirty="0">
                <a:solidFill>
                  <a:srgbClr val="FF0000"/>
                </a:solidFill>
              </a:rPr>
              <a:t>Example 1</a:t>
            </a:r>
            <a:endParaRPr lang="en-IN" dirty="0"/>
          </a:p>
        </p:txBody>
      </p:sp>
      <p:sp>
        <p:nvSpPr>
          <p:cNvPr id="4" name="Date Placeholder 3">
            <a:extLst>
              <a:ext uri="{FF2B5EF4-FFF2-40B4-BE49-F238E27FC236}">
                <a16:creationId xmlns:a16="http://schemas.microsoft.com/office/drawing/2014/main" id="{4AE56EC4-8AB8-3A17-ED91-B6986CCAA190}"/>
              </a:ext>
            </a:extLst>
          </p:cNvPr>
          <p:cNvSpPr>
            <a:spLocks noGrp="1"/>
          </p:cNvSpPr>
          <p:nvPr>
            <p:ph type="dt" idx="10"/>
          </p:nvPr>
        </p:nvSpPr>
        <p:spPr/>
        <p:txBody>
          <a:bodyPr/>
          <a:lstStyle/>
          <a:p>
            <a:fld id="{D1FBB12C-6AF2-404C-B802-656F1A988312}" type="datetime1">
              <a:rPr lang="en-IN" smtClean="0"/>
              <a:pPr/>
              <a:t>02-12-2025</a:t>
            </a:fld>
            <a:endParaRPr lang="en-IN" dirty="0"/>
          </a:p>
        </p:txBody>
      </p:sp>
      <p:sp>
        <p:nvSpPr>
          <p:cNvPr id="5" name="Footer Placeholder 4">
            <a:extLst>
              <a:ext uri="{FF2B5EF4-FFF2-40B4-BE49-F238E27FC236}">
                <a16:creationId xmlns:a16="http://schemas.microsoft.com/office/drawing/2014/main" id="{BEF2941F-9849-4208-F620-E03424909048}"/>
              </a:ext>
            </a:extLst>
          </p:cNvPr>
          <p:cNvSpPr>
            <a:spLocks noGrp="1"/>
          </p:cNvSpPr>
          <p:nvPr>
            <p:ph type="ftr" idx="11"/>
          </p:nvPr>
        </p:nvSpPr>
        <p:spPr/>
        <p:txBody>
          <a:bodyPr/>
          <a:lstStyle/>
          <a:p>
            <a:r>
              <a:rPr lang="en-IN"/>
              <a:t>Aggregate Planning</a:t>
            </a:r>
            <a:endParaRPr lang="en-IN" dirty="0"/>
          </a:p>
        </p:txBody>
      </p:sp>
      <p:sp>
        <p:nvSpPr>
          <p:cNvPr id="6" name="Slide Number Placeholder 5">
            <a:extLst>
              <a:ext uri="{FF2B5EF4-FFF2-40B4-BE49-F238E27FC236}">
                <a16:creationId xmlns:a16="http://schemas.microsoft.com/office/drawing/2014/main" id="{41388F6D-A5AC-498A-B495-4C8845FFD71F}"/>
              </a:ext>
            </a:extLst>
          </p:cNvPr>
          <p:cNvSpPr>
            <a:spLocks noGrp="1"/>
          </p:cNvSpPr>
          <p:nvPr>
            <p:ph type="sldNum" idx="12"/>
          </p:nvPr>
        </p:nvSpPr>
        <p:spPr/>
        <p:txBody>
          <a:bodyPr/>
          <a:lstStyle/>
          <a:p>
            <a:fld id="{00000000-1234-1234-1234-123412341234}" type="slidenum">
              <a:rPr lang="en-US" smtClean="0"/>
              <a:pPr/>
              <a:t>35</a:t>
            </a:fld>
            <a:endParaRPr lang="en-US" dirty="0"/>
          </a:p>
        </p:txBody>
      </p:sp>
      <p:grpSp>
        <p:nvGrpSpPr>
          <p:cNvPr id="7" name="Group 67">
            <a:extLst>
              <a:ext uri="{FF2B5EF4-FFF2-40B4-BE49-F238E27FC236}">
                <a16:creationId xmlns:a16="http://schemas.microsoft.com/office/drawing/2014/main" id="{D2219E91-23D3-12CC-3E89-0816191DDAE0}"/>
              </a:ext>
            </a:extLst>
          </p:cNvPr>
          <p:cNvGrpSpPr>
            <a:grpSpLocks/>
          </p:cNvGrpSpPr>
          <p:nvPr/>
        </p:nvGrpSpPr>
        <p:grpSpPr bwMode="auto">
          <a:xfrm>
            <a:off x="1550585" y="2015574"/>
            <a:ext cx="7121525" cy="2438400"/>
            <a:chOff x="734" y="1254"/>
            <a:chExt cx="4486" cy="1536"/>
          </a:xfrm>
        </p:grpSpPr>
        <p:sp>
          <p:nvSpPr>
            <p:cNvPr id="8" name="Line 7">
              <a:extLst>
                <a:ext uri="{FF2B5EF4-FFF2-40B4-BE49-F238E27FC236}">
                  <a16:creationId xmlns:a16="http://schemas.microsoft.com/office/drawing/2014/main" id="{59F21EB3-5F36-D469-008D-47DB0F3017AE}"/>
                </a:ext>
              </a:extLst>
            </p:cNvPr>
            <p:cNvSpPr>
              <a:spLocks noChangeShapeType="1"/>
            </p:cNvSpPr>
            <p:nvPr/>
          </p:nvSpPr>
          <p:spPr bwMode="auto">
            <a:xfrm>
              <a:off x="3188" y="2544"/>
              <a:ext cx="73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9" name="Rectangle 9">
              <a:extLst>
                <a:ext uri="{FF2B5EF4-FFF2-40B4-BE49-F238E27FC236}">
                  <a16:creationId xmlns:a16="http://schemas.microsoft.com/office/drawing/2014/main" id="{918B7E61-2118-044C-6F99-AD1F476DABD1}"/>
                </a:ext>
              </a:extLst>
            </p:cNvPr>
            <p:cNvSpPr>
              <a:spLocks noChangeArrowheads="1"/>
            </p:cNvSpPr>
            <p:nvPr/>
          </p:nvSpPr>
          <p:spPr bwMode="auto">
            <a:xfrm>
              <a:off x="734" y="1704"/>
              <a:ext cx="4486" cy="1086"/>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eaLnBrk="1" hangingPunct="1">
                <a:lnSpc>
                  <a:spcPct val="90000"/>
                </a:lnSpc>
                <a:spcBef>
                  <a:spcPct val="20000"/>
                </a:spcBef>
                <a:tabLst>
                  <a:tab pos="2949575" algn="r"/>
                  <a:tab pos="4854575" algn="r"/>
                  <a:tab pos="6673850" algn="r"/>
                </a:tabLst>
              </a:pPr>
              <a:r>
                <a:rPr lang="en-US" sz="2000" dirty="0">
                  <a:latin typeface="Times New Roman" panose="02020603050405020304" pitchFamily="18" charset="0"/>
                  <a:cs typeface="Times New Roman" panose="02020603050405020304" pitchFamily="18" charset="0"/>
                </a:rPr>
                <a:t>Spring	80,000	100,000	20,000</a:t>
              </a:r>
            </a:p>
            <a:p>
              <a:pPr eaLnBrk="1" hangingPunct="1">
                <a:lnSpc>
                  <a:spcPct val="90000"/>
                </a:lnSpc>
                <a:spcBef>
                  <a:spcPct val="20000"/>
                </a:spcBef>
                <a:tabLst>
                  <a:tab pos="2949575" algn="r"/>
                  <a:tab pos="4854575" algn="r"/>
                  <a:tab pos="6673850" algn="r"/>
                </a:tabLst>
              </a:pPr>
              <a:r>
                <a:rPr lang="en-US" sz="2000" dirty="0">
                  <a:latin typeface="Times New Roman" panose="02020603050405020304" pitchFamily="18" charset="0"/>
                  <a:cs typeface="Times New Roman" panose="02020603050405020304" pitchFamily="18" charset="0"/>
                </a:rPr>
                <a:t>Summer	50,000	100,000	70,000</a:t>
              </a:r>
            </a:p>
            <a:p>
              <a:pPr eaLnBrk="1" hangingPunct="1">
                <a:lnSpc>
                  <a:spcPct val="90000"/>
                </a:lnSpc>
                <a:spcBef>
                  <a:spcPct val="20000"/>
                </a:spcBef>
                <a:tabLst>
                  <a:tab pos="2949575" algn="r"/>
                  <a:tab pos="4854575" algn="r"/>
                  <a:tab pos="6673850" algn="r"/>
                </a:tabLst>
              </a:pPr>
              <a:r>
                <a:rPr lang="en-US" sz="2000" dirty="0">
                  <a:latin typeface="Times New Roman" panose="02020603050405020304" pitchFamily="18" charset="0"/>
                  <a:cs typeface="Times New Roman" panose="02020603050405020304" pitchFamily="18" charset="0"/>
                </a:rPr>
                <a:t>Fall	120,000	100,000	50,000</a:t>
              </a:r>
            </a:p>
            <a:p>
              <a:pPr eaLnBrk="1" hangingPunct="1">
                <a:lnSpc>
                  <a:spcPct val="90000"/>
                </a:lnSpc>
                <a:spcBef>
                  <a:spcPct val="20000"/>
                </a:spcBef>
                <a:tabLst>
                  <a:tab pos="2949575" algn="r"/>
                  <a:tab pos="4854575" algn="r"/>
                  <a:tab pos="6673850" algn="r"/>
                </a:tabLst>
              </a:pPr>
              <a:r>
                <a:rPr lang="en-US" sz="2000" dirty="0">
                  <a:latin typeface="Times New Roman" panose="02020603050405020304" pitchFamily="18" charset="0"/>
                  <a:cs typeface="Times New Roman" panose="02020603050405020304" pitchFamily="18" charset="0"/>
                </a:rPr>
                <a:t>Winter	150,000	100,000	0</a:t>
              </a:r>
              <a:endParaRPr lang="en-US" sz="2000" u="sng" dirty="0">
                <a:latin typeface="Times New Roman" panose="02020603050405020304" pitchFamily="18" charset="0"/>
                <a:cs typeface="Times New Roman" panose="02020603050405020304" pitchFamily="18" charset="0"/>
              </a:endParaRPr>
            </a:p>
            <a:p>
              <a:pPr eaLnBrk="1" hangingPunct="1">
                <a:lnSpc>
                  <a:spcPct val="90000"/>
                </a:lnSpc>
                <a:spcBef>
                  <a:spcPct val="20000"/>
                </a:spcBef>
                <a:tabLst>
                  <a:tab pos="2949575" algn="r"/>
                  <a:tab pos="4854575" algn="r"/>
                  <a:tab pos="6673850" algn="r"/>
                </a:tabLst>
              </a:pPr>
              <a:r>
                <a:rPr lang="en-US" sz="2000" dirty="0">
                  <a:latin typeface="Times New Roman" panose="02020603050405020304" pitchFamily="18" charset="0"/>
                  <a:cs typeface="Times New Roman" panose="02020603050405020304" pitchFamily="18" charset="0"/>
                </a:rPr>
                <a:t>		400,000	140,000</a:t>
              </a:r>
            </a:p>
          </p:txBody>
        </p:sp>
        <p:sp>
          <p:nvSpPr>
            <p:cNvPr id="10" name="Rectangle 10">
              <a:extLst>
                <a:ext uri="{FF2B5EF4-FFF2-40B4-BE49-F238E27FC236}">
                  <a16:creationId xmlns:a16="http://schemas.microsoft.com/office/drawing/2014/main" id="{85618280-4D05-07FE-FD6D-5C1192C06424}"/>
                </a:ext>
              </a:extLst>
            </p:cNvPr>
            <p:cNvSpPr>
              <a:spLocks noChangeArrowheads="1"/>
            </p:cNvSpPr>
            <p:nvPr/>
          </p:nvSpPr>
          <p:spPr bwMode="auto">
            <a:xfrm>
              <a:off x="734" y="1254"/>
              <a:ext cx="4486" cy="404"/>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1" hangingPunct="1">
                <a:lnSpc>
                  <a:spcPct val="90000"/>
                </a:lnSpc>
                <a:tabLst>
                  <a:tab pos="2482850" algn="ctr"/>
                  <a:tab pos="4387850" algn="ctr"/>
                  <a:tab pos="6194425" algn="ctr"/>
                </a:tabLst>
              </a:pPr>
              <a:r>
                <a:rPr lang="en-US" sz="2000" u="sng"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SALES	PRODUCTION</a:t>
              </a:r>
              <a:endParaRPr lang="en-US" sz="2000" u="sng" dirty="0">
                <a:latin typeface="Times New Roman" panose="02020603050405020304" pitchFamily="18" charset="0"/>
                <a:cs typeface="Times New Roman" panose="02020603050405020304" pitchFamily="18" charset="0"/>
              </a:endParaRPr>
            </a:p>
            <a:p>
              <a:pPr eaLnBrk="1" hangingPunct="1">
                <a:lnSpc>
                  <a:spcPct val="90000"/>
                </a:lnSpc>
                <a:tabLst>
                  <a:tab pos="2482850" algn="ctr"/>
                  <a:tab pos="4387850" algn="ctr"/>
                  <a:tab pos="6194425" algn="ctr"/>
                </a:tabLst>
              </a:pPr>
              <a:r>
                <a:rPr lang="en-US" sz="2000" dirty="0">
                  <a:latin typeface="Times New Roman" panose="02020603050405020304" pitchFamily="18" charset="0"/>
                  <a:cs typeface="Times New Roman" panose="02020603050405020304" pitchFamily="18" charset="0"/>
                </a:rPr>
                <a:t>QUARTER	FORECAST	PLAN	INVENTORY</a:t>
              </a:r>
            </a:p>
          </p:txBody>
        </p:sp>
        <p:sp>
          <p:nvSpPr>
            <p:cNvPr id="11" name="Line 12">
              <a:extLst>
                <a:ext uri="{FF2B5EF4-FFF2-40B4-BE49-F238E27FC236}">
                  <a16:creationId xmlns:a16="http://schemas.microsoft.com/office/drawing/2014/main" id="{6F317734-8244-B700-B99A-2CB43D916899}"/>
                </a:ext>
              </a:extLst>
            </p:cNvPr>
            <p:cNvSpPr>
              <a:spLocks noChangeShapeType="1"/>
            </p:cNvSpPr>
            <p:nvPr/>
          </p:nvSpPr>
          <p:spPr bwMode="auto">
            <a:xfrm>
              <a:off x="765" y="1662"/>
              <a:ext cx="4427"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12" name="Line 66">
              <a:extLst>
                <a:ext uri="{FF2B5EF4-FFF2-40B4-BE49-F238E27FC236}">
                  <a16:creationId xmlns:a16="http://schemas.microsoft.com/office/drawing/2014/main" id="{6DFA46A0-DB98-F4E2-17A8-84CCA97FD82A}"/>
                </a:ext>
              </a:extLst>
            </p:cNvPr>
            <p:cNvSpPr>
              <a:spLocks noChangeShapeType="1"/>
            </p:cNvSpPr>
            <p:nvPr/>
          </p:nvSpPr>
          <p:spPr bwMode="auto">
            <a:xfrm>
              <a:off x="4333" y="2528"/>
              <a:ext cx="73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latin typeface="Times New Roman" panose="02020603050405020304" pitchFamily="18" charset="0"/>
                <a:cs typeface="Times New Roman" panose="02020603050405020304" pitchFamily="18" charset="0"/>
              </a:endParaRPr>
            </a:p>
          </p:txBody>
        </p:sp>
      </p:grpSp>
      <p:sp>
        <p:nvSpPr>
          <p:cNvPr id="13" name="Rectangle 12">
            <a:extLst>
              <a:ext uri="{FF2B5EF4-FFF2-40B4-BE49-F238E27FC236}">
                <a16:creationId xmlns:a16="http://schemas.microsoft.com/office/drawing/2014/main" id="{D4CCC918-A26B-D4AE-0257-6C747F45F3E5}"/>
              </a:ext>
            </a:extLst>
          </p:cNvPr>
          <p:cNvSpPr/>
          <p:nvPr/>
        </p:nvSpPr>
        <p:spPr>
          <a:xfrm>
            <a:off x="122279" y="1028805"/>
            <a:ext cx="2525050" cy="830997"/>
          </a:xfrm>
          <a:prstGeom prst="rect">
            <a:avLst/>
          </a:prstGeom>
        </p:spPr>
        <p:txBody>
          <a:bodyPr wrap="none">
            <a:spAutoFit/>
          </a:bodyPr>
          <a:lstStyle/>
          <a:p>
            <a:r>
              <a:rPr lang="en-US" sz="2400" b="1" dirty="0">
                <a:latin typeface="Times New Roman" panose="02020603050405020304" pitchFamily="18" charset="0"/>
                <a:cs typeface="Times New Roman" panose="02020603050405020304" pitchFamily="18" charset="0"/>
              </a:rPr>
              <a:t>Level Production </a:t>
            </a:r>
          </a:p>
          <a:p>
            <a:r>
              <a:rPr lang="en-US" sz="2400" b="1" dirty="0">
                <a:latin typeface="Times New Roman" panose="02020603050405020304" pitchFamily="18" charset="0"/>
                <a:cs typeface="Times New Roman" panose="02020603050405020304" pitchFamily="18" charset="0"/>
              </a:rPr>
              <a:t>Strategy</a:t>
            </a:r>
            <a:endParaRPr lang="en-IN" sz="2400" b="1"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2E3324FB-AA92-448D-4C84-9646A11D588C}"/>
              </a:ext>
            </a:extLst>
          </p:cNvPr>
          <p:cNvSpPr txBox="1"/>
          <p:nvPr/>
        </p:nvSpPr>
        <p:spPr>
          <a:xfrm>
            <a:off x="1270965" y="4733677"/>
            <a:ext cx="7680764" cy="480131"/>
          </a:xfrm>
          <a:prstGeom prst="rect">
            <a:avLst/>
          </a:prstGeom>
          <a:solidFill>
            <a:srgbClr val="92D050"/>
          </a:solidFill>
          <a:ln>
            <a:solidFill>
              <a:schemeClr val="tx1"/>
            </a:solidFill>
          </a:ln>
        </p:spPr>
        <p:txBody>
          <a:bodyPr wrap="square">
            <a:spAutoFit/>
          </a:bodyPr>
          <a:lstStyle/>
          <a:p>
            <a:pPr eaLnBrk="1" hangingPunct="1">
              <a:lnSpc>
                <a:spcPct val="90000"/>
              </a:lnSpc>
              <a:spcBef>
                <a:spcPct val="20000"/>
              </a:spcBef>
              <a:tabLst>
                <a:tab pos="2949575" algn="r"/>
                <a:tab pos="4854575" algn="r"/>
                <a:tab pos="6673850" algn="r"/>
              </a:tabLst>
            </a:pPr>
            <a:r>
              <a:rPr lang="en-US" sz="2800" dirty="0">
                <a:latin typeface="Times New Roman" panose="02020603050405020304" pitchFamily="18" charset="0"/>
                <a:cs typeface="Times New Roman" panose="02020603050405020304" pitchFamily="18" charset="0"/>
              </a:rPr>
              <a:t>Cost = 140,000 pounds x 0.50 per pound = $70,000</a:t>
            </a:r>
          </a:p>
        </p:txBody>
      </p:sp>
    </p:spTree>
    <p:extLst>
      <p:ext uri="{BB962C8B-B14F-4D97-AF65-F5344CB8AC3E}">
        <p14:creationId xmlns:p14="http://schemas.microsoft.com/office/powerpoint/2010/main" val="1922176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5977F-8687-DF01-871E-7CE09995EC73}"/>
              </a:ext>
            </a:extLst>
          </p:cNvPr>
          <p:cNvSpPr>
            <a:spLocks noGrp="1"/>
          </p:cNvSpPr>
          <p:nvPr>
            <p:ph type="title"/>
          </p:nvPr>
        </p:nvSpPr>
        <p:spPr/>
        <p:txBody>
          <a:bodyPr/>
          <a:lstStyle/>
          <a:p>
            <a:r>
              <a:rPr lang="en-IN" sz="3600" dirty="0"/>
              <a:t>Aggregate Planning using Pure Strategies </a:t>
            </a:r>
            <a:r>
              <a:rPr lang="en-IN" sz="3600" dirty="0">
                <a:solidFill>
                  <a:srgbClr val="FF0000"/>
                </a:solidFill>
              </a:rPr>
              <a:t>Example 1</a:t>
            </a:r>
            <a:endParaRPr lang="en-IN" dirty="0"/>
          </a:p>
        </p:txBody>
      </p:sp>
      <p:sp>
        <p:nvSpPr>
          <p:cNvPr id="4" name="Date Placeholder 3">
            <a:extLst>
              <a:ext uri="{FF2B5EF4-FFF2-40B4-BE49-F238E27FC236}">
                <a16:creationId xmlns:a16="http://schemas.microsoft.com/office/drawing/2014/main" id="{1B213009-9228-FCF7-9968-4D5C55B7114E}"/>
              </a:ext>
            </a:extLst>
          </p:cNvPr>
          <p:cNvSpPr>
            <a:spLocks noGrp="1"/>
          </p:cNvSpPr>
          <p:nvPr>
            <p:ph type="dt" idx="10"/>
          </p:nvPr>
        </p:nvSpPr>
        <p:spPr/>
        <p:txBody>
          <a:bodyPr/>
          <a:lstStyle/>
          <a:p>
            <a:fld id="{D1FBB12C-6AF2-404C-B802-656F1A988312}" type="datetime1">
              <a:rPr lang="en-IN" smtClean="0"/>
              <a:pPr/>
              <a:t>02-12-2025</a:t>
            </a:fld>
            <a:endParaRPr lang="en-IN" dirty="0"/>
          </a:p>
        </p:txBody>
      </p:sp>
      <p:sp>
        <p:nvSpPr>
          <p:cNvPr id="5" name="Footer Placeholder 4">
            <a:extLst>
              <a:ext uri="{FF2B5EF4-FFF2-40B4-BE49-F238E27FC236}">
                <a16:creationId xmlns:a16="http://schemas.microsoft.com/office/drawing/2014/main" id="{E8E4AADC-4FA7-CDA8-A9C5-01A12CC8D677}"/>
              </a:ext>
            </a:extLst>
          </p:cNvPr>
          <p:cNvSpPr>
            <a:spLocks noGrp="1"/>
          </p:cNvSpPr>
          <p:nvPr>
            <p:ph type="ftr" idx="11"/>
          </p:nvPr>
        </p:nvSpPr>
        <p:spPr/>
        <p:txBody>
          <a:bodyPr/>
          <a:lstStyle/>
          <a:p>
            <a:r>
              <a:rPr lang="en-IN"/>
              <a:t>Aggregate Planning</a:t>
            </a:r>
            <a:endParaRPr lang="en-IN" dirty="0"/>
          </a:p>
        </p:txBody>
      </p:sp>
      <p:sp>
        <p:nvSpPr>
          <p:cNvPr id="6" name="Slide Number Placeholder 5">
            <a:extLst>
              <a:ext uri="{FF2B5EF4-FFF2-40B4-BE49-F238E27FC236}">
                <a16:creationId xmlns:a16="http://schemas.microsoft.com/office/drawing/2014/main" id="{A31E6EA9-5DD0-6348-7B90-A176D37DDD0C}"/>
              </a:ext>
            </a:extLst>
          </p:cNvPr>
          <p:cNvSpPr>
            <a:spLocks noGrp="1"/>
          </p:cNvSpPr>
          <p:nvPr>
            <p:ph type="sldNum" idx="12"/>
          </p:nvPr>
        </p:nvSpPr>
        <p:spPr/>
        <p:txBody>
          <a:bodyPr/>
          <a:lstStyle/>
          <a:p>
            <a:fld id="{00000000-1234-1234-1234-123412341234}" type="slidenum">
              <a:rPr lang="en-US" smtClean="0"/>
              <a:pPr/>
              <a:t>36</a:t>
            </a:fld>
            <a:endParaRPr lang="en-US" dirty="0"/>
          </a:p>
        </p:txBody>
      </p:sp>
      <p:grpSp>
        <p:nvGrpSpPr>
          <p:cNvPr id="7" name="Group 13">
            <a:extLst>
              <a:ext uri="{FF2B5EF4-FFF2-40B4-BE49-F238E27FC236}">
                <a16:creationId xmlns:a16="http://schemas.microsoft.com/office/drawing/2014/main" id="{70F7DACA-1D76-6FD8-002D-BB0AA82FFB01}"/>
              </a:ext>
            </a:extLst>
          </p:cNvPr>
          <p:cNvGrpSpPr>
            <a:grpSpLocks/>
          </p:cNvGrpSpPr>
          <p:nvPr/>
        </p:nvGrpSpPr>
        <p:grpSpPr bwMode="auto">
          <a:xfrm>
            <a:off x="2571605" y="1196154"/>
            <a:ext cx="8705850" cy="2830513"/>
            <a:chOff x="147" y="1071"/>
            <a:chExt cx="5484" cy="1783"/>
          </a:xfrm>
        </p:grpSpPr>
        <p:sp>
          <p:nvSpPr>
            <p:cNvPr id="8" name="Rectangle 8">
              <a:extLst>
                <a:ext uri="{FF2B5EF4-FFF2-40B4-BE49-F238E27FC236}">
                  <a16:creationId xmlns:a16="http://schemas.microsoft.com/office/drawing/2014/main" id="{63973EFC-46F1-02A6-5AC5-76720328BFBC}"/>
                </a:ext>
              </a:extLst>
            </p:cNvPr>
            <p:cNvSpPr>
              <a:spLocks noChangeArrowheads="1"/>
            </p:cNvSpPr>
            <p:nvPr/>
          </p:nvSpPr>
          <p:spPr bwMode="auto">
            <a:xfrm>
              <a:off x="147" y="1477"/>
              <a:ext cx="5484" cy="1377"/>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eaLnBrk="1" hangingPunct="1">
                <a:lnSpc>
                  <a:spcPct val="90000"/>
                </a:lnSpc>
                <a:spcBef>
                  <a:spcPct val="20000"/>
                </a:spcBef>
                <a:tabLst>
                  <a:tab pos="2286000" algn="r"/>
                  <a:tab pos="3810000" algn="r"/>
                  <a:tab pos="5235575" algn="r"/>
                  <a:tab pos="6673850" algn="r"/>
                  <a:tab pos="8001000" algn="r"/>
                </a:tabLst>
              </a:pPr>
              <a:r>
                <a:rPr lang="en-US" sz="2400" dirty="0">
                  <a:latin typeface="Times New Roman" panose="02020603050405020304" pitchFamily="18" charset="0"/>
                  <a:cs typeface="Times New Roman" panose="02020603050405020304" pitchFamily="18" charset="0"/>
                </a:rPr>
                <a:t>Spring	80,000	80,000	80	0	20</a:t>
              </a:r>
            </a:p>
            <a:p>
              <a:pPr eaLnBrk="1" hangingPunct="1">
                <a:lnSpc>
                  <a:spcPct val="90000"/>
                </a:lnSpc>
                <a:spcBef>
                  <a:spcPct val="20000"/>
                </a:spcBef>
                <a:tabLst>
                  <a:tab pos="2286000" algn="r"/>
                  <a:tab pos="3810000" algn="r"/>
                  <a:tab pos="5235575" algn="r"/>
                  <a:tab pos="6673850" algn="r"/>
                  <a:tab pos="8001000" algn="r"/>
                </a:tabLst>
              </a:pPr>
              <a:r>
                <a:rPr lang="en-US" sz="2400" dirty="0">
                  <a:latin typeface="Times New Roman" panose="02020603050405020304" pitchFamily="18" charset="0"/>
                  <a:cs typeface="Times New Roman" panose="02020603050405020304" pitchFamily="18" charset="0"/>
                </a:rPr>
                <a:t>Summer	50,000	50,000	50	0	30	</a:t>
              </a:r>
            </a:p>
            <a:p>
              <a:pPr eaLnBrk="1" hangingPunct="1">
                <a:lnSpc>
                  <a:spcPct val="90000"/>
                </a:lnSpc>
                <a:spcBef>
                  <a:spcPct val="20000"/>
                </a:spcBef>
                <a:tabLst>
                  <a:tab pos="2286000" algn="r"/>
                  <a:tab pos="3810000" algn="r"/>
                  <a:tab pos="5235575" algn="r"/>
                  <a:tab pos="6673850" algn="r"/>
                  <a:tab pos="8001000" algn="r"/>
                </a:tabLst>
              </a:pPr>
              <a:r>
                <a:rPr lang="en-US" sz="2400" dirty="0">
                  <a:latin typeface="Times New Roman" panose="02020603050405020304" pitchFamily="18" charset="0"/>
                  <a:cs typeface="Times New Roman" panose="02020603050405020304" pitchFamily="18" charset="0"/>
                </a:rPr>
                <a:t>Fall	120,000	120,000	120	70	0</a:t>
              </a:r>
            </a:p>
            <a:p>
              <a:pPr eaLnBrk="1" hangingPunct="1">
                <a:lnSpc>
                  <a:spcPct val="90000"/>
                </a:lnSpc>
                <a:spcBef>
                  <a:spcPct val="20000"/>
                </a:spcBef>
                <a:tabLst>
                  <a:tab pos="2286000" algn="r"/>
                  <a:tab pos="3810000" algn="r"/>
                  <a:tab pos="5235575" algn="r"/>
                  <a:tab pos="6673850" algn="r"/>
                  <a:tab pos="8001000" algn="r"/>
                </a:tabLst>
              </a:pPr>
              <a:r>
                <a:rPr lang="en-US" sz="2400" dirty="0">
                  <a:latin typeface="Times New Roman" panose="02020603050405020304" pitchFamily="18" charset="0"/>
                  <a:cs typeface="Times New Roman" panose="02020603050405020304" pitchFamily="18" charset="0"/>
                </a:rPr>
                <a:t>Winter	150,000	150,000	150	30	0</a:t>
              </a:r>
              <a:endParaRPr lang="en-US" sz="800" dirty="0">
                <a:latin typeface="Times New Roman" panose="02020603050405020304" pitchFamily="18" charset="0"/>
                <a:cs typeface="Times New Roman" panose="02020603050405020304" pitchFamily="18" charset="0"/>
              </a:endParaRPr>
            </a:p>
            <a:p>
              <a:pPr eaLnBrk="1" hangingPunct="1">
                <a:lnSpc>
                  <a:spcPct val="90000"/>
                </a:lnSpc>
                <a:spcBef>
                  <a:spcPct val="20000"/>
                </a:spcBef>
                <a:tabLst>
                  <a:tab pos="2286000" algn="r"/>
                  <a:tab pos="3810000" algn="r"/>
                  <a:tab pos="5235575" algn="r"/>
                  <a:tab pos="6673850" algn="r"/>
                  <a:tab pos="8001000" algn="r"/>
                </a:tabLst>
              </a:pPr>
              <a:endParaRPr lang="en-US" sz="800" dirty="0">
                <a:latin typeface="Times New Roman" panose="02020603050405020304" pitchFamily="18" charset="0"/>
                <a:cs typeface="Times New Roman" panose="02020603050405020304" pitchFamily="18" charset="0"/>
              </a:endParaRPr>
            </a:p>
            <a:p>
              <a:pPr eaLnBrk="1" hangingPunct="1">
                <a:lnSpc>
                  <a:spcPct val="90000"/>
                </a:lnSpc>
                <a:spcBef>
                  <a:spcPct val="20000"/>
                </a:spcBef>
                <a:tabLst>
                  <a:tab pos="2286000" algn="r"/>
                  <a:tab pos="3810000" algn="r"/>
                  <a:tab pos="5235575" algn="r"/>
                  <a:tab pos="6673850" algn="r"/>
                  <a:tab pos="8001000" algn="r"/>
                </a:tabLst>
              </a:pPr>
              <a:r>
                <a:rPr lang="en-US" sz="2400" dirty="0">
                  <a:latin typeface="Times New Roman" panose="02020603050405020304" pitchFamily="18" charset="0"/>
                  <a:cs typeface="Times New Roman" panose="02020603050405020304" pitchFamily="18" charset="0"/>
                </a:rPr>
                <a:t>				100	50</a:t>
              </a:r>
            </a:p>
          </p:txBody>
        </p:sp>
        <p:sp>
          <p:nvSpPr>
            <p:cNvPr id="9" name="Rectangle 9">
              <a:extLst>
                <a:ext uri="{FF2B5EF4-FFF2-40B4-BE49-F238E27FC236}">
                  <a16:creationId xmlns:a16="http://schemas.microsoft.com/office/drawing/2014/main" id="{A352E992-25B6-AD10-70BF-F92EDD0ABD52}"/>
                </a:ext>
              </a:extLst>
            </p:cNvPr>
            <p:cNvSpPr>
              <a:spLocks noChangeArrowheads="1"/>
            </p:cNvSpPr>
            <p:nvPr/>
          </p:nvSpPr>
          <p:spPr bwMode="auto">
            <a:xfrm>
              <a:off x="147" y="1071"/>
              <a:ext cx="5484" cy="407"/>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1" hangingPunct="1">
                <a:lnSpc>
                  <a:spcPct val="90000"/>
                </a:lnSpc>
                <a:tabLst>
                  <a:tab pos="2003425" algn="ctr"/>
                  <a:tab pos="3429000" algn="ctr"/>
                  <a:tab pos="5051425" algn="ctr"/>
                  <a:tab pos="6477000" algn="ctr"/>
                  <a:tab pos="7816850" algn="ctr"/>
                </a:tabLst>
              </a:pPr>
              <a:r>
                <a:rPr lang="en-US" sz="2000" dirty="0">
                  <a:latin typeface="Times New Roman" panose="02020603050405020304" pitchFamily="18" charset="0"/>
                  <a:cs typeface="Times New Roman" panose="02020603050405020304" pitchFamily="18" charset="0"/>
                </a:rPr>
                <a:t> 	SALES	PRODUCTION	WORKERS	WORKERS	WORKERS</a:t>
              </a:r>
              <a:endParaRPr lang="en-US" sz="2000" u="sng" dirty="0">
                <a:latin typeface="Times New Roman" panose="02020603050405020304" pitchFamily="18" charset="0"/>
                <a:cs typeface="Times New Roman" panose="02020603050405020304" pitchFamily="18" charset="0"/>
              </a:endParaRPr>
            </a:p>
            <a:p>
              <a:pPr eaLnBrk="1" hangingPunct="1">
                <a:lnSpc>
                  <a:spcPct val="90000"/>
                </a:lnSpc>
                <a:tabLst>
                  <a:tab pos="2003425" algn="ctr"/>
                  <a:tab pos="3429000" algn="ctr"/>
                  <a:tab pos="5051425" algn="ctr"/>
                  <a:tab pos="6477000" algn="ctr"/>
                  <a:tab pos="7816850" algn="ctr"/>
                </a:tabLst>
              </a:pPr>
              <a:r>
                <a:rPr lang="en-US" sz="2000" dirty="0">
                  <a:latin typeface="Times New Roman" panose="02020603050405020304" pitchFamily="18" charset="0"/>
                  <a:cs typeface="Times New Roman" panose="02020603050405020304" pitchFamily="18" charset="0"/>
                </a:rPr>
                <a:t>QUARTER	FORECAST	PLAN	NEEDED	HIRED	FIRED</a:t>
              </a:r>
            </a:p>
          </p:txBody>
        </p:sp>
        <p:sp>
          <p:nvSpPr>
            <p:cNvPr id="10" name="Line 10">
              <a:extLst>
                <a:ext uri="{FF2B5EF4-FFF2-40B4-BE49-F238E27FC236}">
                  <a16:creationId xmlns:a16="http://schemas.microsoft.com/office/drawing/2014/main" id="{B83F167D-B918-B1C6-03DA-56194DEB0D4B}"/>
                </a:ext>
              </a:extLst>
            </p:cNvPr>
            <p:cNvSpPr>
              <a:spLocks noChangeShapeType="1"/>
            </p:cNvSpPr>
            <p:nvPr/>
          </p:nvSpPr>
          <p:spPr bwMode="auto">
            <a:xfrm>
              <a:off x="4036" y="2535"/>
              <a:ext cx="45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sz="1600">
                <a:latin typeface="Times New Roman" panose="02020603050405020304" pitchFamily="18" charset="0"/>
                <a:cs typeface="Times New Roman" panose="02020603050405020304" pitchFamily="18" charset="0"/>
              </a:endParaRPr>
            </a:p>
          </p:txBody>
        </p:sp>
        <p:sp>
          <p:nvSpPr>
            <p:cNvPr id="11" name="Line 11">
              <a:extLst>
                <a:ext uri="{FF2B5EF4-FFF2-40B4-BE49-F238E27FC236}">
                  <a16:creationId xmlns:a16="http://schemas.microsoft.com/office/drawing/2014/main" id="{CDB1821D-151B-DDA1-AB38-821584AB7A5C}"/>
                </a:ext>
              </a:extLst>
            </p:cNvPr>
            <p:cNvSpPr>
              <a:spLocks noChangeShapeType="1"/>
            </p:cNvSpPr>
            <p:nvPr/>
          </p:nvSpPr>
          <p:spPr bwMode="auto">
            <a:xfrm>
              <a:off x="4897" y="2524"/>
              <a:ext cx="45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sz="1600">
                <a:latin typeface="Times New Roman" panose="02020603050405020304" pitchFamily="18" charset="0"/>
                <a:cs typeface="Times New Roman" panose="02020603050405020304" pitchFamily="18" charset="0"/>
              </a:endParaRPr>
            </a:p>
          </p:txBody>
        </p:sp>
        <p:sp>
          <p:nvSpPr>
            <p:cNvPr id="12" name="Line 12">
              <a:extLst>
                <a:ext uri="{FF2B5EF4-FFF2-40B4-BE49-F238E27FC236}">
                  <a16:creationId xmlns:a16="http://schemas.microsoft.com/office/drawing/2014/main" id="{0658D88D-F18D-4456-3868-321ECCFB1A51}"/>
                </a:ext>
              </a:extLst>
            </p:cNvPr>
            <p:cNvSpPr>
              <a:spLocks noChangeShapeType="1"/>
            </p:cNvSpPr>
            <p:nvPr/>
          </p:nvSpPr>
          <p:spPr bwMode="auto">
            <a:xfrm>
              <a:off x="178" y="1458"/>
              <a:ext cx="5369"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N" sz="1600">
                <a:latin typeface="Times New Roman" panose="02020603050405020304" pitchFamily="18" charset="0"/>
                <a:cs typeface="Times New Roman" panose="02020603050405020304" pitchFamily="18" charset="0"/>
              </a:endParaRPr>
            </a:p>
          </p:txBody>
        </p:sp>
      </p:grpSp>
      <p:sp>
        <p:nvSpPr>
          <p:cNvPr id="13" name="Rectangle 14">
            <a:extLst>
              <a:ext uri="{FF2B5EF4-FFF2-40B4-BE49-F238E27FC236}">
                <a16:creationId xmlns:a16="http://schemas.microsoft.com/office/drawing/2014/main" id="{6271FC07-BB8F-E787-D4CE-338E3000DE5A}"/>
              </a:ext>
            </a:extLst>
          </p:cNvPr>
          <p:cNvSpPr>
            <a:spLocks noChangeArrowheads="1"/>
          </p:cNvSpPr>
          <p:nvPr/>
        </p:nvSpPr>
        <p:spPr bwMode="auto">
          <a:xfrm>
            <a:off x="2854732" y="4183548"/>
            <a:ext cx="7962436" cy="904863"/>
          </a:xfrm>
          <a:prstGeom prst="rect">
            <a:avLst/>
          </a:prstGeom>
          <a:solidFill>
            <a:srgbClr val="92D050"/>
          </a:solidFill>
          <a:ln w="9525">
            <a:solidFill>
              <a:schemeClr val="tx1"/>
            </a:solidFill>
            <a:miter lim="800000"/>
            <a:headEnd/>
            <a:tailEnd/>
          </a:ln>
          <a:effectLst/>
        </p:spPr>
        <p:txBody>
          <a:bodyPr wrap="none">
            <a:spAutoFit/>
          </a:bodyPr>
          <a:lstStyle/>
          <a:p>
            <a:pPr eaLnBrk="1" hangingPunct="1">
              <a:spcBef>
                <a:spcPct val="20000"/>
              </a:spcBef>
              <a:tabLst>
                <a:tab pos="577850" algn="r"/>
                <a:tab pos="663575" algn="l"/>
              </a:tabLst>
            </a:pPr>
            <a:r>
              <a:rPr lang="en-US" sz="2400" dirty="0">
                <a:solidFill>
                  <a:schemeClr val="tx1"/>
                </a:solidFill>
                <a:latin typeface="Times New Roman" panose="02020603050405020304" pitchFamily="18" charset="0"/>
                <a:cs typeface="Times New Roman" panose="02020603050405020304" pitchFamily="18" charset="0"/>
              </a:rPr>
              <a:t>	Cost	= (100 workers hired x $100) + (50 workers fired x $500)</a:t>
            </a:r>
          </a:p>
          <a:p>
            <a:pPr eaLnBrk="1" hangingPunct="1">
              <a:spcBef>
                <a:spcPct val="20000"/>
              </a:spcBef>
              <a:tabLst>
                <a:tab pos="577850" algn="r"/>
                <a:tab pos="663575" algn="l"/>
              </a:tabLst>
            </a:pPr>
            <a:r>
              <a:rPr lang="en-US" sz="2400" dirty="0">
                <a:solidFill>
                  <a:schemeClr val="tx1"/>
                </a:solidFill>
                <a:latin typeface="Times New Roman" panose="02020603050405020304" pitchFamily="18" charset="0"/>
                <a:cs typeface="Times New Roman" panose="02020603050405020304" pitchFamily="18" charset="0"/>
              </a:rPr>
              <a:t>		= $10,000 + 25,000 = $35,000 </a:t>
            </a:r>
          </a:p>
        </p:txBody>
      </p:sp>
      <p:sp>
        <p:nvSpPr>
          <p:cNvPr id="14" name="Rectangle 4">
            <a:extLst>
              <a:ext uri="{FF2B5EF4-FFF2-40B4-BE49-F238E27FC236}">
                <a16:creationId xmlns:a16="http://schemas.microsoft.com/office/drawing/2014/main" id="{74D0DD6E-1A8A-9508-0449-1A2204907B14}"/>
              </a:ext>
            </a:extLst>
          </p:cNvPr>
          <p:cNvSpPr txBox="1">
            <a:spLocks noChangeArrowheads="1"/>
          </p:cNvSpPr>
          <p:nvPr/>
        </p:nvSpPr>
        <p:spPr>
          <a:xfrm>
            <a:off x="152400" y="1094908"/>
            <a:ext cx="7772400" cy="930275"/>
          </a:xfrm>
          <a:prstGeom prst="rect">
            <a:avLst/>
          </a:prstGeom>
          <a:noFill/>
          <a:ln w="12700">
            <a:noFill/>
            <a:miter lim="800000"/>
            <a:headEnd/>
            <a:tailEnd/>
          </a:ln>
        </p:spPr>
        <p:txBody>
          <a:bodyPr lIns="90488" tIns="44450" rIns="90488" bIns="44450"/>
          <a:lstStyle>
            <a:lvl1pPr algn="l" defTabSz="914400" rtl="0" eaLnBrk="1" latinLnBrk="0" hangingPunct="1">
              <a:spcBef>
                <a:spcPct val="0"/>
              </a:spcBef>
              <a:buNone/>
              <a:defRPr sz="4000" b="1" kern="1200" spc="-150">
                <a:solidFill>
                  <a:schemeClr val="tx1"/>
                </a:solidFill>
                <a:latin typeface="Arial" pitchFamily="34" charset="0"/>
                <a:ea typeface="+mj-ea"/>
                <a:cs typeface="Arial" pitchFamily="34" charset="0"/>
              </a:defRPr>
            </a:lvl1pPr>
          </a:lstStyle>
          <a:p>
            <a:r>
              <a:rPr lang="en-US" sz="2800" dirty="0">
                <a:latin typeface="Times New Roman" panose="02020603050405020304" pitchFamily="18" charset="0"/>
                <a:cs typeface="Times New Roman" panose="02020603050405020304" pitchFamily="18" charset="0"/>
              </a:rPr>
              <a:t>Chase Demand </a:t>
            </a:r>
          </a:p>
          <a:p>
            <a:r>
              <a:rPr lang="en-US" sz="2800" dirty="0">
                <a:latin typeface="Times New Roman" panose="02020603050405020304" pitchFamily="18" charset="0"/>
                <a:cs typeface="Times New Roman" panose="02020603050405020304" pitchFamily="18" charset="0"/>
              </a:rPr>
              <a:t>Strategy</a:t>
            </a:r>
          </a:p>
        </p:txBody>
      </p:sp>
      <p:sp>
        <p:nvSpPr>
          <p:cNvPr id="15" name="Rectangle 14">
            <a:extLst>
              <a:ext uri="{FF2B5EF4-FFF2-40B4-BE49-F238E27FC236}">
                <a16:creationId xmlns:a16="http://schemas.microsoft.com/office/drawing/2014/main" id="{9455C78E-0D97-1CE4-FC62-83BB1851D2B8}"/>
              </a:ext>
            </a:extLst>
          </p:cNvPr>
          <p:cNvSpPr/>
          <p:nvPr/>
        </p:nvSpPr>
        <p:spPr>
          <a:xfrm>
            <a:off x="625551" y="5263115"/>
            <a:ext cx="11272284" cy="830997"/>
          </a:xfrm>
          <a:prstGeom prst="rect">
            <a:avLst/>
          </a:prstGeom>
          <a:ln>
            <a:solidFill>
              <a:schemeClr val="tx1"/>
            </a:solidFill>
          </a:ln>
        </p:spPr>
        <p:txBody>
          <a:bodyPr wrap="square">
            <a:spAutoFit/>
          </a:bodyPr>
          <a:lstStyle/>
          <a:p>
            <a:r>
              <a:rPr lang="en-IN" sz="2400" dirty="0">
                <a:latin typeface="Times New Roman" panose="02020603050405020304" pitchFamily="18" charset="0"/>
                <a:cs typeface="Times New Roman" panose="02020603050405020304" pitchFamily="18" charset="0"/>
              </a:rPr>
              <a:t>Comparing the cost of level production with chase demand, we find that </a:t>
            </a:r>
            <a:r>
              <a:rPr lang="en-IN" sz="2400" b="1" dirty="0">
                <a:solidFill>
                  <a:srgbClr val="00B050"/>
                </a:solidFill>
                <a:latin typeface="Times New Roman" panose="02020603050405020304" pitchFamily="18" charset="0"/>
                <a:cs typeface="Times New Roman" panose="02020603050405020304" pitchFamily="18" charset="0"/>
              </a:rPr>
              <a:t>chase demand</a:t>
            </a:r>
            <a:r>
              <a:rPr lang="en-IN" sz="2400" dirty="0">
                <a:latin typeface="Times New Roman" panose="02020603050405020304" pitchFamily="18" charset="0"/>
                <a:cs typeface="Times New Roman" panose="02020603050405020304" pitchFamily="18" charset="0"/>
              </a:rPr>
              <a:t> is the best strategy for the Good and Rich line of candies.</a:t>
            </a:r>
          </a:p>
        </p:txBody>
      </p:sp>
    </p:spTree>
    <p:extLst>
      <p:ext uri="{BB962C8B-B14F-4D97-AF65-F5344CB8AC3E}">
        <p14:creationId xmlns:p14="http://schemas.microsoft.com/office/powerpoint/2010/main" val="1471318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31A0C-0AC6-B097-2741-C43426E70F5E}"/>
              </a:ext>
            </a:extLst>
          </p:cNvPr>
          <p:cNvSpPr>
            <a:spLocks noGrp="1"/>
          </p:cNvSpPr>
          <p:nvPr>
            <p:ph type="title"/>
          </p:nvPr>
        </p:nvSpPr>
        <p:spPr/>
        <p:txBody>
          <a:bodyPr/>
          <a:lstStyle/>
          <a:p>
            <a:r>
              <a:rPr lang="en-IN" dirty="0"/>
              <a:t>Mixed strategies</a:t>
            </a:r>
          </a:p>
        </p:txBody>
      </p:sp>
      <p:sp>
        <p:nvSpPr>
          <p:cNvPr id="3" name="Text Placeholder 2">
            <a:extLst>
              <a:ext uri="{FF2B5EF4-FFF2-40B4-BE49-F238E27FC236}">
                <a16:creationId xmlns:a16="http://schemas.microsoft.com/office/drawing/2014/main" id="{16990B48-B0DD-82BE-C17F-2BF8BB67739B}"/>
              </a:ext>
            </a:extLst>
          </p:cNvPr>
          <p:cNvSpPr>
            <a:spLocks noGrp="1"/>
          </p:cNvSpPr>
          <p:nvPr>
            <p:ph type="body" idx="1"/>
          </p:nvPr>
        </p:nvSpPr>
        <p:spPr/>
        <p:txBody>
          <a:bodyPr/>
          <a:lstStyle/>
          <a:p>
            <a:r>
              <a:rPr lang="en-IN" dirty="0"/>
              <a:t>Varying two or more capacity factors to determine a feasible production plan.</a:t>
            </a:r>
          </a:p>
          <a:p>
            <a:r>
              <a:rPr lang="en-IN" dirty="0"/>
              <a:t>Mixed strategies can incorporate management policies, such as “</a:t>
            </a:r>
            <a:r>
              <a:rPr lang="en-IN" i="1" dirty="0">
                <a:solidFill>
                  <a:srgbClr val="FF0000"/>
                </a:solidFill>
              </a:rPr>
              <a:t>no more than x% of the workforce can be laid off in one quarter</a:t>
            </a:r>
            <a:r>
              <a:rPr lang="en-IN" dirty="0"/>
              <a:t>” or “</a:t>
            </a:r>
            <a:r>
              <a:rPr lang="en-IN" i="1" dirty="0">
                <a:solidFill>
                  <a:srgbClr val="FF0000"/>
                </a:solidFill>
              </a:rPr>
              <a:t>inventory levels cannot exceed x dollars</a:t>
            </a:r>
            <a:r>
              <a:rPr lang="en-IN" dirty="0"/>
              <a:t>.”</a:t>
            </a:r>
          </a:p>
          <a:p>
            <a:endParaRPr lang="en-IN" dirty="0"/>
          </a:p>
        </p:txBody>
      </p:sp>
      <p:sp>
        <p:nvSpPr>
          <p:cNvPr id="4" name="Date Placeholder 3">
            <a:extLst>
              <a:ext uri="{FF2B5EF4-FFF2-40B4-BE49-F238E27FC236}">
                <a16:creationId xmlns:a16="http://schemas.microsoft.com/office/drawing/2014/main" id="{4E280251-F924-18ED-7653-14F0A886E10F}"/>
              </a:ext>
            </a:extLst>
          </p:cNvPr>
          <p:cNvSpPr>
            <a:spLocks noGrp="1"/>
          </p:cNvSpPr>
          <p:nvPr>
            <p:ph type="dt" idx="10"/>
          </p:nvPr>
        </p:nvSpPr>
        <p:spPr/>
        <p:txBody>
          <a:bodyPr/>
          <a:lstStyle/>
          <a:p>
            <a:fld id="{D1FBB12C-6AF2-404C-B802-656F1A988312}" type="datetime1">
              <a:rPr lang="en-IN" smtClean="0"/>
              <a:pPr/>
              <a:t>02-12-2025</a:t>
            </a:fld>
            <a:endParaRPr lang="en-IN" dirty="0"/>
          </a:p>
        </p:txBody>
      </p:sp>
      <p:sp>
        <p:nvSpPr>
          <p:cNvPr id="5" name="Footer Placeholder 4">
            <a:extLst>
              <a:ext uri="{FF2B5EF4-FFF2-40B4-BE49-F238E27FC236}">
                <a16:creationId xmlns:a16="http://schemas.microsoft.com/office/drawing/2014/main" id="{5FE5E327-46C7-36FE-077C-5098005076D9}"/>
              </a:ext>
            </a:extLst>
          </p:cNvPr>
          <p:cNvSpPr>
            <a:spLocks noGrp="1"/>
          </p:cNvSpPr>
          <p:nvPr>
            <p:ph type="ftr" idx="11"/>
          </p:nvPr>
        </p:nvSpPr>
        <p:spPr/>
        <p:txBody>
          <a:bodyPr/>
          <a:lstStyle/>
          <a:p>
            <a:r>
              <a:rPr lang="en-IN"/>
              <a:t>Aggregate Planning</a:t>
            </a:r>
            <a:endParaRPr lang="en-IN" dirty="0"/>
          </a:p>
        </p:txBody>
      </p:sp>
      <p:sp>
        <p:nvSpPr>
          <p:cNvPr id="6" name="Slide Number Placeholder 5">
            <a:extLst>
              <a:ext uri="{FF2B5EF4-FFF2-40B4-BE49-F238E27FC236}">
                <a16:creationId xmlns:a16="http://schemas.microsoft.com/office/drawing/2014/main" id="{55F39F65-D5F7-22B1-6AE9-9CB7599DC6E4}"/>
              </a:ext>
            </a:extLst>
          </p:cNvPr>
          <p:cNvSpPr>
            <a:spLocks noGrp="1"/>
          </p:cNvSpPr>
          <p:nvPr>
            <p:ph type="sldNum" idx="12"/>
          </p:nvPr>
        </p:nvSpPr>
        <p:spPr/>
        <p:txBody>
          <a:bodyPr/>
          <a:lstStyle/>
          <a:p>
            <a:fld id="{00000000-1234-1234-1234-123412341234}" type="slidenum">
              <a:rPr lang="en-US" smtClean="0"/>
              <a:pPr/>
              <a:t>37</a:t>
            </a:fld>
            <a:endParaRPr lang="en-US" dirty="0"/>
          </a:p>
        </p:txBody>
      </p:sp>
    </p:spTree>
    <p:extLst>
      <p:ext uri="{BB962C8B-B14F-4D97-AF65-F5344CB8AC3E}">
        <p14:creationId xmlns:p14="http://schemas.microsoft.com/office/powerpoint/2010/main" val="1902426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E67B7-5103-B3E6-187F-0B97C83211AD}"/>
              </a:ext>
            </a:extLst>
          </p:cNvPr>
          <p:cNvSpPr>
            <a:spLocks noGrp="1"/>
          </p:cNvSpPr>
          <p:nvPr>
            <p:ph type="title"/>
          </p:nvPr>
        </p:nvSpPr>
        <p:spPr/>
        <p:txBody>
          <a:bodyPr/>
          <a:lstStyle/>
          <a:p>
            <a:r>
              <a:rPr lang="en-US" dirty="0"/>
              <a:t>Linear programming </a:t>
            </a:r>
            <a:r>
              <a:rPr lang="en-US" dirty="0">
                <a:solidFill>
                  <a:srgbClr val="FF0000"/>
                </a:solidFill>
              </a:rPr>
              <a:t>Example 1</a:t>
            </a:r>
            <a:endParaRPr lang="en-IN" dirty="0"/>
          </a:p>
        </p:txBody>
      </p:sp>
      <p:sp>
        <p:nvSpPr>
          <p:cNvPr id="4" name="Date Placeholder 3">
            <a:extLst>
              <a:ext uri="{FF2B5EF4-FFF2-40B4-BE49-F238E27FC236}">
                <a16:creationId xmlns:a16="http://schemas.microsoft.com/office/drawing/2014/main" id="{2F4787C0-EF89-0E04-2BAD-C16D671D630A}"/>
              </a:ext>
            </a:extLst>
          </p:cNvPr>
          <p:cNvSpPr>
            <a:spLocks noGrp="1"/>
          </p:cNvSpPr>
          <p:nvPr>
            <p:ph type="dt" idx="10"/>
          </p:nvPr>
        </p:nvSpPr>
        <p:spPr/>
        <p:txBody>
          <a:bodyPr/>
          <a:lstStyle/>
          <a:p>
            <a:fld id="{D1FBB12C-6AF2-404C-B802-656F1A988312}" type="datetime1">
              <a:rPr lang="en-IN" smtClean="0"/>
              <a:pPr/>
              <a:t>02-12-2025</a:t>
            </a:fld>
            <a:endParaRPr lang="en-IN" dirty="0"/>
          </a:p>
        </p:txBody>
      </p:sp>
      <p:sp>
        <p:nvSpPr>
          <p:cNvPr id="5" name="Footer Placeholder 4">
            <a:extLst>
              <a:ext uri="{FF2B5EF4-FFF2-40B4-BE49-F238E27FC236}">
                <a16:creationId xmlns:a16="http://schemas.microsoft.com/office/drawing/2014/main" id="{A537673C-29DD-01F3-7F9F-F79E2B5460F5}"/>
              </a:ext>
            </a:extLst>
          </p:cNvPr>
          <p:cNvSpPr>
            <a:spLocks noGrp="1"/>
          </p:cNvSpPr>
          <p:nvPr>
            <p:ph type="ftr" idx="11"/>
          </p:nvPr>
        </p:nvSpPr>
        <p:spPr/>
        <p:txBody>
          <a:bodyPr/>
          <a:lstStyle/>
          <a:p>
            <a:r>
              <a:rPr lang="en-IN"/>
              <a:t>Aggregate Planning</a:t>
            </a:r>
            <a:endParaRPr lang="en-IN" dirty="0"/>
          </a:p>
        </p:txBody>
      </p:sp>
      <p:sp>
        <p:nvSpPr>
          <p:cNvPr id="6" name="Slide Number Placeholder 5">
            <a:extLst>
              <a:ext uri="{FF2B5EF4-FFF2-40B4-BE49-F238E27FC236}">
                <a16:creationId xmlns:a16="http://schemas.microsoft.com/office/drawing/2014/main" id="{5B8D868F-3C53-B703-7CA0-D6508E240802}"/>
              </a:ext>
            </a:extLst>
          </p:cNvPr>
          <p:cNvSpPr>
            <a:spLocks noGrp="1"/>
          </p:cNvSpPr>
          <p:nvPr>
            <p:ph type="sldNum" idx="12"/>
          </p:nvPr>
        </p:nvSpPr>
        <p:spPr/>
        <p:txBody>
          <a:bodyPr/>
          <a:lstStyle/>
          <a:p>
            <a:fld id="{00000000-1234-1234-1234-123412341234}" type="slidenum">
              <a:rPr lang="en-US" smtClean="0"/>
              <a:pPr/>
              <a:t>38</a:t>
            </a:fld>
            <a:endParaRPr lang="en-US" dirty="0"/>
          </a:p>
        </p:txBody>
      </p:sp>
      <p:sp>
        <p:nvSpPr>
          <p:cNvPr id="7" name="Rectangle 8">
            <a:extLst>
              <a:ext uri="{FF2B5EF4-FFF2-40B4-BE49-F238E27FC236}">
                <a16:creationId xmlns:a16="http://schemas.microsoft.com/office/drawing/2014/main" id="{BB376EF8-D422-161B-F62C-9983C0256185}"/>
              </a:ext>
            </a:extLst>
          </p:cNvPr>
          <p:cNvSpPr>
            <a:spLocks noChangeArrowheads="1"/>
          </p:cNvSpPr>
          <p:nvPr/>
        </p:nvSpPr>
        <p:spPr bwMode="auto">
          <a:xfrm>
            <a:off x="106433" y="954476"/>
            <a:ext cx="10983325" cy="52014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eaLnBrk="1" hangingPunct="1">
              <a:spcBef>
                <a:spcPct val="20000"/>
              </a:spcBef>
              <a:tabLst>
                <a:tab pos="1806575" algn="l"/>
                <a:tab pos="3244850" algn="l"/>
                <a:tab pos="4572000" algn="r"/>
                <a:tab pos="4670425" algn="l"/>
                <a:tab pos="6477000" algn="r"/>
              </a:tabLst>
            </a:pPr>
            <a:r>
              <a:rPr lang="en-US" sz="2000" b="1" dirty="0">
                <a:latin typeface="Times New Roman" panose="02020603050405020304" pitchFamily="18" charset="0"/>
                <a:cs typeface="Times New Roman" panose="02020603050405020304" pitchFamily="18" charset="0"/>
              </a:rPr>
              <a:t>Minimize Z =	$100 (</a:t>
            </a:r>
            <a:r>
              <a:rPr lang="en-US" sz="2000" b="1" i="1" dirty="0">
                <a:latin typeface="Times New Roman" panose="02020603050405020304" pitchFamily="18" charset="0"/>
                <a:cs typeface="Times New Roman" panose="02020603050405020304" pitchFamily="18" charset="0"/>
              </a:rPr>
              <a:t>H</a:t>
            </a:r>
            <a:r>
              <a:rPr lang="en-US" sz="2000" b="1" baseline="-25000" dirty="0">
                <a:latin typeface="Times New Roman" panose="02020603050405020304" pitchFamily="18" charset="0"/>
                <a:cs typeface="Times New Roman" panose="02020603050405020304" pitchFamily="18" charset="0"/>
              </a:rPr>
              <a:t>1</a:t>
            </a:r>
            <a:r>
              <a:rPr lang="en-US" sz="2000" b="1" dirty="0">
                <a:latin typeface="Times New Roman" panose="02020603050405020304" pitchFamily="18" charset="0"/>
                <a:cs typeface="Times New Roman" panose="02020603050405020304" pitchFamily="18" charset="0"/>
              </a:rPr>
              <a:t> + </a:t>
            </a:r>
            <a:r>
              <a:rPr lang="en-US" sz="2000" b="1" i="1" dirty="0">
                <a:latin typeface="Times New Roman" panose="02020603050405020304" pitchFamily="18" charset="0"/>
                <a:cs typeface="Times New Roman" panose="02020603050405020304" pitchFamily="18" charset="0"/>
              </a:rPr>
              <a:t>H</a:t>
            </a:r>
            <a:r>
              <a:rPr lang="en-US" sz="2000" b="1" baseline="-25000" dirty="0">
                <a:latin typeface="Times New Roman" panose="02020603050405020304" pitchFamily="18" charset="0"/>
                <a:cs typeface="Times New Roman" panose="02020603050405020304" pitchFamily="18" charset="0"/>
              </a:rPr>
              <a:t>2</a:t>
            </a:r>
            <a:r>
              <a:rPr lang="en-US" sz="2000" b="1" dirty="0">
                <a:latin typeface="Times New Roman" panose="02020603050405020304" pitchFamily="18" charset="0"/>
                <a:cs typeface="Times New Roman" panose="02020603050405020304" pitchFamily="18" charset="0"/>
              </a:rPr>
              <a:t> + </a:t>
            </a:r>
            <a:r>
              <a:rPr lang="en-US" sz="2000" b="1" i="1" dirty="0">
                <a:latin typeface="Times New Roman" panose="02020603050405020304" pitchFamily="18" charset="0"/>
                <a:cs typeface="Times New Roman" panose="02020603050405020304" pitchFamily="18" charset="0"/>
              </a:rPr>
              <a:t>H</a:t>
            </a:r>
            <a:r>
              <a:rPr lang="en-US" sz="2000" b="1" baseline="-25000" dirty="0">
                <a:latin typeface="Times New Roman" panose="02020603050405020304" pitchFamily="18" charset="0"/>
                <a:cs typeface="Times New Roman" panose="02020603050405020304" pitchFamily="18" charset="0"/>
              </a:rPr>
              <a:t>3</a:t>
            </a:r>
            <a:r>
              <a:rPr lang="en-US" sz="2000" b="1" dirty="0">
                <a:latin typeface="Times New Roman" panose="02020603050405020304" pitchFamily="18" charset="0"/>
                <a:cs typeface="Times New Roman" panose="02020603050405020304" pitchFamily="18" charset="0"/>
              </a:rPr>
              <a:t> + </a:t>
            </a:r>
            <a:r>
              <a:rPr lang="en-US" sz="2000" b="1" i="1" dirty="0">
                <a:latin typeface="Times New Roman" panose="02020603050405020304" pitchFamily="18" charset="0"/>
                <a:cs typeface="Times New Roman" panose="02020603050405020304" pitchFamily="18" charset="0"/>
              </a:rPr>
              <a:t>H</a:t>
            </a:r>
            <a:r>
              <a:rPr lang="en-US" sz="2000" b="1" baseline="-25000" dirty="0">
                <a:latin typeface="Times New Roman" panose="02020603050405020304" pitchFamily="18" charset="0"/>
                <a:cs typeface="Times New Roman" panose="02020603050405020304" pitchFamily="18" charset="0"/>
              </a:rPr>
              <a:t>4</a:t>
            </a:r>
            <a:r>
              <a:rPr lang="en-US" sz="2000" b="1" dirty="0">
                <a:latin typeface="Times New Roman" panose="02020603050405020304" pitchFamily="18" charset="0"/>
                <a:cs typeface="Times New Roman" panose="02020603050405020304" pitchFamily="18" charset="0"/>
              </a:rPr>
              <a:t>) 	+ $500 (</a:t>
            </a:r>
            <a:r>
              <a:rPr lang="en-US" sz="2000" b="1" i="1" dirty="0">
                <a:latin typeface="Times New Roman" panose="02020603050405020304" pitchFamily="18" charset="0"/>
                <a:cs typeface="Times New Roman" panose="02020603050405020304" pitchFamily="18" charset="0"/>
              </a:rPr>
              <a:t>F</a:t>
            </a:r>
            <a:r>
              <a:rPr lang="en-US" sz="2000" b="1" baseline="-25000" dirty="0">
                <a:latin typeface="Times New Roman" panose="02020603050405020304" pitchFamily="18" charset="0"/>
                <a:cs typeface="Times New Roman" panose="02020603050405020304" pitchFamily="18" charset="0"/>
              </a:rPr>
              <a:t>1</a:t>
            </a:r>
            <a:r>
              <a:rPr lang="en-US" sz="2000" b="1" dirty="0">
                <a:latin typeface="Times New Roman" panose="02020603050405020304" pitchFamily="18" charset="0"/>
                <a:cs typeface="Times New Roman" panose="02020603050405020304" pitchFamily="18" charset="0"/>
              </a:rPr>
              <a:t> + </a:t>
            </a:r>
            <a:r>
              <a:rPr lang="en-US" sz="2000" b="1" i="1" dirty="0">
                <a:latin typeface="Times New Roman" panose="02020603050405020304" pitchFamily="18" charset="0"/>
                <a:cs typeface="Times New Roman" panose="02020603050405020304" pitchFamily="18" charset="0"/>
              </a:rPr>
              <a:t>F</a:t>
            </a:r>
            <a:r>
              <a:rPr lang="en-US" sz="2000" b="1" baseline="-25000" dirty="0">
                <a:latin typeface="Times New Roman" panose="02020603050405020304" pitchFamily="18" charset="0"/>
                <a:cs typeface="Times New Roman" panose="02020603050405020304" pitchFamily="18" charset="0"/>
              </a:rPr>
              <a:t>2</a:t>
            </a:r>
            <a:r>
              <a:rPr lang="en-US" sz="2000" b="1" dirty="0">
                <a:latin typeface="Times New Roman" panose="02020603050405020304" pitchFamily="18" charset="0"/>
                <a:cs typeface="Times New Roman" panose="02020603050405020304" pitchFamily="18" charset="0"/>
              </a:rPr>
              <a:t> + </a:t>
            </a:r>
            <a:r>
              <a:rPr lang="en-US" sz="2000" b="1" i="1" dirty="0">
                <a:latin typeface="Times New Roman" panose="02020603050405020304" pitchFamily="18" charset="0"/>
                <a:cs typeface="Times New Roman" panose="02020603050405020304" pitchFamily="18" charset="0"/>
              </a:rPr>
              <a:t>F</a:t>
            </a:r>
            <a:r>
              <a:rPr lang="en-US" sz="2000" b="1" baseline="-25000" dirty="0">
                <a:latin typeface="Times New Roman" panose="02020603050405020304" pitchFamily="18" charset="0"/>
                <a:cs typeface="Times New Roman" panose="02020603050405020304" pitchFamily="18" charset="0"/>
              </a:rPr>
              <a:t>3</a:t>
            </a:r>
            <a:r>
              <a:rPr lang="en-US" sz="2000" b="1" dirty="0">
                <a:latin typeface="Times New Roman" panose="02020603050405020304" pitchFamily="18" charset="0"/>
                <a:cs typeface="Times New Roman" panose="02020603050405020304" pitchFamily="18" charset="0"/>
              </a:rPr>
              <a:t> + </a:t>
            </a:r>
            <a:r>
              <a:rPr lang="en-US" sz="2000" b="1" i="1" dirty="0">
                <a:latin typeface="Times New Roman" panose="02020603050405020304" pitchFamily="18" charset="0"/>
                <a:cs typeface="Times New Roman" panose="02020603050405020304" pitchFamily="18" charset="0"/>
              </a:rPr>
              <a:t>F</a:t>
            </a:r>
            <a:r>
              <a:rPr lang="en-US" sz="2000" b="1" baseline="-25000" dirty="0">
                <a:latin typeface="Times New Roman" panose="02020603050405020304" pitchFamily="18" charset="0"/>
                <a:cs typeface="Times New Roman" panose="02020603050405020304" pitchFamily="18" charset="0"/>
              </a:rPr>
              <a:t>4</a:t>
            </a:r>
            <a:r>
              <a:rPr lang="en-US" sz="2000" b="1" dirty="0">
                <a:latin typeface="Times New Roman" panose="02020603050405020304" pitchFamily="18" charset="0"/>
                <a:cs typeface="Times New Roman" panose="02020603050405020304" pitchFamily="18" charset="0"/>
              </a:rPr>
              <a:t>) + $0.50 (</a:t>
            </a:r>
            <a:r>
              <a:rPr lang="en-US" sz="2000" b="1" i="1" dirty="0">
                <a:latin typeface="Times New Roman" panose="02020603050405020304" pitchFamily="18" charset="0"/>
                <a:cs typeface="Times New Roman" panose="02020603050405020304" pitchFamily="18" charset="0"/>
              </a:rPr>
              <a:t>I</a:t>
            </a:r>
            <a:r>
              <a:rPr lang="en-US" sz="2000" b="1" baseline="-25000" dirty="0">
                <a:latin typeface="Times New Roman" panose="02020603050405020304" pitchFamily="18" charset="0"/>
                <a:cs typeface="Times New Roman" panose="02020603050405020304" pitchFamily="18" charset="0"/>
              </a:rPr>
              <a:t>1</a:t>
            </a:r>
            <a:r>
              <a:rPr lang="en-US" sz="2000" b="1" dirty="0">
                <a:latin typeface="Times New Roman" panose="02020603050405020304" pitchFamily="18" charset="0"/>
                <a:cs typeface="Times New Roman" panose="02020603050405020304" pitchFamily="18" charset="0"/>
              </a:rPr>
              <a:t> + </a:t>
            </a:r>
            <a:r>
              <a:rPr lang="en-US" sz="2000" b="1" i="1" dirty="0">
                <a:latin typeface="Times New Roman" panose="02020603050405020304" pitchFamily="18" charset="0"/>
                <a:cs typeface="Times New Roman" panose="02020603050405020304" pitchFamily="18" charset="0"/>
              </a:rPr>
              <a:t>I</a:t>
            </a:r>
            <a:r>
              <a:rPr lang="en-US" sz="2000" b="1" baseline="-25000" dirty="0">
                <a:latin typeface="Times New Roman" panose="02020603050405020304" pitchFamily="18" charset="0"/>
                <a:cs typeface="Times New Roman" panose="02020603050405020304" pitchFamily="18" charset="0"/>
              </a:rPr>
              <a:t>2</a:t>
            </a:r>
            <a:r>
              <a:rPr lang="en-US" sz="2000" b="1" dirty="0">
                <a:latin typeface="Times New Roman" panose="02020603050405020304" pitchFamily="18" charset="0"/>
                <a:cs typeface="Times New Roman" panose="02020603050405020304" pitchFamily="18" charset="0"/>
              </a:rPr>
              <a:t> +</a:t>
            </a:r>
            <a:r>
              <a:rPr lang="en-US" sz="2000" b="1" i="1" dirty="0">
                <a:latin typeface="Times New Roman" panose="02020603050405020304" pitchFamily="18" charset="0"/>
                <a:cs typeface="Times New Roman" panose="02020603050405020304" pitchFamily="18" charset="0"/>
              </a:rPr>
              <a:t> I</a:t>
            </a:r>
            <a:r>
              <a:rPr lang="en-US" sz="2000" b="1" baseline="-25000" dirty="0">
                <a:latin typeface="Times New Roman" panose="02020603050405020304" pitchFamily="18" charset="0"/>
                <a:cs typeface="Times New Roman" panose="02020603050405020304" pitchFamily="18" charset="0"/>
              </a:rPr>
              <a:t>3</a:t>
            </a:r>
            <a:r>
              <a:rPr lang="en-US" sz="2000" b="1" dirty="0">
                <a:latin typeface="Times New Roman" panose="02020603050405020304" pitchFamily="18" charset="0"/>
                <a:cs typeface="Times New Roman" panose="02020603050405020304" pitchFamily="18" charset="0"/>
              </a:rPr>
              <a:t> + </a:t>
            </a:r>
            <a:r>
              <a:rPr lang="en-US" sz="2000" b="1" i="1" dirty="0">
                <a:latin typeface="Times New Roman" panose="02020603050405020304" pitchFamily="18" charset="0"/>
                <a:cs typeface="Times New Roman" panose="02020603050405020304" pitchFamily="18" charset="0"/>
              </a:rPr>
              <a:t>I</a:t>
            </a:r>
            <a:r>
              <a:rPr lang="en-US" sz="2000" b="1" baseline="-25000" dirty="0">
                <a:latin typeface="Times New Roman" panose="02020603050405020304" pitchFamily="18" charset="0"/>
                <a:cs typeface="Times New Roman" panose="02020603050405020304" pitchFamily="18" charset="0"/>
              </a:rPr>
              <a:t>4</a:t>
            </a:r>
            <a:r>
              <a:rPr lang="en-US" sz="2000" b="1" dirty="0">
                <a:latin typeface="Times New Roman" panose="02020603050405020304" pitchFamily="18" charset="0"/>
                <a:cs typeface="Times New Roman" panose="02020603050405020304" pitchFamily="18" charset="0"/>
              </a:rPr>
              <a:t>)</a:t>
            </a:r>
          </a:p>
          <a:p>
            <a:pPr eaLnBrk="1" hangingPunct="1">
              <a:spcBef>
                <a:spcPct val="20000"/>
              </a:spcBef>
              <a:tabLst>
                <a:tab pos="1806575" algn="l"/>
                <a:tab pos="3244850" algn="l"/>
                <a:tab pos="4572000" algn="r"/>
                <a:tab pos="4670425" algn="l"/>
                <a:tab pos="6477000" algn="r"/>
              </a:tabLst>
            </a:pPr>
            <a:r>
              <a:rPr lang="en-US" sz="1600" dirty="0">
                <a:latin typeface="Times New Roman" panose="02020603050405020304" pitchFamily="18" charset="0"/>
                <a:cs typeface="Times New Roman" panose="02020603050405020304" pitchFamily="18" charset="0"/>
              </a:rPr>
              <a:t>	</a:t>
            </a:r>
            <a:r>
              <a:rPr lang="en-US" sz="2000" b="1" dirty="0">
                <a:solidFill>
                  <a:srgbClr val="FF0000"/>
                </a:solidFill>
                <a:latin typeface="Times New Roman" panose="02020603050405020304" pitchFamily="18" charset="0"/>
                <a:cs typeface="Times New Roman" panose="02020603050405020304" pitchFamily="18" charset="0"/>
              </a:rPr>
              <a:t>Subject to</a:t>
            </a:r>
          </a:p>
          <a:p>
            <a:pPr eaLnBrk="1" hangingPunct="1">
              <a:spcBef>
                <a:spcPct val="20000"/>
              </a:spcBef>
              <a:tabLst>
                <a:tab pos="1806575" algn="l"/>
                <a:tab pos="3244850" algn="l"/>
                <a:tab pos="4572000" algn="r"/>
                <a:tab pos="4670425" algn="l"/>
                <a:tab pos="6477000" algn="r"/>
              </a:tabLst>
            </a:pP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P</a:t>
            </a:r>
            <a:r>
              <a:rPr lang="en-US" sz="2000" baseline="-25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 - </a:t>
            </a:r>
            <a:r>
              <a:rPr lang="en-US" sz="2000" i="1" dirty="0">
                <a:latin typeface="Times New Roman" panose="02020603050405020304" pitchFamily="18" charset="0"/>
                <a:cs typeface="Times New Roman" panose="02020603050405020304" pitchFamily="18" charset="0"/>
              </a:rPr>
              <a:t>I</a:t>
            </a:r>
            <a:r>
              <a:rPr lang="en-US" sz="2000" baseline="-25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	= 80,000	(1)</a:t>
            </a:r>
          </a:p>
          <a:p>
            <a:pPr eaLnBrk="1" hangingPunct="1">
              <a:spcBef>
                <a:spcPct val="20000"/>
              </a:spcBef>
              <a:tabLst>
                <a:tab pos="1806575" algn="l"/>
                <a:tab pos="3244850" algn="l"/>
                <a:tab pos="4572000" algn="r"/>
                <a:tab pos="4670425" algn="l"/>
                <a:tab pos="6477000" algn="r"/>
              </a:tabLst>
            </a:pPr>
            <a:r>
              <a:rPr lang="en-US" sz="2000" dirty="0">
                <a:latin typeface="Times New Roman" panose="02020603050405020304" pitchFamily="18" charset="0"/>
                <a:cs typeface="Times New Roman" panose="02020603050405020304" pitchFamily="18" charset="0"/>
              </a:rPr>
              <a:t>	Demand		</a:t>
            </a:r>
            <a:r>
              <a:rPr lang="en-US" sz="2000" i="1" dirty="0">
                <a:latin typeface="Times New Roman" panose="02020603050405020304" pitchFamily="18" charset="0"/>
                <a:cs typeface="Times New Roman" panose="02020603050405020304" pitchFamily="18" charset="0"/>
              </a:rPr>
              <a:t>I</a:t>
            </a:r>
            <a:r>
              <a:rPr lang="en-US" sz="2000" baseline="-25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 + </a:t>
            </a:r>
            <a:r>
              <a:rPr lang="en-US" sz="2000" i="1" dirty="0">
                <a:latin typeface="Times New Roman" panose="02020603050405020304" pitchFamily="18" charset="0"/>
                <a:cs typeface="Times New Roman" panose="02020603050405020304" pitchFamily="18" charset="0"/>
              </a:rPr>
              <a:t>P</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 </a:t>
            </a:r>
            <a:r>
              <a:rPr lang="en-US" sz="2000" i="1" dirty="0">
                <a:latin typeface="Times New Roman" panose="02020603050405020304" pitchFamily="18" charset="0"/>
                <a:cs typeface="Times New Roman" panose="02020603050405020304" pitchFamily="18" charset="0"/>
              </a:rPr>
              <a:t>I</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 50,000	(2)</a:t>
            </a:r>
          </a:p>
          <a:p>
            <a:pPr eaLnBrk="1" hangingPunct="1">
              <a:spcBef>
                <a:spcPct val="20000"/>
              </a:spcBef>
              <a:tabLst>
                <a:tab pos="1806575" algn="l"/>
                <a:tab pos="3244850" algn="l"/>
                <a:tab pos="4572000" algn="r"/>
                <a:tab pos="4670425" algn="l"/>
                <a:tab pos="6477000" algn="r"/>
              </a:tabLst>
            </a:pPr>
            <a:r>
              <a:rPr lang="en-US" sz="2000" dirty="0">
                <a:latin typeface="Times New Roman" panose="02020603050405020304" pitchFamily="18" charset="0"/>
                <a:cs typeface="Times New Roman" panose="02020603050405020304" pitchFamily="18" charset="0"/>
              </a:rPr>
              <a:t>	constraints		</a:t>
            </a:r>
            <a:r>
              <a:rPr lang="en-US" sz="2000" i="1" dirty="0">
                <a:latin typeface="Times New Roman" panose="02020603050405020304" pitchFamily="18" charset="0"/>
                <a:cs typeface="Times New Roman" panose="02020603050405020304" pitchFamily="18" charset="0"/>
              </a:rPr>
              <a:t>I</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 </a:t>
            </a:r>
            <a:r>
              <a:rPr lang="en-US" sz="2000" i="1" dirty="0">
                <a:latin typeface="Times New Roman" panose="02020603050405020304" pitchFamily="18" charset="0"/>
                <a:cs typeface="Times New Roman" panose="02020603050405020304" pitchFamily="18" charset="0"/>
              </a:rPr>
              <a:t>P</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 - </a:t>
            </a:r>
            <a:r>
              <a:rPr lang="en-US" sz="2000" i="1" dirty="0">
                <a:latin typeface="Times New Roman" panose="02020603050405020304" pitchFamily="18" charset="0"/>
                <a:cs typeface="Times New Roman" panose="02020603050405020304" pitchFamily="18" charset="0"/>
              </a:rPr>
              <a:t>I</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	= 120,000	(3)</a:t>
            </a:r>
          </a:p>
          <a:p>
            <a:pPr eaLnBrk="1" hangingPunct="1">
              <a:spcBef>
                <a:spcPct val="20000"/>
              </a:spcBef>
              <a:tabLst>
                <a:tab pos="1806575" algn="l"/>
                <a:tab pos="3244850" algn="l"/>
                <a:tab pos="4572000" algn="r"/>
                <a:tab pos="4670425" algn="l"/>
                <a:tab pos="6477000" algn="r"/>
              </a:tabLst>
            </a:pP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I</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 + </a:t>
            </a:r>
            <a:r>
              <a:rPr lang="en-US" sz="2000" i="1" dirty="0">
                <a:latin typeface="Times New Roman" panose="02020603050405020304" pitchFamily="18" charset="0"/>
                <a:cs typeface="Times New Roman" panose="02020603050405020304" pitchFamily="18" charset="0"/>
              </a:rPr>
              <a:t>P</a:t>
            </a:r>
            <a:r>
              <a:rPr lang="en-US" sz="2000" baseline="-25000" dirty="0">
                <a:latin typeface="Times New Roman" panose="02020603050405020304" pitchFamily="18" charset="0"/>
                <a:cs typeface="Times New Roman" panose="02020603050405020304" pitchFamily="18" charset="0"/>
              </a:rPr>
              <a:t>4</a:t>
            </a:r>
            <a:r>
              <a:rPr lang="en-US" sz="2000" dirty="0">
                <a:latin typeface="Times New Roman" panose="02020603050405020304" pitchFamily="18" charset="0"/>
                <a:cs typeface="Times New Roman" panose="02020603050405020304" pitchFamily="18" charset="0"/>
              </a:rPr>
              <a:t> - </a:t>
            </a:r>
            <a:r>
              <a:rPr lang="en-US" sz="2000" i="1" dirty="0">
                <a:latin typeface="Times New Roman" panose="02020603050405020304" pitchFamily="18" charset="0"/>
                <a:cs typeface="Times New Roman" panose="02020603050405020304" pitchFamily="18" charset="0"/>
              </a:rPr>
              <a:t>I</a:t>
            </a:r>
            <a:r>
              <a:rPr lang="en-US" sz="2000" baseline="-25000" dirty="0">
                <a:latin typeface="Times New Roman" panose="02020603050405020304" pitchFamily="18" charset="0"/>
                <a:cs typeface="Times New Roman" panose="02020603050405020304" pitchFamily="18" charset="0"/>
              </a:rPr>
              <a:t>4</a:t>
            </a:r>
            <a:r>
              <a:rPr lang="en-US" sz="2000" dirty="0">
                <a:latin typeface="Times New Roman" panose="02020603050405020304" pitchFamily="18" charset="0"/>
                <a:cs typeface="Times New Roman" panose="02020603050405020304" pitchFamily="18" charset="0"/>
              </a:rPr>
              <a:t>	= 150,000	(4)</a:t>
            </a:r>
          </a:p>
          <a:p>
            <a:pPr eaLnBrk="1" hangingPunct="1">
              <a:spcBef>
                <a:spcPct val="20000"/>
              </a:spcBef>
              <a:tabLst>
                <a:tab pos="1806575" algn="l"/>
                <a:tab pos="3244850" algn="l"/>
                <a:tab pos="4572000" algn="r"/>
                <a:tab pos="4670425" algn="l"/>
                <a:tab pos="6477000" algn="r"/>
              </a:tabLst>
            </a:pPr>
            <a:r>
              <a:rPr lang="en-US" sz="2000" dirty="0">
                <a:latin typeface="Times New Roman" panose="02020603050405020304" pitchFamily="18" charset="0"/>
                <a:cs typeface="Times New Roman" panose="02020603050405020304" pitchFamily="18" charset="0"/>
              </a:rPr>
              <a:t>	Production		1000 </a:t>
            </a:r>
            <a:r>
              <a:rPr lang="en-US" sz="2000" i="1" dirty="0">
                <a:latin typeface="Times New Roman" panose="02020603050405020304" pitchFamily="18" charset="0"/>
                <a:cs typeface="Times New Roman" panose="02020603050405020304" pitchFamily="18" charset="0"/>
              </a:rPr>
              <a:t>W</a:t>
            </a:r>
            <a:r>
              <a:rPr lang="en-US" sz="2000" baseline="-25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	= </a:t>
            </a:r>
            <a:r>
              <a:rPr lang="en-US" sz="2000" i="1" dirty="0">
                <a:latin typeface="Times New Roman" panose="02020603050405020304" pitchFamily="18" charset="0"/>
                <a:cs typeface="Times New Roman" panose="02020603050405020304" pitchFamily="18" charset="0"/>
              </a:rPr>
              <a:t>P</a:t>
            </a:r>
            <a:r>
              <a:rPr lang="en-US" sz="2000" baseline="-25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	(5)</a:t>
            </a:r>
          </a:p>
          <a:p>
            <a:pPr eaLnBrk="1" hangingPunct="1">
              <a:spcBef>
                <a:spcPct val="20000"/>
              </a:spcBef>
              <a:tabLst>
                <a:tab pos="1806575" algn="l"/>
                <a:tab pos="3244850" algn="l"/>
                <a:tab pos="4572000" algn="r"/>
                <a:tab pos="4670425" algn="l"/>
                <a:tab pos="6477000" algn="r"/>
              </a:tabLst>
            </a:pPr>
            <a:r>
              <a:rPr lang="en-US" sz="2000" dirty="0">
                <a:latin typeface="Times New Roman" panose="02020603050405020304" pitchFamily="18" charset="0"/>
                <a:cs typeface="Times New Roman" panose="02020603050405020304" pitchFamily="18" charset="0"/>
              </a:rPr>
              <a:t>	constraints		1000 </a:t>
            </a:r>
            <a:r>
              <a:rPr lang="en-US" sz="2000" i="1" dirty="0">
                <a:latin typeface="Times New Roman" panose="02020603050405020304" pitchFamily="18" charset="0"/>
                <a:cs typeface="Times New Roman" panose="02020603050405020304" pitchFamily="18" charset="0"/>
              </a:rPr>
              <a:t>W</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 </a:t>
            </a:r>
            <a:r>
              <a:rPr lang="en-US" sz="2000" i="1" dirty="0">
                <a:latin typeface="Times New Roman" panose="02020603050405020304" pitchFamily="18" charset="0"/>
                <a:cs typeface="Times New Roman" panose="02020603050405020304" pitchFamily="18" charset="0"/>
              </a:rPr>
              <a:t>P</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(6)</a:t>
            </a:r>
          </a:p>
          <a:p>
            <a:pPr eaLnBrk="1" hangingPunct="1">
              <a:spcBef>
                <a:spcPct val="20000"/>
              </a:spcBef>
              <a:tabLst>
                <a:tab pos="1806575" algn="l"/>
                <a:tab pos="3244850" algn="l"/>
                <a:tab pos="4572000" algn="r"/>
                <a:tab pos="4670425" algn="l"/>
                <a:tab pos="6477000" algn="r"/>
              </a:tabLst>
            </a:pPr>
            <a:r>
              <a:rPr lang="en-US" sz="2000" i="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1000 </a:t>
            </a:r>
            <a:r>
              <a:rPr lang="en-US" sz="2000" i="1" dirty="0">
                <a:latin typeface="Times New Roman" panose="02020603050405020304" pitchFamily="18" charset="0"/>
                <a:cs typeface="Times New Roman" panose="02020603050405020304" pitchFamily="18" charset="0"/>
              </a:rPr>
              <a:t>W</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	= </a:t>
            </a:r>
            <a:r>
              <a:rPr lang="en-US" sz="2000" i="1" dirty="0">
                <a:latin typeface="Times New Roman" panose="02020603050405020304" pitchFamily="18" charset="0"/>
                <a:cs typeface="Times New Roman" panose="02020603050405020304" pitchFamily="18" charset="0"/>
              </a:rPr>
              <a:t>P</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	(7)</a:t>
            </a:r>
          </a:p>
          <a:p>
            <a:pPr eaLnBrk="1" hangingPunct="1">
              <a:spcBef>
                <a:spcPct val="20000"/>
              </a:spcBef>
              <a:tabLst>
                <a:tab pos="1806575" algn="l"/>
                <a:tab pos="3244850" algn="l"/>
                <a:tab pos="4572000" algn="r"/>
                <a:tab pos="4670425" algn="l"/>
                <a:tab pos="6477000" algn="r"/>
              </a:tabLst>
            </a:pPr>
            <a:r>
              <a:rPr lang="en-US" sz="2000" dirty="0">
                <a:latin typeface="Times New Roman" panose="02020603050405020304" pitchFamily="18" charset="0"/>
                <a:cs typeface="Times New Roman" panose="02020603050405020304" pitchFamily="18" charset="0"/>
              </a:rPr>
              <a:t>			1000 </a:t>
            </a:r>
            <a:r>
              <a:rPr lang="en-US" sz="2000" i="1" dirty="0">
                <a:latin typeface="Times New Roman" panose="02020603050405020304" pitchFamily="18" charset="0"/>
                <a:cs typeface="Times New Roman" panose="02020603050405020304" pitchFamily="18" charset="0"/>
              </a:rPr>
              <a:t>W</a:t>
            </a:r>
            <a:r>
              <a:rPr lang="en-US" sz="2000" baseline="-25000" dirty="0">
                <a:latin typeface="Times New Roman" panose="02020603050405020304" pitchFamily="18" charset="0"/>
                <a:cs typeface="Times New Roman" panose="02020603050405020304" pitchFamily="18" charset="0"/>
              </a:rPr>
              <a:t>4</a:t>
            </a:r>
            <a:r>
              <a:rPr lang="en-US" sz="2000" dirty="0">
                <a:latin typeface="Times New Roman" panose="02020603050405020304" pitchFamily="18" charset="0"/>
                <a:cs typeface="Times New Roman" panose="02020603050405020304" pitchFamily="18" charset="0"/>
              </a:rPr>
              <a:t>	= </a:t>
            </a:r>
            <a:r>
              <a:rPr lang="en-US" sz="2000" i="1" dirty="0">
                <a:latin typeface="Times New Roman" panose="02020603050405020304" pitchFamily="18" charset="0"/>
                <a:cs typeface="Times New Roman" panose="02020603050405020304" pitchFamily="18" charset="0"/>
              </a:rPr>
              <a:t>P</a:t>
            </a:r>
            <a:r>
              <a:rPr lang="en-US" sz="2000" baseline="-25000" dirty="0">
                <a:latin typeface="Times New Roman" panose="02020603050405020304" pitchFamily="18" charset="0"/>
                <a:cs typeface="Times New Roman" panose="02020603050405020304" pitchFamily="18" charset="0"/>
              </a:rPr>
              <a:t>4</a:t>
            </a:r>
            <a:r>
              <a:rPr lang="en-US" sz="2000" dirty="0">
                <a:latin typeface="Times New Roman" panose="02020603050405020304" pitchFamily="18" charset="0"/>
                <a:cs typeface="Times New Roman" panose="02020603050405020304" pitchFamily="18" charset="0"/>
              </a:rPr>
              <a:t>	(8)</a:t>
            </a:r>
          </a:p>
          <a:p>
            <a:pPr eaLnBrk="1" hangingPunct="1">
              <a:spcBef>
                <a:spcPct val="20000"/>
              </a:spcBef>
              <a:tabLst>
                <a:tab pos="1806575" algn="l"/>
                <a:tab pos="3244850" algn="l"/>
                <a:tab pos="4572000" algn="r"/>
                <a:tab pos="4670425" algn="l"/>
                <a:tab pos="6477000" algn="r"/>
              </a:tabLst>
            </a:pPr>
            <a:r>
              <a:rPr lang="en-US" sz="2000" dirty="0">
                <a:latin typeface="Times New Roman" panose="02020603050405020304" pitchFamily="18" charset="0"/>
                <a:cs typeface="Times New Roman" panose="02020603050405020304" pitchFamily="18" charset="0"/>
              </a:rPr>
              <a:t>			100 + </a:t>
            </a:r>
            <a:r>
              <a:rPr lang="en-US" sz="2000" i="1" dirty="0">
                <a:latin typeface="Times New Roman" panose="02020603050405020304" pitchFamily="18" charset="0"/>
                <a:cs typeface="Times New Roman" panose="02020603050405020304" pitchFamily="18" charset="0"/>
              </a:rPr>
              <a:t>H</a:t>
            </a:r>
            <a:r>
              <a:rPr lang="en-US" sz="2000" baseline="-25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 - </a:t>
            </a:r>
            <a:r>
              <a:rPr lang="en-US" sz="2000" i="1" dirty="0">
                <a:latin typeface="Times New Roman" panose="02020603050405020304" pitchFamily="18" charset="0"/>
                <a:cs typeface="Times New Roman" panose="02020603050405020304" pitchFamily="18" charset="0"/>
              </a:rPr>
              <a:t>F</a:t>
            </a:r>
            <a:r>
              <a:rPr lang="en-US" sz="2000" baseline="-25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	= </a:t>
            </a:r>
            <a:r>
              <a:rPr lang="en-US" sz="2000" i="1" dirty="0">
                <a:latin typeface="Times New Roman" panose="02020603050405020304" pitchFamily="18" charset="0"/>
                <a:cs typeface="Times New Roman" panose="02020603050405020304" pitchFamily="18" charset="0"/>
              </a:rPr>
              <a:t>W</a:t>
            </a:r>
            <a:r>
              <a:rPr lang="en-US" sz="2000" baseline="-25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	(9)</a:t>
            </a:r>
          </a:p>
          <a:p>
            <a:pPr eaLnBrk="1" hangingPunct="1">
              <a:spcBef>
                <a:spcPct val="20000"/>
              </a:spcBef>
              <a:tabLst>
                <a:tab pos="1806575" algn="l"/>
                <a:tab pos="3244850" algn="l"/>
                <a:tab pos="4572000" algn="r"/>
                <a:tab pos="4670425" algn="l"/>
                <a:tab pos="6477000" algn="r"/>
              </a:tabLst>
            </a:pPr>
            <a:r>
              <a:rPr lang="en-US" sz="2000" dirty="0">
                <a:latin typeface="Times New Roman" panose="02020603050405020304" pitchFamily="18" charset="0"/>
                <a:cs typeface="Times New Roman" panose="02020603050405020304" pitchFamily="18" charset="0"/>
              </a:rPr>
              <a:t>	 Work force		</a:t>
            </a:r>
            <a:r>
              <a:rPr lang="en-US" sz="2000" i="1" dirty="0">
                <a:latin typeface="Times New Roman" panose="02020603050405020304" pitchFamily="18" charset="0"/>
                <a:cs typeface="Times New Roman" panose="02020603050405020304" pitchFamily="18" charset="0"/>
              </a:rPr>
              <a:t>W</a:t>
            </a:r>
            <a:r>
              <a:rPr lang="en-US" sz="2000" baseline="-25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 + </a:t>
            </a:r>
            <a:r>
              <a:rPr lang="en-US" sz="2000" i="1" dirty="0">
                <a:latin typeface="Times New Roman" panose="02020603050405020304" pitchFamily="18" charset="0"/>
                <a:cs typeface="Times New Roman" panose="02020603050405020304" pitchFamily="18" charset="0"/>
              </a:rPr>
              <a:t>H</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 </a:t>
            </a:r>
            <a:r>
              <a:rPr lang="en-US" sz="2000" i="1" dirty="0">
                <a:latin typeface="Times New Roman" panose="02020603050405020304" pitchFamily="18" charset="0"/>
                <a:cs typeface="Times New Roman" panose="02020603050405020304" pitchFamily="18" charset="0"/>
              </a:rPr>
              <a:t>F</a:t>
            </a:r>
            <a:r>
              <a:rPr lang="en-US" sz="2000" baseline="-25000" dirty="0">
                <a:latin typeface="Times New Roman" panose="02020603050405020304" pitchFamily="18" charset="0"/>
                <a:cs typeface="Times New Roman" panose="02020603050405020304" pitchFamily="18" charset="0"/>
              </a:rPr>
              <a:t>2	</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W</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(10)</a:t>
            </a:r>
          </a:p>
          <a:p>
            <a:pPr eaLnBrk="1" hangingPunct="1">
              <a:spcBef>
                <a:spcPct val="20000"/>
              </a:spcBef>
              <a:tabLst>
                <a:tab pos="1806575" algn="l"/>
                <a:tab pos="3244850" algn="l"/>
                <a:tab pos="4572000" algn="r"/>
                <a:tab pos="4670425" algn="l"/>
                <a:tab pos="6477000" algn="r"/>
              </a:tabLst>
            </a:pPr>
            <a:r>
              <a:rPr lang="en-US" sz="2000" dirty="0">
                <a:latin typeface="Times New Roman" panose="02020603050405020304" pitchFamily="18" charset="0"/>
                <a:cs typeface="Times New Roman" panose="02020603050405020304" pitchFamily="18" charset="0"/>
              </a:rPr>
              <a:t>	 constraints		</a:t>
            </a:r>
            <a:r>
              <a:rPr lang="en-US" sz="2000" i="1" dirty="0">
                <a:latin typeface="Times New Roman" panose="02020603050405020304" pitchFamily="18" charset="0"/>
                <a:cs typeface="Times New Roman" panose="02020603050405020304" pitchFamily="18" charset="0"/>
              </a:rPr>
              <a:t>W</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 </a:t>
            </a:r>
            <a:r>
              <a:rPr lang="en-US" sz="2000" i="1" dirty="0">
                <a:latin typeface="Times New Roman" panose="02020603050405020304" pitchFamily="18" charset="0"/>
                <a:cs typeface="Times New Roman" panose="02020603050405020304" pitchFamily="18" charset="0"/>
              </a:rPr>
              <a:t>H</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 - </a:t>
            </a:r>
            <a:r>
              <a:rPr lang="en-US" sz="2000" i="1" dirty="0">
                <a:latin typeface="Times New Roman" panose="02020603050405020304" pitchFamily="18" charset="0"/>
                <a:cs typeface="Times New Roman" panose="02020603050405020304" pitchFamily="18" charset="0"/>
              </a:rPr>
              <a:t>F</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	= </a:t>
            </a:r>
            <a:r>
              <a:rPr lang="en-US" sz="2000" i="1" dirty="0">
                <a:latin typeface="Times New Roman" panose="02020603050405020304" pitchFamily="18" charset="0"/>
                <a:cs typeface="Times New Roman" panose="02020603050405020304" pitchFamily="18" charset="0"/>
              </a:rPr>
              <a:t>W</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	(11)</a:t>
            </a:r>
          </a:p>
          <a:p>
            <a:pPr eaLnBrk="1" hangingPunct="1">
              <a:spcBef>
                <a:spcPct val="20000"/>
              </a:spcBef>
              <a:tabLst>
                <a:tab pos="1806575" algn="l"/>
                <a:tab pos="3244850" algn="l"/>
                <a:tab pos="4572000" algn="r"/>
                <a:tab pos="4670425" algn="l"/>
                <a:tab pos="6477000" algn="r"/>
              </a:tabLst>
            </a:pP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W</a:t>
            </a:r>
            <a:r>
              <a:rPr lang="en-US" sz="2000" baseline="-25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 + </a:t>
            </a:r>
            <a:r>
              <a:rPr lang="en-US" sz="2000" i="1" dirty="0">
                <a:latin typeface="Times New Roman" panose="02020603050405020304" pitchFamily="18" charset="0"/>
                <a:cs typeface="Times New Roman" panose="02020603050405020304" pitchFamily="18" charset="0"/>
              </a:rPr>
              <a:t>H</a:t>
            </a:r>
            <a:r>
              <a:rPr lang="en-US" sz="2000" baseline="-25000" dirty="0">
                <a:latin typeface="Times New Roman" panose="02020603050405020304" pitchFamily="18" charset="0"/>
                <a:cs typeface="Times New Roman" panose="02020603050405020304" pitchFamily="18" charset="0"/>
              </a:rPr>
              <a:t>4</a:t>
            </a:r>
            <a:r>
              <a:rPr lang="en-US" sz="2000" dirty="0">
                <a:latin typeface="Times New Roman" panose="02020603050405020304" pitchFamily="18" charset="0"/>
                <a:cs typeface="Times New Roman" panose="02020603050405020304" pitchFamily="18" charset="0"/>
              </a:rPr>
              <a:t> - </a:t>
            </a:r>
            <a:r>
              <a:rPr lang="en-US" sz="2000" i="1" dirty="0">
                <a:latin typeface="Times New Roman" panose="02020603050405020304" pitchFamily="18" charset="0"/>
                <a:cs typeface="Times New Roman" panose="02020603050405020304" pitchFamily="18" charset="0"/>
              </a:rPr>
              <a:t>F</a:t>
            </a:r>
            <a:r>
              <a:rPr lang="en-US" sz="2000" baseline="-25000" dirty="0">
                <a:latin typeface="Times New Roman" panose="02020603050405020304" pitchFamily="18" charset="0"/>
                <a:cs typeface="Times New Roman" panose="02020603050405020304" pitchFamily="18" charset="0"/>
              </a:rPr>
              <a:t>4</a:t>
            </a:r>
            <a:r>
              <a:rPr lang="en-US" sz="2000" dirty="0">
                <a:latin typeface="Times New Roman" panose="02020603050405020304" pitchFamily="18" charset="0"/>
                <a:cs typeface="Times New Roman" panose="02020603050405020304" pitchFamily="18" charset="0"/>
              </a:rPr>
              <a:t>	= </a:t>
            </a:r>
            <a:r>
              <a:rPr lang="en-US" sz="2000" i="1" dirty="0">
                <a:latin typeface="Times New Roman" panose="02020603050405020304" pitchFamily="18" charset="0"/>
                <a:cs typeface="Times New Roman" panose="02020603050405020304" pitchFamily="18" charset="0"/>
              </a:rPr>
              <a:t>W</a:t>
            </a:r>
            <a:r>
              <a:rPr lang="en-US" sz="2000" baseline="-25000" dirty="0">
                <a:latin typeface="Times New Roman" panose="02020603050405020304" pitchFamily="18" charset="0"/>
                <a:cs typeface="Times New Roman" panose="02020603050405020304" pitchFamily="18" charset="0"/>
              </a:rPr>
              <a:t>4</a:t>
            </a:r>
            <a:r>
              <a:rPr lang="en-US" sz="2000" dirty="0">
                <a:latin typeface="Times New Roman" panose="02020603050405020304" pitchFamily="18" charset="0"/>
                <a:cs typeface="Times New Roman" panose="02020603050405020304" pitchFamily="18" charset="0"/>
              </a:rPr>
              <a:t>	(12)</a:t>
            </a:r>
          </a:p>
        </p:txBody>
      </p:sp>
      <p:sp>
        <p:nvSpPr>
          <p:cNvPr id="8" name="Rectangle 6">
            <a:extLst>
              <a:ext uri="{FF2B5EF4-FFF2-40B4-BE49-F238E27FC236}">
                <a16:creationId xmlns:a16="http://schemas.microsoft.com/office/drawing/2014/main" id="{F08E461C-BEA1-365F-9F13-5531386B2406}"/>
              </a:ext>
            </a:extLst>
          </p:cNvPr>
          <p:cNvSpPr>
            <a:spLocks noChangeArrowheads="1"/>
          </p:cNvSpPr>
          <p:nvPr/>
        </p:nvSpPr>
        <p:spPr bwMode="auto">
          <a:xfrm>
            <a:off x="8153400" y="4087953"/>
            <a:ext cx="3714780" cy="193642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tabLst>
                <a:tab pos="476250" algn="r"/>
                <a:tab pos="571500" algn="l"/>
                <a:tab pos="762000" algn="l"/>
              </a:tabLst>
            </a:pPr>
            <a:r>
              <a:rPr lang="en-US" sz="2000" dirty="0">
                <a:latin typeface="Times New Roman" panose="02020603050405020304" pitchFamily="18" charset="0"/>
                <a:cs typeface="Times New Roman" panose="02020603050405020304" pitchFamily="18" charset="0"/>
              </a:rPr>
              <a:t>where</a:t>
            </a:r>
          </a:p>
          <a:p>
            <a:pPr>
              <a:tabLst>
                <a:tab pos="476250" algn="r"/>
                <a:tab pos="571500" algn="l"/>
                <a:tab pos="762000" algn="l"/>
              </a:tabLst>
            </a:pPr>
            <a:r>
              <a:rPr lang="en-US" sz="2000" i="1" dirty="0">
                <a:latin typeface="Times New Roman" panose="02020603050405020304" pitchFamily="18" charset="0"/>
                <a:cs typeface="Times New Roman" panose="02020603050405020304" pitchFamily="18" charset="0"/>
              </a:rPr>
              <a:t>	</a:t>
            </a:r>
            <a:r>
              <a:rPr lang="en-US" sz="2000" i="1" dirty="0" err="1">
                <a:latin typeface="Times New Roman" panose="02020603050405020304" pitchFamily="18" charset="0"/>
                <a:cs typeface="Times New Roman" panose="02020603050405020304" pitchFamily="18" charset="0"/>
              </a:rPr>
              <a:t>H</a:t>
            </a:r>
            <a:r>
              <a:rPr lang="en-US" sz="2000" i="1" baseline="-25000" dirty="0" err="1">
                <a:latin typeface="Times New Roman" panose="02020603050405020304" pitchFamily="18" charset="0"/>
                <a:cs typeface="Times New Roman" panose="02020603050405020304" pitchFamily="18" charset="0"/>
              </a:rPr>
              <a:t>t</a:t>
            </a:r>
            <a:r>
              <a:rPr lang="en-US" sz="2000" dirty="0">
                <a:latin typeface="Times New Roman" panose="02020603050405020304" pitchFamily="18" charset="0"/>
                <a:cs typeface="Times New Roman" panose="02020603050405020304" pitchFamily="18" charset="0"/>
              </a:rPr>
              <a:t>	=	# hired for period </a:t>
            </a:r>
            <a:r>
              <a:rPr lang="en-US" sz="2000" i="1" dirty="0">
                <a:latin typeface="Times New Roman" panose="02020603050405020304" pitchFamily="18" charset="0"/>
                <a:cs typeface="Times New Roman" panose="02020603050405020304" pitchFamily="18" charset="0"/>
              </a:rPr>
              <a:t>t</a:t>
            </a:r>
            <a:endParaRPr lang="en-US" sz="2000" dirty="0">
              <a:latin typeface="Times New Roman" panose="02020603050405020304" pitchFamily="18" charset="0"/>
              <a:cs typeface="Times New Roman" panose="02020603050405020304" pitchFamily="18" charset="0"/>
            </a:endParaRPr>
          </a:p>
          <a:p>
            <a:pPr>
              <a:tabLst>
                <a:tab pos="476250" algn="r"/>
                <a:tab pos="571500" algn="l"/>
                <a:tab pos="762000" algn="l"/>
              </a:tabLst>
            </a:pPr>
            <a:r>
              <a:rPr lang="en-US" sz="2000" i="1" dirty="0">
                <a:latin typeface="Times New Roman" panose="02020603050405020304" pitchFamily="18" charset="0"/>
                <a:cs typeface="Times New Roman" panose="02020603050405020304" pitchFamily="18" charset="0"/>
              </a:rPr>
              <a:t>	F</a:t>
            </a:r>
            <a:r>
              <a:rPr lang="en-US" sz="2000" i="1" baseline="-25000" dirty="0">
                <a:latin typeface="Times New Roman" panose="02020603050405020304" pitchFamily="18" charset="0"/>
                <a:cs typeface="Times New Roman" panose="02020603050405020304" pitchFamily="18" charset="0"/>
              </a:rPr>
              <a:t>t</a:t>
            </a:r>
            <a:r>
              <a:rPr lang="en-US" sz="2000" dirty="0">
                <a:latin typeface="Times New Roman" panose="02020603050405020304" pitchFamily="18" charset="0"/>
                <a:cs typeface="Times New Roman" panose="02020603050405020304" pitchFamily="18" charset="0"/>
              </a:rPr>
              <a:t>	=	# fired for period </a:t>
            </a:r>
            <a:r>
              <a:rPr lang="en-US" sz="2000" i="1" dirty="0">
                <a:latin typeface="Times New Roman" panose="02020603050405020304" pitchFamily="18" charset="0"/>
                <a:cs typeface="Times New Roman" panose="02020603050405020304" pitchFamily="18" charset="0"/>
              </a:rPr>
              <a:t>t</a:t>
            </a:r>
          </a:p>
          <a:p>
            <a:pPr>
              <a:tabLst>
                <a:tab pos="476250" algn="r"/>
                <a:tab pos="571500" algn="l"/>
                <a:tab pos="762000" algn="l"/>
              </a:tabLst>
            </a:pPr>
            <a:r>
              <a:rPr lang="en-US" sz="2000" i="1" dirty="0">
                <a:latin typeface="Times New Roman" panose="02020603050405020304" pitchFamily="18" charset="0"/>
                <a:cs typeface="Times New Roman" panose="02020603050405020304" pitchFamily="18" charset="0"/>
              </a:rPr>
              <a:t>	I</a:t>
            </a:r>
            <a:r>
              <a:rPr lang="en-US" sz="2000" i="1" baseline="-25000" dirty="0">
                <a:latin typeface="Times New Roman" panose="02020603050405020304" pitchFamily="18" charset="0"/>
                <a:cs typeface="Times New Roman" panose="02020603050405020304" pitchFamily="18" charset="0"/>
              </a:rPr>
              <a:t>t</a:t>
            </a:r>
            <a:r>
              <a:rPr lang="en-US" sz="2000" dirty="0">
                <a:latin typeface="Times New Roman" panose="02020603050405020304" pitchFamily="18" charset="0"/>
                <a:cs typeface="Times New Roman" panose="02020603050405020304" pitchFamily="18" charset="0"/>
              </a:rPr>
              <a:t>	=	inventory at end of period </a:t>
            </a:r>
            <a:r>
              <a:rPr lang="en-US" sz="2000" i="1" dirty="0">
                <a:latin typeface="Times New Roman" panose="02020603050405020304" pitchFamily="18" charset="0"/>
                <a:cs typeface="Times New Roman" panose="02020603050405020304" pitchFamily="18" charset="0"/>
              </a:rPr>
              <a:t>t</a:t>
            </a:r>
            <a:endParaRPr lang="en-US" sz="2000" dirty="0">
              <a:latin typeface="Times New Roman" panose="02020603050405020304" pitchFamily="18" charset="0"/>
              <a:cs typeface="Times New Roman" panose="02020603050405020304" pitchFamily="18" charset="0"/>
            </a:endParaRPr>
          </a:p>
          <a:p>
            <a:pPr>
              <a:tabLst>
                <a:tab pos="476250" algn="r"/>
                <a:tab pos="571500" algn="l"/>
                <a:tab pos="762000" algn="l"/>
              </a:tabLst>
            </a:pP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P</a:t>
            </a:r>
            <a:r>
              <a:rPr lang="en-US" sz="2000" i="1" baseline="-25000" dirty="0">
                <a:latin typeface="Times New Roman" panose="02020603050405020304" pitchFamily="18" charset="0"/>
                <a:cs typeface="Times New Roman" panose="02020603050405020304" pitchFamily="18" charset="0"/>
              </a:rPr>
              <a:t>t</a:t>
            </a:r>
            <a:r>
              <a:rPr lang="en-US" sz="2000" dirty="0">
                <a:latin typeface="Times New Roman" panose="02020603050405020304" pitchFamily="18" charset="0"/>
                <a:cs typeface="Times New Roman" panose="02020603050405020304" pitchFamily="18" charset="0"/>
              </a:rPr>
              <a:t>	=	units produced in period </a:t>
            </a:r>
            <a:r>
              <a:rPr lang="en-US" sz="2000" i="1" dirty="0">
                <a:latin typeface="Times New Roman" panose="02020603050405020304" pitchFamily="18" charset="0"/>
                <a:cs typeface="Times New Roman" panose="02020603050405020304" pitchFamily="18" charset="0"/>
              </a:rPr>
              <a:t>t</a:t>
            </a:r>
            <a:endParaRPr lang="en-US" sz="2000" dirty="0">
              <a:latin typeface="Times New Roman" panose="02020603050405020304" pitchFamily="18" charset="0"/>
              <a:cs typeface="Times New Roman" panose="02020603050405020304" pitchFamily="18" charset="0"/>
            </a:endParaRPr>
          </a:p>
          <a:p>
            <a:pPr>
              <a:tabLst>
                <a:tab pos="476250" algn="r"/>
                <a:tab pos="571500" algn="l"/>
                <a:tab pos="762000" algn="l"/>
              </a:tabLst>
            </a:pPr>
            <a:r>
              <a:rPr lang="en-US" sz="2000" dirty="0">
                <a:latin typeface="Times New Roman" panose="02020603050405020304" pitchFamily="18" charset="0"/>
                <a:cs typeface="Times New Roman" panose="02020603050405020304" pitchFamily="18" charset="0"/>
              </a:rPr>
              <a:t>	</a:t>
            </a:r>
            <a:r>
              <a:rPr lang="en-US" sz="2000" i="1" dirty="0" err="1">
                <a:latin typeface="Times New Roman" panose="02020603050405020304" pitchFamily="18" charset="0"/>
                <a:cs typeface="Times New Roman" panose="02020603050405020304" pitchFamily="18" charset="0"/>
              </a:rPr>
              <a:t>W</a:t>
            </a:r>
            <a:r>
              <a:rPr lang="en-US" sz="2000" i="1" baseline="-25000" dirty="0" err="1">
                <a:latin typeface="Times New Roman" panose="02020603050405020304" pitchFamily="18" charset="0"/>
                <a:cs typeface="Times New Roman" panose="02020603050405020304" pitchFamily="18" charset="0"/>
              </a:rPr>
              <a:t>t</a:t>
            </a:r>
            <a:r>
              <a:rPr lang="en-US" sz="2000" dirty="0">
                <a:latin typeface="Times New Roman" panose="02020603050405020304" pitchFamily="18" charset="0"/>
                <a:cs typeface="Times New Roman" panose="02020603050405020304" pitchFamily="18" charset="0"/>
              </a:rPr>
              <a:t>	=	workforce size for period </a:t>
            </a:r>
            <a:r>
              <a:rPr lang="en-US" sz="2000" i="1" dirty="0">
                <a:latin typeface="Times New Roman" panose="02020603050405020304" pitchFamily="18" charset="0"/>
                <a:cs typeface="Times New Roman" panose="02020603050405020304" pitchFamily="18" charset="0"/>
              </a:rPr>
              <a:t>t</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5948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
                                            <p:txEl>
                                              <p:pRg st="11" end="1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
                                            <p:txEl>
                                              <p:pRg st="12" end="1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7">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DD2F4-D734-ECD2-44D2-B5C54F632561}"/>
              </a:ext>
            </a:extLst>
          </p:cNvPr>
          <p:cNvSpPr>
            <a:spLocks noGrp="1"/>
          </p:cNvSpPr>
          <p:nvPr>
            <p:ph type="title"/>
          </p:nvPr>
        </p:nvSpPr>
        <p:spPr/>
        <p:txBody>
          <a:bodyPr/>
          <a:lstStyle/>
          <a:p>
            <a:r>
              <a:rPr lang="en-US" kern="1200" dirty="0"/>
              <a:t>Red Tomato Tools </a:t>
            </a:r>
            <a:r>
              <a:rPr lang="en-US" kern="1200" dirty="0">
                <a:solidFill>
                  <a:srgbClr val="FF0000"/>
                </a:solidFill>
              </a:rPr>
              <a:t>Example</a:t>
            </a:r>
            <a:r>
              <a:rPr lang="en-US" kern="1200" dirty="0"/>
              <a:t> </a:t>
            </a:r>
            <a:r>
              <a:rPr lang="en-US" sz="2400" b="0" kern="1200" dirty="0"/>
              <a:t>(1 of 5)</a:t>
            </a:r>
            <a:endParaRPr lang="en-IN" dirty="0"/>
          </a:p>
        </p:txBody>
      </p:sp>
      <p:sp>
        <p:nvSpPr>
          <p:cNvPr id="3" name="Text Placeholder 2">
            <a:extLst>
              <a:ext uri="{FF2B5EF4-FFF2-40B4-BE49-F238E27FC236}">
                <a16:creationId xmlns:a16="http://schemas.microsoft.com/office/drawing/2014/main" id="{7208FE19-6B5C-09AD-D51D-E389D7D11678}"/>
              </a:ext>
            </a:extLst>
          </p:cNvPr>
          <p:cNvSpPr>
            <a:spLocks noGrp="1"/>
          </p:cNvSpPr>
          <p:nvPr>
            <p:ph type="body" idx="1"/>
          </p:nvPr>
        </p:nvSpPr>
        <p:spPr/>
        <p:txBody>
          <a:bodyPr>
            <a:normAutofit/>
          </a:bodyPr>
          <a:lstStyle/>
          <a:p>
            <a:pPr marL="255651" lvl="0" indent="-255651" defTabSz="457200">
              <a:spcAft>
                <a:spcPct val="0"/>
              </a:spcAft>
              <a:buFont typeface="Arial" panose="020B0604020202020204" pitchFamily="34" charset="0"/>
            </a:pPr>
            <a:r>
              <a:rPr lang="en-US" kern="1200" dirty="0">
                <a:solidFill>
                  <a:srgbClr val="000000"/>
                </a:solidFill>
                <a:ea typeface="+mn-ea"/>
              </a:rPr>
              <a:t>Highly seasonal demand</a:t>
            </a:r>
          </a:p>
          <a:p>
            <a:pPr marL="255651" lvl="0" indent="-255651" defTabSz="457200">
              <a:spcAft>
                <a:spcPct val="0"/>
              </a:spcAft>
              <a:buFont typeface="Arial" panose="020B0604020202020204" pitchFamily="34" charset="0"/>
            </a:pPr>
            <a:r>
              <a:rPr lang="en-US" kern="1200" dirty="0">
                <a:solidFill>
                  <a:srgbClr val="000000"/>
                </a:solidFill>
                <a:ea typeface="+mn-ea"/>
              </a:rPr>
              <a:t>Options</a:t>
            </a:r>
          </a:p>
          <a:p>
            <a:pPr marL="800100" lvl="1" defTabSz="457200">
              <a:spcAft>
                <a:spcPct val="0"/>
              </a:spcAft>
              <a:buFont typeface="Wingdings" panose="05000000000000000000" pitchFamily="2" charset="2"/>
              <a:buChar char="Ø"/>
            </a:pPr>
            <a:r>
              <a:rPr lang="en-US" kern="1200" dirty="0">
                <a:solidFill>
                  <a:srgbClr val="000000"/>
                </a:solidFill>
                <a:latin typeface="Times New Roman" panose="02020603050405020304" pitchFamily="18" charset="0"/>
                <a:ea typeface="+mn-ea"/>
                <a:cs typeface="Times New Roman" panose="02020603050405020304" pitchFamily="18" charset="0"/>
              </a:rPr>
              <a:t>Adding workers during peak times</a:t>
            </a:r>
          </a:p>
          <a:p>
            <a:pPr marL="800100" lvl="1" defTabSz="457200">
              <a:spcAft>
                <a:spcPct val="0"/>
              </a:spcAft>
              <a:buFont typeface="Wingdings" panose="05000000000000000000" pitchFamily="2" charset="2"/>
              <a:buChar char="Ø"/>
            </a:pPr>
            <a:r>
              <a:rPr lang="en-US" kern="1200" dirty="0">
                <a:solidFill>
                  <a:srgbClr val="000000"/>
                </a:solidFill>
                <a:latin typeface="Times New Roman" panose="02020603050405020304" pitchFamily="18" charset="0"/>
                <a:ea typeface="+mn-ea"/>
                <a:cs typeface="Times New Roman" panose="02020603050405020304" pitchFamily="18" charset="0"/>
              </a:rPr>
              <a:t>Subcontract</a:t>
            </a:r>
          </a:p>
          <a:p>
            <a:pPr marL="800100" lvl="1" defTabSz="457200">
              <a:spcAft>
                <a:spcPct val="0"/>
              </a:spcAft>
              <a:buFont typeface="Wingdings" panose="05000000000000000000" pitchFamily="2" charset="2"/>
              <a:buChar char="Ø"/>
            </a:pPr>
            <a:r>
              <a:rPr lang="en-US" kern="1200" dirty="0">
                <a:solidFill>
                  <a:srgbClr val="000000"/>
                </a:solidFill>
                <a:latin typeface="Times New Roman" panose="02020603050405020304" pitchFamily="18" charset="0"/>
                <a:ea typeface="+mn-ea"/>
                <a:cs typeface="Times New Roman" panose="02020603050405020304" pitchFamily="18" charset="0"/>
              </a:rPr>
              <a:t>Build up inventory</a:t>
            </a:r>
          </a:p>
          <a:p>
            <a:pPr marL="255651" lvl="0" indent="-255651" defTabSz="457200">
              <a:spcAft>
                <a:spcPct val="0"/>
              </a:spcAft>
              <a:buFont typeface="Arial" panose="020B0604020202020204" pitchFamily="34" charset="0"/>
            </a:pPr>
            <a:r>
              <a:rPr lang="en-US" kern="1200" dirty="0">
                <a:solidFill>
                  <a:srgbClr val="000000"/>
                </a:solidFill>
                <a:ea typeface="+mn-ea"/>
              </a:rPr>
              <a:t>Develop a forecast</a:t>
            </a:r>
          </a:p>
        </p:txBody>
      </p:sp>
      <p:sp>
        <p:nvSpPr>
          <p:cNvPr id="4" name="Date Placeholder 3">
            <a:extLst>
              <a:ext uri="{FF2B5EF4-FFF2-40B4-BE49-F238E27FC236}">
                <a16:creationId xmlns:a16="http://schemas.microsoft.com/office/drawing/2014/main" id="{9119C081-3357-28B5-86A4-E5B51905B08D}"/>
              </a:ext>
            </a:extLst>
          </p:cNvPr>
          <p:cNvSpPr>
            <a:spLocks noGrp="1"/>
          </p:cNvSpPr>
          <p:nvPr>
            <p:ph type="dt" idx="10"/>
          </p:nvPr>
        </p:nvSpPr>
        <p:spPr/>
        <p:txBody>
          <a:bodyPr/>
          <a:lstStyle/>
          <a:p>
            <a:fld id="{D1FBB12C-6AF2-404C-B802-656F1A988312}" type="datetime1">
              <a:rPr lang="en-IN" smtClean="0"/>
              <a:pPr/>
              <a:t>02-12-2025</a:t>
            </a:fld>
            <a:endParaRPr lang="en-IN" dirty="0"/>
          </a:p>
        </p:txBody>
      </p:sp>
      <p:sp>
        <p:nvSpPr>
          <p:cNvPr id="5" name="Footer Placeholder 4">
            <a:extLst>
              <a:ext uri="{FF2B5EF4-FFF2-40B4-BE49-F238E27FC236}">
                <a16:creationId xmlns:a16="http://schemas.microsoft.com/office/drawing/2014/main" id="{B6ED379B-14D3-90B4-6831-9F0A4B9B9B14}"/>
              </a:ext>
            </a:extLst>
          </p:cNvPr>
          <p:cNvSpPr>
            <a:spLocks noGrp="1"/>
          </p:cNvSpPr>
          <p:nvPr>
            <p:ph type="ftr" idx="11"/>
          </p:nvPr>
        </p:nvSpPr>
        <p:spPr/>
        <p:txBody>
          <a:bodyPr/>
          <a:lstStyle/>
          <a:p>
            <a:r>
              <a:rPr lang="en-US"/>
              <a:t>Aggregate Planning in a Supply Chain</a:t>
            </a:r>
            <a:endParaRPr lang="en-US" dirty="0"/>
          </a:p>
        </p:txBody>
      </p:sp>
      <p:sp>
        <p:nvSpPr>
          <p:cNvPr id="6" name="Slide Number Placeholder 5">
            <a:extLst>
              <a:ext uri="{FF2B5EF4-FFF2-40B4-BE49-F238E27FC236}">
                <a16:creationId xmlns:a16="http://schemas.microsoft.com/office/drawing/2014/main" id="{82026366-F1A4-0260-5CCA-797D1687C359}"/>
              </a:ext>
            </a:extLst>
          </p:cNvPr>
          <p:cNvSpPr>
            <a:spLocks noGrp="1"/>
          </p:cNvSpPr>
          <p:nvPr>
            <p:ph type="sldNum" idx="12"/>
          </p:nvPr>
        </p:nvSpPr>
        <p:spPr/>
        <p:txBody>
          <a:bodyPr/>
          <a:lstStyle/>
          <a:p>
            <a:fld id="{00000000-1234-1234-1234-123412341234}" type="slidenum">
              <a:rPr lang="en-US" smtClean="0"/>
              <a:pPr/>
              <a:t>39</a:t>
            </a:fld>
            <a:endParaRPr lang="en-US" dirty="0"/>
          </a:p>
        </p:txBody>
      </p:sp>
      <p:graphicFrame>
        <p:nvGraphicFramePr>
          <p:cNvPr id="7" name="Table 6">
            <a:extLst>
              <a:ext uri="{FF2B5EF4-FFF2-40B4-BE49-F238E27FC236}">
                <a16:creationId xmlns:a16="http://schemas.microsoft.com/office/drawing/2014/main" id="{9DD820E0-5B71-223E-2A79-ABBA1222316A}"/>
              </a:ext>
            </a:extLst>
          </p:cNvPr>
          <p:cNvGraphicFramePr>
            <a:graphicFrameLocks noGrp="1"/>
          </p:cNvGraphicFramePr>
          <p:nvPr>
            <p:extLst>
              <p:ext uri="{D42A27DB-BD31-4B8C-83A1-F6EECF244321}">
                <p14:modId xmlns:p14="http://schemas.microsoft.com/office/powerpoint/2010/main" val="2471705189"/>
              </p:ext>
            </p:extLst>
          </p:nvPr>
        </p:nvGraphicFramePr>
        <p:xfrm>
          <a:off x="6411433" y="1117655"/>
          <a:ext cx="4623301" cy="3771816"/>
        </p:xfrm>
        <a:graphic>
          <a:graphicData uri="http://schemas.openxmlformats.org/drawingml/2006/table">
            <a:tbl>
              <a:tblPr firstRow="1" bandRow="1">
                <a:tableStyleId>{2D5ABB26-0587-4C30-8999-92F81FD0307C}</a:tableStyleId>
              </a:tblPr>
              <a:tblGrid>
                <a:gridCol w="1622413">
                  <a:extLst>
                    <a:ext uri="{9D8B030D-6E8A-4147-A177-3AD203B41FA5}">
                      <a16:colId xmlns:a16="http://schemas.microsoft.com/office/drawing/2014/main" val="20000"/>
                    </a:ext>
                  </a:extLst>
                </a:gridCol>
                <a:gridCol w="3000888">
                  <a:extLst>
                    <a:ext uri="{9D8B030D-6E8A-4147-A177-3AD203B41FA5}">
                      <a16:colId xmlns:a16="http://schemas.microsoft.com/office/drawing/2014/main" val="20001"/>
                    </a:ext>
                  </a:extLst>
                </a:gridCol>
              </a:tblGrid>
              <a:tr h="581688">
                <a:tc>
                  <a:txBody>
                    <a:bodyPr/>
                    <a:lstStyle/>
                    <a:p>
                      <a:pPr marL="177800" indent="0"/>
                      <a:r>
                        <a:rPr lang="en-US" sz="2400" b="1" kern="1200" dirty="0">
                          <a:solidFill>
                            <a:schemeClr val="tx1"/>
                          </a:solidFill>
                          <a:latin typeface="Times New Roman" panose="02020603050405020304" pitchFamily="18" charset="0"/>
                          <a:ea typeface="+mn-ea"/>
                          <a:cs typeface="Times New Roman" panose="02020603050405020304" pitchFamily="18" charset="0"/>
                        </a:rPr>
                        <a:t>Month</a:t>
                      </a:r>
                    </a:p>
                  </a:txBody>
                  <a:tcPr>
                    <a:lnT w="28575" cap="flat" cmpd="sng" algn="ctr">
                      <a:solidFill>
                        <a:scrgbClr r="0" g="0" b="0"/>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FF"/>
                    </a:solidFill>
                  </a:tcPr>
                </a:tc>
                <a:tc>
                  <a:txBody>
                    <a:bodyPr/>
                    <a:lstStyle/>
                    <a:p>
                      <a:pPr algn="ctr"/>
                      <a:r>
                        <a:rPr lang="en-US" sz="2400" b="1" kern="1200" dirty="0">
                          <a:solidFill>
                            <a:schemeClr val="tx1"/>
                          </a:solidFill>
                          <a:latin typeface="Times New Roman" panose="02020603050405020304" pitchFamily="18" charset="0"/>
                          <a:ea typeface="+mn-ea"/>
                          <a:cs typeface="Times New Roman" panose="02020603050405020304" pitchFamily="18" charset="0"/>
                        </a:rPr>
                        <a:t>Demand Forecast</a:t>
                      </a:r>
                    </a:p>
                  </a:txBody>
                  <a:tcPr>
                    <a:lnT w="28575" cap="flat" cmpd="sng" algn="ctr">
                      <a:solidFill>
                        <a:scrgbClr r="0" g="0" b="0"/>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1688">
                <a:tc>
                  <a:txBody>
                    <a:bodyPr/>
                    <a:lstStyle/>
                    <a:p>
                      <a:pPr marL="177800" indent="0"/>
                      <a:r>
                        <a:rPr lang="en-US" sz="2400" kern="1200" dirty="0">
                          <a:solidFill>
                            <a:schemeClr val="tx1"/>
                          </a:solidFill>
                          <a:latin typeface="Times New Roman" panose="02020603050405020304" pitchFamily="18" charset="0"/>
                          <a:ea typeface="+mn-ea"/>
                          <a:cs typeface="Times New Roman" panose="02020603050405020304" pitchFamily="18" charset="0"/>
                        </a:rPr>
                        <a:t>January</a:t>
                      </a:r>
                      <a:endParaRPr lang="en-US" sz="1800" dirty="0">
                        <a:latin typeface="Times New Roman" panose="02020603050405020304" pitchFamily="18" charset="0"/>
                        <a:cs typeface="Times New Roman" panose="02020603050405020304" pitchFamily="18" charset="0"/>
                      </a:endParaRPr>
                    </a:p>
                  </a:txBody>
                  <a:tcPr>
                    <a:lnT w="28575" cap="flat" cmpd="sng" algn="ctr">
                      <a:solidFill>
                        <a:schemeClr val="tx1"/>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2400" kern="1200" dirty="0">
                          <a:solidFill>
                            <a:schemeClr val="tx1"/>
                          </a:solidFill>
                          <a:latin typeface="Times New Roman" panose="02020603050405020304" pitchFamily="18" charset="0"/>
                          <a:ea typeface="+mn-ea"/>
                          <a:cs typeface="Times New Roman" panose="02020603050405020304" pitchFamily="18" charset="0"/>
                        </a:rPr>
                        <a:t>1,600</a:t>
                      </a:r>
                      <a:endParaRPr lang="en-US" sz="1800" dirty="0">
                        <a:latin typeface="Times New Roman" panose="02020603050405020304" pitchFamily="18" charset="0"/>
                        <a:cs typeface="Times New Roman" panose="02020603050405020304" pitchFamily="18" charset="0"/>
                      </a:endParaRPr>
                    </a:p>
                  </a:txBody>
                  <a:tcPr>
                    <a:lnT w="28575" cap="flat" cmpd="sng" algn="ctr">
                      <a:solidFill>
                        <a:schemeClr val="tx1"/>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1688">
                <a:tc>
                  <a:txBody>
                    <a:bodyPr/>
                    <a:lstStyle/>
                    <a:p>
                      <a:pPr marL="177800" indent="0"/>
                      <a:r>
                        <a:rPr lang="en-US" sz="2400" kern="1200" dirty="0">
                          <a:solidFill>
                            <a:schemeClr val="tx1"/>
                          </a:solidFill>
                          <a:latin typeface="Times New Roman" panose="02020603050405020304" pitchFamily="18" charset="0"/>
                          <a:ea typeface="+mn-ea"/>
                          <a:cs typeface="Times New Roman" panose="02020603050405020304" pitchFamily="18" charset="0"/>
                        </a:rPr>
                        <a:t>February</a:t>
                      </a:r>
                      <a:endParaRPr lang="en-US" sz="1800" dirty="0">
                        <a:latin typeface="Times New Roman" panose="02020603050405020304" pitchFamily="18" charset="0"/>
                        <a:cs typeface="Times New Roman" panose="02020603050405020304" pitchFamily="18" charset="0"/>
                      </a:endParaRP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2400" kern="1200" dirty="0">
                          <a:solidFill>
                            <a:schemeClr val="tx1"/>
                          </a:solidFill>
                          <a:latin typeface="Times New Roman" panose="02020603050405020304" pitchFamily="18" charset="0"/>
                          <a:ea typeface="+mn-ea"/>
                          <a:cs typeface="Times New Roman" panose="02020603050405020304" pitchFamily="18" charset="0"/>
                        </a:rPr>
                        <a:t>3,000</a:t>
                      </a:r>
                      <a:endParaRPr lang="en-US" sz="1800" dirty="0">
                        <a:latin typeface="Times New Roman" panose="02020603050405020304" pitchFamily="18" charset="0"/>
                        <a:cs typeface="Times New Roman" panose="02020603050405020304" pitchFamily="18" charset="0"/>
                      </a:endParaRP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1688">
                <a:tc>
                  <a:txBody>
                    <a:bodyPr/>
                    <a:lstStyle/>
                    <a:p>
                      <a:pPr marL="177800" indent="0"/>
                      <a:r>
                        <a:rPr lang="en-US" sz="2400" kern="1200" dirty="0">
                          <a:solidFill>
                            <a:schemeClr val="tx1"/>
                          </a:solidFill>
                          <a:latin typeface="Times New Roman" panose="02020603050405020304" pitchFamily="18" charset="0"/>
                          <a:ea typeface="+mn-ea"/>
                          <a:cs typeface="Times New Roman" panose="02020603050405020304" pitchFamily="18" charset="0"/>
                        </a:rPr>
                        <a:t>March</a:t>
                      </a:r>
                      <a:endParaRPr lang="en-US" sz="1800" dirty="0">
                        <a:latin typeface="Times New Roman" panose="02020603050405020304" pitchFamily="18" charset="0"/>
                        <a:cs typeface="Times New Roman" panose="02020603050405020304" pitchFamily="18" charset="0"/>
                      </a:endParaRP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2400" kern="1200" dirty="0">
                          <a:solidFill>
                            <a:schemeClr val="tx1"/>
                          </a:solidFill>
                          <a:latin typeface="Times New Roman" panose="02020603050405020304" pitchFamily="18" charset="0"/>
                          <a:ea typeface="+mn-ea"/>
                          <a:cs typeface="Times New Roman" panose="02020603050405020304" pitchFamily="18" charset="0"/>
                        </a:rPr>
                        <a:t>3,200</a:t>
                      </a:r>
                      <a:endParaRPr lang="en-US" sz="1800" dirty="0">
                        <a:latin typeface="Times New Roman" panose="02020603050405020304" pitchFamily="18" charset="0"/>
                        <a:cs typeface="Times New Roman" panose="02020603050405020304" pitchFamily="18" charset="0"/>
                      </a:endParaRP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1688">
                <a:tc>
                  <a:txBody>
                    <a:bodyPr/>
                    <a:lstStyle/>
                    <a:p>
                      <a:pPr marL="177800" indent="0"/>
                      <a:r>
                        <a:rPr lang="en-US" sz="2400" kern="1200" dirty="0">
                          <a:solidFill>
                            <a:schemeClr val="tx1"/>
                          </a:solidFill>
                          <a:latin typeface="Times New Roman" panose="02020603050405020304" pitchFamily="18" charset="0"/>
                          <a:ea typeface="+mn-ea"/>
                          <a:cs typeface="Times New Roman" panose="02020603050405020304" pitchFamily="18" charset="0"/>
                        </a:rPr>
                        <a:t>April</a:t>
                      </a:r>
                      <a:endParaRPr lang="en-US" sz="1800" dirty="0">
                        <a:latin typeface="Times New Roman" panose="02020603050405020304" pitchFamily="18" charset="0"/>
                        <a:cs typeface="Times New Roman" panose="02020603050405020304" pitchFamily="18" charset="0"/>
                      </a:endParaRP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2400" kern="1200" dirty="0">
                          <a:solidFill>
                            <a:schemeClr val="tx1"/>
                          </a:solidFill>
                          <a:latin typeface="Times New Roman" panose="02020603050405020304" pitchFamily="18" charset="0"/>
                          <a:ea typeface="+mn-ea"/>
                          <a:cs typeface="Times New Roman" panose="02020603050405020304" pitchFamily="18" charset="0"/>
                        </a:rPr>
                        <a:t>3,800</a:t>
                      </a:r>
                      <a:endParaRPr lang="en-US" sz="1800" dirty="0">
                        <a:latin typeface="Times New Roman" panose="02020603050405020304" pitchFamily="18" charset="0"/>
                        <a:cs typeface="Times New Roman" panose="02020603050405020304" pitchFamily="18" charset="0"/>
                      </a:endParaRP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1688">
                <a:tc>
                  <a:txBody>
                    <a:bodyPr/>
                    <a:lstStyle/>
                    <a:p>
                      <a:pPr marL="177800" indent="0"/>
                      <a:r>
                        <a:rPr lang="en-US" sz="2400" kern="1200" dirty="0">
                          <a:solidFill>
                            <a:schemeClr val="tx1"/>
                          </a:solidFill>
                          <a:latin typeface="Times New Roman" panose="02020603050405020304" pitchFamily="18" charset="0"/>
                          <a:ea typeface="+mn-ea"/>
                          <a:cs typeface="Times New Roman" panose="02020603050405020304" pitchFamily="18" charset="0"/>
                        </a:rPr>
                        <a:t>May</a:t>
                      </a:r>
                      <a:endParaRPr lang="en-US" sz="1800" dirty="0">
                        <a:latin typeface="Times New Roman" panose="02020603050405020304" pitchFamily="18" charset="0"/>
                        <a:cs typeface="Times New Roman" panose="02020603050405020304" pitchFamily="18" charset="0"/>
                      </a:endParaRP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lang="en-US" sz="2400" kern="1200" dirty="0">
                          <a:solidFill>
                            <a:schemeClr val="tx1"/>
                          </a:solidFill>
                          <a:latin typeface="Times New Roman" panose="02020603050405020304" pitchFamily="18" charset="0"/>
                          <a:ea typeface="+mn-ea"/>
                          <a:cs typeface="Times New Roman" panose="02020603050405020304" pitchFamily="18" charset="0"/>
                        </a:rPr>
                        <a:t>2,200</a:t>
                      </a:r>
                      <a:endParaRPr lang="en-US" sz="1800" dirty="0">
                        <a:latin typeface="Times New Roman" panose="02020603050405020304" pitchFamily="18" charset="0"/>
                        <a:cs typeface="Times New Roman" panose="02020603050405020304" pitchFamily="18" charset="0"/>
                      </a:endParaRP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31688">
                <a:tc>
                  <a:txBody>
                    <a:bodyPr/>
                    <a:lstStyle/>
                    <a:p>
                      <a:pPr marL="177800" indent="0"/>
                      <a:r>
                        <a:rPr lang="en-US" sz="2400" kern="1200" dirty="0">
                          <a:solidFill>
                            <a:schemeClr val="tx1"/>
                          </a:solidFill>
                          <a:latin typeface="Times New Roman" panose="02020603050405020304" pitchFamily="18" charset="0"/>
                          <a:ea typeface="+mn-ea"/>
                          <a:cs typeface="Times New Roman" panose="02020603050405020304" pitchFamily="18" charset="0"/>
                        </a:rPr>
                        <a:t>June</a:t>
                      </a:r>
                      <a:endParaRPr lang="en-US" sz="1800" dirty="0">
                        <a:latin typeface="Times New Roman" panose="02020603050405020304" pitchFamily="18" charset="0"/>
                        <a:cs typeface="Times New Roman" panose="02020603050405020304" pitchFamily="18" charset="0"/>
                      </a:endParaRPr>
                    </a:p>
                  </a:txBody>
                  <a:tcPr>
                    <a:lnT w="12700" cap="flat" cmpd="sng" algn="ctr">
                      <a:solidFill>
                        <a:scrgbClr r="0" g="0" b="0"/>
                      </a:solidFill>
                      <a:prstDash val="solid"/>
                      <a:round/>
                      <a:headEnd type="none" w="med" len="med"/>
                      <a:tailEnd type="none" w="med" len="med"/>
                    </a:lnT>
                    <a:lnB w="28575" cap="flat" cmpd="sng" algn="ctr">
                      <a:solidFill>
                        <a:scrgbClr r="0" g="0" b="0"/>
                      </a:solidFill>
                      <a:prstDash val="solid"/>
                      <a:round/>
                      <a:headEnd type="none" w="med" len="med"/>
                      <a:tailEnd type="none" w="med" len="med"/>
                    </a:lnB>
                    <a:solidFill>
                      <a:srgbClr val="FFFFFF"/>
                    </a:solidFill>
                  </a:tcPr>
                </a:tc>
                <a:tc>
                  <a:txBody>
                    <a:bodyPr/>
                    <a:lstStyle/>
                    <a:p>
                      <a:pPr algn="ctr"/>
                      <a:r>
                        <a:rPr lang="en-US" sz="2400" kern="1200" dirty="0">
                          <a:solidFill>
                            <a:schemeClr val="tx1"/>
                          </a:solidFill>
                          <a:latin typeface="Times New Roman" panose="02020603050405020304" pitchFamily="18" charset="0"/>
                          <a:ea typeface="+mn-ea"/>
                          <a:cs typeface="Times New Roman" panose="02020603050405020304" pitchFamily="18" charset="0"/>
                        </a:rPr>
                        <a:t>2,200</a:t>
                      </a:r>
                      <a:endParaRPr lang="en-US" sz="1800" dirty="0">
                        <a:latin typeface="Times New Roman" panose="02020603050405020304" pitchFamily="18" charset="0"/>
                        <a:cs typeface="Times New Roman" panose="02020603050405020304" pitchFamily="18" charset="0"/>
                      </a:endParaRPr>
                    </a:p>
                  </a:txBody>
                  <a:tcPr>
                    <a:lnT w="12700" cap="flat" cmpd="sng" algn="ctr">
                      <a:solidFill>
                        <a:scrgbClr r="0" g="0" b="0"/>
                      </a:solidFill>
                      <a:prstDash val="solid"/>
                      <a:round/>
                      <a:headEnd type="none" w="med" len="med"/>
                      <a:tailEnd type="none" w="med" len="med"/>
                    </a:lnT>
                    <a:lnB w="28575"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550000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7A9B2-B3E8-82C1-1A2D-331ABD4BDEFF}"/>
              </a:ext>
            </a:extLst>
          </p:cNvPr>
          <p:cNvSpPr>
            <a:spLocks noGrp="1"/>
          </p:cNvSpPr>
          <p:nvPr>
            <p:ph type="title"/>
          </p:nvPr>
        </p:nvSpPr>
        <p:spPr/>
        <p:txBody>
          <a:bodyPr/>
          <a:lstStyle/>
          <a:p>
            <a:r>
              <a:rPr lang="en-US" kern="1200" dirty="0"/>
              <a:t>Red Tomato Tools </a:t>
            </a:r>
            <a:r>
              <a:rPr lang="en-US" kern="1200" dirty="0">
                <a:solidFill>
                  <a:srgbClr val="FF0000"/>
                </a:solidFill>
              </a:rPr>
              <a:t>Example</a:t>
            </a:r>
            <a:r>
              <a:rPr lang="en-US" kern="1200" dirty="0"/>
              <a:t> </a:t>
            </a:r>
            <a:r>
              <a:rPr lang="en-US" sz="2400" b="0" kern="1200" dirty="0"/>
              <a:t>(2 of 5)</a:t>
            </a:r>
            <a:endParaRPr lang="en-IN" dirty="0"/>
          </a:p>
        </p:txBody>
      </p:sp>
      <p:sp>
        <p:nvSpPr>
          <p:cNvPr id="3" name="Text Placeholder 2">
            <a:extLst>
              <a:ext uri="{FF2B5EF4-FFF2-40B4-BE49-F238E27FC236}">
                <a16:creationId xmlns:a16="http://schemas.microsoft.com/office/drawing/2014/main" id="{3F3106EC-9B85-B301-0131-E1B8115BDDBF}"/>
              </a:ext>
            </a:extLst>
          </p:cNvPr>
          <p:cNvSpPr>
            <a:spLocks noGrp="1"/>
          </p:cNvSpPr>
          <p:nvPr>
            <p:ph type="body" idx="1"/>
          </p:nvPr>
        </p:nvSpPr>
        <p:spPr>
          <a:xfrm>
            <a:off x="407446" y="1035437"/>
            <a:ext cx="5419196" cy="5035928"/>
          </a:xfrm>
        </p:spPr>
        <p:txBody>
          <a:bodyPr>
            <a:normAutofit/>
          </a:bodyPr>
          <a:lstStyle/>
          <a:p>
            <a:pPr marL="255651" lvl="0" indent="-255651" defTabSz="457200">
              <a:spcAft>
                <a:spcPct val="0"/>
              </a:spcAft>
              <a:buFont typeface="Arial" panose="020B0604020202020204" pitchFamily="34" charset="0"/>
              <a:buChar char="•"/>
              <a:tabLst/>
            </a:pPr>
            <a:r>
              <a:rPr lang="en-US" sz="2400" kern="1200" dirty="0">
                <a:solidFill>
                  <a:srgbClr val="000000"/>
                </a:solidFill>
                <a:ea typeface="+mn-ea"/>
              </a:rPr>
              <a:t>Starting inventory in January = 1,000</a:t>
            </a:r>
          </a:p>
          <a:p>
            <a:pPr marL="255651" lvl="0" indent="-255651" defTabSz="457200">
              <a:spcAft>
                <a:spcPct val="0"/>
              </a:spcAft>
              <a:buFont typeface="Arial" panose="020B0604020202020204" pitchFamily="34" charset="0"/>
              <a:buChar char="•"/>
              <a:tabLst/>
            </a:pPr>
            <a:r>
              <a:rPr lang="en-US" sz="2400" kern="1200" dirty="0">
                <a:solidFill>
                  <a:srgbClr val="000000"/>
                </a:solidFill>
                <a:ea typeface="+mn-ea"/>
              </a:rPr>
              <a:t>20 working days each month</a:t>
            </a:r>
          </a:p>
          <a:p>
            <a:pPr marL="255651" lvl="0" indent="-255651" defTabSz="457200">
              <a:spcAft>
                <a:spcPct val="0"/>
              </a:spcAft>
              <a:buFont typeface="Arial" panose="020B0604020202020204" pitchFamily="34" charset="0"/>
              <a:buChar char="•"/>
              <a:tabLst/>
            </a:pPr>
            <a:r>
              <a:rPr lang="en-US" sz="2400" kern="1200" dirty="0">
                <a:solidFill>
                  <a:srgbClr val="000000"/>
                </a:solidFill>
                <a:ea typeface="+mn-ea"/>
              </a:rPr>
              <a:t>Employees earn $4/hour regular time</a:t>
            </a:r>
          </a:p>
          <a:p>
            <a:pPr marL="255651" lvl="0" indent="-255651" defTabSz="457200">
              <a:spcAft>
                <a:spcPct val="0"/>
              </a:spcAft>
              <a:buFont typeface="Arial" panose="020B0604020202020204" pitchFamily="34" charset="0"/>
              <a:buChar char="•"/>
              <a:tabLst/>
            </a:pPr>
            <a:r>
              <a:rPr lang="en-US" sz="2400" kern="1200" dirty="0">
                <a:solidFill>
                  <a:srgbClr val="000000"/>
                </a:solidFill>
                <a:ea typeface="+mn-ea"/>
              </a:rPr>
              <a:t>Regular time = 8 hours/day, then overtime</a:t>
            </a:r>
          </a:p>
          <a:p>
            <a:pPr marL="255651" lvl="0" indent="-255651" defTabSz="457200">
              <a:spcAft>
                <a:spcPct val="0"/>
              </a:spcAft>
              <a:buFont typeface="Arial" panose="020B0604020202020204" pitchFamily="34" charset="0"/>
              <a:buChar char="•"/>
              <a:tabLst/>
            </a:pPr>
            <a:r>
              <a:rPr lang="en-US" sz="2400" kern="1200" dirty="0">
                <a:solidFill>
                  <a:srgbClr val="000000"/>
                </a:solidFill>
                <a:ea typeface="+mn-ea"/>
              </a:rPr>
              <a:t>Maximum 10 hours overtime/employee/month</a:t>
            </a:r>
          </a:p>
          <a:p>
            <a:pPr marL="255651" lvl="0" indent="-255651" defTabSz="457200">
              <a:spcAft>
                <a:spcPct val="0"/>
              </a:spcAft>
              <a:buFont typeface="Arial" panose="020B0604020202020204" pitchFamily="34" charset="0"/>
              <a:buChar char="•"/>
              <a:tabLst/>
            </a:pPr>
            <a:r>
              <a:rPr lang="en-US" sz="2400" kern="1200" dirty="0">
                <a:solidFill>
                  <a:srgbClr val="000000"/>
                </a:solidFill>
                <a:ea typeface="+mn-ea"/>
              </a:rPr>
              <a:t>End June with 500 units in inventory</a:t>
            </a:r>
          </a:p>
        </p:txBody>
      </p:sp>
      <p:sp>
        <p:nvSpPr>
          <p:cNvPr id="4" name="Date Placeholder 3">
            <a:extLst>
              <a:ext uri="{FF2B5EF4-FFF2-40B4-BE49-F238E27FC236}">
                <a16:creationId xmlns:a16="http://schemas.microsoft.com/office/drawing/2014/main" id="{DD285637-09DD-C830-69AF-7E8452D7D976}"/>
              </a:ext>
            </a:extLst>
          </p:cNvPr>
          <p:cNvSpPr>
            <a:spLocks noGrp="1"/>
          </p:cNvSpPr>
          <p:nvPr>
            <p:ph type="dt" idx="10"/>
          </p:nvPr>
        </p:nvSpPr>
        <p:spPr/>
        <p:txBody>
          <a:bodyPr/>
          <a:lstStyle/>
          <a:p>
            <a:fld id="{D1FBB12C-6AF2-404C-B802-656F1A988312}" type="datetime1">
              <a:rPr lang="en-IN" smtClean="0"/>
              <a:pPr/>
              <a:t>02-12-2025</a:t>
            </a:fld>
            <a:endParaRPr lang="en-IN" dirty="0"/>
          </a:p>
        </p:txBody>
      </p:sp>
      <p:sp>
        <p:nvSpPr>
          <p:cNvPr id="5" name="Footer Placeholder 4">
            <a:extLst>
              <a:ext uri="{FF2B5EF4-FFF2-40B4-BE49-F238E27FC236}">
                <a16:creationId xmlns:a16="http://schemas.microsoft.com/office/drawing/2014/main" id="{18F45BA3-0454-2D87-47FE-0D8AC790DC06}"/>
              </a:ext>
            </a:extLst>
          </p:cNvPr>
          <p:cNvSpPr>
            <a:spLocks noGrp="1"/>
          </p:cNvSpPr>
          <p:nvPr>
            <p:ph type="ftr" idx="11"/>
          </p:nvPr>
        </p:nvSpPr>
        <p:spPr/>
        <p:txBody>
          <a:bodyPr/>
          <a:lstStyle/>
          <a:p>
            <a:r>
              <a:rPr lang="en-US"/>
              <a:t>Aggregate Planning in a Supply Chain</a:t>
            </a:r>
            <a:endParaRPr lang="en-US" dirty="0"/>
          </a:p>
        </p:txBody>
      </p:sp>
      <p:sp>
        <p:nvSpPr>
          <p:cNvPr id="6" name="Slide Number Placeholder 5">
            <a:extLst>
              <a:ext uri="{FF2B5EF4-FFF2-40B4-BE49-F238E27FC236}">
                <a16:creationId xmlns:a16="http://schemas.microsoft.com/office/drawing/2014/main" id="{2A5118C9-5232-7320-05F1-65CB319FF3D7}"/>
              </a:ext>
            </a:extLst>
          </p:cNvPr>
          <p:cNvSpPr>
            <a:spLocks noGrp="1"/>
          </p:cNvSpPr>
          <p:nvPr>
            <p:ph type="sldNum" idx="12"/>
          </p:nvPr>
        </p:nvSpPr>
        <p:spPr/>
        <p:txBody>
          <a:bodyPr/>
          <a:lstStyle/>
          <a:p>
            <a:fld id="{00000000-1234-1234-1234-123412341234}" type="slidenum">
              <a:rPr lang="en-US" smtClean="0"/>
              <a:pPr/>
              <a:t>40</a:t>
            </a:fld>
            <a:endParaRPr lang="en-US" dirty="0"/>
          </a:p>
        </p:txBody>
      </p:sp>
      <p:graphicFrame>
        <p:nvGraphicFramePr>
          <p:cNvPr id="7" name="Table 6">
            <a:extLst>
              <a:ext uri="{FF2B5EF4-FFF2-40B4-BE49-F238E27FC236}">
                <a16:creationId xmlns:a16="http://schemas.microsoft.com/office/drawing/2014/main" id="{7B7D862B-533B-533A-0DE3-4D9F4822032E}"/>
              </a:ext>
            </a:extLst>
          </p:cNvPr>
          <p:cNvGraphicFramePr>
            <a:graphicFrameLocks noGrp="1"/>
          </p:cNvGraphicFramePr>
          <p:nvPr>
            <p:extLst>
              <p:ext uri="{D42A27DB-BD31-4B8C-83A1-F6EECF244321}">
                <p14:modId xmlns:p14="http://schemas.microsoft.com/office/powerpoint/2010/main" val="3014686433"/>
              </p:ext>
            </p:extLst>
          </p:nvPr>
        </p:nvGraphicFramePr>
        <p:xfrm>
          <a:off x="6246320" y="1063690"/>
          <a:ext cx="5538234" cy="4751886"/>
        </p:xfrm>
        <a:graphic>
          <a:graphicData uri="http://schemas.openxmlformats.org/drawingml/2006/table">
            <a:tbl>
              <a:tblPr firstRow="1" bandRow="1">
                <a:tableStyleId>{2D5ABB26-0587-4C30-8999-92F81FD0307C}</a:tableStyleId>
              </a:tblPr>
              <a:tblGrid>
                <a:gridCol w="3794203">
                  <a:extLst>
                    <a:ext uri="{9D8B030D-6E8A-4147-A177-3AD203B41FA5}">
                      <a16:colId xmlns:a16="http://schemas.microsoft.com/office/drawing/2014/main" val="20000"/>
                    </a:ext>
                  </a:extLst>
                </a:gridCol>
                <a:gridCol w="1744031">
                  <a:extLst>
                    <a:ext uri="{9D8B030D-6E8A-4147-A177-3AD203B41FA5}">
                      <a16:colId xmlns:a16="http://schemas.microsoft.com/office/drawing/2014/main" val="20001"/>
                    </a:ext>
                  </a:extLst>
                </a:gridCol>
              </a:tblGrid>
              <a:tr h="450094">
                <a:tc>
                  <a:txBody>
                    <a:bodyPr/>
                    <a:lstStyle/>
                    <a:p>
                      <a:pPr marL="266700" indent="0"/>
                      <a:r>
                        <a:rPr lang="en-US" sz="2000" b="1" kern="1200" dirty="0">
                          <a:solidFill>
                            <a:schemeClr val="tx1"/>
                          </a:solidFill>
                          <a:latin typeface="Times New Roman" panose="02020603050405020304" pitchFamily="18" charset="0"/>
                          <a:ea typeface="+mn-ea"/>
                          <a:cs typeface="Times New Roman" panose="02020603050405020304" pitchFamily="18" charset="0"/>
                        </a:rPr>
                        <a:t>Item</a:t>
                      </a:r>
                    </a:p>
                  </a:txBody>
                  <a:tcPr>
                    <a:lnT w="28575" cap="flat" cmpd="sng" algn="ctr">
                      <a:solidFill>
                        <a:scrgbClr r="0" g="0" b="0"/>
                      </a:solidFill>
                      <a:prstDash val="solid"/>
                      <a:round/>
                      <a:headEnd type="none" w="med" len="med"/>
                      <a:tailEnd type="none" w="med" len="med"/>
                    </a:lnT>
                    <a:lnB w="19050" cap="flat" cmpd="sng" algn="ctr">
                      <a:solidFill>
                        <a:scrgbClr r="0" g="0" b="0"/>
                      </a:solidFill>
                      <a:prstDash val="solid"/>
                      <a:round/>
                      <a:headEnd type="none" w="med" len="med"/>
                      <a:tailEnd type="none" w="med" len="med"/>
                    </a:lnB>
                    <a:solidFill>
                      <a:srgbClr val="FFFFFF"/>
                    </a:solidFill>
                  </a:tcPr>
                </a:tc>
                <a:tc>
                  <a:txBody>
                    <a:bodyPr/>
                    <a:lstStyle/>
                    <a:p>
                      <a:r>
                        <a:rPr lang="en-US" sz="2000" b="1" kern="1200" dirty="0">
                          <a:solidFill>
                            <a:schemeClr val="tx1"/>
                          </a:solidFill>
                          <a:latin typeface="Times New Roman" panose="02020603050405020304" pitchFamily="18" charset="0"/>
                          <a:ea typeface="+mn-ea"/>
                          <a:cs typeface="Times New Roman" panose="02020603050405020304" pitchFamily="18" charset="0"/>
                        </a:rPr>
                        <a:t>Cost</a:t>
                      </a:r>
                    </a:p>
                  </a:txBody>
                  <a:tcPr>
                    <a:lnT w="28575" cap="flat" cmpd="sng" algn="ctr">
                      <a:solidFill>
                        <a:scrgbClr r="0" g="0" b="0"/>
                      </a:solidFill>
                      <a:prstDash val="solid"/>
                      <a:round/>
                      <a:headEnd type="none" w="med" len="med"/>
                      <a:tailEnd type="none" w="med" len="med"/>
                    </a:lnT>
                    <a:lnB w="1905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0094">
                <a:tc>
                  <a:txBody>
                    <a:bodyPr/>
                    <a:lstStyle/>
                    <a:p>
                      <a:pPr marL="266700" marR="0" indent="0" algn="l" defTabSz="457200" rtl="0" eaLnBrk="1" fontAlgn="auto" latinLnBrk="0" hangingPunct="1">
                        <a:lnSpc>
                          <a:spcPct val="100000"/>
                        </a:lnSpc>
                        <a:spcBef>
                          <a:spcPts val="0"/>
                        </a:spcBef>
                        <a:spcAft>
                          <a:spcPts val="0"/>
                        </a:spcAft>
                        <a:buClrTx/>
                        <a:buSzTx/>
                        <a:buFontTx/>
                        <a:buNone/>
                        <a:tabLst/>
                        <a:defRPr/>
                      </a:pPr>
                      <a:r>
                        <a:rPr lang="en-US" sz="2000" kern="1200" dirty="0">
                          <a:solidFill>
                            <a:schemeClr val="tx1"/>
                          </a:solidFill>
                          <a:latin typeface="Times New Roman" panose="02020603050405020304" pitchFamily="18" charset="0"/>
                          <a:ea typeface="+mn-ea"/>
                          <a:cs typeface="Times New Roman" panose="02020603050405020304" pitchFamily="18" charset="0"/>
                        </a:rPr>
                        <a:t>Material cost</a:t>
                      </a:r>
                      <a:endParaRPr lang="en-US" sz="1600" dirty="0">
                        <a:latin typeface="Times New Roman" panose="02020603050405020304" pitchFamily="18" charset="0"/>
                        <a:cs typeface="Times New Roman" panose="02020603050405020304" pitchFamily="18" charset="0"/>
                      </a:endParaRPr>
                    </a:p>
                  </a:txBody>
                  <a:tcPr>
                    <a:lnT w="1905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2000" kern="1200" dirty="0">
                          <a:solidFill>
                            <a:schemeClr val="tx1"/>
                          </a:solidFill>
                          <a:latin typeface="Times New Roman" panose="02020603050405020304" pitchFamily="18" charset="0"/>
                          <a:ea typeface="+mn-ea"/>
                          <a:cs typeface="Times New Roman" panose="02020603050405020304" pitchFamily="18" charset="0"/>
                        </a:rPr>
                        <a:t>$10/unit</a:t>
                      </a:r>
                      <a:endParaRPr lang="en-US" sz="1600" dirty="0">
                        <a:latin typeface="Times New Roman" panose="02020603050405020304" pitchFamily="18" charset="0"/>
                        <a:cs typeface="Times New Roman" panose="02020603050405020304" pitchFamily="18" charset="0"/>
                      </a:endParaRPr>
                    </a:p>
                  </a:txBody>
                  <a:tcPr>
                    <a:lnT w="1905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0094">
                <a:tc>
                  <a:txBody>
                    <a:bodyPr/>
                    <a:lstStyle/>
                    <a:p>
                      <a:pPr marL="266700" marR="0" indent="0" algn="l" defTabSz="457200" rtl="0" eaLnBrk="1" fontAlgn="auto" latinLnBrk="0" hangingPunct="1">
                        <a:lnSpc>
                          <a:spcPct val="100000"/>
                        </a:lnSpc>
                        <a:spcBef>
                          <a:spcPts val="0"/>
                        </a:spcBef>
                        <a:spcAft>
                          <a:spcPts val="0"/>
                        </a:spcAft>
                        <a:buClrTx/>
                        <a:buSzTx/>
                        <a:buFontTx/>
                        <a:buNone/>
                        <a:tabLst/>
                        <a:defRPr/>
                      </a:pPr>
                      <a:r>
                        <a:rPr lang="en-US" sz="2000" kern="1200" dirty="0">
                          <a:solidFill>
                            <a:schemeClr val="tx1"/>
                          </a:solidFill>
                          <a:latin typeface="Times New Roman" panose="02020603050405020304" pitchFamily="18" charset="0"/>
                          <a:ea typeface="+mn-ea"/>
                          <a:cs typeface="Times New Roman" panose="02020603050405020304" pitchFamily="18" charset="0"/>
                        </a:rPr>
                        <a:t>Inventory holding cost</a:t>
                      </a:r>
                      <a:endParaRPr lang="en-US" sz="1600" dirty="0">
                        <a:latin typeface="Times New Roman" panose="02020603050405020304" pitchFamily="18" charset="0"/>
                        <a:cs typeface="Times New Roman" panose="02020603050405020304" pitchFamily="18" charset="0"/>
                      </a:endParaRP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r>
                        <a:rPr lang="en-US" sz="2000" kern="1200" dirty="0">
                          <a:solidFill>
                            <a:schemeClr val="tx1"/>
                          </a:solidFill>
                          <a:latin typeface="Times New Roman" panose="02020603050405020304" pitchFamily="18" charset="0"/>
                          <a:ea typeface="+mn-ea"/>
                          <a:cs typeface="Times New Roman" panose="02020603050405020304" pitchFamily="18" charset="0"/>
                        </a:rPr>
                        <a:t>$2/unit/month</a:t>
                      </a:r>
                      <a:endParaRPr lang="en-US" sz="1600" dirty="0">
                        <a:latin typeface="Times New Roman" panose="02020603050405020304" pitchFamily="18" charset="0"/>
                        <a:cs typeface="Times New Roman" panose="02020603050405020304" pitchFamily="18" charset="0"/>
                      </a:endParaRP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0094">
                <a:tc>
                  <a:txBody>
                    <a:bodyPr/>
                    <a:lstStyle/>
                    <a:p>
                      <a:pPr marL="266700" indent="0"/>
                      <a:r>
                        <a:rPr lang="en-US" sz="2000" kern="1200" dirty="0">
                          <a:solidFill>
                            <a:schemeClr val="tx1"/>
                          </a:solidFill>
                          <a:latin typeface="Times New Roman" panose="02020603050405020304" pitchFamily="18" charset="0"/>
                          <a:ea typeface="+mn-ea"/>
                          <a:cs typeface="Times New Roman" panose="02020603050405020304" pitchFamily="18" charset="0"/>
                        </a:rPr>
                        <a:t>Marginal cost of stockout/backlog</a:t>
                      </a:r>
                      <a:endParaRPr lang="en-US" sz="1600" dirty="0">
                        <a:latin typeface="Times New Roman" panose="02020603050405020304" pitchFamily="18" charset="0"/>
                        <a:cs typeface="Times New Roman" panose="02020603050405020304" pitchFamily="18" charset="0"/>
                      </a:endParaRP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2000" kern="1200" dirty="0">
                          <a:solidFill>
                            <a:schemeClr val="tx1"/>
                          </a:solidFill>
                          <a:latin typeface="Times New Roman" panose="02020603050405020304" pitchFamily="18" charset="0"/>
                          <a:ea typeface="+mn-ea"/>
                          <a:cs typeface="Times New Roman" panose="02020603050405020304" pitchFamily="18" charset="0"/>
                        </a:rPr>
                        <a:t>$5/unit/month</a:t>
                      </a:r>
                      <a:endParaRPr lang="en-US" sz="1600" dirty="0">
                        <a:latin typeface="Times New Roman" panose="02020603050405020304" pitchFamily="18" charset="0"/>
                        <a:cs typeface="Times New Roman" panose="02020603050405020304" pitchFamily="18" charset="0"/>
                      </a:endParaRP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0094">
                <a:tc>
                  <a:txBody>
                    <a:bodyPr/>
                    <a:lstStyle/>
                    <a:p>
                      <a:pPr marL="266700" marR="0" indent="0" algn="l" defTabSz="457200" rtl="0" eaLnBrk="1" fontAlgn="auto" latinLnBrk="0" hangingPunct="1">
                        <a:lnSpc>
                          <a:spcPct val="100000"/>
                        </a:lnSpc>
                        <a:spcBef>
                          <a:spcPts val="0"/>
                        </a:spcBef>
                        <a:spcAft>
                          <a:spcPts val="0"/>
                        </a:spcAft>
                        <a:buClrTx/>
                        <a:buSzTx/>
                        <a:buFontTx/>
                        <a:buNone/>
                        <a:tabLst/>
                        <a:defRPr/>
                      </a:pPr>
                      <a:r>
                        <a:rPr lang="en-US" sz="2000" kern="1200" dirty="0">
                          <a:solidFill>
                            <a:schemeClr val="tx1"/>
                          </a:solidFill>
                          <a:latin typeface="Times New Roman" panose="02020603050405020304" pitchFamily="18" charset="0"/>
                          <a:ea typeface="+mn-ea"/>
                          <a:cs typeface="Times New Roman" panose="02020603050405020304" pitchFamily="18" charset="0"/>
                        </a:rPr>
                        <a:t>Hiring and training costs</a:t>
                      </a:r>
                      <a:endParaRPr lang="en-US" sz="1600" dirty="0">
                        <a:latin typeface="Times New Roman" panose="02020603050405020304" pitchFamily="18" charset="0"/>
                        <a:cs typeface="Times New Roman" panose="02020603050405020304" pitchFamily="18" charset="0"/>
                      </a:endParaRP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r>
                        <a:rPr lang="en-US" sz="2000" kern="1200" dirty="0">
                          <a:solidFill>
                            <a:schemeClr val="tx1"/>
                          </a:solidFill>
                          <a:latin typeface="Times New Roman" panose="02020603050405020304" pitchFamily="18" charset="0"/>
                          <a:ea typeface="+mn-ea"/>
                          <a:cs typeface="Times New Roman" panose="02020603050405020304" pitchFamily="18" charset="0"/>
                        </a:rPr>
                        <a:t>$300/worker</a:t>
                      </a:r>
                      <a:endParaRPr lang="en-US" sz="1600" dirty="0">
                        <a:latin typeface="Times New Roman" panose="02020603050405020304" pitchFamily="18" charset="0"/>
                        <a:cs typeface="Times New Roman" panose="02020603050405020304" pitchFamily="18" charset="0"/>
                      </a:endParaRP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0094">
                <a:tc>
                  <a:txBody>
                    <a:bodyPr/>
                    <a:lstStyle/>
                    <a:p>
                      <a:pPr marL="266700" marR="0" indent="0" algn="l" defTabSz="457200" rtl="0" eaLnBrk="1" fontAlgn="auto" latinLnBrk="0" hangingPunct="1">
                        <a:lnSpc>
                          <a:spcPct val="100000"/>
                        </a:lnSpc>
                        <a:spcBef>
                          <a:spcPts val="0"/>
                        </a:spcBef>
                        <a:spcAft>
                          <a:spcPts val="0"/>
                        </a:spcAft>
                        <a:buClrTx/>
                        <a:buSzTx/>
                        <a:buFontTx/>
                        <a:buNone/>
                        <a:tabLst/>
                        <a:defRPr/>
                      </a:pPr>
                      <a:r>
                        <a:rPr lang="en-US" sz="2000" kern="1200" dirty="0">
                          <a:solidFill>
                            <a:schemeClr val="tx1"/>
                          </a:solidFill>
                          <a:latin typeface="Times New Roman" panose="02020603050405020304" pitchFamily="18" charset="0"/>
                          <a:ea typeface="+mn-ea"/>
                          <a:cs typeface="Times New Roman" panose="02020603050405020304" pitchFamily="18" charset="0"/>
                        </a:rPr>
                        <a:t>Layoff cost</a:t>
                      </a:r>
                      <a:endParaRPr lang="en-US" sz="1600" dirty="0">
                        <a:latin typeface="Times New Roman" panose="02020603050405020304" pitchFamily="18" charset="0"/>
                        <a:cs typeface="Times New Roman" panose="02020603050405020304" pitchFamily="18" charset="0"/>
                      </a:endParaRP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r>
                        <a:rPr lang="en-US" sz="2000" kern="1200" dirty="0">
                          <a:solidFill>
                            <a:schemeClr val="tx1"/>
                          </a:solidFill>
                          <a:latin typeface="Times New Roman" panose="02020603050405020304" pitchFamily="18" charset="0"/>
                          <a:ea typeface="+mn-ea"/>
                          <a:cs typeface="Times New Roman" panose="02020603050405020304" pitchFamily="18" charset="0"/>
                        </a:rPr>
                        <a:t>$500/worker</a:t>
                      </a:r>
                      <a:endParaRPr lang="en-US" sz="1600" dirty="0">
                        <a:latin typeface="Times New Roman" panose="02020603050405020304" pitchFamily="18" charset="0"/>
                        <a:cs typeface="Times New Roman" panose="02020603050405020304" pitchFamily="18" charset="0"/>
                      </a:endParaRP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50094">
                <a:tc>
                  <a:txBody>
                    <a:bodyPr/>
                    <a:lstStyle/>
                    <a:p>
                      <a:pPr marL="266700" indent="0"/>
                      <a:r>
                        <a:rPr lang="en-US" sz="2000" kern="1200" dirty="0">
                          <a:solidFill>
                            <a:schemeClr val="tx1"/>
                          </a:solidFill>
                          <a:latin typeface="Times New Roman" panose="02020603050405020304" pitchFamily="18" charset="0"/>
                          <a:ea typeface="+mn-ea"/>
                          <a:cs typeface="Times New Roman" panose="02020603050405020304" pitchFamily="18" charset="0"/>
                        </a:rPr>
                        <a:t>Labor hours required</a:t>
                      </a:r>
                      <a:endParaRPr lang="en-US" sz="1600" dirty="0">
                        <a:latin typeface="Times New Roman" panose="02020603050405020304" pitchFamily="18" charset="0"/>
                        <a:cs typeface="Times New Roman" panose="02020603050405020304" pitchFamily="18" charset="0"/>
                      </a:endParaRP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2000" kern="1200" dirty="0">
                          <a:solidFill>
                            <a:schemeClr val="tx1"/>
                          </a:solidFill>
                          <a:latin typeface="Times New Roman" panose="02020603050405020304" pitchFamily="18" charset="0"/>
                          <a:ea typeface="+mn-ea"/>
                          <a:cs typeface="Times New Roman" panose="02020603050405020304" pitchFamily="18" charset="0"/>
                        </a:rPr>
                        <a:t>4/unit</a:t>
                      </a:r>
                      <a:endParaRPr lang="en-US" sz="1600" dirty="0">
                        <a:latin typeface="Times New Roman" panose="02020603050405020304" pitchFamily="18" charset="0"/>
                        <a:cs typeface="Times New Roman" panose="02020603050405020304" pitchFamily="18" charset="0"/>
                      </a:endParaRP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50094">
                <a:tc>
                  <a:txBody>
                    <a:bodyPr/>
                    <a:lstStyle/>
                    <a:p>
                      <a:pPr marL="266700" indent="0"/>
                      <a:r>
                        <a:rPr lang="en-US" sz="2000" kern="1200" dirty="0">
                          <a:solidFill>
                            <a:schemeClr val="tx1"/>
                          </a:solidFill>
                          <a:latin typeface="Times New Roman" panose="02020603050405020304" pitchFamily="18" charset="0"/>
                          <a:ea typeface="+mn-ea"/>
                          <a:cs typeface="Times New Roman" panose="02020603050405020304" pitchFamily="18" charset="0"/>
                        </a:rPr>
                        <a:t>Regular time cost</a:t>
                      </a:r>
                      <a:endParaRPr lang="en-US" sz="1600" dirty="0">
                        <a:latin typeface="Times New Roman" panose="02020603050405020304" pitchFamily="18" charset="0"/>
                        <a:cs typeface="Times New Roman" panose="02020603050405020304" pitchFamily="18" charset="0"/>
                      </a:endParaRP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r>
                        <a:rPr lang="en-US" sz="2000" kern="1200" dirty="0">
                          <a:solidFill>
                            <a:schemeClr val="tx1"/>
                          </a:solidFill>
                          <a:latin typeface="Times New Roman" panose="02020603050405020304" pitchFamily="18" charset="0"/>
                          <a:ea typeface="+mn-ea"/>
                          <a:cs typeface="Times New Roman" panose="02020603050405020304" pitchFamily="18" charset="0"/>
                        </a:rPr>
                        <a:t>$4/hour</a:t>
                      </a:r>
                      <a:endParaRPr lang="en-US" sz="1600" dirty="0">
                        <a:latin typeface="Times New Roman" panose="02020603050405020304" pitchFamily="18" charset="0"/>
                        <a:cs typeface="Times New Roman" panose="02020603050405020304" pitchFamily="18" charset="0"/>
                      </a:endParaRP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50094">
                <a:tc>
                  <a:txBody>
                    <a:bodyPr/>
                    <a:lstStyle/>
                    <a:p>
                      <a:pPr marL="266700" marR="0" indent="0" algn="l" defTabSz="457200" rtl="0" eaLnBrk="1" fontAlgn="auto" latinLnBrk="0" hangingPunct="1">
                        <a:lnSpc>
                          <a:spcPct val="100000"/>
                        </a:lnSpc>
                        <a:spcBef>
                          <a:spcPts val="0"/>
                        </a:spcBef>
                        <a:spcAft>
                          <a:spcPts val="0"/>
                        </a:spcAft>
                        <a:buClrTx/>
                        <a:buSzTx/>
                        <a:buFontTx/>
                        <a:buNone/>
                        <a:tabLst/>
                        <a:defRPr/>
                      </a:pPr>
                      <a:r>
                        <a:rPr lang="en-US" sz="2000" kern="1200" dirty="0">
                          <a:solidFill>
                            <a:schemeClr val="tx1"/>
                          </a:solidFill>
                          <a:latin typeface="Times New Roman" panose="02020603050405020304" pitchFamily="18" charset="0"/>
                          <a:ea typeface="+mn-ea"/>
                          <a:cs typeface="Times New Roman" panose="02020603050405020304" pitchFamily="18" charset="0"/>
                        </a:rPr>
                        <a:t>Overtime cost</a:t>
                      </a:r>
                      <a:endParaRPr lang="en-US" sz="1600" dirty="0">
                        <a:latin typeface="Times New Roman" panose="02020603050405020304" pitchFamily="18" charset="0"/>
                        <a:cs typeface="Times New Roman" panose="02020603050405020304" pitchFamily="18" charset="0"/>
                      </a:endParaRP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r>
                        <a:rPr lang="en-US" sz="2000" kern="1200" dirty="0">
                          <a:solidFill>
                            <a:schemeClr val="tx1"/>
                          </a:solidFill>
                          <a:latin typeface="Times New Roman" panose="02020603050405020304" pitchFamily="18" charset="0"/>
                          <a:ea typeface="+mn-ea"/>
                          <a:cs typeface="Times New Roman" panose="02020603050405020304" pitchFamily="18" charset="0"/>
                        </a:rPr>
                        <a:t>$6/hour</a:t>
                      </a:r>
                      <a:endParaRPr lang="en-US" sz="1600" dirty="0">
                        <a:latin typeface="Times New Roman" panose="02020603050405020304" pitchFamily="18" charset="0"/>
                        <a:cs typeface="Times New Roman" panose="02020603050405020304" pitchFamily="18" charset="0"/>
                      </a:endParaRP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450094">
                <a:tc>
                  <a:txBody>
                    <a:bodyPr/>
                    <a:lstStyle/>
                    <a:p>
                      <a:pPr marL="266700" indent="0"/>
                      <a:r>
                        <a:rPr lang="en-US" sz="2000" kern="1200" dirty="0">
                          <a:solidFill>
                            <a:schemeClr val="tx1"/>
                          </a:solidFill>
                          <a:latin typeface="Times New Roman" panose="02020603050405020304" pitchFamily="18" charset="0"/>
                          <a:ea typeface="+mn-ea"/>
                          <a:cs typeface="Times New Roman" panose="02020603050405020304" pitchFamily="18" charset="0"/>
                        </a:rPr>
                        <a:t>Cost of subcontracting</a:t>
                      </a:r>
                      <a:endParaRPr lang="en-US" sz="1600" dirty="0">
                        <a:latin typeface="Times New Roman" panose="02020603050405020304" pitchFamily="18" charset="0"/>
                        <a:cs typeface="Times New Roman" panose="02020603050405020304" pitchFamily="18" charset="0"/>
                      </a:endParaRPr>
                    </a:p>
                  </a:txBody>
                  <a:tcPr>
                    <a:lnT w="12700" cap="flat" cmpd="sng" algn="ctr">
                      <a:solidFill>
                        <a:scrgbClr r="0" g="0" b="0"/>
                      </a:solidFill>
                      <a:prstDash val="solid"/>
                      <a:round/>
                      <a:headEnd type="none" w="med" len="med"/>
                      <a:tailEnd type="none" w="med" len="med"/>
                    </a:lnT>
                    <a:lnB w="28575" cap="flat" cmpd="sng" algn="ctr">
                      <a:solidFill>
                        <a:scrgbClr r="0" g="0" b="0"/>
                      </a:solidFill>
                      <a:prstDash val="solid"/>
                      <a:round/>
                      <a:headEnd type="none" w="med" len="med"/>
                      <a:tailEnd type="none" w="med" len="med"/>
                    </a:lnB>
                    <a:solidFill>
                      <a:srgbClr val="FFFFFF"/>
                    </a:solidFill>
                  </a:tcPr>
                </a:tc>
                <a:tc>
                  <a:txBody>
                    <a:bodyPr/>
                    <a:lstStyle/>
                    <a:p>
                      <a:r>
                        <a:rPr lang="en-US" sz="2000" kern="1200" dirty="0">
                          <a:solidFill>
                            <a:schemeClr val="tx1"/>
                          </a:solidFill>
                          <a:latin typeface="Times New Roman" panose="02020603050405020304" pitchFamily="18" charset="0"/>
                          <a:ea typeface="+mn-ea"/>
                          <a:cs typeface="Times New Roman" panose="02020603050405020304" pitchFamily="18" charset="0"/>
                        </a:rPr>
                        <a:t>$30/unit</a:t>
                      </a:r>
                      <a:endParaRPr lang="en-US" sz="1600" dirty="0">
                        <a:latin typeface="Times New Roman" panose="02020603050405020304" pitchFamily="18" charset="0"/>
                        <a:cs typeface="Times New Roman" panose="02020603050405020304" pitchFamily="18" charset="0"/>
                      </a:endParaRPr>
                    </a:p>
                  </a:txBody>
                  <a:tcPr>
                    <a:lnT w="12700" cap="flat" cmpd="sng" algn="ctr">
                      <a:solidFill>
                        <a:scrgbClr r="0" g="0" b="0"/>
                      </a:solidFill>
                      <a:prstDash val="solid"/>
                      <a:round/>
                      <a:headEnd type="none" w="med" len="med"/>
                      <a:tailEnd type="none" w="med" len="med"/>
                    </a:lnT>
                    <a:lnB w="28575" cap="flat" cmpd="sng" algn="ctr">
                      <a:solidFill>
                        <a:scrgbClr r="0" g="0" b="0"/>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37169083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768EF-81F5-2DF5-536C-AE5992F44CBB}"/>
              </a:ext>
            </a:extLst>
          </p:cNvPr>
          <p:cNvSpPr>
            <a:spLocks noGrp="1"/>
          </p:cNvSpPr>
          <p:nvPr>
            <p:ph type="title"/>
          </p:nvPr>
        </p:nvSpPr>
        <p:spPr>
          <a:xfrm>
            <a:off x="407446" y="40828"/>
            <a:ext cx="10762781" cy="685801"/>
          </a:xfrm>
        </p:spPr>
        <p:txBody>
          <a:bodyPr/>
          <a:lstStyle/>
          <a:p>
            <a:r>
              <a:rPr lang="en-US" kern="1200" dirty="0"/>
              <a:t>Red Tomato Tools </a:t>
            </a:r>
            <a:r>
              <a:rPr lang="en-US" kern="1200" dirty="0">
                <a:solidFill>
                  <a:srgbClr val="FF0000"/>
                </a:solidFill>
              </a:rPr>
              <a:t>Example</a:t>
            </a:r>
            <a:r>
              <a:rPr lang="en-US" kern="1200" dirty="0"/>
              <a:t> </a:t>
            </a:r>
            <a:r>
              <a:rPr lang="en-US" sz="2400" b="0" kern="1200" dirty="0"/>
              <a:t>(3 of 5)</a:t>
            </a:r>
            <a:br>
              <a:rPr lang="en-US" sz="2400" b="0" kern="1200" dirty="0"/>
            </a:br>
            <a:r>
              <a:rPr lang="en-US" sz="2800" kern="1200" dirty="0">
                <a:solidFill>
                  <a:srgbClr val="FF0000"/>
                </a:solidFill>
                <a:latin typeface="Times New Roman" panose="02020603050405020304" pitchFamily="18" charset="0"/>
                <a:ea typeface="+mj-ea"/>
                <a:cs typeface="+mj-cs"/>
              </a:rPr>
              <a:t>Decision Variables</a:t>
            </a:r>
            <a:endParaRPr lang="en-IN" dirty="0">
              <a:solidFill>
                <a:srgbClr val="FF0000"/>
              </a:solidFill>
            </a:endParaRPr>
          </a:p>
        </p:txBody>
      </p:sp>
      <p:sp>
        <p:nvSpPr>
          <p:cNvPr id="3" name="Text Placeholder 2">
            <a:extLst>
              <a:ext uri="{FF2B5EF4-FFF2-40B4-BE49-F238E27FC236}">
                <a16:creationId xmlns:a16="http://schemas.microsoft.com/office/drawing/2014/main" id="{4D008742-50A3-FC5A-08E2-0F47E7A24093}"/>
              </a:ext>
            </a:extLst>
          </p:cNvPr>
          <p:cNvSpPr>
            <a:spLocks noGrp="1"/>
          </p:cNvSpPr>
          <p:nvPr>
            <p:ph type="body" idx="1"/>
          </p:nvPr>
        </p:nvSpPr>
        <p:spPr/>
        <p:txBody>
          <a:bodyPr>
            <a:normAutofit/>
          </a:bodyPr>
          <a:lstStyle/>
          <a:p>
            <a:pPr marL="0" lvl="0" indent="0" defTabSz="457200">
              <a:spcAft>
                <a:spcPct val="0"/>
              </a:spcAft>
              <a:buNone/>
              <a:tabLst/>
            </a:pPr>
            <a:r>
              <a:rPr lang="en-US" sz="2800" kern="1200" dirty="0">
                <a:solidFill>
                  <a:srgbClr val="000000"/>
                </a:solidFill>
                <a:ea typeface="+mn-ea"/>
              </a:rPr>
              <a:t>For</a:t>
            </a:r>
            <a:r>
              <a:rPr lang="en-US" sz="2800" i="1" kern="1200" dirty="0">
                <a:solidFill>
                  <a:srgbClr val="000000"/>
                </a:solidFill>
                <a:ea typeface="+mn-ea"/>
              </a:rPr>
              <a:t> t</a:t>
            </a:r>
            <a:r>
              <a:rPr lang="en-US" sz="2800" kern="1200" dirty="0">
                <a:solidFill>
                  <a:srgbClr val="000000"/>
                </a:solidFill>
                <a:ea typeface="+mn-ea"/>
              </a:rPr>
              <a:t> = 1, ..., 6</a:t>
            </a:r>
            <a:endParaRPr lang="en-US" sz="2800" i="1" kern="1200" dirty="0">
              <a:solidFill>
                <a:srgbClr val="000000"/>
              </a:solidFill>
              <a:ea typeface="+mn-ea"/>
            </a:endParaRPr>
          </a:p>
          <a:p>
            <a:pPr marL="1168400" indent="-812800">
              <a:buFont typeface="Monotype Sorts" charset="0"/>
              <a:buNone/>
              <a:tabLst>
                <a:tab pos="812800" algn="l"/>
              </a:tabLst>
            </a:pPr>
            <a:r>
              <a:rPr lang="en-US" sz="2800" i="1" dirty="0" err="1"/>
              <a:t>W</a:t>
            </a:r>
            <a:r>
              <a:rPr lang="en-US" sz="2800" i="1" baseline="-25000" dirty="0" err="1"/>
              <a:t>t</a:t>
            </a:r>
            <a:r>
              <a:rPr lang="en-US" sz="2800" dirty="0"/>
              <a:t> = Workforce size for month </a:t>
            </a:r>
            <a:r>
              <a:rPr lang="en-US" sz="2800" i="1" dirty="0"/>
              <a:t>t</a:t>
            </a:r>
          </a:p>
          <a:p>
            <a:pPr marL="1168400" indent="-812800">
              <a:buFont typeface="Monotype Sorts" charset="0"/>
              <a:buNone/>
              <a:tabLst>
                <a:tab pos="812800" algn="l"/>
              </a:tabLst>
            </a:pPr>
            <a:r>
              <a:rPr lang="en-US" sz="2800" i="1" dirty="0" err="1"/>
              <a:t>H</a:t>
            </a:r>
            <a:r>
              <a:rPr lang="en-US" sz="2800" i="1" baseline="-25000" dirty="0" err="1"/>
              <a:t>t</a:t>
            </a:r>
            <a:r>
              <a:rPr lang="en-US" sz="2800" dirty="0"/>
              <a:t> = Number of employees hired at the beginning of month </a:t>
            </a:r>
            <a:r>
              <a:rPr lang="en-US" sz="2800" i="1" dirty="0"/>
              <a:t>t</a:t>
            </a:r>
          </a:p>
          <a:p>
            <a:pPr marL="1168400" indent="-812800">
              <a:buFont typeface="Monotype Sorts" charset="0"/>
              <a:buNone/>
              <a:tabLst>
                <a:tab pos="812800" algn="l"/>
              </a:tabLst>
            </a:pPr>
            <a:r>
              <a:rPr lang="en-US" sz="2800" i="1" dirty="0"/>
              <a:t>L</a:t>
            </a:r>
            <a:r>
              <a:rPr lang="en-US" sz="2800" i="1" baseline="-25000" dirty="0"/>
              <a:t>t</a:t>
            </a:r>
            <a:r>
              <a:rPr lang="en-US" sz="2800" dirty="0"/>
              <a:t> = Number of employees laid off at the beginning of month </a:t>
            </a:r>
            <a:r>
              <a:rPr lang="en-US" sz="2800" i="1" dirty="0"/>
              <a:t>t</a:t>
            </a:r>
          </a:p>
          <a:p>
            <a:pPr marL="1168400" indent="-812800">
              <a:buFont typeface="Monotype Sorts" charset="0"/>
              <a:buNone/>
              <a:tabLst>
                <a:tab pos="812800" algn="l"/>
              </a:tabLst>
            </a:pPr>
            <a:r>
              <a:rPr lang="en-US" sz="2800" i="1" dirty="0"/>
              <a:t>P</a:t>
            </a:r>
            <a:r>
              <a:rPr lang="en-US" sz="2800" i="1" baseline="-25000" dirty="0"/>
              <a:t>t</a:t>
            </a:r>
            <a:r>
              <a:rPr lang="en-US" sz="2800" dirty="0"/>
              <a:t> = Production in month </a:t>
            </a:r>
            <a:r>
              <a:rPr lang="en-US" sz="2800" i="1" dirty="0"/>
              <a:t>t</a:t>
            </a:r>
          </a:p>
          <a:p>
            <a:pPr marL="1168400" indent="-812800">
              <a:buFont typeface="Monotype Sorts" charset="0"/>
              <a:buNone/>
              <a:tabLst>
                <a:tab pos="812800" algn="l"/>
              </a:tabLst>
            </a:pPr>
            <a:r>
              <a:rPr lang="en-US" sz="2800" i="1" dirty="0"/>
              <a:t>I</a:t>
            </a:r>
            <a:r>
              <a:rPr lang="en-US" sz="2800" i="1" baseline="-25000" dirty="0"/>
              <a:t>t</a:t>
            </a:r>
            <a:r>
              <a:rPr lang="en-US" sz="2800" dirty="0"/>
              <a:t> = Inventory at the end of month </a:t>
            </a:r>
            <a:r>
              <a:rPr lang="en-US" sz="2800" i="1" dirty="0"/>
              <a:t>t</a:t>
            </a:r>
          </a:p>
          <a:p>
            <a:pPr marL="1168400" indent="-812800">
              <a:buFont typeface="Monotype Sorts" charset="0"/>
              <a:buNone/>
              <a:tabLst>
                <a:tab pos="812800" algn="l"/>
              </a:tabLst>
            </a:pPr>
            <a:r>
              <a:rPr lang="en-US" sz="2800" i="1" dirty="0"/>
              <a:t>S</a:t>
            </a:r>
            <a:r>
              <a:rPr lang="en-US" sz="2800" i="1" baseline="-25000" dirty="0"/>
              <a:t>t</a:t>
            </a:r>
            <a:r>
              <a:rPr lang="en-US" sz="2800" dirty="0"/>
              <a:t> = Number of units stocked out at the end of month </a:t>
            </a:r>
            <a:r>
              <a:rPr lang="en-US" sz="2800" i="1" dirty="0"/>
              <a:t>t</a:t>
            </a:r>
          </a:p>
          <a:p>
            <a:pPr marL="1168400" indent="-812800">
              <a:buFont typeface="Monotype Sorts" charset="0"/>
              <a:buNone/>
              <a:tabLst>
                <a:tab pos="812800" algn="l"/>
              </a:tabLst>
            </a:pPr>
            <a:r>
              <a:rPr lang="en-US" sz="2800" i="1" dirty="0"/>
              <a:t>C</a:t>
            </a:r>
            <a:r>
              <a:rPr lang="en-US" sz="2800" i="1" baseline="-25000" dirty="0"/>
              <a:t>t</a:t>
            </a:r>
            <a:r>
              <a:rPr lang="en-US" sz="2800" dirty="0"/>
              <a:t> = Number of units subcontracted for month </a:t>
            </a:r>
            <a:r>
              <a:rPr lang="en-US" sz="2800" i="1" dirty="0"/>
              <a:t>t</a:t>
            </a:r>
          </a:p>
          <a:p>
            <a:pPr marL="1168400" indent="-812800">
              <a:buFont typeface="Monotype Sorts" charset="0"/>
              <a:buNone/>
              <a:tabLst>
                <a:tab pos="812800" algn="l"/>
              </a:tabLst>
            </a:pPr>
            <a:r>
              <a:rPr lang="en-US" sz="2800" i="1" dirty="0" err="1"/>
              <a:t>O</a:t>
            </a:r>
            <a:r>
              <a:rPr lang="en-US" sz="2800" i="1" baseline="-25000" dirty="0" err="1"/>
              <a:t>t</a:t>
            </a:r>
            <a:r>
              <a:rPr lang="en-US" sz="2800" dirty="0"/>
              <a:t> = Number of overtime hours worked in month </a:t>
            </a:r>
            <a:r>
              <a:rPr lang="en-US" sz="2800" i="1" dirty="0"/>
              <a:t>t</a:t>
            </a:r>
            <a:endParaRPr lang="en-US" sz="2800" i="1" kern="1200" dirty="0">
              <a:solidFill>
                <a:srgbClr val="000000"/>
              </a:solidFill>
              <a:ea typeface="+mn-ea"/>
            </a:endParaRPr>
          </a:p>
          <a:p>
            <a:pPr marL="114300" indent="0">
              <a:buNone/>
            </a:pPr>
            <a:endParaRPr lang="en-IN" dirty="0"/>
          </a:p>
        </p:txBody>
      </p:sp>
      <p:sp>
        <p:nvSpPr>
          <p:cNvPr id="4" name="Date Placeholder 3">
            <a:extLst>
              <a:ext uri="{FF2B5EF4-FFF2-40B4-BE49-F238E27FC236}">
                <a16:creationId xmlns:a16="http://schemas.microsoft.com/office/drawing/2014/main" id="{B1B9F012-C0DD-AD25-245A-12E97095D509}"/>
              </a:ext>
            </a:extLst>
          </p:cNvPr>
          <p:cNvSpPr>
            <a:spLocks noGrp="1"/>
          </p:cNvSpPr>
          <p:nvPr>
            <p:ph type="dt" idx="10"/>
          </p:nvPr>
        </p:nvSpPr>
        <p:spPr/>
        <p:txBody>
          <a:bodyPr/>
          <a:lstStyle/>
          <a:p>
            <a:fld id="{D1FBB12C-6AF2-404C-B802-656F1A988312}" type="datetime1">
              <a:rPr lang="en-IN" smtClean="0"/>
              <a:pPr/>
              <a:t>02-12-2025</a:t>
            </a:fld>
            <a:endParaRPr lang="en-IN" dirty="0"/>
          </a:p>
        </p:txBody>
      </p:sp>
      <p:sp>
        <p:nvSpPr>
          <p:cNvPr id="5" name="Footer Placeholder 4">
            <a:extLst>
              <a:ext uri="{FF2B5EF4-FFF2-40B4-BE49-F238E27FC236}">
                <a16:creationId xmlns:a16="http://schemas.microsoft.com/office/drawing/2014/main" id="{A1F00BA1-2205-5F87-8D7F-097088AAF915}"/>
              </a:ext>
            </a:extLst>
          </p:cNvPr>
          <p:cNvSpPr>
            <a:spLocks noGrp="1"/>
          </p:cNvSpPr>
          <p:nvPr>
            <p:ph type="ftr" idx="11"/>
          </p:nvPr>
        </p:nvSpPr>
        <p:spPr/>
        <p:txBody>
          <a:bodyPr/>
          <a:lstStyle/>
          <a:p>
            <a:r>
              <a:rPr lang="en-US"/>
              <a:t>Aggregate Planning in a Supply Chain</a:t>
            </a:r>
            <a:endParaRPr lang="en-US" dirty="0"/>
          </a:p>
        </p:txBody>
      </p:sp>
      <p:sp>
        <p:nvSpPr>
          <p:cNvPr id="6" name="Slide Number Placeholder 5">
            <a:extLst>
              <a:ext uri="{FF2B5EF4-FFF2-40B4-BE49-F238E27FC236}">
                <a16:creationId xmlns:a16="http://schemas.microsoft.com/office/drawing/2014/main" id="{06778803-9D21-72E7-3036-1A874721B35D}"/>
              </a:ext>
            </a:extLst>
          </p:cNvPr>
          <p:cNvSpPr>
            <a:spLocks noGrp="1"/>
          </p:cNvSpPr>
          <p:nvPr>
            <p:ph type="sldNum" idx="12"/>
          </p:nvPr>
        </p:nvSpPr>
        <p:spPr/>
        <p:txBody>
          <a:bodyPr/>
          <a:lstStyle/>
          <a:p>
            <a:fld id="{00000000-1234-1234-1234-123412341234}" type="slidenum">
              <a:rPr lang="en-US" smtClean="0"/>
              <a:pPr/>
              <a:t>41</a:t>
            </a:fld>
            <a:endParaRPr lang="en-US" dirty="0"/>
          </a:p>
        </p:txBody>
      </p:sp>
    </p:spTree>
    <p:extLst>
      <p:ext uri="{BB962C8B-B14F-4D97-AF65-F5344CB8AC3E}">
        <p14:creationId xmlns:p14="http://schemas.microsoft.com/office/powerpoint/2010/main" val="32136496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59893-E3CE-44AC-02BF-3C8A4BFFF582}"/>
              </a:ext>
            </a:extLst>
          </p:cNvPr>
          <p:cNvSpPr>
            <a:spLocks noGrp="1"/>
          </p:cNvSpPr>
          <p:nvPr>
            <p:ph type="title"/>
          </p:nvPr>
        </p:nvSpPr>
        <p:spPr>
          <a:xfrm>
            <a:off x="407293" y="-12337"/>
            <a:ext cx="10762781" cy="685801"/>
          </a:xfrm>
        </p:spPr>
        <p:txBody>
          <a:bodyPr/>
          <a:lstStyle/>
          <a:p>
            <a:r>
              <a:rPr lang="en-US" kern="1200" dirty="0"/>
              <a:t>Red Tomato Tools </a:t>
            </a:r>
            <a:r>
              <a:rPr lang="en-US" kern="1200" dirty="0">
                <a:solidFill>
                  <a:srgbClr val="FF0000"/>
                </a:solidFill>
              </a:rPr>
              <a:t>Example</a:t>
            </a:r>
            <a:r>
              <a:rPr lang="en-US" kern="1200" dirty="0"/>
              <a:t> </a:t>
            </a:r>
            <a:r>
              <a:rPr lang="en-US" sz="2400" b="0" kern="1200" dirty="0"/>
              <a:t>(4 of 5)</a:t>
            </a:r>
            <a:br>
              <a:rPr lang="en-US" sz="2400" b="0" kern="1200" dirty="0"/>
            </a:br>
            <a:r>
              <a:rPr lang="en-US" sz="2800" kern="1200" dirty="0">
                <a:solidFill>
                  <a:srgbClr val="FF0000"/>
                </a:solidFill>
                <a:latin typeface="Times New Roman" panose="02020603050405020304" pitchFamily="18" charset="0"/>
                <a:ea typeface="+mj-ea"/>
                <a:cs typeface="+mj-cs"/>
              </a:rPr>
              <a:t>Objective Function</a:t>
            </a:r>
            <a:endParaRPr lang="en-IN" dirty="0">
              <a:solidFill>
                <a:srgbClr val="FF0000"/>
              </a:solidFill>
            </a:endParaRPr>
          </a:p>
        </p:txBody>
      </p:sp>
      <p:sp>
        <p:nvSpPr>
          <p:cNvPr id="4" name="Date Placeholder 3">
            <a:extLst>
              <a:ext uri="{FF2B5EF4-FFF2-40B4-BE49-F238E27FC236}">
                <a16:creationId xmlns:a16="http://schemas.microsoft.com/office/drawing/2014/main" id="{0CAC17D6-C338-4C27-384E-1BBE97CBFF41}"/>
              </a:ext>
            </a:extLst>
          </p:cNvPr>
          <p:cNvSpPr>
            <a:spLocks noGrp="1"/>
          </p:cNvSpPr>
          <p:nvPr>
            <p:ph type="dt" idx="10"/>
          </p:nvPr>
        </p:nvSpPr>
        <p:spPr/>
        <p:txBody>
          <a:bodyPr/>
          <a:lstStyle/>
          <a:p>
            <a:fld id="{D1FBB12C-6AF2-404C-B802-656F1A988312}" type="datetime1">
              <a:rPr lang="en-IN" smtClean="0"/>
              <a:pPr/>
              <a:t>02-12-2025</a:t>
            </a:fld>
            <a:endParaRPr lang="en-IN" dirty="0"/>
          </a:p>
        </p:txBody>
      </p:sp>
      <p:sp>
        <p:nvSpPr>
          <p:cNvPr id="5" name="Footer Placeholder 4">
            <a:extLst>
              <a:ext uri="{FF2B5EF4-FFF2-40B4-BE49-F238E27FC236}">
                <a16:creationId xmlns:a16="http://schemas.microsoft.com/office/drawing/2014/main" id="{98340698-5BF7-5C62-2BCF-18505F2556D6}"/>
              </a:ext>
            </a:extLst>
          </p:cNvPr>
          <p:cNvSpPr>
            <a:spLocks noGrp="1"/>
          </p:cNvSpPr>
          <p:nvPr>
            <p:ph type="ftr" idx="11"/>
          </p:nvPr>
        </p:nvSpPr>
        <p:spPr/>
        <p:txBody>
          <a:bodyPr/>
          <a:lstStyle/>
          <a:p>
            <a:r>
              <a:rPr lang="en-US"/>
              <a:t>Aggregate Planning in a Supply Chain</a:t>
            </a:r>
            <a:endParaRPr lang="en-US" dirty="0"/>
          </a:p>
        </p:txBody>
      </p:sp>
      <p:sp>
        <p:nvSpPr>
          <p:cNvPr id="6" name="Slide Number Placeholder 5">
            <a:extLst>
              <a:ext uri="{FF2B5EF4-FFF2-40B4-BE49-F238E27FC236}">
                <a16:creationId xmlns:a16="http://schemas.microsoft.com/office/drawing/2014/main" id="{FF5FC28C-5C13-A222-DA4C-47BBC34D7355}"/>
              </a:ext>
            </a:extLst>
          </p:cNvPr>
          <p:cNvSpPr>
            <a:spLocks noGrp="1"/>
          </p:cNvSpPr>
          <p:nvPr>
            <p:ph type="sldNum" idx="12"/>
          </p:nvPr>
        </p:nvSpPr>
        <p:spPr/>
        <p:txBody>
          <a:bodyPr/>
          <a:lstStyle/>
          <a:p>
            <a:fld id="{00000000-1234-1234-1234-123412341234}" type="slidenum">
              <a:rPr lang="en-US" smtClean="0"/>
              <a:pPr/>
              <a:t>42</a:t>
            </a:fld>
            <a:endParaRPr lang="en-US" dirty="0"/>
          </a:p>
        </p:txBody>
      </p:sp>
      <p:sp>
        <p:nvSpPr>
          <p:cNvPr id="7" name="Text Placeholder 2">
            <a:extLst>
              <a:ext uri="{FF2B5EF4-FFF2-40B4-BE49-F238E27FC236}">
                <a16:creationId xmlns:a16="http://schemas.microsoft.com/office/drawing/2014/main" id="{C57E9CB6-211B-0508-3095-2AEC75132103}"/>
              </a:ext>
            </a:extLst>
          </p:cNvPr>
          <p:cNvSpPr>
            <a:spLocks noGrp="1"/>
          </p:cNvSpPr>
          <p:nvPr>
            <p:ph type="body" idx="1"/>
          </p:nvPr>
        </p:nvSpPr>
        <p:spPr>
          <a:xfrm>
            <a:off x="253976" y="832670"/>
            <a:ext cx="10916098" cy="1706591"/>
          </a:xfrm>
        </p:spPr>
        <p:txBody>
          <a:bodyPr wrap="square" lIns="91425" tIns="91425" rIns="91425" bIns="91425">
            <a:spAutoFit/>
          </a:bodyPr>
          <a:lstStyle/>
          <a:p>
            <a:pPr marL="255651" lvl="0" indent="-255651" defTabSz="457200">
              <a:spcAft>
                <a:spcPct val="0"/>
              </a:spcAft>
              <a:buFont typeface="Arial" panose="020B0604020202020204" pitchFamily="34" charset="0"/>
            </a:pPr>
            <a:r>
              <a:rPr lang="en-US" sz="2400" kern="1200" dirty="0">
                <a:solidFill>
                  <a:srgbClr val="000000"/>
                </a:solidFill>
                <a:ea typeface="+mn-ea"/>
              </a:rPr>
              <a:t>Minimize</a:t>
            </a:r>
          </a:p>
          <a:p>
            <a:pPr marL="486918" lvl="1" indent="0" defTabSz="457200">
              <a:spcAft>
                <a:spcPct val="0"/>
              </a:spcAft>
              <a:buNone/>
            </a:pPr>
            <a:r>
              <a:rPr lang="en-US" sz="2400" kern="1200" dirty="0">
                <a:solidFill>
                  <a:srgbClr val="000000"/>
                </a:solidFill>
                <a:latin typeface="Times New Roman" panose="02020603050405020304" pitchFamily="18" charset="0"/>
                <a:ea typeface="+mn-ea"/>
                <a:cs typeface="Times New Roman" panose="02020603050405020304" pitchFamily="18" charset="0"/>
              </a:rPr>
              <a:t>(Regular-time labor cost) + (Overtime labor cost) + (Cost of hiring and layoffs) + (Cost of holding inventory) + (Cost of stocking out) + (Material cost) + (Cost of subcontracting)</a:t>
            </a:r>
          </a:p>
        </p:txBody>
      </p:sp>
      <p:graphicFrame>
        <p:nvGraphicFramePr>
          <p:cNvPr id="8" name="Object 7" descr="Min Sum of 640 W sub t from t = 1 to 6, + sum of 6 O sub t from t = 1 to 6, + sum of 300 H sub t from t = 1 to 6+ Sum of 500 L sub t from t = 1 to 6, + sum of 2 I sub t from t = 1 to 6, + sum of 5 s sub t from t = 1 to 6, + sum of 10 p sub t from t = 1 to 6, + sum of 30 C sub t from t = 1 to 6.">
            <a:extLst>
              <a:ext uri="{FF2B5EF4-FFF2-40B4-BE49-F238E27FC236}">
                <a16:creationId xmlns:a16="http://schemas.microsoft.com/office/drawing/2014/main" id="{083BC198-DECB-DBD4-B578-E0578E0D8AB8}"/>
              </a:ext>
            </a:extLst>
          </p:cNvPr>
          <p:cNvGraphicFramePr>
            <a:graphicFrameLocks noChangeAspect="1"/>
          </p:cNvGraphicFramePr>
          <p:nvPr>
            <p:extLst>
              <p:ext uri="{D42A27DB-BD31-4B8C-83A1-F6EECF244321}">
                <p14:modId xmlns:p14="http://schemas.microsoft.com/office/powerpoint/2010/main" val="3487483277"/>
              </p:ext>
            </p:extLst>
          </p:nvPr>
        </p:nvGraphicFramePr>
        <p:xfrm>
          <a:off x="838200" y="2539261"/>
          <a:ext cx="6932613" cy="1804988"/>
        </p:xfrm>
        <a:graphic>
          <a:graphicData uri="http://schemas.openxmlformats.org/presentationml/2006/ole">
            <mc:AlternateContent xmlns:mc="http://schemas.openxmlformats.org/markup-compatibility/2006">
              <mc:Choice xmlns:v="urn:schemas-microsoft-com:vml" Requires="v">
                <p:oleObj name="Equation" r:id="rId2" imgW="2920680" imgH="888840" progId="Equation.DSMT4">
                  <p:embed/>
                </p:oleObj>
              </mc:Choice>
              <mc:Fallback>
                <p:oleObj name="Equation" r:id="rId2" imgW="2920680" imgH="888840" progId="Equation.DSMT4">
                  <p:embed/>
                  <p:pic>
                    <p:nvPicPr>
                      <p:cNvPr id="8" name="Object 7" descr="Min Sum of 640 W sub t from t = 1 to 6, + sum of 6 O sub t from t = 1 to 6, + sum of 300 H sub t from t = 1 to 6+ Sum of 500 L sub t from t = 1 to 6, + sum of 2 I sub t from t = 1 to 6, + sum of 5 s sub t from t = 1 to 6, + sum of 10 p sub t from t = 1 to 6, + sum of 30 C sub t from t = 1 to 6.">
                        <a:extLst>
                          <a:ext uri="{FF2B5EF4-FFF2-40B4-BE49-F238E27FC236}">
                            <a16:creationId xmlns:a16="http://schemas.microsoft.com/office/drawing/2014/main" id="{083BC198-DECB-DBD4-B578-E0578E0D8AB8}"/>
                          </a:ext>
                        </a:extLst>
                      </p:cNvPr>
                      <p:cNvPicPr/>
                      <p:nvPr/>
                    </p:nvPicPr>
                    <p:blipFill>
                      <a:blip r:embed="rId3"/>
                      <a:stretch>
                        <a:fillRect/>
                      </a:stretch>
                    </p:blipFill>
                    <p:spPr>
                      <a:xfrm>
                        <a:off x="838200" y="2539261"/>
                        <a:ext cx="6932613" cy="1804988"/>
                      </a:xfrm>
                      <a:prstGeom prst="rect">
                        <a:avLst/>
                      </a:prstGeom>
                    </p:spPr>
                  </p:pic>
                </p:oleObj>
              </mc:Fallback>
            </mc:AlternateContent>
          </a:graphicData>
        </a:graphic>
      </p:graphicFrame>
    </p:spTree>
    <p:extLst>
      <p:ext uri="{BB962C8B-B14F-4D97-AF65-F5344CB8AC3E}">
        <p14:creationId xmlns:p14="http://schemas.microsoft.com/office/powerpoint/2010/main" val="29931274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BC3E4-1414-2DE3-DBF1-2B2E3292420D}"/>
              </a:ext>
            </a:extLst>
          </p:cNvPr>
          <p:cNvSpPr>
            <a:spLocks noGrp="1"/>
          </p:cNvSpPr>
          <p:nvPr>
            <p:ph type="title"/>
          </p:nvPr>
        </p:nvSpPr>
        <p:spPr>
          <a:xfrm>
            <a:off x="457200" y="-7482"/>
            <a:ext cx="10762781" cy="685801"/>
          </a:xfrm>
        </p:spPr>
        <p:txBody>
          <a:bodyPr>
            <a:normAutofit fontScale="90000"/>
          </a:bodyPr>
          <a:lstStyle/>
          <a:p>
            <a:pPr>
              <a:lnSpc>
                <a:spcPct val="100000"/>
              </a:lnSpc>
            </a:pPr>
            <a:r>
              <a:rPr lang="en-US" kern="1200" dirty="0"/>
              <a:t>Red Tomato Tools </a:t>
            </a:r>
            <a:r>
              <a:rPr lang="en-US" kern="1200" dirty="0">
                <a:solidFill>
                  <a:srgbClr val="FF0000"/>
                </a:solidFill>
              </a:rPr>
              <a:t>Example</a:t>
            </a:r>
            <a:r>
              <a:rPr lang="en-US" kern="1200" dirty="0"/>
              <a:t> </a:t>
            </a:r>
            <a:r>
              <a:rPr lang="en-US" sz="2400" b="0" kern="1200" dirty="0"/>
              <a:t>(5 of 5)</a:t>
            </a:r>
            <a:br>
              <a:rPr lang="en-US" sz="2400" b="0" kern="1200" dirty="0"/>
            </a:br>
            <a:r>
              <a:rPr lang="en-US" sz="2800" kern="1200" dirty="0">
                <a:latin typeface="Times New Roman" panose="02020603050405020304" pitchFamily="18" charset="0"/>
                <a:ea typeface="+mj-ea"/>
                <a:cs typeface="+mj-cs"/>
              </a:rPr>
              <a:t> </a:t>
            </a:r>
            <a:r>
              <a:rPr lang="en-US" sz="2800" kern="1200" dirty="0">
                <a:solidFill>
                  <a:srgbClr val="FF0000"/>
                </a:solidFill>
                <a:latin typeface="Times New Roman" panose="02020603050405020304" pitchFamily="18" charset="0"/>
                <a:ea typeface="+mj-ea"/>
                <a:cs typeface="+mj-cs"/>
              </a:rPr>
              <a:t>Constraints</a:t>
            </a:r>
            <a:endParaRPr lang="en-IN" sz="2800" dirty="0">
              <a:solidFill>
                <a:srgbClr val="FF0000"/>
              </a:solidFill>
            </a:endParaRPr>
          </a:p>
        </p:txBody>
      </p:sp>
      <p:sp>
        <p:nvSpPr>
          <p:cNvPr id="4" name="Date Placeholder 3">
            <a:extLst>
              <a:ext uri="{FF2B5EF4-FFF2-40B4-BE49-F238E27FC236}">
                <a16:creationId xmlns:a16="http://schemas.microsoft.com/office/drawing/2014/main" id="{2DDC6883-F2DD-28FD-5B29-00A12CABCD3A}"/>
              </a:ext>
            </a:extLst>
          </p:cNvPr>
          <p:cNvSpPr>
            <a:spLocks noGrp="1"/>
          </p:cNvSpPr>
          <p:nvPr>
            <p:ph type="dt" idx="10"/>
          </p:nvPr>
        </p:nvSpPr>
        <p:spPr/>
        <p:txBody>
          <a:bodyPr/>
          <a:lstStyle/>
          <a:p>
            <a:fld id="{D1FBB12C-6AF2-404C-B802-656F1A988312}" type="datetime1">
              <a:rPr lang="en-IN" smtClean="0"/>
              <a:pPr/>
              <a:t>02-12-2025</a:t>
            </a:fld>
            <a:endParaRPr lang="en-IN" dirty="0"/>
          </a:p>
        </p:txBody>
      </p:sp>
      <p:sp>
        <p:nvSpPr>
          <p:cNvPr id="5" name="Footer Placeholder 4">
            <a:extLst>
              <a:ext uri="{FF2B5EF4-FFF2-40B4-BE49-F238E27FC236}">
                <a16:creationId xmlns:a16="http://schemas.microsoft.com/office/drawing/2014/main" id="{992894D4-BBAE-2AC3-D1A5-19E1567956F6}"/>
              </a:ext>
            </a:extLst>
          </p:cNvPr>
          <p:cNvSpPr>
            <a:spLocks noGrp="1"/>
          </p:cNvSpPr>
          <p:nvPr>
            <p:ph type="ftr" idx="11"/>
          </p:nvPr>
        </p:nvSpPr>
        <p:spPr/>
        <p:txBody>
          <a:bodyPr/>
          <a:lstStyle/>
          <a:p>
            <a:r>
              <a:rPr lang="en-US"/>
              <a:t>Aggregate Planning in a Supply Chain</a:t>
            </a:r>
            <a:endParaRPr lang="en-US" dirty="0"/>
          </a:p>
        </p:txBody>
      </p:sp>
      <p:sp>
        <p:nvSpPr>
          <p:cNvPr id="6" name="Slide Number Placeholder 5">
            <a:extLst>
              <a:ext uri="{FF2B5EF4-FFF2-40B4-BE49-F238E27FC236}">
                <a16:creationId xmlns:a16="http://schemas.microsoft.com/office/drawing/2014/main" id="{20CD7314-751F-A25E-AA42-A6593E5DE82B}"/>
              </a:ext>
            </a:extLst>
          </p:cNvPr>
          <p:cNvSpPr>
            <a:spLocks noGrp="1"/>
          </p:cNvSpPr>
          <p:nvPr>
            <p:ph type="sldNum" idx="12"/>
          </p:nvPr>
        </p:nvSpPr>
        <p:spPr/>
        <p:txBody>
          <a:bodyPr/>
          <a:lstStyle/>
          <a:p>
            <a:fld id="{00000000-1234-1234-1234-123412341234}" type="slidenum">
              <a:rPr lang="en-US" smtClean="0"/>
              <a:pPr/>
              <a:t>43</a:t>
            </a:fld>
            <a:endParaRPr lang="en-US" dirty="0"/>
          </a:p>
        </p:txBody>
      </p:sp>
      <p:sp>
        <p:nvSpPr>
          <p:cNvPr id="7" name="Content Placeholder 2">
            <a:extLst>
              <a:ext uri="{FF2B5EF4-FFF2-40B4-BE49-F238E27FC236}">
                <a16:creationId xmlns:a16="http://schemas.microsoft.com/office/drawing/2014/main" id="{140763D7-0BB7-BC8F-26A9-497382C0962C}"/>
              </a:ext>
            </a:extLst>
          </p:cNvPr>
          <p:cNvSpPr txBox="1">
            <a:spLocks/>
          </p:cNvSpPr>
          <p:nvPr/>
        </p:nvSpPr>
        <p:spPr>
          <a:xfrm>
            <a:off x="460375" y="953745"/>
            <a:ext cx="8229600" cy="1231076"/>
          </a:xfrm>
          <a:prstGeom prst="rect">
            <a:avLst/>
          </a:prstGeom>
        </p:spPr>
        <p:txBody>
          <a:bodyPr wrap="square" lIns="91425" tIns="91425" rIns="91425" bIns="91425">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457200">
              <a:spcAft>
                <a:spcPct val="0"/>
              </a:spcAft>
            </a:pPr>
            <a:r>
              <a:rPr lang="is-IS" sz="2800" kern="1200" dirty="0">
                <a:ea typeface="+mn-ea"/>
              </a:rPr>
              <a:t>All for</a:t>
            </a:r>
            <a:r>
              <a:rPr lang="is-IS" sz="2800" i="1" kern="1200" dirty="0">
                <a:ea typeface="+mn-ea"/>
              </a:rPr>
              <a:t> t</a:t>
            </a:r>
            <a:r>
              <a:rPr lang="is-IS" sz="2800" b="1" kern="1200" dirty="0">
                <a:ea typeface="+mn-ea"/>
              </a:rPr>
              <a:t> </a:t>
            </a:r>
            <a:r>
              <a:rPr lang="is-IS" sz="2800" kern="1200" dirty="0">
                <a:ea typeface="+mn-ea"/>
              </a:rPr>
              <a:t>= 1,..., 6</a:t>
            </a:r>
          </a:p>
          <a:p>
            <a:pPr defTabSz="457200">
              <a:spcAft>
                <a:spcPct val="0"/>
              </a:spcAft>
            </a:pPr>
            <a:endParaRPr lang="is-IS" sz="1200" kern="1200" dirty="0">
              <a:ea typeface="+mn-ea"/>
            </a:endParaRPr>
          </a:p>
          <a:p>
            <a:pPr marL="432000" indent="-432000" defTabSz="457200">
              <a:spcAft>
                <a:spcPct val="0"/>
              </a:spcAft>
              <a:buFont typeface="+mj-lt"/>
              <a:buAutoNum type="arabicPeriod"/>
            </a:pPr>
            <a:r>
              <a:rPr lang="en-US" sz="2800" kern="1200" dirty="0"/>
              <a:t>Workforce, hiring, and layoff constraints</a:t>
            </a:r>
          </a:p>
        </p:txBody>
      </p:sp>
      <p:graphicFrame>
        <p:nvGraphicFramePr>
          <p:cNvPr id="8" name="Object 7" descr="W sub t = w sub start expression t minus 1 end expression + H sub t minus L sub t.">
            <a:extLst>
              <a:ext uri="{FF2B5EF4-FFF2-40B4-BE49-F238E27FC236}">
                <a16:creationId xmlns:a16="http://schemas.microsoft.com/office/drawing/2014/main" id="{1EEBB8B2-3FCC-ED5B-ED47-241BC2353CB3}"/>
              </a:ext>
            </a:extLst>
          </p:cNvPr>
          <p:cNvGraphicFramePr>
            <a:graphicFrameLocks noChangeAspect="1"/>
          </p:cNvGraphicFramePr>
          <p:nvPr>
            <p:extLst>
              <p:ext uri="{D42A27DB-BD31-4B8C-83A1-F6EECF244321}">
                <p14:modId xmlns:p14="http://schemas.microsoft.com/office/powerpoint/2010/main" val="2583828406"/>
              </p:ext>
            </p:extLst>
          </p:nvPr>
        </p:nvGraphicFramePr>
        <p:xfrm>
          <a:off x="3681943" y="2083699"/>
          <a:ext cx="1780114" cy="348283"/>
        </p:xfrm>
        <a:graphic>
          <a:graphicData uri="http://schemas.openxmlformats.org/presentationml/2006/ole">
            <mc:AlternateContent xmlns:mc="http://schemas.openxmlformats.org/markup-compatibility/2006">
              <mc:Choice xmlns:v="urn:schemas-microsoft-com:vml" Requires="v">
                <p:oleObj name="Equation" r:id="rId2" imgW="1168200" imgH="228600" progId="Equation.DSMT4">
                  <p:embed/>
                </p:oleObj>
              </mc:Choice>
              <mc:Fallback>
                <p:oleObj name="Equation" r:id="rId2" imgW="1168200" imgH="228600" progId="Equation.DSMT4">
                  <p:embed/>
                  <p:pic>
                    <p:nvPicPr>
                      <p:cNvPr id="8" name="Object 7" descr="W sub t = w sub start expression t minus 1 end expression + H sub t minus L sub t.">
                        <a:extLst>
                          <a:ext uri="{FF2B5EF4-FFF2-40B4-BE49-F238E27FC236}">
                            <a16:creationId xmlns:a16="http://schemas.microsoft.com/office/drawing/2014/main" id="{1EEBB8B2-3FCC-ED5B-ED47-241BC2353CB3}"/>
                          </a:ext>
                        </a:extLst>
                      </p:cNvPr>
                      <p:cNvPicPr/>
                      <p:nvPr/>
                    </p:nvPicPr>
                    <p:blipFill>
                      <a:blip r:embed="rId3"/>
                      <a:stretch>
                        <a:fillRect/>
                      </a:stretch>
                    </p:blipFill>
                    <p:spPr>
                      <a:xfrm>
                        <a:off x="3681943" y="2083699"/>
                        <a:ext cx="1780114" cy="348283"/>
                      </a:xfrm>
                      <a:prstGeom prst="rect">
                        <a:avLst/>
                      </a:prstGeom>
                    </p:spPr>
                  </p:pic>
                </p:oleObj>
              </mc:Fallback>
            </mc:AlternateContent>
          </a:graphicData>
        </a:graphic>
      </p:graphicFrame>
      <p:sp>
        <p:nvSpPr>
          <p:cNvPr id="9" name="Content Placeholder 14">
            <a:extLst>
              <a:ext uri="{FF2B5EF4-FFF2-40B4-BE49-F238E27FC236}">
                <a16:creationId xmlns:a16="http://schemas.microsoft.com/office/drawing/2014/main" id="{CA0843D4-6399-376C-B85B-3A320F05FF74}"/>
              </a:ext>
            </a:extLst>
          </p:cNvPr>
          <p:cNvSpPr txBox="1">
            <a:spLocks/>
          </p:cNvSpPr>
          <p:nvPr/>
        </p:nvSpPr>
        <p:spPr>
          <a:xfrm>
            <a:off x="457200" y="2383238"/>
            <a:ext cx="8232775" cy="40550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32000" indent="-432000">
              <a:buFont typeface="+mj-lt"/>
              <a:buAutoNum type="arabicPeriod" startAt="2"/>
            </a:pPr>
            <a:r>
              <a:rPr lang="en-US" sz="2800" dirty="0"/>
              <a:t>Capacity constraints</a:t>
            </a:r>
          </a:p>
        </p:txBody>
      </p:sp>
      <p:graphicFrame>
        <p:nvGraphicFramePr>
          <p:cNvPr id="10" name="Object 9" descr="P sub t is less than or equal to 40 W sub t + start fraction O sub t over 4 end fraction.">
            <a:extLst>
              <a:ext uri="{FF2B5EF4-FFF2-40B4-BE49-F238E27FC236}">
                <a16:creationId xmlns:a16="http://schemas.microsoft.com/office/drawing/2014/main" id="{813AB7F3-06D0-587C-823F-D9D011BE284E}"/>
              </a:ext>
            </a:extLst>
          </p:cNvPr>
          <p:cNvGraphicFramePr>
            <a:graphicFrameLocks noChangeAspect="1"/>
          </p:cNvGraphicFramePr>
          <p:nvPr>
            <p:extLst>
              <p:ext uri="{D42A27DB-BD31-4B8C-83A1-F6EECF244321}">
                <p14:modId xmlns:p14="http://schemas.microsoft.com/office/powerpoint/2010/main" val="3008307954"/>
              </p:ext>
            </p:extLst>
          </p:nvPr>
        </p:nvGraphicFramePr>
        <p:xfrm>
          <a:off x="3752567" y="2873880"/>
          <a:ext cx="1638866" cy="659805"/>
        </p:xfrm>
        <a:graphic>
          <a:graphicData uri="http://schemas.openxmlformats.org/presentationml/2006/ole">
            <mc:AlternateContent xmlns:mc="http://schemas.openxmlformats.org/markup-compatibility/2006">
              <mc:Choice xmlns:v="urn:schemas-microsoft-com:vml" Requires="v">
                <p:oleObj name="Equation" r:id="rId4" imgW="977760" imgH="393480" progId="Equation.DSMT4">
                  <p:embed/>
                </p:oleObj>
              </mc:Choice>
              <mc:Fallback>
                <p:oleObj name="Equation" r:id="rId4" imgW="977760" imgH="393480" progId="Equation.DSMT4">
                  <p:embed/>
                  <p:pic>
                    <p:nvPicPr>
                      <p:cNvPr id="10" name="Object 9" descr="P sub t is less than or equal to 40 W sub t + start fraction O sub t over 4 end fraction.">
                        <a:extLst>
                          <a:ext uri="{FF2B5EF4-FFF2-40B4-BE49-F238E27FC236}">
                            <a16:creationId xmlns:a16="http://schemas.microsoft.com/office/drawing/2014/main" id="{813AB7F3-06D0-587C-823F-D9D011BE284E}"/>
                          </a:ext>
                        </a:extLst>
                      </p:cNvPr>
                      <p:cNvPicPr/>
                      <p:nvPr/>
                    </p:nvPicPr>
                    <p:blipFill>
                      <a:blip r:embed="rId5"/>
                      <a:stretch>
                        <a:fillRect/>
                      </a:stretch>
                    </p:blipFill>
                    <p:spPr>
                      <a:xfrm>
                        <a:off x="3752567" y="2873880"/>
                        <a:ext cx="1638866" cy="659805"/>
                      </a:xfrm>
                      <a:prstGeom prst="rect">
                        <a:avLst/>
                      </a:prstGeom>
                    </p:spPr>
                  </p:pic>
                </p:oleObj>
              </mc:Fallback>
            </mc:AlternateContent>
          </a:graphicData>
        </a:graphic>
      </p:graphicFrame>
      <p:sp>
        <p:nvSpPr>
          <p:cNvPr id="11" name="Content Placeholder 15">
            <a:extLst>
              <a:ext uri="{FF2B5EF4-FFF2-40B4-BE49-F238E27FC236}">
                <a16:creationId xmlns:a16="http://schemas.microsoft.com/office/drawing/2014/main" id="{B3B3DFE4-1DF0-9D9C-AC01-DAB3783DC475}"/>
              </a:ext>
            </a:extLst>
          </p:cNvPr>
          <p:cNvSpPr txBox="1">
            <a:spLocks/>
          </p:cNvSpPr>
          <p:nvPr/>
        </p:nvSpPr>
        <p:spPr>
          <a:xfrm>
            <a:off x="457200" y="3631346"/>
            <a:ext cx="8229600" cy="45118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32000" indent="-432000">
              <a:buFont typeface="+mj-lt"/>
              <a:buAutoNum type="arabicPeriod" startAt="3"/>
            </a:pPr>
            <a:r>
              <a:rPr lang="en-US" sz="2800"/>
              <a:t>Inventory balance constraints</a:t>
            </a:r>
            <a:endParaRPr lang="en-US" sz="2800" dirty="0"/>
          </a:p>
        </p:txBody>
      </p:sp>
      <p:graphicFrame>
        <p:nvGraphicFramePr>
          <p:cNvPr id="12" name="Object 11" descr="I sub start expression t minus 1 end expression + P sub t + C sub t = D sub t + S sub start expression t minus 1 end expression + I sub t minus s sub t.">
            <a:extLst>
              <a:ext uri="{FF2B5EF4-FFF2-40B4-BE49-F238E27FC236}">
                <a16:creationId xmlns:a16="http://schemas.microsoft.com/office/drawing/2014/main" id="{A49BE761-E536-7393-D649-9B7A549FF026}"/>
              </a:ext>
            </a:extLst>
          </p:cNvPr>
          <p:cNvGraphicFramePr>
            <a:graphicFrameLocks noChangeAspect="1"/>
          </p:cNvGraphicFramePr>
          <p:nvPr/>
        </p:nvGraphicFramePr>
        <p:xfrm>
          <a:off x="2906713" y="4224655"/>
          <a:ext cx="3330575" cy="396875"/>
        </p:xfrm>
        <a:graphic>
          <a:graphicData uri="http://schemas.openxmlformats.org/presentationml/2006/ole">
            <mc:AlternateContent xmlns:mc="http://schemas.openxmlformats.org/markup-compatibility/2006">
              <mc:Choice xmlns:v="urn:schemas-microsoft-com:vml" Requires="v">
                <p:oleObj name="Equation" r:id="rId6" imgW="1917360" imgH="228600" progId="Equation.DSMT4">
                  <p:embed/>
                </p:oleObj>
              </mc:Choice>
              <mc:Fallback>
                <p:oleObj name="Equation" r:id="rId6" imgW="1917360" imgH="228600" progId="Equation.DSMT4">
                  <p:embed/>
                  <p:pic>
                    <p:nvPicPr>
                      <p:cNvPr id="12" name="Object 11" descr="I sub start expression t minus 1 end expression + P sub t + C sub t = D sub t + S sub start expression t minus 1 end expression + I sub t minus s sub t.">
                        <a:extLst>
                          <a:ext uri="{FF2B5EF4-FFF2-40B4-BE49-F238E27FC236}">
                            <a16:creationId xmlns:a16="http://schemas.microsoft.com/office/drawing/2014/main" id="{A49BE761-E536-7393-D649-9B7A549FF026}"/>
                          </a:ext>
                        </a:extLst>
                      </p:cNvPr>
                      <p:cNvPicPr/>
                      <p:nvPr/>
                    </p:nvPicPr>
                    <p:blipFill>
                      <a:blip r:embed="rId7"/>
                      <a:stretch>
                        <a:fillRect/>
                      </a:stretch>
                    </p:blipFill>
                    <p:spPr>
                      <a:xfrm>
                        <a:off x="2906713" y="4224655"/>
                        <a:ext cx="3330575" cy="396875"/>
                      </a:xfrm>
                      <a:prstGeom prst="rect">
                        <a:avLst/>
                      </a:prstGeom>
                    </p:spPr>
                  </p:pic>
                </p:oleObj>
              </mc:Fallback>
            </mc:AlternateContent>
          </a:graphicData>
        </a:graphic>
      </p:graphicFrame>
      <p:sp>
        <p:nvSpPr>
          <p:cNvPr id="13" name="Content Placeholder 17">
            <a:extLst>
              <a:ext uri="{FF2B5EF4-FFF2-40B4-BE49-F238E27FC236}">
                <a16:creationId xmlns:a16="http://schemas.microsoft.com/office/drawing/2014/main" id="{6E8A5EDB-E867-5617-5D6D-CF1ABD1C3C50}"/>
              </a:ext>
            </a:extLst>
          </p:cNvPr>
          <p:cNvSpPr txBox="1">
            <a:spLocks/>
          </p:cNvSpPr>
          <p:nvPr/>
        </p:nvSpPr>
        <p:spPr>
          <a:xfrm>
            <a:off x="457200" y="4706669"/>
            <a:ext cx="8229600" cy="48390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32000" indent="-432000">
              <a:buFont typeface="+mj-lt"/>
              <a:buAutoNum type="arabicPeriod" startAt="4"/>
            </a:pPr>
            <a:r>
              <a:rPr lang="en-US" sz="2800"/>
              <a:t>Overtime limit constraints</a:t>
            </a:r>
            <a:endParaRPr lang="en-US" sz="2800" dirty="0"/>
          </a:p>
        </p:txBody>
      </p:sp>
      <p:graphicFrame>
        <p:nvGraphicFramePr>
          <p:cNvPr id="14" name="Object 13" descr="O sub t is less than or equal to 10 w sub t.">
            <a:extLst>
              <a:ext uri="{FF2B5EF4-FFF2-40B4-BE49-F238E27FC236}">
                <a16:creationId xmlns:a16="http://schemas.microsoft.com/office/drawing/2014/main" id="{F949B049-C8F1-F8DE-8239-F8C4956690DB}"/>
              </a:ext>
            </a:extLst>
          </p:cNvPr>
          <p:cNvGraphicFramePr>
            <a:graphicFrameLocks noChangeAspect="1"/>
          </p:cNvGraphicFramePr>
          <p:nvPr/>
        </p:nvGraphicFramePr>
        <p:xfrm>
          <a:off x="3990389" y="5173332"/>
          <a:ext cx="1163222" cy="402654"/>
        </p:xfrm>
        <a:graphic>
          <a:graphicData uri="http://schemas.openxmlformats.org/presentationml/2006/ole">
            <mc:AlternateContent xmlns:mc="http://schemas.openxmlformats.org/markup-compatibility/2006">
              <mc:Choice xmlns:v="urn:schemas-microsoft-com:vml" Requires="v">
                <p:oleObj name="Equation" r:id="rId8" imgW="660240" imgH="228600" progId="Equation.DSMT4">
                  <p:embed/>
                </p:oleObj>
              </mc:Choice>
              <mc:Fallback>
                <p:oleObj name="Equation" r:id="rId8" imgW="660240" imgH="228600" progId="Equation.DSMT4">
                  <p:embed/>
                  <p:pic>
                    <p:nvPicPr>
                      <p:cNvPr id="14" name="Object 13" descr="O sub t is less than or equal to 10 w sub t.">
                        <a:extLst>
                          <a:ext uri="{FF2B5EF4-FFF2-40B4-BE49-F238E27FC236}">
                            <a16:creationId xmlns:a16="http://schemas.microsoft.com/office/drawing/2014/main" id="{F949B049-C8F1-F8DE-8239-F8C4956690DB}"/>
                          </a:ext>
                        </a:extLst>
                      </p:cNvPr>
                      <p:cNvPicPr/>
                      <p:nvPr/>
                    </p:nvPicPr>
                    <p:blipFill>
                      <a:blip r:embed="rId9"/>
                      <a:stretch>
                        <a:fillRect/>
                      </a:stretch>
                    </p:blipFill>
                    <p:spPr>
                      <a:xfrm>
                        <a:off x="3990389" y="5173332"/>
                        <a:ext cx="1163222" cy="402654"/>
                      </a:xfrm>
                      <a:prstGeom prst="rect">
                        <a:avLst/>
                      </a:prstGeom>
                    </p:spPr>
                  </p:pic>
                </p:oleObj>
              </mc:Fallback>
            </mc:AlternateContent>
          </a:graphicData>
        </a:graphic>
      </p:graphicFrame>
    </p:spTree>
    <p:extLst>
      <p:ext uri="{BB962C8B-B14F-4D97-AF65-F5344CB8AC3E}">
        <p14:creationId xmlns:p14="http://schemas.microsoft.com/office/powerpoint/2010/main" val="21840719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7DF8B-820F-E114-7E40-712808230B19}"/>
              </a:ext>
            </a:extLst>
          </p:cNvPr>
          <p:cNvSpPr>
            <a:spLocks noGrp="1"/>
          </p:cNvSpPr>
          <p:nvPr>
            <p:ph type="title"/>
          </p:nvPr>
        </p:nvSpPr>
        <p:spPr/>
        <p:txBody>
          <a:bodyPr/>
          <a:lstStyle/>
          <a:p>
            <a:r>
              <a:rPr lang="en-IN" dirty="0"/>
              <a:t>Transportation Method</a:t>
            </a:r>
          </a:p>
        </p:txBody>
      </p:sp>
      <p:sp>
        <p:nvSpPr>
          <p:cNvPr id="3" name="Text Placeholder 2">
            <a:extLst>
              <a:ext uri="{FF2B5EF4-FFF2-40B4-BE49-F238E27FC236}">
                <a16:creationId xmlns:a16="http://schemas.microsoft.com/office/drawing/2014/main" id="{3A446990-12FD-39A1-B408-CD6E04CB7977}"/>
              </a:ext>
            </a:extLst>
          </p:cNvPr>
          <p:cNvSpPr>
            <a:spLocks noGrp="1"/>
          </p:cNvSpPr>
          <p:nvPr>
            <p:ph type="body" idx="1"/>
          </p:nvPr>
        </p:nvSpPr>
        <p:spPr/>
        <p:txBody>
          <a:bodyPr/>
          <a:lstStyle/>
          <a:p>
            <a:r>
              <a:rPr lang="en-IN" dirty="0"/>
              <a:t>For cases in which the decision to change the size of the workforce has already been made or is prohibited, the transportation method of linear programming can be used to develop an aggregate production plan.</a:t>
            </a:r>
          </a:p>
          <a:p>
            <a:r>
              <a:rPr lang="en-IN" dirty="0"/>
              <a:t>The transportation method gathers all the cost information into one matrix and plans production based on the </a:t>
            </a:r>
            <a:r>
              <a:rPr lang="en-IN" dirty="0">
                <a:solidFill>
                  <a:srgbClr val="FF0000"/>
                </a:solidFill>
              </a:rPr>
              <a:t>lowest-cost alternatives</a:t>
            </a:r>
            <a:r>
              <a:rPr lang="en-IN" dirty="0"/>
              <a:t>.</a:t>
            </a:r>
          </a:p>
        </p:txBody>
      </p:sp>
      <p:sp>
        <p:nvSpPr>
          <p:cNvPr id="4" name="Date Placeholder 3">
            <a:extLst>
              <a:ext uri="{FF2B5EF4-FFF2-40B4-BE49-F238E27FC236}">
                <a16:creationId xmlns:a16="http://schemas.microsoft.com/office/drawing/2014/main" id="{D6A88BBC-868D-339F-532E-259413034994}"/>
              </a:ext>
            </a:extLst>
          </p:cNvPr>
          <p:cNvSpPr>
            <a:spLocks noGrp="1"/>
          </p:cNvSpPr>
          <p:nvPr>
            <p:ph type="dt" idx="10"/>
          </p:nvPr>
        </p:nvSpPr>
        <p:spPr/>
        <p:txBody>
          <a:bodyPr/>
          <a:lstStyle/>
          <a:p>
            <a:fld id="{D1FBB12C-6AF2-404C-B802-656F1A988312}" type="datetime1">
              <a:rPr lang="en-IN" smtClean="0"/>
              <a:pPr/>
              <a:t>02-12-2025</a:t>
            </a:fld>
            <a:endParaRPr lang="en-IN" dirty="0"/>
          </a:p>
        </p:txBody>
      </p:sp>
      <p:sp>
        <p:nvSpPr>
          <p:cNvPr id="5" name="Footer Placeholder 4">
            <a:extLst>
              <a:ext uri="{FF2B5EF4-FFF2-40B4-BE49-F238E27FC236}">
                <a16:creationId xmlns:a16="http://schemas.microsoft.com/office/drawing/2014/main" id="{2E1C478F-6FAB-19BD-701D-6D8D5E52FADB}"/>
              </a:ext>
            </a:extLst>
          </p:cNvPr>
          <p:cNvSpPr>
            <a:spLocks noGrp="1"/>
          </p:cNvSpPr>
          <p:nvPr>
            <p:ph type="ftr" idx="11"/>
          </p:nvPr>
        </p:nvSpPr>
        <p:spPr/>
        <p:txBody>
          <a:bodyPr/>
          <a:lstStyle/>
          <a:p>
            <a:r>
              <a:rPr lang="en-IN"/>
              <a:t>Aggregate Planning</a:t>
            </a:r>
            <a:endParaRPr lang="en-IN" dirty="0"/>
          </a:p>
        </p:txBody>
      </p:sp>
      <p:sp>
        <p:nvSpPr>
          <p:cNvPr id="6" name="Slide Number Placeholder 5">
            <a:extLst>
              <a:ext uri="{FF2B5EF4-FFF2-40B4-BE49-F238E27FC236}">
                <a16:creationId xmlns:a16="http://schemas.microsoft.com/office/drawing/2014/main" id="{6C335588-22D5-43C2-4703-B59568642667}"/>
              </a:ext>
            </a:extLst>
          </p:cNvPr>
          <p:cNvSpPr>
            <a:spLocks noGrp="1"/>
          </p:cNvSpPr>
          <p:nvPr>
            <p:ph type="sldNum" idx="12"/>
          </p:nvPr>
        </p:nvSpPr>
        <p:spPr/>
        <p:txBody>
          <a:bodyPr/>
          <a:lstStyle/>
          <a:p>
            <a:fld id="{00000000-1234-1234-1234-123412341234}" type="slidenum">
              <a:rPr lang="en-US" smtClean="0"/>
              <a:pPr/>
              <a:t>44</a:t>
            </a:fld>
            <a:endParaRPr lang="en-US" dirty="0"/>
          </a:p>
        </p:txBody>
      </p:sp>
    </p:spTree>
    <p:extLst>
      <p:ext uri="{BB962C8B-B14F-4D97-AF65-F5344CB8AC3E}">
        <p14:creationId xmlns:p14="http://schemas.microsoft.com/office/powerpoint/2010/main" val="98801336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38DF5-2D71-FFAA-84D9-DE8C3FB079FA}"/>
              </a:ext>
            </a:extLst>
          </p:cNvPr>
          <p:cNvSpPr>
            <a:spLocks noGrp="1"/>
          </p:cNvSpPr>
          <p:nvPr>
            <p:ph type="title"/>
          </p:nvPr>
        </p:nvSpPr>
        <p:spPr/>
        <p:txBody>
          <a:bodyPr/>
          <a:lstStyle/>
          <a:p>
            <a:r>
              <a:rPr lang="en-IN" dirty="0"/>
              <a:t>Transportation Method</a:t>
            </a:r>
          </a:p>
        </p:txBody>
      </p:sp>
      <p:sp>
        <p:nvSpPr>
          <p:cNvPr id="4" name="Date Placeholder 3">
            <a:extLst>
              <a:ext uri="{FF2B5EF4-FFF2-40B4-BE49-F238E27FC236}">
                <a16:creationId xmlns:a16="http://schemas.microsoft.com/office/drawing/2014/main" id="{8AE74943-CE8A-008F-DF48-9B81E7B73B92}"/>
              </a:ext>
            </a:extLst>
          </p:cNvPr>
          <p:cNvSpPr>
            <a:spLocks noGrp="1"/>
          </p:cNvSpPr>
          <p:nvPr>
            <p:ph type="dt" idx="10"/>
          </p:nvPr>
        </p:nvSpPr>
        <p:spPr/>
        <p:txBody>
          <a:bodyPr/>
          <a:lstStyle/>
          <a:p>
            <a:fld id="{D1FBB12C-6AF2-404C-B802-656F1A988312}" type="datetime1">
              <a:rPr lang="en-IN" smtClean="0"/>
              <a:pPr/>
              <a:t>02-12-2025</a:t>
            </a:fld>
            <a:endParaRPr lang="en-IN" dirty="0"/>
          </a:p>
        </p:txBody>
      </p:sp>
      <p:sp>
        <p:nvSpPr>
          <p:cNvPr id="5" name="Footer Placeholder 4">
            <a:extLst>
              <a:ext uri="{FF2B5EF4-FFF2-40B4-BE49-F238E27FC236}">
                <a16:creationId xmlns:a16="http://schemas.microsoft.com/office/drawing/2014/main" id="{7E8D0C2B-09C4-39DB-FC3E-D3F04EF1EE23}"/>
              </a:ext>
            </a:extLst>
          </p:cNvPr>
          <p:cNvSpPr>
            <a:spLocks noGrp="1"/>
          </p:cNvSpPr>
          <p:nvPr>
            <p:ph type="ftr" idx="11"/>
          </p:nvPr>
        </p:nvSpPr>
        <p:spPr/>
        <p:txBody>
          <a:bodyPr/>
          <a:lstStyle/>
          <a:p>
            <a:r>
              <a:rPr lang="en-IN"/>
              <a:t>Aggregate Planning</a:t>
            </a:r>
            <a:endParaRPr lang="en-IN" dirty="0"/>
          </a:p>
        </p:txBody>
      </p:sp>
      <p:sp>
        <p:nvSpPr>
          <p:cNvPr id="6" name="Slide Number Placeholder 5">
            <a:extLst>
              <a:ext uri="{FF2B5EF4-FFF2-40B4-BE49-F238E27FC236}">
                <a16:creationId xmlns:a16="http://schemas.microsoft.com/office/drawing/2014/main" id="{F8CDD004-641C-D90F-95A5-E98F8747AE5F}"/>
              </a:ext>
            </a:extLst>
          </p:cNvPr>
          <p:cNvSpPr>
            <a:spLocks noGrp="1"/>
          </p:cNvSpPr>
          <p:nvPr>
            <p:ph type="sldNum" idx="12"/>
          </p:nvPr>
        </p:nvSpPr>
        <p:spPr/>
        <p:txBody>
          <a:bodyPr/>
          <a:lstStyle/>
          <a:p>
            <a:fld id="{00000000-1234-1234-1234-123412341234}" type="slidenum">
              <a:rPr lang="en-US" smtClean="0"/>
              <a:pPr/>
              <a:t>45</a:t>
            </a:fld>
            <a:endParaRPr lang="en-US" dirty="0"/>
          </a:p>
        </p:txBody>
      </p:sp>
      <p:pic>
        <p:nvPicPr>
          <p:cNvPr id="8" name="Picture 7">
            <a:extLst>
              <a:ext uri="{FF2B5EF4-FFF2-40B4-BE49-F238E27FC236}">
                <a16:creationId xmlns:a16="http://schemas.microsoft.com/office/drawing/2014/main" id="{9904E51E-AEE9-00EC-4A36-C56101F74483}"/>
              </a:ext>
            </a:extLst>
          </p:cNvPr>
          <p:cNvPicPr>
            <a:picLocks noChangeAspect="1"/>
          </p:cNvPicPr>
          <p:nvPr/>
        </p:nvPicPr>
        <p:blipFill>
          <a:blip r:embed="rId2"/>
          <a:stretch>
            <a:fillRect/>
          </a:stretch>
        </p:blipFill>
        <p:spPr>
          <a:xfrm>
            <a:off x="1968288" y="966694"/>
            <a:ext cx="8079479" cy="5208156"/>
          </a:xfrm>
          <a:prstGeom prst="rect">
            <a:avLst/>
          </a:prstGeom>
          <a:ln>
            <a:solidFill>
              <a:schemeClr val="tx1"/>
            </a:solidFill>
          </a:ln>
        </p:spPr>
      </p:pic>
    </p:spTree>
    <p:extLst>
      <p:ext uri="{BB962C8B-B14F-4D97-AF65-F5344CB8AC3E}">
        <p14:creationId xmlns:p14="http://schemas.microsoft.com/office/powerpoint/2010/main" val="38968776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8DE43-63E0-3EF8-7FD3-45EB67D2098E}"/>
              </a:ext>
            </a:extLst>
          </p:cNvPr>
          <p:cNvSpPr>
            <a:spLocks noGrp="1"/>
          </p:cNvSpPr>
          <p:nvPr>
            <p:ph type="title"/>
          </p:nvPr>
        </p:nvSpPr>
        <p:spPr>
          <a:xfrm>
            <a:off x="407446" y="-108323"/>
            <a:ext cx="10762781" cy="685801"/>
          </a:xfrm>
        </p:spPr>
        <p:txBody>
          <a:bodyPr/>
          <a:lstStyle/>
          <a:p>
            <a:r>
              <a:rPr lang="en-IN" dirty="0"/>
              <a:t>Transportation Method</a:t>
            </a:r>
            <a:br>
              <a:rPr lang="en-IN" dirty="0"/>
            </a:br>
            <a:r>
              <a:rPr lang="en-IN" dirty="0">
                <a:solidFill>
                  <a:srgbClr val="FF0000"/>
                </a:solidFill>
              </a:rPr>
              <a:t>Example 3</a:t>
            </a:r>
          </a:p>
        </p:txBody>
      </p:sp>
      <p:sp>
        <p:nvSpPr>
          <p:cNvPr id="4" name="Date Placeholder 3">
            <a:extLst>
              <a:ext uri="{FF2B5EF4-FFF2-40B4-BE49-F238E27FC236}">
                <a16:creationId xmlns:a16="http://schemas.microsoft.com/office/drawing/2014/main" id="{4DCCB218-4B0E-7C28-EDE3-410882D7BE43}"/>
              </a:ext>
            </a:extLst>
          </p:cNvPr>
          <p:cNvSpPr>
            <a:spLocks noGrp="1"/>
          </p:cNvSpPr>
          <p:nvPr>
            <p:ph type="dt" idx="10"/>
          </p:nvPr>
        </p:nvSpPr>
        <p:spPr/>
        <p:txBody>
          <a:bodyPr/>
          <a:lstStyle/>
          <a:p>
            <a:fld id="{D1FBB12C-6AF2-404C-B802-656F1A988312}" type="datetime1">
              <a:rPr lang="en-IN" smtClean="0"/>
              <a:pPr/>
              <a:t>02-12-2025</a:t>
            </a:fld>
            <a:endParaRPr lang="en-IN" dirty="0"/>
          </a:p>
        </p:txBody>
      </p:sp>
      <p:sp>
        <p:nvSpPr>
          <p:cNvPr id="5" name="Footer Placeholder 4">
            <a:extLst>
              <a:ext uri="{FF2B5EF4-FFF2-40B4-BE49-F238E27FC236}">
                <a16:creationId xmlns:a16="http://schemas.microsoft.com/office/drawing/2014/main" id="{BFABAF1E-CC8D-8C0E-0CAF-C160B45FAF21}"/>
              </a:ext>
            </a:extLst>
          </p:cNvPr>
          <p:cNvSpPr>
            <a:spLocks noGrp="1"/>
          </p:cNvSpPr>
          <p:nvPr>
            <p:ph type="ftr" idx="11"/>
          </p:nvPr>
        </p:nvSpPr>
        <p:spPr/>
        <p:txBody>
          <a:bodyPr/>
          <a:lstStyle/>
          <a:p>
            <a:r>
              <a:rPr lang="en-IN"/>
              <a:t>Aggregate Planning</a:t>
            </a:r>
            <a:endParaRPr lang="en-IN" dirty="0"/>
          </a:p>
        </p:txBody>
      </p:sp>
      <p:sp>
        <p:nvSpPr>
          <p:cNvPr id="6" name="Slide Number Placeholder 5">
            <a:extLst>
              <a:ext uri="{FF2B5EF4-FFF2-40B4-BE49-F238E27FC236}">
                <a16:creationId xmlns:a16="http://schemas.microsoft.com/office/drawing/2014/main" id="{9AF69D4B-1D45-C553-3AF5-EA2DEB2950B0}"/>
              </a:ext>
            </a:extLst>
          </p:cNvPr>
          <p:cNvSpPr>
            <a:spLocks noGrp="1"/>
          </p:cNvSpPr>
          <p:nvPr>
            <p:ph type="sldNum" idx="12"/>
          </p:nvPr>
        </p:nvSpPr>
        <p:spPr/>
        <p:txBody>
          <a:bodyPr/>
          <a:lstStyle/>
          <a:p>
            <a:fld id="{00000000-1234-1234-1234-123412341234}" type="slidenum">
              <a:rPr lang="en-US" smtClean="0"/>
              <a:pPr/>
              <a:t>46</a:t>
            </a:fld>
            <a:endParaRPr lang="en-US" dirty="0"/>
          </a:p>
        </p:txBody>
      </p:sp>
      <p:sp>
        <p:nvSpPr>
          <p:cNvPr id="10" name="Content Placeholder 1">
            <a:extLst>
              <a:ext uri="{FF2B5EF4-FFF2-40B4-BE49-F238E27FC236}">
                <a16:creationId xmlns:a16="http://schemas.microsoft.com/office/drawing/2014/main" id="{A674CE3C-58F0-9E34-1B5C-C8CE59AA6D3D}"/>
              </a:ext>
            </a:extLst>
          </p:cNvPr>
          <p:cNvSpPr txBox="1">
            <a:spLocks/>
          </p:cNvSpPr>
          <p:nvPr/>
        </p:nvSpPr>
        <p:spPr>
          <a:xfrm>
            <a:off x="76200" y="999457"/>
            <a:ext cx="11927958"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Times New Roman" panose="02020603050405020304" pitchFamily="18" charset="0"/>
                <a:ea typeface="Century Gothic"/>
                <a:cs typeface="Times New Roman" panose="02020603050405020304" pitchFamily="18" charset="0"/>
                <a:sym typeface="Century Gothic"/>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algn="just"/>
            <a:r>
              <a:rPr lang="en-IN" sz="2400" dirty="0"/>
              <a:t>A Manufacturing Company uses overtime, inventory, and subcontracting to absorb fluctuations in demand. An aggregate production plan is devised annually and updated quarterly. Cost data, expected demand, and available capacities in units for the next four quarters are given here. Demand must be satisfied in the period it occurs; that is, no backordering is allowed. Design a production plan that will satisfy demand at minimum cost.</a:t>
            </a:r>
          </a:p>
        </p:txBody>
      </p:sp>
      <p:graphicFrame>
        <p:nvGraphicFramePr>
          <p:cNvPr id="11" name="Content Placeholder 3">
            <a:extLst>
              <a:ext uri="{FF2B5EF4-FFF2-40B4-BE49-F238E27FC236}">
                <a16:creationId xmlns:a16="http://schemas.microsoft.com/office/drawing/2014/main" id="{29BFDF0F-8076-7231-F16C-37EC0D75D2EB}"/>
              </a:ext>
            </a:extLst>
          </p:cNvPr>
          <p:cNvGraphicFramePr>
            <a:graphicFrameLocks/>
          </p:cNvGraphicFramePr>
          <p:nvPr>
            <p:extLst>
              <p:ext uri="{D42A27DB-BD31-4B8C-83A1-F6EECF244321}">
                <p14:modId xmlns:p14="http://schemas.microsoft.com/office/powerpoint/2010/main" val="2082645505"/>
              </p:ext>
            </p:extLst>
          </p:nvPr>
        </p:nvGraphicFramePr>
        <p:xfrm>
          <a:off x="187842" y="3500921"/>
          <a:ext cx="6627629" cy="2286000"/>
        </p:xfrm>
        <a:graphic>
          <a:graphicData uri="http://schemas.openxmlformats.org/drawingml/2006/table">
            <a:tbl>
              <a:tblPr firstRow="1" bandRow="1">
                <a:tableStyleId>{5C22544A-7EE6-4342-B048-85BDC9FD1C3A}</a:tableStyleId>
              </a:tblPr>
              <a:tblGrid>
                <a:gridCol w="1119963">
                  <a:extLst>
                    <a:ext uri="{9D8B030D-6E8A-4147-A177-3AD203B41FA5}">
                      <a16:colId xmlns:a16="http://schemas.microsoft.com/office/drawing/2014/main" val="20000"/>
                    </a:ext>
                  </a:extLst>
                </a:gridCol>
                <a:gridCol w="1212111">
                  <a:extLst>
                    <a:ext uri="{9D8B030D-6E8A-4147-A177-3AD203B41FA5}">
                      <a16:colId xmlns:a16="http://schemas.microsoft.com/office/drawing/2014/main" val="20001"/>
                    </a:ext>
                  </a:extLst>
                </a:gridCol>
                <a:gridCol w="1318437">
                  <a:extLst>
                    <a:ext uri="{9D8B030D-6E8A-4147-A177-3AD203B41FA5}">
                      <a16:colId xmlns:a16="http://schemas.microsoft.com/office/drawing/2014/main" val="20002"/>
                    </a:ext>
                  </a:extLst>
                </a:gridCol>
                <a:gridCol w="1254642">
                  <a:extLst>
                    <a:ext uri="{9D8B030D-6E8A-4147-A177-3AD203B41FA5}">
                      <a16:colId xmlns:a16="http://schemas.microsoft.com/office/drawing/2014/main" val="20003"/>
                    </a:ext>
                  </a:extLst>
                </a:gridCol>
                <a:gridCol w="1722476">
                  <a:extLst>
                    <a:ext uri="{9D8B030D-6E8A-4147-A177-3AD203B41FA5}">
                      <a16:colId xmlns:a16="http://schemas.microsoft.com/office/drawing/2014/main" val="20004"/>
                    </a:ext>
                  </a:extLst>
                </a:gridCol>
              </a:tblGrid>
              <a:tr h="370840">
                <a:tc>
                  <a:txBody>
                    <a:bodyPr/>
                    <a:lstStyle/>
                    <a:p>
                      <a:r>
                        <a:rPr lang="en-IN" sz="2000" b="1" i="0" u="none" strike="noStrike" kern="1200" baseline="0" dirty="0">
                          <a:solidFill>
                            <a:schemeClr val="lt1"/>
                          </a:solidFill>
                          <a:latin typeface="Times New Roman" panose="02020603050405020304" pitchFamily="18" charset="0"/>
                          <a:ea typeface="+mn-ea"/>
                          <a:cs typeface="Times New Roman" panose="02020603050405020304" pitchFamily="18" charset="0"/>
                        </a:rPr>
                        <a:t>Quarter</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latin typeface="Times New Roman" panose="02020603050405020304" pitchFamily="18" charset="0"/>
                          <a:cs typeface="Times New Roman" panose="02020603050405020304" pitchFamily="18" charset="0"/>
                        </a:rPr>
                        <a:t>Expected demand</a:t>
                      </a:r>
                    </a:p>
                  </a:txBody>
                  <a:tcPr/>
                </a:tc>
                <a:tc>
                  <a:txBody>
                    <a:bodyPr/>
                    <a:lstStyle/>
                    <a:p>
                      <a:r>
                        <a:rPr lang="en-IN" sz="2000" dirty="0">
                          <a:latin typeface="Times New Roman" panose="02020603050405020304" pitchFamily="18" charset="0"/>
                          <a:cs typeface="Times New Roman" panose="02020603050405020304" pitchFamily="18" charset="0"/>
                        </a:rPr>
                        <a:t>Regular capacity</a:t>
                      </a:r>
                    </a:p>
                  </a:txBody>
                  <a:tcPr/>
                </a:tc>
                <a:tc>
                  <a:txBody>
                    <a:bodyPr/>
                    <a:lstStyle/>
                    <a:p>
                      <a:r>
                        <a:rPr lang="en-IN" sz="2000" dirty="0">
                          <a:latin typeface="Times New Roman" panose="02020603050405020304" pitchFamily="18" charset="0"/>
                          <a:cs typeface="Times New Roman" panose="02020603050405020304" pitchFamily="18" charset="0"/>
                        </a:rPr>
                        <a:t>Overtime capacity</a:t>
                      </a:r>
                    </a:p>
                  </a:txBody>
                  <a:tcPr/>
                </a:tc>
                <a:tc>
                  <a:txBody>
                    <a:bodyPr/>
                    <a:lstStyle/>
                    <a:p>
                      <a:r>
                        <a:rPr lang="en-IN" sz="2000" dirty="0">
                          <a:latin typeface="Times New Roman" panose="02020603050405020304" pitchFamily="18" charset="0"/>
                          <a:cs typeface="Times New Roman" panose="02020603050405020304" pitchFamily="18" charset="0"/>
                        </a:rPr>
                        <a:t>Subcontract capacity</a:t>
                      </a:r>
                    </a:p>
                  </a:txBody>
                  <a:tcPr/>
                </a:tc>
                <a:extLst>
                  <a:ext uri="{0D108BD9-81ED-4DB2-BD59-A6C34878D82A}">
                    <a16:rowId xmlns:a16="http://schemas.microsoft.com/office/drawing/2014/main" val="10000"/>
                  </a:ext>
                </a:extLst>
              </a:tr>
              <a:tr h="370840">
                <a:tc>
                  <a:txBody>
                    <a:bodyPr/>
                    <a:lstStyle/>
                    <a:p>
                      <a:r>
                        <a:rPr lang="en-IN" sz="2000" dirty="0">
                          <a:latin typeface="Times New Roman" panose="02020603050405020304" pitchFamily="18" charset="0"/>
                          <a:cs typeface="Times New Roman" panose="02020603050405020304" pitchFamily="18" charset="0"/>
                        </a:rPr>
                        <a:t>1</a:t>
                      </a:r>
                    </a:p>
                  </a:txBody>
                  <a:tcPr/>
                </a:tc>
                <a:tc>
                  <a:txBody>
                    <a:bodyPr/>
                    <a:lstStyle/>
                    <a:p>
                      <a:r>
                        <a:rPr lang="en-IN" sz="2000" dirty="0">
                          <a:latin typeface="Times New Roman" panose="02020603050405020304" pitchFamily="18" charset="0"/>
                          <a:cs typeface="Times New Roman" panose="02020603050405020304" pitchFamily="18" charset="0"/>
                        </a:rPr>
                        <a:t>900</a:t>
                      </a:r>
                    </a:p>
                  </a:txBody>
                  <a:tcPr/>
                </a:tc>
                <a:tc>
                  <a:txBody>
                    <a:bodyPr/>
                    <a:lstStyle/>
                    <a:p>
                      <a:r>
                        <a:rPr lang="en-IN" sz="2000" dirty="0">
                          <a:latin typeface="Times New Roman" panose="02020603050405020304" pitchFamily="18" charset="0"/>
                          <a:cs typeface="Times New Roman" panose="02020603050405020304" pitchFamily="18" charset="0"/>
                        </a:rPr>
                        <a:t>1000</a:t>
                      </a:r>
                    </a:p>
                  </a:txBody>
                  <a:tcPr/>
                </a:tc>
                <a:tc>
                  <a:txBody>
                    <a:bodyPr/>
                    <a:lstStyle/>
                    <a:p>
                      <a:r>
                        <a:rPr lang="en-IN" sz="2000" dirty="0">
                          <a:latin typeface="Times New Roman" panose="02020603050405020304" pitchFamily="18" charset="0"/>
                          <a:cs typeface="Times New Roman" panose="02020603050405020304" pitchFamily="18" charset="0"/>
                        </a:rPr>
                        <a:t>100</a:t>
                      </a:r>
                    </a:p>
                  </a:txBody>
                  <a:tcPr/>
                </a:tc>
                <a:tc>
                  <a:txBody>
                    <a:bodyPr/>
                    <a:lstStyle/>
                    <a:p>
                      <a:r>
                        <a:rPr lang="en-IN" sz="2000" dirty="0">
                          <a:latin typeface="Times New Roman" panose="02020603050405020304" pitchFamily="18" charset="0"/>
                          <a:cs typeface="Times New Roman" panose="02020603050405020304" pitchFamily="18" charset="0"/>
                        </a:rPr>
                        <a:t>500</a:t>
                      </a:r>
                    </a:p>
                  </a:txBody>
                  <a:tcPr/>
                </a:tc>
                <a:extLst>
                  <a:ext uri="{0D108BD9-81ED-4DB2-BD59-A6C34878D82A}">
                    <a16:rowId xmlns:a16="http://schemas.microsoft.com/office/drawing/2014/main" val="10001"/>
                  </a:ext>
                </a:extLst>
              </a:tr>
              <a:tr h="370840">
                <a:tc>
                  <a:txBody>
                    <a:bodyPr/>
                    <a:lstStyle/>
                    <a:p>
                      <a:r>
                        <a:rPr lang="en-IN" sz="2000" dirty="0">
                          <a:latin typeface="Times New Roman" panose="02020603050405020304" pitchFamily="18" charset="0"/>
                          <a:cs typeface="Times New Roman" panose="02020603050405020304" pitchFamily="18" charset="0"/>
                        </a:rPr>
                        <a:t>2</a:t>
                      </a:r>
                    </a:p>
                  </a:txBody>
                  <a:tcPr/>
                </a:tc>
                <a:tc>
                  <a:txBody>
                    <a:bodyPr/>
                    <a:lstStyle/>
                    <a:p>
                      <a:r>
                        <a:rPr lang="en-IN" sz="2000" dirty="0">
                          <a:latin typeface="Times New Roman" panose="02020603050405020304" pitchFamily="18" charset="0"/>
                          <a:cs typeface="Times New Roman" panose="02020603050405020304" pitchFamily="18" charset="0"/>
                        </a:rPr>
                        <a:t>1500</a:t>
                      </a:r>
                    </a:p>
                  </a:txBody>
                  <a:tcPr/>
                </a:tc>
                <a:tc>
                  <a:txBody>
                    <a:bodyPr/>
                    <a:lstStyle/>
                    <a:p>
                      <a:r>
                        <a:rPr lang="en-IN" sz="2000" dirty="0">
                          <a:latin typeface="Times New Roman" panose="02020603050405020304" pitchFamily="18" charset="0"/>
                          <a:cs typeface="Times New Roman" panose="02020603050405020304" pitchFamily="18" charset="0"/>
                        </a:rPr>
                        <a:t>1200</a:t>
                      </a:r>
                    </a:p>
                  </a:txBody>
                  <a:tcPr/>
                </a:tc>
                <a:tc>
                  <a:txBody>
                    <a:bodyPr/>
                    <a:lstStyle/>
                    <a:p>
                      <a:r>
                        <a:rPr lang="en-IN" sz="2000" dirty="0">
                          <a:latin typeface="Times New Roman" panose="02020603050405020304" pitchFamily="18" charset="0"/>
                          <a:cs typeface="Times New Roman" panose="02020603050405020304" pitchFamily="18" charset="0"/>
                        </a:rPr>
                        <a:t>150</a:t>
                      </a:r>
                    </a:p>
                  </a:txBody>
                  <a:tcPr/>
                </a:tc>
                <a:tc>
                  <a:txBody>
                    <a:bodyPr/>
                    <a:lstStyle/>
                    <a:p>
                      <a:r>
                        <a:rPr lang="en-IN" sz="2000" dirty="0">
                          <a:latin typeface="Times New Roman" panose="02020603050405020304" pitchFamily="18" charset="0"/>
                          <a:cs typeface="Times New Roman" panose="02020603050405020304" pitchFamily="18" charset="0"/>
                        </a:rPr>
                        <a:t>500</a:t>
                      </a:r>
                    </a:p>
                  </a:txBody>
                  <a:tcPr/>
                </a:tc>
                <a:extLst>
                  <a:ext uri="{0D108BD9-81ED-4DB2-BD59-A6C34878D82A}">
                    <a16:rowId xmlns:a16="http://schemas.microsoft.com/office/drawing/2014/main" val="10002"/>
                  </a:ext>
                </a:extLst>
              </a:tr>
              <a:tr h="370840">
                <a:tc>
                  <a:txBody>
                    <a:bodyPr/>
                    <a:lstStyle/>
                    <a:p>
                      <a:r>
                        <a:rPr lang="en-IN" sz="2000" dirty="0">
                          <a:latin typeface="Times New Roman" panose="02020603050405020304" pitchFamily="18" charset="0"/>
                          <a:cs typeface="Times New Roman" panose="02020603050405020304" pitchFamily="18" charset="0"/>
                        </a:rPr>
                        <a:t>3</a:t>
                      </a:r>
                    </a:p>
                  </a:txBody>
                  <a:tcPr/>
                </a:tc>
                <a:tc>
                  <a:txBody>
                    <a:bodyPr/>
                    <a:lstStyle/>
                    <a:p>
                      <a:r>
                        <a:rPr lang="en-IN" sz="2000" dirty="0">
                          <a:latin typeface="Times New Roman" panose="02020603050405020304" pitchFamily="18" charset="0"/>
                          <a:cs typeface="Times New Roman" panose="02020603050405020304" pitchFamily="18" charset="0"/>
                        </a:rPr>
                        <a:t>1600</a:t>
                      </a:r>
                    </a:p>
                  </a:txBody>
                  <a:tcPr/>
                </a:tc>
                <a:tc>
                  <a:txBody>
                    <a:bodyPr/>
                    <a:lstStyle/>
                    <a:p>
                      <a:r>
                        <a:rPr lang="en-IN" sz="2000" dirty="0">
                          <a:latin typeface="Times New Roman" panose="02020603050405020304" pitchFamily="18" charset="0"/>
                          <a:cs typeface="Times New Roman" panose="02020603050405020304" pitchFamily="18" charset="0"/>
                        </a:rPr>
                        <a:t>1300</a:t>
                      </a:r>
                    </a:p>
                  </a:txBody>
                  <a:tcPr/>
                </a:tc>
                <a:tc>
                  <a:txBody>
                    <a:bodyPr/>
                    <a:lstStyle/>
                    <a:p>
                      <a:r>
                        <a:rPr lang="en-IN" sz="2000" dirty="0">
                          <a:latin typeface="Times New Roman" panose="02020603050405020304" pitchFamily="18" charset="0"/>
                          <a:cs typeface="Times New Roman" panose="02020603050405020304" pitchFamily="18" charset="0"/>
                        </a:rPr>
                        <a:t>200</a:t>
                      </a:r>
                    </a:p>
                  </a:txBody>
                  <a:tcPr/>
                </a:tc>
                <a:tc>
                  <a:txBody>
                    <a:bodyPr/>
                    <a:lstStyle/>
                    <a:p>
                      <a:r>
                        <a:rPr lang="en-IN" sz="2000">
                          <a:latin typeface="Times New Roman" panose="02020603050405020304" pitchFamily="18" charset="0"/>
                          <a:cs typeface="Times New Roman" panose="02020603050405020304" pitchFamily="18" charset="0"/>
                        </a:rPr>
                        <a:t>500</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r h="370840">
                <a:tc>
                  <a:txBody>
                    <a:bodyPr/>
                    <a:lstStyle/>
                    <a:p>
                      <a:r>
                        <a:rPr lang="en-IN" sz="2000" dirty="0">
                          <a:latin typeface="Times New Roman" panose="02020603050405020304" pitchFamily="18" charset="0"/>
                          <a:cs typeface="Times New Roman" panose="02020603050405020304" pitchFamily="18" charset="0"/>
                        </a:rPr>
                        <a:t>4</a:t>
                      </a:r>
                    </a:p>
                  </a:txBody>
                  <a:tcPr/>
                </a:tc>
                <a:tc>
                  <a:txBody>
                    <a:bodyPr/>
                    <a:lstStyle/>
                    <a:p>
                      <a:r>
                        <a:rPr lang="en-IN" sz="2000" dirty="0">
                          <a:latin typeface="Times New Roman" panose="02020603050405020304" pitchFamily="18" charset="0"/>
                          <a:cs typeface="Times New Roman" panose="02020603050405020304" pitchFamily="18" charset="0"/>
                        </a:rPr>
                        <a:t>3000</a:t>
                      </a:r>
                    </a:p>
                  </a:txBody>
                  <a:tcPr/>
                </a:tc>
                <a:tc>
                  <a:txBody>
                    <a:bodyPr/>
                    <a:lstStyle/>
                    <a:p>
                      <a:r>
                        <a:rPr lang="en-IN" sz="2000" dirty="0">
                          <a:latin typeface="Times New Roman" panose="02020603050405020304" pitchFamily="18" charset="0"/>
                          <a:cs typeface="Times New Roman" panose="02020603050405020304" pitchFamily="18" charset="0"/>
                        </a:rPr>
                        <a:t>1300</a:t>
                      </a:r>
                    </a:p>
                  </a:txBody>
                  <a:tcPr/>
                </a:tc>
                <a:tc>
                  <a:txBody>
                    <a:bodyPr/>
                    <a:lstStyle/>
                    <a:p>
                      <a:r>
                        <a:rPr lang="en-IN" sz="2000" dirty="0">
                          <a:latin typeface="Times New Roman" panose="02020603050405020304" pitchFamily="18" charset="0"/>
                          <a:cs typeface="Times New Roman" panose="02020603050405020304" pitchFamily="18" charset="0"/>
                        </a:rPr>
                        <a:t>200</a:t>
                      </a:r>
                    </a:p>
                  </a:txBody>
                  <a:tcPr/>
                </a:tc>
                <a:tc>
                  <a:txBody>
                    <a:bodyPr/>
                    <a:lstStyle/>
                    <a:p>
                      <a:r>
                        <a:rPr lang="en-IN" sz="2000" dirty="0">
                          <a:latin typeface="Times New Roman" panose="02020603050405020304" pitchFamily="18" charset="0"/>
                          <a:cs typeface="Times New Roman" panose="02020603050405020304" pitchFamily="18" charset="0"/>
                        </a:rPr>
                        <a:t>500</a:t>
                      </a:r>
                    </a:p>
                  </a:txBody>
                  <a:tcPr/>
                </a:tc>
                <a:extLst>
                  <a:ext uri="{0D108BD9-81ED-4DB2-BD59-A6C34878D82A}">
                    <a16:rowId xmlns:a16="http://schemas.microsoft.com/office/drawing/2014/main" val="10004"/>
                  </a:ext>
                </a:extLst>
              </a:tr>
            </a:tbl>
          </a:graphicData>
        </a:graphic>
      </p:graphicFrame>
      <p:sp>
        <p:nvSpPr>
          <p:cNvPr id="12" name="Rectangle 11">
            <a:extLst>
              <a:ext uri="{FF2B5EF4-FFF2-40B4-BE49-F238E27FC236}">
                <a16:creationId xmlns:a16="http://schemas.microsoft.com/office/drawing/2014/main" id="{70FF4203-AF7C-413D-64F1-85400996F778}"/>
              </a:ext>
            </a:extLst>
          </p:cNvPr>
          <p:cNvSpPr/>
          <p:nvPr/>
        </p:nvSpPr>
        <p:spPr>
          <a:xfrm>
            <a:off x="6933756" y="3500921"/>
            <a:ext cx="5109830" cy="2308324"/>
          </a:xfrm>
          <a:prstGeom prst="rect">
            <a:avLst/>
          </a:prstGeom>
          <a:solidFill>
            <a:schemeClr val="tx2">
              <a:lumMod val="40000"/>
              <a:lumOff val="60000"/>
            </a:schemeClr>
          </a:solidFill>
          <a:ln>
            <a:solidFill>
              <a:schemeClr val="tx1"/>
            </a:solidFill>
          </a:ln>
        </p:spPr>
        <p:txBody>
          <a:bodyPr wrap="square">
            <a:spAutoFit/>
          </a:bodyPr>
          <a:lstStyle/>
          <a:p>
            <a:r>
              <a:rPr lang="en-IN" sz="2400" dirty="0">
                <a:latin typeface="Times New Roman" panose="02020603050405020304" pitchFamily="18" charset="0"/>
                <a:cs typeface="Times New Roman" panose="02020603050405020304" pitchFamily="18" charset="0"/>
              </a:rPr>
              <a:t>Regular production cost per unit =$20; </a:t>
            </a:r>
          </a:p>
          <a:p>
            <a:r>
              <a:rPr lang="en-IN" sz="2400" dirty="0">
                <a:latin typeface="Times New Roman" panose="02020603050405020304" pitchFamily="18" charset="0"/>
                <a:cs typeface="Times New Roman" panose="02020603050405020304" pitchFamily="18" charset="0"/>
              </a:rPr>
              <a:t>Overtime production cost per unit =$25</a:t>
            </a:r>
          </a:p>
          <a:p>
            <a:r>
              <a:rPr lang="en-IN" sz="2400" dirty="0">
                <a:latin typeface="Times New Roman" panose="02020603050405020304" pitchFamily="18" charset="0"/>
                <a:cs typeface="Times New Roman" panose="02020603050405020304" pitchFamily="18" charset="0"/>
              </a:rPr>
              <a:t>Subcontracting cost per unit =$28; </a:t>
            </a:r>
          </a:p>
          <a:p>
            <a:r>
              <a:rPr lang="en-IN" sz="2400" dirty="0">
                <a:latin typeface="Times New Roman" panose="02020603050405020304" pitchFamily="18" charset="0"/>
                <a:cs typeface="Times New Roman" panose="02020603050405020304" pitchFamily="18" charset="0"/>
              </a:rPr>
              <a:t>Inventory holding cost per unit per period= $ 3</a:t>
            </a:r>
          </a:p>
          <a:p>
            <a:r>
              <a:rPr lang="en-IN" sz="2400" dirty="0">
                <a:latin typeface="Times New Roman" panose="02020603050405020304" pitchFamily="18" charset="0"/>
                <a:cs typeface="Times New Roman" panose="02020603050405020304" pitchFamily="18" charset="0"/>
              </a:rPr>
              <a:t>Beginning inventory = 300 units</a:t>
            </a:r>
          </a:p>
        </p:txBody>
      </p:sp>
    </p:spTree>
    <p:extLst>
      <p:ext uri="{BB962C8B-B14F-4D97-AF65-F5344CB8AC3E}">
        <p14:creationId xmlns:p14="http://schemas.microsoft.com/office/powerpoint/2010/main" val="39972440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1ED32-7566-AB3F-E4DA-143FFCC45100}"/>
              </a:ext>
            </a:extLst>
          </p:cNvPr>
          <p:cNvSpPr>
            <a:spLocks noGrp="1"/>
          </p:cNvSpPr>
          <p:nvPr>
            <p:ph type="title"/>
          </p:nvPr>
        </p:nvSpPr>
        <p:spPr/>
        <p:txBody>
          <a:bodyPr/>
          <a:lstStyle/>
          <a:p>
            <a:r>
              <a:rPr lang="en-IN" dirty="0"/>
              <a:t>Transportation Method</a:t>
            </a:r>
          </a:p>
        </p:txBody>
      </p:sp>
      <p:sp>
        <p:nvSpPr>
          <p:cNvPr id="4" name="Date Placeholder 3">
            <a:extLst>
              <a:ext uri="{FF2B5EF4-FFF2-40B4-BE49-F238E27FC236}">
                <a16:creationId xmlns:a16="http://schemas.microsoft.com/office/drawing/2014/main" id="{C20A3223-472E-9A88-C314-1ECD96CFF15F}"/>
              </a:ext>
            </a:extLst>
          </p:cNvPr>
          <p:cNvSpPr>
            <a:spLocks noGrp="1"/>
          </p:cNvSpPr>
          <p:nvPr>
            <p:ph type="dt" idx="10"/>
          </p:nvPr>
        </p:nvSpPr>
        <p:spPr/>
        <p:txBody>
          <a:bodyPr/>
          <a:lstStyle/>
          <a:p>
            <a:fld id="{D1FBB12C-6AF2-404C-B802-656F1A988312}" type="datetime1">
              <a:rPr lang="en-IN" smtClean="0"/>
              <a:pPr/>
              <a:t>02-12-2025</a:t>
            </a:fld>
            <a:endParaRPr lang="en-IN" dirty="0"/>
          </a:p>
        </p:txBody>
      </p:sp>
      <p:sp>
        <p:nvSpPr>
          <p:cNvPr id="5" name="Footer Placeholder 4">
            <a:extLst>
              <a:ext uri="{FF2B5EF4-FFF2-40B4-BE49-F238E27FC236}">
                <a16:creationId xmlns:a16="http://schemas.microsoft.com/office/drawing/2014/main" id="{7F1272AF-F8AB-AA1C-2BC8-439C75B82751}"/>
              </a:ext>
            </a:extLst>
          </p:cNvPr>
          <p:cNvSpPr>
            <a:spLocks noGrp="1"/>
          </p:cNvSpPr>
          <p:nvPr>
            <p:ph type="ftr" idx="11"/>
          </p:nvPr>
        </p:nvSpPr>
        <p:spPr/>
        <p:txBody>
          <a:bodyPr/>
          <a:lstStyle/>
          <a:p>
            <a:r>
              <a:rPr lang="en-IN"/>
              <a:t>Aggregate Planning</a:t>
            </a:r>
            <a:endParaRPr lang="en-IN" dirty="0"/>
          </a:p>
        </p:txBody>
      </p:sp>
      <p:sp>
        <p:nvSpPr>
          <p:cNvPr id="6" name="Slide Number Placeholder 5">
            <a:extLst>
              <a:ext uri="{FF2B5EF4-FFF2-40B4-BE49-F238E27FC236}">
                <a16:creationId xmlns:a16="http://schemas.microsoft.com/office/drawing/2014/main" id="{9E72929B-C7A0-629E-D90A-76511F341615}"/>
              </a:ext>
            </a:extLst>
          </p:cNvPr>
          <p:cNvSpPr>
            <a:spLocks noGrp="1"/>
          </p:cNvSpPr>
          <p:nvPr>
            <p:ph type="sldNum" idx="12"/>
          </p:nvPr>
        </p:nvSpPr>
        <p:spPr/>
        <p:txBody>
          <a:bodyPr/>
          <a:lstStyle/>
          <a:p>
            <a:fld id="{00000000-1234-1234-1234-123412341234}" type="slidenum">
              <a:rPr lang="en-US" smtClean="0"/>
              <a:pPr/>
              <a:t>47</a:t>
            </a:fld>
            <a:endParaRPr lang="en-US" dirty="0"/>
          </a:p>
        </p:txBody>
      </p:sp>
      <p:pic>
        <p:nvPicPr>
          <p:cNvPr id="8" name="Picture 2">
            <a:extLst>
              <a:ext uri="{FF2B5EF4-FFF2-40B4-BE49-F238E27FC236}">
                <a16:creationId xmlns:a16="http://schemas.microsoft.com/office/drawing/2014/main" id="{A362E755-437E-1AE0-A8A4-5DFBA93936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3348" y="982721"/>
            <a:ext cx="7543800" cy="51498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a:extLst>
              <a:ext uri="{FF2B5EF4-FFF2-40B4-BE49-F238E27FC236}">
                <a16:creationId xmlns:a16="http://schemas.microsoft.com/office/drawing/2014/main" id="{F11E9BE7-DAE5-3B70-E848-D9EE062D5D5E}"/>
              </a:ext>
            </a:extLst>
          </p:cNvPr>
          <p:cNvSpPr/>
          <p:nvPr/>
        </p:nvSpPr>
        <p:spPr>
          <a:xfrm>
            <a:off x="4306186" y="1881963"/>
            <a:ext cx="659219" cy="115894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9" name="Straight Connector 8">
            <a:extLst>
              <a:ext uri="{FF2B5EF4-FFF2-40B4-BE49-F238E27FC236}">
                <a16:creationId xmlns:a16="http://schemas.microsoft.com/office/drawing/2014/main" id="{7C557FEF-371F-DEA8-AF3A-AD7C6DC0E498}"/>
              </a:ext>
            </a:extLst>
          </p:cNvPr>
          <p:cNvCxnSpPr/>
          <p:nvPr/>
        </p:nvCxnSpPr>
        <p:spPr>
          <a:xfrm>
            <a:off x="9069571" y="1988289"/>
            <a:ext cx="46783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4615DFC2-5A9C-B77B-C892-F6008D105C14}"/>
              </a:ext>
            </a:extLst>
          </p:cNvPr>
          <p:cNvSpPr/>
          <p:nvPr/>
        </p:nvSpPr>
        <p:spPr>
          <a:xfrm>
            <a:off x="5550195" y="2119427"/>
            <a:ext cx="340242" cy="180398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 name="Rectangle 10">
            <a:extLst>
              <a:ext uri="{FF2B5EF4-FFF2-40B4-BE49-F238E27FC236}">
                <a16:creationId xmlns:a16="http://schemas.microsoft.com/office/drawing/2014/main" id="{91F798D7-6BB2-A966-E662-05D72A6392AF}"/>
              </a:ext>
            </a:extLst>
          </p:cNvPr>
          <p:cNvSpPr/>
          <p:nvPr/>
        </p:nvSpPr>
        <p:spPr>
          <a:xfrm>
            <a:off x="6500042" y="2112334"/>
            <a:ext cx="340242" cy="273611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12" name="Straight Connector 11">
            <a:extLst>
              <a:ext uri="{FF2B5EF4-FFF2-40B4-BE49-F238E27FC236}">
                <a16:creationId xmlns:a16="http://schemas.microsoft.com/office/drawing/2014/main" id="{742FDCC0-3A11-80C9-290F-693B1C04992C}"/>
              </a:ext>
            </a:extLst>
          </p:cNvPr>
          <p:cNvCxnSpPr/>
          <p:nvPr/>
        </p:nvCxnSpPr>
        <p:spPr>
          <a:xfrm>
            <a:off x="9030585" y="3214577"/>
            <a:ext cx="46783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F2C47BB-8CB8-36D4-E1AA-92C6DD24C219}"/>
              </a:ext>
            </a:extLst>
          </p:cNvPr>
          <p:cNvCxnSpPr/>
          <p:nvPr/>
        </p:nvCxnSpPr>
        <p:spPr>
          <a:xfrm>
            <a:off x="9034129" y="4121896"/>
            <a:ext cx="46783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7BCD206-081B-25B4-5C60-F1F6BDDAC4DD}"/>
              </a:ext>
            </a:extLst>
          </p:cNvPr>
          <p:cNvCxnSpPr/>
          <p:nvPr/>
        </p:nvCxnSpPr>
        <p:spPr>
          <a:xfrm>
            <a:off x="9069570" y="4430233"/>
            <a:ext cx="46783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A981AB8-7EBF-A02C-C3FC-C02F5D8431C6}"/>
              </a:ext>
            </a:extLst>
          </p:cNvPr>
          <p:cNvCxnSpPr/>
          <p:nvPr/>
        </p:nvCxnSpPr>
        <p:spPr>
          <a:xfrm>
            <a:off x="9030584" y="2293089"/>
            <a:ext cx="46783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B41E6E46-FACF-E768-CA79-06D466B4B273}"/>
              </a:ext>
            </a:extLst>
          </p:cNvPr>
          <p:cNvSpPr/>
          <p:nvPr/>
        </p:nvSpPr>
        <p:spPr>
          <a:xfrm>
            <a:off x="7352416" y="2486247"/>
            <a:ext cx="340242" cy="325533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17" name="Straight Connector 16">
            <a:extLst>
              <a:ext uri="{FF2B5EF4-FFF2-40B4-BE49-F238E27FC236}">
                <a16:creationId xmlns:a16="http://schemas.microsoft.com/office/drawing/2014/main" id="{AA69B2F1-C4F5-B366-1C28-20BF215396A0}"/>
              </a:ext>
            </a:extLst>
          </p:cNvPr>
          <p:cNvCxnSpPr/>
          <p:nvPr/>
        </p:nvCxnSpPr>
        <p:spPr>
          <a:xfrm>
            <a:off x="9030584" y="5039833"/>
            <a:ext cx="46783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44C9EA3-2699-DB03-E8C9-C67EB2303610}"/>
              </a:ext>
            </a:extLst>
          </p:cNvPr>
          <p:cNvCxnSpPr/>
          <p:nvPr/>
        </p:nvCxnSpPr>
        <p:spPr>
          <a:xfrm>
            <a:off x="9030584" y="5348177"/>
            <a:ext cx="46783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8E454C5-3C3D-F4AD-1379-014202BCE920}"/>
              </a:ext>
            </a:extLst>
          </p:cNvPr>
          <p:cNvCxnSpPr/>
          <p:nvPr/>
        </p:nvCxnSpPr>
        <p:spPr>
          <a:xfrm>
            <a:off x="9030584" y="5656523"/>
            <a:ext cx="46783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A03FE2A-C124-207A-9C33-0AC9C5DB2D1E}"/>
              </a:ext>
            </a:extLst>
          </p:cNvPr>
          <p:cNvCxnSpPr/>
          <p:nvPr/>
        </p:nvCxnSpPr>
        <p:spPr>
          <a:xfrm>
            <a:off x="9069570" y="3519378"/>
            <a:ext cx="46783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CA24FAB-DF33-BE71-B1AD-6C1456F9CBEB}"/>
              </a:ext>
            </a:extLst>
          </p:cNvPr>
          <p:cNvCxnSpPr/>
          <p:nvPr/>
        </p:nvCxnSpPr>
        <p:spPr>
          <a:xfrm>
            <a:off x="9069570" y="2604977"/>
            <a:ext cx="46783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271E581-B7A3-1779-15ED-6088071E0599}"/>
              </a:ext>
            </a:extLst>
          </p:cNvPr>
          <p:cNvCxnSpPr/>
          <p:nvPr/>
        </p:nvCxnSpPr>
        <p:spPr>
          <a:xfrm>
            <a:off x="9030584" y="4745667"/>
            <a:ext cx="46783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8DDEDFB-B660-BB1B-A919-BAE23EC80AC8}"/>
              </a:ext>
            </a:extLst>
          </p:cNvPr>
          <p:cNvCxnSpPr/>
          <p:nvPr/>
        </p:nvCxnSpPr>
        <p:spPr>
          <a:xfrm>
            <a:off x="9030584" y="3802913"/>
            <a:ext cx="467833" cy="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4796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xit" presetSubtype="10" fill="hold" grpId="1" nodeType="clickEffect">
                                  <p:stCondLst>
                                    <p:cond delay="0"/>
                                  </p:stCondLst>
                                  <p:childTnLst>
                                    <p:animEffect transition="out" filter="blinds(horizontal)">
                                      <p:cBhvr>
                                        <p:cTn id="14" dur="10"/>
                                        <p:tgtEl>
                                          <p:spTgt spid="3"/>
                                        </p:tgtEl>
                                      </p:cBhvr>
                                    </p:animEffect>
                                    <p:set>
                                      <p:cBhvr>
                                        <p:cTn id="15" dur="1" fill="hold">
                                          <p:stCondLst>
                                            <p:cond delay="9"/>
                                          </p:stCondLst>
                                        </p:cTn>
                                        <p:tgtEl>
                                          <p:spTgt spid="3"/>
                                        </p:tgtEl>
                                        <p:attrNameLst>
                                          <p:attrName>style.visibility</p:attrName>
                                        </p:attrNameLst>
                                      </p:cBhvr>
                                      <p:to>
                                        <p:strVal val="hidden"/>
                                      </p:to>
                                    </p:set>
                                  </p:childTnLst>
                                </p:cTn>
                              </p:par>
                              <p:par>
                                <p:cTn id="16" presetID="1"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childTnLst>
                                </p:cTn>
                              </p:par>
                              <p:par>
                                <p:cTn id="26" presetID="1" presetClass="exit" presetSubtype="0" fill="hold" grpId="1" nodeType="withEffect">
                                  <p:stCondLst>
                                    <p:cond delay="0"/>
                                  </p:stCondLst>
                                  <p:childTnLst>
                                    <p:set>
                                      <p:cBhvr>
                                        <p:cTn id="27" dur="1" fill="hold">
                                          <p:stCondLst>
                                            <p:cond delay="0"/>
                                          </p:stCondLst>
                                        </p:cTn>
                                        <p:tgtEl>
                                          <p:spTgt spid="10"/>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14"/>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15"/>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16"/>
                                        </p:tgtEl>
                                        <p:attrNameLst>
                                          <p:attrName>style.visibility</p:attrName>
                                        </p:attrNameLst>
                                      </p:cBhvr>
                                      <p:to>
                                        <p:strVal val="visible"/>
                                      </p:to>
                                    </p:set>
                                  </p:childTnLst>
                                </p:cTn>
                              </p:par>
                              <p:par>
                                <p:cTn id="44" presetID="1" presetClass="exit" presetSubtype="0" fill="hold" grpId="1" nodeType="withEffect">
                                  <p:stCondLst>
                                    <p:cond delay="0"/>
                                  </p:stCondLst>
                                  <p:childTnLst>
                                    <p:set>
                                      <p:cBhvr>
                                        <p:cTn id="45" dur="1" fill="hold">
                                          <p:stCondLst>
                                            <p:cond delay="0"/>
                                          </p:stCondLst>
                                        </p:cTn>
                                        <p:tgtEl>
                                          <p:spTgt spid="11"/>
                                        </p:tgtEl>
                                        <p:attrNameLst>
                                          <p:attrName>style.visibility</p:attrName>
                                        </p:attrNameLst>
                                      </p:cBhvr>
                                      <p:to>
                                        <p:strVal val="hidden"/>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17"/>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18"/>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0"/>
                                          </p:stCondLst>
                                        </p:cTn>
                                        <p:tgtEl>
                                          <p:spTgt spid="19"/>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22"/>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20"/>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nodeType="clickEffect">
                                  <p:stCondLst>
                                    <p:cond delay="0"/>
                                  </p:stCondLst>
                                  <p:childTnLst>
                                    <p:set>
                                      <p:cBhvr>
                                        <p:cTn id="69" dur="1" fill="hold">
                                          <p:stCondLst>
                                            <p:cond delay="0"/>
                                          </p:stCondLst>
                                        </p:cTn>
                                        <p:tgtEl>
                                          <p:spTgt spid="21"/>
                                        </p:tgtEl>
                                        <p:attrNameLst>
                                          <p:attrName>style.visibility</p:attrName>
                                        </p:attrNameLst>
                                      </p:cBhvr>
                                      <p:to>
                                        <p:strVal val="visible"/>
                                      </p:to>
                                    </p:set>
                                  </p:childTnLst>
                                </p:cTn>
                              </p:par>
                            </p:childTnLst>
                          </p:cTn>
                        </p:par>
                        <p:par>
                          <p:cTn id="70" fill="hold">
                            <p:stCondLst>
                              <p:cond delay="0"/>
                            </p:stCondLst>
                            <p:childTnLst>
                              <p:par>
                                <p:cTn id="71" presetID="1" presetClass="entr" presetSubtype="0" fill="hold" nodeType="afterEffect">
                                  <p:stCondLst>
                                    <p:cond delay="0"/>
                                  </p:stCondLst>
                                  <p:childTnLst>
                                    <p:set>
                                      <p:cBhvr>
                                        <p:cTn id="7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10" grpId="0" animBg="1"/>
      <p:bldP spid="10" grpId="1" animBg="1"/>
      <p:bldP spid="11" grpId="0" animBg="1"/>
      <p:bldP spid="11" grpId="1" animBg="1"/>
      <p:bldP spid="16"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4D891-744E-492C-99D0-43B66434BA4D}"/>
              </a:ext>
            </a:extLst>
          </p:cNvPr>
          <p:cNvSpPr>
            <a:spLocks noGrp="1"/>
          </p:cNvSpPr>
          <p:nvPr>
            <p:ph type="title"/>
          </p:nvPr>
        </p:nvSpPr>
        <p:spPr/>
        <p:txBody>
          <a:bodyPr/>
          <a:lstStyle/>
          <a:p>
            <a:r>
              <a:rPr lang="en-IN" dirty="0"/>
              <a:t>Transportation Method</a:t>
            </a:r>
          </a:p>
        </p:txBody>
      </p:sp>
      <p:sp>
        <p:nvSpPr>
          <p:cNvPr id="4" name="Date Placeholder 3">
            <a:extLst>
              <a:ext uri="{FF2B5EF4-FFF2-40B4-BE49-F238E27FC236}">
                <a16:creationId xmlns:a16="http://schemas.microsoft.com/office/drawing/2014/main" id="{FD327F05-60B9-E14A-1897-A9F9AF30000A}"/>
              </a:ext>
            </a:extLst>
          </p:cNvPr>
          <p:cNvSpPr>
            <a:spLocks noGrp="1"/>
          </p:cNvSpPr>
          <p:nvPr>
            <p:ph type="dt" idx="10"/>
          </p:nvPr>
        </p:nvSpPr>
        <p:spPr/>
        <p:txBody>
          <a:bodyPr/>
          <a:lstStyle/>
          <a:p>
            <a:fld id="{D1FBB12C-6AF2-404C-B802-656F1A988312}" type="datetime1">
              <a:rPr lang="en-IN" smtClean="0"/>
              <a:pPr/>
              <a:t>02-12-2025</a:t>
            </a:fld>
            <a:endParaRPr lang="en-IN" dirty="0"/>
          </a:p>
        </p:txBody>
      </p:sp>
      <p:sp>
        <p:nvSpPr>
          <p:cNvPr id="5" name="Footer Placeholder 4">
            <a:extLst>
              <a:ext uri="{FF2B5EF4-FFF2-40B4-BE49-F238E27FC236}">
                <a16:creationId xmlns:a16="http://schemas.microsoft.com/office/drawing/2014/main" id="{13C5C1A1-6BD7-943B-29A1-BF93A0DF632A}"/>
              </a:ext>
            </a:extLst>
          </p:cNvPr>
          <p:cNvSpPr>
            <a:spLocks noGrp="1"/>
          </p:cNvSpPr>
          <p:nvPr>
            <p:ph type="ftr" idx="11"/>
          </p:nvPr>
        </p:nvSpPr>
        <p:spPr/>
        <p:txBody>
          <a:bodyPr/>
          <a:lstStyle/>
          <a:p>
            <a:r>
              <a:rPr lang="en-IN"/>
              <a:t>Aggregate Planning</a:t>
            </a:r>
            <a:endParaRPr lang="en-IN" dirty="0"/>
          </a:p>
        </p:txBody>
      </p:sp>
      <p:sp>
        <p:nvSpPr>
          <p:cNvPr id="6" name="Slide Number Placeholder 5">
            <a:extLst>
              <a:ext uri="{FF2B5EF4-FFF2-40B4-BE49-F238E27FC236}">
                <a16:creationId xmlns:a16="http://schemas.microsoft.com/office/drawing/2014/main" id="{C7EC570B-D112-740F-C322-6364AE99BCDB}"/>
              </a:ext>
            </a:extLst>
          </p:cNvPr>
          <p:cNvSpPr>
            <a:spLocks noGrp="1"/>
          </p:cNvSpPr>
          <p:nvPr>
            <p:ph type="sldNum" idx="12"/>
          </p:nvPr>
        </p:nvSpPr>
        <p:spPr/>
        <p:txBody>
          <a:bodyPr/>
          <a:lstStyle/>
          <a:p>
            <a:fld id="{00000000-1234-1234-1234-123412341234}" type="slidenum">
              <a:rPr lang="en-US" smtClean="0"/>
              <a:pPr/>
              <a:t>48</a:t>
            </a:fld>
            <a:endParaRPr lang="en-US" dirty="0"/>
          </a:p>
        </p:txBody>
      </p:sp>
      <p:pic>
        <p:nvPicPr>
          <p:cNvPr id="7" name="Picture 2">
            <a:extLst>
              <a:ext uri="{FF2B5EF4-FFF2-40B4-BE49-F238E27FC236}">
                <a16:creationId xmlns:a16="http://schemas.microsoft.com/office/drawing/2014/main" id="{B48891F6-D7AB-DD32-1B67-353EA95BAB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8441" y="1010094"/>
            <a:ext cx="8210601" cy="35909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3">
            <a:extLst>
              <a:ext uri="{FF2B5EF4-FFF2-40B4-BE49-F238E27FC236}">
                <a16:creationId xmlns:a16="http://schemas.microsoft.com/office/drawing/2014/main" id="{6A1690ED-35A6-DDD3-7DBC-AC1DD00D4A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7375" y="4643552"/>
            <a:ext cx="7697469" cy="153396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4">
            <a:extLst>
              <a:ext uri="{FF2B5EF4-FFF2-40B4-BE49-F238E27FC236}">
                <a16:creationId xmlns:a16="http://schemas.microsoft.com/office/drawing/2014/main" id="{6FCFED2B-A153-902B-BC80-43FA4FBC527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127" y="5305647"/>
            <a:ext cx="11324344" cy="57793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15332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xit" presetSubtype="10" fill="hold" nodeType="clickEffect">
                                  <p:stCondLst>
                                    <p:cond delay="0"/>
                                  </p:stCondLst>
                                  <p:childTnLst>
                                    <p:animEffect transition="out" filter="blinds(horizontal)">
                                      <p:cBhvr>
                                        <p:cTn id="14" dur="10"/>
                                        <p:tgtEl>
                                          <p:spTgt spid="8"/>
                                        </p:tgtEl>
                                      </p:cBhvr>
                                    </p:animEffect>
                                    <p:set>
                                      <p:cBhvr>
                                        <p:cTn id="15" dur="1" fill="hold">
                                          <p:stCondLst>
                                            <p:cond delay="9"/>
                                          </p:stCondLst>
                                        </p:cTn>
                                        <p:tgtEl>
                                          <p:spTgt spid="8"/>
                                        </p:tgtEl>
                                        <p:attrNameLst>
                                          <p:attrName>style.visibility</p:attrName>
                                        </p:attrNameLst>
                                      </p:cBhvr>
                                      <p:to>
                                        <p:strVal val="hidden"/>
                                      </p:to>
                                    </p:set>
                                  </p:childTnLst>
                                </p:cTn>
                              </p:par>
                              <p:par>
                                <p:cTn id="16" presetID="1" presetClass="entr" presetSubtype="0" fill="hold" nodeType="withEffect">
                                  <p:stCondLst>
                                    <p:cond delay="0"/>
                                  </p:stCondLst>
                                  <p:childTnLst>
                                    <p:set>
                                      <p:cBhvr>
                                        <p:cTn id="17"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18"/>
          <p:cNvSpPr txBox="1"/>
          <p:nvPr/>
        </p:nvSpPr>
        <p:spPr>
          <a:xfrm>
            <a:off x="4709161" y="2743196"/>
            <a:ext cx="3047100" cy="6858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3600"/>
              <a:buFont typeface="Calibri"/>
              <a:buNone/>
            </a:pPr>
            <a:r>
              <a:rPr lang="en-US" sz="3600" b="1">
                <a:solidFill>
                  <a:schemeClr val="dk1"/>
                </a:solidFill>
                <a:latin typeface="Calibri"/>
                <a:ea typeface="Calibri"/>
                <a:cs typeface="Calibri"/>
                <a:sym typeface="Calibri"/>
              </a:rPr>
              <a:t>Thank You </a:t>
            </a:r>
            <a:endParaRPr sz="3600">
              <a:solidFill>
                <a:srgbClr val="15438E"/>
              </a:solidFill>
              <a:latin typeface="Calibri"/>
              <a:ea typeface="Calibri"/>
              <a:cs typeface="Calibri"/>
              <a:sym typeface="Calibri"/>
            </a:endParaRPr>
          </a:p>
        </p:txBody>
      </p:sp>
      <p:pic>
        <p:nvPicPr>
          <p:cNvPr id="352" name="Google Shape;352;p18" descr="Smiling face outline with solid fill"/>
          <p:cNvPicPr preferRelativeResize="0"/>
          <p:nvPr/>
        </p:nvPicPr>
        <p:blipFill rotWithShape="1">
          <a:blip r:embed="rId3">
            <a:alphaModFix/>
          </a:blip>
          <a:srcRect/>
          <a:stretch/>
        </p:blipFill>
        <p:spPr>
          <a:xfrm>
            <a:off x="4796864" y="3492157"/>
            <a:ext cx="914400" cy="914400"/>
          </a:xfrm>
          <a:prstGeom prst="rect">
            <a:avLst/>
          </a:prstGeom>
          <a:noFill/>
          <a:ln>
            <a:noFill/>
          </a:ln>
        </p:spPr>
      </p:pic>
      <p:pic>
        <p:nvPicPr>
          <p:cNvPr id="353" name="Google Shape;353;p18" descr="Questions outline"/>
          <p:cNvPicPr preferRelativeResize="0"/>
          <p:nvPr/>
        </p:nvPicPr>
        <p:blipFill rotWithShape="1">
          <a:blip r:embed="rId4">
            <a:alphaModFix/>
          </a:blip>
          <a:srcRect/>
          <a:stretch/>
        </p:blipFill>
        <p:spPr>
          <a:xfrm>
            <a:off x="5964231" y="3511878"/>
            <a:ext cx="914400" cy="914400"/>
          </a:xfrm>
          <a:prstGeom prst="rect">
            <a:avLst/>
          </a:prstGeom>
          <a:noFill/>
          <a:ln>
            <a:noFill/>
          </a:ln>
        </p:spPr>
      </p:pic>
      <p:sp>
        <p:nvSpPr>
          <p:cNvPr id="2" name="Date Placeholder 1"/>
          <p:cNvSpPr>
            <a:spLocks noGrp="1"/>
          </p:cNvSpPr>
          <p:nvPr>
            <p:ph type="dt" idx="10"/>
          </p:nvPr>
        </p:nvSpPr>
        <p:spPr/>
        <p:txBody>
          <a:bodyPr/>
          <a:lstStyle/>
          <a:p>
            <a:fld id="{DFCFA605-D1C3-4588-8847-89E0794F1E34}" type="datetime1">
              <a:rPr lang="en-IN" smtClean="0"/>
              <a:t>02-12-2025</a:t>
            </a:fld>
            <a:endParaRPr lang="en-IN" dirty="0"/>
          </a:p>
        </p:txBody>
      </p:sp>
      <p:sp>
        <p:nvSpPr>
          <p:cNvPr id="3" name="Footer Placeholder 2"/>
          <p:cNvSpPr>
            <a:spLocks noGrp="1"/>
          </p:cNvSpPr>
          <p:nvPr>
            <p:ph type="ftr" idx="11"/>
          </p:nvPr>
        </p:nvSpPr>
        <p:spPr/>
        <p:txBody>
          <a:bodyPr/>
          <a:lstStyle/>
          <a:p>
            <a:r>
              <a:rPr lang="en-IN" dirty="0"/>
              <a:t>Aggregate Planning</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49</a:t>
            </a:fld>
            <a:endParaRPr lang="en-US" dirty="0"/>
          </a:p>
        </p:txBody>
      </p:sp>
    </p:spTree>
  </p:cSld>
  <p:clrMapOvr>
    <a:masterClrMapping/>
  </p:clrMapOvr>
</p:sld>
</file>

<file path=ppt/theme/theme1.xml><?xml version="1.0" encoding="utf-8"?>
<a:theme xmlns:a="http://schemas.openxmlformats.org/drawingml/2006/main" name="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4228</TotalTime>
  <Words>3318</Words>
  <Application>Microsoft Office PowerPoint</Application>
  <PresentationFormat>Widescreen</PresentationFormat>
  <Paragraphs>608</Paragraphs>
  <Slides>49</Slides>
  <Notes>2</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49</vt:i4>
      </vt:variant>
    </vt:vector>
  </HeadingPairs>
  <TitlesOfParts>
    <vt:vector size="58" baseType="lpstr">
      <vt:lpstr>Arial</vt:lpstr>
      <vt:lpstr>Century Gothic</vt:lpstr>
      <vt:lpstr>Courier New</vt:lpstr>
      <vt:lpstr>Calibri</vt:lpstr>
      <vt:lpstr>Times New Roman</vt:lpstr>
      <vt:lpstr>Monotype Sorts</vt:lpstr>
      <vt:lpstr>Wingdings</vt:lpstr>
      <vt:lpstr>Office</vt:lpstr>
      <vt:lpstr>Equation</vt:lpstr>
      <vt:lpstr>PowerPoint Presentation</vt:lpstr>
      <vt:lpstr>Learning Objectives</vt:lpstr>
      <vt:lpstr>The Planning Process</vt:lpstr>
      <vt:lpstr>Aggregate Planning </vt:lpstr>
      <vt:lpstr>The Concept of Aggregation</vt:lpstr>
      <vt:lpstr>Aggregation</vt:lpstr>
      <vt:lpstr>Aggregation Red Tomato Tools Example</vt:lpstr>
      <vt:lpstr>Aggregation Red Tomato Tools Example</vt:lpstr>
      <vt:lpstr>The Role of the Aggregate Plan</vt:lpstr>
      <vt:lpstr>Objectives of Aggregate Planning</vt:lpstr>
      <vt:lpstr>Characteristics of Aggregate Planning</vt:lpstr>
      <vt:lpstr>Sales and Operations Planning </vt:lpstr>
      <vt:lpstr>Aggregate Planning Inputs</vt:lpstr>
      <vt:lpstr>Aggregate Planning Outputs</vt:lpstr>
      <vt:lpstr>Quick Review</vt:lpstr>
      <vt:lpstr>Quick Review</vt:lpstr>
      <vt:lpstr>Quick Review</vt:lpstr>
      <vt:lpstr>Dealing with Variation in Aggregate Plans</vt:lpstr>
      <vt:lpstr>Strategies for Adjusting Capacity</vt:lpstr>
      <vt:lpstr>Chase Strategy</vt:lpstr>
      <vt:lpstr>Chase Strategy Example</vt:lpstr>
      <vt:lpstr>Level Strategy</vt:lpstr>
      <vt:lpstr>Level Strategy Example</vt:lpstr>
      <vt:lpstr>Peak Demand Strategy</vt:lpstr>
      <vt:lpstr>Overtime and Undertime</vt:lpstr>
      <vt:lpstr>Subcontracting and Part-time Workers </vt:lpstr>
      <vt:lpstr>Backlogs and Out-of-stock </vt:lpstr>
      <vt:lpstr>Strategies for Managing Demand</vt:lpstr>
      <vt:lpstr>Quick Review</vt:lpstr>
      <vt:lpstr>Quick Review</vt:lpstr>
      <vt:lpstr>Quantitative Techniques for Aggregate Planning </vt:lpstr>
      <vt:lpstr>Pure Strategies</vt:lpstr>
      <vt:lpstr>Aggregate Planning using Pure Strategies Example 1 </vt:lpstr>
      <vt:lpstr>Aggregate Planning using Pure Strategies Example 2</vt:lpstr>
      <vt:lpstr>Aggregate Planning using Pure Strategies Example 1</vt:lpstr>
      <vt:lpstr>Aggregate Planning using Pure Strategies Example 1</vt:lpstr>
      <vt:lpstr>Mixed strategies</vt:lpstr>
      <vt:lpstr>Linear programming Example 1</vt:lpstr>
      <vt:lpstr>Red Tomato Tools Example (1 of 5)</vt:lpstr>
      <vt:lpstr>Red Tomato Tools Example (2 of 5)</vt:lpstr>
      <vt:lpstr>Red Tomato Tools Example (3 of 5) Decision Variables</vt:lpstr>
      <vt:lpstr>Red Tomato Tools Example (4 of 5) Objective Function</vt:lpstr>
      <vt:lpstr>Red Tomato Tools Example (5 of 5)  Constraints</vt:lpstr>
      <vt:lpstr>Transportation Method</vt:lpstr>
      <vt:lpstr>Transportation Method</vt:lpstr>
      <vt:lpstr>Transportation Method Example 3</vt:lpstr>
      <vt:lpstr>Transportation Method</vt:lpstr>
      <vt:lpstr>Transportation Method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Matthias Thomitzek</dc:creator>
  <cp:lastModifiedBy>Narpat Sangwa</cp:lastModifiedBy>
  <cp:revision>368</cp:revision>
  <dcterms:created xsi:type="dcterms:W3CDTF">2020-03-31T09:12:54Z</dcterms:created>
  <dcterms:modified xsi:type="dcterms:W3CDTF">2025-12-02T14:47:01Z</dcterms:modified>
</cp:coreProperties>
</file>