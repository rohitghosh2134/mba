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8"/>
  </p:notesMasterIdLst>
  <p:sldIdLst>
    <p:sldId id="256" r:id="rId2"/>
    <p:sldId id="317" r:id="rId3"/>
    <p:sldId id="388" r:id="rId4"/>
    <p:sldId id="390" r:id="rId5"/>
    <p:sldId id="409" r:id="rId6"/>
    <p:sldId id="410" r:id="rId7"/>
    <p:sldId id="392" r:id="rId8"/>
    <p:sldId id="387" r:id="rId9"/>
    <p:sldId id="411" r:id="rId10"/>
    <p:sldId id="375" r:id="rId11"/>
    <p:sldId id="394" r:id="rId12"/>
    <p:sldId id="395" r:id="rId13"/>
    <p:sldId id="396" r:id="rId14"/>
    <p:sldId id="428" r:id="rId15"/>
    <p:sldId id="397" r:id="rId16"/>
    <p:sldId id="444" r:id="rId17"/>
    <p:sldId id="398" r:id="rId18"/>
    <p:sldId id="443" r:id="rId19"/>
    <p:sldId id="429" r:id="rId20"/>
    <p:sldId id="401" r:id="rId21"/>
    <p:sldId id="442" r:id="rId22"/>
    <p:sldId id="402" r:id="rId23"/>
    <p:sldId id="403" r:id="rId24"/>
    <p:sldId id="412" r:id="rId25"/>
    <p:sldId id="413" r:id="rId26"/>
    <p:sldId id="414" r:id="rId27"/>
    <p:sldId id="404" r:id="rId28"/>
    <p:sldId id="405" r:id="rId29"/>
    <p:sldId id="406" r:id="rId30"/>
    <p:sldId id="415" r:id="rId31"/>
    <p:sldId id="416" r:id="rId32"/>
    <p:sldId id="417" r:id="rId33"/>
    <p:sldId id="418" r:id="rId34"/>
    <p:sldId id="419" r:id="rId35"/>
    <p:sldId id="420" r:id="rId36"/>
    <p:sldId id="295" r:id="rId37"/>
  </p:sldIdLst>
  <p:sldSz cx="12192000" cy="6858000"/>
  <p:notesSz cx="6400800" cy="11736388"/>
  <p:embeddedFontLst>
    <p:embeddedFont>
      <p:font typeface="Calibri" panose="020F0502020204030204" pitchFamily="34" charset="0"/>
      <p:regular r:id="rId39"/>
      <p:bold r:id="rId40"/>
      <p:italic r:id="rId41"/>
      <p:boldItalic r:id="rId42"/>
    </p:embeddedFont>
    <p:embeddedFont>
      <p:font typeface="Century Gothic" panose="020B0502020202020204" pitchFamily="3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3" roundtripDataSignature="AMtx7miVhhpRSbsVfJTdG03n2He+SCFp9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057DFE-E6D9-463C-876A-ED63FAAF74D6}">
  <a:tblStyle styleId="{A6057DFE-E6D9-463C-876A-ED63FAAF74D6}"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0F0EA631-3CC5-4A67-AC19-FCB2EDBDCE24}"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60" d="100"/>
          <a:sy n="60" d="100"/>
        </p:scale>
        <p:origin x="84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84"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8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8" Type="http://schemas.openxmlformats.org/officeDocument/2006/relationships/slide" Target="slides/slide7.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83"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067000" y="880225"/>
            <a:ext cx="4267400" cy="440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40075" y="5574775"/>
            <a:ext cx="5120625" cy="52813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7461243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
        <p:cNvGrpSpPr/>
        <p:nvPr/>
      </p:nvGrpSpPr>
      <p:grpSpPr>
        <a:xfrm>
          <a:off x="0" y="0"/>
          <a:ext cx="0" cy="0"/>
          <a:chOff x="0" y="0"/>
          <a:chExt cx="0" cy="0"/>
        </a:xfrm>
      </p:grpSpPr>
      <p:sp>
        <p:nvSpPr>
          <p:cNvPr id="21" name="Google Shape;21;p1:notes"/>
          <p:cNvSpPr txBox="1">
            <a:spLocks noGrp="1"/>
          </p:cNvSpPr>
          <p:nvPr>
            <p:ph type="body" idx="1"/>
          </p:nvPr>
        </p:nvSpPr>
        <p:spPr>
          <a:xfrm>
            <a:off x="640075" y="5574775"/>
            <a:ext cx="5120625" cy="52813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 name="Google Shape;22;p1:notes"/>
          <p:cNvSpPr>
            <a:spLocks noGrp="1" noRot="1" noChangeAspect="1"/>
          </p:cNvSpPr>
          <p:nvPr>
            <p:ph type="sldImg" idx="2"/>
          </p:nvPr>
        </p:nvSpPr>
        <p:spPr>
          <a:xfrm>
            <a:off x="-711200" y="879475"/>
            <a:ext cx="7823200" cy="44021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9965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8:notes"/>
          <p:cNvSpPr txBox="1">
            <a:spLocks noGrp="1"/>
          </p:cNvSpPr>
          <p:nvPr>
            <p:ph type="body" idx="1"/>
          </p:nvPr>
        </p:nvSpPr>
        <p:spPr>
          <a:xfrm>
            <a:off x="640075" y="5574775"/>
            <a:ext cx="5120625" cy="52813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9" name="Google Shape;349;p18:notes"/>
          <p:cNvSpPr>
            <a:spLocks noGrp="1" noRot="1" noChangeAspect="1"/>
          </p:cNvSpPr>
          <p:nvPr>
            <p:ph type="sldImg" idx="2"/>
          </p:nvPr>
        </p:nvSpPr>
        <p:spPr>
          <a:xfrm>
            <a:off x="-711200" y="879475"/>
            <a:ext cx="7823200" cy="44021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61523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elfolie" type="title">
  <p:cSld name="TITLE">
    <p:spTree>
      <p:nvGrpSpPr>
        <p:cNvPr id="1" name="Shape 12"/>
        <p:cNvGrpSpPr/>
        <p:nvPr/>
      </p:nvGrpSpPr>
      <p:grpSpPr>
        <a:xfrm>
          <a:off x="0" y="0"/>
          <a:ext cx="0" cy="0"/>
          <a:chOff x="0" y="0"/>
          <a:chExt cx="0" cy="0"/>
        </a:xfrm>
      </p:grpSpPr>
      <p:sp>
        <p:nvSpPr>
          <p:cNvPr id="13" name="Google Shape;13;p20"/>
          <p:cNvSpPr txBox="1">
            <a:spLocks noGrp="1"/>
          </p:cNvSpPr>
          <p:nvPr>
            <p:ph type="ctrTitle"/>
          </p:nvPr>
        </p:nvSpPr>
        <p:spPr>
          <a:xfrm>
            <a:off x="596900" y="1317996"/>
            <a:ext cx="8610600" cy="1552204"/>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4" name="Google Shape;14;p20"/>
          <p:cNvSpPr txBox="1">
            <a:spLocks noGrp="1"/>
          </p:cNvSpPr>
          <p:nvPr>
            <p:ph type="subTitle" idx="1"/>
          </p:nvPr>
        </p:nvSpPr>
        <p:spPr>
          <a:xfrm>
            <a:off x="596900" y="3741803"/>
            <a:ext cx="8610600" cy="2074797"/>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2400"/>
              <a:buNone/>
              <a:defRPr sz="2400">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dirty="0"/>
          </a:p>
        </p:txBody>
      </p:sp>
      <p:cxnSp>
        <p:nvCxnSpPr>
          <p:cNvPr id="15" name="Google Shape;15;p20"/>
          <p:cNvCxnSpPr/>
          <p:nvPr/>
        </p:nvCxnSpPr>
        <p:spPr>
          <a:xfrm>
            <a:off x="-942" y="6214340"/>
            <a:ext cx="12196800" cy="193"/>
          </a:xfrm>
          <a:prstGeom prst="straightConnector1">
            <a:avLst/>
          </a:prstGeom>
          <a:noFill/>
          <a:ln w="19050" cap="flat" cmpd="sng">
            <a:solidFill>
              <a:srgbClr val="15438E"/>
            </a:solidFill>
            <a:prstDash val="solid"/>
            <a:miter lim="800000"/>
            <a:headEnd type="none" w="sm" len="sm"/>
            <a:tailEnd type="none" w="sm" len="sm"/>
          </a:ln>
        </p:spPr>
      </p:cxnSp>
      <p:sp>
        <p:nvSpPr>
          <p:cNvPr id="5" name="Google Shape;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62335CFD-B3E9-4812-AF47-A129F230FDF1}" type="datetime1">
              <a:rPr lang="en-IN" smtClean="0"/>
              <a:pPr/>
              <a:t>04-12-2025</a:t>
            </a:fld>
            <a:endParaRPr lang="en-IN" dirty="0"/>
          </a:p>
        </p:txBody>
      </p:sp>
      <p:sp>
        <p:nvSpPr>
          <p:cNvPr id="6" name="Google Shape;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dirty="0"/>
              <a:t>Resource Planning</a:t>
            </a:r>
          </a:p>
        </p:txBody>
      </p:sp>
      <p:sp>
        <p:nvSpPr>
          <p:cNvPr id="7" name="Google Shape;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L="0" marR="0" lvl="1" indent="0" algn="r" rtl="0">
              <a:spcBef>
                <a:spcPts val="0"/>
              </a:spcBef>
              <a:buNone/>
              <a:defRPr sz="1200" b="0" i="0" u="none" strike="noStrike" cap="none">
                <a:solidFill>
                  <a:srgbClr val="888888"/>
                </a:solidFill>
                <a:latin typeface="Century Gothic"/>
                <a:ea typeface="Century Gothic"/>
                <a:cs typeface="Century Gothic"/>
                <a:sym typeface="Century Gothic"/>
              </a:defRPr>
            </a:lvl2pPr>
            <a:lvl3pPr marL="0" marR="0" lvl="2" indent="0" algn="r" rtl="0">
              <a:spcBef>
                <a:spcPts val="0"/>
              </a:spcBef>
              <a:buNone/>
              <a:defRPr sz="1200" b="0" i="0" u="none" strike="noStrike" cap="none">
                <a:solidFill>
                  <a:srgbClr val="888888"/>
                </a:solidFill>
                <a:latin typeface="Century Gothic"/>
                <a:ea typeface="Century Gothic"/>
                <a:cs typeface="Century Gothic"/>
                <a:sym typeface="Century Gothic"/>
              </a:defRPr>
            </a:lvl3pPr>
            <a:lvl4pPr marL="0" marR="0" lvl="3" indent="0" algn="r" rtl="0">
              <a:spcBef>
                <a:spcPts val="0"/>
              </a:spcBef>
              <a:buNone/>
              <a:defRPr sz="1200" b="0" i="0" u="none" strike="noStrike" cap="none">
                <a:solidFill>
                  <a:srgbClr val="888888"/>
                </a:solidFill>
                <a:latin typeface="Century Gothic"/>
                <a:ea typeface="Century Gothic"/>
                <a:cs typeface="Century Gothic"/>
                <a:sym typeface="Century Gothic"/>
              </a:defRPr>
            </a:lvl4pPr>
            <a:lvl5pPr marL="0" marR="0" lvl="4" indent="0" algn="r" rtl="0">
              <a:spcBef>
                <a:spcPts val="0"/>
              </a:spcBef>
              <a:buNone/>
              <a:defRPr sz="1200" b="0" i="0" u="none" strike="noStrike" cap="none">
                <a:solidFill>
                  <a:srgbClr val="888888"/>
                </a:solidFill>
                <a:latin typeface="Century Gothic"/>
                <a:ea typeface="Century Gothic"/>
                <a:cs typeface="Century Gothic"/>
                <a:sym typeface="Century Gothic"/>
              </a:defRPr>
            </a:lvl5pPr>
            <a:lvl6pPr marL="0" marR="0" lvl="5" indent="0" algn="r" rtl="0">
              <a:spcBef>
                <a:spcPts val="0"/>
              </a:spcBef>
              <a:buNone/>
              <a:defRPr sz="1200" b="0" i="0" u="none" strike="noStrike" cap="none">
                <a:solidFill>
                  <a:srgbClr val="888888"/>
                </a:solidFill>
                <a:latin typeface="Century Gothic"/>
                <a:ea typeface="Century Gothic"/>
                <a:cs typeface="Century Gothic"/>
                <a:sym typeface="Century Gothic"/>
              </a:defRPr>
            </a:lvl6pPr>
            <a:lvl7pPr marL="0" marR="0" lvl="6" indent="0" algn="r" rtl="0">
              <a:spcBef>
                <a:spcPts val="0"/>
              </a:spcBef>
              <a:buNone/>
              <a:defRPr sz="1200" b="0" i="0" u="none" strike="noStrike" cap="none">
                <a:solidFill>
                  <a:srgbClr val="888888"/>
                </a:solidFill>
                <a:latin typeface="Century Gothic"/>
                <a:ea typeface="Century Gothic"/>
                <a:cs typeface="Century Gothic"/>
                <a:sym typeface="Century Gothic"/>
              </a:defRPr>
            </a:lvl7pPr>
            <a:lvl8pPr marL="0" marR="0" lvl="7" indent="0" algn="r" rtl="0">
              <a:spcBef>
                <a:spcPts val="0"/>
              </a:spcBef>
              <a:buNone/>
              <a:defRPr sz="1200" b="0" i="0" u="none" strike="noStrike" cap="none">
                <a:solidFill>
                  <a:srgbClr val="888888"/>
                </a:solidFill>
                <a:latin typeface="Century Gothic"/>
                <a:ea typeface="Century Gothic"/>
                <a:cs typeface="Century Gothic"/>
                <a:sym typeface="Century Gothic"/>
              </a:defRPr>
            </a:lvl8pPr>
            <a:lvl9pPr marL="0" marR="0" lvl="8" indent="0" algn="r" rtl="0">
              <a:spcBef>
                <a:spcPts val="0"/>
              </a:spcBef>
              <a:buNone/>
              <a:defRPr sz="1200" b="0" i="0" u="none" strike="noStrike" cap="none">
                <a:solidFill>
                  <a:srgbClr val="888888"/>
                </a:solidFill>
                <a:latin typeface="Century Gothic"/>
                <a:ea typeface="Century Gothic"/>
                <a:cs typeface="Century Gothic"/>
                <a:sym typeface="Century Gothic"/>
              </a:defRPr>
            </a:lvl9pPr>
          </a:lstStyle>
          <a:p>
            <a:fld id="{00000000-1234-1234-1234-123412341234}" type="slidenum">
              <a:rPr lang="en-US" smtClean="0"/>
              <a:pPr/>
              <a:t>‹#›</a:t>
            </a:fld>
            <a:endParaRPr lang="en-US" dirty="0"/>
          </a:p>
        </p:txBody>
      </p:sp>
      <p:pic>
        <p:nvPicPr>
          <p:cNvPr id="1026" name="Picture 2" descr="https://www.iimsirmaur.ac.in/img/iim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308772" y="10391"/>
            <a:ext cx="883228" cy="8832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Nur Titel">
  <p:cSld name="Nur Titel">
    <p:spTree>
      <p:nvGrpSpPr>
        <p:cNvPr id="1" name="Shape 16"/>
        <p:cNvGrpSpPr/>
        <p:nvPr/>
      </p:nvGrpSpPr>
      <p:grpSpPr>
        <a:xfrm>
          <a:off x="0" y="0"/>
          <a:ext cx="0" cy="0"/>
          <a:chOff x="0" y="0"/>
          <a:chExt cx="0" cy="0"/>
        </a:xfrm>
      </p:grpSpPr>
      <p:sp>
        <p:nvSpPr>
          <p:cNvPr id="17" name="Google Shape;17;p21"/>
          <p:cNvSpPr txBox="1">
            <a:spLocks noGrp="1"/>
          </p:cNvSpPr>
          <p:nvPr>
            <p:ph type="title"/>
          </p:nvPr>
        </p:nvSpPr>
        <p:spPr>
          <a:xfrm>
            <a:off x="407446" y="146869"/>
            <a:ext cx="10762781" cy="685801"/>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600"/>
              <a:buFont typeface="Century Gothic"/>
              <a:buNone/>
              <a:defRPr sz="3600" b="1" i="0" u="none" strike="noStrike" cap="none">
                <a:solidFill>
                  <a:schemeClr val="dk1"/>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cxnSp>
        <p:nvCxnSpPr>
          <p:cNvPr id="18" name="Google Shape;18;p21"/>
          <p:cNvCxnSpPr/>
          <p:nvPr/>
        </p:nvCxnSpPr>
        <p:spPr>
          <a:xfrm>
            <a:off x="-942" y="6214340"/>
            <a:ext cx="12196800" cy="193"/>
          </a:xfrm>
          <a:prstGeom prst="straightConnector1">
            <a:avLst/>
          </a:prstGeom>
          <a:noFill/>
          <a:ln w="19050" cap="flat" cmpd="sng">
            <a:solidFill>
              <a:srgbClr val="15438E"/>
            </a:solidFill>
            <a:prstDash val="solid"/>
            <a:miter lim="800000"/>
            <a:headEnd type="none" w="sm" len="sm"/>
            <a:tailEnd type="none" w="sm" len="sm"/>
          </a:ln>
        </p:spPr>
      </p:cxnSp>
      <p:sp>
        <p:nvSpPr>
          <p:cNvPr id="19" name="Google Shape;19;p21"/>
          <p:cNvSpPr txBox="1">
            <a:spLocks noGrp="1"/>
          </p:cNvSpPr>
          <p:nvPr>
            <p:ph type="body" idx="1"/>
          </p:nvPr>
        </p:nvSpPr>
        <p:spPr>
          <a:xfrm>
            <a:off x="407446" y="1035437"/>
            <a:ext cx="11596712" cy="503592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Times New Roman" panose="02020603050405020304" pitchFamily="18" charset="0"/>
                <a:cs typeface="Times New Roman" panose="02020603050405020304" pitchFamily="18" charset="0"/>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 name="Google Shape;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D1FBB12C-6AF2-404C-B802-656F1A988312}" type="datetime1">
              <a:rPr lang="en-IN" smtClean="0"/>
              <a:pPr/>
              <a:t>04-12-2025</a:t>
            </a:fld>
            <a:endParaRPr lang="en-IN" dirty="0"/>
          </a:p>
        </p:txBody>
      </p:sp>
      <p:sp>
        <p:nvSpPr>
          <p:cNvPr id="6" name="Google Shape;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dirty="0"/>
              <a:t>Resource Planning</a:t>
            </a:r>
          </a:p>
        </p:txBody>
      </p:sp>
      <p:sp>
        <p:nvSpPr>
          <p:cNvPr id="7" name="Google Shape;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L="0" marR="0" lvl="1" indent="0" algn="r" rtl="0">
              <a:spcBef>
                <a:spcPts val="0"/>
              </a:spcBef>
              <a:buNone/>
              <a:defRPr sz="1200" b="0" i="0" u="none" strike="noStrike" cap="none">
                <a:solidFill>
                  <a:srgbClr val="888888"/>
                </a:solidFill>
                <a:latin typeface="Century Gothic"/>
                <a:ea typeface="Century Gothic"/>
                <a:cs typeface="Century Gothic"/>
                <a:sym typeface="Century Gothic"/>
              </a:defRPr>
            </a:lvl2pPr>
            <a:lvl3pPr marL="0" marR="0" lvl="2" indent="0" algn="r" rtl="0">
              <a:spcBef>
                <a:spcPts val="0"/>
              </a:spcBef>
              <a:buNone/>
              <a:defRPr sz="1200" b="0" i="0" u="none" strike="noStrike" cap="none">
                <a:solidFill>
                  <a:srgbClr val="888888"/>
                </a:solidFill>
                <a:latin typeface="Century Gothic"/>
                <a:ea typeface="Century Gothic"/>
                <a:cs typeface="Century Gothic"/>
                <a:sym typeface="Century Gothic"/>
              </a:defRPr>
            </a:lvl3pPr>
            <a:lvl4pPr marL="0" marR="0" lvl="3" indent="0" algn="r" rtl="0">
              <a:spcBef>
                <a:spcPts val="0"/>
              </a:spcBef>
              <a:buNone/>
              <a:defRPr sz="1200" b="0" i="0" u="none" strike="noStrike" cap="none">
                <a:solidFill>
                  <a:srgbClr val="888888"/>
                </a:solidFill>
                <a:latin typeface="Century Gothic"/>
                <a:ea typeface="Century Gothic"/>
                <a:cs typeface="Century Gothic"/>
                <a:sym typeface="Century Gothic"/>
              </a:defRPr>
            </a:lvl4pPr>
            <a:lvl5pPr marL="0" marR="0" lvl="4" indent="0" algn="r" rtl="0">
              <a:spcBef>
                <a:spcPts val="0"/>
              </a:spcBef>
              <a:buNone/>
              <a:defRPr sz="1200" b="0" i="0" u="none" strike="noStrike" cap="none">
                <a:solidFill>
                  <a:srgbClr val="888888"/>
                </a:solidFill>
                <a:latin typeface="Century Gothic"/>
                <a:ea typeface="Century Gothic"/>
                <a:cs typeface="Century Gothic"/>
                <a:sym typeface="Century Gothic"/>
              </a:defRPr>
            </a:lvl5pPr>
            <a:lvl6pPr marL="0" marR="0" lvl="5" indent="0" algn="r" rtl="0">
              <a:spcBef>
                <a:spcPts val="0"/>
              </a:spcBef>
              <a:buNone/>
              <a:defRPr sz="1200" b="0" i="0" u="none" strike="noStrike" cap="none">
                <a:solidFill>
                  <a:srgbClr val="888888"/>
                </a:solidFill>
                <a:latin typeface="Century Gothic"/>
                <a:ea typeface="Century Gothic"/>
                <a:cs typeface="Century Gothic"/>
                <a:sym typeface="Century Gothic"/>
              </a:defRPr>
            </a:lvl6pPr>
            <a:lvl7pPr marL="0" marR="0" lvl="6" indent="0" algn="r" rtl="0">
              <a:spcBef>
                <a:spcPts val="0"/>
              </a:spcBef>
              <a:buNone/>
              <a:defRPr sz="1200" b="0" i="0" u="none" strike="noStrike" cap="none">
                <a:solidFill>
                  <a:srgbClr val="888888"/>
                </a:solidFill>
                <a:latin typeface="Century Gothic"/>
                <a:ea typeface="Century Gothic"/>
                <a:cs typeface="Century Gothic"/>
                <a:sym typeface="Century Gothic"/>
              </a:defRPr>
            </a:lvl7pPr>
            <a:lvl8pPr marL="0" marR="0" lvl="7" indent="0" algn="r" rtl="0">
              <a:spcBef>
                <a:spcPts val="0"/>
              </a:spcBef>
              <a:buNone/>
              <a:defRPr sz="1200" b="0" i="0" u="none" strike="noStrike" cap="none">
                <a:solidFill>
                  <a:srgbClr val="888888"/>
                </a:solidFill>
                <a:latin typeface="Century Gothic"/>
                <a:ea typeface="Century Gothic"/>
                <a:cs typeface="Century Gothic"/>
                <a:sym typeface="Century Gothic"/>
              </a:defRPr>
            </a:lvl8pPr>
            <a:lvl9pPr marL="0" marR="0" lvl="8" indent="0" algn="r" rtl="0">
              <a:spcBef>
                <a:spcPts val="0"/>
              </a:spcBef>
              <a:buNone/>
              <a:defRPr sz="1200" b="0" i="0" u="none" strike="noStrike" cap="none">
                <a:solidFill>
                  <a:srgbClr val="888888"/>
                </a:solidFill>
                <a:latin typeface="Century Gothic"/>
                <a:ea typeface="Century Gothic"/>
                <a:cs typeface="Century Gothic"/>
                <a:sym typeface="Century Gothic"/>
              </a:defRPr>
            </a:lvl9pPr>
          </a:lstStyle>
          <a:p>
            <a:fld id="{00000000-1234-1234-1234-123412341234}" type="slidenum">
              <a:rPr lang="en-US" smtClean="0"/>
              <a:pPr/>
              <a:t>‹#›</a:t>
            </a:fld>
            <a:endParaRPr lang="en-US" dirty="0"/>
          </a:p>
        </p:txBody>
      </p:sp>
      <p:pic>
        <p:nvPicPr>
          <p:cNvPr id="10" name="Picture 2" descr="https://www.iimsirmaur.ac.in/img/iim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308772" y="10391"/>
            <a:ext cx="883228" cy="8832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
        <p:nvSpPr>
          <p:cNvPr id="7" name="Google Shape;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4C8EE48C-6F84-430B-99C8-6D09B5D884B9}" type="datetime1">
              <a:rPr lang="en-IN" smtClean="0"/>
              <a:pPr/>
              <a:t>04-12-2025</a:t>
            </a:fld>
            <a:endParaRPr lang="en-IN" dirty="0"/>
          </a:p>
        </p:txBody>
      </p:sp>
      <p:sp>
        <p:nvSpPr>
          <p:cNvPr id="8" name="Google Shape;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dirty="0"/>
              <a:t>Resource Planning</a:t>
            </a:r>
          </a:p>
        </p:txBody>
      </p:sp>
      <p:sp>
        <p:nvSpPr>
          <p:cNvPr id="9" name="Google Shape;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L="0" marR="0" lvl="1" indent="0" algn="r" rtl="0">
              <a:spcBef>
                <a:spcPts val="0"/>
              </a:spcBef>
              <a:buNone/>
              <a:defRPr sz="1200" b="0" i="0" u="none" strike="noStrike" cap="none">
                <a:solidFill>
                  <a:srgbClr val="888888"/>
                </a:solidFill>
                <a:latin typeface="Century Gothic"/>
                <a:ea typeface="Century Gothic"/>
                <a:cs typeface="Century Gothic"/>
                <a:sym typeface="Century Gothic"/>
              </a:defRPr>
            </a:lvl2pPr>
            <a:lvl3pPr marL="0" marR="0" lvl="2" indent="0" algn="r" rtl="0">
              <a:spcBef>
                <a:spcPts val="0"/>
              </a:spcBef>
              <a:buNone/>
              <a:defRPr sz="1200" b="0" i="0" u="none" strike="noStrike" cap="none">
                <a:solidFill>
                  <a:srgbClr val="888888"/>
                </a:solidFill>
                <a:latin typeface="Century Gothic"/>
                <a:ea typeface="Century Gothic"/>
                <a:cs typeface="Century Gothic"/>
                <a:sym typeface="Century Gothic"/>
              </a:defRPr>
            </a:lvl3pPr>
            <a:lvl4pPr marL="0" marR="0" lvl="3" indent="0" algn="r" rtl="0">
              <a:spcBef>
                <a:spcPts val="0"/>
              </a:spcBef>
              <a:buNone/>
              <a:defRPr sz="1200" b="0" i="0" u="none" strike="noStrike" cap="none">
                <a:solidFill>
                  <a:srgbClr val="888888"/>
                </a:solidFill>
                <a:latin typeface="Century Gothic"/>
                <a:ea typeface="Century Gothic"/>
                <a:cs typeface="Century Gothic"/>
                <a:sym typeface="Century Gothic"/>
              </a:defRPr>
            </a:lvl4pPr>
            <a:lvl5pPr marL="0" marR="0" lvl="4" indent="0" algn="r" rtl="0">
              <a:spcBef>
                <a:spcPts val="0"/>
              </a:spcBef>
              <a:buNone/>
              <a:defRPr sz="1200" b="0" i="0" u="none" strike="noStrike" cap="none">
                <a:solidFill>
                  <a:srgbClr val="888888"/>
                </a:solidFill>
                <a:latin typeface="Century Gothic"/>
                <a:ea typeface="Century Gothic"/>
                <a:cs typeface="Century Gothic"/>
                <a:sym typeface="Century Gothic"/>
              </a:defRPr>
            </a:lvl5pPr>
            <a:lvl6pPr marL="0" marR="0" lvl="5" indent="0" algn="r" rtl="0">
              <a:spcBef>
                <a:spcPts val="0"/>
              </a:spcBef>
              <a:buNone/>
              <a:defRPr sz="1200" b="0" i="0" u="none" strike="noStrike" cap="none">
                <a:solidFill>
                  <a:srgbClr val="888888"/>
                </a:solidFill>
                <a:latin typeface="Century Gothic"/>
                <a:ea typeface="Century Gothic"/>
                <a:cs typeface="Century Gothic"/>
                <a:sym typeface="Century Gothic"/>
              </a:defRPr>
            </a:lvl6pPr>
            <a:lvl7pPr marL="0" marR="0" lvl="6" indent="0" algn="r" rtl="0">
              <a:spcBef>
                <a:spcPts val="0"/>
              </a:spcBef>
              <a:buNone/>
              <a:defRPr sz="1200" b="0" i="0" u="none" strike="noStrike" cap="none">
                <a:solidFill>
                  <a:srgbClr val="888888"/>
                </a:solidFill>
                <a:latin typeface="Century Gothic"/>
                <a:ea typeface="Century Gothic"/>
                <a:cs typeface="Century Gothic"/>
                <a:sym typeface="Century Gothic"/>
              </a:defRPr>
            </a:lvl7pPr>
            <a:lvl8pPr marL="0" marR="0" lvl="7" indent="0" algn="r" rtl="0">
              <a:spcBef>
                <a:spcPts val="0"/>
              </a:spcBef>
              <a:buNone/>
              <a:defRPr sz="1200" b="0" i="0" u="none" strike="noStrike" cap="none">
                <a:solidFill>
                  <a:srgbClr val="888888"/>
                </a:solidFill>
                <a:latin typeface="Century Gothic"/>
                <a:ea typeface="Century Gothic"/>
                <a:cs typeface="Century Gothic"/>
                <a:sym typeface="Century Gothic"/>
              </a:defRPr>
            </a:lvl8pPr>
            <a:lvl9pPr marL="0" marR="0" lvl="8" indent="0" algn="r" rtl="0">
              <a:spcBef>
                <a:spcPts val="0"/>
              </a:spcBef>
              <a:buNone/>
              <a:defRPr sz="1200" b="0" i="0" u="none" strike="noStrike" cap="none">
                <a:solidFill>
                  <a:srgbClr val="888888"/>
                </a:solidFill>
                <a:latin typeface="Century Gothic"/>
                <a:ea typeface="Century Gothic"/>
                <a:cs typeface="Century Gothic"/>
                <a:sym typeface="Century Gothic"/>
              </a:defRPr>
            </a:lvl9pPr>
          </a:lstStyle>
          <a:p>
            <a:fld id="{00000000-1234-1234-1234-123412341234}" type="slidenum">
              <a:rPr lang="en-US" smtClean="0"/>
              <a:pPr/>
              <a:t>‹#›</a:t>
            </a:fld>
            <a:endParaRPr lang="en-US" dirty="0"/>
          </a:p>
        </p:txBody>
      </p:sp>
      <p:cxnSp>
        <p:nvCxnSpPr>
          <p:cNvPr id="10" name="Google Shape;10;p19"/>
          <p:cNvCxnSpPr/>
          <p:nvPr/>
        </p:nvCxnSpPr>
        <p:spPr>
          <a:xfrm>
            <a:off x="-942" y="931140"/>
            <a:ext cx="12196800" cy="193"/>
          </a:xfrm>
          <a:prstGeom prst="straightConnector1">
            <a:avLst/>
          </a:prstGeom>
          <a:noFill/>
          <a:ln w="38100" cap="flat" cmpd="sng">
            <a:solidFill>
              <a:srgbClr val="15438E"/>
            </a:solidFill>
            <a:prstDash val="solid"/>
            <a:miter lim="800000"/>
            <a:headEnd type="none" w="sm" len="sm"/>
            <a:tailEnd type="none" w="sm" len="sm"/>
          </a:ln>
        </p:spPr>
      </p:cxnSp>
      <p:sp>
        <p:nvSpPr>
          <p:cNvPr id="11" name="Google Shape;11;p19"/>
          <p:cNvSpPr txBox="1"/>
          <p:nvPr/>
        </p:nvSpPr>
        <p:spPr>
          <a:xfrm>
            <a:off x="838200" y="57869"/>
            <a:ext cx="8699500" cy="70590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Calibri"/>
              <a:buNone/>
            </a:pPr>
            <a:endParaRPr sz="4400" b="0" i="0" u="none" strike="noStrike" cap="none">
              <a:solidFill>
                <a:schemeClr val="dk1"/>
              </a:solidFill>
              <a:latin typeface="Calibri"/>
              <a:ea typeface="Calibri"/>
              <a:cs typeface="Calibri"/>
              <a:sym typeface="Calibri"/>
            </a:endParaRPr>
          </a:p>
        </p:txBody>
      </p:sp>
      <p:pic>
        <p:nvPicPr>
          <p:cNvPr id="12" name="Picture 2" descr="https://www.iimsirmaur.ac.in/img/iimlogo.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1308772" y="10391"/>
            <a:ext cx="883228" cy="883229"/>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dk2" tx2="lt2" accent1="accent1" accent2="accent2" accent3="accent3" accent4="accent4" accent5="accent5" accent6="accent6" hlink="hlink" folHlink="folHlink"/>
  <p:sldLayoutIdLst>
    <p:sldLayoutId id="2147483649" r:id="rId1"/>
    <p:sldLayoutId id="2147483650" r:id="rId2"/>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
        <p:cNvGrpSpPr/>
        <p:nvPr/>
      </p:nvGrpSpPr>
      <p:grpSpPr>
        <a:xfrm>
          <a:off x="0" y="0"/>
          <a:ext cx="0" cy="0"/>
          <a:chOff x="0" y="0"/>
          <a:chExt cx="0" cy="0"/>
        </a:xfrm>
      </p:grpSpPr>
      <p:sp>
        <p:nvSpPr>
          <p:cNvPr id="25" name="Google Shape;25;p1"/>
          <p:cNvSpPr txBox="1"/>
          <p:nvPr/>
        </p:nvSpPr>
        <p:spPr>
          <a:xfrm>
            <a:off x="1308122" y="2688470"/>
            <a:ext cx="10343400" cy="718800"/>
          </a:xfrm>
          <a:prstGeom prst="rect">
            <a:avLst/>
          </a:prstGeom>
          <a:noFill/>
          <a:ln>
            <a:noFill/>
          </a:ln>
        </p:spPr>
        <p:txBody>
          <a:bodyPr spcFirstLastPara="1" wrap="square" lIns="91425" tIns="45700" rIns="91425" bIns="45700" anchor="t" anchorCtr="0">
            <a:normAutofit fontScale="85000" lnSpcReduction="20000"/>
          </a:bodyPr>
          <a:lstStyle/>
          <a:p>
            <a:pPr marL="0" lvl="0" indent="0" algn="ctr" rtl="0">
              <a:spcBef>
                <a:spcPts val="0"/>
              </a:spcBef>
              <a:spcAft>
                <a:spcPts val="0"/>
              </a:spcAft>
              <a:buClr>
                <a:srgbClr val="000000"/>
              </a:buClr>
              <a:buFont typeface="Arial"/>
              <a:buNone/>
            </a:pPr>
            <a:r>
              <a:rPr lang="en-IN" sz="5450" b="1" dirty="0">
                <a:solidFill>
                  <a:srgbClr val="0066A1"/>
                </a:solidFill>
                <a:latin typeface="Times New Roman"/>
                <a:ea typeface="Times New Roman"/>
                <a:cs typeface="Times New Roman"/>
                <a:sym typeface="Times New Roman"/>
              </a:rPr>
              <a:t>Resource Planning</a:t>
            </a:r>
            <a:endParaRPr sz="5450" b="1" dirty="0">
              <a:solidFill>
                <a:srgbClr val="0066A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ct val="100000"/>
              <a:buFont typeface="Arial"/>
              <a:buNone/>
            </a:pPr>
            <a:endParaRPr sz="3200" dirty="0">
              <a:solidFill>
                <a:schemeClr val="dk1"/>
              </a:solidFill>
              <a:latin typeface="Century Gothic"/>
              <a:ea typeface="Century Gothic"/>
              <a:cs typeface="Century Gothic"/>
              <a:sym typeface="Century Gothic"/>
            </a:endParaRPr>
          </a:p>
        </p:txBody>
      </p:sp>
      <p:sp>
        <p:nvSpPr>
          <p:cNvPr id="2" name="Google Shape;24;p1">
            <a:extLst>
              <a:ext uri="{FF2B5EF4-FFF2-40B4-BE49-F238E27FC236}">
                <a16:creationId xmlns:a16="http://schemas.microsoft.com/office/drawing/2014/main" id="{860CCB63-2A70-F201-CD44-E43234AE390C}"/>
              </a:ext>
            </a:extLst>
          </p:cNvPr>
          <p:cNvSpPr txBox="1">
            <a:spLocks noGrp="1"/>
          </p:cNvSpPr>
          <p:nvPr>
            <p:ph type="subTitle" idx="1"/>
          </p:nvPr>
        </p:nvSpPr>
        <p:spPr>
          <a:xfrm>
            <a:off x="7303911" y="4854223"/>
            <a:ext cx="4786489" cy="124177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000"/>
              <a:buNone/>
            </a:pPr>
            <a:r>
              <a:rPr lang="en-IN" sz="2000" b="1" dirty="0" err="1">
                <a:solidFill>
                  <a:srgbClr val="002060"/>
                </a:solidFill>
                <a:latin typeface="Times New Roman" panose="02020603050405020304" pitchFamily="18" charset="0"/>
                <a:cs typeface="Times New Roman" panose="02020603050405020304" pitchFamily="18" charset="0"/>
              </a:rPr>
              <a:t>Dr.</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err="1">
                <a:solidFill>
                  <a:srgbClr val="002060"/>
                </a:solidFill>
                <a:latin typeface="Times New Roman" panose="02020603050405020304" pitchFamily="18" charset="0"/>
                <a:cs typeface="Times New Roman" panose="02020603050405020304" pitchFamily="18" charset="0"/>
              </a:rPr>
              <a:t>Narpat</a:t>
            </a:r>
            <a:r>
              <a:rPr lang="en-IN" sz="2000" b="1" dirty="0">
                <a:solidFill>
                  <a:srgbClr val="002060"/>
                </a:solidFill>
                <a:latin typeface="Times New Roman" panose="02020603050405020304" pitchFamily="18" charset="0"/>
                <a:cs typeface="Times New Roman" panose="02020603050405020304" pitchFamily="18" charset="0"/>
              </a:rPr>
              <a:t> Ram </a:t>
            </a:r>
            <a:r>
              <a:rPr lang="en-IN" sz="2000" b="1" dirty="0" err="1">
                <a:solidFill>
                  <a:srgbClr val="002060"/>
                </a:solidFill>
                <a:latin typeface="Times New Roman" panose="02020603050405020304" pitchFamily="18" charset="0"/>
                <a:cs typeface="Times New Roman" panose="02020603050405020304" pitchFamily="18" charset="0"/>
              </a:rPr>
              <a:t>Sangwa</a:t>
            </a:r>
            <a:endParaRPr lang="en-IN" sz="2000" b="1" dirty="0">
              <a:solidFill>
                <a:srgbClr val="002060"/>
              </a:solidFill>
              <a:latin typeface="Times New Roman" panose="02020603050405020304" pitchFamily="18" charset="0"/>
              <a:cs typeface="Times New Roman" panose="02020603050405020304" pitchFamily="18" charset="0"/>
            </a:endParaRPr>
          </a:p>
          <a:p>
            <a:pPr marL="0" lvl="0" indent="0" algn="l" rtl="0">
              <a:lnSpc>
                <a:spcPct val="100000"/>
              </a:lnSpc>
              <a:spcBef>
                <a:spcPts val="0"/>
              </a:spcBef>
              <a:spcAft>
                <a:spcPts val="0"/>
              </a:spcAft>
              <a:buClr>
                <a:schemeClr val="dk1"/>
              </a:buClr>
              <a:buSzPts val="2000"/>
              <a:buNone/>
            </a:pPr>
            <a:r>
              <a:rPr lang="en-IN" sz="2000" b="1" dirty="0">
                <a:solidFill>
                  <a:srgbClr val="002060"/>
                </a:solidFill>
                <a:latin typeface="Times New Roman" panose="02020603050405020304" pitchFamily="18" charset="0"/>
                <a:cs typeface="Times New Roman" panose="02020603050405020304" pitchFamily="18" charset="0"/>
              </a:rPr>
              <a:t>Assistant Professor</a:t>
            </a:r>
          </a:p>
          <a:p>
            <a:pPr marL="0" lvl="0" indent="0" algn="l" rtl="0">
              <a:lnSpc>
                <a:spcPct val="100000"/>
              </a:lnSpc>
              <a:spcBef>
                <a:spcPts val="0"/>
              </a:spcBef>
              <a:spcAft>
                <a:spcPts val="0"/>
              </a:spcAft>
              <a:buClr>
                <a:schemeClr val="dk1"/>
              </a:buClr>
              <a:buSzPts val="2000"/>
              <a:buNone/>
            </a:pPr>
            <a:r>
              <a:rPr lang="en-IN" sz="2000" b="1" dirty="0">
                <a:solidFill>
                  <a:srgbClr val="002060"/>
                </a:solidFill>
                <a:latin typeface="Times New Roman" panose="02020603050405020304" pitchFamily="18" charset="0"/>
                <a:cs typeface="Times New Roman" panose="02020603050405020304" pitchFamily="18" charset="0"/>
              </a:rPr>
              <a:t>Operations &amp; Supply Chain Management</a:t>
            </a:r>
          </a:p>
          <a:p>
            <a:pPr marL="0" lvl="0" indent="0" algn="l" rtl="0">
              <a:lnSpc>
                <a:spcPct val="100000"/>
              </a:lnSpc>
              <a:spcBef>
                <a:spcPts val="0"/>
              </a:spcBef>
              <a:spcAft>
                <a:spcPts val="0"/>
              </a:spcAft>
              <a:buClr>
                <a:schemeClr val="dk1"/>
              </a:buClr>
              <a:buSzPts val="2000"/>
              <a:buNone/>
            </a:pPr>
            <a:r>
              <a:rPr lang="en-IN" sz="2000" b="1" dirty="0">
                <a:solidFill>
                  <a:srgbClr val="002060"/>
                </a:solidFill>
                <a:latin typeface="Times New Roman" panose="02020603050405020304" pitchFamily="18" charset="0"/>
                <a:cs typeface="Times New Roman" panose="02020603050405020304" pitchFamily="18" charset="0"/>
              </a:rPr>
              <a:t>IIM </a:t>
            </a:r>
            <a:r>
              <a:rPr lang="en-IN" sz="2000" b="1" dirty="0" err="1">
                <a:solidFill>
                  <a:srgbClr val="002060"/>
                </a:solidFill>
                <a:latin typeface="Times New Roman" panose="02020603050405020304" pitchFamily="18" charset="0"/>
                <a:cs typeface="Times New Roman" panose="02020603050405020304" pitchFamily="18" charset="0"/>
              </a:rPr>
              <a:t>Sirmaur</a:t>
            </a:r>
            <a:endParaRPr sz="2000" b="1"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Learning Objectives</a:t>
            </a:r>
          </a:p>
        </p:txBody>
      </p:sp>
      <p:sp>
        <p:nvSpPr>
          <p:cNvPr id="3" name="Text Placeholder 2"/>
          <p:cNvSpPr>
            <a:spLocks noGrp="1"/>
          </p:cNvSpPr>
          <p:nvPr>
            <p:ph type="body" idx="1"/>
          </p:nvPr>
        </p:nvSpPr>
        <p:spPr/>
        <p:txBody>
          <a:bodyPr>
            <a:normAutofit/>
          </a:bodyPr>
          <a:lstStyle/>
          <a:p>
            <a:pPr marL="342900" indent="-342900">
              <a:spcBef>
                <a:spcPct val="20000"/>
              </a:spcBef>
              <a:buClr>
                <a:schemeClr val="tx1"/>
              </a:buClr>
              <a:buFont typeface="Wingdings" pitchFamily="2" charset="2"/>
              <a:buChar char="Ø"/>
            </a:pPr>
            <a:r>
              <a:rPr lang="en-US" sz="2800" dirty="0">
                <a:solidFill>
                  <a:srgbClr val="CC0066"/>
                </a:solidFill>
                <a:effectLst>
                  <a:outerShdw blurRad="38100" dist="38100" dir="2700000" algn="tl">
                    <a:srgbClr val="000000"/>
                  </a:outerShdw>
                </a:effectLst>
              </a:rPr>
              <a:t>How much </a:t>
            </a:r>
            <a:r>
              <a:rPr lang="en-US" sz="2800" dirty="0"/>
              <a:t>of an item is needed to meet demand?</a:t>
            </a:r>
          </a:p>
          <a:p>
            <a:pPr marL="342900">
              <a:spcBef>
                <a:spcPct val="20000"/>
              </a:spcBef>
              <a:buClr>
                <a:schemeClr val="tx1"/>
              </a:buClr>
              <a:buFont typeface="Wingdings" pitchFamily="2" charset="2"/>
              <a:buChar char="Ø"/>
            </a:pPr>
            <a:r>
              <a:rPr lang="en-US" sz="2800" dirty="0">
                <a:solidFill>
                  <a:srgbClr val="CC0066"/>
                </a:solidFill>
                <a:effectLst>
                  <a:outerShdw blurRad="38100" dist="38100" dir="2700000" algn="tl">
                    <a:srgbClr val="000000"/>
                  </a:outerShdw>
                </a:effectLst>
              </a:rPr>
              <a:t>What </a:t>
            </a:r>
            <a:r>
              <a:rPr lang="en-US" dirty="0"/>
              <a:t>are the various </a:t>
            </a:r>
            <a:r>
              <a:rPr lang="en-US" sz="2800" dirty="0"/>
              <a:t>parts and components required?</a:t>
            </a:r>
          </a:p>
          <a:p>
            <a:pPr marL="342900" indent="-342900">
              <a:spcBef>
                <a:spcPct val="20000"/>
              </a:spcBef>
              <a:buClr>
                <a:schemeClr val="tx1"/>
              </a:buClr>
              <a:buFont typeface="Wingdings" pitchFamily="2" charset="2"/>
              <a:buChar char="Ø"/>
            </a:pPr>
            <a:r>
              <a:rPr lang="en-US" sz="2800" dirty="0">
                <a:solidFill>
                  <a:srgbClr val="CC0066"/>
                </a:solidFill>
                <a:effectLst>
                  <a:outerShdw blurRad="38100" dist="38100" dir="2700000" algn="tl">
                    <a:srgbClr val="000000"/>
                  </a:outerShdw>
                </a:effectLst>
              </a:rPr>
              <a:t>When</a:t>
            </a:r>
            <a:r>
              <a:rPr lang="en-US" sz="2800" dirty="0"/>
              <a:t> to order parts and components?</a:t>
            </a:r>
            <a:endParaRPr lang="en-IN" kern="1200" dirty="0">
              <a:solidFill>
                <a:srgbClr val="000000"/>
              </a:solidFill>
            </a:endParaRPr>
          </a:p>
          <a:p>
            <a:endParaRPr lang="en-IN" dirty="0"/>
          </a:p>
          <a:p>
            <a:endParaRPr lang="en-IN" dirty="0"/>
          </a:p>
        </p:txBody>
      </p:sp>
      <p:sp>
        <p:nvSpPr>
          <p:cNvPr id="4" name="Date Placeholder 3"/>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p:cNvSpPr>
            <a:spLocks noGrp="1"/>
          </p:cNvSpPr>
          <p:nvPr>
            <p:ph type="ftr" idx="11"/>
          </p:nvPr>
        </p:nvSpPr>
        <p:spPr/>
        <p:txBody>
          <a:bodyPr/>
          <a:lstStyle/>
          <a:p>
            <a:r>
              <a:rPr lang="en-IN" dirty="0"/>
              <a:t>Resource Planning</a:t>
            </a:r>
          </a:p>
        </p:txBody>
      </p:sp>
      <p:sp>
        <p:nvSpPr>
          <p:cNvPr id="6" name="Slide Number Placeholder 5"/>
          <p:cNvSpPr>
            <a:spLocks noGrp="1"/>
          </p:cNvSpPr>
          <p:nvPr>
            <p:ph type="sldNum" idx="12"/>
          </p:nvPr>
        </p:nvSpPr>
        <p:spPr/>
        <p:txBody>
          <a:bodyPr/>
          <a:lstStyle/>
          <a:p>
            <a:fld id="{00000000-1234-1234-1234-123412341234}" type="slidenum">
              <a:rPr lang="en-US" smtClean="0"/>
              <a:pPr/>
              <a:t>2</a:t>
            </a:fld>
            <a:endParaRPr lang="en-US" dirty="0"/>
          </a:p>
        </p:txBody>
      </p:sp>
    </p:spTree>
    <p:extLst>
      <p:ext uri="{BB962C8B-B14F-4D97-AF65-F5344CB8AC3E}">
        <p14:creationId xmlns:p14="http://schemas.microsoft.com/office/powerpoint/2010/main" val="582327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5597-083B-4511-C58F-F3A2E1F587F5}"/>
              </a:ext>
            </a:extLst>
          </p:cNvPr>
          <p:cNvSpPr>
            <a:spLocks noGrp="1"/>
          </p:cNvSpPr>
          <p:nvPr>
            <p:ph type="title"/>
          </p:nvPr>
        </p:nvSpPr>
        <p:spPr/>
        <p:txBody>
          <a:bodyPr/>
          <a:lstStyle/>
          <a:p>
            <a:r>
              <a:rPr lang="en-IN" dirty="0"/>
              <a:t>Resource planning</a:t>
            </a:r>
          </a:p>
        </p:txBody>
      </p:sp>
      <p:sp>
        <p:nvSpPr>
          <p:cNvPr id="4" name="Date Placeholder 3">
            <a:extLst>
              <a:ext uri="{FF2B5EF4-FFF2-40B4-BE49-F238E27FC236}">
                <a16:creationId xmlns:a16="http://schemas.microsoft.com/office/drawing/2014/main" id="{75D632DF-0FEA-43B2-33BF-F75E277CA760}"/>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E6BA7D8A-7301-0403-3189-97B7126AA8B2}"/>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A83087B4-A81A-83CC-FFB8-6879779DD101}"/>
              </a:ext>
            </a:extLst>
          </p:cNvPr>
          <p:cNvSpPr>
            <a:spLocks noGrp="1"/>
          </p:cNvSpPr>
          <p:nvPr>
            <p:ph type="sldNum" idx="12"/>
          </p:nvPr>
        </p:nvSpPr>
        <p:spPr/>
        <p:txBody>
          <a:bodyPr/>
          <a:lstStyle/>
          <a:p>
            <a:fld id="{00000000-1234-1234-1234-123412341234}" type="slidenum">
              <a:rPr lang="en-US" smtClean="0"/>
              <a:pPr/>
              <a:t>3</a:t>
            </a:fld>
            <a:endParaRPr lang="en-US" dirty="0"/>
          </a:p>
        </p:txBody>
      </p:sp>
      <p:sp>
        <p:nvSpPr>
          <p:cNvPr id="12" name="Oval 11">
            <a:extLst>
              <a:ext uri="{FF2B5EF4-FFF2-40B4-BE49-F238E27FC236}">
                <a16:creationId xmlns:a16="http://schemas.microsoft.com/office/drawing/2014/main" id="{4BCAFBFB-0DC6-832B-E7E5-5C3E857AABF1}"/>
              </a:ext>
            </a:extLst>
          </p:cNvPr>
          <p:cNvSpPr>
            <a:spLocks noChangeArrowheads="1"/>
          </p:cNvSpPr>
          <p:nvPr/>
        </p:nvSpPr>
        <p:spPr bwMode="auto">
          <a:xfrm>
            <a:off x="2154870" y="1109324"/>
            <a:ext cx="7620000" cy="4724400"/>
          </a:xfrm>
          <a:prstGeom prst="ellipse">
            <a:avLst/>
          </a:prstGeom>
          <a:solidFill>
            <a:srgbClr val="3366FF"/>
          </a:solidFill>
          <a:ln w="9525">
            <a:solidFill>
              <a:sysClr val="windowText" lastClr="000000"/>
            </a:solidFill>
            <a:round/>
            <a:headEnd/>
            <a:tailEnd/>
          </a:ln>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13" name="Oval 12">
            <a:extLst>
              <a:ext uri="{FF2B5EF4-FFF2-40B4-BE49-F238E27FC236}">
                <a16:creationId xmlns:a16="http://schemas.microsoft.com/office/drawing/2014/main" id="{C3F13B7C-1353-3F00-6669-E0B096399221}"/>
              </a:ext>
            </a:extLst>
          </p:cNvPr>
          <p:cNvSpPr>
            <a:spLocks noChangeArrowheads="1"/>
          </p:cNvSpPr>
          <p:nvPr/>
        </p:nvSpPr>
        <p:spPr bwMode="auto">
          <a:xfrm>
            <a:off x="3467996" y="2023724"/>
            <a:ext cx="5181600" cy="3352800"/>
          </a:xfrm>
          <a:prstGeom prst="ellipse">
            <a:avLst/>
          </a:prstGeom>
          <a:solidFill>
            <a:srgbClr val="99CCFF"/>
          </a:solidFill>
          <a:ln w="9525">
            <a:solidFill>
              <a:sysClr val="windowText" lastClr="000000"/>
            </a:solidFill>
            <a:round/>
            <a:headEnd/>
            <a:tailEnd/>
          </a:ln>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14" name="Oval 13">
            <a:extLst>
              <a:ext uri="{FF2B5EF4-FFF2-40B4-BE49-F238E27FC236}">
                <a16:creationId xmlns:a16="http://schemas.microsoft.com/office/drawing/2014/main" id="{9FAF81EF-E486-E0EF-8277-5E3BD8D5E431}"/>
              </a:ext>
            </a:extLst>
          </p:cNvPr>
          <p:cNvSpPr>
            <a:spLocks noChangeArrowheads="1"/>
          </p:cNvSpPr>
          <p:nvPr/>
        </p:nvSpPr>
        <p:spPr bwMode="auto">
          <a:xfrm>
            <a:off x="4669470" y="3090524"/>
            <a:ext cx="2819400" cy="1524000"/>
          </a:xfrm>
          <a:prstGeom prst="ellipse">
            <a:avLst/>
          </a:prstGeom>
          <a:solidFill>
            <a:srgbClr val="C0C0C0"/>
          </a:solidFill>
          <a:ln w="9525">
            <a:solidFill>
              <a:sysClr val="windowText" lastClr="000000"/>
            </a:solidFill>
            <a:round/>
            <a:headEnd/>
            <a:tailEnd/>
          </a:ln>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imes New Roman" pitchFamily="18" charset="0"/>
                <a:ea typeface="+mn-ea"/>
                <a:cs typeface="+mn-cs"/>
              </a:rPr>
              <a:t>MRP – Material </a:t>
            </a:r>
          </a:p>
          <a:p>
            <a:pPr marL="0" marR="0" lvl="0" indent="0" algn="ctr" defTabSz="914400" rtl="0" eaLnBrk="1" fontAlgn="base" latinLnBrk="0" hangingPunct="1">
              <a:lnSpc>
                <a:spcPct val="100000"/>
              </a:lnSpc>
              <a:spcBef>
                <a:spcPct val="0"/>
              </a:spcBef>
              <a:spcAft>
                <a:spcPct val="0"/>
              </a:spcAft>
              <a:buClrTx/>
              <a:buSzTx/>
              <a:buFontTx/>
              <a:buNone/>
              <a:tabLst/>
              <a:defRPr/>
            </a:pPr>
            <a:r>
              <a:rPr lang="en-US" sz="2400" b="1" dirty="0">
                <a:solidFill>
                  <a:prstClr val="black"/>
                </a:solidFill>
                <a:latin typeface="Times New Roman" pitchFamily="18" charset="0"/>
              </a:rPr>
              <a:t>R</a:t>
            </a:r>
            <a:r>
              <a:rPr kumimoji="0" lang="en-US" sz="2400" b="1" i="0" u="none" strike="noStrike" kern="1200" cap="none" spc="0" normalizeH="0" baseline="0" noProof="0" dirty="0" err="1">
                <a:ln>
                  <a:noFill/>
                </a:ln>
                <a:solidFill>
                  <a:prstClr val="black"/>
                </a:solidFill>
                <a:effectLst/>
                <a:uLnTx/>
                <a:uFillTx/>
                <a:latin typeface="Times New Roman" pitchFamily="18" charset="0"/>
                <a:ea typeface="+mn-ea"/>
                <a:cs typeface="+mn-cs"/>
              </a:rPr>
              <a:t>equirements</a:t>
            </a:r>
            <a:r>
              <a:rPr kumimoji="0" lang="en-US" sz="2400" b="1" i="0" u="none" strike="noStrike" kern="1200" cap="none" spc="0" normalizeH="0" baseline="0" noProof="0" dirty="0">
                <a:ln>
                  <a:noFill/>
                </a:ln>
                <a:solidFill>
                  <a:prstClr val="black"/>
                </a:solidFill>
                <a:effectLst/>
                <a:uLnTx/>
                <a:uFillTx/>
                <a:latin typeface="Times New Roman" pitchFamily="18" charset="0"/>
                <a:ea typeface="+mn-ea"/>
                <a:cs typeface="+mn-cs"/>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lang="en-US" sz="2400" b="1" dirty="0">
                <a:solidFill>
                  <a:prstClr val="black"/>
                </a:solidFill>
                <a:latin typeface="Times New Roman" pitchFamily="18" charset="0"/>
              </a:rPr>
              <a:t>P</a:t>
            </a:r>
            <a:r>
              <a:rPr kumimoji="0" lang="en-US" sz="2400" b="1" i="0" u="none" strike="noStrike" kern="1200" cap="none" spc="0" normalizeH="0" baseline="0" noProof="0" dirty="0" err="1">
                <a:ln>
                  <a:noFill/>
                </a:ln>
                <a:solidFill>
                  <a:prstClr val="black"/>
                </a:solidFill>
                <a:effectLst/>
                <a:uLnTx/>
                <a:uFillTx/>
                <a:latin typeface="Times New Roman" pitchFamily="18" charset="0"/>
                <a:ea typeface="+mn-ea"/>
                <a:cs typeface="+mn-cs"/>
              </a:rPr>
              <a:t>lanning</a:t>
            </a:r>
            <a:r>
              <a:rPr kumimoji="0" lang="en-US" sz="2400" b="1" i="0" u="none" strike="noStrike" kern="1200" cap="none" spc="0" normalizeH="0" baseline="0" noProof="0" dirty="0">
                <a:ln>
                  <a:noFill/>
                </a:ln>
                <a:solidFill>
                  <a:prstClr val="black"/>
                </a:solidFill>
                <a:effectLst/>
                <a:uLnTx/>
                <a:uFillTx/>
                <a:latin typeface="Times New Roman" pitchFamily="18" charset="0"/>
                <a:ea typeface="+mn-ea"/>
                <a:cs typeface="+mn-cs"/>
              </a:rPr>
              <a:t> </a:t>
            </a:r>
          </a:p>
        </p:txBody>
      </p:sp>
      <p:sp>
        <p:nvSpPr>
          <p:cNvPr id="15" name="Text Box 6">
            <a:extLst>
              <a:ext uri="{FF2B5EF4-FFF2-40B4-BE49-F238E27FC236}">
                <a16:creationId xmlns:a16="http://schemas.microsoft.com/office/drawing/2014/main" id="{51343E97-7E4B-3637-A5D0-2283C8094B99}"/>
              </a:ext>
            </a:extLst>
          </p:cNvPr>
          <p:cNvSpPr txBox="1">
            <a:spLocks noChangeArrowheads="1"/>
          </p:cNvSpPr>
          <p:nvPr/>
        </p:nvSpPr>
        <p:spPr bwMode="auto">
          <a:xfrm>
            <a:off x="4350497" y="2296625"/>
            <a:ext cx="3493905" cy="830997"/>
          </a:xfrm>
          <a:prstGeom prst="rect">
            <a:avLst/>
          </a:prstGeom>
          <a:noFill/>
          <a:ln w="9525">
            <a:noFill/>
            <a:miter lim="800000"/>
            <a:headEnd/>
            <a:tailEnd/>
          </a:ln>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buClrTx/>
              <a:buFontTx/>
              <a:buNone/>
            </a:pPr>
            <a:r>
              <a:rPr lang="en-US" sz="2400" b="1" dirty="0">
                <a:solidFill>
                  <a:prstClr val="black"/>
                </a:solidFill>
                <a:latin typeface="Times New Roman" pitchFamily="18" charset="0"/>
              </a:rPr>
              <a:t>MRP II – Manufacturing</a:t>
            </a:r>
          </a:p>
          <a:p>
            <a:pPr eaLnBrk="1" hangingPunct="1">
              <a:buClrTx/>
              <a:buFontTx/>
              <a:buNone/>
            </a:pPr>
            <a:r>
              <a:rPr lang="en-US" sz="2400" b="1" dirty="0">
                <a:solidFill>
                  <a:prstClr val="black"/>
                </a:solidFill>
                <a:latin typeface="Times New Roman" pitchFamily="18" charset="0"/>
              </a:rPr>
              <a:t>Resource Planning</a:t>
            </a:r>
          </a:p>
        </p:txBody>
      </p:sp>
      <p:sp>
        <p:nvSpPr>
          <p:cNvPr id="16" name="Text Box 7">
            <a:extLst>
              <a:ext uri="{FF2B5EF4-FFF2-40B4-BE49-F238E27FC236}">
                <a16:creationId xmlns:a16="http://schemas.microsoft.com/office/drawing/2014/main" id="{AD0335CD-B938-B054-3CE0-63B78D1A4B1E}"/>
              </a:ext>
            </a:extLst>
          </p:cNvPr>
          <p:cNvSpPr txBox="1">
            <a:spLocks noChangeArrowheads="1"/>
          </p:cNvSpPr>
          <p:nvPr/>
        </p:nvSpPr>
        <p:spPr bwMode="auto">
          <a:xfrm>
            <a:off x="4837808" y="1252860"/>
            <a:ext cx="2673136" cy="830997"/>
          </a:xfrm>
          <a:prstGeom prst="rect">
            <a:avLst/>
          </a:prstGeom>
          <a:noFill/>
          <a:ln w="9525">
            <a:noFill/>
            <a:miter lim="800000"/>
            <a:headEnd/>
            <a:tailEnd/>
          </a:ln>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spcBef>
                <a:spcPct val="50000"/>
              </a:spcBef>
              <a:buClrTx/>
              <a:buFontTx/>
              <a:buNone/>
            </a:pPr>
            <a:r>
              <a:rPr lang="en-US" sz="2400" b="1" dirty="0">
                <a:solidFill>
                  <a:prstClr val="white"/>
                </a:solidFill>
                <a:latin typeface="Times New Roman" pitchFamily="18" charset="0"/>
              </a:rPr>
              <a:t>ERP- Enterprise Resource Planning</a:t>
            </a:r>
          </a:p>
        </p:txBody>
      </p:sp>
    </p:spTree>
    <p:extLst>
      <p:ext uri="{BB962C8B-B14F-4D97-AF65-F5344CB8AC3E}">
        <p14:creationId xmlns:p14="http://schemas.microsoft.com/office/powerpoint/2010/main" val="2436192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18069-9BA9-6276-CFBE-E9F73B276E9C}"/>
              </a:ext>
            </a:extLst>
          </p:cNvPr>
          <p:cNvSpPr>
            <a:spLocks noGrp="1"/>
          </p:cNvSpPr>
          <p:nvPr>
            <p:ph type="title"/>
          </p:nvPr>
        </p:nvSpPr>
        <p:spPr/>
        <p:txBody>
          <a:bodyPr/>
          <a:lstStyle/>
          <a:p>
            <a:r>
              <a:rPr lang="en-US" dirty="0"/>
              <a:t>Material Requirements Planning</a:t>
            </a:r>
            <a:endParaRPr lang="en-IN" dirty="0"/>
          </a:p>
        </p:txBody>
      </p:sp>
      <p:sp>
        <p:nvSpPr>
          <p:cNvPr id="3" name="Text Placeholder 2">
            <a:extLst>
              <a:ext uri="{FF2B5EF4-FFF2-40B4-BE49-F238E27FC236}">
                <a16:creationId xmlns:a16="http://schemas.microsoft.com/office/drawing/2014/main" id="{294F7384-207F-DDF1-962A-3803C2147083}"/>
              </a:ext>
            </a:extLst>
          </p:cNvPr>
          <p:cNvSpPr>
            <a:spLocks noGrp="1"/>
          </p:cNvSpPr>
          <p:nvPr>
            <p:ph type="body" idx="1"/>
          </p:nvPr>
        </p:nvSpPr>
        <p:spPr/>
        <p:txBody>
          <a:bodyPr/>
          <a:lstStyle/>
          <a:p>
            <a:pPr algn="just" eaLnBrk="0" hangingPunct="0">
              <a:lnSpc>
                <a:spcPct val="90000"/>
              </a:lnSpc>
              <a:spcAft>
                <a:spcPct val="35000"/>
              </a:spcAft>
              <a:buClr>
                <a:schemeClr val="tx1"/>
              </a:buClr>
              <a:buFont typeface="Arial" panose="020B0604020202020204" pitchFamily="34" charset="0"/>
              <a:buChar char="•"/>
            </a:pPr>
            <a:r>
              <a:rPr lang="en-US" dirty="0">
                <a:solidFill>
                  <a:srgbClr val="FF0000"/>
                </a:solidFill>
              </a:rPr>
              <a:t>Materials requirements planning (MRP) </a:t>
            </a:r>
            <a:r>
              <a:rPr lang="en-US" dirty="0"/>
              <a:t>is a </a:t>
            </a:r>
            <a:r>
              <a:rPr lang="tr-TR" dirty="0"/>
              <a:t>computerized  inventory planning and control system </a:t>
            </a:r>
            <a:r>
              <a:rPr lang="en-US" dirty="0"/>
              <a:t>for determining </a:t>
            </a:r>
            <a:r>
              <a:rPr lang="tr-TR" dirty="0"/>
              <a:t>when (no earlier and no later) and how many </a:t>
            </a:r>
            <a:r>
              <a:rPr lang="en-US" dirty="0"/>
              <a:t>of </a:t>
            </a:r>
            <a:r>
              <a:rPr lang="tr-TR" dirty="0"/>
              <a:t>each of the </a:t>
            </a:r>
            <a:r>
              <a:rPr lang="en-US" dirty="0"/>
              <a:t>parts, components, and materials </a:t>
            </a:r>
            <a:r>
              <a:rPr lang="tr-TR" dirty="0"/>
              <a:t>should be ordered or produced. </a:t>
            </a:r>
          </a:p>
          <a:p>
            <a:pPr algn="just" eaLnBrk="0" hangingPunct="0">
              <a:spcAft>
                <a:spcPct val="35000"/>
              </a:spcAft>
              <a:buClr>
                <a:schemeClr val="tx1"/>
              </a:buClr>
              <a:buFont typeface="Arial" panose="020B0604020202020204" pitchFamily="34" charset="0"/>
              <a:buChar char="•"/>
            </a:pPr>
            <a:r>
              <a:rPr lang="en-IN" dirty="0"/>
              <a:t>I</a:t>
            </a:r>
            <a:r>
              <a:rPr lang="tr-TR" dirty="0"/>
              <a:t>t translates master schedule requirements </a:t>
            </a:r>
            <a:r>
              <a:rPr lang="en-IN" dirty="0"/>
              <a:t>o</a:t>
            </a:r>
            <a:r>
              <a:rPr lang="tr-TR" dirty="0"/>
              <a:t>f end items into time-phased requirements for subassemblies, components and raw materials. </a:t>
            </a:r>
            <a:endParaRPr lang="en-US" dirty="0"/>
          </a:p>
        </p:txBody>
      </p:sp>
      <p:sp>
        <p:nvSpPr>
          <p:cNvPr id="4" name="Date Placeholder 3">
            <a:extLst>
              <a:ext uri="{FF2B5EF4-FFF2-40B4-BE49-F238E27FC236}">
                <a16:creationId xmlns:a16="http://schemas.microsoft.com/office/drawing/2014/main" id="{1420D275-C7A1-84BE-9EC9-EB0340371773}"/>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907F2EA4-AD1F-23E3-A5CF-CEBAAD2A20C8}"/>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8DDA01DD-0B1C-A4B8-45A1-5BC701E965DF}"/>
              </a:ext>
            </a:extLst>
          </p:cNvPr>
          <p:cNvSpPr>
            <a:spLocks noGrp="1"/>
          </p:cNvSpPr>
          <p:nvPr>
            <p:ph type="sldNum" idx="12"/>
          </p:nvPr>
        </p:nvSpPr>
        <p:spPr/>
        <p:txBody>
          <a:bodyPr/>
          <a:lstStyle/>
          <a:p>
            <a:fld id="{00000000-1234-1234-1234-123412341234}" type="slidenum">
              <a:rPr lang="en-US" smtClean="0"/>
              <a:pPr/>
              <a:t>4</a:t>
            </a:fld>
            <a:endParaRPr lang="en-US" dirty="0"/>
          </a:p>
        </p:txBody>
      </p:sp>
    </p:spTree>
    <p:extLst>
      <p:ext uri="{BB962C8B-B14F-4D97-AF65-F5344CB8AC3E}">
        <p14:creationId xmlns:p14="http://schemas.microsoft.com/office/powerpoint/2010/main" val="1840834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468C0-31F0-C550-8822-CF0ECFB3485A}"/>
              </a:ext>
            </a:extLst>
          </p:cNvPr>
          <p:cNvSpPr>
            <a:spLocks noGrp="1"/>
          </p:cNvSpPr>
          <p:nvPr>
            <p:ph type="title"/>
          </p:nvPr>
        </p:nvSpPr>
        <p:spPr/>
        <p:txBody>
          <a:bodyPr/>
          <a:lstStyle/>
          <a:p>
            <a:r>
              <a:rPr lang="en-IN" dirty="0"/>
              <a:t>Demand Characteristics</a:t>
            </a:r>
          </a:p>
        </p:txBody>
      </p:sp>
      <p:sp>
        <p:nvSpPr>
          <p:cNvPr id="4" name="Date Placeholder 3">
            <a:extLst>
              <a:ext uri="{FF2B5EF4-FFF2-40B4-BE49-F238E27FC236}">
                <a16:creationId xmlns:a16="http://schemas.microsoft.com/office/drawing/2014/main" id="{59D77731-E05A-0945-DC07-929F4212D58D}"/>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DB945A26-EE68-0928-AA40-E510961B1AEC}"/>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F240AB5B-DC38-5EBB-D1F6-AD089F0E61D7}"/>
              </a:ext>
            </a:extLst>
          </p:cNvPr>
          <p:cNvSpPr>
            <a:spLocks noGrp="1"/>
          </p:cNvSpPr>
          <p:nvPr>
            <p:ph type="sldNum" idx="12"/>
          </p:nvPr>
        </p:nvSpPr>
        <p:spPr/>
        <p:txBody>
          <a:bodyPr/>
          <a:lstStyle/>
          <a:p>
            <a:fld id="{00000000-1234-1234-1234-123412341234}" type="slidenum">
              <a:rPr lang="en-US" smtClean="0"/>
              <a:pPr/>
              <a:t>5</a:t>
            </a:fld>
            <a:endParaRPr lang="en-US" dirty="0"/>
          </a:p>
        </p:txBody>
      </p:sp>
      <p:grpSp>
        <p:nvGrpSpPr>
          <p:cNvPr id="48" name="Group 47">
            <a:extLst>
              <a:ext uri="{FF2B5EF4-FFF2-40B4-BE49-F238E27FC236}">
                <a16:creationId xmlns:a16="http://schemas.microsoft.com/office/drawing/2014/main" id="{40D34A0C-6225-7074-69A2-112A1B2311F4}"/>
              </a:ext>
            </a:extLst>
          </p:cNvPr>
          <p:cNvGrpSpPr>
            <a:grpSpLocks/>
          </p:cNvGrpSpPr>
          <p:nvPr/>
        </p:nvGrpSpPr>
        <p:grpSpPr bwMode="auto">
          <a:xfrm>
            <a:off x="606054" y="967563"/>
            <a:ext cx="9643730" cy="5167423"/>
            <a:chOff x="48" y="672"/>
            <a:chExt cx="5858" cy="3348"/>
          </a:xfrm>
        </p:grpSpPr>
        <p:sp>
          <p:nvSpPr>
            <p:cNvPr id="49" name="Oval 48">
              <a:extLst>
                <a:ext uri="{FF2B5EF4-FFF2-40B4-BE49-F238E27FC236}">
                  <a16:creationId xmlns:a16="http://schemas.microsoft.com/office/drawing/2014/main" id="{0DE15D49-4E7C-6117-32FE-400AE9C333F5}"/>
                </a:ext>
              </a:extLst>
            </p:cNvPr>
            <p:cNvSpPr>
              <a:spLocks noChangeArrowheads="1"/>
            </p:cNvSpPr>
            <p:nvPr/>
          </p:nvSpPr>
          <p:spPr bwMode="auto">
            <a:xfrm>
              <a:off x="1789" y="1155"/>
              <a:ext cx="1240" cy="520"/>
            </a:xfrm>
            <a:prstGeom prst="ellipse">
              <a:avLst/>
            </a:prstGeom>
            <a:solidFill>
              <a:srgbClr val="95CDBE"/>
            </a:solidFill>
            <a:ln w="12700">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50" name="Oval 49">
              <a:extLst>
                <a:ext uri="{FF2B5EF4-FFF2-40B4-BE49-F238E27FC236}">
                  <a16:creationId xmlns:a16="http://schemas.microsoft.com/office/drawing/2014/main" id="{FFE494F7-EF33-89ED-DA86-69DAAE392132}"/>
                </a:ext>
              </a:extLst>
            </p:cNvPr>
            <p:cNvSpPr>
              <a:spLocks noChangeArrowheads="1"/>
            </p:cNvSpPr>
            <p:nvPr/>
          </p:nvSpPr>
          <p:spPr bwMode="auto">
            <a:xfrm>
              <a:off x="433" y="1719"/>
              <a:ext cx="4024" cy="1720"/>
            </a:xfrm>
            <a:prstGeom prst="ellipse">
              <a:avLst/>
            </a:prstGeom>
            <a:solidFill>
              <a:srgbClr val="95CDBE"/>
            </a:solidFill>
            <a:ln w="12700">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51" name="Rectangle 50">
              <a:extLst>
                <a:ext uri="{FF2B5EF4-FFF2-40B4-BE49-F238E27FC236}">
                  <a16:creationId xmlns:a16="http://schemas.microsoft.com/office/drawing/2014/main" id="{58C4BFB6-35B4-EB54-4510-663FEBD62324}"/>
                </a:ext>
              </a:extLst>
            </p:cNvPr>
            <p:cNvSpPr>
              <a:spLocks noChangeArrowheads="1"/>
            </p:cNvSpPr>
            <p:nvPr/>
          </p:nvSpPr>
          <p:spPr bwMode="auto">
            <a:xfrm>
              <a:off x="3780" y="672"/>
              <a:ext cx="1789" cy="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E2700"/>
                  </a:solidFill>
                  <a:effectLst/>
                  <a:uLnTx/>
                  <a:uFillTx/>
                  <a:latin typeface="Arial" charset="0"/>
                  <a:ea typeface="+mn-ea"/>
                  <a:cs typeface="+mn-cs"/>
                </a:rPr>
                <a:t>Independent Demand</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charset="0"/>
                  <a:ea typeface="+mn-ea"/>
                  <a:cs typeface="+mn-cs"/>
                </a:rPr>
                <a:t>(i.e. Finished goods)</a:t>
              </a: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p:txBody>
        </p:sp>
        <p:grpSp>
          <p:nvGrpSpPr>
            <p:cNvPr id="52" name="Group 51">
              <a:extLst>
                <a:ext uri="{FF2B5EF4-FFF2-40B4-BE49-F238E27FC236}">
                  <a16:creationId xmlns:a16="http://schemas.microsoft.com/office/drawing/2014/main" id="{1F919235-55AE-BB0E-DA36-A1D4F083E757}"/>
                </a:ext>
              </a:extLst>
            </p:cNvPr>
            <p:cNvGrpSpPr>
              <a:grpSpLocks/>
            </p:cNvGrpSpPr>
            <p:nvPr/>
          </p:nvGrpSpPr>
          <p:grpSpPr bwMode="auto">
            <a:xfrm>
              <a:off x="913" y="1365"/>
              <a:ext cx="2920" cy="1558"/>
              <a:chOff x="820" y="1474"/>
              <a:chExt cx="2920" cy="1558"/>
            </a:xfrm>
          </p:grpSpPr>
          <p:grpSp>
            <p:nvGrpSpPr>
              <p:cNvPr id="64" name="Group 63">
                <a:extLst>
                  <a:ext uri="{FF2B5EF4-FFF2-40B4-BE49-F238E27FC236}">
                    <a16:creationId xmlns:a16="http://schemas.microsoft.com/office/drawing/2014/main" id="{80537939-6DF9-9D68-5A7A-5B55180CC92C}"/>
                  </a:ext>
                </a:extLst>
              </p:cNvPr>
              <p:cNvGrpSpPr>
                <a:grpSpLocks/>
              </p:cNvGrpSpPr>
              <p:nvPr/>
            </p:nvGrpSpPr>
            <p:grpSpPr bwMode="auto">
              <a:xfrm>
                <a:off x="820" y="2128"/>
                <a:ext cx="1384" cy="904"/>
                <a:chOff x="820" y="2128"/>
                <a:chExt cx="1384" cy="904"/>
              </a:xfrm>
            </p:grpSpPr>
            <p:sp>
              <p:nvSpPr>
                <p:cNvPr id="81" name="Rectangle 80">
                  <a:extLst>
                    <a:ext uri="{FF2B5EF4-FFF2-40B4-BE49-F238E27FC236}">
                      <a16:creationId xmlns:a16="http://schemas.microsoft.com/office/drawing/2014/main" id="{870865DC-0E27-C027-33E9-2932FA70249D}"/>
                    </a:ext>
                  </a:extLst>
                </p:cNvPr>
                <p:cNvSpPr>
                  <a:spLocks noChangeArrowheads="1"/>
                </p:cNvSpPr>
                <p:nvPr/>
              </p:nvSpPr>
              <p:spPr bwMode="auto">
                <a:xfrm>
                  <a:off x="1270" y="2128"/>
                  <a:ext cx="484" cy="256"/>
                </a:xfrm>
                <a:prstGeom prst="rect">
                  <a:avLst/>
                </a:prstGeom>
                <a:solidFill>
                  <a:sysClr val="window" lastClr="FFFFFF"/>
                </a:solidFill>
                <a:ln w="12700">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grpSp>
              <p:nvGrpSpPr>
                <p:cNvPr id="82" name="Group 81">
                  <a:extLst>
                    <a:ext uri="{FF2B5EF4-FFF2-40B4-BE49-F238E27FC236}">
                      <a16:creationId xmlns:a16="http://schemas.microsoft.com/office/drawing/2014/main" id="{6C0EFF4F-C0DE-A963-D67C-921562BE0FA0}"/>
                    </a:ext>
                  </a:extLst>
                </p:cNvPr>
                <p:cNvGrpSpPr>
                  <a:grpSpLocks/>
                </p:cNvGrpSpPr>
                <p:nvPr/>
              </p:nvGrpSpPr>
              <p:grpSpPr bwMode="auto">
                <a:xfrm>
                  <a:off x="820" y="2776"/>
                  <a:ext cx="1384" cy="256"/>
                  <a:chOff x="820" y="2776"/>
                  <a:chExt cx="1384" cy="256"/>
                </a:xfrm>
              </p:grpSpPr>
              <p:sp>
                <p:nvSpPr>
                  <p:cNvPr id="87" name="Rectangle 86">
                    <a:extLst>
                      <a:ext uri="{FF2B5EF4-FFF2-40B4-BE49-F238E27FC236}">
                        <a16:creationId xmlns:a16="http://schemas.microsoft.com/office/drawing/2014/main" id="{572D8254-E02B-5191-D73A-CCFEE64E7479}"/>
                      </a:ext>
                    </a:extLst>
                  </p:cNvPr>
                  <p:cNvSpPr>
                    <a:spLocks noChangeArrowheads="1"/>
                  </p:cNvSpPr>
                  <p:nvPr/>
                </p:nvSpPr>
                <p:spPr bwMode="auto">
                  <a:xfrm>
                    <a:off x="1720" y="2776"/>
                    <a:ext cx="484" cy="256"/>
                  </a:xfrm>
                  <a:prstGeom prst="rect">
                    <a:avLst/>
                  </a:prstGeom>
                  <a:solidFill>
                    <a:sysClr val="window" lastClr="FFFFFF"/>
                  </a:solidFill>
                  <a:ln w="12700">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88" name="Rectangle 87">
                    <a:extLst>
                      <a:ext uri="{FF2B5EF4-FFF2-40B4-BE49-F238E27FC236}">
                        <a16:creationId xmlns:a16="http://schemas.microsoft.com/office/drawing/2014/main" id="{A8C1CF85-D238-B410-4E06-369ADC64A38D}"/>
                      </a:ext>
                    </a:extLst>
                  </p:cNvPr>
                  <p:cNvSpPr>
                    <a:spLocks noChangeArrowheads="1"/>
                  </p:cNvSpPr>
                  <p:nvPr/>
                </p:nvSpPr>
                <p:spPr bwMode="auto">
                  <a:xfrm>
                    <a:off x="820" y="2776"/>
                    <a:ext cx="484" cy="256"/>
                  </a:xfrm>
                  <a:prstGeom prst="rect">
                    <a:avLst/>
                  </a:prstGeom>
                  <a:solidFill>
                    <a:sysClr val="window" lastClr="FFFFFF"/>
                  </a:solidFill>
                  <a:ln w="12700">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grpSp>
            <p:sp>
              <p:nvSpPr>
                <p:cNvPr id="83" name="Line 12">
                  <a:extLst>
                    <a:ext uri="{FF2B5EF4-FFF2-40B4-BE49-F238E27FC236}">
                      <a16:creationId xmlns:a16="http://schemas.microsoft.com/office/drawing/2014/main" id="{3E64DA42-6FEC-D004-D1D8-F1949CADCC11}"/>
                    </a:ext>
                  </a:extLst>
                </p:cNvPr>
                <p:cNvSpPr>
                  <a:spLocks noChangeShapeType="1"/>
                </p:cNvSpPr>
                <p:nvPr/>
              </p:nvSpPr>
              <p:spPr bwMode="auto">
                <a:xfrm>
                  <a:off x="1512" y="2397"/>
                  <a:ext cx="0" cy="175"/>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84" name="Line 13">
                  <a:extLst>
                    <a:ext uri="{FF2B5EF4-FFF2-40B4-BE49-F238E27FC236}">
                      <a16:creationId xmlns:a16="http://schemas.microsoft.com/office/drawing/2014/main" id="{B4CFFC54-4393-D255-2CB4-DBC6769377F8}"/>
                    </a:ext>
                  </a:extLst>
                </p:cNvPr>
                <p:cNvSpPr>
                  <a:spLocks noChangeShapeType="1"/>
                </p:cNvSpPr>
                <p:nvPr/>
              </p:nvSpPr>
              <p:spPr bwMode="auto">
                <a:xfrm>
                  <a:off x="1089" y="2580"/>
                  <a:ext cx="847" cy="0"/>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85" name="Line 14">
                  <a:extLst>
                    <a:ext uri="{FF2B5EF4-FFF2-40B4-BE49-F238E27FC236}">
                      <a16:creationId xmlns:a16="http://schemas.microsoft.com/office/drawing/2014/main" id="{140E56AB-A1D8-7BC7-5F5D-6F497ED9D5D9}"/>
                    </a:ext>
                  </a:extLst>
                </p:cNvPr>
                <p:cNvSpPr>
                  <a:spLocks noChangeShapeType="1"/>
                </p:cNvSpPr>
                <p:nvPr/>
              </p:nvSpPr>
              <p:spPr bwMode="auto">
                <a:xfrm>
                  <a:off x="1944" y="2589"/>
                  <a:ext cx="0" cy="175"/>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86" name="Line 15">
                  <a:extLst>
                    <a:ext uri="{FF2B5EF4-FFF2-40B4-BE49-F238E27FC236}">
                      <a16:creationId xmlns:a16="http://schemas.microsoft.com/office/drawing/2014/main" id="{55AD8348-0A06-E926-9B0A-AF57D1516ABC}"/>
                    </a:ext>
                  </a:extLst>
                </p:cNvPr>
                <p:cNvSpPr>
                  <a:spLocks noChangeShapeType="1"/>
                </p:cNvSpPr>
                <p:nvPr/>
              </p:nvSpPr>
              <p:spPr bwMode="auto">
                <a:xfrm>
                  <a:off x="1080" y="2589"/>
                  <a:ext cx="0" cy="175"/>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grpSp>
          <p:grpSp>
            <p:nvGrpSpPr>
              <p:cNvPr id="65" name="Group 64">
                <a:extLst>
                  <a:ext uri="{FF2B5EF4-FFF2-40B4-BE49-F238E27FC236}">
                    <a16:creationId xmlns:a16="http://schemas.microsoft.com/office/drawing/2014/main" id="{D7B14B52-C133-5D97-F654-309F736C0BAC}"/>
                  </a:ext>
                </a:extLst>
              </p:cNvPr>
              <p:cNvGrpSpPr>
                <a:grpSpLocks/>
              </p:cNvGrpSpPr>
              <p:nvPr/>
            </p:nvGrpSpPr>
            <p:grpSpPr bwMode="auto">
              <a:xfrm>
                <a:off x="2356" y="2128"/>
                <a:ext cx="1384" cy="904"/>
                <a:chOff x="2356" y="2128"/>
                <a:chExt cx="1384" cy="904"/>
              </a:xfrm>
            </p:grpSpPr>
            <p:sp>
              <p:nvSpPr>
                <p:cNvPr id="73" name="Rectangle 72">
                  <a:extLst>
                    <a:ext uri="{FF2B5EF4-FFF2-40B4-BE49-F238E27FC236}">
                      <a16:creationId xmlns:a16="http://schemas.microsoft.com/office/drawing/2014/main" id="{2B3640F4-2C53-E777-3949-AF3E6204EC59}"/>
                    </a:ext>
                  </a:extLst>
                </p:cNvPr>
                <p:cNvSpPr>
                  <a:spLocks noChangeArrowheads="1"/>
                </p:cNvSpPr>
                <p:nvPr/>
              </p:nvSpPr>
              <p:spPr bwMode="auto">
                <a:xfrm>
                  <a:off x="2806" y="2128"/>
                  <a:ext cx="484" cy="256"/>
                </a:xfrm>
                <a:prstGeom prst="rect">
                  <a:avLst/>
                </a:prstGeom>
                <a:solidFill>
                  <a:sysClr val="window" lastClr="FFFFFF"/>
                </a:solidFill>
                <a:ln w="12700">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grpSp>
              <p:nvGrpSpPr>
                <p:cNvPr id="74" name="Group 73">
                  <a:extLst>
                    <a:ext uri="{FF2B5EF4-FFF2-40B4-BE49-F238E27FC236}">
                      <a16:creationId xmlns:a16="http://schemas.microsoft.com/office/drawing/2014/main" id="{6679B1C7-E6CA-07FA-9D8A-E3F6573BEB9E}"/>
                    </a:ext>
                  </a:extLst>
                </p:cNvPr>
                <p:cNvGrpSpPr>
                  <a:grpSpLocks/>
                </p:cNvGrpSpPr>
                <p:nvPr/>
              </p:nvGrpSpPr>
              <p:grpSpPr bwMode="auto">
                <a:xfrm>
                  <a:off x="2356" y="2776"/>
                  <a:ext cx="1384" cy="256"/>
                  <a:chOff x="2356" y="2776"/>
                  <a:chExt cx="1384" cy="256"/>
                </a:xfrm>
              </p:grpSpPr>
              <p:sp>
                <p:nvSpPr>
                  <p:cNvPr id="79" name="Rectangle 78">
                    <a:extLst>
                      <a:ext uri="{FF2B5EF4-FFF2-40B4-BE49-F238E27FC236}">
                        <a16:creationId xmlns:a16="http://schemas.microsoft.com/office/drawing/2014/main" id="{60878834-D32F-BBE3-69CE-920130075B9F}"/>
                      </a:ext>
                    </a:extLst>
                  </p:cNvPr>
                  <p:cNvSpPr>
                    <a:spLocks noChangeArrowheads="1"/>
                  </p:cNvSpPr>
                  <p:nvPr/>
                </p:nvSpPr>
                <p:spPr bwMode="auto">
                  <a:xfrm>
                    <a:off x="3256" y="2776"/>
                    <a:ext cx="484" cy="256"/>
                  </a:xfrm>
                  <a:prstGeom prst="rect">
                    <a:avLst/>
                  </a:prstGeom>
                  <a:solidFill>
                    <a:sysClr val="window" lastClr="FFFFFF"/>
                  </a:solidFill>
                  <a:ln w="12700">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80" name="Rectangle 79">
                    <a:extLst>
                      <a:ext uri="{FF2B5EF4-FFF2-40B4-BE49-F238E27FC236}">
                        <a16:creationId xmlns:a16="http://schemas.microsoft.com/office/drawing/2014/main" id="{DB6A2AA6-9573-4AF9-13BE-EAE19E15D2D2}"/>
                      </a:ext>
                    </a:extLst>
                  </p:cNvPr>
                  <p:cNvSpPr>
                    <a:spLocks noChangeArrowheads="1"/>
                  </p:cNvSpPr>
                  <p:nvPr/>
                </p:nvSpPr>
                <p:spPr bwMode="auto">
                  <a:xfrm>
                    <a:off x="2356" y="2776"/>
                    <a:ext cx="484" cy="256"/>
                  </a:xfrm>
                  <a:prstGeom prst="rect">
                    <a:avLst/>
                  </a:prstGeom>
                  <a:solidFill>
                    <a:sysClr val="window" lastClr="FFFFFF"/>
                  </a:solidFill>
                  <a:ln w="12700">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grpSp>
            <p:sp>
              <p:nvSpPr>
                <p:cNvPr id="75" name="Line 21">
                  <a:extLst>
                    <a:ext uri="{FF2B5EF4-FFF2-40B4-BE49-F238E27FC236}">
                      <a16:creationId xmlns:a16="http://schemas.microsoft.com/office/drawing/2014/main" id="{32B053F8-C7ED-2375-B19D-DBB3853C5D6D}"/>
                    </a:ext>
                  </a:extLst>
                </p:cNvPr>
                <p:cNvSpPr>
                  <a:spLocks noChangeShapeType="1"/>
                </p:cNvSpPr>
                <p:nvPr/>
              </p:nvSpPr>
              <p:spPr bwMode="auto">
                <a:xfrm>
                  <a:off x="3048" y="2397"/>
                  <a:ext cx="0" cy="175"/>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76" name="Line 22">
                  <a:extLst>
                    <a:ext uri="{FF2B5EF4-FFF2-40B4-BE49-F238E27FC236}">
                      <a16:creationId xmlns:a16="http://schemas.microsoft.com/office/drawing/2014/main" id="{8A2AB216-4ED4-C499-7AC3-701672315044}"/>
                    </a:ext>
                  </a:extLst>
                </p:cNvPr>
                <p:cNvSpPr>
                  <a:spLocks noChangeShapeType="1"/>
                </p:cNvSpPr>
                <p:nvPr/>
              </p:nvSpPr>
              <p:spPr bwMode="auto">
                <a:xfrm>
                  <a:off x="2625" y="2580"/>
                  <a:ext cx="847" cy="0"/>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77" name="Line 23">
                  <a:extLst>
                    <a:ext uri="{FF2B5EF4-FFF2-40B4-BE49-F238E27FC236}">
                      <a16:creationId xmlns:a16="http://schemas.microsoft.com/office/drawing/2014/main" id="{1B96B040-0254-0939-FEF8-22FF700EBE13}"/>
                    </a:ext>
                  </a:extLst>
                </p:cNvPr>
                <p:cNvSpPr>
                  <a:spLocks noChangeShapeType="1"/>
                </p:cNvSpPr>
                <p:nvPr/>
              </p:nvSpPr>
              <p:spPr bwMode="auto">
                <a:xfrm>
                  <a:off x="3480" y="2589"/>
                  <a:ext cx="0" cy="175"/>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78" name="Line 24">
                  <a:extLst>
                    <a:ext uri="{FF2B5EF4-FFF2-40B4-BE49-F238E27FC236}">
                      <a16:creationId xmlns:a16="http://schemas.microsoft.com/office/drawing/2014/main" id="{5B9F796F-08A0-DC0A-09DC-151D13171D92}"/>
                    </a:ext>
                  </a:extLst>
                </p:cNvPr>
                <p:cNvSpPr>
                  <a:spLocks noChangeShapeType="1"/>
                </p:cNvSpPr>
                <p:nvPr/>
              </p:nvSpPr>
              <p:spPr bwMode="auto">
                <a:xfrm>
                  <a:off x="2616" y="2589"/>
                  <a:ext cx="0" cy="175"/>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grpSp>
          <p:grpSp>
            <p:nvGrpSpPr>
              <p:cNvPr id="66" name="Group 65">
                <a:extLst>
                  <a:ext uri="{FF2B5EF4-FFF2-40B4-BE49-F238E27FC236}">
                    <a16:creationId xmlns:a16="http://schemas.microsoft.com/office/drawing/2014/main" id="{B9DA582E-8B92-5579-CEFD-E43BDC225AC3}"/>
                  </a:ext>
                </a:extLst>
              </p:cNvPr>
              <p:cNvGrpSpPr>
                <a:grpSpLocks/>
              </p:cNvGrpSpPr>
              <p:nvPr/>
            </p:nvGrpSpPr>
            <p:grpSpPr bwMode="auto">
              <a:xfrm>
                <a:off x="1512" y="1474"/>
                <a:ext cx="1536" cy="636"/>
                <a:chOff x="1512" y="1474"/>
                <a:chExt cx="1536" cy="636"/>
              </a:xfrm>
            </p:grpSpPr>
            <p:sp>
              <p:nvSpPr>
                <p:cNvPr id="67" name="Rectangle 66">
                  <a:extLst>
                    <a:ext uri="{FF2B5EF4-FFF2-40B4-BE49-F238E27FC236}">
                      <a16:creationId xmlns:a16="http://schemas.microsoft.com/office/drawing/2014/main" id="{590A2DA7-C5ED-6407-1F34-28D981F66AE6}"/>
                    </a:ext>
                  </a:extLst>
                </p:cNvPr>
                <p:cNvSpPr>
                  <a:spLocks noChangeArrowheads="1"/>
                </p:cNvSpPr>
                <p:nvPr/>
              </p:nvSpPr>
              <p:spPr bwMode="auto">
                <a:xfrm>
                  <a:off x="2086" y="1474"/>
                  <a:ext cx="484" cy="256"/>
                </a:xfrm>
                <a:prstGeom prst="rect">
                  <a:avLst/>
                </a:prstGeom>
                <a:solidFill>
                  <a:sysClr val="window" lastClr="FFFFFF"/>
                </a:solidFill>
                <a:ln w="12700">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68" name="Line 27">
                  <a:extLst>
                    <a:ext uri="{FF2B5EF4-FFF2-40B4-BE49-F238E27FC236}">
                      <a16:creationId xmlns:a16="http://schemas.microsoft.com/office/drawing/2014/main" id="{89754A8E-E557-9300-27C9-CB14CBF4304E}"/>
                    </a:ext>
                  </a:extLst>
                </p:cNvPr>
                <p:cNvSpPr>
                  <a:spLocks noChangeShapeType="1"/>
                </p:cNvSpPr>
                <p:nvPr/>
              </p:nvSpPr>
              <p:spPr bwMode="auto">
                <a:xfrm>
                  <a:off x="2328" y="1743"/>
                  <a:ext cx="0" cy="175"/>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grpSp>
              <p:nvGrpSpPr>
                <p:cNvPr id="69" name="Group 68">
                  <a:extLst>
                    <a:ext uri="{FF2B5EF4-FFF2-40B4-BE49-F238E27FC236}">
                      <a16:creationId xmlns:a16="http://schemas.microsoft.com/office/drawing/2014/main" id="{B40EF318-A30E-3ED9-D2EE-80FE4EC1511F}"/>
                    </a:ext>
                  </a:extLst>
                </p:cNvPr>
                <p:cNvGrpSpPr>
                  <a:grpSpLocks/>
                </p:cNvGrpSpPr>
                <p:nvPr/>
              </p:nvGrpSpPr>
              <p:grpSpPr bwMode="auto">
                <a:xfrm>
                  <a:off x="1512" y="1926"/>
                  <a:ext cx="1536" cy="184"/>
                  <a:chOff x="1512" y="1926"/>
                  <a:chExt cx="1536" cy="184"/>
                </a:xfrm>
              </p:grpSpPr>
              <p:sp>
                <p:nvSpPr>
                  <p:cNvPr id="70" name="Line 29">
                    <a:extLst>
                      <a:ext uri="{FF2B5EF4-FFF2-40B4-BE49-F238E27FC236}">
                        <a16:creationId xmlns:a16="http://schemas.microsoft.com/office/drawing/2014/main" id="{84FA4DF0-F535-AF77-F956-3FC040E33468}"/>
                      </a:ext>
                    </a:extLst>
                  </p:cNvPr>
                  <p:cNvSpPr>
                    <a:spLocks noChangeShapeType="1"/>
                  </p:cNvSpPr>
                  <p:nvPr/>
                </p:nvSpPr>
                <p:spPr bwMode="auto">
                  <a:xfrm>
                    <a:off x="1521" y="1926"/>
                    <a:ext cx="1519" cy="0"/>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71" name="Line 30">
                    <a:extLst>
                      <a:ext uri="{FF2B5EF4-FFF2-40B4-BE49-F238E27FC236}">
                        <a16:creationId xmlns:a16="http://schemas.microsoft.com/office/drawing/2014/main" id="{8C2FB5D8-8A1D-7193-EB81-F23444A9D429}"/>
                      </a:ext>
                    </a:extLst>
                  </p:cNvPr>
                  <p:cNvSpPr>
                    <a:spLocks noChangeShapeType="1"/>
                  </p:cNvSpPr>
                  <p:nvPr/>
                </p:nvSpPr>
                <p:spPr bwMode="auto">
                  <a:xfrm>
                    <a:off x="3048" y="1935"/>
                    <a:ext cx="0" cy="175"/>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72" name="Line 31">
                    <a:extLst>
                      <a:ext uri="{FF2B5EF4-FFF2-40B4-BE49-F238E27FC236}">
                        <a16:creationId xmlns:a16="http://schemas.microsoft.com/office/drawing/2014/main" id="{9DE30163-4030-A805-50CE-0F8101C790A1}"/>
                      </a:ext>
                    </a:extLst>
                  </p:cNvPr>
                  <p:cNvSpPr>
                    <a:spLocks noChangeShapeType="1"/>
                  </p:cNvSpPr>
                  <p:nvPr/>
                </p:nvSpPr>
                <p:spPr bwMode="auto">
                  <a:xfrm>
                    <a:off x="1512" y="1935"/>
                    <a:ext cx="0" cy="175"/>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grpSp>
          </p:grpSp>
        </p:grpSp>
        <p:sp>
          <p:nvSpPr>
            <p:cNvPr id="53" name="Rectangle 52">
              <a:extLst>
                <a:ext uri="{FF2B5EF4-FFF2-40B4-BE49-F238E27FC236}">
                  <a16:creationId xmlns:a16="http://schemas.microsoft.com/office/drawing/2014/main" id="{E4036622-808D-A823-9DEC-04F1FA48D95E}"/>
                </a:ext>
              </a:extLst>
            </p:cNvPr>
            <p:cNvSpPr>
              <a:spLocks noChangeArrowheads="1"/>
            </p:cNvSpPr>
            <p:nvPr/>
          </p:nvSpPr>
          <p:spPr bwMode="auto">
            <a:xfrm>
              <a:off x="2304" y="1383"/>
              <a:ext cx="230"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rPr>
                <a:t>A</a:t>
              </a:r>
              <a:endParaRPr kumimoji="0" lang="en-US" sz="18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54" name="Rectangle 53">
              <a:extLst>
                <a:ext uri="{FF2B5EF4-FFF2-40B4-BE49-F238E27FC236}">
                  <a16:creationId xmlns:a16="http://schemas.microsoft.com/office/drawing/2014/main" id="{7D259C8F-342E-4809-684F-1885081F3543}"/>
                </a:ext>
              </a:extLst>
            </p:cNvPr>
            <p:cNvSpPr>
              <a:spLocks noChangeArrowheads="1"/>
            </p:cNvSpPr>
            <p:nvPr/>
          </p:nvSpPr>
          <p:spPr bwMode="auto">
            <a:xfrm>
              <a:off x="1422" y="2031"/>
              <a:ext cx="407"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rPr>
                <a:t>B(4)</a:t>
              </a:r>
              <a:endParaRPr kumimoji="0" lang="en-US" sz="18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55" name="Rectangle 54">
              <a:extLst>
                <a:ext uri="{FF2B5EF4-FFF2-40B4-BE49-F238E27FC236}">
                  <a16:creationId xmlns:a16="http://schemas.microsoft.com/office/drawing/2014/main" id="{58BBCC66-7F64-7DC5-5FB9-E426E539674C}"/>
                </a:ext>
              </a:extLst>
            </p:cNvPr>
            <p:cNvSpPr>
              <a:spLocks noChangeArrowheads="1"/>
            </p:cNvSpPr>
            <p:nvPr/>
          </p:nvSpPr>
          <p:spPr bwMode="auto">
            <a:xfrm>
              <a:off x="2958" y="2025"/>
              <a:ext cx="416"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rPr>
                <a:t>C(2)</a:t>
              </a:r>
              <a:endParaRPr kumimoji="0" lang="en-US" sz="18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56" name="Rectangle 55">
              <a:extLst>
                <a:ext uri="{FF2B5EF4-FFF2-40B4-BE49-F238E27FC236}">
                  <a16:creationId xmlns:a16="http://schemas.microsoft.com/office/drawing/2014/main" id="{475AA00C-97CD-5A85-0E31-2C33A8D93350}"/>
                </a:ext>
              </a:extLst>
            </p:cNvPr>
            <p:cNvSpPr>
              <a:spLocks noChangeArrowheads="1"/>
            </p:cNvSpPr>
            <p:nvPr/>
          </p:nvSpPr>
          <p:spPr bwMode="auto">
            <a:xfrm>
              <a:off x="936" y="2673"/>
              <a:ext cx="416"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rPr>
                <a:t>D(2)</a:t>
              </a:r>
            </a:p>
          </p:txBody>
        </p:sp>
        <p:sp>
          <p:nvSpPr>
            <p:cNvPr id="57" name="Rectangle 56">
              <a:extLst>
                <a:ext uri="{FF2B5EF4-FFF2-40B4-BE49-F238E27FC236}">
                  <a16:creationId xmlns:a16="http://schemas.microsoft.com/office/drawing/2014/main" id="{3DEDB534-733A-5C65-7DA6-AB45D18F9853}"/>
                </a:ext>
              </a:extLst>
            </p:cNvPr>
            <p:cNvSpPr>
              <a:spLocks noChangeArrowheads="1"/>
            </p:cNvSpPr>
            <p:nvPr/>
          </p:nvSpPr>
          <p:spPr bwMode="auto">
            <a:xfrm>
              <a:off x="1830" y="2673"/>
              <a:ext cx="407"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rPr>
                <a:t>E(1)</a:t>
              </a:r>
            </a:p>
          </p:txBody>
        </p:sp>
        <p:sp>
          <p:nvSpPr>
            <p:cNvPr id="58" name="Rectangle 57">
              <a:extLst>
                <a:ext uri="{FF2B5EF4-FFF2-40B4-BE49-F238E27FC236}">
                  <a16:creationId xmlns:a16="http://schemas.microsoft.com/office/drawing/2014/main" id="{1F596493-4BB1-AD1B-493D-D4911EB69A20}"/>
                </a:ext>
              </a:extLst>
            </p:cNvPr>
            <p:cNvSpPr>
              <a:spLocks noChangeArrowheads="1"/>
            </p:cNvSpPr>
            <p:nvPr/>
          </p:nvSpPr>
          <p:spPr bwMode="auto">
            <a:xfrm>
              <a:off x="2484" y="2679"/>
              <a:ext cx="416"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Times New Roman" pitchFamily="18" charset="0"/>
                  <a:ea typeface="+mn-ea"/>
                  <a:cs typeface="+mn-cs"/>
                </a:rPr>
                <a:t>D(3)</a:t>
              </a:r>
              <a:endParaRPr kumimoji="0" lang="en-US" sz="18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59" name="Rectangle 58">
              <a:extLst>
                <a:ext uri="{FF2B5EF4-FFF2-40B4-BE49-F238E27FC236}">
                  <a16:creationId xmlns:a16="http://schemas.microsoft.com/office/drawing/2014/main" id="{31468DFD-1A6F-9F00-1298-B422493F1B29}"/>
                </a:ext>
              </a:extLst>
            </p:cNvPr>
            <p:cNvSpPr>
              <a:spLocks noChangeArrowheads="1"/>
            </p:cNvSpPr>
            <p:nvPr/>
          </p:nvSpPr>
          <p:spPr bwMode="auto">
            <a:xfrm>
              <a:off x="3408" y="2679"/>
              <a:ext cx="370"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Times New Roman" pitchFamily="18" charset="0"/>
                  <a:ea typeface="+mn-ea"/>
                  <a:cs typeface="+mn-cs"/>
                </a:rPr>
                <a:t>F(2)</a:t>
              </a:r>
            </a:p>
          </p:txBody>
        </p:sp>
        <p:sp>
          <p:nvSpPr>
            <p:cNvPr id="60" name="Line 39">
              <a:extLst>
                <a:ext uri="{FF2B5EF4-FFF2-40B4-BE49-F238E27FC236}">
                  <a16:creationId xmlns:a16="http://schemas.microsoft.com/office/drawing/2014/main" id="{DAE6744E-805D-5C13-795C-EBE022D885D0}"/>
                </a:ext>
              </a:extLst>
            </p:cNvPr>
            <p:cNvSpPr>
              <a:spLocks noChangeShapeType="1"/>
            </p:cNvSpPr>
            <p:nvPr/>
          </p:nvSpPr>
          <p:spPr bwMode="auto">
            <a:xfrm flipV="1">
              <a:off x="2934" y="892"/>
              <a:ext cx="703" cy="351"/>
            </a:xfrm>
            <a:prstGeom prst="line">
              <a:avLst/>
            </a:prstGeom>
            <a:noFill/>
            <a:ln w="12700">
              <a:solidFill>
                <a:sysClr val="windowText" lastClr="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61" name="Line 40">
              <a:extLst>
                <a:ext uri="{FF2B5EF4-FFF2-40B4-BE49-F238E27FC236}">
                  <a16:creationId xmlns:a16="http://schemas.microsoft.com/office/drawing/2014/main" id="{02A1B1CB-F824-1560-4C88-DA225E447C41}"/>
                </a:ext>
              </a:extLst>
            </p:cNvPr>
            <p:cNvSpPr>
              <a:spLocks noChangeShapeType="1"/>
            </p:cNvSpPr>
            <p:nvPr/>
          </p:nvSpPr>
          <p:spPr bwMode="auto">
            <a:xfrm flipV="1">
              <a:off x="3414" y="1516"/>
              <a:ext cx="559" cy="303"/>
            </a:xfrm>
            <a:prstGeom prst="line">
              <a:avLst/>
            </a:prstGeom>
            <a:noFill/>
            <a:ln w="12700">
              <a:solidFill>
                <a:sysClr val="windowText" lastClr="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62" name="Rectangle 61">
              <a:extLst>
                <a:ext uri="{FF2B5EF4-FFF2-40B4-BE49-F238E27FC236}">
                  <a16:creationId xmlns:a16="http://schemas.microsoft.com/office/drawing/2014/main" id="{F6751537-1FD9-1707-4223-4F3F89B940DF}"/>
                </a:ext>
              </a:extLst>
            </p:cNvPr>
            <p:cNvSpPr>
              <a:spLocks noChangeArrowheads="1"/>
            </p:cNvSpPr>
            <p:nvPr/>
          </p:nvSpPr>
          <p:spPr bwMode="auto">
            <a:xfrm>
              <a:off x="4020" y="1365"/>
              <a:ext cx="1886" cy="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E2700"/>
                  </a:solidFill>
                  <a:effectLst/>
                  <a:uLnTx/>
                  <a:uFillTx/>
                  <a:latin typeface="Arial" charset="0"/>
                  <a:ea typeface="+mn-ea"/>
                  <a:cs typeface="+mn-cs"/>
                </a:rPr>
                <a:t>Dependent Demand</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charset="0"/>
                  <a:ea typeface="+mn-ea"/>
                  <a:cs typeface="+mn-cs"/>
                </a:rPr>
                <a:t>(i.e. C</a:t>
              </a:r>
              <a:r>
                <a:rPr kumimoji="0" lang="en-US" sz="1800" b="0" i="0" u="none" strike="noStrike" kern="1200" cap="none" spc="0" normalizeH="0" baseline="0" noProof="0" dirty="0">
                  <a:ln>
                    <a:noFill/>
                  </a:ln>
                  <a:solidFill>
                    <a:prstClr val="black"/>
                  </a:solidFill>
                  <a:effectLst/>
                  <a:uLnTx/>
                  <a:uFillTx/>
                  <a:latin typeface="Arial" charset="0"/>
                  <a:ea typeface="+mn-ea"/>
                  <a:cs typeface="+mn-cs"/>
                </a:rPr>
                <a:t>omponents of finished goods)</a:t>
              </a:r>
            </a:p>
          </p:txBody>
        </p:sp>
        <p:sp>
          <p:nvSpPr>
            <p:cNvPr id="63" name="Rectangle 62">
              <a:extLst>
                <a:ext uri="{FF2B5EF4-FFF2-40B4-BE49-F238E27FC236}">
                  <a16:creationId xmlns:a16="http://schemas.microsoft.com/office/drawing/2014/main" id="{7DC2D9D6-7D68-621A-B3EF-A0D3CA51A9C1}"/>
                </a:ext>
              </a:extLst>
            </p:cNvPr>
            <p:cNvSpPr>
              <a:spLocks noChangeArrowheads="1"/>
            </p:cNvSpPr>
            <p:nvPr/>
          </p:nvSpPr>
          <p:spPr bwMode="auto">
            <a:xfrm>
              <a:off x="48" y="3542"/>
              <a:ext cx="5760" cy="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200" b="1" i="0" u="none" strike="noStrike" kern="1200" cap="none" spc="0" normalizeH="0" baseline="0" noProof="0" dirty="0">
                  <a:ln>
                    <a:noFill/>
                  </a:ln>
                  <a:solidFill>
                    <a:srgbClr val="CE2700"/>
                  </a:solidFill>
                  <a:effectLst/>
                  <a:uLnTx/>
                  <a:uFillTx/>
                  <a:latin typeface="Arial" charset="0"/>
                  <a:ea typeface="+mn-ea"/>
                  <a:cs typeface="+mn-cs"/>
                </a:rPr>
                <a:t>Independent demand is uncertain.  </a:t>
              </a:r>
              <a:br>
                <a:rPr kumimoji="0" lang="en-US" sz="2200" b="1" i="0" u="none" strike="noStrike" kern="1200" cap="none" spc="0" normalizeH="0" baseline="0" noProof="0" dirty="0">
                  <a:ln>
                    <a:noFill/>
                  </a:ln>
                  <a:solidFill>
                    <a:srgbClr val="CE2700"/>
                  </a:solidFill>
                  <a:effectLst/>
                  <a:uLnTx/>
                  <a:uFillTx/>
                  <a:latin typeface="Arial" charset="0"/>
                  <a:ea typeface="+mn-ea"/>
                  <a:cs typeface="+mn-cs"/>
                </a:rPr>
              </a:br>
              <a:r>
                <a:rPr kumimoji="0" lang="en-US" sz="2200" b="1" i="0" u="none" strike="noStrike" kern="1200" cap="none" spc="0" normalizeH="0" baseline="0" noProof="0" dirty="0">
                  <a:ln>
                    <a:noFill/>
                  </a:ln>
                  <a:solidFill>
                    <a:srgbClr val="CE2700"/>
                  </a:solidFill>
                  <a:effectLst/>
                  <a:uLnTx/>
                  <a:uFillTx/>
                  <a:latin typeface="Arial" charset="0"/>
                  <a:ea typeface="+mn-ea"/>
                  <a:cs typeface="+mn-cs"/>
                </a:rPr>
                <a:t>Dependent demand is certain.</a:t>
              </a:r>
              <a:r>
                <a:rPr kumimoji="0" lang="en-US" sz="2000" b="1" i="0" u="none" strike="noStrike" kern="1200" cap="none" spc="0" normalizeH="0" baseline="0" noProof="0" dirty="0">
                  <a:ln>
                    <a:noFill/>
                  </a:ln>
                  <a:solidFill>
                    <a:srgbClr val="CE2700"/>
                  </a:solidFill>
                  <a:effectLst/>
                  <a:uLnTx/>
                  <a:uFillTx/>
                  <a:latin typeface="Arial" charset="0"/>
                  <a:ea typeface="+mn-ea"/>
                  <a:cs typeface="+mn-cs"/>
                </a:rPr>
                <a:t>  </a:t>
              </a:r>
            </a:p>
          </p:txBody>
        </p:sp>
      </p:grpSp>
      <p:sp>
        <p:nvSpPr>
          <p:cNvPr id="7" name="TextBox 6">
            <a:extLst>
              <a:ext uri="{FF2B5EF4-FFF2-40B4-BE49-F238E27FC236}">
                <a16:creationId xmlns:a16="http://schemas.microsoft.com/office/drawing/2014/main" id="{75B25460-A9F7-0A11-EECD-45B7C1AFC724}"/>
              </a:ext>
            </a:extLst>
          </p:cNvPr>
          <p:cNvSpPr txBox="1"/>
          <p:nvPr/>
        </p:nvSpPr>
        <p:spPr>
          <a:xfrm>
            <a:off x="7410891" y="5744838"/>
            <a:ext cx="4678328" cy="424732"/>
          </a:xfrm>
          <a:prstGeom prst="rect">
            <a:avLst/>
          </a:prstGeom>
          <a:solidFill>
            <a:schemeClr val="accent6">
              <a:lumMod val="60000"/>
              <a:lumOff val="40000"/>
            </a:schemeClr>
          </a:solidFill>
          <a:ln>
            <a:solidFill>
              <a:schemeClr val="tx1"/>
            </a:solidFill>
          </a:ln>
        </p:spPr>
        <p:txBody>
          <a:bodyPr wrap="square">
            <a:spAutoFit/>
          </a:bodyPr>
          <a:lstStyle/>
          <a:p>
            <a:pPr algn="just" eaLnBrk="0" hangingPunct="0">
              <a:lnSpc>
                <a:spcPct val="90000"/>
              </a:lnSpc>
              <a:spcAft>
                <a:spcPct val="35000"/>
              </a:spcAft>
              <a:buClr>
                <a:schemeClr val="tx1"/>
              </a:buClr>
              <a:buFont typeface="Arial" panose="020B0604020202020204" pitchFamily="34" charset="0"/>
              <a:buChar char="•"/>
            </a:pPr>
            <a:r>
              <a:rPr lang="en-US" sz="2400" b="1" dirty="0">
                <a:latin typeface="Times New Roman" panose="02020603050405020304" pitchFamily="18" charset="0"/>
                <a:ea typeface="Tahoma" panose="020B0604030504040204" pitchFamily="34" charset="0"/>
                <a:cs typeface="Times New Roman" panose="02020603050405020304" pitchFamily="18" charset="0"/>
              </a:rPr>
              <a:t>Dependent demand drives MRP.</a:t>
            </a:r>
          </a:p>
        </p:txBody>
      </p:sp>
    </p:spTree>
    <p:extLst>
      <p:ext uri="{BB962C8B-B14F-4D97-AF65-F5344CB8AC3E}">
        <p14:creationId xmlns:p14="http://schemas.microsoft.com/office/powerpoint/2010/main" val="3227579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CAB46-E8FE-A5B0-2473-8E962957F805}"/>
              </a:ext>
            </a:extLst>
          </p:cNvPr>
          <p:cNvSpPr>
            <a:spLocks noGrp="1"/>
          </p:cNvSpPr>
          <p:nvPr>
            <p:ph type="title"/>
          </p:nvPr>
        </p:nvSpPr>
        <p:spPr/>
        <p:txBody>
          <a:bodyPr/>
          <a:lstStyle/>
          <a:p>
            <a:r>
              <a:rPr lang="en-IN" dirty="0"/>
              <a:t>Demand Characteristics</a:t>
            </a:r>
          </a:p>
        </p:txBody>
      </p:sp>
      <p:sp>
        <p:nvSpPr>
          <p:cNvPr id="4" name="Date Placeholder 3">
            <a:extLst>
              <a:ext uri="{FF2B5EF4-FFF2-40B4-BE49-F238E27FC236}">
                <a16:creationId xmlns:a16="http://schemas.microsoft.com/office/drawing/2014/main" id="{FA6C3289-0A3E-DA98-EA9C-0F2FAACF61F1}"/>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BE7550A8-0C9E-F56B-C659-5BF792B1404F}"/>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17D86550-5AA0-CBDC-9DAA-4F52E6F14ABE}"/>
              </a:ext>
            </a:extLst>
          </p:cNvPr>
          <p:cNvSpPr>
            <a:spLocks noGrp="1"/>
          </p:cNvSpPr>
          <p:nvPr>
            <p:ph type="sldNum" idx="12"/>
          </p:nvPr>
        </p:nvSpPr>
        <p:spPr/>
        <p:txBody>
          <a:bodyPr/>
          <a:lstStyle/>
          <a:p>
            <a:fld id="{00000000-1234-1234-1234-123412341234}" type="slidenum">
              <a:rPr lang="en-US" smtClean="0"/>
              <a:pPr/>
              <a:t>6</a:t>
            </a:fld>
            <a:endParaRPr lang="en-US" dirty="0"/>
          </a:p>
        </p:txBody>
      </p:sp>
      <p:grpSp>
        <p:nvGrpSpPr>
          <p:cNvPr id="49" name="Group 45">
            <a:extLst>
              <a:ext uri="{FF2B5EF4-FFF2-40B4-BE49-F238E27FC236}">
                <a16:creationId xmlns:a16="http://schemas.microsoft.com/office/drawing/2014/main" id="{CE53A08C-8194-799E-2E95-F688F80D37A3}"/>
              </a:ext>
            </a:extLst>
          </p:cNvPr>
          <p:cNvGrpSpPr>
            <a:grpSpLocks/>
          </p:cNvGrpSpPr>
          <p:nvPr/>
        </p:nvGrpSpPr>
        <p:grpSpPr bwMode="auto">
          <a:xfrm>
            <a:off x="2261189" y="1008317"/>
            <a:ext cx="7772400" cy="5105400"/>
            <a:chOff x="480" y="816"/>
            <a:chExt cx="4896" cy="3216"/>
          </a:xfrm>
        </p:grpSpPr>
        <p:sp>
          <p:nvSpPr>
            <p:cNvPr id="50" name="Rectangle 44">
              <a:extLst>
                <a:ext uri="{FF2B5EF4-FFF2-40B4-BE49-F238E27FC236}">
                  <a16:creationId xmlns:a16="http://schemas.microsoft.com/office/drawing/2014/main" id="{58B95063-025B-B706-A444-8A0745290E62}"/>
                </a:ext>
              </a:extLst>
            </p:cNvPr>
            <p:cNvSpPr>
              <a:spLocks noChangeArrowheads="1"/>
            </p:cNvSpPr>
            <p:nvPr/>
          </p:nvSpPr>
          <p:spPr bwMode="auto">
            <a:xfrm>
              <a:off x="480" y="816"/>
              <a:ext cx="4896" cy="3216"/>
            </a:xfrm>
            <a:prstGeom prst="rect">
              <a:avLst/>
            </a:prstGeom>
            <a:solidFill>
              <a:srgbClr val="CCCC99"/>
            </a:solidFill>
            <a:ln w="25400" algn="ctr">
              <a:solidFill>
                <a:srgbClr val="003366"/>
              </a:solidFill>
              <a:miter lim="800000"/>
              <a:headEnd/>
              <a:tailEnd/>
            </a:ln>
            <a:effectLst/>
          </p:spPr>
          <p:txBody>
            <a:bodyPr wrap="none" anchor="ctr">
              <a:spAutoFit/>
            </a:bodyP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grpSp>
          <p:nvGrpSpPr>
            <p:cNvPr id="51" name="Group 3">
              <a:extLst>
                <a:ext uri="{FF2B5EF4-FFF2-40B4-BE49-F238E27FC236}">
                  <a16:creationId xmlns:a16="http://schemas.microsoft.com/office/drawing/2014/main" id="{CD69B3FF-FEB5-BDFB-9C5E-81416C17BCE8}"/>
                </a:ext>
              </a:extLst>
            </p:cNvPr>
            <p:cNvGrpSpPr>
              <a:grpSpLocks/>
            </p:cNvGrpSpPr>
            <p:nvPr/>
          </p:nvGrpSpPr>
          <p:grpSpPr bwMode="auto">
            <a:xfrm>
              <a:off x="786" y="876"/>
              <a:ext cx="4369" cy="3079"/>
              <a:chOff x="786" y="876"/>
              <a:chExt cx="4369" cy="3079"/>
            </a:xfrm>
          </p:grpSpPr>
          <p:grpSp>
            <p:nvGrpSpPr>
              <p:cNvPr id="52" name="Group 4">
                <a:extLst>
                  <a:ext uri="{FF2B5EF4-FFF2-40B4-BE49-F238E27FC236}">
                    <a16:creationId xmlns:a16="http://schemas.microsoft.com/office/drawing/2014/main" id="{FFB2A9A9-7CC6-C037-4216-3F90A1F90776}"/>
                  </a:ext>
                </a:extLst>
              </p:cNvPr>
              <p:cNvGrpSpPr>
                <a:grpSpLocks/>
              </p:cNvGrpSpPr>
              <p:nvPr/>
            </p:nvGrpSpPr>
            <p:grpSpPr bwMode="auto">
              <a:xfrm>
                <a:off x="786" y="2494"/>
                <a:ext cx="1920" cy="1461"/>
                <a:chOff x="786" y="2683"/>
                <a:chExt cx="1920" cy="1461"/>
              </a:xfrm>
            </p:grpSpPr>
            <p:sp>
              <p:nvSpPr>
                <p:cNvPr id="80" name="Rectangle 5">
                  <a:extLst>
                    <a:ext uri="{FF2B5EF4-FFF2-40B4-BE49-F238E27FC236}">
                      <a16:creationId xmlns:a16="http://schemas.microsoft.com/office/drawing/2014/main" id="{2D59F1E0-3393-9369-0D71-F88185858E1C}"/>
                    </a:ext>
                  </a:extLst>
                </p:cNvPr>
                <p:cNvSpPr>
                  <a:spLocks noChangeArrowheads="1"/>
                </p:cNvSpPr>
                <p:nvPr/>
              </p:nvSpPr>
              <p:spPr bwMode="auto">
                <a:xfrm>
                  <a:off x="1168" y="3672"/>
                  <a:ext cx="1528" cy="240"/>
                </a:xfrm>
                <a:prstGeom prst="rect">
                  <a:avLst/>
                </a:prstGeom>
                <a:solidFill>
                  <a:srgbClr val="FF99FF"/>
                </a:solidFill>
                <a:ln w="9525">
                  <a:no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81" name="Rectangle 6">
                  <a:extLst>
                    <a:ext uri="{FF2B5EF4-FFF2-40B4-BE49-F238E27FC236}">
                      <a16:creationId xmlns:a16="http://schemas.microsoft.com/office/drawing/2014/main" id="{68281A8E-8FFE-1C2D-22BE-87A463805B0D}"/>
                    </a:ext>
                  </a:extLst>
                </p:cNvPr>
                <p:cNvSpPr>
                  <a:spLocks noChangeArrowheads="1"/>
                </p:cNvSpPr>
                <p:nvPr/>
              </p:nvSpPr>
              <p:spPr bwMode="auto">
                <a:xfrm>
                  <a:off x="1162" y="3894"/>
                  <a:ext cx="1534" cy="250"/>
                </a:xfrm>
                <a:prstGeom prst="rect">
                  <a:avLst/>
                </a:prstGeom>
                <a:noFill/>
                <a:ln w="9525">
                  <a:noFill/>
                  <a:miter lim="800000"/>
                  <a:headEnd/>
                  <a:tailEnd/>
                </a:ln>
                <a:effec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tab pos="190500" algn="ctr"/>
                      <a:tab pos="668338" algn="ctr"/>
                      <a:tab pos="1143000" algn="ctr"/>
                      <a:tab pos="1620838" algn="ctr"/>
                      <a:tab pos="2095500" algn="ctr"/>
                    </a:tabLst>
                    <a:defRPr/>
                  </a:pPr>
                  <a:r>
                    <a:rPr kumimoji="0" lang="en-US" sz="10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	1	2	3	4	5</a:t>
                  </a:r>
                </a:p>
                <a:p>
                  <a:pPr marL="0" marR="0" lvl="0" indent="0" defTabSz="914400" eaLnBrk="0" fontAlgn="base" latinLnBrk="0" hangingPunct="0">
                    <a:lnSpc>
                      <a:spcPct val="100000"/>
                    </a:lnSpc>
                    <a:spcBef>
                      <a:spcPct val="0"/>
                    </a:spcBef>
                    <a:spcAft>
                      <a:spcPct val="0"/>
                    </a:spcAft>
                    <a:buClrTx/>
                    <a:buSzTx/>
                    <a:buFontTx/>
                    <a:buNone/>
                    <a:tabLst>
                      <a:tab pos="190500" algn="ctr"/>
                      <a:tab pos="668338" algn="ctr"/>
                      <a:tab pos="1143000" algn="ctr"/>
                      <a:tab pos="1620838" algn="ctr"/>
                      <a:tab pos="2095500" algn="ctr"/>
                    </a:tabLst>
                    <a:defRPr/>
                  </a:pPr>
                  <a:r>
                    <a:rPr kumimoji="0" lang="en-US" sz="10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			Week</a:t>
                  </a:r>
                </a:p>
              </p:txBody>
            </p:sp>
            <p:sp>
              <p:nvSpPr>
                <p:cNvPr id="82" name="Line 7">
                  <a:extLst>
                    <a:ext uri="{FF2B5EF4-FFF2-40B4-BE49-F238E27FC236}">
                      <a16:creationId xmlns:a16="http://schemas.microsoft.com/office/drawing/2014/main" id="{DF77783A-2A93-8022-D1F3-2394294D0804}"/>
                    </a:ext>
                  </a:extLst>
                </p:cNvPr>
                <p:cNvSpPr>
                  <a:spLocks noChangeShapeType="1"/>
                </p:cNvSpPr>
                <p:nvPr/>
              </p:nvSpPr>
              <p:spPr bwMode="auto">
                <a:xfrm>
                  <a:off x="1480" y="3668"/>
                  <a:ext cx="0" cy="236"/>
                </a:xfrm>
                <a:prstGeom prst="line">
                  <a:avLst/>
                </a:prstGeom>
                <a:noFill/>
                <a:ln w="28575">
                  <a:solidFill>
                    <a:srgbClr val="003366"/>
                  </a:solidFill>
                  <a:round/>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83" name="Line 8">
                  <a:extLst>
                    <a:ext uri="{FF2B5EF4-FFF2-40B4-BE49-F238E27FC236}">
                      <a16:creationId xmlns:a16="http://schemas.microsoft.com/office/drawing/2014/main" id="{4AE9FA25-E213-2083-782A-EA7CFA058A65}"/>
                    </a:ext>
                  </a:extLst>
                </p:cNvPr>
                <p:cNvSpPr>
                  <a:spLocks noChangeShapeType="1"/>
                </p:cNvSpPr>
                <p:nvPr/>
              </p:nvSpPr>
              <p:spPr bwMode="auto">
                <a:xfrm>
                  <a:off x="1788" y="3668"/>
                  <a:ext cx="0" cy="236"/>
                </a:xfrm>
                <a:prstGeom prst="line">
                  <a:avLst/>
                </a:prstGeom>
                <a:noFill/>
                <a:ln w="28575">
                  <a:solidFill>
                    <a:srgbClr val="003366"/>
                  </a:solidFill>
                  <a:round/>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84" name="Line 9">
                  <a:extLst>
                    <a:ext uri="{FF2B5EF4-FFF2-40B4-BE49-F238E27FC236}">
                      <a16:creationId xmlns:a16="http://schemas.microsoft.com/office/drawing/2014/main" id="{E7C0210B-631C-ADA0-EDB0-6094AC54D060}"/>
                    </a:ext>
                  </a:extLst>
                </p:cNvPr>
                <p:cNvSpPr>
                  <a:spLocks noChangeShapeType="1"/>
                </p:cNvSpPr>
                <p:nvPr/>
              </p:nvSpPr>
              <p:spPr bwMode="auto">
                <a:xfrm>
                  <a:off x="2092" y="3668"/>
                  <a:ext cx="0" cy="236"/>
                </a:xfrm>
                <a:prstGeom prst="line">
                  <a:avLst/>
                </a:prstGeom>
                <a:noFill/>
                <a:ln w="28575">
                  <a:solidFill>
                    <a:srgbClr val="003366"/>
                  </a:solidFill>
                  <a:round/>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85" name="Line 10">
                  <a:extLst>
                    <a:ext uri="{FF2B5EF4-FFF2-40B4-BE49-F238E27FC236}">
                      <a16:creationId xmlns:a16="http://schemas.microsoft.com/office/drawing/2014/main" id="{8079152B-B487-8175-BB25-BC9F4F418A68}"/>
                    </a:ext>
                  </a:extLst>
                </p:cNvPr>
                <p:cNvSpPr>
                  <a:spLocks noChangeShapeType="1"/>
                </p:cNvSpPr>
                <p:nvPr/>
              </p:nvSpPr>
              <p:spPr bwMode="auto">
                <a:xfrm>
                  <a:off x="2400" y="3668"/>
                  <a:ext cx="0" cy="236"/>
                </a:xfrm>
                <a:prstGeom prst="line">
                  <a:avLst/>
                </a:prstGeom>
                <a:noFill/>
                <a:ln w="28575">
                  <a:solidFill>
                    <a:srgbClr val="003366"/>
                  </a:solidFill>
                  <a:round/>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86" name="Line 11">
                  <a:extLst>
                    <a:ext uri="{FF2B5EF4-FFF2-40B4-BE49-F238E27FC236}">
                      <a16:creationId xmlns:a16="http://schemas.microsoft.com/office/drawing/2014/main" id="{FB4B3854-5FF5-EDD8-8D35-952E0D4330D3}"/>
                    </a:ext>
                  </a:extLst>
                </p:cNvPr>
                <p:cNvSpPr>
                  <a:spLocks noChangeShapeType="1"/>
                </p:cNvSpPr>
                <p:nvPr/>
              </p:nvSpPr>
              <p:spPr bwMode="auto">
                <a:xfrm>
                  <a:off x="1180" y="3672"/>
                  <a:ext cx="1516" cy="0"/>
                </a:xfrm>
                <a:prstGeom prst="line">
                  <a:avLst/>
                </a:prstGeom>
                <a:noFill/>
                <a:ln w="38100">
                  <a:solidFill>
                    <a:srgbClr val="FF00FF"/>
                  </a:solidFill>
                  <a:round/>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87" name="Freeform 12">
                  <a:extLst>
                    <a:ext uri="{FF2B5EF4-FFF2-40B4-BE49-F238E27FC236}">
                      <a16:creationId xmlns:a16="http://schemas.microsoft.com/office/drawing/2014/main" id="{50647798-06EA-88AD-BC4A-556B3F6534F0}"/>
                    </a:ext>
                  </a:extLst>
                </p:cNvPr>
                <p:cNvSpPr>
                  <a:spLocks/>
                </p:cNvSpPr>
                <p:nvPr/>
              </p:nvSpPr>
              <p:spPr bwMode="auto">
                <a:xfrm>
                  <a:off x="1173" y="2942"/>
                  <a:ext cx="1533" cy="969"/>
                </a:xfrm>
                <a:custGeom>
                  <a:avLst/>
                  <a:gdLst/>
                  <a:ahLst/>
                  <a:cxnLst>
                    <a:cxn ang="0">
                      <a:pos x="0" y="0"/>
                    </a:cxn>
                    <a:cxn ang="0">
                      <a:pos x="0" y="969"/>
                    </a:cxn>
                    <a:cxn ang="0">
                      <a:pos x="1520" y="969"/>
                    </a:cxn>
                  </a:cxnLst>
                  <a:rect l="0" t="0" r="r" b="b"/>
                  <a:pathLst>
                    <a:path w="1520" h="969">
                      <a:moveTo>
                        <a:pt x="0" y="0"/>
                      </a:moveTo>
                      <a:lnTo>
                        <a:pt x="0" y="969"/>
                      </a:lnTo>
                      <a:lnTo>
                        <a:pt x="1520" y="969"/>
                      </a:lnTo>
                    </a:path>
                  </a:pathLst>
                </a:custGeom>
                <a:noFill/>
                <a:ln w="38100" cap="flat" cmpd="sng">
                  <a:solidFill>
                    <a:srgbClr val="EEEEEE"/>
                  </a:solidFill>
                  <a:prstDash val="solid"/>
                  <a:round/>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88" name="Rectangle 13">
                  <a:extLst>
                    <a:ext uri="{FF2B5EF4-FFF2-40B4-BE49-F238E27FC236}">
                      <a16:creationId xmlns:a16="http://schemas.microsoft.com/office/drawing/2014/main" id="{7D070E4A-4612-6AE8-E1AC-78666D7D534C}"/>
                    </a:ext>
                  </a:extLst>
                </p:cNvPr>
                <p:cNvSpPr>
                  <a:spLocks noChangeArrowheads="1"/>
                </p:cNvSpPr>
                <p:nvPr/>
              </p:nvSpPr>
              <p:spPr bwMode="auto">
                <a:xfrm>
                  <a:off x="929" y="2749"/>
                  <a:ext cx="355" cy="1026"/>
                </a:xfrm>
                <a:prstGeom prst="rect">
                  <a:avLst/>
                </a:prstGeom>
                <a:noFill/>
                <a:ln w="9525">
                  <a:noFill/>
                  <a:miter lim="800000"/>
                  <a:headEnd/>
                  <a:tailEnd/>
                </a:ln>
                <a:effectLst/>
              </p:spPr>
              <p:txBody>
                <a:bodyPr wrap="none">
                  <a:spAutoFit/>
                </a:bodyPr>
                <a:lstStyle/>
                <a:p>
                  <a:pPr marL="0" marR="0" lvl="0" indent="0" algn="r" defTabSz="914400" eaLnBrk="0" fontAlgn="base" latinLnBrk="0" hangingPunct="0">
                    <a:lnSpc>
                      <a:spcPct val="21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400 </a:t>
                  </a:r>
                  <a:r>
                    <a:rPr kumimoji="0" lang="en-US" sz="1200" b="1" i="0" u="none" strike="noStrike" kern="1200" cap="none" spc="0" normalizeH="0" baseline="0" noProof="0">
                      <a:ln>
                        <a:noFill/>
                      </a:ln>
                      <a:solidFill>
                        <a:srgbClr val="003366"/>
                      </a:solidFill>
                      <a:effectLst/>
                      <a:uLnTx/>
                      <a:uFillTx/>
                      <a:latin typeface="Arial" charset="0"/>
                      <a:ea typeface="+mn-ea"/>
                      <a:cs typeface="+mn-cs"/>
                    </a:rPr>
                    <a:t>–</a:t>
                  </a:r>
                  <a:endPar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endParaRPr>
                </a:p>
                <a:p>
                  <a:pPr marL="0" marR="0" lvl="0" indent="0" algn="r" defTabSz="914400" eaLnBrk="0" fontAlgn="base" latinLnBrk="0" hangingPunct="0">
                    <a:lnSpc>
                      <a:spcPct val="21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300 </a:t>
                  </a:r>
                  <a:r>
                    <a:rPr kumimoji="0" lang="en-US" sz="1200" b="1" i="0" u="none" strike="noStrike" kern="1200" cap="none" spc="0" normalizeH="0" baseline="0" noProof="0">
                      <a:ln>
                        <a:noFill/>
                      </a:ln>
                      <a:solidFill>
                        <a:srgbClr val="003366"/>
                      </a:solidFill>
                      <a:effectLst/>
                      <a:uLnTx/>
                      <a:uFillTx/>
                      <a:latin typeface="Arial" charset="0"/>
                      <a:ea typeface="+mn-ea"/>
                      <a:cs typeface="+mn-cs"/>
                    </a:rPr>
                    <a:t>–</a:t>
                  </a:r>
                  <a:endPar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endParaRPr>
                </a:p>
                <a:p>
                  <a:pPr marL="0" marR="0" lvl="0" indent="0" algn="r" defTabSz="914400" eaLnBrk="0" fontAlgn="base" latinLnBrk="0" hangingPunct="0">
                    <a:lnSpc>
                      <a:spcPct val="21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200 </a:t>
                  </a:r>
                  <a:r>
                    <a:rPr kumimoji="0" lang="en-US" sz="1200" b="1" i="0" u="none" strike="noStrike" kern="1200" cap="none" spc="0" normalizeH="0" baseline="0" noProof="0">
                      <a:ln>
                        <a:noFill/>
                      </a:ln>
                      <a:solidFill>
                        <a:srgbClr val="003366"/>
                      </a:solidFill>
                      <a:effectLst/>
                      <a:uLnTx/>
                      <a:uFillTx/>
                      <a:latin typeface="Arial" charset="0"/>
                      <a:ea typeface="+mn-ea"/>
                      <a:cs typeface="+mn-cs"/>
                    </a:rPr>
                    <a:t>–</a:t>
                  </a:r>
                  <a:endPar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endParaRPr>
                </a:p>
                <a:p>
                  <a:pPr marL="0" marR="0" lvl="0" indent="0" algn="r" defTabSz="914400" eaLnBrk="0" fontAlgn="base" latinLnBrk="0" hangingPunct="0">
                    <a:lnSpc>
                      <a:spcPct val="21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100 </a:t>
                  </a:r>
                  <a:r>
                    <a:rPr kumimoji="0" lang="en-US" sz="1200" b="1" i="0" u="none" strike="noStrike" kern="1200" cap="none" spc="0" normalizeH="0" baseline="0" noProof="0">
                      <a:ln>
                        <a:noFill/>
                      </a:ln>
                      <a:solidFill>
                        <a:srgbClr val="003366"/>
                      </a:solidFill>
                      <a:effectLst/>
                      <a:uLnTx/>
                      <a:uFillTx/>
                      <a:latin typeface="Arial" charset="0"/>
                      <a:ea typeface="+mn-ea"/>
                      <a:cs typeface="+mn-cs"/>
                    </a:rPr>
                    <a:t>–</a:t>
                  </a:r>
                </a:p>
              </p:txBody>
            </p:sp>
            <p:sp>
              <p:nvSpPr>
                <p:cNvPr id="89" name="Rectangle 14">
                  <a:extLst>
                    <a:ext uri="{FF2B5EF4-FFF2-40B4-BE49-F238E27FC236}">
                      <a16:creationId xmlns:a16="http://schemas.microsoft.com/office/drawing/2014/main" id="{1CABDAEA-1733-4C06-74AB-1D7D0C95673F}"/>
                    </a:ext>
                  </a:extLst>
                </p:cNvPr>
                <p:cNvSpPr>
                  <a:spLocks noChangeArrowheads="1"/>
                </p:cNvSpPr>
                <p:nvPr/>
              </p:nvSpPr>
              <p:spPr bwMode="auto">
                <a:xfrm rot="-5400000">
                  <a:off x="526" y="3341"/>
                  <a:ext cx="693" cy="173"/>
                </a:xfrm>
                <a:prstGeom prst="rect">
                  <a:avLst/>
                </a:prstGeom>
                <a:noFill/>
                <a:ln w="9525">
                  <a:noFill/>
                  <a:miter lim="800000"/>
                  <a:headEnd/>
                  <a:tailEnd/>
                </a:ln>
                <a:effec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No. of tables</a:t>
                  </a:r>
                </a:p>
              </p:txBody>
            </p:sp>
            <p:sp>
              <p:nvSpPr>
                <p:cNvPr id="90" name="Rectangle 15">
                  <a:extLst>
                    <a:ext uri="{FF2B5EF4-FFF2-40B4-BE49-F238E27FC236}">
                      <a16:creationId xmlns:a16="http://schemas.microsoft.com/office/drawing/2014/main" id="{621FE8D1-E73A-6CA3-AA05-8A70CDDA55A1}"/>
                    </a:ext>
                  </a:extLst>
                </p:cNvPr>
                <p:cNvSpPr>
                  <a:spLocks noChangeArrowheads="1"/>
                </p:cNvSpPr>
                <p:nvPr/>
              </p:nvSpPr>
              <p:spPr bwMode="auto">
                <a:xfrm>
                  <a:off x="1291" y="2683"/>
                  <a:ext cx="1194" cy="192"/>
                </a:xfrm>
                <a:prstGeom prst="rect">
                  <a:avLst/>
                </a:prstGeom>
                <a:noFill/>
                <a:ln w="9525">
                  <a:noFill/>
                  <a:miter lim="800000"/>
                  <a:headEnd/>
                  <a:tailEnd/>
                </a:ln>
                <a:effec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Continuous demand</a:t>
                  </a:r>
                </a:p>
              </p:txBody>
            </p:sp>
          </p:grpSp>
          <p:grpSp>
            <p:nvGrpSpPr>
              <p:cNvPr id="53" name="Group 16">
                <a:extLst>
                  <a:ext uri="{FF2B5EF4-FFF2-40B4-BE49-F238E27FC236}">
                    <a16:creationId xmlns:a16="http://schemas.microsoft.com/office/drawing/2014/main" id="{FFFDDD3A-CBC8-AAF9-3D51-386F03DF457B}"/>
                  </a:ext>
                </a:extLst>
              </p:cNvPr>
              <p:cNvGrpSpPr>
                <a:grpSpLocks/>
              </p:cNvGrpSpPr>
              <p:nvPr/>
            </p:nvGrpSpPr>
            <p:grpSpPr bwMode="auto">
              <a:xfrm>
                <a:off x="3072" y="2588"/>
                <a:ext cx="1920" cy="1367"/>
                <a:chOff x="2944" y="2681"/>
                <a:chExt cx="1920" cy="1367"/>
              </a:xfrm>
            </p:grpSpPr>
            <p:sp>
              <p:nvSpPr>
                <p:cNvPr id="73" name="Rectangle 17">
                  <a:extLst>
                    <a:ext uri="{FF2B5EF4-FFF2-40B4-BE49-F238E27FC236}">
                      <a16:creationId xmlns:a16="http://schemas.microsoft.com/office/drawing/2014/main" id="{B19300A5-D978-6939-974A-146D5F6E753E}"/>
                    </a:ext>
                  </a:extLst>
                </p:cNvPr>
                <p:cNvSpPr>
                  <a:spLocks noChangeArrowheads="1"/>
                </p:cNvSpPr>
                <p:nvPr/>
              </p:nvSpPr>
              <p:spPr bwMode="auto">
                <a:xfrm>
                  <a:off x="3884" y="2952"/>
                  <a:ext cx="140" cy="956"/>
                </a:xfrm>
                <a:prstGeom prst="rect">
                  <a:avLst/>
                </a:prstGeom>
                <a:solidFill>
                  <a:srgbClr val="FF99FF"/>
                </a:solidFill>
                <a:ln w="28575">
                  <a:solidFill>
                    <a:srgbClr val="FF00FF"/>
                  </a:solid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74" name="Rectangle 18">
                  <a:extLst>
                    <a:ext uri="{FF2B5EF4-FFF2-40B4-BE49-F238E27FC236}">
                      <a16:creationId xmlns:a16="http://schemas.microsoft.com/office/drawing/2014/main" id="{2D9181C1-E842-6690-3AD8-2C048F6D39AC}"/>
                    </a:ext>
                  </a:extLst>
                </p:cNvPr>
                <p:cNvSpPr>
                  <a:spLocks noChangeArrowheads="1"/>
                </p:cNvSpPr>
                <p:nvPr/>
              </p:nvSpPr>
              <p:spPr bwMode="auto">
                <a:xfrm>
                  <a:off x="4568" y="2952"/>
                  <a:ext cx="140" cy="956"/>
                </a:xfrm>
                <a:prstGeom prst="rect">
                  <a:avLst/>
                </a:prstGeom>
                <a:solidFill>
                  <a:srgbClr val="FF99FF"/>
                </a:solidFill>
                <a:ln w="28575">
                  <a:solidFill>
                    <a:srgbClr val="FF00FF"/>
                  </a:solid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75" name="Rectangle 19">
                  <a:extLst>
                    <a:ext uri="{FF2B5EF4-FFF2-40B4-BE49-F238E27FC236}">
                      <a16:creationId xmlns:a16="http://schemas.microsoft.com/office/drawing/2014/main" id="{954D12A7-3B38-2828-80C6-D19218808ABF}"/>
                    </a:ext>
                  </a:extLst>
                </p:cNvPr>
                <p:cNvSpPr>
                  <a:spLocks noChangeArrowheads="1"/>
                </p:cNvSpPr>
                <p:nvPr/>
              </p:nvSpPr>
              <p:spPr bwMode="auto">
                <a:xfrm>
                  <a:off x="3320" y="3894"/>
                  <a:ext cx="1534" cy="154"/>
                </a:xfrm>
                <a:prstGeom prst="rect">
                  <a:avLst/>
                </a:prstGeom>
                <a:noFill/>
                <a:ln w="9525">
                  <a:noFill/>
                  <a:miter lim="800000"/>
                  <a:headEnd/>
                  <a:tailEnd/>
                </a:ln>
                <a:effec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tab pos="95250" algn="ctr"/>
                      <a:tab pos="285750" algn="ctr"/>
                      <a:tab pos="476250" algn="ctr"/>
                      <a:tab pos="666750" algn="ctr"/>
                      <a:tab pos="952500" algn="ctr"/>
                      <a:tab pos="1238250" algn="ctr"/>
                      <a:tab pos="1428750" algn="ctr"/>
                      <a:tab pos="1619250" algn="ctr"/>
                      <a:tab pos="1809750" algn="ctr"/>
                      <a:tab pos="2000250" algn="ctr"/>
                    </a:tabLst>
                    <a:defRPr/>
                  </a:pPr>
                  <a:r>
                    <a:rPr kumimoji="0" lang="en-US" sz="10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M   T   W   Th   F    M   T   W   Th   F</a:t>
                  </a:r>
                </a:p>
              </p:txBody>
            </p:sp>
            <p:sp>
              <p:nvSpPr>
                <p:cNvPr id="76" name="Freeform 20">
                  <a:extLst>
                    <a:ext uri="{FF2B5EF4-FFF2-40B4-BE49-F238E27FC236}">
                      <a16:creationId xmlns:a16="http://schemas.microsoft.com/office/drawing/2014/main" id="{60478603-3399-D4A6-A7FE-8ACEB27D1807}"/>
                    </a:ext>
                  </a:extLst>
                </p:cNvPr>
                <p:cNvSpPr>
                  <a:spLocks/>
                </p:cNvSpPr>
                <p:nvPr/>
              </p:nvSpPr>
              <p:spPr bwMode="auto">
                <a:xfrm>
                  <a:off x="3331" y="2940"/>
                  <a:ext cx="1533" cy="969"/>
                </a:xfrm>
                <a:custGeom>
                  <a:avLst/>
                  <a:gdLst/>
                  <a:ahLst/>
                  <a:cxnLst>
                    <a:cxn ang="0">
                      <a:pos x="0" y="0"/>
                    </a:cxn>
                    <a:cxn ang="0">
                      <a:pos x="0" y="969"/>
                    </a:cxn>
                    <a:cxn ang="0">
                      <a:pos x="1520" y="969"/>
                    </a:cxn>
                  </a:cxnLst>
                  <a:rect l="0" t="0" r="r" b="b"/>
                  <a:pathLst>
                    <a:path w="1520" h="969">
                      <a:moveTo>
                        <a:pt x="0" y="0"/>
                      </a:moveTo>
                      <a:lnTo>
                        <a:pt x="0" y="969"/>
                      </a:lnTo>
                      <a:lnTo>
                        <a:pt x="1520" y="969"/>
                      </a:lnTo>
                    </a:path>
                  </a:pathLst>
                </a:custGeom>
                <a:noFill/>
                <a:ln w="38100" cap="flat" cmpd="sng">
                  <a:solidFill>
                    <a:srgbClr val="EEEEEE"/>
                  </a:solidFill>
                  <a:prstDash val="solid"/>
                  <a:round/>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77" name="Rectangle 21">
                  <a:extLst>
                    <a:ext uri="{FF2B5EF4-FFF2-40B4-BE49-F238E27FC236}">
                      <a16:creationId xmlns:a16="http://schemas.microsoft.com/office/drawing/2014/main" id="{D7BCC952-E0B6-FBCF-326A-6FDEE46E577C}"/>
                    </a:ext>
                  </a:extLst>
                </p:cNvPr>
                <p:cNvSpPr>
                  <a:spLocks noChangeArrowheads="1"/>
                </p:cNvSpPr>
                <p:nvPr/>
              </p:nvSpPr>
              <p:spPr bwMode="auto">
                <a:xfrm>
                  <a:off x="3087" y="2747"/>
                  <a:ext cx="355" cy="1026"/>
                </a:xfrm>
                <a:prstGeom prst="rect">
                  <a:avLst/>
                </a:prstGeom>
                <a:noFill/>
                <a:ln w="9525">
                  <a:noFill/>
                  <a:miter lim="800000"/>
                  <a:headEnd/>
                  <a:tailEnd/>
                </a:ln>
                <a:effectLst/>
              </p:spPr>
              <p:txBody>
                <a:bodyPr wrap="none">
                  <a:spAutoFit/>
                </a:bodyPr>
                <a:lstStyle/>
                <a:p>
                  <a:pPr marL="0" marR="0" lvl="0" indent="0" algn="r" defTabSz="914400" eaLnBrk="0" fontAlgn="base" latinLnBrk="0" hangingPunct="0">
                    <a:lnSpc>
                      <a:spcPct val="21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400 </a:t>
                  </a:r>
                  <a:r>
                    <a:rPr kumimoji="0" lang="en-US" sz="1200" b="1" i="0" u="none" strike="noStrike" kern="1200" cap="none" spc="0" normalizeH="0" baseline="0" noProof="0">
                      <a:ln>
                        <a:noFill/>
                      </a:ln>
                      <a:solidFill>
                        <a:srgbClr val="003366"/>
                      </a:solidFill>
                      <a:effectLst/>
                      <a:uLnTx/>
                      <a:uFillTx/>
                      <a:latin typeface="Arial" charset="0"/>
                      <a:ea typeface="+mn-ea"/>
                      <a:cs typeface="+mn-cs"/>
                    </a:rPr>
                    <a:t>–</a:t>
                  </a:r>
                  <a:endPar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endParaRPr>
                </a:p>
                <a:p>
                  <a:pPr marL="0" marR="0" lvl="0" indent="0" algn="r" defTabSz="914400" eaLnBrk="0" fontAlgn="base" latinLnBrk="0" hangingPunct="0">
                    <a:lnSpc>
                      <a:spcPct val="21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300 </a:t>
                  </a:r>
                  <a:r>
                    <a:rPr kumimoji="0" lang="en-US" sz="1200" b="1" i="0" u="none" strike="noStrike" kern="1200" cap="none" spc="0" normalizeH="0" baseline="0" noProof="0">
                      <a:ln>
                        <a:noFill/>
                      </a:ln>
                      <a:solidFill>
                        <a:srgbClr val="003366"/>
                      </a:solidFill>
                      <a:effectLst/>
                      <a:uLnTx/>
                      <a:uFillTx/>
                      <a:latin typeface="Arial" charset="0"/>
                      <a:ea typeface="+mn-ea"/>
                      <a:cs typeface="+mn-cs"/>
                    </a:rPr>
                    <a:t>–</a:t>
                  </a:r>
                  <a:endPar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endParaRPr>
                </a:p>
                <a:p>
                  <a:pPr marL="0" marR="0" lvl="0" indent="0" algn="r" defTabSz="914400" eaLnBrk="0" fontAlgn="base" latinLnBrk="0" hangingPunct="0">
                    <a:lnSpc>
                      <a:spcPct val="21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200 </a:t>
                  </a:r>
                  <a:r>
                    <a:rPr kumimoji="0" lang="en-US" sz="1200" b="1" i="0" u="none" strike="noStrike" kern="1200" cap="none" spc="0" normalizeH="0" baseline="0" noProof="0">
                      <a:ln>
                        <a:noFill/>
                      </a:ln>
                      <a:solidFill>
                        <a:srgbClr val="003366"/>
                      </a:solidFill>
                      <a:effectLst/>
                      <a:uLnTx/>
                      <a:uFillTx/>
                      <a:latin typeface="Arial" charset="0"/>
                      <a:ea typeface="+mn-ea"/>
                      <a:cs typeface="+mn-cs"/>
                    </a:rPr>
                    <a:t>–</a:t>
                  </a:r>
                  <a:endPar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endParaRPr>
                </a:p>
                <a:p>
                  <a:pPr marL="0" marR="0" lvl="0" indent="0" algn="r" defTabSz="914400" eaLnBrk="0" fontAlgn="base" latinLnBrk="0" hangingPunct="0">
                    <a:lnSpc>
                      <a:spcPct val="21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100 </a:t>
                  </a:r>
                  <a:r>
                    <a:rPr kumimoji="0" lang="en-US" sz="1200" b="1" i="0" u="none" strike="noStrike" kern="1200" cap="none" spc="0" normalizeH="0" baseline="0" noProof="0">
                      <a:ln>
                        <a:noFill/>
                      </a:ln>
                      <a:solidFill>
                        <a:srgbClr val="003366"/>
                      </a:solidFill>
                      <a:effectLst/>
                      <a:uLnTx/>
                      <a:uFillTx/>
                      <a:latin typeface="Arial" charset="0"/>
                      <a:ea typeface="+mn-ea"/>
                      <a:cs typeface="+mn-cs"/>
                    </a:rPr>
                    <a:t>–</a:t>
                  </a:r>
                </a:p>
              </p:txBody>
            </p:sp>
            <p:sp>
              <p:nvSpPr>
                <p:cNvPr id="78" name="Rectangle 22">
                  <a:extLst>
                    <a:ext uri="{FF2B5EF4-FFF2-40B4-BE49-F238E27FC236}">
                      <a16:creationId xmlns:a16="http://schemas.microsoft.com/office/drawing/2014/main" id="{E2C08AD2-9094-9FE8-1017-C3B31D359CDD}"/>
                    </a:ext>
                  </a:extLst>
                </p:cNvPr>
                <p:cNvSpPr>
                  <a:spLocks noChangeArrowheads="1"/>
                </p:cNvSpPr>
                <p:nvPr/>
              </p:nvSpPr>
              <p:spPr bwMode="auto">
                <a:xfrm rot="-5400000">
                  <a:off x="2684" y="3339"/>
                  <a:ext cx="693" cy="173"/>
                </a:xfrm>
                <a:prstGeom prst="rect">
                  <a:avLst/>
                </a:prstGeom>
                <a:noFill/>
                <a:ln w="9525">
                  <a:noFill/>
                  <a:miter lim="800000"/>
                  <a:headEnd/>
                  <a:tailEnd/>
                </a:ln>
                <a:effec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No. of tables</a:t>
                  </a:r>
                </a:p>
              </p:txBody>
            </p:sp>
            <p:sp>
              <p:nvSpPr>
                <p:cNvPr id="79" name="Rectangle 23">
                  <a:extLst>
                    <a:ext uri="{FF2B5EF4-FFF2-40B4-BE49-F238E27FC236}">
                      <a16:creationId xmlns:a16="http://schemas.microsoft.com/office/drawing/2014/main" id="{A8B82B4B-2800-82B3-AC7A-5F12C0B323BA}"/>
                    </a:ext>
                  </a:extLst>
                </p:cNvPr>
                <p:cNvSpPr>
                  <a:spLocks noChangeArrowheads="1"/>
                </p:cNvSpPr>
                <p:nvPr/>
              </p:nvSpPr>
              <p:spPr bwMode="auto">
                <a:xfrm>
                  <a:off x="3494" y="2681"/>
                  <a:ext cx="1016" cy="192"/>
                </a:xfrm>
                <a:prstGeom prst="rect">
                  <a:avLst/>
                </a:prstGeom>
                <a:noFill/>
                <a:ln w="9525">
                  <a:noFill/>
                  <a:miter lim="800000"/>
                  <a:headEnd/>
                  <a:tailEnd/>
                </a:ln>
                <a:effec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Discrete demand</a:t>
                  </a:r>
                </a:p>
              </p:txBody>
            </p:sp>
          </p:grpSp>
          <p:grpSp>
            <p:nvGrpSpPr>
              <p:cNvPr id="54" name="Group 24">
                <a:extLst>
                  <a:ext uri="{FF2B5EF4-FFF2-40B4-BE49-F238E27FC236}">
                    <a16:creationId xmlns:a16="http://schemas.microsoft.com/office/drawing/2014/main" id="{F09B9856-3C41-B484-F52C-DBAD5CB905A3}"/>
                  </a:ext>
                </a:extLst>
              </p:cNvPr>
              <p:cNvGrpSpPr>
                <a:grpSpLocks/>
              </p:cNvGrpSpPr>
              <p:nvPr/>
            </p:nvGrpSpPr>
            <p:grpSpPr bwMode="auto">
              <a:xfrm>
                <a:off x="1046" y="876"/>
                <a:ext cx="1653" cy="1520"/>
                <a:chOff x="953" y="984"/>
                <a:chExt cx="1653" cy="1520"/>
              </a:xfrm>
            </p:grpSpPr>
            <p:grpSp>
              <p:nvGrpSpPr>
                <p:cNvPr id="65" name="Group 25">
                  <a:extLst>
                    <a:ext uri="{FF2B5EF4-FFF2-40B4-BE49-F238E27FC236}">
                      <a16:creationId xmlns:a16="http://schemas.microsoft.com/office/drawing/2014/main" id="{01D33AD4-654E-7834-FF76-AFB8091CF0FD}"/>
                    </a:ext>
                  </a:extLst>
                </p:cNvPr>
                <p:cNvGrpSpPr>
                  <a:grpSpLocks/>
                </p:cNvGrpSpPr>
                <p:nvPr/>
              </p:nvGrpSpPr>
              <p:grpSpPr bwMode="auto">
                <a:xfrm>
                  <a:off x="953" y="1393"/>
                  <a:ext cx="1653" cy="918"/>
                  <a:chOff x="953" y="1393"/>
                  <a:chExt cx="1653" cy="918"/>
                </a:xfrm>
              </p:grpSpPr>
              <p:sp>
                <p:nvSpPr>
                  <p:cNvPr id="68" name="AutoShape 26" descr="Oak">
                    <a:extLst>
                      <a:ext uri="{FF2B5EF4-FFF2-40B4-BE49-F238E27FC236}">
                        <a16:creationId xmlns:a16="http://schemas.microsoft.com/office/drawing/2014/main" id="{19E33742-ACB9-6D89-8E38-31B1B6CF9443}"/>
                      </a:ext>
                    </a:extLst>
                  </p:cNvPr>
                  <p:cNvSpPr>
                    <a:spLocks noChangeArrowheads="1"/>
                  </p:cNvSpPr>
                  <p:nvPr/>
                </p:nvSpPr>
                <p:spPr bwMode="auto">
                  <a:xfrm flipH="1">
                    <a:off x="2296" y="1658"/>
                    <a:ext cx="72" cy="467"/>
                  </a:xfrm>
                  <a:prstGeom prst="cube">
                    <a:avLst>
                      <a:gd name="adj" fmla="val 25000"/>
                    </a:avLst>
                  </a:prstGeom>
                  <a:blipFill dpi="0" rotWithShape="0">
                    <a:blip r:embed="rId2" cstate="print"/>
                    <a:srcRect/>
                    <a:tile tx="0" ty="0" sx="100000" sy="100000" flip="none" algn="tl"/>
                  </a:blipFill>
                  <a:ln w="19050">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69" name="AutoShape 27" descr="Oak">
                    <a:extLst>
                      <a:ext uri="{FF2B5EF4-FFF2-40B4-BE49-F238E27FC236}">
                        <a16:creationId xmlns:a16="http://schemas.microsoft.com/office/drawing/2014/main" id="{C03168AE-C757-D169-DC20-1AC34BAE8ECB}"/>
                      </a:ext>
                    </a:extLst>
                  </p:cNvPr>
                  <p:cNvSpPr>
                    <a:spLocks noChangeArrowheads="1"/>
                  </p:cNvSpPr>
                  <p:nvPr/>
                </p:nvSpPr>
                <p:spPr bwMode="auto">
                  <a:xfrm flipH="1">
                    <a:off x="1996" y="1462"/>
                    <a:ext cx="72" cy="467"/>
                  </a:xfrm>
                  <a:prstGeom prst="cube">
                    <a:avLst>
                      <a:gd name="adj" fmla="val 25000"/>
                    </a:avLst>
                  </a:prstGeom>
                  <a:blipFill dpi="0" rotWithShape="0">
                    <a:blip r:embed="rId2" cstate="print"/>
                    <a:srcRect/>
                    <a:tile tx="0" ty="0" sx="100000" sy="100000" flip="none" algn="tl"/>
                  </a:blipFill>
                  <a:ln w="19050">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70" name="AutoShape 28" descr="Oak">
                    <a:extLst>
                      <a:ext uri="{FF2B5EF4-FFF2-40B4-BE49-F238E27FC236}">
                        <a16:creationId xmlns:a16="http://schemas.microsoft.com/office/drawing/2014/main" id="{7A0F1666-49A9-BD2A-D819-8CC1BB121C81}"/>
                      </a:ext>
                    </a:extLst>
                  </p:cNvPr>
                  <p:cNvSpPr>
                    <a:spLocks noChangeArrowheads="1"/>
                  </p:cNvSpPr>
                  <p:nvPr/>
                </p:nvSpPr>
                <p:spPr bwMode="auto">
                  <a:xfrm flipH="1">
                    <a:off x="1514" y="1844"/>
                    <a:ext cx="72" cy="467"/>
                  </a:xfrm>
                  <a:prstGeom prst="cube">
                    <a:avLst>
                      <a:gd name="adj" fmla="val 25000"/>
                    </a:avLst>
                  </a:prstGeom>
                  <a:blipFill dpi="0" rotWithShape="0">
                    <a:blip r:embed="rId2" cstate="print"/>
                    <a:srcRect/>
                    <a:tile tx="0" ty="0" sx="100000" sy="100000" flip="none" algn="tl"/>
                  </a:blipFill>
                  <a:ln w="19050">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71" name="AutoShape 29" descr="Oak">
                    <a:extLst>
                      <a:ext uri="{FF2B5EF4-FFF2-40B4-BE49-F238E27FC236}">
                        <a16:creationId xmlns:a16="http://schemas.microsoft.com/office/drawing/2014/main" id="{1CC48D41-A6D2-489C-AE17-7E3CAC39A28B}"/>
                      </a:ext>
                    </a:extLst>
                  </p:cNvPr>
                  <p:cNvSpPr>
                    <a:spLocks noChangeArrowheads="1"/>
                  </p:cNvSpPr>
                  <p:nvPr/>
                </p:nvSpPr>
                <p:spPr bwMode="auto">
                  <a:xfrm flipH="1">
                    <a:off x="1240" y="1626"/>
                    <a:ext cx="72" cy="467"/>
                  </a:xfrm>
                  <a:prstGeom prst="cube">
                    <a:avLst>
                      <a:gd name="adj" fmla="val 25000"/>
                    </a:avLst>
                  </a:prstGeom>
                  <a:blipFill dpi="0" rotWithShape="0">
                    <a:blip r:embed="rId2" cstate="print"/>
                    <a:srcRect/>
                    <a:tile tx="0" ty="0" sx="100000" sy="100000" flip="none" algn="tl"/>
                  </a:blipFill>
                  <a:ln w="19050">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72" name="Oval 30" descr="Oak">
                    <a:extLst>
                      <a:ext uri="{FF2B5EF4-FFF2-40B4-BE49-F238E27FC236}">
                        <a16:creationId xmlns:a16="http://schemas.microsoft.com/office/drawing/2014/main" id="{0CB0A46B-4FEF-48B1-8D61-A3991229068F}"/>
                      </a:ext>
                    </a:extLst>
                  </p:cNvPr>
                  <p:cNvSpPr>
                    <a:spLocks noChangeArrowheads="1"/>
                  </p:cNvSpPr>
                  <p:nvPr/>
                </p:nvSpPr>
                <p:spPr bwMode="auto">
                  <a:xfrm rot="-503947">
                    <a:off x="953" y="1393"/>
                    <a:ext cx="1653" cy="524"/>
                  </a:xfrm>
                  <a:prstGeom prst="ellipse">
                    <a:avLst/>
                  </a:prstGeom>
                  <a:blipFill dpi="0" rotWithShape="0">
                    <a:blip r:embed="rId2" cstate="print"/>
                    <a:srcRect/>
                    <a:tile tx="0" ty="0" sx="100000" sy="100000" flip="none" algn="tl"/>
                  </a:blipFill>
                  <a:ln w="19050">
                    <a:solidFill>
                      <a:srgbClr val="000000"/>
                    </a:solidFill>
                    <a:round/>
                    <a:headEnd/>
                    <a:tailEnd/>
                  </a:ln>
                  <a:effectLst>
                    <a:outerShdw dist="53882" dir="2700000" algn="ctr" rotWithShape="0">
                      <a:srgbClr val="8C6136"/>
                    </a:outerShdw>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grpSp>
            <p:sp>
              <p:nvSpPr>
                <p:cNvPr id="66" name="Rectangle 31">
                  <a:extLst>
                    <a:ext uri="{FF2B5EF4-FFF2-40B4-BE49-F238E27FC236}">
                      <a16:creationId xmlns:a16="http://schemas.microsoft.com/office/drawing/2014/main" id="{29ECC9CC-EB28-4072-4974-88B3E8F57009}"/>
                    </a:ext>
                  </a:extLst>
                </p:cNvPr>
                <p:cNvSpPr>
                  <a:spLocks noChangeArrowheads="1"/>
                </p:cNvSpPr>
                <p:nvPr/>
              </p:nvSpPr>
              <p:spPr bwMode="auto">
                <a:xfrm>
                  <a:off x="1236" y="984"/>
                  <a:ext cx="1237" cy="192"/>
                </a:xfrm>
                <a:prstGeom prst="rect">
                  <a:avLst/>
                </a:prstGeom>
                <a:noFill/>
                <a:ln w="9525">
                  <a:noFill/>
                  <a:miter lim="800000"/>
                  <a:headEnd/>
                  <a:tailEnd/>
                </a:ln>
                <a:effec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Independent demand</a:t>
                  </a:r>
                </a:p>
              </p:txBody>
            </p:sp>
            <p:sp>
              <p:nvSpPr>
                <p:cNvPr id="67" name="Rectangle 32">
                  <a:extLst>
                    <a:ext uri="{FF2B5EF4-FFF2-40B4-BE49-F238E27FC236}">
                      <a16:creationId xmlns:a16="http://schemas.microsoft.com/office/drawing/2014/main" id="{9D19E174-1F50-81EF-22EB-AECF270AEF26}"/>
                    </a:ext>
                  </a:extLst>
                </p:cNvPr>
                <p:cNvSpPr>
                  <a:spLocks noChangeArrowheads="1"/>
                </p:cNvSpPr>
                <p:nvPr/>
              </p:nvSpPr>
              <p:spPr bwMode="auto">
                <a:xfrm>
                  <a:off x="1882" y="2331"/>
                  <a:ext cx="579" cy="173"/>
                </a:xfrm>
                <a:prstGeom prst="rect">
                  <a:avLst/>
                </a:prstGeom>
                <a:noFill/>
                <a:ln w="9525">
                  <a:noFill/>
                  <a:miter lim="800000"/>
                  <a:headEnd/>
                  <a:tailEnd/>
                </a:ln>
                <a:effec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100 tables</a:t>
                  </a:r>
                </a:p>
              </p:txBody>
            </p:sp>
          </p:grpSp>
          <p:grpSp>
            <p:nvGrpSpPr>
              <p:cNvPr id="55" name="Group 33">
                <a:extLst>
                  <a:ext uri="{FF2B5EF4-FFF2-40B4-BE49-F238E27FC236}">
                    <a16:creationId xmlns:a16="http://schemas.microsoft.com/office/drawing/2014/main" id="{A9924E7F-55FA-612A-C0D5-7B05ADF8CFAB}"/>
                  </a:ext>
                </a:extLst>
              </p:cNvPr>
              <p:cNvGrpSpPr>
                <a:grpSpLocks/>
              </p:cNvGrpSpPr>
              <p:nvPr/>
            </p:nvGrpSpPr>
            <p:grpSpPr bwMode="auto">
              <a:xfrm>
                <a:off x="3235" y="876"/>
                <a:ext cx="1920" cy="1519"/>
                <a:chOff x="3021" y="984"/>
                <a:chExt cx="1920" cy="1519"/>
              </a:xfrm>
            </p:grpSpPr>
            <p:grpSp>
              <p:nvGrpSpPr>
                <p:cNvPr id="56" name="Group 34">
                  <a:extLst>
                    <a:ext uri="{FF2B5EF4-FFF2-40B4-BE49-F238E27FC236}">
                      <a16:creationId xmlns:a16="http://schemas.microsoft.com/office/drawing/2014/main" id="{7CE896A7-7B85-6D02-40B7-57A1A86C8A1F}"/>
                    </a:ext>
                  </a:extLst>
                </p:cNvPr>
                <p:cNvGrpSpPr>
                  <a:grpSpLocks/>
                </p:cNvGrpSpPr>
                <p:nvPr/>
              </p:nvGrpSpPr>
              <p:grpSpPr bwMode="auto">
                <a:xfrm>
                  <a:off x="3067" y="1241"/>
                  <a:ext cx="1653" cy="1098"/>
                  <a:chOff x="3067" y="1241"/>
                  <a:chExt cx="1653" cy="1098"/>
                </a:xfrm>
              </p:grpSpPr>
              <p:sp>
                <p:nvSpPr>
                  <p:cNvPr id="60" name="Oval 35" descr="Oak">
                    <a:extLst>
                      <a:ext uri="{FF2B5EF4-FFF2-40B4-BE49-F238E27FC236}">
                        <a16:creationId xmlns:a16="http://schemas.microsoft.com/office/drawing/2014/main" id="{075C37AC-551E-251F-4461-0810D15CEDFF}"/>
                      </a:ext>
                    </a:extLst>
                  </p:cNvPr>
                  <p:cNvSpPr>
                    <a:spLocks noChangeArrowheads="1"/>
                  </p:cNvSpPr>
                  <p:nvPr/>
                </p:nvSpPr>
                <p:spPr bwMode="auto">
                  <a:xfrm rot="-503947">
                    <a:off x="3067" y="1241"/>
                    <a:ext cx="1653" cy="524"/>
                  </a:xfrm>
                  <a:prstGeom prst="ellipse">
                    <a:avLst/>
                  </a:prstGeom>
                  <a:blipFill dpi="0" rotWithShape="0">
                    <a:blip r:embed="rId2" cstate="print"/>
                    <a:srcRect/>
                    <a:tile tx="0" ty="0" sx="100000" sy="100000" flip="none" algn="tl"/>
                  </a:blipFill>
                  <a:ln w="19050">
                    <a:solidFill>
                      <a:srgbClr val="000000"/>
                    </a:solidFill>
                    <a:round/>
                    <a:headEnd/>
                    <a:tailEnd/>
                  </a:ln>
                  <a:effectLst>
                    <a:outerShdw dist="53882" dir="2700000" algn="ctr" rotWithShape="0">
                      <a:srgbClr val="8C6136"/>
                    </a:outerShdw>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61" name="AutoShape 36" descr="Oak">
                    <a:extLst>
                      <a:ext uri="{FF2B5EF4-FFF2-40B4-BE49-F238E27FC236}">
                        <a16:creationId xmlns:a16="http://schemas.microsoft.com/office/drawing/2014/main" id="{52261983-D06C-4834-EC41-3554EDD96E9A}"/>
                      </a:ext>
                    </a:extLst>
                  </p:cNvPr>
                  <p:cNvSpPr>
                    <a:spLocks noChangeArrowheads="1"/>
                  </p:cNvSpPr>
                  <p:nvPr/>
                </p:nvSpPr>
                <p:spPr bwMode="auto">
                  <a:xfrm flipH="1">
                    <a:off x="4124" y="1872"/>
                    <a:ext cx="72" cy="467"/>
                  </a:xfrm>
                  <a:prstGeom prst="cube">
                    <a:avLst>
                      <a:gd name="adj" fmla="val 25000"/>
                    </a:avLst>
                  </a:prstGeom>
                  <a:blipFill dpi="0" rotWithShape="0">
                    <a:blip r:embed="rId2" cstate="print"/>
                    <a:srcRect/>
                    <a:tile tx="0" ty="0" sx="100000" sy="100000" flip="none" algn="tl"/>
                  </a:blipFill>
                  <a:ln w="19050">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62" name="AutoShape 37" descr="Oak">
                    <a:extLst>
                      <a:ext uri="{FF2B5EF4-FFF2-40B4-BE49-F238E27FC236}">
                        <a16:creationId xmlns:a16="http://schemas.microsoft.com/office/drawing/2014/main" id="{F880F8D1-CA0C-36EF-D087-628BEAC1C02D}"/>
                      </a:ext>
                    </a:extLst>
                  </p:cNvPr>
                  <p:cNvSpPr>
                    <a:spLocks noChangeArrowheads="1"/>
                  </p:cNvSpPr>
                  <p:nvPr/>
                </p:nvSpPr>
                <p:spPr bwMode="auto">
                  <a:xfrm flipH="1">
                    <a:off x="4256" y="1872"/>
                    <a:ext cx="72" cy="467"/>
                  </a:xfrm>
                  <a:prstGeom prst="cube">
                    <a:avLst>
                      <a:gd name="adj" fmla="val 25000"/>
                    </a:avLst>
                  </a:prstGeom>
                  <a:blipFill dpi="0" rotWithShape="0">
                    <a:blip r:embed="rId2" cstate="print"/>
                    <a:srcRect/>
                    <a:tile tx="0" ty="0" sx="100000" sy="100000" flip="none" algn="tl"/>
                  </a:blipFill>
                  <a:ln w="19050">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63" name="AutoShape 38" descr="Oak">
                    <a:extLst>
                      <a:ext uri="{FF2B5EF4-FFF2-40B4-BE49-F238E27FC236}">
                        <a16:creationId xmlns:a16="http://schemas.microsoft.com/office/drawing/2014/main" id="{1C5CC3B6-DAE1-7F84-5D26-DFD3FD81FC9F}"/>
                      </a:ext>
                    </a:extLst>
                  </p:cNvPr>
                  <p:cNvSpPr>
                    <a:spLocks noChangeArrowheads="1"/>
                  </p:cNvSpPr>
                  <p:nvPr/>
                </p:nvSpPr>
                <p:spPr bwMode="auto">
                  <a:xfrm flipH="1">
                    <a:off x="4378" y="1872"/>
                    <a:ext cx="72" cy="467"/>
                  </a:xfrm>
                  <a:prstGeom prst="cube">
                    <a:avLst>
                      <a:gd name="adj" fmla="val 25000"/>
                    </a:avLst>
                  </a:prstGeom>
                  <a:blipFill dpi="0" rotWithShape="0">
                    <a:blip r:embed="rId2" cstate="print"/>
                    <a:srcRect/>
                    <a:tile tx="0" ty="0" sx="100000" sy="100000" flip="none" algn="tl"/>
                  </a:blipFill>
                  <a:ln w="19050">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sp>
                <p:nvSpPr>
                  <p:cNvPr id="64" name="AutoShape 39" descr="Oak">
                    <a:extLst>
                      <a:ext uri="{FF2B5EF4-FFF2-40B4-BE49-F238E27FC236}">
                        <a16:creationId xmlns:a16="http://schemas.microsoft.com/office/drawing/2014/main" id="{D0A02A1A-75E0-A40F-4C73-5A2F726DD358}"/>
                      </a:ext>
                    </a:extLst>
                  </p:cNvPr>
                  <p:cNvSpPr>
                    <a:spLocks noChangeArrowheads="1"/>
                  </p:cNvSpPr>
                  <p:nvPr/>
                </p:nvSpPr>
                <p:spPr bwMode="auto">
                  <a:xfrm flipH="1">
                    <a:off x="4510" y="1872"/>
                    <a:ext cx="72" cy="467"/>
                  </a:xfrm>
                  <a:prstGeom prst="cube">
                    <a:avLst>
                      <a:gd name="adj" fmla="val 25000"/>
                    </a:avLst>
                  </a:prstGeom>
                  <a:blipFill dpi="0" rotWithShape="0">
                    <a:blip r:embed="rId2" cstate="print"/>
                    <a:srcRect/>
                    <a:tile tx="0" ty="0" sx="100000" sy="100000" flip="none" algn="tl"/>
                  </a:blipFill>
                  <a:ln w="19050">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sz="3200" b="0" i="0" u="none" strike="noStrike" kern="1200" cap="none" spc="0" normalizeH="0" baseline="0" noProof="0">
                      <a:ln>
                        <a:noFill/>
                      </a:ln>
                      <a:solidFill>
                        <a:srgbClr val="003366"/>
                      </a:solidFill>
                      <a:effectLst>
                        <a:outerShdw blurRad="38100" dist="38100" dir="2700000" algn="tl">
                          <a:srgbClr val="000000">
                            <a:alpha val="43137"/>
                          </a:srgbClr>
                        </a:outerShdw>
                      </a:effectLst>
                      <a:uLnTx/>
                      <a:uFillTx/>
                      <a:latin typeface="Arial" charset="0"/>
                      <a:ea typeface="+mn-ea"/>
                      <a:cs typeface="+mn-cs"/>
                    </a:endParaRPr>
                  </a:p>
                </p:txBody>
              </p:sp>
            </p:grpSp>
            <p:sp>
              <p:nvSpPr>
                <p:cNvPr id="57" name="Rectangle 40">
                  <a:extLst>
                    <a:ext uri="{FF2B5EF4-FFF2-40B4-BE49-F238E27FC236}">
                      <a16:creationId xmlns:a16="http://schemas.microsoft.com/office/drawing/2014/main" id="{3C2B420A-AD6B-C8A7-B747-540E2F7A856C}"/>
                    </a:ext>
                  </a:extLst>
                </p:cNvPr>
                <p:cNvSpPr>
                  <a:spLocks noChangeArrowheads="1"/>
                </p:cNvSpPr>
                <p:nvPr/>
              </p:nvSpPr>
              <p:spPr bwMode="auto">
                <a:xfrm>
                  <a:off x="3448" y="984"/>
                  <a:ext cx="1151" cy="192"/>
                </a:xfrm>
                <a:prstGeom prst="rect">
                  <a:avLst/>
                </a:prstGeom>
                <a:noFill/>
                <a:ln w="9525">
                  <a:noFill/>
                  <a:miter lim="800000"/>
                  <a:headEnd/>
                  <a:tailEnd/>
                </a:ln>
                <a:effec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Dependent demand</a:t>
                  </a:r>
                </a:p>
              </p:txBody>
            </p:sp>
            <p:sp>
              <p:nvSpPr>
                <p:cNvPr id="58" name="Rectangle 41">
                  <a:extLst>
                    <a:ext uri="{FF2B5EF4-FFF2-40B4-BE49-F238E27FC236}">
                      <a16:creationId xmlns:a16="http://schemas.microsoft.com/office/drawing/2014/main" id="{EFD71CBD-4ACA-6A83-FEE0-06599A21A111}"/>
                    </a:ext>
                  </a:extLst>
                </p:cNvPr>
                <p:cNvSpPr>
                  <a:spLocks noChangeArrowheads="1"/>
                </p:cNvSpPr>
                <p:nvPr/>
              </p:nvSpPr>
              <p:spPr bwMode="auto">
                <a:xfrm>
                  <a:off x="3021" y="1788"/>
                  <a:ext cx="740" cy="254"/>
                </a:xfrm>
                <a:prstGeom prst="rect">
                  <a:avLst/>
                </a:prstGeom>
                <a:noFill/>
                <a:ln w="9525">
                  <a:noFill/>
                  <a:miter lim="800000"/>
                  <a:headEnd/>
                  <a:tailEnd/>
                </a:ln>
                <a:effectLst/>
              </p:spPr>
              <p:txBody>
                <a:bodyPr>
                  <a:spAutoFit/>
                </a:bodyPr>
                <a:lstStyle/>
                <a:p>
                  <a:pPr marL="0" marR="0" lvl="0" indent="0" defTabSz="914400" eaLnBrk="0" fontAlgn="base" latinLnBrk="0" hangingPunct="0">
                    <a:lnSpc>
                      <a:spcPct val="85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100 x 1 = </a:t>
                  </a:r>
                </a:p>
                <a:p>
                  <a:pPr marL="0" marR="0" lvl="0" indent="0" defTabSz="914400" eaLnBrk="0" fontAlgn="base" latinLnBrk="0" hangingPunct="0">
                    <a:lnSpc>
                      <a:spcPct val="85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100 tabletops</a:t>
                  </a:r>
                </a:p>
              </p:txBody>
            </p:sp>
            <p:sp>
              <p:nvSpPr>
                <p:cNvPr id="59" name="Rectangle 42">
                  <a:extLst>
                    <a:ext uri="{FF2B5EF4-FFF2-40B4-BE49-F238E27FC236}">
                      <a16:creationId xmlns:a16="http://schemas.microsoft.com/office/drawing/2014/main" id="{2B6EFADD-A3EC-A678-2765-1E4CBF46DADA}"/>
                    </a:ext>
                  </a:extLst>
                </p:cNvPr>
                <p:cNvSpPr>
                  <a:spLocks noChangeArrowheads="1"/>
                </p:cNvSpPr>
                <p:nvPr/>
              </p:nvSpPr>
              <p:spPr bwMode="auto">
                <a:xfrm>
                  <a:off x="3767" y="2330"/>
                  <a:ext cx="1174" cy="173"/>
                </a:xfrm>
                <a:prstGeom prst="rect">
                  <a:avLst/>
                </a:prstGeom>
                <a:noFill/>
                <a:ln w="9525">
                  <a:noFill/>
                  <a:miter lim="800000"/>
                  <a:headEnd/>
                  <a:tailEnd/>
                </a:ln>
                <a:effec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3366"/>
                      </a:solidFill>
                      <a:effectLst>
                        <a:outerShdw blurRad="38100" dist="38100" dir="2700000" algn="tl">
                          <a:srgbClr val="C0C0C0"/>
                        </a:outerShdw>
                      </a:effectLst>
                      <a:uLnTx/>
                      <a:uFillTx/>
                      <a:latin typeface="Arial" charset="0"/>
                      <a:ea typeface="+mn-ea"/>
                      <a:cs typeface="+mn-cs"/>
                    </a:rPr>
                    <a:t>100 x 4 = 400 table legs</a:t>
                  </a:r>
                </a:p>
              </p:txBody>
            </p:sp>
          </p:grpSp>
        </p:grpSp>
      </p:grpSp>
    </p:spTree>
    <p:extLst>
      <p:ext uri="{BB962C8B-B14F-4D97-AF65-F5344CB8AC3E}">
        <p14:creationId xmlns:p14="http://schemas.microsoft.com/office/powerpoint/2010/main" val="3757824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9F042-E46A-05C2-9F51-2C2804A8F1EB}"/>
              </a:ext>
            </a:extLst>
          </p:cNvPr>
          <p:cNvSpPr>
            <a:spLocks noGrp="1"/>
          </p:cNvSpPr>
          <p:nvPr>
            <p:ph type="title"/>
          </p:nvPr>
        </p:nvSpPr>
        <p:spPr/>
        <p:txBody>
          <a:bodyPr/>
          <a:lstStyle/>
          <a:p>
            <a:r>
              <a:rPr lang="en-US" dirty="0"/>
              <a:t>MRP </a:t>
            </a:r>
            <a:r>
              <a:rPr lang="en-US" i="1" dirty="0"/>
              <a:t>Core Concepts</a:t>
            </a:r>
            <a:endParaRPr lang="en-IN" dirty="0"/>
          </a:p>
        </p:txBody>
      </p:sp>
      <p:sp>
        <p:nvSpPr>
          <p:cNvPr id="3" name="Text Placeholder 2">
            <a:extLst>
              <a:ext uri="{FF2B5EF4-FFF2-40B4-BE49-F238E27FC236}">
                <a16:creationId xmlns:a16="http://schemas.microsoft.com/office/drawing/2014/main" id="{B7A45821-013B-42B1-E910-83F151D28A9E}"/>
              </a:ext>
            </a:extLst>
          </p:cNvPr>
          <p:cNvSpPr>
            <a:spLocks noGrp="1"/>
          </p:cNvSpPr>
          <p:nvPr>
            <p:ph type="body" idx="1"/>
          </p:nvPr>
        </p:nvSpPr>
        <p:spPr/>
        <p:txBody>
          <a:bodyPr/>
          <a:lstStyle/>
          <a:p>
            <a:r>
              <a:rPr lang="en-US" b="1" dirty="0"/>
              <a:t>Dependent Demand</a:t>
            </a:r>
          </a:p>
          <a:p>
            <a:pPr marL="808038">
              <a:buFont typeface="Wingdings" panose="05000000000000000000" pitchFamily="2" charset="2"/>
              <a:buChar char="Ø"/>
            </a:pPr>
            <a:r>
              <a:rPr lang="en-US" sz="2400" dirty="0"/>
              <a:t>Production (or procurement) of parts and materials is directly linked to demand for the final product</a:t>
            </a:r>
            <a:br>
              <a:rPr lang="en-US" dirty="0"/>
            </a:br>
            <a:endParaRPr lang="en-US" dirty="0"/>
          </a:p>
          <a:p>
            <a:r>
              <a:rPr lang="en-US" b="1" dirty="0"/>
              <a:t>Time-phased Scheduling</a:t>
            </a:r>
          </a:p>
          <a:p>
            <a:pPr marL="808038">
              <a:buFont typeface="Wingdings" panose="05000000000000000000" pitchFamily="2" charset="2"/>
              <a:buChar char="Ø"/>
            </a:pPr>
            <a:r>
              <a:rPr lang="en-US" sz="2400" dirty="0"/>
              <a:t>Parts and components must be ordered in advance to accommodate lead times between order placement and receipt</a:t>
            </a:r>
          </a:p>
        </p:txBody>
      </p:sp>
      <p:sp>
        <p:nvSpPr>
          <p:cNvPr id="4" name="Date Placeholder 3">
            <a:extLst>
              <a:ext uri="{FF2B5EF4-FFF2-40B4-BE49-F238E27FC236}">
                <a16:creationId xmlns:a16="http://schemas.microsoft.com/office/drawing/2014/main" id="{88E62861-5A6E-E947-B3A6-01BD919D0477}"/>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20CBA835-2393-93BB-3833-9C7A505B4A94}"/>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E3EF557A-6B09-424D-798B-3F7C500F5BA3}"/>
              </a:ext>
            </a:extLst>
          </p:cNvPr>
          <p:cNvSpPr>
            <a:spLocks noGrp="1"/>
          </p:cNvSpPr>
          <p:nvPr>
            <p:ph type="sldNum" idx="12"/>
          </p:nvPr>
        </p:nvSpPr>
        <p:spPr/>
        <p:txBody>
          <a:bodyPr/>
          <a:lstStyle/>
          <a:p>
            <a:fld id="{00000000-1234-1234-1234-123412341234}" type="slidenum">
              <a:rPr lang="en-US" smtClean="0"/>
              <a:pPr/>
              <a:t>7</a:t>
            </a:fld>
            <a:endParaRPr lang="en-US" dirty="0"/>
          </a:p>
        </p:txBody>
      </p:sp>
    </p:spTree>
    <p:extLst>
      <p:ext uri="{BB962C8B-B14F-4D97-AF65-F5344CB8AC3E}">
        <p14:creationId xmlns:p14="http://schemas.microsoft.com/office/powerpoint/2010/main" val="1817856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AE2A-C3FF-0BDD-D58E-82FC500D5BA8}"/>
              </a:ext>
            </a:extLst>
          </p:cNvPr>
          <p:cNvSpPr>
            <a:spLocks noGrp="1"/>
          </p:cNvSpPr>
          <p:nvPr>
            <p:ph type="title"/>
          </p:nvPr>
        </p:nvSpPr>
        <p:spPr/>
        <p:txBody>
          <a:bodyPr/>
          <a:lstStyle/>
          <a:p>
            <a:r>
              <a:rPr lang="en-IN" dirty="0"/>
              <a:t>Quick Review</a:t>
            </a:r>
          </a:p>
        </p:txBody>
      </p:sp>
      <p:sp>
        <p:nvSpPr>
          <p:cNvPr id="3" name="Text Placeholder 2">
            <a:extLst>
              <a:ext uri="{FF2B5EF4-FFF2-40B4-BE49-F238E27FC236}">
                <a16:creationId xmlns:a16="http://schemas.microsoft.com/office/drawing/2014/main" id="{0F082CDF-9A62-D740-201F-41040E7C6C69}"/>
              </a:ext>
            </a:extLst>
          </p:cNvPr>
          <p:cNvSpPr>
            <a:spLocks noGrp="1"/>
          </p:cNvSpPr>
          <p:nvPr>
            <p:ph type="body" idx="1"/>
          </p:nvPr>
        </p:nvSpPr>
        <p:spPr>
          <a:xfrm>
            <a:off x="2929890" y="1725026"/>
            <a:ext cx="3433034" cy="685801"/>
          </a:xfrm>
          <a:ln>
            <a:solidFill>
              <a:schemeClr val="tx1"/>
            </a:solidFill>
          </a:ln>
        </p:spPr>
        <p:txBody>
          <a:bodyPr>
            <a:normAutofit lnSpcReduction="10000"/>
          </a:bodyPr>
          <a:lstStyle/>
          <a:p>
            <a:pPr marL="114300" indent="0" algn="ctr">
              <a:buNone/>
            </a:pPr>
            <a:r>
              <a:rPr lang="en-IN" sz="3600" b="1" dirty="0">
                <a:solidFill>
                  <a:srgbClr val="FF0000"/>
                </a:solidFill>
              </a:rPr>
              <a:t>True or False</a:t>
            </a:r>
          </a:p>
        </p:txBody>
      </p:sp>
      <p:sp>
        <p:nvSpPr>
          <p:cNvPr id="4" name="Date Placeholder 3">
            <a:extLst>
              <a:ext uri="{FF2B5EF4-FFF2-40B4-BE49-F238E27FC236}">
                <a16:creationId xmlns:a16="http://schemas.microsoft.com/office/drawing/2014/main" id="{45B0FCAC-B3FB-F4D7-14FE-C9A22C5A71BB}"/>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234DF968-C6D0-DE34-A5DC-DE788794A554}"/>
              </a:ext>
            </a:extLst>
          </p:cNvPr>
          <p:cNvSpPr>
            <a:spLocks noGrp="1"/>
          </p:cNvSpPr>
          <p:nvPr>
            <p:ph type="ftr" idx="11"/>
          </p:nvPr>
        </p:nvSpPr>
        <p:spPr/>
        <p:txBody>
          <a:bodyPr/>
          <a:lstStyle/>
          <a:p>
            <a:r>
              <a:rPr lang="en-IN" dirty="0"/>
              <a:t>Resource Planning</a:t>
            </a:r>
          </a:p>
        </p:txBody>
      </p:sp>
      <p:sp>
        <p:nvSpPr>
          <p:cNvPr id="6" name="Slide Number Placeholder 5">
            <a:extLst>
              <a:ext uri="{FF2B5EF4-FFF2-40B4-BE49-F238E27FC236}">
                <a16:creationId xmlns:a16="http://schemas.microsoft.com/office/drawing/2014/main" id="{18BFC000-1886-70BE-55E3-3345CE7231F0}"/>
              </a:ext>
            </a:extLst>
          </p:cNvPr>
          <p:cNvSpPr>
            <a:spLocks noGrp="1"/>
          </p:cNvSpPr>
          <p:nvPr>
            <p:ph type="sldNum" idx="12"/>
          </p:nvPr>
        </p:nvSpPr>
        <p:spPr/>
        <p:txBody>
          <a:bodyPr/>
          <a:lstStyle/>
          <a:p>
            <a:fld id="{00000000-1234-1234-1234-123412341234}" type="slidenum">
              <a:rPr lang="en-US" smtClean="0"/>
              <a:pPr/>
              <a:t>8</a:t>
            </a:fld>
            <a:endParaRPr lang="en-US" dirty="0"/>
          </a:p>
        </p:txBody>
      </p:sp>
      <p:sp>
        <p:nvSpPr>
          <p:cNvPr id="7" name="Text Placeholder 2">
            <a:extLst>
              <a:ext uri="{FF2B5EF4-FFF2-40B4-BE49-F238E27FC236}">
                <a16:creationId xmlns:a16="http://schemas.microsoft.com/office/drawing/2014/main" id="{EB6EBBDD-8016-0BDE-2DD6-646C2D691877}"/>
              </a:ext>
            </a:extLst>
          </p:cNvPr>
          <p:cNvSpPr txBox="1">
            <a:spLocks/>
          </p:cNvSpPr>
          <p:nvPr/>
        </p:nvSpPr>
        <p:spPr>
          <a:xfrm>
            <a:off x="2137410" y="2583093"/>
            <a:ext cx="5452109" cy="571588"/>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ctr">
              <a:buFont typeface="Arial"/>
              <a:buNone/>
            </a:pPr>
            <a:r>
              <a:rPr lang="en-IN" sz="3200" b="1" dirty="0">
                <a:solidFill>
                  <a:srgbClr val="00B050"/>
                </a:solidFill>
              </a:rPr>
              <a:t>Correct Answer: True</a:t>
            </a:r>
          </a:p>
        </p:txBody>
      </p:sp>
      <p:sp>
        <p:nvSpPr>
          <p:cNvPr id="18" name="TextBox 17">
            <a:extLst>
              <a:ext uri="{FF2B5EF4-FFF2-40B4-BE49-F238E27FC236}">
                <a16:creationId xmlns:a16="http://schemas.microsoft.com/office/drawing/2014/main" id="{374EDA02-5EE2-1F34-BBC1-A35456D82EC8}"/>
              </a:ext>
            </a:extLst>
          </p:cNvPr>
          <p:cNvSpPr txBox="1"/>
          <p:nvPr/>
        </p:nvSpPr>
        <p:spPr>
          <a:xfrm>
            <a:off x="497439" y="3967844"/>
            <a:ext cx="10762781" cy="523220"/>
          </a:xfrm>
          <a:prstGeom prst="rect">
            <a:avLst/>
          </a:prstGeom>
          <a:noFill/>
          <a:ln>
            <a:solidFill>
              <a:schemeClr val="tx1"/>
            </a:solidFill>
          </a:ln>
        </p:spPr>
        <p:txBody>
          <a:bodyPr wrap="square">
            <a:spAutoFit/>
          </a:bodyPr>
          <a:lstStyle/>
          <a:p>
            <a:pPr algn="ctr"/>
            <a:r>
              <a:rPr lang="en-US" sz="2800" b="0" i="0" u="none" strike="noStrike" baseline="0" dirty="0">
                <a:solidFill>
                  <a:srgbClr val="000000"/>
                </a:solidFill>
                <a:latin typeface="Times New Roman" panose="02020603050405020304" pitchFamily="18" charset="0"/>
              </a:rPr>
              <a:t>MRP is generally applicable to items with dependent demand.</a:t>
            </a:r>
            <a:endParaRPr lang="en-IN" sz="2800" dirty="0"/>
          </a:p>
        </p:txBody>
      </p:sp>
    </p:spTree>
    <p:extLst>
      <p:ext uri="{BB962C8B-B14F-4D97-AF65-F5344CB8AC3E}">
        <p14:creationId xmlns:p14="http://schemas.microsoft.com/office/powerpoint/2010/main" val="341075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AE2A-C3FF-0BDD-D58E-82FC500D5BA8}"/>
              </a:ext>
            </a:extLst>
          </p:cNvPr>
          <p:cNvSpPr>
            <a:spLocks noGrp="1"/>
          </p:cNvSpPr>
          <p:nvPr>
            <p:ph type="title"/>
          </p:nvPr>
        </p:nvSpPr>
        <p:spPr/>
        <p:txBody>
          <a:bodyPr/>
          <a:lstStyle/>
          <a:p>
            <a:r>
              <a:rPr lang="en-IN" dirty="0"/>
              <a:t>Quick Review</a:t>
            </a:r>
          </a:p>
        </p:txBody>
      </p:sp>
      <p:sp>
        <p:nvSpPr>
          <p:cNvPr id="3" name="Text Placeholder 2">
            <a:extLst>
              <a:ext uri="{FF2B5EF4-FFF2-40B4-BE49-F238E27FC236}">
                <a16:creationId xmlns:a16="http://schemas.microsoft.com/office/drawing/2014/main" id="{0F082CDF-9A62-D740-201F-41040E7C6C69}"/>
              </a:ext>
            </a:extLst>
          </p:cNvPr>
          <p:cNvSpPr>
            <a:spLocks noGrp="1"/>
          </p:cNvSpPr>
          <p:nvPr>
            <p:ph type="body" idx="1"/>
          </p:nvPr>
        </p:nvSpPr>
        <p:spPr>
          <a:xfrm>
            <a:off x="2929890" y="1725026"/>
            <a:ext cx="3433034" cy="685801"/>
          </a:xfrm>
          <a:ln>
            <a:solidFill>
              <a:schemeClr val="tx1"/>
            </a:solidFill>
          </a:ln>
        </p:spPr>
        <p:txBody>
          <a:bodyPr>
            <a:normAutofit lnSpcReduction="10000"/>
          </a:bodyPr>
          <a:lstStyle/>
          <a:p>
            <a:pPr marL="114300" indent="0" algn="ctr">
              <a:buNone/>
            </a:pPr>
            <a:r>
              <a:rPr lang="en-IN" sz="3600" b="1" dirty="0">
                <a:solidFill>
                  <a:srgbClr val="FF0000"/>
                </a:solidFill>
              </a:rPr>
              <a:t>True or False</a:t>
            </a:r>
          </a:p>
        </p:txBody>
      </p:sp>
      <p:sp>
        <p:nvSpPr>
          <p:cNvPr id="4" name="Date Placeholder 3">
            <a:extLst>
              <a:ext uri="{FF2B5EF4-FFF2-40B4-BE49-F238E27FC236}">
                <a16:creationId xmlns:a16="http://schemas.microsoft.com/office/drawing/2014/main" id="{45B0FCAC-B3FB-F4D7-14FE-C9A22C5A71BB}"/>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234DF968-C6D0-DE34-A5DC-DE788794A554}"/>
              </a:ext>
            </a:extLst>
          </p:cNvPr>
          <p:cNvSpPr>
            <a:spLocks noGrp="1"/>
          </p:cNvSpPr>
          <p:nvPr>
            <p:ph type="ftr" idx="11"/>
          </p:nvPr>
        </p:nvSpPr>
        <p:spPr/>
        <p:txBody>
          <a:bodyPr/>
          <a:lstStyle/>
          <a:p>
            <a:r>
              <a:rPr lang="en-IN" dirty="0"/>
              <a:t>Resource Planning</a:t>
            </a:r>
          </a:p>
        </p:txBody>
      </p:sp>
      <p:sp>
        <p:nvSpPr>
          <p:cNvPr id="6" name="Slide Number Placeholder 5">
            <a:extLst>
              <a:ext uri="{FF2B5EF4-FFF2-40B4-BE49-F238E27FC236}">
                <a16:creationId xmlns:a16="http://schemas.microsoft.com/office/drawing/2014/main" id="{18BFC000-1886-70BE-55E3-3345CE7231F0}"/>
              </a:ext>
            </a:extLst>
          </p:cNvPr>
          <p:cNvSpPr>
            <a:spLocks noGrp="1"/>
          </p:cNvSpPr>
          <p:nvPr>
            <p:ph type="sldNum" idx="12"/>
          </p:nvPr>
        </p:nvSpPr>
        <p:spPr/>
        <p:txBody>
          <a:bodyPr/>
          <a:lstStyle/>
          <a:p>
            <a:fld id="{00000000-1234-1234-1234-123412341234}" type="slidenum">
              <a:rPr lang="en-US" smtClean="0"/>
              <a:pPr/>
              <a:t>9</a:t>
            </a:fld>
            <a:endParaRPr lang="en-US" dirty="0"/>
          </a:p>
        </p:txBody>
      </p:sp>
      <p:sp>
        <p:nvSpPr>
          <p:cNvPr id="7" name="Text Placeholder 2">
            <a:extLst>
              <a:ext uri="{FF2B5EF4-FFF2-40B4-BE49-F238E27FC236}">
                <a16:creationId xmlns:a16="http://schemas.microsoft.com/office/drawing/2014/main" id="{EB6EBBDD-8016-0BDE-2DD6-646C2D691877}"/>
              </a:ext>
            </a:extLst>
          </p:cNvPr>
          <p:cNvSpPr txBox="1">
            <a:spLocks/>
          </p:cNvSpPr>
          <p:nvPr/>
        </p:nvSpPr>
        <p:spPr>
          <a:xfrm>
            <a:off x="2137410" y="2583093"/>
            <a:ext cx="5452109" cy="571588"/>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ctr">
              <a:buFont typeface="Arial"/>
              <a:buNone/>
            </a:pPr>
            <a:r>
              <a:rPr lang="en-IN" sz="3200" b="1" dirty="0">
                <a:solidFill>
                  <a:srgbClr val="00B050"/>
                </a:solidFill>
              </a:rPr>
              <a:t>Correct Answer: False</a:t>
            </a:r>
          </a:p>
        </p:txBody>
      </p:sp>
      <p:sp>
        <p:nvSpPr>
          <p:cNvPr id="18" name="TextBox 17">
            <a:extLst>
              <a:ext uri="{FF2B5EF4-FFF2-40B4-BE49-F238E27FC236}">
                <a16:creationId xmlns:a16="http://schemas.microsoft.com/office/drawing/2014/main" id="{374EDA02-5EE2-1F34-BBC1-A35456D82EC8}"/>
              </a:ext>
            </a:extLst>
          </p:cNvPr>
          <p:cNvSpPr txBox="1"/>
          <p:nvPr/>
        </p:nvSpPr>
        <p:spPr>
          <a:xfrm>
            <a:off x="497439" y="3967844"/>
            <a:ext cx="10762781" cy="954107"/>
          </a:xfrm>
          <a:prstGeom prst="rect">
            <a:avLst/>
          </a:prstGeom>
          <a:noFill/>
          <a:ln>
            <a:solidFill>
              <a:schemeClr val="tx1"/>
            </a:solidFill>
          </a:ln>
        </p:spPr>
        <p:txBody>
          <a:bodyPr wrap="square">
            <a:spAutoFit/>
          </a:bodyPr>
          <a:lstStyle/>
          <a:p>
            <a:pPr algn="ctr"/>
            <a:r>
              <a:rPr lang="en-US" sz="2800" b="0" i="0" u="none" strike="noStrike" baseline="0" dirty="0">
                <a:solidFill>
                  <a:srgbClr val="000000"/>
                </a:solidFill>
                <a:latin typeface="Times New Roman" panose="02020603050405020304" pitchFamily="18" charset="0"/>
              </a:rPr>
              <a:t>A dependent demand item is so called because its demand is dependent on customer preferences.</a:t>
            </a:r>
            <a:endParaRPr lang="en-IN" sz="2800" dirty="0"/>
          </a:p>
        </p:txBody>
      </p:sp>
    </p:spTree>
    <p:extLst>
      <p:ext uri="{BB962C8B-B14F-4D97-AF65-F5344CB8AC3E}">
        <p14:creationId xmlns:p14="http://schemas.microsoft.com/office/powerpoint/2010/main" val="3535999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AE2A-C3FF-0BDD-D58E-82FC500D5BA8}"/>
              </a:ext>
            </a:extLst>
          </p:cNvPr>
          <p:cNvSpPr>
            <a:spLocks noGrp="1"/>
          </p:cNvSpPr>
          <p:nvPr>
            <p:ph type="title"/>
          </p:nvPr>
        </p:nvSpPr>
        <p:spPr/>
        <p:txBody>
          <a:bodyPr/>
          <a:lstStyle/>
          <a:p>
            <a:r>
              <a:rPr lang="en-IN" dirty="0"/>
              <a:t>Quick Review</a:t>
            </a:r>
          </a:p>
        </p:txBody>
      </p:sp>
      <p:sp>
        <p:nvSpPr>
          <p:cNvPr id="3" name="Text Placeholder 2">
            <a:extLst>
              <a:ext uri="{FF2B5EF4-FFF2-40B4-BE49-F238E27FC236}">
                <a16:creationId xmlns:a16="http://schemas.microsoft.com/office/drawing/2014/main" id="{0F082CDF-9A62-D740-201F-41040E7C6C69}"/>
              </a:ext>
            </a:extLst>
          </p:cNvPr>
          <p:cNvSpPr>
            <a:spLocks noGrp="1"/>
          </p:cNvSpPr>
          <p:nvPr>
            <p:ph type="body" idx="1"/>
          </p:nvPr>
        </p:nvSpPr>
        <p:spPr>
          <a:xfrm>
            <a:off x="2929890" y="1725026"/>
            <a:ext cx="3433034" cy="685801"/>
          </a:xfrm>
          <a:ln>
            <a:solidFill>
              <a:schemeClr val="tx1"/>
            </a:solidFill>
          </a:ln>
        </p:spPr>
        <p:txBody>
          <a:bodyPr>
            <a:normAutofit lnSpcReduction="10000"/>
          </a:bodyPr>
          <a:lstStyle/>
          <a:p>
            <a:pPr marL="114300" indent="0" algn="ctr">
              <a:buNone/>
            </a:pPr>
            <a:r>
              <a:rPr lang="en-IN" sz="3600" b="1" dirty="0">
                <a:solidFill>
                  <a:srgbClr val="FF0000"/>
                </a:solidFill>
              </a:rPr>
              <a:t>MCQ</a:t>
            </a:r>
          </a:p>
        </p:txBody>
      </p:sp>
      <p:sp>
        <p:nvSpPr>
          <p:cNvPr id="4" name="Date Placeholder 3">
            <a:extLst>
              <a:ext uri="{FF2B5EF4-FFF2-40B4-BE49-F238E27FC236}">
                <a16:creationId xmlns:a16="http://schemas.microsoft.com/office/drawing/2014/main" id="{45B0FCAC-B3FB-F4D7-14FE-C9A22C5A71BB}"/>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234DF968-C6D0-DE34-A5DC-DE788794A554}"/>
              </a:ext>
            </a:extLst>
          </p:cNvPr>
          <p:cNvSpPr>
            <a:spLocks noGrp="1"/>
          </p:cNvSpPr>
          <p:nvPr>
            <p:ph type="ftr" idx="11"/>
          </p:nvPr>
        </p:nvSpPr>
        <p:spPr/>
        <p:txBody>
          <a:bodyPr/>
          <a:lstStyle/>
          <a:p>
            <a:r>
              <a:rPr lang="en-IN" dirty="0"/>
              <a:t>Resource Planning</a:t>
            </a:r>
          </a:p>
        </p:txBody>
      </p:sp>
      <p:sp>
        <p:nvSpPr>
          <p:cNvPr id="6" name="Slide Number Placeholder 5">
            <a:extLst>
              <a:ext uri="{FF2B5EF4-FFF2-40B4-BE49-F238E27FC236}">
                <a16:creationId xmlns:a16="http://schemas.microsoft.com/office/drawing/2014/main" id="{18BFC000-1886-70BE-55E3-3345CE7231F0}"/>
              </a:ext>
            </a:extLst>
          </p:cNvPr>
          <p:cNvSpPr>
            <a:spLocks noGrp="1"/>
          </p:cNvSpPr>
          <p:nvPr>
            <p:ph type="sldNum" idx="12"/>
          </p:nvPr>
        </p:nvSpPr>
        <p:spPr/>
        <p:txBody>
          <a:bodyPr/>
          <a:lstStyle/>
          <a:p>
            <a:fld id="{00000000-1234-1234-1234-123412341234}" type="slidenum">
              <a:rPr lang="en-US" smtClean="0"/>
              <a:pPr/>
              <a:t>10</a:t>
            </a:fld>
            <a:endParaRPr lang="en-US" dirty="0"/>
          </a:p>
        </p:txBody>
      </p:sp>
      <p:sp>
        <p:nvSpPr>
          <p:cNvPr id="7" name="Text Placeholder 2">
            <a:extLst>
              <a:ext uri="{FF2B5EF4-FFF2-40B4-BE49-F238E27FC236}">
                <a16:creationId xmlns:a16="http://schemas.microsoft.com/office/drawing/2014/main" id="{EB6EBBDD-8016-0BDE-2DD6-646C2D691877}"/>
              </a:ext>
            </a:extLst>
          </p:cNvPr>
          <p:cNvSpPr txBox="1">
            <a:spLocks/>
          </p:cNvSpPr>
          <p:nvPr/>
        </p:nvSpPr>
        <p:spPr>
          <a:xfrm>
            <a:off x="2137410" y="2583093"/>
            <a:ext cx="5452109" cy="571588"/>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ctr">
              <a:buFont typeface="Arial"/>
              <a:buNone/>
            </a:pPr>
            <a:r>
              <a:rPr lang="en-IN" sz="3200" b="1" dirty="0">
                <a:solidFill>
                  <a:srgbClr val="00B050"/>
                </a:solidFill>
              </a:rPr>
              <a:t>Correct Answer: D</a:t>
            </a:r>
          </a:p>
        </p:txBody>
      </p:sp>
      <p:sp>
        <p:nvSpPr>
          <p:cNvPr id="18" name="TextBox 17">
            <a:extLst>
              <a:ext uri="{FF2B5EF4-FFF2-40B4-BE49-F238E27FC236}">
                <a16:creationId xmlns:a16="http://schemas.microsoft.com/office/drawing/2014/main" id="{374EDA02-5EE2-1F34-BBC1-A35456D82EC8}"/>
              </a:ext>
            </a:extLst>
          </p:cNvPr>
          <p:cNvSpPr txBox="1"/>
          <p:nvPr/>
        </p:nvSpPr>
        <p:spPr>
          <a:xfrm>
            <a:off x="497439" y="3967844"/>
            <a:ext cx="11474821" cy="2246769"/>
          </a:xfrm>
          <a:prstGeom prst="rect">
            <a:avLst/>
          </a:prstGeom>
          <a:noFill/>
          <a:ln>
            <a:solidFill>
              <a:schemeClr val="tx1"/>
            </a:solidFill>
          </a:ln>
        </p:spPr>
        <p:txBody>
          <a:bodyPr wrap="square">
            <a:spAutoFit/>
          </a:bodyPr>
          <a:lstStyle/>
          <a:p>
            <a:r>
              <a:rPr lang="en-US" sz="2800" b="1" i="0" u="none" strike="noStrike" baseline="0" dirty="0">
                <a:solidFill>
                  <a:srgbClr val="000000"/>
                </a:solidFill>
                <a:latin typeface="Times New Roman" panose="02020603050405020304" pitchFamily="18" charset="0"/>
              </a:rPr>
              <a:t>Dependent demand and independent demand items differ in that:</a:t>
            </a:r>
          </a:p>
          <a:p>
            <a:r>
              <a:rPr lang="en-US" sz="2800" i="0" u="none" strike="noStrike" baseline="0" dirty="0">
                <a:solidFill>
                  <a:srgbClr val="000000"/>
                </a:solidFill>
                <a:latin typeface="Times New Roman" panose="02020603050405020304" pitchFamily="18" charset="0"/>
              </a:rPr>
              <a:t>A) for any product, all components are dependent-demand items.</a:t>
            </a:r>
          </a:p>
          <a:p>
            <a:r>
              <a:rPr lang="en-US" sz="2800" i="0" u="none" strike="noStrike" baseline="0" dirty="0">
                <a:solidFill>
                  <a:srgbClr val="000000"/>
                </a:solidFill>
                <a:latin typeface="Times New Roman" panose="02020603050405020304" pitchFamily="18" charset="0"/>
              </a:rPr>
              <a:t>B) the need for independent-demand items is forecast.</a:t>
            </a:r>
          </a:p>
          <a:p>
            <a:r>
              <a:rPr lang="en-US" sz="2800" i="0" u="none" strike="noStrike" baseline="0" dirty="0">
                <a:solidFill>
                  <a:srgbClr val="000000"/>
                </a:solidFill>
                <a:latin typeface="Times New Roman" panose="02020603050405020304" pitchFamily="18" charset="0"/>
              </a:rPr>
              <a:t>C) the need for dependent-demand items is calculated.</a:t>
            </a:r>
          </a:p>
          <a:p>
            <a:r>
              <a:rPr lang="en-US" sz="2800" i="0" u="none" strike="noStrike" baseline="0" dirty="0">
                <a:solidFill>
                  <a:srgbClr val="000000"/>
                </a:solidFill>
                <a:latin typeface="Times New Roman" panose="02020603050405020304" pitchFamily="18" charset="0"/>
              </a:rPr>
              <a:t>D) All of the above are true.</a:t>
            </a:r>
          </a:p>
        </p:txBody>
      </p:sp>
    </p:spTree>
    <p:extLst>
      <p:ext uri="{BB962C8B-B14F-4D97-AF65-F5344CB8AC3E}">
        <p14:creationId xmlns:p14="http://schemas.microsoft.com/office/powerpoint/2010/main" val="3772084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516FF-0FC3-6315-F198-CABFE9E4D6FE}"/>
              </a:ext>
            </a:extLst>
          </p:cNvPr>
          <p:cNvSpPr>
            <a:spLocks noGrp="1"/>
          </p:cNvSpPr>
          <p:nvPr>
            <p:ph type="title"/>
          </p:nvPr>
        </p:nvSpPr>
        <p:spPr/>
        <p:txBody>
          <a:bodyPr/>
          <a:lstStyle/>
          <a:p>
            <a:r>
              <a:rPr lang="en-US" dirty="0">
                <a:solidFill>
                  <a:schemeClr val="tx1"/>
                </a:solidFill>
              </a:rPr>
              <a:t>MRP Inputs and Outputs</a:t>
            </a:r>
            <a:endParaRPr lang="en-IN" dirty="0"/>
          </a:p>
        </p:txBody>
      </p:sp>
      <p:sp>
        <p:nvSpPr>
          <p:cNvPr id="4" name="Date Placeholder 3">
            <a:extLst>
              <a:ext uri="{FF2B5EF4-FFF2-40B4-BE49-F238E27FC236}">
                <a16:creationId xmlns:a16="http://schemas.microsoft.com/office/drawing/2014/main" id="{952E2B1D-CFD9-9A80-3DF0-C9F5A1205CE5}"/>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E5B68724-A54F-5808-65BC-2551EDFCFE42}"/>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81FB93AB-A979-201A-C247-0C0882AA216E}"/>
              </a:ext>
            </a:extLst>
          </p:cNvPr>
          <p:cNvSpPr>
            <a:spLocks noGrp="1"/>
          </p:cNvSpPr>
          <p:nvPr>
            <p:ph type="sldNum" idx="12"/>
          </p:nvPr>
        </p:nvSpPr>
        <p:spPr/>
        <p:txBody>
          <a:bodyPr/>
          <a:lstStyle/>
          <a:p>
            <a:fld id="{00000000-1234-1234-1234-123412341234}" type="slidenum">
              <a:rPr lang="en-US" smtClean="0"/>
              <a:pPr/>
              <a:t>11</a:t>
            </a:fld>
            <a:endParaRPr lang="en-US" dirty="0"/>
          </a:p>
        </p:txBody>
      </p:sp>
      <p:pic>
        <p:nvPicPr>
          <p:cNvPr id="12" name="Picture 2">
            <a:extLst>
              <a:ext uri="{FF2B5EF4-FFF2-40B4-BE49-F238E27FC236}">
                <a16:creationId xmlns:a16="http://schemas.microsoft.com/office/drawing/2014/main" id="{B6AE1A91-EA3C-9951-92D4-BB7C1CF2774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609" b="2904"/>
          <a:stretch/>
        </p:blipFill>
        <p:spPr bwMode="auto">
          <a:xfrm>
            <a:off x="348777" y="1105786"/>
            <a:ext cx="11445777" cy="49441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4204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C78C0-8ADB-7477-C667-714366ED1C2B}"/>
              </a:ext>
            </a:extLst>
          </p:cNvPr>
          <p:cNvSpPr>
            <a:spLocks noGrp="1"/>
          </p:cNvSpPr>
          <p:nvPr>
            <p:ph type="title"/>
          </p:nvPr>
        </p:nvSpPr>
        <p:spPr/>
        <p:txBody>
          <a:bodyPr/>
          <a:lstStyle/>
          <a:p>
            <a:r>
              <a:rPr lang="en-IN" dirty="0"/>
              <a:t>Master Production Schedule</a:t>
            </a:r>
          </a:p>
        </p:txBody>
      </p:sp>
      <p:sp>
        <p:nvSpPr>
          <p:cNvPr id="3" name="Text Placeholder 2">
            <a:extLst>
              <a:ext uri="{FF2B5EF4-FFF2-40B4-BE49-F238E27FC236}">
                <a16:creationId xmlns:a16="http://schemas.microsoft.com/office/drawing/2014/main" id="{4C1DC1C8-7DCA-43E4-92B2-8EABD83C3835}"/>
              </a:ext>
            </a:extLst>
          </p:cNvPr>
          <p:cNvSpPr>
            <a:spLocks noGrp="1"/>
          </p:cNvSpPr>
          <p:nvPr>
            <p:ph type="body" idx="1"/>
          </p:nvPr>
        </p:nvSpPr>
        <p:spPr>
          <a:xfrm>
            <a:off x="276447" y="935665"/>
            <a:ext cx="11727711" cy="5135700"/>
          </a:xfrm>
        </p:spPr>
        <p:txBody>
          <a:bodyPr/>
          <a:lstStyle/>
          <a:p>
            <a:pPr algn="just"/>
            <a:r>
              <a:rPr lang="en-IN" dirty="0"/>
              <a:t>The </a:t>
            </a:r>
            <a:r>
              <a:rPr lang="en-IN" b="1" dirty="0"/>
              <a:t>master production schedule (MPS)</a:t>
            </a:r>
            <a:r>
              <a:rPr lang="en-IN" dirty="0"/>
              <a:t>, also called the </a:t>
            </a:r>
            <a:r>
              <a:rPr lang="en-IN" i="1" dirty="0"/>
              <a:t>master schedule</a:t>
            </a:r>
            <a:r>
              <a:rPr lang="en-IN" dirty="0"/>
              <a:t>, specifies which end items or finished products a firm is to produce, how many are needed, and when they are needed.</a:t>
            </a:r>
          </a:p>
          <a:p>
            <a:pPr algn="just"/>
            <a:r>
              <a:rPr lang="en-IN" dirty="0"/>
              <a:t>The master production schedule works within the constraints of the aggregate production plan but produces a more specific schedule by individual products.</a:t>
            </a:r>
          </a:p>
          <a:p>
            <a:pPr algn="just"/>
            <a:r>
              <a:rPr lang="en-IN" dirty="0"/>
              <a:t>The time frame is more specific, too.</a:t>
            </a:r>
          </a:p>
          <a:p>
            <a:pPr algn="just"/>
            <a:r>
              <a:rPr lang="en-IN" dirty="0"/>
              <a:t>The total length of time required to manufacture a product is called its </a:t>
            </a:r>
            <a:r>
              <a:rPr lang="en-IN" b="1" dirty="0"/>
              <a:t>cumulative lead time</a:t>
            </a:r>
            <a:r>
              <a:rPr lang="en-IN" dirty="0"/>
              <a:t>.</a:t>
            </a:r>
          </a:p>
        </p:txBody>
      </p:sp>
      <p:sp>
        <p:nvSpPr>
          <p:cNvPr id="4" name="Date Placeholder 3">
            <a:extLst>
              <a:ext uri="{FF2B5EF4-FFF2-40B4-BE49-F238E27FC236}">
                <a16:creationId xmlns:a16="http://schemas.microsoft.com/office/drawing/2014/main" id="{88AAF746-1931-74D8-B1A3-15AE45BB9546}"/>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91FF6837-F363-1A6C-99E4-1440E7D7AFFE}"/>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6178A9BC-FEBD-320D-F5B8-40677D1AAE1C}"/>
              </a:ext>
            </a:extLst>
          </p:cNvPr>
          <p:cNvSpPr>
            <a:spLocks noGrp="1"/>
          </p:cNvSpPr>
          <p:nvPr>
            <p:ph type="sldNum" idx="12"/>
          </p:nvPr>
        </p:nvSpPr>
        <p:spPr/>
        <p:txBody>
          <a:bodyPr/>
          <a:lstStyle/>
          <a:p>
            <a:fld id="{00000000-1234-1234-1234-123412341234}" type="slidenum">
              <a:rPr lang="en-US" smtClean="0"/>
              <a:pPr/>
              <a:t>12</a:t>
            </a:fld>
            <a:endParaRPr lang="en-US" dirty="0"/>
          </a:p>
        </p:txBody>
      </p:sp>
    </p:spTree>
    <p:extLst>
      <p:ext uri="{BB962C8B-B14F-4D97-AF65-F5344CB8AC3E}">
        <p14:creationId xmlns:p14="http://schemas.microsoft.com/office/powerpoint/2010/main" val="1065687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178FE-6796-42E6-03C3-EDE02834D9FB}"/>
              </a:ext>
            </a:extLst>
          </p:cNvPr>
          <p:cNvSpPr>
            <a:spLocks noGrp="1"/>
          </p:cNvSpPr>
          <p:nvPr>
            <p:ph type="title"/>
          </p:nvPr>
        </p:nvSpPr>
        <p:spPr/>
        <p:txBody>
          <a:bodyPr/>
          <a:lstStyle/>
          <a:p>
            <a:r>
              <a:rPr lang="en-IN" dirty="0"/>
              <a:t>Master Production Schedule</a:t>
            </a:r>
          </a:p>
        </p:txBody>
      </p:sp>
      <p:sp>
        <p:nvSpPr>
          <p:cNvPr id="3" name="Text Placeholder 2">
            <a:extLst>
              <a:ext uri="{FF2B5EF4-FFF2-40B4-BE49-F238E27FC236}">
                <a16:creationId xmlns:a16="http://schemas.microsoft.com/office/drawing/2014/main" id="{D8DE5317-11B1-4CEF-ED6A-F132DFE4364B}"/>
              </a:ext>
            </a:extLst>
          </p:cNvPr>
          <p:cNvSpPr>
            <a:spLocks noGrp="1"/>
          </p:cNvSpPr>
          <p:nvPr>
            <p:ph type="body" idx="1"/>
          </p:nvPr>
        </p:nvSpPr>
        <p:spPr/>
        <p:txBody>
          <a:bodyPr/>
          <a:lstStyle/>
          <a:p>
            <a:pPr algn="just">
              <a:lnSpc>
                <a:spcPct val="100000"/>
              </a:lnSpc>
              <a:buFont typeface="Arial" panose="020B0604020202020204" pitchFamily="34" charset="0"/>
              <a:buChar char="•"/>
              <a:defRPr/>
            </a:pPr>
            <a:r>
              <a:rPr lang="en-US" dirty="0"/>
              <a:t>Drives MRP process with a schedule of finished products</a:t>
            </a:r>
          </a:p>
          <a:p>
            <a:pPr algn="just">
              <a:lnSpc>
                <a:spcPct val="100000"/>
              </a:lnSpc>
              <a:buFont typeface="Arial" panose="020B0604020202020204" pitchFamily="34" charset="0"/>
              <a:buChar char="•"/>
              <a:defRPr/>
            </a:pPr>
            <a:r>
              <a:rPr lang="en-US" dirty="0"/>
              <a:t>Quantities represent production not demand</a:t>
            </a:r>
          </a:p>
          <a:p>
            <a:pPr algn="just">
              <a:lnSpc>
                <a:spcPct val="100000"/>
              </a:lnSpc>
              <a:buFont typeface="Arial" panose="020B0604020202020204" pitchFamily="34" charset="0"/>
              <a:buChar char="•"/>
              <a:defRPr/>
            </a:pPr>
            <a:r>
              <a:rPr lang="en-US" dirty="0"/>
              <a:t>Quantities may consist of a combination of customer orders and demand forecasts</a:t>
            </a:r>
          </a:p>
          <a:p>
            <a:pPr algn="just">
              <a:lnSpc>
                <a:spcPct val="100000"/>
              </a:lnSpc>
              <a:buFont typeface="Arial" panose="020B0604020202020204" pitchFamily="34" charset="0"/>
              <a:buChar char="•"/>
              <a:defRPr/>
            </a:pPr>
            <a:r>
              <a:rPr lang="en-US" dirty="0"/>
              <a:t>Quantities represent what needs to be produced, not what can be produced</a:t>
            </a:r>
          </a:p>
          <a:p>
            <a:pPr algn="just">
              <a:lnSpc>
                <a:spcPct val="100000"/>
              </a:lnSpc>
              <a:buFont typeface="Arial" panose="020B0604020202020204" pitchFamily="34" charset="0"/>
              <a:buChar char="•"/>
              <a:defRPr/>
            </a:pPr>
            <a:r>
              <a:rPr lang="en-US" dirty="0"/>
              <a:t>Quantities represent end items that may or may not be finished products</a:t>
            </a:r>
          </a:p>
        </p:txBody>
      </p:sp>
      <p:sp>
        <p:nvSpPr>
          <p:cNvPr id="4" name="Date Placeholder 3">
            <a:extLst>
              <a:ext uri="{FF2B5EF4-FFF2-40B4-BE49-F238E27FC236}">
                <a16:creationId xmlns:a16="http://schemas.microsoft.com/office/drawing/2014/main" id="{F4ED9788-571A-58E4-B249-6B92622E7C1E}"/>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E6CB6EC4-FA94-542A-4CCB-1F2905AD48D1}"/>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62ECD40B-21A5-E797-9D26-7474D25D0C94}"/>
              </a:ext>
            </a:extLst>
          </p:cNvPr>
          <p:cNvSpPr>
            <a:spLocks noGrp="1"/>
          </p:cNvSpPr>
          <p:nvPr>
            <p:ph type="sldNum" idx="12"/>
          </p:nvPr>
        </p:nvSpPr>
        <p:spPr/>
        <p:txBody>
          <a:bodyPr/>
          <a:lstStyle/>
          <a:p>
            <a:fld id="{00000000-1234-1234-1234-123412341234}" type="slidenum">
              <a:rPr lang="en-US" smtClean="0"/>
              <a:pPr/>
              <a:t>13</a:t>
            </a:fld>
            <a:endParaRPr lang="en-US" dirty="0"/>
          </a:p>
        </p:txBody>
      </p:sp>
    </p:spTree>
    <p:extLst>
      <p:ext uri="{BB962C8B-B14F-4D97-AF65-F5344CB8AC3E}">
        <p14:creationId xmlns:p14="http://schemas.microsoft.com/office/powerpoint/2010/main" val="1382640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ABAC8-F4DD-A105-0CEA-E2C7A195E09E}"/>
              </a:ext>
            </a:extLst>
          </p:cNvPr>
          <p:cNvSpPr>
            <a:spLocks noGrp="1"/>
          </p:cNvSpPr>
          <p:nvPr>
            <p:ph type="title"/>
          </p:nvPr>
        </p:nvSpPr>
        <p:spPr/>
        <p:txBody>
          <a:bodyPr/>
          <a:lstStyle/>
          <a:p>
            <a:r>
              <a:rPr lang="en-US" sz="3600" dirty="0"/>
              <a:t>Aggregate Production Plan</a:t>
            </a:r>
            <a:endParaRPr lang="en-IN" dirty="0"/>
          </a:p>
        </p:txBody>
      </p:sp>
      <p:sp>
        <p:nvSpPr>
          <p:cNvPr id="4" name="Date Placeholder 3">
            <a:extLst>
              <a:ext uri="{FF2B5EF4-FFF2-40B4-BE49-F238E27FC236}">
                <a16:creationId xmlns:a16="http://schemas.microsoft.com/office/drawing/2014/main" id="{C7792AF5-F893-4404-FB50-24C724415DB6}"/>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6FA69B3E-6524-7D4F-26CB-099F737AC46F}"/>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46272EF7-4F40-2462-FC1B-7180DF005395}"/>
              </a:ext>
            </a:extLst>
          </p:cNvPr>
          <p:cNvSpPr>
            <a:spLocks noGrp="1"/>
          </p:cNvSpPr>
          <p:nvPr>
            <p:ph type="sldNum" idx="12"/>
          </p:nvPr>
        </p:nvSpPr>
        <p:spPr/>
        <p:txBody>
          <a:bodyPr/>
          <a:lstStyle/>
          <a:p>
            <a:fld id="{00000000-1234-1234-1234-123412341234}" type="slidenum">
              <a:rPr lang="en-US" smtClean="0"/>
              <a:pPr/>
              <a:t>14</a:t>
            </a:fld>
            <a:endParaRPr lang="en-US" dirty="0"/>
          </a:p>
        </p:txBody>
      </p:sp>
      <p:grpSp>
        <p:nvGrpSpPr>
          <p:cNvPr id="29" name="Group 3">
            <a:extLst>
              <a:ext uri="{FF2B5EF4-FFF2-40B4-BE49-F238E27FC236}">
                <a16:creationId xmlns:a16="http://schemas.microsoft.com/office/drawing/2014/main" id="{ACD03481-3908-BB24-10CF-2E566D202479}"/>
              </a:ext>
            </a:extLst>
          </p:cNvPr>
          <p:cNvGrpSpPr>
            <a:grpSpLocks/>
          </p:cNvGrpSpPr>
          <p:nvPr/>
        </p:nvGrpSpPr>
        <p:grpSpPr bwMode="auto">
          <a:xfrm>
            <a:off x="1743887" y="1488265"/>
            <a:ext cx="8496300" cy="3721100"/>
            <a:chOff x="268" y="1368"/>
            <a:chExt cx="5352" cy="2344"/>
          </a:xfrm>
        </p:grpSpPr>
        <p:sp>
          <p:nvSpPr>
            <p:cNvPr id="30" name="Rectangle 4">
              <a:extLst>
                <a:ext uri="{FF2B5EF4-FFF2-40B4-BE49-F238E27FC236}">
                  <a16:creationId xmlns:a16="http://schemas.microsoft.com/office/drawing/2014/main" id="{8CD3B31A-4583-881E-C2D3-87E2399333E8}"/>
                </a:ext>
              </a:extLst>
            </p:cNvPr>
            <p:cNvSpPr>
              <a:spLocks noChangeArrowheads="1"/>
            </p:cNvSpPr>
            <p:nvPr/>
          </p:nvSpPr>
          <p:spPr bwMode="auto">
            <a:xfrm>
              <a:off x="272" y="1376"/>
              <a:ext cx="5192" cy="2336"/>
            </a:xfrm>
            <a:prstGeom prst="rect">
              <a:avLst/>
            </a:prstGeom>
            <a:solidFill>
              <a:srgbClr val="F7D7AC"/>
            </a:solidFill>
            <a:ln w="28575">
              <a:solidFill>
                <a:srgbClr val="000000"/>
              </a:solidFill>
              <a:miter lim="800000"/>
              <a:headEnd/>
              <a:tailEn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Calibri"/>
                <a:ea typeface="ＭＳ Ｐゴシック" charset="0"/>
                <a:cs typeface="Arial" charset="0"/>
              </a:endParaRPr>
            </a:p>
          </p:txBody>
        </p:sp>
        <p:sp>
          <p:nvSpPr>
            <p:cNvPr id="31" name="Rectangle 5">
              <a:extLst>
                <a:ext uri="{FF2B5EF4-FFF2-40B4-BE49-F238E27FC236}">
                  <a16:creationId xmlns:a16="http://schemas.microsoft.com/office/drawing/2014/main" id="{20BA022A-2EC2-2ACB-0174-1A7CE5F75CA0}"/>
                </a:ext>
              </a:extLst>
            </p:cNvPr>
            <p:cNvSpPr>
              <a:spLocks noChangeArrowheads="1"/>
            </p:cNvSpPr>
            <p:nvPr/>
          </p:nvSpPr>
          <p:spPr bwMode="auto">
            <a:xfrm>
              <a:off x="272" y="1376"/>
              <a:ext cx="5192" cy="240"/>
            </a:xfrm>
            <a:prstGeom prst="rect">
              <a:avLst/>
            </a:prstGeom>
            <a:solidFill>
              <a:srgbClr val="9FACC7"/>
            </a:solidFill>
            <a:ln w="28575">
              <a:solidFill>
                <a:srgbClr val="000000"/>
              </a:solidFill>
              <a:miter lim="800000"/>
              <a:headEnd/>
              <a:tailEnd/>
            </a:ln>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32" name="Rectangle 6">
              <a:extLst>
                <a:ext uri="{FF2B5EF4-FFF2-40B4-BE49-F238E27FC236}">
                  <a16:creationId xmlns:a16="http://schemas.microsoft.com/office/drawing/2014/main" id="{FF78FAC9-0F1F-345D-8474-E06687476453}"/>
                </a:ext>
              </a:extLst>
            </p:cNvPr>
            <p:cNvSpPr>
              <a:spLocks noChangeArrowheads="1"/>
            </p:cNvSpPr>
            <p:nvPr/>
          </p:nvSpPr>
          <p:spPr bwMode="auto">
            <a:xfrm>
              <a:off x="302" y="1407"/>
              <a:ext cx="4842" cy="7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marL="0" marR="0" lvl="0" indent="0" defTabSz="457200" eaLnBrk="1" fontAlgn="base" latinLnBrk="0" hangingPunct="1">
                <a:lnSpc>
                  <a:spcPct val="85000"/>
                </a:lnSpc>
                <a:spcBef>
                  <a:spcPct val="0"/>
                </a:spcBef>
                <a:spcAft>
                  <a:spcPct val="40000"/>
                </a:spcAft>
                <a:buClrTx/>
                <a:buSzTx/>
                <a:buFontTx/>
                <a:buNone/>
                <a:tabLst>
                  <a:tab pos="4673600" algn="ctr"/>
                  <a:tab pos="6959600" algn="ctr"/>
                </a:tabLst>
                <a:defRPr/>
              </a:pP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Months	January	February</a:t>
              </a:r>
            </a:p>
            <a:p>
              <a:pPr marL="0" marR="0" lvl="0" indent="0" defTabSz="457200" eaLnBrk="1" fontAlgn="base" latinLnBrk="0" hangingPunct="1">
                <a:lnSpc>
                  <a:spcPct val="85000"/>
                </a:lnSpc>
                <a:spcBef>
                  <a:spcPct val="0"/>
                </a:spcBef>
                <a:spcAft>
                  <a:spcPct val="40000"/>
                </a:spcAft>
                <a:buClrTx/>
                <a:buSzTx/>
                <a:buFontTx/>
                <a:buNone/>
                <a:tabLst>
                  <a:tab pos="4673600" algn="ctr"/>
                  <a:tab pos="6959600" algn="ctr"/>
                </a:tabLst>
                <a:defRPr/>
              </a:pPr>
              <a:r>
                <a:rPr kumimoji="0" lang="en-US" sz="1800" b="1"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Aggregate Plan</a:t>
              </a: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	1,500	1,200</a:t>
              </a:r>
              <a:b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b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(Shows the total</a:t>
              </a:r>
              <a:b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b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quantity of amplifiers)</a:t>
              </a:r>
            </a:p>
          </p:txBody>
        </p:sp>
        <p:sp>
          <p:nvSpPr>
            <p:cNvPr id="33" name="Rectangle 7">
              <a:extLst>
                <a:ext uri="{FF2B5EF4-FFF2-40B4-BE49-F238E27FC236}">
                  <a16:creationId xmlns:a16="http://schemas.microsoft.com/office/drawing/2014/main" id="{0A384532-B5CB-8C30-0C4D-C1835AEFE653}"/>
                </a:ext>
              </a:extLst>
            </p:cNvPr>
            <p:cNvSpPr>
              <a:spLocks noChangeArrowheads="1"/>
            </p:cNvSpPr>
            <p:nvPr/>
          </p:nvSpPr>
          <p:spPr bwMode="auto">
            <a:xfrm>
              <a:off x="268" y="2128"/>
              <a:ext cx="5196" cy="240"/>
            </a:xfrm>
            <a:prstGeom prst="rect">
              <a:avLst/>
            </a:prstGeom>
            <a:solidFill>
              <a:srgbClr val="9FACC7"/>
            </a:solidFill>
            <a:ln w="28575">
              <a:solidFill>
                <a:srgbClr val="000000"/>
              </a:solidFill>
              <a:miter lim="800000"/>
              <a:headEnd/>
              <a:tailEnd/>
            </a:ln>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34" name="Rectangle 8">
              <a:extLst>
                <a:ext uri="{FF2B5EF4-FFF2-40B4-BE49-F238E27FC236}">
                  <a16:creationId xmlns:a16="http://schemas.microsoft.com/office/drawing/2014/main" id="{9417B311-F327-7806-C4E9-942A23204D23}"/>
                </a:ext>
              </a:extLst>
            </p:cNvPr>
            <p:cNvSpPr>
              <a:spLocks noChangeArrowheads="1"/>
            </p:cNvSpPr>
            <p:nvPr/>
          </p:nvSpPr>
          <p:spPr bwMode="auto">
            <a:xfrm>
              <a:off x="302" y="2148"/>
              <a:ext cx="5206" cy="1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marL="0" marR="0" lvl="0" indent="0" defTabSz="457200" eaLnBrk="1" fontAlgn="base" latinLnBrk="0" hangingPunct="1">
                <a:lnSpc>
                  <a:spcPct val="85000"/>
                </a:lnSpc>
                <a:spcBef>
                  <a:spcPct val="0"/>
                </a:spcBef>
                <a:spcAft>
                  <a:spcPct val="40000"/>
                </a:spcAft>
                <a:buClrTx/>
                <a:buSzTx/>
                <a:buFontTx/>
                <a:buNone/>
                <a:tabLst>
                  <a:tab pos="3810000" algn="ctr"/>
                  <a:tab pos="4381500" algn="ctr"/>
                  <a:tab pos="4953000" algn="ctr"/>
                  <a:tab pos="5524500" algn="ctr"/>
                  <a:tab pos="6096000" algn="ctr"/>
                  <a:tab pos="6667500" algn="ctr"/>
                  <a:tab pos="7239000" algn="ctr"/>
                  <a:tab pos="7810500" algn="ctr"/>
                </a:tabLst>
                <a:defRPr/>
              </a:pP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Weeks	1	2	3	4	5	6	7	8</a:t>
              </a:r>
            </a:p>
            <a:p>
              <a:pPr marL="0" marR="0" lvl="0" indent="0" defTabSz="457200" eaLnBrk="1" fontAlgn="base" latinLnBrk="0" hangingPunct="1">
                <a:lnSpc>
                  <a:spcPct val="85000"/>
                </a:lnSpc>
                <a:spcBef>
                  <a:spcPct val="0"/>
                </a:spcBef>
                <a:spcAft>
                  <a:spcPct val="40000"/>
                </a:spcAft>
                <a:buClrTx/>
                <a:buSzTx/>
                <a:buFontTx/>
                <a:buNone/>
                <a:tabLst>
                  <a:tab pos="3810000" algn="ctr"/>
                  <a:tab pos="4381500" algn="ctr"/>
                  <a:tab pos="4953000" algn="ctr"/>
                  <a:tab pos="5524500" algn="ctr"/>
                  <a:tab pos="6096000" algn="ctr"/>
                  <a:tab pos="6667500" algn="ctr"/>
                  <a:tab pos="7239000" algn="ctr"/>
                  <a:tab pos="7810500" algn="ctr"/>
                </a:tabLst>
                <a:defRPr/>
              </a:pPr>
              <a:r>
                <a:rPr kumimoji="0" lang="en-US" sz="1800" b="1"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Master Production Schedule</a:t>
              </a:r>
              <a:br>
                <a:rPr kumimoji="0" lang="en-US" sz="1800" b="1"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b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(Shows the specific type and</a:t>
              </a:r>
              <a:b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b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quantity of amplifier to be</a:t>
              </a:r>
              <a:b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b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produced)</a:t>
              </a:r>
            </a:p>
            <a:p>
              <a:pPr marL="0" marR="0" lvl="0" indent="0" defTabSz="457200" eaLnBrk="1" fontAlgn="base" latinLnBrk="0" hangingPunct="1">
                <a:lnSpc>
                  <a:spcPct val="85000"/>
                </a:lnSpc>
                <a:spcBef>
                  <a:spcPct val="0"/>
                </a:spcBef>
                <a:spcAft>
                  <a:spcPct val="40000"/>
                </a:spcAft>
                <a:buClrTx/>
                <a:buSzTx/>
                <a:buFontTx/>
                <a:buNone/>
                <a:tabLst>
                  <a:tab pos="3810000" algn="ctr"/>
                  <a:tab pos="4381500" algn="ctr"/>
                  <a:tab pos="4953000" algn="ctr"/>
                  <a:tab pos="5524500" algn="ctr"/>
                  <a:tab pos="6096000" algn="ctr"/>
                  <a:tab pos="6667500" algn="ctr"/>
                  <a:tab pos="7239000" algn="ctr"/>
                  <a:tab pos="7810500" algn="ctr"/>
                </a:tabLst>
                <a:defRPr/>
              </a:pP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240-watt amplifier	100		100		100		100</a:t>
              </a:r>
            </a:p>
            <a:p>
              <a:pPr marL="0" marR="0" lvl="0" indent="0" defTabSz="457200" eaLnBrk="1" fontAlgn="base" latinLnBrk="0" hangingPunct="1">
                <a:lnSpc>
                  <a:spcPct val="85000"/>
                </a:lnSpc>
                <a:spcBef>
                  <a:spcPct val="0"/>
                </a:spcBef>
                <a:spcAft>
                  <a:spcPct val="40000"/>
                </a:spcAft>
                <a:buClrTx/>
                <a:buSzTx/>
                <a:buFontTx/>
                <a:buNone/>
                <a:tabLst>
                  <a:tab pos="3810000" algn="ctr"/>
                  <a:tab pos="4381500" algn="ctr"/>
                  <a:tab pos="4953000" algn="ctr"/>
                  <a:tab pos="5524500" algn="ctr"/>
                  <a:tab pos="6096000" algn="ctr"/>
                  <a:tab pos="6667500" algn="ctr"/>
                  <a:tab pos="7239000" algn="ctr"/>
                  <a:tab pos="7810500" algn="ctr"/>
                </a:tabLst>
                <a:defRPr/>
              </a:pP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150-watt amplifier		500		500		450		450</a:t>
              </a:r>
            </a:p>
            <a:p>
              <a:pPr marL="0" marR="0" lvl="0" indent="0" defTabSz="457200" eaLnBrk="1" fontAlgn="base" latinLnBrk="0" hangingPunct="1">
                <a:lnSpc>
                  <a:spcPct val="85000"/>
                </a:lnSpc>
                <a:spcBef>
                  <a:spcPct val="0"/>
                </a:spcBef>
                <a:spcAft>
                  <a:spcPct val="40000"/>
                </a:spcAft>
                <a:buClrTx/>
                <a:buSzTx/>
                <a:buFontTx/>
                <a:buNone/>
                <a:tabLst>
                  <a:tab pos="3810000" algn="ctr"/>
                  <a:tab pos="4381500" algn="ctr"/>
                  <a:tab pos="4953000" algn="ctr"/>
                  <a:tab pos="5524500" algn="ctr"/>
                  <a:tab pos="6096000" algn="ctr"/>
                  <a:tab pos="6667500" algn="ctr"/>
                  <a:tab pos="7239000" algn="ctr"/>
                  <a:tab pos="7810500" algn="ctr"/>
                </a:tabLst>
                <a:defRPr/>
              </a:pPr>
              <a:r>
                <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75-watt amplifier			300				100</a:t>
              </a:r>
            </a:p>
          </p:txBody>
        </p:sp>
        <p:sp>
          <p:nvSpPr>
            <p:cNvPr id="35" name="Line 9">
              <a:extLst>
                <a:ext uri="{FF2B5EF4-FFF2-40B4-BE49-F238E27FC236}">
                  <a16:creationId xmlns:a16="http://schemas.microsoft.com/office/drawing/2014/main" id="{17BD7358-34AE-22F3-754A-24F7A70A0284}"/>
                </a:ext>
              </a:extLst>
            </p:cNvPr>
            <p:cNvSpPr>
              <a:spLocks noChangeShapeType="1"/>
            </p:cNvSpPr>
            <p:nvPr/>
          </p:nvSpPr>
          <p:spPr bwMode="auto">
            <a:xfrm>
              <a:off x="2576" y="1376"/>
              <a:ext cx="0" cy="2336"/>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36" name="Line 10">
              <a:extLst>
                <a:ext uri="{FF2B5EF4-FFF2-40B4-BE49-F238E27FC236}">
                  <a16:creationId xmlns:a16="http://schemas.microsoft.com/office/drawing/2014/main" id="{AE419700-1E6A-246C-29F4-47BBDC2347DC}"/>
                </a:ext>
              </a:extLst>
            </p:cNvPr>
            <p:cNvSpPr>
              <a:spLocks noChangeShapeType="1"/>
            </p:cNvSpPr>
            <p:nvPr/>
          </p:nvSpPr>
          <p:spPr bwMode="auto">
            <a:xfrm>
              <a:off x="4020" y="1368"/>
              <a:ext cx="0" cy="2344"/>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grpSp>
          <p:nvGrpSpPr>
            <p:cNvPr id="37" name="Group 11">
              <a:extLst>
                <a:ext uri="{FF2B5EF4-FFF2-40B4-BE49-F238E27FC236}">
                  <a16:creationId xmlns:a16="http://schemas.microsoft.com/office/drawing/2014/main" id="{5C9FD6DB-0AF8-A8BB-98CD-F5F41E85E2A2}"/>
                </a:ext>
              </a:extLst>
            </p:cNvPr>
            <p:cNvGrpSpPr>
              <a:grpSpLocks/>
            </p:cNvGrpSpPr>
            <p:nvPr/>
          </p:nvGrpSpPr>
          <p:grpSpPr bwMode="auto">
            <a:xfrm>
              <a:off x="2937" y="2120"/>
              <a:ext cx="2166" cy="1592"/>
              <a:chOff x="2937" y="2105"/>
              <a:chExt cx="2166" cy="1607"/>
            </a:xfrm>
          </p:grpSpPr>
          <p:sp>
            <p:nvSpPr>
              <p:cNvPr id="45" name="Line 12">
                <a:extLst>
                  <a:ext uri="{FF2B5EF4-FFF2-40B4-BE49-F238E27FC236}">
                    <a16:creationId xmlns:a16="http://schemas.microsoft.com/office/drawing/2014/main" id="{FE13EBA1-15FC-7F21-7025-37157AC3E49F}"/>
                  </a:ext>
                </a:extLst>
              </p:cNvPr>
              <p:cNvSpPr>
                <a:spLocks noChangeShapeType="1"/>
              </p:cNvSpPr>
              <p:nvPr/>
            </p:nvSpPr>
            <p:spPr bwMode="auto">
              <a:xfrm>
                <a:off x="3298" y="2105"/>
                <a:ext cx="0" cy="1607"/>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46" name="Line 13">
                <a:extLst>
                  <a:ext uri="{FF2B5EF4-FFF2-40B4-BE49-F238E27FC236}">
                    <a16:creationId xmlns:a16="http://schemas.microsoft.com/office/drawing/2014/main" id="{092C0ADA-F2B8-3C6B-3314-8828A2B2A9F3}"/>
                  </a:ext>
                </a:extLst>
              </p:cNvPr>
              <p:cNvSpPr>
                <a:spLocks noChangeShapeType="1"/>
              </p:cNvSpPr>
              <p:nvPr/>
            </p:nvSpPr>
            <p:spPr bwMode="auto">
              <a:xfrm>
                <a:off x="2937" y="2105"/>
                <a:ext cx="0" cy="1607"/>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47" name="Line 14">
                <a:extLst>
                  <a:ext uri="{FF2B5EF4-FFF2-40B4-BE49-F238E27FC236}">
                    <a16:creationId xmlns:a16="http://schemas.microsoft.com/office/drawing/2014/main" id="{308FB58A-6E4E-BA8C-B317-A9561EE390BA}"/>
                  </a:ext>
                </a:extLst>
              </p:cNvPr>
              <p:cNvSpPr>
                <a:spLocks noChangeShapeType="1"/>
              </p:cNvSpPr>
              <p:nvPr/>
            </p:nvSpPr>
            <p:spPr bwMode="auto">
              <a:xfrm>
                <a:off x="3659" y="2105"/>
                <a:ext cx="0" cy="1607"/>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48" name="Line 15">
                <a:extLst>
                  <a:ext uri="{FF2B5EF4-FFF2-40B4-BE49-F238E27FC236}">
                    <a16:creationId xmlns:a16="http://schemas.microsoft.com/office/drawing/2014/main" id="{253C4797-492F-432D-FC71-A77869C1D0E7}"/>
                  </a:ext>
                </a:extLst>
              </p:cNvPr>
              <p:cNvSpPr>
                <a:spLocks noChangeShapeType="1"/>
              </p:cNvSpPr>
              <p:nvPr/>
            </p:nvSpPr>
            <p:spPr bwMode="auto">
              <a:xfrm>
                <a:off x="4381" y="2105"/>
                <a:ext cx="0" cy="1607"/>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49" name="Line 16">
                <a:extLst>
                  <a:ext uri="{FF2B5EF4-FFF2-40B4-BE49-F238E27FC236}">
                    <a16:creationId xmlns:a16="http://schemas.microsoft.com/office/drawing/2014/main" id="{9D2479E9-BC6C-0DB2-40FE-E5F464E1A396}"/>
                  </a:ext>
                </a:extLst>
              </p:cNvPr>
              <p:cNvSpPr>
                <a:spLocks noChangeShapeType="1"/>
              </p:cNvSpPr>
              <p:nvPr/>
            </p:nvSpPr>
            <p:spPr bwMode="auto">
              <a:xfrm>
                <a:off x="4742" y="2105"/>
                <a:ext cx="0" cy="1607"/>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50" name="Line 17">
                <a:extLst>
                  <a:ext uri="{FF2B5EF4-FFF2-40B4-BE49-F238E27FC236}">
                    <a16:creationId xmlns:a16="http://schemas.microsoft.com/office/drawing/2014/main" id="{380F44A1-58A4-C0A9-2A26-DAD108E40934}"/>
                  </a:ext>
                </a:extLst>
              </p:cNvPr>
              <p:cNvSpPr>
                <a:spLocks noChangeShapeType="1"/>
              </p:cNvSpPr>
              <p:nvPr/>
            </p:nvSpPr>
            <p:spPr bwMode="auto">
              <a:xfrm>
                <a:off x="5103" y="2105"/>
                <a:ext cx="0" cy="1607"/>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grpSp>
        <p:sp>
          <p:nvSpPr>
            <p:cNvPr id="38" name="Line 18">
              <a:extLst>
                <a:ext uri="{FF2B5EF4-FFF2-40B4-BE49-F238E27FC236}">
                  <a16:creationId xmlns:a16="http://schemas.microsoft.com/office/drawing/2014/main" id="{01680610-FF2E-3E80-5D57-4BF55822EBA5}"/>
                </a:ext>
              </a:extLst>
            </p:cNvPr>
            <p:cNvSpPr>
              <a:spLocks noChangeShapeType="1"/>
            </p:cNvSpPr>
            <p:nvPr/>
          </p:nvSpPr>
          <p:spPr bwMode="auto">
            <a:xfrm>
              <a:off x="268" y="3016"/>
              <a:ext cx="5352" cy="0"/>
            </a:xfrm>
            <a:prstGeom prst="line">
              <a:avLst/>
            </a:prstGeom>
            <a:noFill/>
            <a:ln w="28575">
              <a:solidFill>
                <a:srgbClr val="000000"/>
              </a:solidFill>
              <a:round/>
              <a:headEnd/>
              <a:tailEnd type="triangle" w="sm" len="sm"/>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39" name="Line 19">
              <a:extLst>
                <a:ext uri="{FF2B5EF4-FFF2-40B4-BE49-F238E27FC236}">
                  <a16:creationId xmlns:a16="http://schemas.microsoft.com/office/drawing/2014/main" id="{711647C5-838B-49F5-7B2A-E50211D4A503}"/>
                </a:ext>
              </a:extLst>
            </p:cNvPr>
            <p:cNvSpPr>
              <a:spLocks noChangeShapeType="1"/>
            </p:cNvSpPr>
            <p:nvPr/>
          </p:nvSpPr>
          <p:spPr bwMode="auto">
            <a:xfrm>
              <a:off x="268" y="3224"/>
              <a:ext cx="5352" cy="0"/>
            </a:xfrm>
            <a:prstGeom prst="line">
              <a:avLst/>
            </a:prstGeom>
            <a:noFill/>
            <a:ln w="28575">
              <a:solidFill>
                <a:srgbClr val="000000"/>
              </a:solidFill>
              <a:round/>
              <a:headEnd/>
              <a:tailEnd type="triangle" w="sm" len="sm"/>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40" name="Line 20">
              <a:extLst>
                <a:ext uri="{FF2B5EF4-FFF2-40B4-BE49-F238E27FC236}">
                  <a16:creationId xmlns:a16="http://schemas.microsoft.com/office/drawing/2014/main" id="{AEA5062D-9D85-4507-B55E-8DE6C5CA3D30}"/>
                </a:ext>
              </a:extLst>
            </p:cNvPr>
            <p:cNvSpPr>
              <a:spLocks noChangeShapeType="1"/>
            </p:cNvSpPr>
            <p:nvPr/>
          </p:nvSpPr>
          <p:spPr bwMode="auto">
            <a:xfrm>
              <a:off x="268" y="3440"/>
              <a:ext cx="5352" cy="0"/>
            </a:xfrm>
            <a:prstGeom prst="line">
              <a:avLst/>
            </a:prstGeom>
            <a:noFill/>
            <a:ln w="28575">
              <a:solidFill>
                <a:srgbClr val="000000"/>
              </a:solidFill>
              <a:round/>
              <a:headEnd/>
              <a:tailEnd type="triangle" w="sm" len="sm"/>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41" name="Line 21">
              <a:extLst>
                <a:ext uri="{FF2B5EF4-FFF2-40B4-BE49-F238E27FC236}">
                  <a16:creationId xmlns:a16="http://schemas.microsoft.com/office/drawing/2014/main" id="{F193AC86-C112-37A0-5CC1-E9986DEAEA4F}"/>
                </a:ext>
              </a:extLst>
            </p:cNvPr>
            <p:cNvSpPr>
              <a:spLocks noChangeShapeType="1"/>
            </p:cNvSpPr>
            <p:nvPr/>
          </p:nvSpPr>
          <p:spPr bwMode="auto">
            <a:xfrm>
              <a:off x="5460" y="1377"/>
              <a:ext cx="160" cy="0"/>
            </a:xfrm>
            <a:prstGeom prst="line">
              <a:avLst/>
            </a:prstGeom>
            <a:noFill/>
            <a:ln w="28575">
              <a:solidFill>
                <a:srgbClr val="000000"/>
              </a:solidFill>
              <a:round/>
              <a:headEnd/>
              <a:tailEnd type="triangle" w="sm" len="sm"/>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42" name="Line 22">
              <a:extLst>
                <a:ext uri="{FF2B5EF4-FFF2-40B4-BE49-F238E27FC236}">
                  <a16:creationId xmlns:a16="http://schemas.microsoft.com/office/drawing/2014/main" id="{0BB65C75-01D4-2F7B-C84E-2C28CD181BD6}"/>
                </a:ext>
              </a:extLst>
            </p:cNvPr>
            <p:cNvSpPr>
              <a:spLocks noChangeShapeType="1"/>
            </p:cNvSpPr>
            <p:nvPr/>
          </p:nvSpPr>
          <p:spPr bwMode="auto">
            <a:xfrm>
              <a:off x="5460" y="1616"/>
              <a:ext cx="160" cy="0"/>
            </a:xfrm>
            <a:prstGeom prst="line">
              <a:avLst/>
            </a:prstGeom>
            <a:noFill/>
            <a:ln w="28575">
              <a:solidFill>
                <a:srgbClr val="000000"/>
              </a:solidFill>
              <a:round/>
              <a:headEnd/>
              <a:tailEnd type="triangle" w="sm" len="sm"/>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43" name="Line 23">
              <a:extLst>
                <a:ext uri="{FF2B5EF4-FFF2-40B4-BE49-F238E27FC236}">
                  <a16:creationId xmlns:a16="http://schemas.microsoft.com/office/drawing/2014/main" id="{09F39071-AB10-5284-A331-C76AD54D4AF8}"/>
                </a:ext>
              </a:extLst>
            </p:cNvPr>
            <p:cNvSpPr>
              <a:spLocks noChangeShapeType="1"/>
            </p:cNvSpPr>
            <p:nvPr/>
          </p:nvSpPr>
          <p:spPr bwMode="auto">
            <a:xfrm>
              <a:off x="5460" y="2368"/>
              <a:ext cx="160" cy="0"/>
            </a:xfrm>
            <a:prstGeom prst="line">
              <a:avLst/>
            </a:prstGeom>
            <a:noFill/>
            <a:ln w="28575">
              <a:solidFill>
                <a:srgbClr val="000000"/>
              </a:solidFill>
              <a:round/>
              <a:headEnd/>
              <a:tailEnd type="triangle" w="sm" len="sm"/>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sp>
          <p:nvSpPr>
            <p:cNvPr id="44" name="Line 24">
              <a:extLst>
                <a:ext uri="{FF2B5EF4-FFF2-40B4-BE49-F238E27FC236}">
                  <a16:creationId xmlns:a16="http://schemas.microsoft.com/office/drawing/2014/main" id="{D1D63779-5583-EADE-DE8E-F2CCBA510CDC}"/>
                </a:ext>
              </a:extLst>
            </p:cNvPr>
            <p:cNvSpPr>
              <a:spLocks noChangeShapeType="1"/>
            </p:cNvSpPr>
            <p:nvPr/>
          </p:nvSpPr>
          <p:spPr bwMode="auto">
            <a:xfrm>
              <a:off x="5460" y="2129"/>
              <a:ext cx="160" cy="0"/>
            </a:xfrm>
            <a:prstGeom prst="line">
              <a:avLst/>
            </a:prstGeom>
            <a:noFill/>
            <a:ln w="28575">
              <a:solidFill>
                <a:srgbClr val="000000"/>
              </a:solidFill>
              <a:round/>
              <a:headEnd/>
              <a:tailEnd type="triangle" w="sm" len="sm"/>
            </a:ln>
            <a:extLst>
              <a:ext uri="{909E8E84-426E-40dd-AFC4-6F175D3DCCD1}">
                <a14:hiddenFill xmlns="" xmlns:a14="http://schemas.microsoft.com/office/drawing/2010/main">
                  <a:noFill/>
                </a14:hiddenFill>
              </a:ext>
            </a:extLst>
          </p:spPr>
          <p:txBody>
            <a:bodyPr wrap="none" anchor="ctr"/>
            <a:lstStyle/>
            <a:p>
              <a:pPr marL="0" marR="0" lvl="0" indent="0" defTabSz="45720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endParaRPr>
            </a:p>
          </p:txBody>
        </p:sp>
      </p:grpSp>
    </p:spTree>
    <p:extLst>
      <p:ext uri="{BB962C8B-B14F-4D97-AF65-F5344CB8AC3E}">
        <p14:creationId xmlns:p14="http://schemas.microsoft.com/office/powerpoint/2010/main" val="508085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5EBDE-A1BD-D8A8-3486-DE0E2182FA61}"/>
              </a:ext>
            </a:extLst>
          </p:cNvPr>
          <p:cNvSpPr>
            <a:spLocks noGrp="1"/>
          </p:cNvSpPr>
          <p:nvPr>
            <p:ph type="title"/>
          </p:nvPr>
        </p:nvSpPr>
        <p:spPr/>
        <p:txBody>
          <a:bodyPr/>
          <a:lstStyle/>
          <a:p>
            <a:r>
              <a:rPr lang="en-IN" dirty="0"/>
              <a:t>Product Structure File</a:t>
            </a:r>
          </a:p>
        </p:txBody>
      </p:sp>
      <p:sp>
        <p:nvSpPr>
          <p:cNvPr id="3" name="Text Placeholder 2">
            <a:extLst>
              <a:ext uri="{FF2B5EF4-FFF2-40B4-BE49-F238E27FC236}">
                <a16:creationId xmlns:a16="http://schemas.microsoft.com/office/drawing/2014/main" id="{C2642685-869E-CBCB-A301-AE9F043DDB46}"/>
              </a:ext>
            </a:extLst>
          </p:cNvPr>
          <p:cNvSpPr>
            <a:spLocks noGrp="1"/>
          </p:cNvSpPr>
          <p:nvPr>
            <p:ph type="body" idx="1"/>
          </p:nvPr>
        </p:nvSpPr>
        <p:spPr/>
        <p:txBody>
          <a:bodyPr/>
          <a:lstStyle/>
          <a:p>
            <a:r>
              <a:rPr lang="en-IN" dirty="0"/>
              <a:t>Once the MPS is set, the MRP system accesses the </a:t>
            </a:r>
            <a:r>
              <a:rPr lang="en-IN" b="1" dirty="0"/>
              <a:t>product structure file </a:t>
            </a:r>
            <a:r>
              <a:rPr lang="en-IN" dirty="0"/>
              <a:t>to determine which component items need to be scheduled. </a:t>
            </a:r>
          </a:p>
          <a:p>
            <a:r>
              <a:rPr lang="en-IN" dirty="0"/>
              <a:t>The product structure file contains a </a:t>
            </a:r>
            <a:r>
              <a:rPr lang="en-IN" b="1" dirty="0"/>
              <a:t>bill of material (BOM) </a:t>
            </a:r>
            <a:r>
              <a:rPr lang="en-IN" dirty="0"/>
              <a:t>for every item produced. </a:t>
            </a:r>
          </a:p>
          <a:p>
            <a:r>
              <a:rPr lang="en-IN" dirty="0"/>
              <a:t>The bill of material for a product lists the items that go into the product, includes a brief description of each item, and specifies when and in what quantity each item is needed in the assembly process.</a:t>
            </a:r>
          </a:p>
        </p:txBody>
      </p:sp>
      <p:sp>
        <p:nvSpPr>
          <p:cNvPr id="4" name="Date Placeholder 3">
            <a:extLst>
              <a:ext uri="{FF2B5EF4-FFF2-40B4-BE49-F238E27FC236}">
                <a16:creationId xmlns:a16="http://schemas.microsoft.com/office/drawing/2014/main" id="{C2DEC684-C829-B1E2-DC22-14044FF74727}"/>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667572BD-6845-1BE3-6A56-C866897C5BE3}"/>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69970D2C-9A25-CCF8-1FCD-19BBD0E9E34F}"/>
              </a:ext>
            </a:extLst>
          </p:cNvPr>
          <p:cNvSpPr>
            <a:spLocks noGrp="1"/>
          </p:cNvSpPr>
          <p:nvPr>
            <p:ph type="sldNum" idx="12"/>
          </p:nvPr>
        </p:nvSpPr>
        <p:spPr/>
        <p:txBody>
          <a:bodyPr/>
          <a:lstStyle/>
          <a:p>
            <a:fld id="{00000000-1234-1234-1234-123412341234}" type="slidenum">
              <a:rPr lang="en-US" smtClean="0"/>
              <a:pPr/>
              <a:t>15</a:t>
            </a:fld>
            <a:endParaRPr lang="en-US" dirty="0"/>
          </a:p>
        </p:txBody>
      </p:sp>
    </p:spTree>
    <p:extLst>
      <p:ext uri="{BB962C8B-B14F-4D97-AF65-F5344CB8AC3E}">
        <p14:creationId xmlns:p14="http://schemas.microsoft.com/office/powerpoint/2010/main" val="1501269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D83D0-4D71-EC6F-581E-E4AF5CCA716F}"/>
              </a:ext>
            </a:extLst>
          </p:cNvPr>
          <p:cNvSpPr>
            <a:spLocks noGrp="1"/>
          </p:cNvSpPr>
          <p:nvPr>
            <p:ph type="title"/>
          </p:nvPr>
        </p:nvSpPr>
        <p:spPr/>
        <p:txBody>
          <a:bodyPr/>
          <a:lstStyle/>
          <a:p>
            <a:r>
              <a:rPr lang="en-IN" dirty="0"/>
              <a:t>Product Structure File</a:t>
            </a:r>
          </a:p>
        </p:txBody>
      </p:sp>
      <p:sp>
        <p:nvSpPr>
          <p:cNvPr id="4" name="Date Placeholder 3">
            <a:extLst>
              <a:ext uri="{FF2B5EF4-FFF2-40B4-BE49-F238E27FC236}">
                <a16:creationId xmlns:a16="http://schemas.microsoft.com/office/drawing/2014/main" id="{B378F36D-6A68-1FD4-85A5-771F62186856}"/>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02E12E1A-E524-E154-4320-11373F333DC2}"/>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FAC74B44-596C-994E-382E-CFD3A6903FFF}"/>
              </a:ext>
            </a:extLst>
          </p:cNvPr>
          <p:cNvSpPr>
            <a:spLocks noGrp="1"/>
          </p:cNvSpPr>
          <p:nvPr>
            <p:ph type="sldNum" idx="12"/>
          </p:nvPr>
        </p:nvSpPr>
        <p:spPr/>
        <p:txBody>
          <a:bodyPr/>
          <a:lstStyle/>
          <a:p>
            <a:fld id="{00000000-1234-1234-1234-123412341234}" type="slidenum">
              <a:rPr lang="en-US" smtClean="0"/>
              <a:pPr/>
              <a:t>16</a:t>
            </a:fld>
            <a:endParaRPr lang="en-US" dirty="0"/>
          </a:p>
        </p:txBody>
      </p:sp>
      <p:pic>
        <p:nvPicPr>
          <p:cNvPr id="7" name="Picture 6" descr="Assembly diagram and structure tree for a basic chair assembly.">
            <a:extLst>
              <a:ext uri="{FF2B5EF4-FFF2-40B4-BE49-F238E27FC236}">
                <a16:creationId xmlns:a16="http://schemas.microsoft.com/office/drawing/2014/main" id="{C1DE8553-B78A-9DE1-F8CB-57D68DA2C7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433" y="988825"/>
            <a:ext cx="5397251" cy="5179423"/>
          </a:xfrm>
          <a:prstGeom prst="rect">
            <a:avLst/>
          </a:prstGeom>
        </p:spPr>
      </p:pic>
      <p:sp>
        <p:nvSpPr>
          <p:cNvPr id="8" name="Content Placeholder 3">
            <a:extLst>
              <a:ext uri="{FF2B5EF4-FFF2-40B4-BE49-F238E27FC236}">
                <a16:creationId xmlns:a16="http://schemas.microsoft.com/office/drawing/2014/main" id="{EBF97011-7858-CCDE-E021-28570C388662}"/>
              </a:ext>
            </a:extLst>
          </p:cNvPr>
          <p:cNvSpPr txBox="1">
            <a:spLocks/>
          </p:cNvSpPr>
          <p:nvPr/>
        </p:nvSpPr>
        <p:spPr>
          <a:xfrm>
            <a:off x="6828957" y="1283042"/>
            <a:ext cx="3563283" cy="33693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400" dirty="0"/>
              <a:t>Bill of Materials</a:t>
            </a:r>
          </a:p>
        </p:txBody>
      </p:sp>
      <p:graphicFrame>
        <p:nvGraphicFramePr>
          <p:cNvPr id="9" name="Table 9">
            <a:extLst>
              <a:ext uri="{FF2B5EF4-FFF2-40B4-BE49-F238E27FC236}">
                <a16:creationId xmlns:a16="http://schemas.microsoft.com/office/drawing/2014/main" id="{733D81A4-926F-D094-F8EB-CD51426AAD1A}"/>
              </a:ext>
            </a:extLst>
          </p:cNvPr>
          <p:cNvGraphicFramePr>
            <a:graphicFrameLocks noGrp="1"/>
          </p:cNvGraphicFramePr>
          <p:nvPr>
            <p:extLst>
              <p:ext uri="{D42A27DB-BD31-4B8C-83A1-F6EECF244321}">
                <p14:modId xmlns:p14="http://schemas.microsoft.com/office/powerpoint/2010/main" val="1028716178"/>
              </p:ext>
            </p:extLst>
          </p:nvPr>
        </p:nvGraphicFramePr>
        <p:xfrm>
          <a:off x="6546509" y="1905137"/>
          <a:ext cx="4213641" cy="4166050"/>
        </p:xfrm>
        <a:graphic>
          <a:graphicData uri="http://schemas.openxmlformats.org/drawingml/2006/table">
            <a:tbl>
              <a:tblPr firstRow="1" bandRow="1">
                <a:tableStyleId>{5C22544A-7EE6-4342-B048-85BDC9FD1C3A}</a:tableStyleId>
              </a:tblPr>
              <a:tblGrid>
                <a:gridCol w="1040076">
                  <a:extLst>
                    <a:ext uri="{9D8B030D-6E8A-4147-A177-3AD203B41FA5}">
                      <a16:colId xmlns:a16="http://schemas.microsoft.com/office/drawing/2014/main" val="3008466701"/>
                    </a:ext>
                  </a:extLst>
                </a:gridCol>
                <a:gridCol w="1735534">
                  <a:extLst>
                    <a:ext uri="{9D8B030D-6E8A-4147-A177-3AD203B41FA5}">
                      <a16:colId xmlns:a16="http://schemas.microsoft.com/office/drawing/2014/main" val="3437449531"/>
                    </a:ext>
                  </a:extLst>
                </a:gridCol>
                <a:gridCol w="1438031">
                  <a:extLst>
                    <a:ext uri="{9D8B030D-6E8A-4147-A177-3AD203B41FA5}">
                      <a16:colId xmlns:a16="http://schemas.microsoft.com/office/drawing/2014/main" val="3608762298"/>
                    </a:ext>
                  </a:extLst>
                </a:gridCol>
              </a:tblGrid>
              <a:tr h="416605">
                <a:tc>
                  <a:txBody>
                    <a:bodyPr/>
                    <a:lstStyle/>
                    <a:p>
                      <a:pPr algn="ctr"/>
                      <a:r>
                        <a:rPr lang="en-US" sz="1400" b="0" dirty="0">
                          <a:solidFill>
                            <a:schemeClr val="tx1"/>
                          </a:solidFill>
                        </a:rPr>
                        <a:t>Level</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sz="1400" b="0" dirty="0">
                          <a:solidFill>
                            <a:schemeClr val="tx1"/>
                          </a:solidFill>
                        </a:rPr>
                        <a:t> </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sz="1400" b="0">
                          <a:solidFill>
                            <a:schemeClr val="tx1"/>
                          </a:solidFill>
                        </a:rPr>
                        <a:t>Quantity</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66667551"/>
                  </a:ext>
                </a:extLst>
              </a:tr>
              <a:tr h="416605">
                <a:tc>
                  <a:txBody>
                    <a:bodyPr/>
                    <a:lstStyle/>
                    <a:p>
                      <a:pPr algn="ctr"/>
                      <a:r>
                        <a:rPr lang="en-US" sz="1400" b="0" dirty="0">
                          <a:solidFill>
                            <a:schemeClr val="tx1"/>
                          </a:solidFill>
                        </a:rPr>
                        <a:t>0</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400" b="0" dirty="0">
                          <a:solidFill>
                            <a:schemeClr val="tx1"/>
                          </a:solidFill>
                        </a:rPr>
                        <a:t>Chair</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1400" b="0">
                          <a:solidFill>
                            <a:schemeClr val="tx1"/>
                          </a:solidFill>
                        </a:rPr>
                        <a:t>1</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6831619"/>
                  </a:ext>
                </a:extLst>
              </a:tr>
              <a:tr h="416605">
                <a:tc>
                  <a:txBody>
                    <a:bodyPr/>
                    <a:lstStyle/>
                    <a:p>
                      <a:pPr algn="ctr"/>
                      <a:r>
                        <a:rPr lang="en-US" sz="1400" b="0" dirty="0">
                          <a:solidFill>
                            <a:schemeClr val="tx1"/>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400" b="0" dirty="0">
                          <a:solidFill>
                            <a:schemeClr val="tx1"/>
                          </a:solidFill>
                        </a:rPr>
                        <a:t>Leg assembly</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1400" b="0" dirty="0">
                          <a:solidFill>
                            <a:schemeClr val="tx1"/>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1304498"/>
                  </a:ext>
                </a:extLst>
              </a:tr>
              <a:tr h="416605">
                <a:tc>
                  <a:txBody>
                    <a:bodyPr/>
                    <a:lstStyle/>
                    <a:p>
                      <a:pPr algn="ctr"/>
                      <a:r>
                        <a:rPr lang="en-US" sz="1400" b="0">
                          <a:solidFill>
                            <a:schemeClr val="tx1"/>
                          </a:solidFill>
                        </a:rPr>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400" b="0" dirty="0">
                          <a:solidFill>
                            <a:schemeClr val="tx1"/>
                          </a:solidFill>
                        </a:rPr>
                        <a:t>Legs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1400" b="0" dirty="0">
                          <a:solidFill>
                            <a:schemeClr val="tx1"/>
                          </a:solidFill>
                        </a:rPr>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56491571"/>
                  </a:ext>
                </a:extLst>
              </a:tr>
              <a:tr h="416605">
                <a:tc>
                  <a:txBody>
                    <a:bodyPr/>
                    <a:lstStyle/>
                    <a:p>
                      <a:pPr algn="ctr"/>
                      <a:r>
                        <a:rPr lang="en-US" sz="1400" b="0">
                          <a:solidFill>
                            <a:schemeClr val="tx1"/>
                          </a:solidFill>
                        </a:rPr>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400" b="0" dirty="0">
                          <a:solidFill>
                            <a:schemeClr val="tx1"/>
                          </a:solidFill>
                        </a:rPr>
                        <a:t>Cross bar</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1400" b="0" dirty="0">
                          <a:solidFill>
                            <a:schemeClr val="tx1"/>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15766843"/>
                  </a:ext>
                </a:extLst>
              </a:tr>
              <a:tr h="416605">
                <a:tc>
                  <a:txBody>
                    <a:bodyPr/>
                    <a:lstStyle/>
                    <a:p>
                      <a:pPr algn="ctr"/>
                      <a:r>
                        <a:rPr lang="en-US" sz="1400" b="0" dirty="0">
                          <a:solidFill>
                            <a:schemeClr val="tx1"/>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400" b="0" dirty="0">
                          <a:solidFill>
                            <a:schemeClr val="tx1"/>
                          </a:solidFill>
                        </a:rPr>
                        <a:t>Seat</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1400" b="0" dirty="0">
                          <a:solidFill>
                            <a:schemeClr val="tx1"/>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19448801"/>
                  </a:ext>
                </a:extLst>
              </a:tr>
              <a:tr h="416605">
                <a:tc>
                  <a:txBody>
                    <a:bodyPr/>
                    <a:lstStyle/>
                    <a:p>
                      <a:pPr algn="ctr"/>
                      <a:r>
                        <a:rPr lang="en-US" sz="1400" b="0">
                          <a:solidFill>
                            <a:schemeClr val="tx1"/>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400" b="0" dirty="0">
                          <a:solidFill>
                            <a:schemeClr val="tx1"/>
                          </a:solidFill>
                        </a:rPr>
                        <a:t>Back assembly</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1400" b="0" dirty="0">
                          <a:solidFill>
                            <a:schemeClr val="tx1"/>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668157"/>
                  </a:ext>
                </a:extLst>
              </a:tr>
              <a:tr h="416605">
                <a:tc>
                  <a:txBody>
                    <a:bodyPr/>
                    <a:lstStyle/>
                    <a:p>
                      <a:pPr algn="ctr"/>
                      <a:r>
                        <a:rPr lang="en-US" sz="1400" b="0">
                          <a:solidFill>
                            <a:schemeClr val="tx1"/>
                          </a:solidFill>
                        </a:rPr>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400" b="0" dirty="0">
                          <a:solidFill>
                            <a:schemeClr val="tx1"/>
                          </a:solidFill>
                        </a:rPr>
                        <a:t>Side rails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1400" b="0" dirty="0">
                          <a:solidFill>
                            <a:schemeClr val="tx1"/>
                          </a:solidFill>
                        </a:rPr>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90559904"/>
                  </a:ext>
                </a:extLst>
              </a:tr>
              <a:tr h="416605">
                <a:tc>
                  <a:txBody>
                    <a:bodyPr/>
                    <a:lstStyle/>
                    <a:p>
                      <a:pPr algn="ctr"/>
                      <a:r>
                        <a:rPr lang="en-US" sz="1400" b="0">
                          <a:solidFill>
                            <a:schemeClr val="tx1"/>
                          </a:solidFill>
                        </a:rPr>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400" b="0" dirty="0">
                          <a:solidFill>
                            <a:schemeClr val="tx1"/>
                          </a:solidFill>
                        </a:rPr>
                        <a:t>Cross bar</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1400" b="0" dirty="0">
                          <a:solidFill>
                            <a:schemeClr val="tx1"/>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85866777"/>
                  </a:ext>
                </a:extLst>
              </a:tr>
              <a:tr h="416605">
                <a:tc>
                  <a:txBody>
                    <a:bodyPr/>
                    <a:lstStyle/>
                    <a:p>
                      <a:pPr algn="ctr"/>
                      <a:r>
                        <a:rPr lang="en-US" sz="1400" b="0" dirty="0">
                          <a:solidFill>
                            <a:schemeClr val="tx1"/>
                          </a:solidFill>
                        </a:rPr>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400" b="0" dirty="0">
                          <a:solidFill>
                            <a:schemeClr val="tx1"/>
                          </a:solidFill>
                        </a:rPr>
                        <a:t>Back supports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1400" b="0" dirty="0">
                          <a:solidFill>
                            <a:schemeClr val="tx1"/>
                          </a:solidFill>
                        </a:rPr>
                        <a:t>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32141085"/>
                  </a:ext>
                </a:extLst>
              </a:tr>
            </a:tbl>
          </a:graphicData>
        </a:graphic>
      </p:graphicFrame>
    </p:spTree>
    <p:extLst>
      <p:ext uri="{BB962C8B-B14F-4D97-AF65-F5344CB8AC3E}">
        <p14:creationId xmlns:p14="http://schemas.microsoft.com/office/powerpoint/2010/main" val="1637783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556C4-9885-C821-220C-1CCB67F73BF4}"/>
              </a:ext>
            </a:extLst>
          </p:cNvPr>
          <p:cNvSpPr>
            <a:spLocks noGrp="1"/>
          </p:cNvSpPr>
          <p:nvPr>
            <p:ph type="title"/>
          </p:nvPr>
        </p:nvSpPr>
        <p:spPr/>
        <p:txBody>
          <a:bodyPr/>
          <a:lstStyle/>
          <a:p>
            <a:r>
              <a:rPr lang="en-IN" dirty="0"/>
              <a:t>Product Structure File</a:t>
            </a:r>
          </a:p>
        </p:txBody>
      </p:sp>
      <p:sp>
        <p:nvSpPr>
          <p:cNvPr id="4" name="Date Placeholder 3">
            <a:extLst>
              <a:ext uri="{FF2B5EF4-FFF2-40B4-BE49-F238E27FC236}">
                <a16:creationId xmlns:a16="http://schemas.microsoft.com/office/drawing/2014/main" id="{7F8B4561-2893-CE10-2BEF-BC13F7D78D45}"/>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E087E95E-1A35-79F9-E831-4EE3A4E026BF}"/>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64B55DE3-A394-21E2-14D0-D938E3A5594E}"/>
              </a:ext>
            </a:extLst>
          </p:cNvPr>
          <p:cNvSpPr>
            <a:spLocks noGrp="1"/>
          </p:cNvSpPr>
          <p:nvPr>
            <p:ph type="sldNum" idx="12"/>
          </p:nvPr>
        </p:nvSpPr>
        <p:spPr/>
        <p:txBody>
          <a:bodyPr/>
          <a:lstStyle/>
          <a:p>
            <a:fld id="{00000000-1234-1234-1234-123412341234}" type="slidenum">
              <a:rPr lang="en-US" smtClean="0"/>
              <a:pPr/>
              <a:t>17</a:t>
            </a:fld>
            <a:endParaRPr lang="en-US" dirty="0"/>
          </a:p>
        </p:txBody>
      </p:sp>
      <p:pic>
        <p:nvPicPr>
          <p:cNvPr id="10" name="Picture 2">
            <a:extLst>
              <a:ext uri="{FF2B5EF4-FFF2-40B4-BE49-F238E27FC236}">
                <a16:creationId xmlns:a16="http://schemas.microsoft.com/office/drawing/2014/main" id="{ED4A4063-7532-F27A-17E4-571B289A8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5553" y="1117079"/>
            <a:ext cx="5724525" cy="501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175E4A4E-B3F5-4465-DF81-5E944FDEB8B6}"/>
              </a:ext>
            </a:extLst>
          </p:cNvPr>
          <p:cNvSpPr txBox="1"/>
          <p:nvPr/>
        </p:nvSpPr>
        <p:spPr>
          <a:xfrm>
            <a:off x="1341478" y="991647"/>
            <a:ext cx="1981200" cy="954107"/>
          </a:xfrm>
          <a:prstGeom prst="rect">
            <a:avLst/>
          </a:prstGeom>
          <a:noFill/>
        </p:spPr>
        <p:txBody>
          <a:bodyPr wrap="square" rtlCol="0">
            <a:spAutoFit/>
          </a:bodyPr>
          <a:lstStyle/>
          <a:p>
            <a:pPr>
              <a:buClrTx/>
              <a:buFontTx/>
              <a:buNone/>
            </a:pPr>
            <a:r>
              <a:rPr lang="en-IN" sz="2800" b="1" kern="1200" dirty="0">
                <a:solidFill>
                  <a:prstClr val="black"/>
                </a:solidFill>
                <a:latin typeface="Arial" pitchFamily="34" charset="0"/>
                <a:ea typeface="+mn-ea"/>
                <a:cs typeface="Arial" pitchFamily="34" charset="0"/>
              </a:rPr>
              <a:t>Clipboard example</a:t>
            </a:r>
          </a:p>
        </p:txBody>
      </p:sp>
      <p:pic>
        <p:nvPicPr>
          <p:cNvPr id="12" name="Picture 3">
            <a:extLst>
              <a:ext uri="{FF2B5EF4-FFF2-40B4-BE49-F238E27FC236}">
                <a16:creationId xmlns:a16="http://schemas.microsoft.com/office/drawing/2014/main" id="{DB16738F-C084-72D5-2081-A9A2463506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575" y="1838137"/>
            <a:ext cx="8429335" cy="430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0315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E00EA-B825-A4FF-E37B-9B6DF9E621B5}"/>
              </a:ext>
            </a:extLst>
          </p:cNvPr>
          <p:cNvSpPr>
            <a:spLocks noGrp="1"/>
          </p:cNvSpPr>
          <p:nvPr>
            <p:ph type="title"/>
          </p:nvPr>
        </p:nvSpPr>
        <p:spPr/>
        <p:txBody>
          <a:bodyPr/>
          <a:lstStyle/>
          <a:p>
            <a:r>
              <a:rPr lang="en-US" dirty="0"/>
              <a:t>Low-Level Coding</a:t>
            </a:r>
            <a:endParaRPr lang="en-IN" dirty="0"/>
          </a:p>
        </p:txBody>
      </p:sp>
      <p:sp>
        <p:nvSpPr>
          <p:cNvPr id="3" name="Text Placeholder 2">
            <a:extLst>
              <a:ext uri="{FF2B5EF4-FFF2-40B4-BE49-F238E27FC236}">
                <a16:creationId xmlns:a16="http://schemas.microsoft.com/office/drawing/2014/main" id="{41DCB1DD-39E6-49F8-439B-E8C5E4C17040}"/>
              </a:ext>
            </a:extLst>
          </p:cNvPr>
          <p:cNvSpPr>
            <a:spLocks noGrp="1"/>
          </p:cNvSpPr>
          <p:nvPr>
            <p:ph type="body" idx="1"/>
          </p:nvPr>
        </p:nvSpPr>
        <p:spPr>
          <a:xfrm>
            <a:off x="407446" y="832670"/>
            <a:ext cx="11596712" cy="5035928"/>
          </a:xfrm>
        </p:spPr>
        <p:txBody>
          <a:bodyPr/>
          <a:lstStyle/>
          <a:p>
            <a:r>
              <a:rPr lang="en-IN" dirty="0">
                <a:solidFill>
                  <a:schemeClr val="tx1"/>
                </a:solidFill>
              </a:rPr>
              <a:t>Restructuring the bill of materials so that multiple occurrences of a component </a:t>
            </a:r>
            <a:r>
              <a:rPr lang="en-IN" dirty="0">
                <a:solidFill>
                  <a:srgbClr val="FF0000"/>
                </a:solidFill>
              </a:rPr>
              <a:t>all coincide with the lowest level </a:t>
            </a:r>
            <a:r>
              <a:rPr lang="en-IN" dirty="0">
                <a:solidFill>
                  <a:schemeClr val="tx1"/>
                </a:solidFill>
              </a:rPr>
              <a:t>at which the component occurs.</a:t>
            </a:r>
          </a:p>
          <a:p>
            <a:endParaRPr lang="en-IN" dirty="0"/>
          </a:p>
        </p:txBody>
      </p:sp>
      <p:sp>
        <p:nvSpPr>
          <p:cNvPr id="4" name="Date Placeholder 3">
            <a:extLst>
              <a:ext uri="{FF2B5EF4-FFF2-40B4-BE49-F238E27FC236}">
                <a16:creationId xmlns:a16="http://schemas.microsoft.com/office/drawing/2014/main" id="{B1E3C798-6BC9-F536-D5AC-F6F43AD850C8}"/>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DCA249A1-D14D-66DF-4F45-9B4FE2764355}"/>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46050A49-36DB-C831-B4E2-D3F5F66387BE}"/>
              </a:ext>
            </a:extLst>
          </p:cNvPr>
          <p:cNvSpPr>
            <a:spLocks noGrp="1"/>
          </p:cNvSpPr>
          <p:nvPr>
            <p:ph type="sldNum" idx="12"/>
          </p:nvPr>
        </p:nvSpPr>
        <p:spPr/>
        <p:txBody>
          <a:bodyPr/>
          <a:lstStyle/>
          <a:p>
            <a:fld id="{00000000-1234-1234-1234-123412341234}" type="slidenum">
              <a:rPr lang="en-US" smtClean="0"/>
              <a:pPr/>
              <a:t>18</a:t>
            </a:fld>
            <a:endParaRPr lang="en-US" dirty="0"/>
          </a:p>
        </p:txBody>
      </p:sp>
      <p:pic>
        <p:nvPicPr>
          <p:cNvPr id="9" name="Picture 8" descr="Product structure tree for end item X.">
            <a:extLst>
              <a:ext uri="{FF2B5EF4-FFF2-40B4-BE49-F238E27FC236}">
                <a16:creationId xmlns:a16="http://schemas.microsoft.com/office/drawing/2014/main" id="{99985131-C751-90D5-402F-E3C8143C18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400" y="1946990"/>
            <a:ext cx="5295014" cy="4165483"/>
          </a:xfrm>
          <a:prstGeom prst="rect">
            <a:avLst/>
          </a:prstGeom>
        </p:spPr>
      </p:pic>
    </p:spTree>
    <p:extLst>
      <p:ext uri="{BB962C8B-B14F-4D97-AF65-F5344CB8AC3E}">
        <p14:creationId xmlns:p14="http://schemas.microsoft.com/office/powerpoint/2010/main" val="2129771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762BD-0FC5-1AD9-CB80-F282290556A0}"/>
              </a:ext>
            </a:extLst>
          </p:cNvPr>
          <p:cNvSpPr>
            <a:spLocks noGrp="1"/>
          </p:cNvSpPr>
          <p:nvPr>
            <p:ph type="title"/>
          </p:nvPr>
        </p:nvSpPr>
        <p:spPr/>
        <p:txBody>
          <a:bodyPr/>
          <a:lstStyle/>
          <a:p>
            <a:r>
              <a:rPr lang="en-US" dirty="0"/>
              <a:t>BOM Example</a:t>
            </a:r>
            <a:endParaRPr lang="en-IN" dirty="0"/>
          </a:p>
        </p:txBody>
      </p:sp>
      <p:sp>
        <p:nvSpPr>
          <p:cNvPr id="4" name="Date Placeholder 3">
            <a:extLst>
              <a:ext uri="{FF2B5EF4-FFF2-40B4-BE49-F238E27FC236}">
                <a16:creationId xmlns:a16="http://schemas.microsoft.com/office/drawing/2014/main" id="{FEC273BB-2C41-0375-F4F6-037BED21D47A}"/>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BD92E812-B5C6-A5F4-7CEA-E3DAA0B4AC2B}"/>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4D01AB4E-AB0A-6071-D8B0-22C2301A5BDA}"/>
              </a:ext>
            </a:extLst>
          </p:cNvPr>
          <p:cNvSpPr>
            <a:spLocks noGrp="1"/>
          </p:cNvSpPr>
          <p:nvPr>
            <p:ph type="sldNum" idx="12"/>
          </p:nvPr>
        </p:nvSpPr>
        <p:spPr/>
        <p:txBody>
          <a:bodyPr/>
          <a:lstStyle/>
          <a:p>
            <a:fld id="{00000000-1234-1234-1234-123412341234}" type="slidenum">
              <a:rPr lang="en-US" smtClean="0"/>
              <a:pPr/>
              <a:t>19</a:t>
            </a:fld>
            <a:endParaRPr lang="en-US" dirty="0"/>
          </a:p>
        </p:txBody>
      </p:sp>
      <p:grpSp>
        <p:nvGrpSpPr>
          <p:cNvPr id="8" name="Group 3">
            <a:extLst>
              <a:ext uri="{FF2B5EF4-FFF2-40B4-BE49-F238E27FC236}">
                <a16:creationId xmlns:a16="http://schemas.microsoft.com/office/drawing/2014/main" id="{8D8E210D-CFF2-72E6-64F9-C8F0D1D5F9E1}"/>
              </a:ext>
            </a:extLst>
          </p:cNvPr>
          <p:cNvGrpSpPr>
            <a:grpSpLocks/>
          </p:cNvGrpSpPr>
          <p:nvPr/>
        </p:nvGrpSpPr>
        <p:grpSpPr bwMode="auto">
          <a:xfrm>
            <a:off x="2666483" y="3562475"/>
            <a:ext cx="6024563" cy="855666"/>
            <a:chOff x="262" y="1550"/>
            <a:chExt cx="3795" cy="539"/>
          </a:xfrm>
        </p:grpSpPr>
        <p:grpSp>
          <p:nvGrpSpPr>
            <p:cNvPr id="9" name="Group 4">
              <a:extLst>
                <a:ext uri="{FF2B5EF4-FFF2-40B4-BE49-F238E27FC236}">
                  <a16:creationId xmlns:a16="http://schemas.microsoft.com/office/drawing/2014/main" id="{B2AB0C5F-6A62-C144-7709-2675599D74BD}"/>
                </a:ext>
              </a:extLst>
            </p:cNvPr>
            <p:cNvGrpSpPr>
              <a:grpSpLocks/>
            </p:cNvGrpSpPr>
            <p:nvPr/>
          </p:nvGrpSpPr>
          <p:grpSpPr bwMode="auto">
            <a:xfrm>
              <a:off x="814" y="1550"/>
              <a:ext cx="3243" cy="520"/>
              <a:chOff x="814" y="1550"/>
              <a:chExt cx="3243" cy="520"/>
            </a:xfrm>
          </p:grpSpPr>
          <p:sp>
            <p:nvSpPr>
              <p:cNvPr id="11" name="Rectangle 5">
                <a:extLst>
                  <a:ext uri="{FF2B5EF4-FFF2-40B4-BE49-F238E27FC236}">
                    <a16:creationId xmlns:a16="http://schemas.microsoft.com/office/drawing/2014/main" id="{26B7A983-6D7B-D14B-1F54-0FBFB56E4BEF}"/>
                  </a:ext>
                </a:extLst>
              </p:cNvPr>
              <p:cNvSpPr>
                <a:spLocks noChangeArrowheads="1"/>
              </p:cNvSpPr>
              <p:nvPr/>
            </p:nvSpPr>
            <p:spPr bwMode="auto">
              <a:xfrm>
                <a:off x="814" y="1781"/>
                <a:ext cx="443" cy="2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85000"/>
                  </a:lnSpc>
                </a:pPr>
                <a:r>
                  <a:rPr lang="en-US" sz="2800" dirty="0">
                    <a:latin typeface="Times New Roman" panose="02020603050405020304" pitchFamily="18" charset="0"/>
                    <a:cs typeface="Times New Roman" panose="02020603050405020304" pitchFamily="18" charset="0"/>
                  </a:rPr>
                  <a:t>B</a:t>
                </a:r>
                <a:r>
                  <a:rPr lang="en-US" sz="2800" baseline="-25000" dirty="0">
                    <a:latin typeface="Times New Roman" panose="02020603050405020304" pitchFamily="18" charset="0"/>
                    <a:cs typeface="Times New Roman" panose="02020603050405020304" pitchFamily="18" charset="0"/>
                  </a:rPr>
                  <a:t>(2)</a:t>
                </a:r>
                <a:endParaRPr lang="en-US" sz="3200" dirty="0">
                  <a:latin typeface="Times New Roman" panose="02020603050405020304" pitchFamily="18" charset="0"/>
                  <a:cs typeface="Times New Roman" panose="02020603050405020304" pitchFamily="18" charset="0"/>
                </a:endParaRPr>
              </a:p>
            </p:txBody>
          </p:sp>
          <p:sp>
            <p:nvSpPr>
              <p:cNvPr id="12" name="Rectangle 6">
                <a:extLst>
                  <a:ext uri="{FF2B5EF4-FFF2-40B4-BE49-F238E27FC236}">
                    <a16:creationId xmlns:a16="http://schemas.microsoft.com/office/drawing/2014/main" id="{B6E68D49-61E4-4F19-6868-856835FDA5EE}"/>
                  </a:ext>
                </a:extLst>
              </p:cNvPr>
              <p:cNvSpPr>
                <a:spLocks noChangeArrowheads="1"/>
              </p:cNvSpPr>
              <p:nvPr/>
            </p:nvSpPr>
            <p:spPr bwMode="auto">
              <a:xfrm>
                <a:off x="3614" y="1781"/>
                <a:ext cx="443" cy="2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85000"/>
                  </a:lnSpc>
                </a:pPr>
                <a:r>
                  <a:rPr lang="en-US" sz="2800" dirty="0">
                    <a:latin typeface="Times New Roman" panose="02020603050405020304" pitchFamily="18" charset="0"/>
                    <a:cs typeface="Times New Roman" panose="02020603050405020304" pitchFamily="18" charset="0"/>
                  </a:rPr>
                  <a:t>C</a:t>
                </a:r>
                <a:r>
                  <a:rPr lang="en-US" sz="2800" baseline="-25000" dirty="0">
                    <a:latin typeface="Times New Roman" panose="02020603050405020304" pitchFamily="18" charset="0"/>
                    <a:cs typeface="Times New Roman" panose="02020603050405020304" pitchFamily="18" charset="0"/>
                  </a:rPr>
                  <a:t>(3)</a:t>
                </a:r>
                <a:endParaRPr lang="en-US" sz="2800" dirty="0">
                  <a:latin typeface="Times New Roman" panose="02020603050405020304" pitchFamily="18" charset="0"/>
                  <a:cs typeface="Times New Roman" panose="02020603050405020304" pitchFamily="18" charset="0"/>
                </a:endParaRPr>
              </a:p>
            </p:txBody>
          </p:sp>
          <p:grpSp>
            <p:nvGrpSpPr>
              <p:cNvPr id="13" name="Group 8">
                <a:extLst>
                  <a:ext uri="{FF2B5EF4-FFF2-40B4-BE49-F238E27FC236}">
                    <a16:creationId xmlns:a16="http://schemas.microsoft.com/office/drawing/2014/main" id="{856C5BC3-5C0A-AED8-E4F7-ECF3FAD45452}"/>
                  </a:ext>
                </a:extLst>
              </p:cNvPr>
              <p:cNvGrpSpPr>
                <a:grpSpLocks/>
              </p:cNvGrpSpPr>
              <p:nvPr/>
            </p:nvGrpSpPr>
            <p:grpSpPr bwMode="auto">
              <a:xfrm>
                <a:off x="1000" y="1550"/>
                <a:ext cx="2800" cy="240"/>
                <a:chOff x="1000" y="1550"/>
                <a:chExt cx="2800" cy="240"/>
              </a:xfrm>
            </p:grpSpPr>
            <p:sp>
              <p:nvSpPr>
                <p:cNvPr id="14" name="Freeform 9">
                  <a:extLst>
                    <a:ext uri="{FF2B5EF4-FFF2-40B4-BE49-F238E27FC236}">
                      <a16:creationId xmlns:a16="http://schemas.microsoft.com/office/drawing/2014/main" id="{79249A20-B692-7102-115B-82387050942E}"/>
                    </a:ext>
                  </a:extLst>
                </p:cNvPr>
                <p:cNvSpPr>
                  <a:spLocks/>
                </p:cNvSpPr>
                <p:nvPr/>
              </p:nvSpPr>
              <p:spPr bwMode="auto">
                <a:xfrm>
                  <a:off x="1000" y="1680"/>
                  <a:ext cx="2800" cy="110"/>
                </a:xfrm>
                <a:custGeom>
                  <a:avLst/>
                  <a:gdLst>
                    <a:gd name="T0" fmla="*/ 0 w 2800"/>
                    <a:gd name="T1" fmla="*/ 109 h 110"/>
                    <a:gd name="T2" fmla="*/ 0 w 2800"/>
                    <a:gd name="T3" fmla="*/ 0 h 110"/>
                    <a:gd name="T4" fmla="*/ 2800 w 2800"/>
                    <a:gd name="T5" fmla="*/ 0 h 110"/>
                    <a:gd name="T6" fmla="*/ 2800 w 2800"/>
                    <a:gd name="T7" fmla="*/ 110 h 110"/>
                    <a:gd name="T8" fmla="*/ 0 60000 65536"/>
                    <a:gd name="T9" fmla="*/ 0 60000 65536"/>
                    <a:gd name="T10" fmla="*/ 0 60000 65536"/>
                    <a:gd name="T11" fmla="*/ 0 60000 65536"/>
                    <a:gd name="T12" fmla="*/ 0 w 2800"/>
                    <a:gd name="T13" fmla="*/ 0 h 110"/>
                    <a:gd name="T14" fmla="*/ 2800 w 2800"/>
                    <a:gd name="T15" fmla="*/ 110 h 110"/>
                  </a:gdLst>
                  <a:ahLst/>
                  <a:cxnLst>
                    <a:cxn ang="T8">
                      <a:pos x="T0" y="T1"/>
                    </a:cxn>
                    <a:cxn ang="T9">
                      <a:pos x="T2" y="T3"/>
                    </a:cxn>
                    <a:cxn ang="T10">
                      <a:pos x="T4" y="T5"/>
                    </a:cxn>
                    <a:cxn ang="T11">
                      <a:pos x="T6" y="T7"/>
                    </a:cxn>
                  </a:cxnLst>
                  <a:rect l="T12" t="T13" r="T14" b="T15"/>
                  <a:pathLst>
                    <a:path w="2800" h="110">
                      <a:moveTo>
                        <a:pt x="0" y="109"/>
                      </a:moveTo>
                      <a:lnTo>
                        <a:pt x="0" y="0"/>
                      </a:lnTo>
                      <a:lnTo>
                        <a:pt x="2800" y="0"/>
                      </a:lnTo>
                      <a:lnTo>
                        <a:pt x="2800" y="110"/>
                      </a:lnTo>
                    </a:path>
                  </a:pathLst>
                </a:custGeom>
                <a:noFill/>
                <a:ln w="38100" cmpd="sng">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2800" dirty="0">
                    <a:latin typeface="Times New Roman" panose="02020603050405020304" pitchFamily="18" charset="0"/>
                    <a:cs typeface="Times New Roman" panose="02020603050405020304" pitchFamily="18" charset="0"/>
                  </a:endParaRPr>
                </a:p>
              </p:txBody>
            </p:sp>
            <p:sp>
              <p:nvSpPr>
                <p:cNvPr id="15" name="Line 10">
                  <a:extLst>
                    <a:ext uri="{FF2B5EF4-FFF2-40B4-BE49-F238E27FC236}">
                      <a16:creationId xmlns:a16="http://schemas.microsoft.com/office/drawing/2014/main" id="{EA55AF4E-D151-3CDB-05A6-A97E987C65A5}"/>
                    </a:ext>
                  </a:extLst>
                </p:cNvPr>
                <p:cNvSpPr>
                  <a:spLocks noChangeShapeType="1"/>
                </p:cNvSpPr>
                <p:nvPr/>
              </p:nvSpPr>
              <p:spPr bwMode="auto">
                <a:xfrm>
                  <a:off x="2392" y="1550"/>
                  <a:ext cx="0" cy="128"/>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sz="2800" dirty="0">
                    <a:latin typeface="Times New Roman" panose="02020603050405020304" pitchFamily="18" charset="0"/>
                    <a:cs typeface="Times New Roman" panose="02020603050405020304" pitchFamily="18" charset="0"/>
                  </a:endParaRPr>
                </a:p>
              </p:txBody>
            </p:sp>
          </p:grpSp>
        </p:grpSp>
        <p:sp>
          <p:nvSpPr>
            <p:cNvPr id="10" name="Rectangle 11">
              <a:extLst>
                <a:ext uri="{FF2B5EF4-FFF2-40B4-BE49-F238E27FC236}">
                  <a16:creationId xmlns:a16="http://schemas.microsoft.com/office/drawing/2014/main" id="{210FCF58-692C-CF9A-6B74-B0C3D2935E9C}"/>
                </a:ext>
              </a:extLst>
            </p:cNvPr>
            <p:cNvSpPr>
              <a:spLocks noChangeArrowheads="1"/>
            </p:cNvSpPr>
            <p:nvPr/>
          </p:nvSpPr>
          <p:spPr bwMode="auto">
            <a:xfrm>
              <a:off x="262" y="1759"/>
              <a:ext cx="229" cy="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800" dirty="0">
                  <a:latin typeface="Times New Roman" panose="02020603050405020304" pitchFamily="18" charset="0"/>
                  <a:cs typeface="Times New Roman" panose="02020603050405020304" pitchFamily="18" charset="0"/>
                </a:rPr>
                <a:t>1</a:t>
              </a:r>
            </a:p>
          </p:txBody>
        </p:sp>
      </p:grpSp>
      <p:grpSp>
        <p:nvGrpSpPr>
          <p:cNvPr id="16" name="Group 12">
            <a:extLst>
              <a:ext uri="{FF2B5EF4-FFF2-40B4-BE49-F238E27FC236}">
                <a16:creationId xmlns:a16="http://schemas.microsoft.com/office/drawing/2014/main" id="{BAB5867E-6603-9E01-BDBE-200895A4FFDC}"/>
              </a:ext>
            </a:extLst>
          </p:cNvPr>
          <p:cNvGrpSpPr>
            <a:grpSpLocks/>
          </p:cNvGrpSpPr>
          <p:nvPr/>
        </p:nvGrpSpPr>
        <p:grpSpPr bwMode="auto">
          <a:xfrm>
            <a:off x="2666483" y="4327638"/>
            <a:ext cx="6824664" cy="1443037"/>
            <a:chOff x="262" y="2032"/>
            <a:chExt cx="4299" cy="909"/>
          </a:xfrm>
        </p:grpSpPr>
        <p:grpSp>
          <p:nvGrpSpPr>
            <p:cNvPr id="17" name="Group 13">
              <a:extLst>
                <a:ext uri="{FF2B5EF4-FFF2-40B4-BE49-F238E27FC236}">
                  <a16:creationId xmlns:a16="http://schemas.microsoft.com/office/drawing/2014/main" id="{CD815F1A-B12D-389C-2A51-48AD4FADB82A}"/>
                </a:ext>
              </a:extLst>
            </p:cNvPr>
            <p:cNvGrpSpPr>
              <a:grpSpLocks/>
            </p:cNvGrpSpPr>
            <p:nvPr/>
          </p:nvGrpSpPr>
          <p:grpSpPr bwMode="auto">
            <a:xfrm>
              <a:off x="696" y="2032"/>
              <a:ext cx="3865" cy="909"/>
              <a:chOff x="696" y="2032"/>
              <a:chExt cx="3865" cy="909"/>
            </a:xfrm>
          </p:grpSpPr>
          <p:grpSp>
            <p:nvGrpSpPr>
              <p:cNvPr id="19" name="Group 14">
                <a:extLst>
                  <a:ext uri="{FF2B5EF4-FFF2-40B4-BE49-F238E27FC236}">
                    <a16:creationId xmlns:a16="http://schemas.microsoft.com/office/drawing/2014/main" id="{FA7DF0AD-13AF-F9E7-6632-7BF851E2F657}"/>
                  </a:ext>
                </a:extLst>
              </p:cNvPr>
              <p:cNvGrpSpPr>
                <a:grpSpLocks/>
              </p:cNvGrpSpPr>
              <p:nvPr/>
            </p:nvGrpSpPr>
            <p:grpSpPr bwMode="auto">
              <a:xfrm>
                <a:off x="696" y="2033"/>
                <a:ext cx="728" cy="908"/>
                <a:chOff x="696" y="2033"/>
                <a:chExt cx="728" cy="908"/>
              </a:xfrm>
            </p:grpSpPr>
            <p:sp>
              <p:nvSpPr>
                <p:cNvPr id="27" name="Freeform 15">
                  <a:extLst>
                    <a:ext uri="{FF2B5EF4-FFF2-40B4-BE49-F238E27FC236}">
                      <a16:creationId xmlns:a16="http://schemas.microsoft.com/office/drawing/2014/main" id="{6D2CD757-4DE9-9E09-F349-46EBC41BAE7A}"/>
                    </a:ext>
                  </a:extLst>
                </p:cNvPr>
                <p:cNvSpPr>
                  <a:spLocks/>
                </p:cNvSpPr>
                <p:nvPr/>
              </p:nvSpPr>
              <p:spPr bwMode="auto">
                <a:xfrm>
                  <a:off x="696" y="2160"/>
                  <a:ext cx="728" cy="781"/>
                </a:xfrm>
                <a:custGeom>
                  <a:avLst/>
                  <a:gdLst>
                    <a:gd name="T0" fmla="*/ 0 w 784"/>
                    <a:gd name="T1" fmla="*/ 781 h 781"/>
                    <a:gd name="T2" fmla="*/ 0 w 784"/>
                    <a:gd name="T3" fmla="*/ 0 h 781"/>
                    <a:gd name="T4" fmla="*/ 728 w 784"/>
                    <a:gd name="T5" fmla="*/ 0 h 781"/>
                    <a:gd name="T6" fmla="*/ 728 w 784"/>
                    <a:gd name="T7" fmla="*/ 195 h 781"/>
                    <a:gd name="T8" fmla="*/ 0 60000 65536"/>
                    <a:gd name="T9" fmla="*/ 0 60000 65536"/>
                    <a:gd name="T10" fmla="*/ 0 60000 65536"/>
                    <a:gd name="T11" fmla="*/ 0 60000 65536"/>
                    <a:gd name="T12" fmla="*/ 0 w 784"/>
                    <a:gd name="T13" fmla="*/ 0 h 781"/>
                    <a:gd name="T14" fmla="*/ 784 w 784"/>
                    <a:gd name="T15" fmla="*/ 781 h 781"/>
                  </a:gdLst>
                  <a:ahLst/>
                  <a:cxnLst>
                    <a:cxn ang="T8">
                      <a:pos x="T0" y="T1"/>
                    </a:cxn>
                    <a:cxn ang="T9">
                      <a:pos x="T2" y="T3"/>
                    </a:cxn>
                    <a:cxn ang="T10">
                      <a:pos x="T4" y="T5"/>
                    </a:cxn>
                    <a:cxn ang="T11">
                      <a:pos x="T6" y="T7"/>
                    </a:cxn>
                  </a:cxnLst>
                  <a:rect l="T12" t="T13" r="T14" b="T15"/>
                  <a:pathLst>
                    <a:path w="784" h="781">
                      <a:moveTo>
                        <a:pt x="0" y="781"/>
                      </a:moveTo>
                      <a:lnTo>
                        <a:pt x="0" y="0"/>
                      </a:lnTo>
                      <a:lnTo>
                        <a:pt x="784" y="0"/>
                      </a:lnTo>
                      <a:lnTo>
                        <a:pt x="784" y="195"/>
                      </a:lnTo>
                    </a:path>
                  </a:pathLst>
                </a:custGeom>
                <a:noFill/>
                <a:ln w="38100" cmpd="sng">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2800" dirty="0">
                    <a:latin typeface="Times New Roman" panose="02020603050405020304" pitchFamily="18" charset="0"/>
                    <a:cs typeface="Times New Roman" panose="02020603050405020304" pitchFamily="18" charset="0"/>
                  </a:endParaRPr>
                </a:p>
              </p:txBody>
            </p:sp>
            <p:sp>
              <p:nvSpPr>
                <p:cNvPr id="28" name="Line 16">
                  <a:extLst>
                    <a:ext uri="{FF2B5EF4-FFF2-40B4-BE49-F238E27FC236}">
                      <a16:creationId xmlns:a16="http://schemas.microsoft.com/office/drawing/2014/main" id="{D3C7DA38-2F55-FC45-755E-47BD7B0FB808}"/>
                    </a:ext>
                  </a:extLst>
                </p:cNvPr>
                <p:cNvSpPr>
                  <a:spLocks noChangeShapeType="1"/>
                </p:cNvSpPr>
                <p:nvPr/>
              </p:nvSpPr>
              <p:spPr bwMode="auto">
                <a:xfrm>
                  <a:off x="1000" y="2033"/>
                  <a:ext cx="0" cy="128"/>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sz="2800" dirty="0">
                    <a:latin typeface="Times New Roman" panose="02020603050405020304" pitchFamily="18" charset="0"/>
                    <a:cs typeface="Times New Roman" panose="02020603050405020304" pitchFamily="18" charset="0"/>
                  </a:endParaRPr>
                </a:p>
              </p:txBody>
            </p:sp>
          </p:grpSp>
          <p:grpSp>
            <p:nvGrpSpPr>
              <p:cNvPr id="20" name="Group 17">
                <a:extLst>
                  <a:ext uri="{FF2B5EF4-FFF2-40B4-BE49-F238E27FC236}">
                    <a16:creationId xmlns:a16="http://schemas.microsoft.com/office/drawing/2014/main" id="{FB332E96-EA4A-E965-4B00-97ED544D027B}"/>
                  </a:ext>
                </a:extLst>
              </p:cNvPr>
              <p:cNvGrpSpPr>
                <a:grpSpLocks/>
              </p:cNvGrpSpPr>
              <p:nvPr/>
            </p:nvGrpSpPr>
            <p:grpSpPr bwMode="auto">
              <a:xfrm>
                <a:off x="1246" y="2032"/>
                <a:ext cx="3315" cy="622"/>
                <a:chOff x="1246" y="2032"/>
                <a:chExt cx="3315" cy="622"/>
              </a:xfrm>
            </p:grpSpPr>
            <p:sp>
              <p:nvSpPr>
                <p:cNvPr id="21" name="Rectangle 19">
                  <a:extLst>
                    <a:ext uri="{FF2B5EF4-FFF2-40B4-BE49-F238E27FC236}">
                      <a16:creationId xmlns:a16="http://schemas.microsoft.com/office/drawing/2014/main" id="{FBC68775-C912-BDC2-E52E-0F00773C3528}"/>
                    </a:ext>
                  </a:extLst>
                </p:cNvPr>
                <p:cNvSpPr>
                  <a:spLocks noChangeArrowheads="1"/>
                </p:cNvSpPr>
                <p:nvPr/>
              </p:nvSpPr>
              <p:spPr bwMode="auto">
                <a:xfrm>
                  <a:off x="3198" y="2365"/>
                  <a:ext cx="431" cy="2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85000"/>
                    </a:lnSpc>
                  </a:pPr>
                  <a:r>
                    <a:rPr lang="en-US" sz="2800" dirty="0">
                      <a:latin typeface="Times New Roman" panose="02020603050405020304" pitchFamily="18" charset="0"/>
                      <a:cs typeface="Times New Roman" panose="02020603050405020304" pitchFamily="18" charset="0"/>
                    </a:rPr>
                    <a:t>E</a:t>
                  </a:r>
                  <a:r>
                    <a:rPr lang="en-US" sz="2800" baseline="-25000" dirty="0">
                      <a:latin typeface="Times New Roman" panose="02020603050405020304" pitchFamily="18" charset="0"/>
                      <a:cs typeface="Times New Roman" panose="02020603050405020304" pitchFamily="18" charset="0"/>
                    </a:rPr>
                    <a:t>(2)</a:t>
                  </a:r>
                  <a:endParaRPr lang="en-US" sz="2800" dirty="0">
                    <a:latin typeface="Times New Roman" panose="02020603050405020304" pitchFamily="18" charset="0"/>
                    <a:cs typeface="Times New Roman" panose="02020603050405020304" pitchFamily="18" charset="0"/>
                  </a:endParaRPr>
                </a:p>
              </p:txBody>
            </p:sp>
            <p:sp>
              <p:nvSpPr>
                <p:cNvPr id="22" name="Rectangle 20">
                  <a:extLst>
                    <a:ext uri="{FF2B5EF4-FFF2-40B4-BE49-F238E27FC236}">
                      <a16:creationId xmlns:a16="http://schemas.microsoft.com/office/drawing/2014/main" id="{9477123E-D740-55D8-FE1A-04D54817EA66}"/>
                    </a:ext>
                  </a:extLst>
                </p:cNvPr>
                <p:cNvSpPr>
                  <a:spLocks noChangeArrowheads="1"/>
                </p:cNvSpPr>
                <p:nvPr/>
              </p:nvSpPr>
              <p:spPr bwMode="auto">
                <a:xfrm>
                  <a:off x="1246" y="2365"/>
                  <a:ext cx="431" cy="2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85000"/>
                    </a:lnSpc>
                  </a:pPr>
                  <a:r>
                    <a:rPr lang="en-US" sz="2800" dirty="0">
                      <a:latin typeface="Times New Roman" panose="02020603050405020304" pitchFamily="18" charset="0"/>
                      <a:cs typeface="Times New Roman" panose="02020603050405020304" pitchFamily="18" charset="0"/>
                    </a:rPr>
                    <a:t>E</a:t>
                  </a:r>
                  <a:r>
                    <a:rPr lang="en-US" sz="2800" baseline="-25000" dirty="0">
                      <a:latin typeface="Times New Roman" panose="02020603050405020304" pitchFamily="18" charset="0"/>
                      <a:cs typeface="Times New Roman" panose="02020603050405020304" pitchFamily="18" charset="0"/>
                    </a:rPr>
                    <a:t>(2)</a:t>
                  </a:r>
                  <a:endParaRPr lang="en-US" sz="2800" dirty="0">
                    <a:latin typeface="Times New Roman" panose="02020603050405020304" pitchFamily="18" charset="0"/>
                    <a:cs typeface="Times New Roman" panose="02020603050405020304" pitchFamily="18" charset="0"/>
                  </a:endParaRPr>
                </a:p>
              </p:txBody>
            </p:sp>
            <p:sp>
              <p:nvSpPr>
                <p:cNvPr id="23" name="Rectangle 21">
                  <a:extLst>
                    <a:ext uri="{FF2B5EF4-FFF2-40B4-BE49-F238E27FC236}">
                      <a16:creationId xmlns:a16="http://schemas.microsoft.com/office/drawing/2014/main" id="{133A2950-B29F-0CF2-E716-EE5E0F1A1EE3}"/>
                    </a:ext>
                  </a:extLst>
                </p:cNvPr>
                <p:cNvSpPr>
                  <a:spLocks noChangeArrowheads="1"/>
                </p:cNvSpPr>
                <p:nvPr/>
              </p:nvSpPr>
              <p:spPr bwMode="auto">
                <a:xfrm>
                  <a:off x="4142" y="2365"/>
                  <a:ext cx="419" cy="2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85000"/>
                    </a:lnSpc>
                  </a:pPr>
                  <a:r>
                    <a:rPr lang="en-US" sz="2800" dirty="0">
                      <a:latin typeface="Times New Roman" panose="02020603050405020304" pitchFamily="18" charset="0"/>
                      <a:cs typeface="Times New Roman" panose="02020603050405020304" pitchFamily="18" charset="0"/>
                    </a:rPr>
                    <a:t>F</a:t>
                  </a:r>
                  <a:r>
                    <a:rPr lang="en-US" sz="2800" baseline="-25000" dirty="0">
                      <a:latin typeface="Times New Roman" panose="02020603050405020304" pitchFamily="18" charset="0"/>
                      <a:cs typeface="Times New Roman" panose="02020603050405020304" pitchFamily="18" charset="0"/>
                    </a:rPr>
                    <a:t>(2)</a:t>
                  </a:r>
                  <a:endParaRPr lang="en-US" sz="2800" dirty="0">
                    <a:latin typeface="Times New Roman" panose="02020603050405020304" pitchFamily="18" charset="0"/>
                    <a:cs typeface="Times New Roman" panose="02020603050405020304" pitchFamily="18" charset="0"/>
                  </a:endParaRPr>
                </a:p>
              </p:txBody>
            </p:sp>
            <p:grpSp>
              <p:nvGrpSpPr>
                <p:cNvPr id="24" name="Group 24">
                  <a:extLst>
                    <a:ext uri="{FF2B5EF4-FFF2-40B4-BE49-F238E27FC236}">
                      <a16:creationId xmlns:a16="http://schemas.microsoft.com/office/drawing/2014/main" id="{8FD2DBDC-4892-DD7D-46FE-9546E87E5401}"/>
                    </a:ext>
                  </a:extLst>
                </p:cNvPr>
                <p:cNvGrpSpPr>
                  <a:grpSpLocks/>
                </p:cNvGrpSpPr>
                <p:nvPr/>
              </p:nvGrpSpPr>
              <p:grpSpPr bwMode="auto">
                <a:xfrm>
                  <a:off x="3373" y="2032"/>
                  <a:ext cx="939" cy="323"/>
                  <a:chOff x="3373" y="2032"/>
                  <a:chExt cx="939" cy="323"/>
                </a:xfrm>
              </p:grpSpPr>
              <p:sp>
                <p:nvSpPr>
                  <p:cNvPr id="25" name="Freeform 25">
                    <a:extLst>
                      <a:ext uri="{FF2B5EF4-FFF2-40B4-BE49-F238E27FC236}">
                        <a16:creationId xmlns:a16="http://schemas.microsoft.com/office/drawing/2014/main" id="{4EB5366F-1CF2-0A82-1885-A65F50C73942}"/>
                      </a:ext>
                    </a:extLst>
                  </p:cNvPr>
                  <p:cNvSpPr>
                    <a:spLocks/>
                  </p:cNvSpPr>
                  <p:nvPr/>
                </p:nvSpPr>
                <p:spPr bwMode="auto">
                  <a:xfrm>
                    <a:off x="3373" y="2160"/>
                    <a:ext cx="939" cy="195"/>
                  </a:xfrm>
                  <a:custGeom>
                    <a:avLst/>
                    <a:gdLst>
                      <a:gd name="T0" fmla="*/ 0 w 939"/>
                      <a:gd name="T1" fmla="*/ 188 h 195"/>
                      <a:gd name="T2" fmla="*/ 3 w 939"/>
                      <a:gd name="T3" fmla="*/ 0 h 195"/>
                      <a:gd name="T4" fmla="*/ 939 w 939"/>
                      <a:gd name="T5" fmla="*/ 0 h 195"/>
                      <a:gd name="T6" fmla="*/ 939 w 939"/>
                      <a:gd name="T7" fmla="*/ 195 h 195"/>
                      <a:gd name="T8" fmla="*/ 0 60000 65536"/>
                      <a:gd name="T9" fmla="*/ 0 60000 65536"/>
                      <a:gd name="T10" fmla="*/ 0 60000 65536"/>
                      <a:gd name="T11" fmla="*/ 0 60000 65536"/>
                      <a:gd name="T12" fmla="*/ 0 w 939"/>
                      <a:gd name="T13" fmla="*/ 0 h 195"/>
                      <a:gd name="T14" fmla="*/ 939 w 939"/>
                      <a:gd name="T15" fmla="*/ 195 h 195"/>
                    </a:gdLst>
                    <a:ahLst/>
                    <a:cxnLst>
                      <a:cxn ang="T8">
                        <a:pos x="T0" y="T1"/>
                      </a:cxn>
                      <a:cxn ang="T9">
                        <a:pos x="T2" y="T3"/>
                      </a:cxn>
                      <a:cxn ang="T10">
                        <a:pos x="T4" y="T5"/>
                      </a:cxn>
                      <a:cxn ang="T11">
                        <a:pos x="T6" y="T7"/>
                      </a:cxn>
                    </a:cxnLst>
                    <a:rect l="T12" t="T13" r="T14" b="T15"/>
                    <a:pathLst>
                      <a:path w="939" h="195">
                        <a:moveTo>
                          <a:pt x="0" y="188"/>
                        </a:moveTo>
                        <a:lnTo>
                          <a:pt x="3" y="0"/>
                        </a:lnTo>
                        <a:lnTo>
                          <a:pt x="939" y="0"/>
                        </a:lnTo>
                        <a:lnTo>
                          <a:pt x="939" y="195"/>
                        </a:lnTo>
                      </a:path>
                    </a:pathLst>
                  </a:custGeom>
                  <a:noFill/>
                  <a:ln w="38100" cmpd="sng">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2800" dirty="0">
                      <a:latin typeface="Times New Roman" panose="02020603050405020304" pitchFamily="18" charset="0"/>
                      <a:cs typeface="Times New Roman" panose="02020603050405020304" pitchFamily="18" charset="0"/>
                    </a:endParaRPr>
                  </a:p>
                </p:txBody>
              </p:sp>
              <p:sp>
                <p:nvSpPr>
                  <p:cNvPr id="26" name="Line 26">
                    <a:extLst>
                      <a:ext uri="{FF2B5EF4-FFF2-40B4-BE49-F238E27FC236}">
                        <a16:creationId xmlns:a16="http://schemas.microsoft.com/office/drawing/2014/main" id="{B7166104-8C9A-C65E-97D2-8F382E005FD9}"/>
                      </a:ext>
                    </a:extLst>
                  </p:cNvPr>
                  <p:cNvSpPr>
                    <a:spLocks noChangeShapeType="1"/>
                  </p:cNvSpPr>
                  <p:nvPr/>
                </p:nvSpPr>
                <p:spPr bwMode="auto">
                  <a:xfrm>
                    <a:off x="3801" y="2032"/>
                    <a:ext cx="0" cy="128"/>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sz="2800" dirty="0">
                      <a:latin typeface="Times New Roman" panose="02020603050405020304" pitchFamily="18" charset="0"/>
                      <a:cs typeface="Times New Roman" panose="02020603050405020304" pitchFamily="18" charset="0"/>
                    </a:endParaRPr>
                  </a:p>
                </p:txBody>
              </p:sp>
            </p:grpSp>
          </p:grpSp>
        </p:grpSp>
        <p:sp>
          <p:nvSpPr>
            <p:cNvPr id="18" name="Rectangle 29">
              <a:extLst>
                <a:ext uri="{FF2B5EF4-FFF2-40B4-BE49-F238E27FC236}">
                  <a16:creationId xmlns:a16="http://schemas.microsoft.com/office/drawing/2014/main" id="{A96D35E8-4385-4726-81EE-9317FB7C4376}"/>
                </a:ext>
              </a:extLst>
            </p:cNvPr>
            <p:cNvSpPr>
              <a:spLocks noChangeArrowheads="1"/>
            </p:cNvSpPr>
            <p:nvPr/>
          </p:nvSpPr>
          <p:spPr bwMode="auto">
            <a:xfrm>
              <a:off x="262" y="2341"/>
              <a:ext cx="229" cy="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800" dirty="0">
                  <a:latin typeface="Times New Roman" panose="02020603050405020304" pitchFamily="18" charset="0"/>
                  <a:cs typeface="Times New Roman" panose="02020603050405020304" pitchFamily="18" charset="0"/>
                </a:rPr>
                <a:t>2</a:t>
              </a:r>
            </a:p>
          </p:txBody>
        </p:sp>
      </p:grpSp>
      <p:grpSp>
        <p:nvGrpSpPr>
          <p:cNvPr id="29" name="Group 30">
            <a:extLst>
              <a:ext uri="{FF2B5EF4-FFF2-40B4-BE49-F238E27FC236}">
                <a16:creationId xmlns:a16="http://schemas.microsoft.com/office/drawing/2014/main" id="{5FCA362D-9E3C-88DE-8EC9-6BB0C95AC4CA}"/>
              </a:ext>
            </a:extLst>
          </p:cNvPr>
          <p:cNvGrpSpPr>
            <a:grpSpLocks/>
          </p:cNvGrpSpPr>
          <p:nvPr/>
        </p:nvGrpSpPr>
        <p:grpSpPr bwMode="auto">
          <a:xfrm>
            <a:off x="2666483" y="5265859"/>
            <a:ext cx="7253289" cy="981077"/>
            <a:chOff x="262" y="2623"/>
            <a:chExt cx="4569" cy="618"/>
          </a:xfrm>
        </p:grpSpPr>
        <p:grpSp>
          <p:nvGrpSpPr>
            <p:cNvPr id="30" name="Group 31">
              <a:extLst>
                <a:ext uri="{FF2B5EF4-FFF2-40B4-BE49-F238E27FC236}">
                  <a16:creationId xmlns:a16="http://schemas.microsoft.com/office/drawing/2014/main" id="{F5A43902-3C5A-5EEF-6F77-778FB5B4E015}"/>
                </a:ext>
              </a:extLst>
            </p:cNvPr>
            <p:cNvGrpSpPr>
              <a:grpSpLocks/>
            </p:cNvGrpSpPr>
            <p:nvPr/>
          </p:nvGrpSpPr>
          <p:grpSpPr bwMode="auto">
            <a:xfrm>
              <a:off x="518" y="2623"/>
              <a:ext cx="4313" cy="598"/>
              <a:chOff x="518" y="2623"/>
              <a:chExt cx="4313" cy="598"/>
            </a:xfrm>
          </p:grpSpPr>
          <p:sp>
            <p:nvSpPr>
              <p:cNvPr id="32" name="Rectangle 34">
                <a:extLst>
                  <a:ext uri="{FF2B5EF4-FFF2-40B4-BE49-F238E27FC236}">
                    <a16:creationId xmlns:a16="http://schemas.microsoft.com/office/drawing/2014/main" id="{A72217F2-537E-A69F-6FD6-B20583ED3A67}"/>
                  </a:ext>
                </a:extLst>
              </p:cNvPr>
              <p:cNvSpPr>
                <a:spLocks noChangeArrowheads="1"/>
              </p:cNvSpPr>
              <p:nvPr/>
            </p:nvSpPr>
            <p:spPr bwMode="auto">
              <a:xfrm>
                <a:off x="518" y="2932"/>
                <a:ext cx="457" cy="2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85000"/>
                  </a:lnSpc>
                </a:pPr>
                <a:r>
                  <a:rPr lang="en-US" sz="2800" dirty="0">
                    <a:latin typeface="Times New Roman" panose="02020603050405020304" pitchFamily="18" charset="0"/>
                    <a:cs typeface="Times New Roman" panose="02020603050405020304" pitchFamily="18" charset="0"/>
                  </a:rPr>
                  <a:t>D</a:t>
                </a:r>
                <a:r>
                  <a:rPr lang="en-US" sz="2800" baseline="-25000" dirty="0">
                    <a:latin typeface="Times New Roman" panose="02020603050405020304" pitchFamily="18" charset="0"/>
                    <a:cs typeface="Times New Roman" panose="02020603050405020304" pitchFamily="18" charset="0"/>
                  </a:rPr>
                  <a:t>(2)</a:t>
                </a:r>
                <a:endParaRPr lang="en-US" sz="2800" dirty="0">
                  <a:latin typeface="Times New Roman" panose="02020603050405020304" pitchFamily="18" charset="0"/>
                  <a:cs typeface="Times New Roman" panose="02020603050405020304" pitchFamily="18" charset="0"/>
                </a:endParaRPr>
              </a:p>
            </p:txBody>
          </p:sp>
          <p:sp>
            <p:nvSpPr>
              <p:cNvPr id="33" name="Rectangle 38">
                <a:extLst>
                  <a:ext uri="{FF2B5EF4-FFF2-40B4-BE49-F238E27FC236}">
                    <a16:creationId xmlns:a16="http://schemas.microsoft.com/office/drawing/2014/main" id="{91C25A11-1D62-E178-9839-118374977078}"/>
                  </a:ext>
                </a:extLst>
              </p:cNvPr>
              <p:cNvSpPr>
                <a:spLocks noChangeArrowheads="1"/>
              </p:cNvSpPr>
              <p:nvPr/>
            </p:nvSpPr>
            <p:spPr bwMode="auto">
              <a:xfrm>
                <a:off x="4374" y="2932"/>
                <a:ext cx="457" cy="2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85000"/>
                  </a:lnSpc>
                </a:pPr>
                <a:r>
                  <a:rPr lang="en-US" sz="2800" dirty="0">
                    <a:latin typeface="Times New Roman" panose="02020603050405020304" pitchFamily="18" charset="0"/>
                    <a:cs typeface="Times New Roman" panose="02020603050405020304" pitchFamily="18" charset="0"/>
                  </a:rPr>
                  <a:t>D</a:t>
                </a:r>
                <a:r>
                  <a:rPr lang="en-US" sz="2800" baseline="-25000" dirty="0">
                    <a:latin typeface="Times New Roman" panose="02020603050405020304" pitchFamily="18" charset="0"/>
                    <a:cs typeface="Times New Roman" panose="02020603050405020304" pitchFamily="18" charset="0"/>
                  </a:rPr>
                  <a:t>(2)</a:t>
                </a:r>
                <a:endParaRPr lang="en-US" sz="2800" dirty="0">
                  <a:latin typeface="Times New Roman" panose="02020603050405020304" pitchFamily="18" charset="0"/>
                  <a:cs typeface="Times New Roman" panose="02020603050405020304" pitchFamily="18" charset="0"/>
                </a:endParaRPr>
              </a:p>
            </p:txBody>
          </p:sp>
          <p:sp>
            <p:nvSpPr>
              <p:cNvPr id="34" name="Rectangle 42">
                <a:extLst>
                  <a:ext uri="{FF2B5EF4-FFF2-40B4-BE49-F238E27FC236}">
                    <a16:creationId xmlns:a16="http://schemas.microsoft.com/office/drawing/2014/main" id="{F4232289-9791-39B7-A9D7-C9A15B84CD36}"/>
                  </a:ext>
                </a:extLst>
              </p:cNvPr>
              <p:cNvSpPr>
                <a:spLocks noChangeArrowheads="1"/>
              </p:cNvSpPr>
              <p:nvPr/>
            </p:nvSpPr>
            <p:spPr bwMode="auto">
              <a:xfrm>
                <a:off x="3611" y="2932"/>
                <a:ext cx="457" cy="2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85000"/>
                  </a:lnSpc>
                </a:pPr>
                <a:r>
                  <a:rPr lang="en-US" sz="2800" dirty="0">
                    <a:latin typeface="Times New Roman" panose="02020603050405020304" pitchFamily="18" charset="0"/>
                    <a:cs typeface="Times New Roman" panose="02020603050405020304" pitchFamily="18" charset="0"/>
                  </a:rPr>
                  <a:t>G</a:t>
                </a:r>
                <a:r>
                  <a:rPr lang="en-US" sz="2800" baseline="-25000" dirty="0">
                    <a:latin typeface="Times New Roman" panose="02020603050405020304" pitchFamily="18" charset="0"/>
                    <a:cs typeface="Times New Roman" panose="02020603050405020304" pitchFamily="18" charset="0"/>
                  </a:rPr>
                  <a:t>(1)</a:t>
                </a:r>
                <a:endParaRPr lang="en-US" sz="2800" dirty="0">
                  <a:latin typeface="Times New Roman" panose="02020603050405020304" pitchFamily="18" charset="0"/>
                  <a:cs typeface="Times New Roman" panose="02020603050405020304" pitchFamily="18" charset="0"/>
                </a:endParaRPr>
              </a:p>
            </p:txBody>
          </p:sp>
          <p:grpSp>
            <p:nvGrpSpPr>
              <p:cNvPr id="35" name="Group 44">
                <a:extLst>
                  <a:ext uri="{FF2B5EF4-FFF2-40B4-BE49-F238E27FC236}">
                    <a16:creationId xmlns:a16="http://schemas.microsoft.com/office/drawing/2014/main" id="{4AF3ACB4-62B3-8B0E-F96B-5195AE7F06CF}"/>
                  </a:ext>
                </a:extLst>
              </p:cNvPr>
              <p:cNvGrpSpPr>
                <a:grpSpLocks/>
              </p:cNvGrpSpPr>
              <p:nvPr/>
            </p:nvGrpSpPr>
            <p:grpSpPr bwMode="auto">
              <a:xfrm>
                <a:off x="3813" y="2623"/>
                <a:ext cx="755" cy="324"/>
                <a:chOff x="3813" y="2623"/>
                <a:chExt cx="755" cy="324"/>
              </a:xfrm>
            </p:grpSpPr>
            <p:sp>
              <p:nvSpPr>
                <p:cNvPr id="36" name="Freeform 45">
                  <a:extLst>
                    <a:ext uri="{FF2B5EF4-FFF2-40B4-BE49-F238E27FC236}">
                      <a16:creationId xmlns:a16="http://schemas.microsoft.com/office/drawing/2014/main" id="{0F4C634E-A2FA-F2C6-587F-D7A2A0F48C52}"/>
                    </a:ext>
                  </a:extLst>
                </p:cNvPr>
                <p:cNvSpPr>
                  <a:spLocks/>
                </p:cNvSpPr>
                <p:nvPr/>
              </p:nvSpPr>
              <p:spPr bwMode="auto">
                <a:xfrm>
                  <a:off x="3813" y="2752"/>
                  <a:ext cx="755" cy="195"/>
                </a:xfrm>
                <a:custGeom>
                  <a:avLst/>
                  <a:gdLst>
                    <a:gd name="T0" fmla="*/ 0 w 939"/>
                    <a:gd name="T1" fmla="*/ 188 h 195"/>
                    <a:gd name="T2" fmla="*/ 2 w 939"/>
                    <a:gd name="T3" fmla="*/ 0 h 195"/>
                    <a:gd name="T4" fmla="*/ 755 w 939"/>
                    <a:gd name="T5" fmla="*/ 0 h 195"/>
                    <a:gd name="T6" fmla="*/ 755 w 939"/>
                    <a:gd name="T7" fmla="*/ 195 h 195"/>
                    <a:gd name="T8" fmla="*/ 0 60000 65536"/>
                    <a:gd name="T9" fmla="*/ 0 60000 65536"/>
                    <a:gd name="T10" fmla="*/ 0 60000 65536"/>
                    <a:gd name="T11" fmla="*/ 0 60000 65536"/>
                    <a:gd name="T12" fmla="*/ 0 w 939"/>
                    <a:gd name="T13" fmla="*/ 0 h 195"/>
                    <a:gd name="T14" fmla="*/ 939 w 939"/>
                    <a:gd name="T15" fmla="*/ 195 h 195"/>
                  </a:gdLst>
                  <a:ahLst/>
                  <a:cxnLst>
                    <a:cxn ang="T8">
                      <a:pos x="T0" y="T1"/>
                    </a:cxn>
                    <a:cxn ang="T9">
                      <a:pos x="T2" y="T3"/>
                    </a:cxn>
                    <a:cxn ang="T10">
                      <a:pos x="T4" y="T5"/>
                    </a:cxn>
                    <a:cxn ang="T11">
                      <a:pos x="T6" y="T7"/>
                    </a:cxn>
                  </a:cxnLst>
                  <a:rect l="T12" t="T13" r="T14" b="T15"/>
                  <a:pathLst>
                    <a:path w="939" h="195">
                      <a:moveTo>
                        <a:pt x="0" y="188"/>
                      </a:moveTo>
                      <a:lnTo>
                        <a:pt x="3" y="0"/>
                      </a:lnTo>
                      <a:lnTo>
                        <a:pt x="939" y="0"/>
                      </a:lnTo>
                      <a:lnTo>
                        <a:pt x="939" y="195"/>
                      </a:lnTo>
                    </a:path>
                  </a:pathLst>
                </a:custGeom>
                <a:noFill/>
                <a:ln w="38100" cmpd="sng">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2800" dirty="0">
                    <a:latin typeface="Times New Roman" panose="02020603050405020304" pitchFamily="18" charset="0"/>
                    <a:cs typeface="Times New Roman" panose="02020603050405020304" pitchFamily="18" charset="0"/>
                  </a:endParaRPr>
                </a:p>
              </p:txBody>
            </p:sp>
            <p:sp>
              <p:nvSpPr>
                <p:cNvPr id="37" name="Line 46">
                  <a:extLst>
                    <a:ext uri="{FF2B5EF4-FFF2-40B4-BE49-F238E27FC236}">
                      <a16:creationId xmlns:a16="http://schemas.microsoft.com/office/drawing/2014/main" id="{F5EDEB53-815C-D4F2-054E-A85E83E4A58A}"/>
                    </a:ext>
                  </a:extLst>
                </p:cNvPr>
                <p:cNvSpPr>
                  <a:spLocks noChangeShapeType="1"/>
                </p:cNvSpPr>
                <p:nvPr/>
              </p:nvSpPr>
              <p:spPr bwMode="auto">
                <a:xfrm>
                  <a:off x="4312" y="2623"/>
                  <a:ext cx="0" cy="128"/>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sz="2800" dirty="0">
                    <a:latin typeface="Times New Roman" panose="02020603050405020304" pitchFamily="18" charset="0"/>
                    <a:cs typeface="Times New Roman" panose="02020603050405020304" pitchFamily="18" charset="0"/>
                  </a:endParaRPr>
                </a:p>
              </p:txBody>
            </p:sp>
          </p:grpSp>
        </p:grpSp>
        <p:sp>
          <p:nvSpPr>
            <p:cNvPr id="31" name="Rectangle 47">
              <a:extLst>
                <a:ext uri="{FF2B5EF4-FFF2-40B4-BE49-F238E27FC236}">
                  <a16:creationId xmlns:a16="http://schemas.microsoft.com/office/drawing/2014/main" id="{78F8D896-08E0-60C0-55E0-A31781146857}"/>
                </a:ext>
              </a:extLst>
            </p:cNvPr>
            <p:cNvSpPr>
              <a:spLocks noChangeArrowheads="1"/>
            </p:cNvSpPr>
            <p:nvPr/>
          </p:nvSpPr>
          <p:spPr bwMode="auto">
            <a:xfrm>
              <a:off x="262" y="2911"/>
              <a:ext cx="229" cy="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800" dirty="0">
                  <a:latin typeface="Times New Roman" panose="02020603050405020304" pitchFamily="18" charset="0"/>
                  <a:cs typeface="Times New Roman" panose="02020603050405020304" pitchFamily="18" charset="0"/>
                </a:rPr>
                <a:t>3</a:t>
              </a:r>
            </a:p>
          </p:txBody>
        </p:sp>
      </p:grpSp>
      <p:grpSp>
        <p:nvGrpSpPr>
          <p:cNvPr id="38" name="Group 48">
            <a:extLst>
              <a:ext uri="{FF2B5EF4-FFF2-40B4-BE49-F238E27FC236}">
                <a16:creationId xmlns:a16="http://schemas.microsoft.com/office/drawing/2014/main" id="{8601FC1A-E6D3-68D6-A2B7-A76F24B2C9F7}"/>
              </a:ext>
            </a:extLst>
          </p:cNvPr>
          <p:cNvGrpSpPr>
            <a:grpSpLocks/>
          </p:cNvGrpSpPr>
          <p:nvPr/>
        </p:nvGrpSpPr>
        <p:grpSpPr bwMode="auto">
          <a:xfrm>
            <a:off x="2437883" y="2776654"/>
            <a:ext cx="7023103" cy="917577"/>
            <a:chOff x="118" y="1055"/>
            <a:chExt cx="4424" cy="578"/>
          </a:xfrm>
        </p:grpSpPr>
        <p:sp>
          <p:nvSpPr>
            <p:cNvPr id="39" name="Rectangle 49">
              <a:extLst>
                <a:ext uri="{FF2B5EF4-FFF2-40B4-BE49-F238E27FC236}">
                  <a16:creationId xmlns:a16="http://schemas.microsoft.com/office/drawing/2014/main" id="{EAE1E9C9-E9D2-209E-3CC4-7F17617FF491}"/>
                </a:ext>
              </a:extLst>
            </p:cNvPr>
            <p:cNvSpPr>
              <a:spLocks noChangeArrowheads="1"/>
            </p:cNvSpPr>
            <p:nvPr/>
          </p:nvSpPr>
          <p:spPr bwMode="auto">
            <a:xfrm>
              <a:off x="1070" y="1055"/>
              <a:ext cx="3472" cy="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800" dirty="0">
                  <a:latin typeface="Times New Roman" panose="02020603050405020304" pitchFamily="18" charset="0"/>
                  <a:cs typeface="Times New Roman" panose="02020603050405020304" pitchFamily="18" charset="0"/>
                </a:rPr>
                <a:t>Product structure for </a:t>
              </a:r>
              <a:r>
                <a:rPr lang="ja-JP" altLang="en-US" sz="2800"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Awesome</a:t>
              </a:r>
              <a:r>
                <a:rPr lang="ja-JP" altLang="en-US" sz="2800"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a:t>
              </a:r>
            </a:p>
          </p:txBody>
        </p:sp>
        <p:sp>
          <p:nvSpPr>
            <p:cNvPr id="40" name="Rectangle 50">
              <a:extLst>
                <a:ext uri="{FF2B5EF4-FFF2-40B4-BE49-F238E27FC236}">
                  <a16:creationId xmlns:a16="http://schemas.microsoft.com/office/drawing/2014/main" id="{7FB01E2F-C4C0-4B15-7F30-A8AC0EF4F5B0}"/>
                </a:ext>
              </a:extLst>
            </p:cNvPr>
            <p:cNvSpPr>
              <a:spLocks noChangeArrowheads="1"/>
            </p:cNvSpPr>
            <p:nvPr/>
          </p:nvSpPr>
          <p:spPr bwMode="auto">
            <a:xfrm>
              <a:off x="2286" y="1324"/>
              <a:ext cx="280" cy="2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85000"/>
                </a:lnSpc>
              </a:pPr>
              <a:r>
                <a:rPr lang="en-US" sz="2800" dirty="0">
                  <a:latin typeface="Times New Roman" panose="02020603050405020304" pitchFamily="18" charset="0"/>
                  <a:cs typeface="Times New Roman" panose="02020603050405020304" pitchFamily="18" charset="0"/>
                </a:rPr>
                <a:t>A</a:t>
              </a:r>
            </a:p>
          </p:txBody>
        </p:sp>
        <p:sp>
          <p:nvSpPr>
            <p:cNvPr id="41" name="Rectangle 51">
              <a:extLst>
                <a:ext uri="{FF2B5EF4-FFF2-40B4-BE49-F238E27FC236}">
                  <a16:creationId xmlns:a16="http://schemas.microsoft.com/office/drawing/2014/main" id="{60161D50-7E09-6087-CC43-4C864556C903}"/>
                </a:ext>
              </a:extLst>
            </p:cNvPr>
            <p:cNvSpPr>
              <a:spLocks noChangeArrowheads="1"/>
            </p:cNvSpPr>
            <p:nvPr/>
          </p:nvSpPr>
          <p:spPr bwMode="auto">
            <a:xfrm>
              <a:off x="118" y="1055"/>
              <a:ext cx="630" cy="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800" dirty="0">
                  <a:latin typeface="Times New Roman" panose="02020603050405020304" pitchFamily="18" charset="0"/>
                  <a:cs typeface="Times New Roman" panose="02020603050405020304" pitchFamily="18" charset="0"/>
                </a:rPr>
                <a:t>Level</a:t>
              </a:r>
            </a:p>
          </p:txBody>
        </p:sp>
        <p:sp>
          <p:nvSpPr>
            <p:cNvPr id="42" name="Rectangle 52">
              <a:extLst>
                <a:ext uri="{FF2B5EF4-FFF2-40B4-BE49-F238E27FC236}">
                  <a16:creationId xmlns:a16="http://schemas.microsoft.com/office/drawing/2014/main" id="{34A7125A-0710-2226-12BF-6E416243152F}"/>
                </a:ext>
              </a:extLst>
            </p:cNvPr>
            <p:cNvSpPr>
              <a:spLocks noChangeArrowheads="1"/>
            </p:cNvSpPr>
            <p:nvPr/>
          </p:nvSpPr>
          <p:spPr bwMode="auto">
            <a:xfrm>
              <a:off x="262" y="1303"/>
              <a:ext cx="229" cy="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800" dirty="0">
                  <a:latin typeface="Times New Roman" panose="02020603050405020304" pitchFamily="18" charset="0"/>
                  <a:cs typeface="Times New Roman" panose="02020603050405020304" pitchFamily="18" charset="0"/>
                </a:rPr>
                <a:t>0</a:t>
              </a:r>
            </a:p>
          </p:txBody>
        </p:sp>
      </p:grpSp>
      <p:pic>
        <p:nvPicPr>
          <p:cNvPr id="43" name="Picture 42" descr="awesome speakers.jpg">
            <a:extLst>
              <a:ext uri="{FF2B5EF4-FFF2-40B4-BE49-F238E27FC236}">
                <a16:creationId xmlns:a16="http://schemas.microsoft.com/office/drawing/2014/main" id="{190A65ED-23E3-93FA-9EDB-FE090242D97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86165" y="1110512"/>
            <a:ext cx="2133600" cy="284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152" name="Group 151">
            <a:extLst>
              <a:ext uri="{FF2B5EF4-FFF2-40B4-BE49-F238E27FC236}">
                <a16:creationId xmlns:a16="http://schemas.microsoft.com/office/drawing/2014/main" id="{59B264B4-7F8D-791C-3D0A-FDFB6B77F00A}"/>
              </a:ext>
            </a:extLst>
          </p:cNvPr>
          <p:cNvGrpSpPr>
            <a:grpSpLocks/>
          </p:cNvGrpSpPr>
          <p:nvPr/>
        </p:nvGrpSpPr>
        <p:grpSpPr bwMode="auto">
          <a:xfrm>
            <a:off x="2281956" y="2966187"/>
            <a:ext cx="7645400" cy="3213100"/>
            <a:chOff x="798513" y="2020890"/>
            <a:chExt cx="7645400" cy="3213100"/>
          </a:xfrm>
        </p:grpSpPr>
        <p:sp>
          <p:nvSpPr>
            <p:cNvPr id="153" name="Rectangle 53">
              <a:extLst>
                <a:ext uri="{FF2B5EF4-FFF2-40B4-BE49-F238E27FC236}">
                  <a16:creationId xmlns:a16="http://schemas.microsoft.com/office/drawing/2014/main" id="{A839DF15-C917-60CB-666C-EE2648784055}"/>
                </a:ext>
              </a:extLst>
            </p:cNvPr>
            <p:cNvSpPr>
              <a:spLocks noChangeArrowheads="1"/>
            </p:cNvSpPr>
            <p:nvPr/>
          </p:nvSpPr>
          <p:spPr bwMode="auto">
            <a:xfrm>
              <a:off x="798513" y="2020890"/>
              <a:ext cx="7645400" cy="3213100"/>
            </a:xfrm>
            <a:prstGeom prst="rect">
              <a:avLst/>
            </a:prstGeom>
            <a:solidFill>
              <a:srgbClr val="BDD6AE"/>
            </a:solidFill>
            <a:ln w="9525">
              <a:solidFill>
                <a:srgbClr val="000000"/>
              </a:solidFill>
              <a:miter lim="800000"/>
              <a:headEnd/>
              <a:tailEnd/>
            </a:ln>
            <a:effec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Calibri"/>
                <a:ea typeface="ＭＳ Ｐゴシック" charset="0"/>
                <a:cs typeface="Arial" charset="0"/>
              </a:endParaRPr>
            </a:p>
          </p:txBody>
        </p:sp>
        <p:sp>
          <p:nvSpPr>
            <p:cNvPr id="154" name="Rectangle 54">
              <a:extLst>
                <a:ext uri="{FF2B5EF4-FFF2-40B4-BE49-F238E27FC236}">
                  <a16:creationId xmlns:a16="http://schemas.microsoft.com/office/drawing/2014/main" id="{6AEE62CF-B40B-9B31-1FEB-B2CFA64BA58C}"/>
                </a:ext>
              </a:extLst>
            </p:cNvPr>
            <p:cNvSpPr>
              <a:spLocks noChangeArrowheads="1"/>
            </p:cNvSpPr>
            <p:nvPr/>
          </p:nvSpPr>
          <p:spPr bwMode="auto">
            <a:xfrm>
              <a:off x="1077913" y="2362203"/>
              <a:ext cx="7152920" cy="25545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marL="0" marR="0" lvl="0" indent="0" defTabSz="457200" eaLnBrk="1" fontAlgn="base" latinLnBrk="0" hangingPunct="1">
                <a:lnSpc>
                  <a:spcPct val="100000"/>
                </a:lnSpc>
                <a:spcBef>
                  <a:spcPct val="0"/>
                </a:spcBef>
                <a:spcAft>
                  <a:spcPct val="0"/>
                </a:spcAft>
                <a:buClrTx/>
                <a:buSzTx/>
                <a:buFontTx/>
                <a:buNone/>
                <a:tabLst>
                  <a:tab pos="1143000" algn="l"/>
                  <a:tab pos="4000500" algn="l"/>
                  <a:tab pos="6477000" algn="l"/>
                </a:tabLst>
                <a:defRPr/>
              </a:pPr>
              <a:r>
                <a:rPr kumimoji="0" lang="en-US" sz="20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Part B:	2 x number of As =	(2)(50) =	100</a:t>
              </a:r>
            </a:p>
            <a:p>
              <a:pPr marL="0" marR="0" lvl="0" indent="0" defTabSz="457200" eaLnBrk="1" fontAlgn="base" latinLnBrk="0" hangingPunct="1">
                <a:lnSpc>
                  <a:spcPct val="100000"/>
                </a:lnSpc>
                <a:spcBef>
                  <a:spcPct val="0"/>
                </a:spcBef>
                <a:spcAft>
                  <a:spcPct val="0"/>
                </a:spcAft>
                <a:buClrTx/>
                <a:buSzTx/>
                <a:buFontTx/>
                <a:buNone/>
                <a:tabLst>
                  <a:tab pos="1143000" algn="l"/>
                  <a:tab pos="4000500" algn="l"/>
                  <a:tab pos="6477000" algn="l"/>
                </a:tabLst>
                <a:defRPr/>
              </a:pPr>
              <a:r>
                <a:rPr kumimoji="0" lang="en-US" sz="20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Part C:	3 x number of As =	(3)(50) =	150</a:t>
              </a:r>
            </a:p>
            <a:p>
              <a:pPr marL="0" marR="0" lvl="0" indent="0" defTabSz="457200" eaLnBrk="1" fontAlgn="base" latinLnBrk="0" hangingPunct="1">
                <a:lnSpc>
                  <a:spcPct val="100000"/>
                </a:lnSpc>
                <a:spcBef>
                  <a:spcPct val="0"/>
                </a:spcBef>
                <a:spcAft>
                  <a:spcPct val="0"/>
                </a:spcAft>
                <a:buClrTx/>
                <a:buSzTx/>
                <a:buFontTx/>
                <a:buNone/>
                <a:tabLst>
                  <a:tab pos="1143000" algn="l"/>
                  <a:tab pos="4000500" algn="l"/>
                  <a:tab pos="6477000" algn="l"/>
                </a:tabLst>
                <a:defRPr/>
              </a:pPr>
              <a:r>
                <a:rPr kumimoji="0" lang="en-US" sz="20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Part E:	2 x number of Bs </a:t>
              </a:r>
            </a:p>
            <a:p>
              <a:pPr marL="0" marR="0" lvl="0" indent="0" defTabSz="457200" eaLnBrk="1" fontAlgn="base" latinLnBrk="0" hangingPunct="1">
                <a:lnSpc>
                  <a:spcPct val="100000"/>
                </a:lnSpc>
                <a:spcBef>
                  <a:spcPct val="0"/>
                </a:spcBef>
                <a:spcAft>
                  <a:spcPct val="0"/>
                </a:spcAft>
                <a:buClrTx/>
                <a:buSzTx/>
                <a:buFontTx/>
                <a:buNone/>
                <a:tabLst>
                  <a:tab pos="1143000" algn="l"/>
                  <a:tab pos="4000500" algn="l"/>
                  <a:tab pos="6477000" algn="l"/>
                </a:tabLst>
                <a:defRPr/>
              </a:pPr>
              <a:r>
                <a:rPr kumimoji="0" lang="en-US" sz="20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	   + 2 x number of Cs =	(2)(100) + (2)(150) =	500</a:t>
              </a:r>
            </a:p>
            <a:p>
              <a:pPr marL="0" marR="0" lvl="0" indent="0" defTabSz="457200" eaLnBrk="1" fontAlgn="base" latinLnBrk="0" hangingPunct="1">
                <a:lnSpc>
                  <a:spcPct val="100000"/>
                </a:lnSpc>
                <a:spcBef>
                  <a:spcPct val="0"/>
                </a:spcBef>
                <a:spcAft>
                  <a:spcPct val="0"/>
                </a:spcAft>
                <a:buClrTx/>
                <a:buSzTx/>
                <a:buFontTx/>
                <a:buNone/>
                <a:tabLst>
                  <a:tab pos="1143000" algn="l"/>
                  <a:tab pos="4000500" algn="l"/>
                  <a:tab pos="6477000" algn="l"/>
                </a:tabLst>
                <a:defRPr/>
              </a:pPr>
              <a:r>
                <a:rPr kumimoji="0" lang="en-US" sz="20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Part F:	2 x number of Cs =	(2)(150) =	300</a:t>
              </a:r>
            </a:p>
            <a:p>
              <a:pPr marL="0" marR="0" lvl="0" indent="0" defTabSz="457200" eaLnBrk="1" fontAlgn="base" latinLnBrk="0" hangingPunct="1">
                <a:lnSpc>
                  <a:spcPct val="100000"/>
                </a:lnSpc>
                <a:spcBef>
                  <a:spcPct val="0"/>
                </a:spcBef>
                <a:spcAft>
                  <a:spcPct val="0"/>
                </a:spcAft>
                <a:buClrTx/>
                <a:buSzTx/>
                <a:buFontTx/>
                <a:buNone/>
                <a:tabLst>
                  <a:tab pos="1143000" algn="l"/>
                  <a:tab pos="4000500" algn="l"/>
                  <a:tab pos="6477000" algn="l"/>
                </a:tabLst>
                <a:defRPr/>
              </a:pPr>
              <a:r>
                <a:rPr kumimoji="0" lang="en-US" sz="20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Part G:	1 x number of Fs =	(1)(300) =	300</a:t>
              </a:r>
            </a:p>
            <a:p>
              <a:pPr marL="0" marR="0" lvl="0" indent="0" defTabSz="457200" eaLnBrk="1" fontAlgn="base" latinLnBrk="0" hangingPunct="1">
                <a:lnSpc>
                  <a:spcPct val="100000"/>
                </a:lnSpc>
                <a:spcBef>
                  <a:spcPct val="0"/>
                </a:spcBef>
                <a:spcAft>
                  <a:spcPct val="0"/>
                </a:spcAft>
                <a:buClrTx/>
                <a:buSzTx/>
                <a:buFontTx/>
                <a:buNone/>
                <a:tabLst>
                  <a:tab pos="1143000" algn="l"/>
                  <a:tab pos="4000500" algn="l"/>
                  <a:tab pos="6477000" algn="l"/>
                </a:tabLst>
                <a:defRPr/>
              </a:pPr>
              <a:r>
                <a:rPr kumimoji="0" lang="en-US" sz="20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Part D:	2 x number of Bs </a:t>
              </a:r>
            </a:p>
            <a:p>
              <a:pPr marL="0" marR="0" lvl="0" indent="0" defTabSz="457200" eaLnBrk="1" fontAlgn="base" latinLnBrk="0" hangingPunct="1">
                <a:lnSpc>
                  <a:spcPct val="100000"/>
                </a:lnSpc>
                <a:spcBef>
                  <a:spcPct val="0"/>
                </a:spcBef>
                <a:spcAft>
                  <a:spcPct val="0"/>
                </a:spcAft>
                <a:buClrTx/>
                <a:buSzTx/>
                <a:buFontTx/>
                <a:buNone/>
                <a:tabLst>
                  <a:tab pos="1143000" algn="l"/>
                  <a:tab pos="4000500" algn="l"/>
                  <a:tab pos="6477000" algn="l"/>
                </a:tabLst>
                <a:defRPr/>
              </a:pPr>
              <a:r>
                <a:rPr kumimoji="0" lang="en-US" sz="2000" b="0" i="0" u="none" strike="noStrike" kern="1200" cap="none" spc="0" normalizeH="0" baseline="0" noProof="0" dirty="0">
                  <a:ln>
                    <a:noFill/>
                  </a:ln>
                  <a:solidFill>
                    <a:sysClr val="windowText" lastClr="000000"/>
                  </a:solidFill>
                  <a:effectLst/>
                  <a:uLnTx/>
                  <a:uFillTx/>
                  <a:latin typeface="Arial" charset="0"/>
                  <a:ea typeface="ＭＳ Ｐゴシック" charset="0"/>
                  <a:cs typeface="Arial" charset="0"/>
                </a:rPr>
                <a:t>	   + 2 x number of Fs =	(2)(100) + (2)(300) =	800</a:t>
              </a:r>
            </a:p>
          </p:txBody>
        </p:sp>
      </p:grpSp>
      <p:sp>
        <p:nvSpPr>
          <p:cNvPr id="155" name="TextBox 154">
            <a:extLst>
              <a:ext uri="{FF2B5EF4-FFF2-40B4-BE49-F238E27FC236}">
                <a16:creationId xmlns:a16="http://schemas.microsoft.com/office/drawing/2014/main" id="{1DAB143D-CE56-2D17-9D98-C8C81F2A7DBD}"/>
              </a:ext>
            </a:extLst>
          </p:cNvPr>
          <p:cNvSpPr txBox="1">
            <a:spLocks noChangeArrowheads="1"/>
          </p:cNvSpPr>
          <p:nvPr/>
        </p:nvSpPr>
        <p:spPr bwMode="auto">
          <a:xfrm>
            <a:off x="1889843" y="1970824"/>
            <a:ext cx="6640513" cy="793750"/>
          </a:xfrm>
          <a:prstGeom prst="rect">
            <a:avLst/>
          </a:prstGeom>
          <a:solidFill>
            <a:srgbClr val="D33320"/>
          </a:solidFill>
          <a:ln w="9525">
            <a:solidFill>
              <a:srgbClr val="000000"/>
            </a:solidFill>
            <a:miter lim="800000"/>
            <a:headEnd/>
            <a:tailEnd/>
          </a:ln>
        </p:spPr>
        <p:txBody>
          <a:bodyPr wrap="square" lIns="324000" tIns="187200" rIns="324000" bIns="234000">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marL="0" marR="0" lvl="0" indent="0" defTabSz="45720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charset="0"/>
                <a:ea typeface="ＭＳ Ｐゴシック" charset="0"/>
                <a:cs typeface="Arial" charset="0"/>
              </a:rPr>
              <a:t>For an order of 50 Awesome speaker kits</a:t>
            </a:r>
          </a:p>
        </p:txBody>
      </p:sp>
    </p:spTree>
    <p:extLst>
      <p:ext uri="{BB962C8B-B14F-4D97-AF65-F5344CB8AC3E}">
        <p14:creationId xmlns:p14="http://schemas.microsoft.com/office/powerpoint/2010/main" val="3006645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p:cTn id="7" dur="1000" fill="hold"/>
                                        <p:tgtEl>
                                          <p:spTgt spid="43"/>
                                        </p:tgtEl>
                                        <p:attrNameLst>
                                          <p:attrName>ppt_w</p:attrName>
                                        </p:attrNameLst>
                                      </p:cBhvr>
                                      <p:tavLst>
                                        <p:tav tm="0">
                                          <p:val>
                                            <p:strVal val="2/3*#ppt_w"/>
                                          </p:val>
                                        </p:tav>
                                        <p:tav tm="100000">
                                          <p:val>
                                            <p:strVal val="#ppt_w"/>
                                          </p:val>
                                        </p:tav>
                                      </p:tavLst>
                                    </p:anim>
                                    <p:anim calcmode="lin" valueType="num">
                                      <p:cBhvr>
                                        <p:cTn id="8" dur="1000" fill="hold"/>
                                        <p:tgtEl>
                                          <p:spTgt spid="43"/>
                                        </p:tgtEl>
                                        <p:attrNameLst>
                                          <p:attrName>ppt_h</p:attrName>
                                        </p:attrNameLst>
                                      </p:cBhvr>
                                      <p:tavLst>
                                        <p:tav tm="0">
                                          <p:val>
                                            <p:strVal val="2/3*#ppt_h"/>
                                          </p:val>
                                        </p:tav>
                                        <p:tav tm="100000">
                                          <p:val>
                                            <p:strVal val="#ppt_h"/>
                                          </p:val>
                                        </p:tav>
                                      </p:tavLst>
                                    </p:anim>
                                  </p:childTnLst>
                                </p:cTn>
                              </p:par>
                            </p:childTnLst>
                          </p:cTn>
                        </p:par>
                        <p:par>
                          <p:cTn id="9" fill="hold">
                            <p:stCondLst>
                              <p:cond delay="1000"/>
                            </p:stCondLst>
                            <p:childTnLst>
                              <p:par>
                                <p:cTn id="10" presetID="22" presetClass="entr" presetSubtype="1" fill="hold" nodeType="afterEffect">
                                  <p:stCondLst>
                                    <p:cond delay="1000"/>
                                  </p:stCondLst>
                                  <p:childTnLst>
                                    <p:set>
                                      <p:cBhvr>
                                        <p:cTn id="11" dur="1" fill="hold">
                                          <p:stCondLst>
                                            <p:cond delay="0"/>
                                          </p:stCondLst>
                                        </p:cTn>
                                        <p:tgtEl>
                                          <p:spTgt spid="38"/>
                                        </p:tgtEl>
                                        <p:attrNameLst>
                                          <p:attrName>style.visibility</p:attrName>
                                        </p:attrNameLst>
                                      </p:cBhvr>
                                      <p:to>
                                        <p:strVal val="visible"/>
                                      </p:to>
                                    </p:set>
                                    <p:animEffect transition="in" filter="wipe(up)">
                                      <p:cBhvr>
                                        <p:cTn id="12" dur="10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10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up)">
                                      <p:cBhvr>
                                        <p:cTn id="22" dur="10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up)">
                                      <p:cBhvr>
                                        <p:cTn id="27" dur="10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5"/>
                                        </p:tgtEl>
                                        <p:attrNameLst>
                                          <p:attrName>style.visibility</p:attrName>
                                        </p:attrNameLst>
                                      </p:cBhvr>
                                      <p:to>
                                        <p:strVal val="visible"/>
                                      </p:to>
                                    </p:set>
                                    <p:animEffect transition="in" filter="wipe(left)">
                                      <p:cBhvr>
                                        <p:cTn id="32" dur="1000"/>
                                        <p:tgtEl>
                                          <p:spTgt spid="155"/>
                                        </p:tgtEl>
                                      </p:cBhvr>
                                    </p:animEffect>
                                  </p:childTnLst>
                                </p:cTn>
                              </p:par>
                            </p:childTnLst>
                          </p:cTn>
                        </p:par>
                        <p:par>
                          <p:cTn id="33" fill="hold">
                            <p:stCondLst>
                              <p:cond delay="1000"/>
                            </p:stCondLst>
                            <p:childTnLst>
                              <p:par>
                                <p:cTn id="34" presetID="18" presetClass="entr" presetSubtype="6" fill="hold" nodeType="afterEffect">
                                  <p:stCondLst>
                                    <p:cond delay="1000"/>
                                  </p:stCondLst>
                                  <p:childTnLst>
                                    <p:set>
                                      <p:cBhvr>
                                        <p:cTn id="35" dur="1" fill="hold">
                                          <p:stCondLst>
                                            <p:cond delay="0"/>
                                          </p:stCondLst>
                                        </p:cTn>
                                        <p:tgtEl>
                                          <p:spTgt spid="152"/>
                                        </p:tgtEl>
                                        <p:attrNameLst>
                                          <p:attrName>style.visibility</p:attrName>
                                        </p:attrNameLst>
                                      </p:cBhvr>
                                      <p:to>
                                        <p:strVal val="visible"/>
                                      </p:to>
                                    </p:set>
                                    <p:animEffect transition="in" filter="strips(downRight)">
                                      <p:cBhvr>
                                        <p:cTn id="36" dur="10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69182-7B01-19EA-A366-F121B4CC4DCE}"/>
              </a:ext>
            </a:extLst>
          </p:cNvPr>
          <p:cNvSpPr>
            <a:spLocks noGrp="1"/>
          </p:cNvSpPr>
          <p:nvPr>
            <p:ph type="title"/>
          </p:nvPr>
        </p:nvSpPr>
        <p:spPr/>
        <p:txBody>
          <a:bodyPr/>
          <a:lstStyle/>
          <a:p>
            <a:r>
              <a:rPr lang="en-IN" dirty="0"/>
              <a:t>Time-phased bills</a:t>
            </a:r>
          </a:p>
        </p:txBody>
      </p:sp>
      <p:sp>
        <p:nvSpPr>
          <p:cNvPr id="4" name="Date Placeholder 3">
            <a:extLst>
              <a:ext uri="{FF2B5EF4-FFF2-40B4-BE49-F238E27FC236}">
                <a16:creationId xmlns:a16="http://schemas.microsoft.com/office/drawing/2014/main" id="{B6F83084-394B-A235-BD64-A6437BD32D92}"/>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F5B8C733-649C-10BC-B934-5519277725CB}"/>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655B181A-5FBF-1D5D-DDAA-52990C8CC0EC}"/>
              </a:ext>
            </a:extLst>
          </p:cNvPr>
          <p:cNvSpPr>
            <a:spLocks noGrp="1"/>
          </p:cNvSpPr>
          <p:nvPr>
            <p:ph type="sldNum" idx="12"/>
          </p:nvPr>
        </p:nvSpPr>
        <p:spPr/>
        <p:txBody>
          <a:bodyPr/>
          <a:lstStyle/>
          <a:p>
            <a:fld id="{00000000-1234-1234-1234-123412341234}" type="slidenum">
              <a:rPr lang="en-US" smtClean="0"/>
              <a:pPr/>
              <a:t>20</a:t>
            </a:fld>
            <a:endParaRPr lang="en-US" dirty="0"/>
          </a:p>
        </p:txBody>
      </p:sp>
      <p:sp>
        <p:nvSpPr>
          <p:cNvPr id="10" name="Content Placeholder 1">
            <a:extLst>
              <a:ext uri="{FF2B5EF4-FFF2-40B4-BE49-F238E27FC236}">
                <a16:creationId xmlns:a16="http://schemas.microsoft.com/office/drawing/2014/main" id="{E2F1B7C5-8768-8C82-47A6-0A09D3086A21}"/>
              </a:ext>
            </a:extLst>
          </p:cNvPr>
          <p:cNvSpPr txBox="1">
            <a:spLocks/>
          </p:cNvSpPr>
          <p:nvPr/>
        </p:nvSpPr>
        <p:spPr>
          <a:xfrm>
            <a:off x="152400" y="939956"/>
            <a:ext cx="12039600" cy="4525963"/>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a:pPr>
            <a:r>
              <a:rPr kumimoji="0" lang="en-IN"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 </a:t>
            </a:r>
            <a:r>
              <a:rPr kumimoji="0" lang="en-IN"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time-phased bill of material</a:t>
            </a:r>
            <a:r>
              <a:rPr kumimoji="0" lang="en-IN"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also known as a </a:t>
            </a:r>
            <a:r>
              <a:rPr kumimoji="0" lang="en-IN" b="0" i="1"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time-phased assembly chart</a:t>
            </a:r>
            <a:r>
              <a:rPr kumimoji="0" lang="en-IN"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is basically a horizontal product structure diagram that graphically shows the </a:t>
            </a:r>
            <a:r>
              <a:rPr kumimoji="0" lang="en-IN" b="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lead time </a:t>
            </a:r>
            <a:r>
              <a:rPr kumimoji="0" lang="en-IN"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required to purchase or manufacture an item.</a:t>
            </a:r>
          </a:p>
        </p:txBody>
      </p:sp>
      <p:pic>
        <p:nvPicPr>
          <p:cNvPr id="11" name="Picture 2">
            <a:extLst>
              <a:ext uri="{FF2B5EF4-FFF2-40B4-BE49-F238E27FC236}">
                <a16:creationId xmlns:a16="http://schemas.microsoft.com/office/drawing/2014/main" id="{90DF2A01-D0DC-6B97-4FEE-BE6F68FA141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88" b="3088"/>
          <a:stretch/>
        </p:blipFill>
        <p:spPr bwMode="auto">
          <a:xfrm>
            <a:off x="3066809" y="1723100"/>
            <a:ext cx="7217996" cy="441188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tangle 11">
            <a:extLst>
              <a:ext uri="{FF2B5EF4-FFF2-40B4-BE49-F238E27FC236}">
                <a16:creationId xmlns:a16="http://schemas.microsoft.com/office/drawing/2014/main" id="{B8FE9392-34A7-209D-9CC2-D473662ADA63}"/>
              </a:ext>
            </a:extLst>
          </p:cNvPr>
          <p:cNvSpPr/>
          <p:nvPr/>
        </p:nvSpPr>
        <p:spPr>
          <a:xfrm>
            <a:off x="76200" y="2147768"/>
            <a:ext cx="3143250" cy="1323439"/>
          </a:xfrm>
          <a:prstGeom prst="rect">
            <a:avLst/>
          </a:prstGeom>
        </p:spPr>
        <p:txBody>
          <a:bodyPr wrap="square">
            <a:spAutoFit/>
          </a:bodyPr>
          <a:lstStyle/>
          <a:p>
            <a:pPr>
              <a:buClrTx/>
              <a:buFontTx/>
              <a:buNone/>
            </a:pPr>
            <a:r>
              <a:rPr lang="en-IN" sz="2000" kern="1200" dirty="0">
                <a:solidFill>
                  <a:prstClr val="black"/>
                </a:solidFill>
                <a:latin typeface="Times New Roman" panose="02020603050405020304" pitchFamily="18" charset="0"/>
                <a:ea typeface="+mn-ea"/>
                <a:cs typeface="Times New Roman" panose="02020603050405020304" pitchFamily="18" charset="0"/>
              </a:rPr>
              <a:t>An MRP system can </a:t>
            </a:r>
            <a:r>
              <a:rPr lang="en-IN" sz="2000" b="1" kern="1200" dirty="0">
                <a:solidFill>
                  <a:prstClr val="black"/>
                </a:solidFill>
                <a:latin typeface="Times New Roman" panose="02020603050405020304" pitchFamily="18" charset="0"/>
                <a:ea typeface="+mn-ea"/>
                <a:cs typeface="Times New Roman" panose="02020603050405020304" pitchFamily="18" charset="0"/>
              </a:rPr>
              <a:t>forward schedule </a:t>
            </a:r>
            <a:r>
              <a:rPr lang="en-IN" sz="2000" kern="1200" dirty="0">
                <a:solidFill>
                  <a:prstClr val="black"/>
                </a:solidFill>
                <a:latin typeface="Times New Roman" panose="02020603050405020304" pitchFamily="18" charset="0"/>
                <a:ea typeface="+mn-ea"/>
                <a:cs typeface="Times New Roman" panose="02020603050405020304" pitchFamily="18" charset="0"/>
              </a:rPr>
              <a:t>or </a:t>
            </a:r>
            <a:r>
              <a:rPr lang="en-IN" sz="2000" b="1" kern="1200" dirty="0">
                <a:solidFill>
                  <a:prstClr val="black"/>
                </a:solidFill>
                <a:latin typeface="Times New Roman" panose="02020603050405020304" pitchFamily="18" charset="0"/>
                <a:ea typeface="+mn-ea"/>
                <a:cs typeface="Times New Roman" panose="02020603050405020304" pitchFamily="18" charset="0"/>
              </a:rPr>
              <a:t>backward schedule </a:t>
            </a:r>
            <a:r>
              <a:rPr lang="en-IN" sz="2000" kern="1200" dirty="0">
                <a:solidFill>
                  <a:prstClr val="black"/>
                </a:solidFill>
                <a:latin typeface="Times New Roman" panose="02020603050405020304" pitchFamily="18" charset="0"/>
                <a:ea typeface="+mn-ea"/>
                <a:cs typeface="Times New Roman" panose="02020603050405020304" pitchFamily="18" charset="0"/>
              </a:rPr>
              <a:t>production.</a:t>
            </a:r>
          </a:p>
        </p:txBody>
      </p:sp>
    </p:spTree>
    <p:extLst>
      <p:ext uri="{BB962C8B-B14F-4D97-AF65-F5344CB8AC3E}">
        <p14:creationId xmlns:p14="http://schemas.microsoft.com/office/powerpoint/2010/main" val="2192156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9D254-9D1F-7A3E-9417-3D226A907F5D}"/>
              </a:ext>
            </a:extLst>
          </p:cNvPr>
          <p:cNvSpPr>
            <a:spLocks noGrp="1"/>
          </p:cNvSpPr>
          <p:nvPr>
            <p:ph type="title"/>
          </p:nvPr>
        </p:nvSpPr>
        <p:spPr/>
        <p:txBody>
          <a:bodyPr/>
          <a:lstStyle/>
          <a:p>
            <a:r>
              <a:rPr lang="en-IN" dirty="0"/>
              <a:t>Time-phased bills </a:t>
            </a:r>
            <a:r>
              <a:rPr lang="en-IN" dirty="0">
                <a:solidFill>
                  <a:srgbClr val="FF0000"/>
                </a:solidFill>
              </a:rPr>
              <a:t>Example</a:t>
            </a:r>
          </a:p>
        </p:txBody>
      </p:sp>
      <p:sp>
        <p:nvSpPr>
          <p:cNvPr id="4" name="Date Placeholder 3">
            <a:extLst>
              <a:ext uri="{FF2B5EF4-FFF2-40B4-BE49-F238E27FC236}">
                <a16:creationId xmlns:a16="http://schemas.microsoft.com/office/drawing/2014/main" id="{4F3C5DA7-714F-0D25-4952-5337DB3B251D}"/>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8A265D67-62DE-F6C3-AF7A-E287BAF299AC}"/>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D11F3153-E717-AE56-8604-D759B9E12A19}"/>
              </a:ext>
            </a:extLst>
          </p:cNvPr>
          <p:cNvSpPr>
            <a:spLocks noGrp="1"/>
          </p:cNvSpPr>
          <p:nvPr>
            <p:ph type="sldNum" idx="12"/>
          </p:nvPr>
        </p:nvSpPr>
        <p:spPr/>
        <p:txBody>
          <a:bodyPr/>
          <a:lstStyle/>
          <a:p>
            <a:fld id="{00000000-1234-1234-1234-123412341234}" type="slidenum">
              <a:rPr lang="en-US" smtClean="0"/>
              <a:pPr/>
              <a:t>21</a:t>
            </a:fld>
            <a:endParaRPr lang="en-US" dirty="0"/>
          </a:p>
        </p:txBody>
      </p:sp>
      <p:pic>
        <p:nvPicPr>
          <p:cNvPr id="3" name="Picture 2" descr="A chart showing the simultaneous versus sequential steps necessary to meet scheduled availability of the end item.">
            <a:extLst>
              <a:ext uri="{FF2B5EF4-FFF2-40B4-BE49-F238E27FC236}">
                <a16:creationId xmlns:a16="http://schemas.microsoft.com/office/drawing/2014/main" id="{A5A171F3-5473-49C8-39A4-B8A3037F20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4147" y="1055032"/>
            <a:ext cx="6797806" cy="5078956"/>
          </a:xfrm>
          <a:prstGeom prst="rect">
            <a:avLst/>
          </a:prstGeom>
        </p:spPr>
      </p:pic>
    </p:spTree>
    <p:extLst>
      <p:ext uri="{BB962C8B-B14F-4D97-AF65-F5344CB8AC3E}">
        <p14:creationId xmlns:p14="http://schemas.microsoft.com/office/powerpoint/2010/main" val="30474322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E0A88-8973-5534-0ECD-34BE8D6195CF}"/>
              </a:ext>
            </a:extLst>
          </p:cNvPr>
          <p:cNvSpPr>
            <a:spLocks noGrp="1"/>
          </p:cNvSpPr>
          <p:nvPr>
            <p:ph type="title"/>
          </p:nvPr>
        </p:nvSpPr>
        <p:spPr/>
        <p:txBody>
          <a:bodyPr/>
          <a:lstStyle/>
          <a:p>
            <a:r>
              <a:rPr lang="en-IN" dirty="0"/>
              <a:t>Item Master File</a:t>
            </a:r>
          </a:p>
        </p:txBody>
      </p:sp>
      <p:sp>
        <p:nvSpPr>
          <p:cNvPr id="4" name="Date Placeholder 3">
            <a:extLst>
              <a:ext uri="{FF2B5EF4-FFF2-40B4-BE49-F238E27FC236}">
                <a16:creationId xmlns:a16="http://schemas.microsoft.com/office/drawing/2014/main" id="{EB3F2A07-DB69-DF66-D370-7A85144568D2}"/>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B68AD345-EE4C-E089-BD67-CB7CB08B91DB}"/>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7DF02B3F-3EDF-5F00-4A12-0608E513D6D9}"/>
              </a:ext>
            </a:extLst>
          </p:cNvPr>
          <p:cNvSpPr>
            <a:spLocks noGrp="1"/>
          </p:cNvSpPr>
          <p:nvPr>
            <p:ph type="sldNum" idx="12"/>
          </p:nvPr>
        </p:nvSpPr>
        <p:spPr/>
        <p:txBody>
          <a:bodyPr/>
          <a:lstStyle/>
          <a:p>
            <a:fld id="{00000000-1234-1234-1234-123412341234}" type="slidenum">
              <a:rPr lang="en-US" smtClean="0"/>
              <a:pPr/>
              <a:t>22</a:t>
            </a:fld>
            <a:endParaRPr lang="en-US" dirty="0"/>
          </a:p>
        </p:txBody>
      </p:sp>
      <p:sp>
        <p:nvSpPr>
          <p:cNvPr id="9" name="Content Placeholder 1">
            <a:extLst>
              <a:ext uri="{FF2B5EF4-FFF2-40B4-BE49-F238E27FC236}">
                <a16:creationId xmlns:a16="http://schemas.microsoft.com/office/drawing/2014/main" id="{3FEFAE35-0810-917D-C1D6-FF08D99AA4C5}"/>
              </a:ext>
            </a:extLst>
          </p:cNvPr>
          <p:cNvSpPr txBox="1">
            <a:spLocks/>
          </p:cNvSpPr>
          <p:nvPr/>
        </p:nvSpPr>
        <p:spPr>
          <a:xfrm>
            <a:off x="520995" y="912626"/>
            <a:ext cx="11493796" cy="5257800"/>
          </a:xfrm>
          <a:prstGeom prst="rect">
            <a:avLst/>
          </a:prstGeom>
        </p:spPr>
        <p:txBody>
          <a:bodyPr vert="horz" lIns="91440" tIns="45720" rIns="91440" bIns="45720" rtlCol="0">
            <a:normAutofit fontScale="92500" lnSpcReduction="10000"/>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tabLst/>
              <a:defRPr/>
            </a:pPr>
            <a:r>
              <a:rPr kumimoji="0" lang="en-IN"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a:t>
            </a:r>
            <a:r>
              <a:rPr kumimoji="0" lang="en-IN" sz="28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item master file</a:t>
            </a:r>
            <a:r>
              <a:rPr kumimoji="0" lang="en-IN"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or inventory file, contains an extensive amount of information on every item that is produced, ordered, or inventoried in the system. </a:t>
            </a:r>
          </a:p>
          <a:p>
            <a:pPr lvl="0" algn="just">
              <a:buFont typeface="Arial" panose="020B0604020202020204" pitchFamily="34" charset="0"/>
              <a:buChar char="•"/>
              <a:defRPr/>
            </a:pPr>
            <a:r>
              <a:rPr kumimoji="0" lang="en-IN"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It includes </a:t>
            </a:r>
            <a:r>
              <a:rPr lang="en-IN" sz="2800" dirty="0">
                <a:solidFill>
                  <a:sysClr val="windowText" lastClr="000000"/>
                </a:solidFill>
                <a:latin typeface="Times New Roman" panose="02020603050405020304" pitchFamily="18" charset="0"/>
                <a:cs typeface="Times New Roman" panose="02020603050405020304" pitchFamily="18" charset="0"/>
              </a:rPr>
              <a:t>data such </a:t>
            </a:r>
            <a:r>
              <a:rPr kumimoji="0" lang="en-IN"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as on-hand quantities, on-order quantities, lot sizes, safety stock, lead time, and past usage figures.</a:t>
            </a:r>
          </a:p>
          <a:p>
            <a:pPr marL="342900" marR="0" lvl="0" indent="-342900" algn="just"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tabLst/>
              <a:defRPr/>
            </a:pPr>
            <a:r>
              <a:rPr kumimoji="0" lang="en-IN"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It provides a detailed description of the item, specifies the inventory policy, updates the physical inventory count, summarizes the item’s year-to-date or month-to-date usage, and provides internal codes to link this file with other related information in the MRP database.</a:t>
            </a:r>
          </a:p>
          <a:p>
            <a:pPr marL="342900" marR="0" lvl="0" indent="-342900" algn="just"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tabLst/>
              <a:defRPr/>
            </a:pPr>
            <a:r>
              <a:rPr kumimoji="0" lang="en-IN"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This involves—</a:t>
            </a:r>
          </a:p>
          <a:p>
            <a:pPr marL="457200" marR="0" lvl="0" indent="-457200" algn="just" defTabSz="914400" rtl="0" eaLnBrk="1" fontAlgn="auto" latinLnBrk="0" hangingPunct="1">
              <a:lnSpc>
                <a:spcPct val="100000"/>
              </a:lnSpc>
              <a:spcBef>
                <a:spcPct val="20000"/>
              </a:spcBef>
              <a:spcAft>
                <a:spcPts val="0"/>
              </a:spcAft>
              <a:buClr>
                <a:srgbClr val="101141"/>
              </a:buClr>
              <a:buSzTx/>
              <a:buFont typeface="Arial" pitchFamily="34" charset="0"/>
              <a:buAutoNum type="arabicParenBoth"/>
              <a:tabLst/>
              <a:defRPr/>
            </a:pPr>
            <a:r>
              <a:rPr kumimoji="0" lang="en-IN" sz="2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maintaining orderly stockrooms; </a:t>
            </a:r>
          </a:p>
          <a:p>
            <a:pPr marL="457200" marR="0" lvl="0" indent="-457200" algn="just" defTabSz="914400" rtl="0" eaLnBrk="1" fontAlgn="auto" latinLnBrk="0" hangingPunct="1">
              <a:lnSpc>
                <a:spcPct val="100000"/>
              </a:lnSpc>
              <a:spcBef>
                <a:spcPct val="20000"/>
              </a:spcBef>
              <a:spcAft>
                <a:spcPts val="0"/>
              </a:spcAft>
              <a:buClr>
                <a:srgbClr val="101141"/>
              </a:buClr>
              <a:buSzTx/>
              <a:buFont typeface="Arial" pitchFamily="34" charset="0"/>
              <a:buAutoNum type="arabicParenBoth"/>
              <a:tabLst/>
              <a:defRPr/>
            </a:pPr>
            <a:r>
              <a:rPr kumimoji="0" lang="en-IN" sz="2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establishing and enforcing procedures for inventory withdrawal; </a:t>
            </a:r>
          </a:p>
          <a:p>
            <a:pPr marL="457200" marR="0" lvl="0" indent="-457200" algn="just" defTabSz="914400" rtl="0" eaLnBrk="1" fontAlgn="auto" latinLnBrk="0" hangingPunct="1">
              <a:lnSpc>
                <a:spcPct val="100000"/>
              </a:lnSpc>
              <a:spcBef>
                <a:spcPct val="20000"/>
              </a:spcBef>
              <a:spcAft>
                <a:spcPts val="0"/>
              </a:spcAft>
              <a:buClr>
                <a:srgbClr val="101141"/>
              </a:buClr>
              <a:buSzTx/>
              <a:buFont typeface="Arial" pitchFamily="34" charset="0"/>
              <a:buAutoNum type="arabicParenBoth"/>
              <a:tabLst/>
              <a:defRPr/>
            </a:pPr>
            <a:r>
              <a:rPr kumimoji="0" lang="en-IN" sz="2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ensuring prompt and accurate entry of inventory transactions; </a:t>
            </a:r>
          </a:p>
          <a:p>
            <a:pPr marL="457200" marR="0" lvl="0" indent="-457200" algn="just" defTabSz="914400" rtl="0" eaLnBrk="1" fontAlgn="auto" latinLnBrk="0" hangingPunct="1">
              <a:lnSpc>
                <a:spcPct val="100000"/>
              </a:lnSpc>
              <a:spcBef>
                <a:spcPct val="20000"/>
              </a:spcBef>
              <a:spcAft>
                <a:spcPts val="0"/>
              </a:spcAft>
              <a:buClr>
                <a:srgbClr val="101141"/>
              </a:buClr>
              <a:buSzTx/>
              <a:buFont typeface="Arial" pitchFamily="34" charset="0"/>
              <a:buAutoNum type="arabicParenBoth"/>
              <a:tabLst/>
              <a:defRPr/>
            </a:pPr>
            <a:r>
              <a:rPr kumimoji="0" lang="en-IN" sz="2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Taking physical inventory count on a regular basis; and </a:t>
            </a:r>
          </a:p>
          <a:p>
            <a:pPr marL="457200" marR="0" lvl="0" indent="-457200" algn="just" defTabSz="914400" rtl="0" eaLnBrk="1" fontAlgn="auto" latinLnBrk="0" hangingPunct="1">
              <a:lnSpc>
                <a:spcPct val="100000"/>
              </a:lnSpc>
              <a:spcBef>
                <a:spcPct val="20000"/>
              </a:spcBef>
              <a:spcAft>
                <a:spcPts val="0"/>
              </a:spcAft>
              <a:buClr>
                <a:srgbClr val="101141"/>
              </a:buClr>
              <a:buSzTx/>
              <a:buFont typeface="Arial" pitchFamily="34" charset="0"/>
              <a:buAutoNum type="arabicParenBoth"/>
              <a:tabLst/>
              <a:defRPr/>
            </a:pPr>
            <a:r>
              <a:rPr kumimoji="0" lang="en-IN" sz="2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reconciling inventory discrepancies in a timely manner.</a:t>
            </a:r>
          </a:p>
        </p:txBody>
      </p:sp>
    </p:spTree>
    <p:extLst>
      <p:ext uri="{BB962C8B-B14F-4D97-AF65-F5344CB8AC3E}">
        <p14:creationId xmlns:p14="http://schemas.microsoft.com/office/powerpoint/2010/main" val="1655438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xEl>
                                              <p:pRg st="5" end="5"/>
                                            </p:txEl>
                                          </p:spTgt>
                                        </p:tgtEl>
                                        <p:attrNameLst>
                                          <p:attrName>style.visibility</p:attrName>
                                        </p:attrNameLst>
                                      </p:cBhvr>
                                      <p:to>
                                        <p:strVal val="visible"/>
                                      </p:to>
                                    </p:set>
                                    <p:animEffect transition="in" filter="fade">
                                      <p:cBhvr>
                                        <p:cTn id="32" dur="500"/>
                                        <p:tgtEl>
                                          <p:spTgt spid="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animEffect transition="in" filter="fade">
                                      <p:cBhvr>
                                        <p:cTn id="37" dur="500"/>
                                        <p:tgtEl>
                                          <p:spTgt spid="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xEl>
                                              <p:pRg st="7" end="7"/>
                                            </p:txEl>
                                          </p:spTgt>
                                        </p:tgtEl>
                                        <p:attrNameLst>
                                          <p:attrName>style.visibility</p:attrName>
                                        </p:attrNameLst>
                                      </p:cBhvr>
                                      <p:to>
                                        <p:strVal val="visible"/>
                                      </p:to>
                                    </p:set>
                                    <p:animEffect transition="in" filter="fade">
                                      <p:cBhvr>
                                        <p:cTn id="42" dur="500"/>
                                        <p:tgtEl>
                                          <p:spTgt spid="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9">
                                            <p:txEl>
                                              <p:pRg st="8" end="8"/>
                                            </p:txEl>
                                          </p:spTgt>
                                        </p:tgtEl>
                                        <p:attrNameLst>
                                          <p:attrName>style.visibility</p:attrName>
                                        </p:attrNameLst>
                                      </p:cBhvr>
                                      <p:to>
                                        <p:strVal val="visible"/>
                                      </p:to>
                                    </p:set>
                                    <p:animEffect transition="in" filter="fade">
                                      <p:cBhvr>
                                        <p:cTn id="47" dur="5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E0A88-8973-5534-0ECD-34BE8D6195CF}"/>
              </a:ext>
            </a:extLst>
          </p:cNvPr>
          <p:cNvSpPr>
            <a:spLocks noGrp="1"/>
          </p:cNvSpPr>
          <p:nvPr>
            <p:ph type="title"/>
          </p:nvPr>
        </p:nvSpPr>
        <p:spPr/>
        <p:txBody>
          <a:bodyPr/>
          <a:lstStyle/>
          <a:p>
            <a:r>
              <a:rPr lang="en-IN" dirty="0"/>
              <a:t>Item Master File</a:t>
            </a:r>
          </a:p>
        </p:txBody>
      </p:sp>
      <p:sp>
        <p:nvSpPr>
          <p:cNvPr id="4" name="Date Placeholder 3">
            <a:extLst>
              <a:ext uri="{FF2B5EF4-FFF2-40B4-BE49-F238E27FC236}">
                <a16:creationId xmlns:a16="http://schemas.microsoft.com/office/drawing/2014/main" id="{EB3F2A07-DB69-DF66-D370-7A85144568D2}"/>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B68AD345-EE4C-E089-BD67-CB7CB08B91DB}"/>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7DF02B3F-3EDF-5F00-4A12-0608E513D6D9}"/>
              </a:ext>
            </a:extLst>
          </p:cNvPr>
          <p:cNvSpPr>
            <a:spLocks noGrp="1"/>
          </p:cNvSpPr>
          <p:nvPr>
            <p:ph type="sldNum" idx="12"/>
          </p:nvPr>
        </p:nvSpPr>
        <p:spPr/>
        <p:txBody>
          <a:bodyPr/>
          <a:lstStyle/>
          <a:p>
            <a:fld id="{00000000-1234-1234-1234-123412341234}" type="slidenum">
              <a:rPr lang="en-US" smtClean="0"/>
              <a:pPr/>
              <a:t>23</a:t>
            </a:fld>
            <a:endParaRPr lang="en-US" dirty="0"/>
          </a:p>
        </p:txBody>
      </p:sp>
      <p:pic>
        <p:nvPicPr>
          <p:cNvPr id="10" name="Picture 2">
            <a:extLst>
              <a:ext uri="{FF2B5EF4-FFF2-40B4-BE49-F238E27FC236}">
                <a16:creationId xmlns:a16="http://schemas.microsoft.com/office/drawing/2014/main" id="{BE3414D2-D75B-A984-BEC4-161E3A93C9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6539" y="988826"/>
            <a:ext cx="8915400" cy="511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2227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AE2A-C3FF-0BDD-D58E-82FC500D5BA8}"/>
              </a:ext>
            </a:extLst>
          </p:cNvPr>
          <p:cNvSpPr>
            <a:spLocks noGrp="1"/>
          </p:cNvSpPr>
          <p:nvPr>
            <p:ph type="title"/>
          </p:nvPr>
        </p:nvSpPr>
        <p:spPr/>
        <p:txBody>
          <a:bodyPr/>
          <a:lstStyle/>
          <a:p>
            <a:r>
              <a:rPr lang="en-IN" dirty="0"/>
              <a:t>Quick Review</a:t>
            </a:r>
          </a:p>
        </p:txBody>
      </p:sp>
      <p:sp>
        <p:nvSpPr>
          <p:cNvPr id="3" name="Text Placeholder 2">
            <a:extLst>
              <a:ext uri="{FF2B5EF4-FFF2-40B4-BE49-F238E27FC236}">
                <a16:creationId xmlns:a16="http://schemas.microsoft.com/office/drawing/2014/main" id="{0F082CDF-9A62-D740-201F-41040E7C6C69}"/>
              </a:ext>
            </a:extLst>
          </p:cNvPr>
          <p:cNvSpPr>
            <a:spLocks noGrp="1"/>
          </p:cNvSpPr>
          <p:nvPr>
            <p:ph type="body" idx="1"/>
          </p:nvPr>
        </p:nvSpPr>
        <p:spPr>
          <a:xfrm>
            <a:off x="2929890" y="1725026"/>
            <a:ext cx="3433034" cy="685801"/>
          </a:xfrm>
          <a:ln>
            <a:solidFill>
              <a:schemeClr val="tx1"/>
            </a:solidFill>
          </a:ln>
        </p:spPr>
        <p:txBody>
          <a:bodyPr>
            <a:normAutofit lnSpcReduction="10000"/>
          </a:bodyPr>
          <a:lstStyle/>
          <a:p>
            <a:pPr marL="114300" indent="0" algn="ctr">
              <a:buNone/>
            </a:pPr>
            <a:r>
              <a:rPr lang="en-IN" sz="3600" b="1" dirty="0">
                <a:solidFill>
                  <a:srgbClr val="FF0000"/>
                </a:solidFill>
              </a:rPr>
              <a:t>MCQ</a:t>
            </a:r>
          </a:p>
        </p:txBody>
      </p:sp>
      <p:sp>
        <p:nvSpPr>
          <p:cNvPr id="4" name="Date Placeholder 3">
            <a:extLst>
              <a:ext uri="{FF2B5EF4-FFF2-40B4-BE49-F238E27FC236}">
                <a16:creationId xmlns:a16="http://schemas.microsoft.com/office/drawing/2014/main" id="{45B0FCAC-B3FB-F4D7-14FE-C9A22C5A71BB}"/>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234DF968-C6D0-DE34-A5DC-DE788794A554}"/>
              </a:ext>
            </a:extLst>
          </p:cNvPr>
          <p:cNvSpPr>
            <a:spLocks noGrp="1"/>
          </p:cNvSpPr>
          <p:nvPr>
            <p:ph type="ftr" idx="11"/>
          </p:nvPr>
        </p:nvSpPr>
        <p:spPr/>
        <p:txBody>
          <a:bodyPr/>
          <a:lstStyle/>
          <a:p>
            <a:r>
              <a:rPr lang="en-IN" dirty="0"/>
              <a:t>Resource Planning</a:t>
            </a:r>
          </a:p>
        </p:txBody>
      </p:sp>
      <p:sp>
        <p:nvSpPr>
          <p:cNvPr id="6" name="Slide Number Placeholder 5">
            <a:extLst>
              <a:ext uri="{FF2B5EF4-FFF2-40B4-BE49-F238E27FC236}">
                <a16:creationId xmlns:a16="http://schemas.microsoft.com/office/drawing/2014/main" id="{18BFC000-1886-70BE-55E3-3345CE7231F0}"/>
              </a:ext>
            </a:extLst>
          </p:cNvPr>
          <p:cNvSpPr>
            <a:spLocks noGrp="1"/>
          </p:cNvSpPr>
          <p:nvPr>
            <p:ph type="sldNum" idx="12"/>
          </p:nvPr>
        </p:nvSpPr>
        <p:spPr/>
        <p:txBody>
          <a:bodyPr/>
          <a:lstStyle/>
          <a:p>
            <a:fld id="{00000000-1234-1234-1234-123412341234}" type="slidenum">
              <a:rPr lang="en-US" smtClean="0"/>
              <a:pPr/>
              <a:t>24</a:t>
            </a:fld>
            <a:endParaRPr lang="en-US" dirty="0"/>
          </a:p>
        </p:txBody>
      </p:sp>
      <p:sp>
        <p:nvSpPr>
          <p:cNvPr id="7" name="Text Placeholder 2">
            <a:extLst>
              <a:ext uri="{FF2B5EF4-FFF2-40B4-BE49-F238E27FC236}">
                <a16:creationId xmlns:a16="http://schemas.microsoft.com/office/drawing/2014/main" id="{EB6EBBDD-8016-0BDE-2DD6-646C2D691877}"/>
              </a:ext>
            </a:extLst>
          </p:cNvPr>
          <p:cNvSpPr txBox="1">
            <a:spLocks/>
          </p:cNvSpPr>
          <p:nvPr/>
        </p:nvSpPr>
        <p:spPr>
          <a:xfrm>
            <a:off x="2137410" y="2583093"/>
            <a:ext cx="5452109" cy="571588"/>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ctr">
              <a:buFont typeface="Arial"/>
              <a:buNone/>
            </a:pPr>
            <a:r>
              <a:rPr lang="en-IN" sz="3200" b="1" dirty="0">
                <a:solidFill>
                  <a:srgbClr val="00B050"/>
                </a:solidFill>
              </a:rPr>
              <a:t>Correct Answer: B</a:t>
            </a:r>
          </a:p>
        </p:txBody>
      </p:sp>
      <p:sp>
        <p:nvSpPr>
          <p:cNvPr id="18" name="TextBox 17">
            <a:extLst>
              <a:ext uri="{FF2B5EF4-FFF2-40B4-BE49-F238E27FC236}">
                <a16:creationId xmlns:a16="http://schemas.microsoft.com/office/drawing/2014/main" id="{374EDA02-5EE2-1F34-BBC1-A35456D82EC8}"/>
              </a:ext>
            </a:extLst>
          </p:cNvPr>
          <p:cNvSpPr txBox="1"/>
          <p:nvPr/>
        </p:nvSpPr>
        <p:spPr>
          <a:xfrm>
            <a:off x="497439" y="3967844"/>
            <a:ext cx="11474821" cy="2308324"/>
          </a:xfrm>
          <a:prstGeom prst="rect">
            <a:avLst/>
          </a:prstGeom>
          <a:noFill/>
          <a:ln>
            <a:solidFill>
              <a:schemeClr val="tx1"/>
            </a:solidFill>
          </a:ln>
        </p:spPr>
        <p:txBody>
          <a:bodyPr wrap="square">
            <a:spAutoFit/>
          </a:bodyPr>
          <a:lstStyle/>
          <a:p>
            <a:r>
              <a:rPr lang="en-US" sz="2400" b="1" i="0" u="none" strike="noStrike" baseline="0" dirty="0">
                <a:solidFill>
                  <a:srgbClr val="000000"/>
                </a:solidFill>
                <a:latin typeface="Times New Roman" panose="02020603050405020304" pitchFamily="18" charset="0"/>
              </a:rPr>
              <a:t>Firms making many different final products use ________ to facilitate production scheduling.</a:t>
            </a:r>
          </a:p>
          <a:p>
            <a:r>
              <a:rPr lang="en-US" sz="2400" i="0" u="none" strike="noStrike" baseline="0" dirty="0">
                <a:solidFill>
                  <a:srgbClr val="000000"/>
                </a:solidFill>
                <a:latin typeface="Times New Roman" panose="02020603050405020304" pitchFamily="18" charset="0"/>
              </a:rPr>
              <a:t>A) planning bills</a:t>
            </a:r>
          </a:p>
          <a:p>
            <a:r>
              <a:rPr lang="en-US" sz="2400" i="0" u="none" strike="noStrike" baseline="0" dirty="0">
                <a:solidFill>
                  <a:srgbClr val="000000"/>
                </a:solidFill>
                <a:latin typeface="Times New Roman" panose="02020603050405020304" pitchFamily="18" charset="0"/>
              </a:rPr>
              <a:t>B) modular bills</a:t>
            </a:r>
          </a:p>
          <a:p>
            <a:r>
              <a:rPr lang="en-US" sz="2400" i="0" u="none" strike="noStrike" baseline="0" dirty="0">
                <a:solidFill>
                  <a:srgbClr val="000000"/>
                </a:solidFill>
                <a:latin typeface="Times New Roman" panose="02020603050405020304" pitchFamily="18" charset="0"/>
              </a:rPr>
              <a:t>C) phantom bills</a:t>
            </a:r>
          </a:p>
          <a:p>
            <a:r>
              <a:rPr lang="en-US" sz="2400" i="0" u="none" strike="noStrike" baseline="0" dirty="0">
                <a:solidFill>
                  <a:srgbClr val="000000"/>
                </a:solidFill>
                <a:latin typeface="Times New Roman" panose="02020603050405020304" pitchFamily="18" charset="0"/>
              </a:rPr>
              <a:t>D) overdue bills</a:t>
            </a:r>
          </a:p>
        </p:txBody>
      </p:sp>
    </p:spTree>
    <p:extLst>
      <p:ext uri="{BB962C8B-B14F-4D97-AF65-F5344CB8AC3E}">
        <p14:creationId xmlns:p14="http://schemas.microsoft.com/office/powerpoint/2010/main" val="2653670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AE2A-C3FF-0BDD-D58E-82FC500D5BA8}"/>
              </a:ext>
            </a:extLst>
          </p:cNvPr>
          <p:cNvSpPr>
            <a:spLocks noGrp="1"/>
          </p:cNvSpPr>
          <p:nvPr>
            <p:ph type="title"/>
          </p:nvPr>
        </p:nvSpPr>
        <p:spPr/>
        <p:txBody>
          <a:bodyPr/>
          <a:lstStyle/>
          <a:p>
            <a:r>
              <a:rPr lang="en-IN" dirty="0"/>
              <a:t>Quick Review</a:t>
            </a:r>
          </a:p>
        </p:txBody>
      </p:sp>
      <p:sp>
        <p:nvSpPr>
          <p:cNvPr id="3" name="Text Placeholder 2">
            <a:extLst>
              <a:ext uri="{FF2B5EF4-FFF2-40B4-BE49-F238E27FC236}">
                <a16:creationId xmlns:a16="http://schemas.microsoft.com/office/drawing/2014/main" id="{0F082CDF-9A62-D740-201F-41040E7C6C69}"/>
              </a:ext>
            </a:extLst>
          </p:cNvPr>
          <p:cNvSpPr>
            <a:spLocks noGrp="1"/>
          </p:cNvSpPr>
          <p:nvPr>
            <p:ph type="body" idx="1"/>
          </p:nvPr>
        </p:nvSpPr>
        <p:spPr>
          <a:xfrm>
            <a:off x="2929890" y="1725026"/>
            <a:ext cx="3433034" cy="685801"/>
          </a:xfrm>
          <a:ln>
            <a:solidFill>
              <a:schemeClr val="tx1"/>
            </a:solidFill>
          </a:ln>
        </p:spPr>
        <p:txBody>
          <a:bodyPr>
            <a:normAutofit lnSpcReduction="10000"/>
          </a:bodyPr>
          <a:lstStyle/>
          <a:p>
            <a:pPr marL="114300" indent="0" algn="ctr">
              <a:buNone/>
            </a:pPr>
            <a:r>
              <a:rPr lang="en-IN" sz="3600" b="1" dirty="0">
                <a:solidFill>
                  <a:srgbClr val="FF0000"/>
                </a:solidFill>
              </a:rPr>
              <a:t>True or False</a:t>
            </a:r>
          </a:p>
        </p:txBody>
      </p:sp>
      <p:sp>
        <p:nvSpPr>
          <p:cNvPr id="4" name="Date Placeholder 3">
            <a:extLst>
              <a:ext uri="{FF2B5EF4-FFF2-40B4-BE49-F238E27FC236}">
                <a16:creationId xmlns:a16="http://schemas.microsoft.com/office/drawing/2014/main" id="{45B0FCAC-B3FB-F4D7-14FE-C9A22C5A71BB}"/>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234DF968-C6D0-DE34-A5DC-DE788794A554}"/>
              </a:ext>
            </a:extLst>
          </p:cNvPr>
          <p:cNvSpPr>
            <a:spLocks noGrp="1"/>
          </p:cNvSpPr>
          <p:nvPr>
            <p:ph type="ftr" idx="11"/>
          </p:nvPr>
        </p:nvSpPr>
        <p:spPr/>
        <p:txBody>
          <a:bodyPr/>
          <a:lstStyle/>
          <a:p>
            <a:r>
              <a:rPr lang="en-IN" dirty="0"/>
              <a:t>Resource Planning</a:t>
            </a:r>
          </a:p>
        </p:txBody>
      </p:sp>
      <p:sp>
        <p:nvSpPr>
          <p:cNvPr id="6" name="Slide Number Placeholder 5">
            <a:extLst>
              <a:ext uri="{FF2B5EF4-FFF2-40B4-BE49-F238E27FC236}">
                <a16:creationId xmlns:a16="http://schemas.microsoft.com/office/drawing/2014/main" id="{18BFC000-1886-70BE-55E3-3345CE7231F0}"/>
              </a:ext>
            </a:extLst>
          </p:cNvPr>
          <p:cNvSpPr>
            <a:spLocks noGrp="1"/>
          </p:cNvSpPr>
          <p:nvPr>
            <p:ph type="sldNum" idx="12"/>
          </p:nvPr>
        </p:nvSpPr>
        <p:spPr/>
        <p:txBody>
          <a:bodyPr/>
          <a:lstStyle/>
          <a:p>
            <a:fld id="{00000000-1234-1234-1234-123412341234}" type="slidenum">
              <a:rPr lang="en-US" smtClean="0"/>
              <a:pPr/>
              <a:t>25</a:t>
            </a:fld>
            <a:endParaRPr lang="en-US" dirty="0"/>
          </a:p>
        </p:txBody>
      </p:sp>
      <p:sp>
        <p:nvSpPr>
          <p:cNvPr id="7" name="Text Placeholder 2">
            <a:extLst>
              <a:ext uri="{FF2B5EF4-FFF2-40B4-BE49-F238E27FC236}">
                <a16:creationId xmlns:a16="http://schemas.microsoft.com/office/drawing/2014/main" id="{EB6EBBDD-8016-0BDE-2DD6-646C2D691877}"/>
              </a:ext>
            </a:extLst>
          </p:cNvPr>
          <p:cNvSpPr txBox="1">
            <a:spLocks/>
          </p:cNvSpPr>
          <p:nvPr/>
        </p:nvSpPr>
        <p:spPr>
          <a:xfrm>
            <a:off x="2137410" y="2583093"/>
            <a:ext cx="5452109" cy="571588"/>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ctr">
              <a:buFont typeface="Arial"/>
              <a:buNone/>
            </a:pPr>
            <a:r>
              <a:rPr lang="en-IN" sz="3200" b="1" dirty="0">
                <a:solidFill>
                  <a:srgbClr val="00B050"/>
                </a:solidFill>
              </a:rPr>
              <a:t>Correct Answer: False</a:t>
            </a:r>
          </a:p>
        </p:txBody>
      </p:sp>
      <p:sp>
        <p:nvSpPr>
          <p:cNvPr id="18" name="TextBox 17">
            <a:extLst>
              <a:ext uri="{FF2B5EF4-FFF2-40B4-BE49-F238E27FC236}">
                <a16:creationId xmlns:a16="http://schemas.microsoft.com/office/drawing/2014/main" id="{374EDA02-5EE2-1F34-BBC1-A35456D82EC8}"/>
              </a:ext>
            </a:extLst>
          </p:cNvPr>
          <p:cNvSpPr txBox="1"/>
          <p:nvPr/>
        </p:nvSpPr>
        <p:spPr>
          <a:xfrm>
            <a:off x="497439" y="3967844"/>
            <a:ext cx="10762781" cy="954107"/>
          </a:xfrm>
          <a:prstGeom prst="rect">
            <a:avLst/>
          </a:prstGeom>
          <a:noFill/>
          <a:ln>
            <a:solidFill>
              <a:schemeClr val="tx1"/>
            </a:solidFill>
          </a:ln>
        </p:spPr>
        <p:txBody>
          <a:bodyPr wrap="square">
            <a:spAutoFit/>
          </a:bodyPr>
          <a:lstStyle/>
          <a:p>
            <a:pPr algn="ctr"/>
            <a:r>
              <a:rPr lang="en-US" sz="2800" b="0" i="0" u="none" strike="noStrike" baseline="0" dirty="0">
                <a:solidFill>
                  <a:srgbClr val="000000"/>
                </a:solidFill>
                <a:latin typeface="Times New Roman" panose="02020603050405020304" pitchFamily="18" charset="0"/>
              </a:rPr>
              <a:t>"Phantom bills" are bills of material for subassemblies that do not exist in reality.</a:t>
            </a:r>
            <a:endParaRPr lang="en-IN" sz="2800" dirty="0"/>
          </a:p>
        </p:txBody>
      </p:sp>
    </p:spTree>
    <p:extLst>
      <p:ext uri="{BB962C8B-B14F-4D97-AF65-F5344CB8AC3E}">
        <p14:creationId xmlns:p14="http://schemas.microsoft.com/office/powerpoint/2010/main" val="3630277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AE2A-C3FF-0BDD-D58E-82FC500D5BA8}"/>
              </a:ext>
            </a:extLst>
          </p:cNvPr>
          <p:cNvSpPr>
            <a:spLocks noGrp="1"/>
          </p:cNvSpPr>
          <p:nvPr>
            <p:ph type="title"/>
          </p:nvPr>
        </p:nvSpPr>
        <p:spPr/>
        <p:txBody>
          <a:bodyPr/>
          <a:lstStyle/>
          <a:p>
            <a:r>
              <a:rPr lang="en-IN" dirty="0"/>
              <a:t>Quick Review</a:t>
            </a:r>
          </a:p>
        </p:txBody>
      </p:sp>
      <p:sp>
        <p:nvSpPr>
          <p:cNvPr id="3" name="Text Placeholder 2">
            <a:extLst>
              <a:ext uri="{FF2B5EF4-FFF2-40B4-BE49-F238E27FC236}">
                <a16:creationId xmlns:a16="http://schemas.microsoft.com/office/drawing/2014/main" id="{0F082CDF-9A62-D740-201F-41040E7C6C69}"/>
              </a:ext>
            </a:extLst>
          </p:cNvPr>
          <p:cNvSpPr>
            <a:spLocks noGrp="1"/>
          </p:cNvSpPr>
          <p:nvPr>
            <p:ph type="body" idx="1"/>
          </p:nvPr>
        </p:nvSpPr>
        <p:spPr>
          <a:xfrm>
            <a:off x="2929890" y="1725026"/>
            <a:ext cx="3433034" cy="685801"/>
          </a:xfrm>
          <a:ln>
            <a:solidFill>
              <a:schemeClr val="tx1"/>
            </a:solidFill>
          </a:ln>
        </p:spPr>
        <p:txBody>
          <a:bodyPr>
            <a:normAutofit lnSpcReduction="10000"/>
          </a:bodyPr>
          <a:lstStyle/>
          <a:p>
            <a:pPr marL="114300" indent="0" algn="ctr">
              <a:buNone/>
            </a:pPr>
            <a:r>
              <a:rPr lang="en-IN" sz="3600" b="1" dirty="0">
                <a:solidFill>
                  <a:srgbClr val="FF0000"/>
                </a:solidFill>
              </a:rPr>
              <a:t>True or False</a:t>
            </a:r>
          </a:p>
        </p:txBody>
      </p:sp>
      <p:sp>
        <p:nvSpPr>
          <p:cNvPr id="4" name="Date Placeholder 3">
            <a:extLst>
              <a:ext uri="{FF2B5EF4-FFF2-40B4-BE49-F238E27FC236}">
                <a16:creationId xmlns:a16="http://schemas.microsoft.com/office/drawing/2014/main" id="{45B0FCAC-B3FB-F4D7-14FE-C9A22C5A71BB}"/>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234DF968-C6D0-DE34-A5DC-DE788794A554}"/>
              </a:ext>
            </a:extLst>
          </p:cNvPr>
          <p:cNvSpPr>
            <a:spLocks noGrp="1"/>
          </p:cNvSpPr>
          <p:nvPr>
            <p:ph type="ftr" idx="11"/>
          </p:nvPr>
        </p:nvSpPr>
        <p:spPr/>
        <p:txBody>
          <a:bodyPr/>
          <a:lstStyle/>
          <a:p>
            <a:r>
              <a:rPr lang="en-IN" dirty="0"/>
              <a:t>Resource Planning</a:t>
            </a:r>
          </a:p>
        </p:txBody>
      </p:sp>
      <p:sp>
        <p:nvSpPr>
          <p:cNvPr id="6" name="Slide Number Placeholder 5">
            <a:extLst>
              <a:ext uri="{FF2B5EF4-FFF2-40B4-BE49-F238E27FC236}">
                <a16:creationId xmlns:a16="http://schemas.microsoft.com/office/drawing/2014/main" id="{18BFC000-1886-70BE-55E3-3345CE7231F0}"/>
              </a:ext>
            </a:extLst>
          </p:cNvPr>
          <p:cNvSpPr>
            <a:spLocks noGrp="1"/>
          </p:cNvSpPr>
          <p:nvPr>
            <p:ph type="sldNum" idx="12"/>
          </p:nvPr>
        </p:nvSpPr>
        <p:spPr/>
        <p:txBody>
          <a:bodyPr/>
          <a:lstStyle/>
          <a:p>
            <a:fld id="{00000000-1234-1234-1234-123412341234}" type="slidenum">
              <a:rPr lang="en-US" smtClean="0"/>
              <a:pPr/>
              <a:t>26</a:t>
            </a:fld>
            <a:endParaRPr lang="en-US" dirty="0"/>
          </a:p>
        </p:txBody>
      </p:sp>
      <p:sp>
        <p:nvSpPr>
          <p:cNvPr id="7" name="Text Placeholder 2">
            <a:extLst>
              <a:ext uri="{FF2B5EF4-FFF2-40B4-BE49-F238E27FC236}">
                <a16:creationId xmlns:a16="http://schemas.microsoft.com/office/drawing/2014/main" id="{EB6EBBDD-8016-0BDE-2DD6-646C2D691877}"/>
              </a:ext>
            </a:extLst>
          </p:cNvPr>
          <p:cNvSpPr txBox="1">
            <a:spLocks/>
          </p:cNvSpPr>
          <p:nvPr/>
        </p:nvSpPr>
        <p:spPr>
          <a:xfrm>
            <a:off x="2137410" y="2583093"/>
            <a:ext cx="5452109" cy="571588"/>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ctr">
              <a:buFont typeface="Arial"/>
              <a:buNone/>
            </a:pPr>
            <a:r>
              <a:rPr lang="en-IN" sz="3200" b="1" dirty="0">
                <a:solidFill>
                  <a:srgbClr val="00B050"/>
                </a:solidFill>
              </a:rPr>
              <a:t>Correct Answer: True</a:t>
            </a:r>
          </a:p>
        </p:txBody>
      </p:sp>
      <p:sp>
        <p:nvSpPr>
          <p:cNvPr id="18" name="TextBox 17">
            <a:extLst>
              <a:ext uri="{FF2B5EF4-FFF2-40B4-BE49-F238E27FC236}">
                <a16:creationId xmlns:a16="http://schemas.microsoft.com/office/drawing/2014/main" id="{374EDA02-5EE2-1F34-BBC1-A35456D82EC8}"/>
              </a:ext>
            </a:extLst>
          </p:cNvPr>
          <p:cNvSpPr txBox="1"/>
          <p:nvPr/>
        </p:nvSpPr>
        <p:spPr>
          <a:xfrm>
            <a:off x="497439" y="3967844"/>
            <a:ext cx="10762781" cy="954107"/>
          </a:xfrm>
          <a:prstGeom prst="rect">
            <a:avLst/>
          </a:prstGeom>
          <a:noFill/>
          <a:ln>
            <a:solidFill>
              <a:schemeClr val="tx1"/>
            </a:solidFill>
          </a:ln>
        </p:spPr>
        <p:txBody>
          <a:bodyPr wrap="square">
            <a:spAutoFit/>
          </a:bodyPr>
          <a:lstStyle/>
          <a:p>
            <a:pPr algn="ctr"/>
            <a:r>
              <a:rPr lang="en-US" sz="2800" b="0" i="0" u="none" strike="noStrike" baseline="0" dirty="0">
                <a:solidFill>
                  <a:srgbClr val="000000"/>
                </a:solidFill>
                <a:latin typeface="Times New Roman" panose="02020603050405020304" pitchFamily="18" charset="0"/>
              </a:rPr>
              <a:t>The time-phased product structure, unlike the bill of material, adds the concept of lead times.</a:t>
            </a:r>
            <a:endParaRPr lang="en-IN" sz="2800" dirty="0"/>
          </a:p>
        </p:txBody>
      </p:sp>
    </p:spTree>
    <p:extLst>
      <p:ext uri="{BB962C8B-B14F-4D97-AF65-F5344CB8AC3E}">
        <p14:creationId xmlns:p14="http://schemas.microsoft.com/office/powerpoint/2010/main" val="1772541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048BF-5AED-74C4-BA58-FEFCD255FFD1}"/>
              </a:ext>
            </a:extLst>
          </p:cNvPr>
          <p:cNvSpPr>
            <a:spLocks noGrp="1"/>
          </p:cNvSpPr>
          <p:nvPr>
            <p:ph type="title"/>
          </p:nvPr>
        </p:nvSpPr>
        <p:spPr/>
        <p:txBody>
          <a:bodyPr/>
          <a:lstStyle/>
          <a:p>
            <a:r>
              <a:rPr lang="en-IN" dirty="0"/>
              <a:t>The MRP process</a:t>
            </a:r>
          </a:p>
        </p:txBody>
      </p:sp>
      <p:sp>
        <p:nvSpPr>
          <p:cNvPr id="3" name="Text Placeholder 2">
            <a:extLst>
              <a:ext uri="{FF2B5EF4-FFF2-40B4-BE49-F238E27FC236}">
                <a16:creationId xmlns:a16="http://schemas.microsoft.com/office/drawing/2014/main" id="{EA12EACD-C2CA-361C-85B7-4126A840D0D0}"/>
              </a:ext>
            </a:extLst>
          </p:cNvPr>
          <p:cNvSpPr>
            <a:spLocks noGrp="1"/>
          </p:cNvSpPr>
          <p:nvPr>
            <p:ph type="body" idx="1"/>
          </p:nvPr>
        </p:nvSpPr>
        <p:spPr>
          <a:xfrm>
            <a:off x="38985" y="886576"/>
            <a:ext cx="11965173" cy="2398884"/>
          </a:xfrm>
        </p:spPr>
        <p:txBody>
          <a:bodyPr>
            <a:normAutofit lnSpcReduction="10000"/>
          </a:bodyPr>
          <a:lstStyle/>
          <a:p>
            <a:r>
              <a:rPr lang="en-IN" dirty="0"/>
              <a:t>The MRP process consists of four basic steps: </a:t>
            </a:r>
          </a:p>
          <a:p>
            <a:pPr marL="514350" indent="-514350">
              <a:buFont typeface="+mj-lt"/>
              <a:buAutoNum type="arabicPeriod"/>
            </a:pPr>
            <a:r>
              <a:rPr lang="en-IN" sz="2400" dirty="0"/>
              <a:t>Exploding the bill of material, </a:t>
            </a:r>
          </a:p>
          <a:p>
            <a:pPr marL="514350" indent="-514350">
              <a:buFont typeface="+mj-lt"/>
              <a:buAutoNum type="arabicPeriod"/>
            </a:pPr>
            <a:r>
              <a:rPr lang="en-IN" sz="2400" b="1" dirty="0"/>
              <a:t>Netting</a:t>
            </a:r>
            <a:r>
              <a:rPr lang="en-IN" sz="2400" dirty="0"/>
              <a:t> out inventory, </a:t>
            </a:r>
          </a:p>
          <a:p>
            <a:pPr marL="514350" indent="-514350">
              <a:buFont typeface="+mj-lt"/>
              <a:buAutoNum type="arabicPeriod"/>
            </a:pPr>
            <a:r>
              <a:rPr lang="en-IN" sz="2400" dirty="0"/>
              <a:t>Lot sizing, and </a:t>
            </a:r>
          </a:p>
          <a:p>
            <a:pPr marL="514350" indent="-514350">
              <a:buFont typeface="+mj-lt"/>
              <a:buAutoNum type="arabicPeriod"/>
            </a:pPr>
            <a:r>
              <a:rPr lang="en-IN" sz="2400" dirty="0"/>
              <a:t>Time-phasing requirements. </a:t>
            </a:r>
          </a:p>
        </p:txBody>
      </p:sp>
      <p:sp>
        <p:nvSpPr>
          <p:cNvPr id="4" name="Date Placeholder 3">
            <a:extLst>
              <a:ext uri="{FF2B5EF4-FFF2-40B4-BE49-F238E27FC236}">
                <a16:creationId xmlns:a16="http://schemas.microsoft.com/office/drawing/2014/main" id="{16DB7DB1-3A2C-6D29-9887-9BA980BA0281}"/>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DA7232E0-F763-13AC-9089-8DDCEF4C2863}"/>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4024DE85-7232-A85A-6350-97A968874091}"/>
              </a:ext>
            </a:extLst>
          </p:cNvPr>
          <p:cNvSpPr>
            <a:spLocks noGrp="1"/>
          </p:cNvSpPr>
          <p:nvPr>
            <p:ph type="sldNum" idx="12"/>
          </p:nvPr>
        </p:nvSpPr>
        <p:spPr/>
        <p:txBody>
          <a:bodyPr/>
          <a:lstStyle/>
          <a:p>
            <a:fld id="{00000000-1234-1234-1234-123412341234}" type="slidenum">
              <a:rPr lang="en-US" smtClean="0"/>
              <a:pPr/>
              <a:t>27</a:t>
            </a:fld>
            <a:endParaRPr lang="en-US" dirty="0"/>
          </a:p>
        </p:txBody>
      </p:sp>
      <p:sp>
        <p:nvSpPr>
          <p:cNvPr id="7" name="Rectangle 6">
            <a:extLst>
              <a:ext uri="{FF2B5EF4-FFF2-40B4-BE49-F238E27FC236}">
                <a16:creationId xmlns:a16="http://schemas.microsoft.com/office/drawing/2014/main" id="{A1354048-4580-50E2-0D89-8F59CBBB3A22}"/>
              </a:ext>
            </a:extLst>
          </p:cNvPr>
          <p:cNvSpPr/>
          <p:nvPr/>
        </p:nvSpPr>
        <p:spPr>
          <a:xfrm>
            <a:off x="46074" y="3429000"/>
            <a:ext cx="12099851" cy="2677656"/>
          </a:xfrm>
          <a:prstGeom prst="rect">
            <a:avLst/>
          </a:prstGeom>
          <a:solidFill>
            <a:schemeClr val="accent5">
              <a:lumMod val="20000"/>
              <a:lumOff val="80000"/>
            </a:schemeClr>
          </a:solidFill>
        </p:spPr>
        <p:txBody>
          <a:bodyPr wrap="square">
            <a:spAutoFit/>
          </a:bodyPr>
          <a:lstStyle/>
          <a:p>
            <a:pPr marL="342900" indent="-342900">
              <a:buClrTx/>
              <a:buFont typeface="Arial" panose="020B0604020202020204" pitchFamily="34" charset="0"/>
              <a:buChar char="•"/>
            </a:pPr>
            <a:r>
              <a:rPr lang="en-US" sz="2800" kern="1200" dirty="0">
                <a:solidFill>
                  <a:prstClr val="black"/>
                </a:solidFill>
                <a:latin typeface="Times New Roman" panose="02020603050405020304" pitchFamily="18" charset="0"/>
                <a:ea typeface="+mn-ea"/>
                <a:cs typeface="Times New Roman" panose="02020603050405020304" pitchFamily="18" charset="0"/>
              </a:rPr>
              <a:t>The process is performed again and again, moving down the product structure until all items have been scheduled.</a:t>
            </a:r>
          </a:p>
          <a:p>
            <a:pPr marL="342900" indent="-342900">
              <a:buClrTx/>
              <a:buFont typeface="Arial" panose="020B0604020202020204" pitchFamily="34" charset="0"/>
              <a:buChar char="•"/>
            </a:pPr>
            <a:r>
              <a:rPr lang="en-IN" sz="2800" kern="1200" dirty="0">
                <a:solidFill>
                  <a:prstClr val="black"/>
                </a:solidFill>
                <a:latin typeface="Times New Roman" panose="02020603050405020304" pitchFamily="18" charset="0"/>
                <a:ea typeface="+mn-ea"/>
                <a:cs typeface="Times New Roman" panose="02020603050405020304" pitchFamily="18" charset="0"/>
              </a:rPr>
              <a:t>Identifying information at the top of the matrix includes the item name or number, the lowest level at which the item appears in the product structure (called </a:t>
            </a:r>
            <a:r>
              <a:rPr lang="en-IN" sz="2800" b="1" i="1" kern="1200" dirty="0">
                <a:solidFill>
                  <a:prstClr val="black"/>
                </a:solidFill>
                <a:latin typeface="Times New Roman" panose="02020603050405020304" pitchFamily="18" charset="0"/>
                <a:ea typeface="+mn-ea"/>
                <a:cs typeface="Times New Roman" panose="02020603050405020304" pitchFamily="18" charset="0"/>
              </a:rPr>
              <a:t>low level code </a:t>
            </a:r>
            <a:r>
              <a:rPr lang="en-IN" sz="2800" b="1" kern="1200" dirty="0">
                <a:solidFill>
                  <a:prstClr val="black"/>
                </a:solidFill>
                <a:latin typeface="Times New Roman" panose="02020603050405020304" pitchFamily="18" charset="0"/>
                <a:ea typeface="+mn-ea"/>
                <a:cs typeface="Times New Roman" panose="02020603050405020304" pitchFamily="18" charset="0"/>
              </a:rPr>
              <a:t>or LLC</a:t>
            </a:r>
            <a:r>
              <a:rPr lang="en-IN" sz="2800" kern="1200" dirty="0">
                <a:solidFill>
                  <a:prstClr val="black"/>
                </a:solidFill>
                <a:latin typeface="Times New Roman" panose="02020603050405020304" pitchFamily="18" charset="0"/>
                <a:ea typeface="+mn-ea"/>
                <a:cs typeface="Times New Roman" panose="02020603050405020304" pitchFamily="18" charset="0"/>
              </a:rPr>
              <a:t>), </a:t>
            </a:r>
          </a:p>
          <a:p>
            <a:pPr marL="342900" indent="-342900">
              <a:buClrTx/>
              <a:buFont typeface="Arial" panose="020B0604020202020204" pitchFamily="34" charset="0"/>
              <a:buChar char="•"/>
            </a:pPr>
            <a:r>
              <a:rPr lang="en-IN" sz="2800" kern="1200" dirty="0">
                <a:solidFill>
                  <a:prstClr val="black"/>
                </a:solidFill>
                <a:latin typeface="Times New Roman" panose="02020603050405020304" pitchFamily="18" charset="0"/>
                <a:ea typeface="+mn-ea"/>
                <a:cs typeface="Times New Roman" panose="02020603050405020304" pitchFamily="18" charset="0"/>
              </a:rPr>
              <a:t>The quantities in which an item is usually made or purchased (called </a:t>
            </a:r>
            <a:r>
              <a:rPr lang="en-IN" sz="2800" b="1" i="1" kern="1200" dirty="0">
                <a:solidFill>
                  <a:prstClr val="black"/>
                </a:solidFill>
                <a:latin typeface="Times New Roman" panose="02020603050405020304" pitchFamily="18" charset="0"/>
                <a:ea typeface="+mn-ea"/>
                <a:cs typeface="Times New Roman" panose="02020603050405020304" pitchFamily="18" charset="0"/>
              </a:rPr>
              <a:t>lot size</a:t>
            </a:r>
            <a:r>
              <a:rPr lang="en-IN" sz="2800" kern="1200" dirty="0">
                <a:solidFill>
                  <a:prstClr val="black"/>
                </a:solidFill>
                <a:latin typeface="Times New Roman" panose="02020603050405020304" pitchFamily="18" charset="0"/>
                <a:ea typeface="+mn-ea"/>
                <a:cs typeface="Times New Roman" panose="02020603050405020304" pitchFamily="18" charset="0"/>
              </a:rPr>
              <a:t>)</a:t>
            </a:r>
          </a:p>
        </p:txBody>
      </p:sp>
    </p:spTree>
    <p:extLst>
      <p:ext uri="{BB962C8B-B14F-4D97-AF65-F5344CB8AC3E}">
        <p14:creationId xmlns:p14="http://schemas.microsoft.com/office/powerpoint/2010/main" val="2091866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3BA88-0CDB-37BE-85AA-00B220CBE9C1}"/>
              </a:ext>
            </a:extLst>
          </p:cNvPr>
          <p:cNvSpPr>
            <a:spLocks noGrp="1"/>
          </p:cNvSpPr>
          <p:nvPr>
            <p:ph type="title"/>
          </p:nvPr>
        </p:nvSpPr>
        <p:spPr/>
        <p:txBody>
          <a:bodyPr/>
          <a:lstStyle/>
          <a:p>
            <a:r>
              <a:rPr lang="en-IN" dirty="0"/>
              <a:t>MRP matrix</a:t>
            </a:r>
          </a:p>
        </p:txBody>
      </p:sp>
      <p:sp>
        <p:nvSpPr>
          <p:cNvPr id="4" name="Date Placeholder 3">
            <a:extLst>
              <a:ext uri="{FF2B5EF4-FFF2-40B4-BE49-F238E27FC236}">
                <a16:creationId xmlns:a16="http://schemas.microsoft.com/office/drawing/2014/main" id="{CD63C1BE-5459-CD39-52C8-05E69F15DFB9}"/>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2514FE98-3A0B-5BCD-677F-DC544F4D9638}"/>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7F8D3B13-13DE-5C3F-A64E-7CF15E6625D3}"/>
              </a:ext>
            </a:extLst>
          </p:cNvPr>
          <p:cNvSpPr>
            <a:spLocks noGrp="1"/>
          </p:cNvSpPr>
          <p:nvPr>
            <p:ph type="sldNum" idx="12"/>
          </p:nvPr>
        </p:nvSpPr>
        <p:spPr/>
        <p:txBody>
          <a:bodyPr/>
          <a:lstStyle/>
          <a:p>
            <a:fld id="{00000000-1234-1234-1234-123412341234}" type="slidenum">
              <a:rPr lang="en-US" smtClean="0"/>
              <a:pPr/>
              <a:t>28</a:t>
            </a:fld>
            <a:endParaRPr lang="en-US" dirty="0"/>
          </a:p>
        </p:txBody>
      </p:sp>
      <p:pic>
        <p:nvPicPr>
          <p:cNvPr id="9" name="Picture 2">
            <a:extLst>
              <a:ext uri="{FF2B5EF4-FFF2-40B4-BE49-F238E27FC236}">
                <a16:creationId xmlns:a16="http://schemas.microsoft.com/office/drawing/2014/main" id="{04D12000-697B-7FAC-4EA8-562BF36A7C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61" t="3943" r="1517" b="3777"/>
          <a:stretch/>
        </p:blipFill>
        <p:spPr bwMode="auto">
          <a:xfrm>
            <a:off x="21263" y="988822"/>
            <a:ext cx="12105771" cy="442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43776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78D0D-4DA1-4CE7-0533-B3161FBB2F01}"/>
              </a:ext>
            </a:extLst>
          </p:cNvPr>
          <p:cNvSpPr>
            <a:spLocks noGrp="1"/>
          </p:cNvSpPr>
          <p:nvPr>
            <p:ph type="title"/>
          </p:nvPr>
        </p:nvSpPr>
        <p:spPr/>
        <p:txBody>
          <a:bodyPr/>
          <a:lstStyle/>
          <a:p>
            <a:r>
              <a:rPr lang="en-IN" dirty="0"/>
              <a:t>Example— School mate products</a:t>
            </a:r>
            <a:br>
              <a:rPr lang="en-IN" dirty="0"/>
            </a:br>
            <a:endParaRPr lang="en-IN" dirty="0"/>
          </a:p>
        </p:txBody>
      </p:sp>
      <p:sp>
        <p:nvSpPr>
          <p:cNvPr id="3" name="Text Placeholder 2">
            <a:extLst>
              <a:ext uri="{FF2B5EF4-FFF2-40B4-BE49-F238E27FC236}">
                <a16:creationId xmlns:a16="http://schemas.microsoft.com/office/drawing/2014/main" id="{AD120BD7-5F49-C272-7533-306A03C215D8}"/>
              </a:ext>
            </a:extLst>
          </p:cNvPr>
          <p:cNvSpPr>
            <a:spLocks noGrp="1"/>
          </p:cNvSpPr>
          <p:nvPr>
            <p:ph type="body" idx="1"/>
          </p:nvPr>
        </p:nvSpPr>
        <p:spPr>
          <a:xfrm>
            <a:off x="116958" y="801517"/>
            <a:ext cx="11887200" cy="5035928"/>
          </a:xfrm>
        </p:spPr>
        <p:txBody>
          <a:bodyPr>
            <a:normAutofit/>
          </a:bodyPr>
          <a:lstStyle/>
          <a:p>
            <a:pPr marL="114300" indent="0" algn="just">
              <a:buNone/>
            </a:pPr>
            <a:r>
              <a:rPr lang="en-IN" sz="2200" dirty="0"/>
              <a:t>School Mate offers a number of standard products to encourage writing outside of the classroom, including clipboards, </a:t>
            </a:r>
            <a:r>
              <a:rPr lang="en-IN" sz="2200" dirty="0" err="1"/>
              <a:t>lapdesks</a:t>
            </a:r>
            <a:r>
              <a:rPr lang="en-IN" sz="2200" dirty="0"/>
              <a:t>, lapboards, and pencil boxes. Rising costs and inventory levels have prompted the company to install a computerized planning and control system called MRP. The MPS and bill of material modules are up and running. Sample output follows. Before going live with the MRP module, School Mate has asked for a manual demonstration. Since manual calculations can be quite tedious, you have decided to prepare MRP matrices for only three items—the clipboard and </a:t>
            </a:r>
            <a:r>
              <a:rPr lang="en-IN" sz="2200" dirty="0" err="1"/>
              <a:t>lapdesk</a:t>
            </a:r>
            <a:r>
              <a:rPr lang="en-IN" sz="2200" dirty="0"/>
              <a:t>, and a common component, pressboard. The master production schedule, abbreviated product structure diagrams, and inventory information are given below.</a:t>
            </a:r>
          </a:p>
          <a:p>
            <a:endParaRPr lang="en-IN" sz="2200" dirty="0"/>
          </a:p>
        </p:txBody>
      </p:sp>
      <p:sp>
        <p:nvSpPr>
          <p:cNvPr id="4" name="Date Placeholder 3">
            <a:extLst>
              <a:ext uri="{FF2B5EF4-FFF2-40B4-BE49-F238E27FC236}">
                <a16:creationId xmlns:a16="http://schemas.microsoft.com/office/drawing/2014/main" id="{09EF7DC6-4EEB-4CC0-7D3B-BBA5D779EB9C}"/>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66765ABE-F8B9-D530-A023-312F51370D90}"/>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F8CE2365-4FBC-A20D-2119-6DF7B84236FA}"/>
              </a:ext>
            </a:extLst>
          </p:cNvPr>
          <p:cNvSpPr>
            <a:spLocks noGrp="1"/>
          </p:cNvSpPr>
          <p:nvPr>
            <p:ph type="sldNum" idx="12"/>
          </p:nvPr>
        </p:nvSpPr>
        <p:spPr/>
        <p:txBody>
          <a:bodyPr/>
          <a:lstStyle/>
          <a:p>
            <a:fld id="{00000000-1234-1234-1234-123412341234}" type="slidenum">
              <a:rPr lang="en-US" smtClean="0"/>
              <a:pPr/>
              <a:t>29</a:t>
            </a:fld>
            <a:endParaRPr lang="en-US" dirty="0"/>
          </a:p>
        </p:txBody>
      </p:sp>
      <p:pic>
        <p:nvPicPr>
          <p:cNvPr id="7" name="Picture 2">
            <a:extLst>
              <a:ext uri="{FF2B5EF4-FFF2-40B4-BE49-F238E27FC236}">
                <a16:creationId xmlns:a16="http://schemas.microsoft.com/office/drawing/2014/main" id="{41361D32-2D16-A236-5757-96D71D9CA5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1460" y="3418367"/>
            <a:ext cx="6361940" cy="11483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a:extLst>
              <a:ext uri="{FF2B5EF4-FFF2-40B4-BE49-F238E27FC236}">
                <a16:creationId xmlns:a16="http://schemas.microsoft.com/office/drawing/2014/main" id="{F3D64A09-CCC8-154E-55D5-753E489C47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3049" y="4603898"/>
            <a:ext cx="6957981" cy="15753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81560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F0815-045E-2168-4CCB-8ED08C3738F0}"/>
              </a:ext>
            </a:extLst>
          </p:cNvPr>
          <p:cNvSpPr>
            <a:spLocks noGrp="1"/>
          </p:cNvSpPr>
          <p:nvPr>
            <p:ph type="title"/>
          </p:nvPr>
        </p:nvSpPr>
        <p:spPr/>
        <p:txBody>
          <a:bodyPr/>
          <a:lstStyle/>
          <a:p>
            <a:r>
              <a:rPr lang="en-IN" dirty="0"/>
              <a:t>Example— School mate products</a:t>
            </a:r>
          </a:p>
        </p:txBody>
      </p:sp>
      <p:sp>
        <p:nvSpPr>
          <p:cNvPr id="4" name="Date Placeholder 3">
            <a:extLst>
              <a:ext uri="{FF2B5EF4-FFF2-40B4-BE49-F238E27FC236}">
                <a16:creationId xmlns:a16="http://schemas.microsoft.com/office/drawing/2014/main" id="{19EC2345-6149-79D0-89F7-1941EC91C9F9}"/>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9376E98B-17F1-6A45-0E44-FE003EEBDEDA}"/>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BD37FF80-A159-1D76-1CD2-2E526BEA652B}"/>
              </a:ext>
            </a:extLst>
          </p:cNvPr>
          <p:cNvSpPr>
            <a:spLocks noGrp="1"/>
          </p:cNvSpPr>
          <p:nvPr>
            <p:ph type="sldNum" idx="12"/>
          </p:nvPr>
        </p:nvSpPr>
        <p:spPr/>
        <p:txBody>
          <a:bodyPr/>
          <a:lstStyle/>
          <a:p>
            <a:fld id="{00000000-1234-1234-1234-123412341234}" type="slidenum">
              <a:rPr lang="en-US" smtClean="0"/>
              <a:pPr/>
              <a:t>30</a:t>
            </a:fld>
            <a:endParaRPr lang="en-US" dirty="0"/>
          </a:p>
        </p:txBody>
      </p:sp>
      <p:pic>
        <p:nvPicPr>
          <p:cNvPr id="7" name="Picture 4">
            <a:extLst>
              <a:ext uri="{FF2B5EF4-FFF2-40B4-BE49-F238E27FC236}">
                <a16:creationId xmlns:a16="http://schemas.microsoft.com/office/drawing/2014/main" id="{46E6329E-813F-B099-407C-8D98522906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8125" y="998974"/>
            <a:ext cx="8829884" cy="5157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76962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96D90-066F-FDFD-CA14-CB6E3CCFC21D}"/>
              </a:ext>
            </a:extLst>
          </p:cNvPr>
          <p:cNvSpPr>
            <a:spLocks noGrp="1"/>
          </p:cNvSpPr>
          <p:nvPr>
            <p:ph type="title"/>
          </p:nvPr>
        </p:nvSpPr>
        <p:spPr/>
        <p:txBody>
          <a:bodyPr/>
          <a:lstStyle/>
          <a:p>
            <a:r>
              <a:rPr lang="en-IN" dirty="0"/>
              <a:t>Example— School mate products</a:t>
            </a:r>
          </a:p>
        </p:txBody>
      </p:sp>
      <p:sp>
        <p:nvSpPr>
          <p:cNvPr id="4" name="Date Placeholder 3">
            <a:extLst>
              <a:ext uri="{FF2B5EF4-FFF2-40B4-BE49-F238E27FC236}">
                <a16:creationId xmlns:a16="http://schemas.microsoft.com/office/drawing/2014/main" id="{AACBC844-9E2D-184B-BB53-939BA007EDDF}"/>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7D161BDB-D19F-E922-1F00-742524616638}"/>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1B5B93BF-992D-14A8-4EDC-140DA9A6E6C5}"/>
              </a:ext>
            </a:extLst>
          </p:cNvPr>
          <p:cNvSpPr>
            <a:spLocks noGrp="1"/>
          </p:cNvSpPr>
          <p:nvPr>
            <p:ph type="sldNum" idx="12"/>
          </p:nvPr>
        </p:nvSpPr>
        <p:spPr/>
        <p:txBody>
          <a:bodyPr/>
          <a:lstStyle/>
          <a:p>
            <a:fld id="{00000000-1234-1234-1234-123412341234}" type="slidenum">
              <a:rPr lang="en-US" smtClean="0"/>
              <a:pPr/>
              <a:t>31</a:t>
            </a:fld>
            <a:endParaRPr lang="en-US" dirty="0"/>
          </a:p>
        </p:txBody>
      </p:sp>
      <p:grpSp>
        <p:nvGrpSpPr>
          <p:cNvPr id="7" name="Group 53">
            <a:extLst>
              <a:ext uri="{FF2B5EF4-FFF2-40B4-BE49-F238E27FC236}">
                <a16:creationId xmlns:a16="http://schemas.microsoft.com/office/drawing/2014/main" id="{619EB1E7-5F64-B8D1-926D-00D351D92C58}"/>
              </a:ext>
            </a:extLst>
          </p:cNvPr>
          <p:cNvGrpSpPr>
            <a:grpSpLocks/>
          </p:cNvGrpSpPr>
          <p:nvPr/>
        </p:nvGrpSpPr>
        <p:grpSpPr bwMode="auto">
          <a:xfrm>
            <a:off x="1669314" y="1065026"/>
            <a:ext cx="7747000" cy="3219450"/>
            <a:chOff x="498" y="1090"/>
            <a:chExt cx="4880" cy="2028"/>
          </a:xfrm>
        </p:grpSpPr>
        <p:grpSp>
          <p:nvGrpSpPr>
            <p:cNvPr id="8" name="Group 48">
              <a:extLst>
                <a:ext uri="{FF2B5EF4-FFF2-40B4-BE49-F238E27FC236}">
                  <a16:creationId xmlns:a16="http://schemas.microsoft.com/office/drawing/2014/main" id="{CED222D5-A32C-34E5-9E76-BD29D8A16AC2}"/>
                </a:ext>
              </a:extLst>
            </p:cNvPr>
            <p:cNvGrpSpPr>
              <a:grpSpLocks/>
            </p:cNvGrpSpPr>
            <p:nvPr/>
          </p:nvGrpSpPr>
          <p:grpSpPr bwMode="auto">
            <a:xfrm>
              <a:off x="503" y="1090"/>
              <a:ext cx="4875" cy="1999"/>
              <a:chOff x="245" y="1037"/>
              <a:chExt cx="4875" cy="1999"/>
            </a:xfrm>
          </p:grpSpPr>
          <p:sp>
            <p:nvSpPr>
              <p:cNvPr id="12" name="Rectangle 46">
                <a:extLst>
                  <a:ext uri="{FF2B5EF4-FFF2-40B4-BE49-F238E27FC236}">
                    <a16:creationId xmlns:a16="http://schemas.microsoft.com/office/drawing/2014/main" id="{C0FFA9A3-3E2C-FF1D-8D85-8FA432B688B6}"/>
                  </a:ext>
                </a:extLst>
              </p:cNvPr>
              <p:cNvSpPr>
                <a:spLocks noChangeArrowheads="1"/>
              </p:cNvSpPr>
              <p:nvPr/>
            </p:nvSpPr>
            <p:spPr bwMode="auto">
              <a:xfrm>
                <a:off x="245" y="1037"/>
                <a:ext cx="4841" cy="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CLIPBOARD	LLC: 0			PERIOD</a:t>
                </a:r>
              </a:p>
              <a:p>
                <a:pPr>
                  <a:lnSpc>
                    <a:spcPct val="15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L4L	LT: 1	</a:t>
                </a:r>
                <a:r>
                  <a:rPr lang="en-US" sz="1800" i="1">
                    <a:latin typeface="Times New Roman" panose="02020603050405020304" pitchFamily="18" charset="0"/>
                    <a:cs typeface="Times New Roman" panose="02020603050405020304" pitchFamily="18" charset="0"/>
                  </a:rPr>
                  <a:t>1	2	3	4	5</a:t>
                </a:r>
              </a:p>
            </p:txBody>
          </p:sp>
          <p:sp>
            <p:nvSpPr>
              <p:cNvPr id="13" name="Rectangle 47">
                <a:extLst>
                  <a:ext uri="{FF2B5EF4-FFF2-40B4-BE49-F238E27FC236}">
                    <a16:creationId xmlns:a16="http://schemas.microsoft.com/office/drawing/2014/main" id="{519F451F-4C2F-5C92-46D0-99ECA47A7B0B}"/>
                  </a:ext>
                </a:extLst>
              </p:cNvPr>
              <p:cNvSpPr>
                <a:spLocks noChangeArrowheads="1"/>
              </p:cNvSpPr>
              <p:nvPr/>
            </p:nvSpPr>
            <p:spPr bwMode="auto">
              <a:xfrm>
                <a:off x="245" y="1628"/>
                <a:ext cx="4875" cy="1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Gross Requirements		85	95	120	100	100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Scheduled Receipts		175</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Projected on Hand	25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Net Requirements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Receipts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Releases			</a:t>
                </a:r>
              </a:p>
            </p:txBody>
          </p:sp>
        </p:grpSp>
        <p:sp>
          <p:nvSpPr>
            <p:cNvPr id="9" name="Line 49">
              <a:extLst>
                <a:ext uri="{FF2B5EF4-FFF2-40B4-BE49-F238E27FC236}">
                  <a16:creationId xmlns:a16="http://schemas.microsoft.com/office/drawing/2014/main" id="{21A88001-519E-2CF7-B1ED-33ACFAFAEC26}"/>
                </a:ext>
              </a:extLst>
            </p:cNvPr>
            <p:cNvSpPr>
              <a:spLocks noChangeShapeType="1"/>
            </p:cNvSpPr>
            <p:nvPr/>
          </p:nvSpPr>
          <p:spPr bwMode="auto">
            <a:xfrm>
              <a:off x="498" y="1689"/>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0" name="Line 50">
              <a:extLst>
                <a:ext uri="{FF2B5EF4-FFF2-40B4-BE49-F238E27FC236}">
                  <a16:creationId xmlns:a16="http://schemas.microsoft.com/office/drawing/2014/main" id="{3EA1C196-3E9B-9E8F-1E37-00D5C1C08F81}"/>
                </a:ext>
              </a:extLst>
            </p:cNvPr>
            <p:cNvSpPr>
              <a:spLocks noChangeShapeType="1"/>
            </p:cNvSpPr>
            <p:nvPr/>
          </p:nvSpPr>
          <p:spPr bwMode="auto">
            <a:xfrm>
              <a:off x="3103" y="1403"/>
              <a:ext cx="215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1" name="Line 52">
              <a:extLst>
                <a:ext uri="{FF2B5EF4-FFF2-40B4-BE49-F238E27FC236}">
                  <a16:creationId xmlns:a16="http://schemas.microsoft.com/office/drawing/2014/main" id="{6DBB8CC1-1C39-B815-9C19-0C0519929B0A}"/>
                </a:ext>
              </a:extLst>
            </p:cNvPr>
            <p:cNvSpPr>
              <a:spLocks noChangeShapeType="1"/>
            </p:cNvSpPr>
            <p:nvPr/>
          </p:nvSpPr>
          <p:spPr bwMode="auto">
            <a:xfrm>
              <a:off x="498" y="3118"/>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14" name="Group 4">
            <a:extLst>
              <a:ext uri="{FF2B5EF4-FFF2-40B4-BE49-F238E27FC236}">
                <a16:creationId xmlns:a16="http://schemas.microsoft.com/office/drawing/2014/main" id="{76A6A18D-D341-502E-4659-014053B97EF9}"/>
              </a:ext>
            </a:extLst>
          </p:cNvPr>
          <p:cNvGrpSpPr>
            <a:grpSpLocks/>
          </p:cNvGrpSpPr>
          <p:nvPr/>
        </p:nvGrpSpPr>
        <p:grpSpPr bwMode="auto">
          <a:xfrm>
            <a:off x="1664702" y="1063019"/>
            <a:ext cx="7747000" cy="3219450"/>
            <a:chOff x="498" y="1090"/>
            <a:chExt cx="4880" cy="2028"/>
          </a:xfrm>
        </p:grpSpPr>
        <p:grpSp>
          <p:nvGrpSpPr>
            <p:cNvPr id="15" name="Group 5">
              <a:extLst>
                <a:ext uri="{FF2B5EF4-FFF2-40B4-BE49-F238E27FC236}">
                  <a16:creationId xmlns:a16="http://schemas.microsoft.com/office/drawing/2014/main" id="{9E7BE99E-79EF-F495-367F-0E0B4FF4FD58}"/>
                </a:ext>
              </a:extLst>
            </p:cNvPr>
            <p:cNvGrpSpPr>
              <a:grpSpLocks/>
            </p:cNvGrpSpPr>
            <p:nvPr/>
          </p:nvGrpSpPr>
          <p:grpSpPr bwMode="auto">
            <a:xfrm>
              <a:off x="503" y="1090"/>
              <a:ext cx="4875" cy="1999"/>
              <a:chOff x="245" y="1037"/>
              <a:chExt cx="4875" cy="1999"/>
            </a:xfrm>
          </p:grpSpPr>
          <p:sp>
            <p:nvSpPr>
              <p:cNvPr id="19" name="Rectangle 6">
                <a:extLst>
                  <a:ext uri="{FF2B5EF4-FFF2-40B4-BE49-F238E27FC236}">
                    <a16:creationId xmlns:a16="http://schemas.microsoft.com/office/drawing/2014/main" id="{2C2DFB80-6BBB-9A7D-AD17-DD9806E882E2}"/>
                  </a:ext>
                </a:extLst>
              </p:cNvPr>
              <p:cNvSpPr>
                <a:spLocks noChangeArrowheads="1"/>
              </p:cNvSpPr>
              <p:nvPr/>
            </p:nvSpPr>
            <p:spPr bwMode="auto">
              <a:xfrm>
                <a:off x="245" y="1037"/>
                <a:ext cx="4841" cy="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tabLst>
                    <a:tab pos="3146425" algn="r"/>
                    <a:tab pos="4191000" algn="ctr"/>
                    <a:tab pos="4953000" algn="ctr"/>
                    <a:tab pos="5715000" algn="ctr"/>
                    <a:tab pos="6477000" algn="ctr"/>
                    <a:tab pos="7239000" algn="ctr"/>
                  </a:tabLst>
                </a:pPr>
                <a:r>
                  <a:rPr lang="en-US" sz="1800" dirty="0">
                    <a:latin typeface="Times New Roman" panose="02020603050405020304" pitchFamily="18" charset="0"/>
                    <a:cs typeface="Times New Roman" panose="02020603050405020304" pitchFamily="18" charset="0"/>
                  </a:rPr>
                  <a:t>ITEM: CLIPBOARD	LLC: 0			PERIOD</a:t>
                </a:r>
              </a:p>
              <a:p>
                <a:pPr>
                  <a:lnSpc>
                    <a:spcPct val="150000"/>
                  </a:lnSpc>
                  <a:tabLst>
                    <a:tab pos="3146425" algn="r"/>
                    <a:tab pos="4191000" algn="ctr"/>
                    <a:tab pos="4953000" algn="ctr"/>
                    <a:tab pos="5715000" algn="ctr"/>
                    <a:tab pos="6477000" algn="ctr"/>
                    <a:tab pos="7239000" algn="ctr"/>
                  </a:tabLst>
                </a:pPr>
                <a:r>
                  <a:rPr lang="en-US" sz="1800" dirty="0">
                    <a:latin typeface="Times New Roman" panose="02020603050405020304" pitchFamily="18" charset="0"/>
                    <a:cs typeface="Times New Roman" panose="02020603050405020304" pitchFamily="18" charset="0"/>
                  </a:rPr>
                  <a:t>LOT SIZE: L4L	LT: 1	</a:t>
                </a:r>
                <a:r>
                  <a:rPr lang="en-US" sz="1800" i="1" dirty="0">
                    <a:latin typeface="Times New Roman" panose="02020603050405020304" pitchFamily="18" charset="0"/>
                    <a:cs typeface="Times New Roman" panose="02020603050405020304" pitchFamily="18" charset="0"/>
                  </a:rPr>
                  <a:t>1	2	3	4	5</a:t>
                </a:r>
              </a:p>
            </p:txBody>
          </p:sp>
          <p:sp>
            <p:nvSpPr>
              <p:cNvPr id="20" name="Rectangle 7">
                <a:extLst>
                  <a:ext uri="{FF2B5EF4-FFF2-40B4-BE49-F238E27FC236}">
                    <a16:creationId xmlns:a16="http://schemas.microsoft.com/office/drawing/2014/main" id="{CBCD3728-A4FF-6D5F-7DF4-4C2AF0105EE5}"/>
                  </a:ext>
                </a:extLst>
              </p:cNvPr>
              <p:cNvSpPr>
                <a:spLocks noChangeArrowheads="1"/>
              </p:cNvSpPr>
              <p:nvPr/>
            </p:nvSpPr>
            <p:spPr bwMode="auto">
              <a:xfrm>
                <a:off x="245" y="1628"/>
                <a:ext cx="4875" cy="1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Gross Requirements		85	95	120	100	100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Scheduled Receipts		175</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Projected on Hand	25	115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Net Requirements		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Receipts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Releases			</a:t>
                </a:r>
              </a:p>
            </p:txBody>
          </p:sp>
        </p:grpSp>
        <p:sp>
          <p:nvSpPr>
            <p:cNvPr id="16" name="Line 8">
              <a:extLst>
                <a:ext uri="{FF2B5EF4-FFF2-40B4-BE49-F238E27FC236}">
                  <a16:creationId xmlns:a16="http://schemas.microsoft.com/office/drawing/2014/main" id="{DD8CAA00-7501-8DEC-B23A-28A58A4D4BE3}"/>
                </a:ext>
              </a:extLst>
            </p:cNvPr>
            <p:cNvSpPr>
              <a:spLocks noChangeShapeType="1"/>
            </p:cNvSpPr>
            <p:nvPr/>
          </p:nvSpPr>
          <p:spPr bwMode="auto">
            <a:xfrm>
              <a:off x="498" y="1689"/>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7" name="Line 9">
              <a:extLst>
                <a:ext uri="{FF2B5EF4-FFF2-40B4-BE49-F238E27FC236}">
                  <a16:creationId xmlns:a16="http://schemas.microsoft.com/office/drawing/2014/main" id="{256D0D45-53E7-9C00-B1C5-73477BC03D5C}"/>
                </a:ext>
              </a:extLst>
            </p:cNvPr>
            <p:cNvSpPr>
              <a:spLocks noChangeShapeType="1"/>
            </p:cNvSpPr>
            <p:nvPr/>
          </p:nvSpPr>
          <p:spPr bwMode="auto">
            <a:xfrm>
              <a:off x="3103" y="1403"/>
              <a:ext cx="215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8" name="Line 10">
              <a:extLst>
                <a:ext uri="{FF2B5EF4-FFF2-40B4-BE49-F238E27FC236}">
                  <a16:creationId xmlns:a16="http://schemas.microsoft.com/office/drawing/2014/main" id="{C47F105D-EB02-26CC-F2A4-514EAED4EFE6}"/>
                </a:ext>
              </a:extLst>
            </p:cNvPr>
            <p:cNvSpPr>
              <a:spLocks noChangeShapeType="1"/>
            </p:cNvSpPr>
            <p:nvPr/>
          </p:nvSpPr>
          <p:spPr bwMode="auto">
            <a:xfrm>
              <a:off x="498" y="3118"/>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sp>
        <p:nvSpPr>
          <p:cNvPr id="21" name="Rectangle 11">
            <a:extLst>
              <a:ext uri="{FF2B5EF4-FFF2-40B4-BE49-F238E27FC236}">
                <a16:creationId xmlns:a16="http://schemas.microsoft.com/office/drawing/2014/main" id="{4A03D737-AC76-1185-8405-8BE8B4698801}"/>
              </a:ext>
            </a:extLst>
          </p:cNvPr>
          <p:cNvSpPr>
            <a:spLocks noChangeArrowheads="1"/>
          </p:cNvSpPr>
          <p:nvPr/>
        </p:nvSpPr>
        <p:spPr bwMode="auto">
          <a:xfrm>
            <a:off x="1368326" y="4404553"/>
            <a:ext cx="5048690" cy="7078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sz="2000" dirty="0">
                <a:latin typeface="Times New Roman" panose="02020603050405020304" pitchFamily="18" charset="0"/>
                <a:cs typeface="Times New Roman" panose="02020603050405020304" pitchFamily="18" charset="0"/>
              </a:rPr>
              <a:t>(25 + 175) = 200 units available</a:t>
            </a:r>
          </a:p>
          <a:p>
            <a:r>
              <a:rPr lang="en-US" sz="2000" dirty="0">
                <a:latin typeface="Times New Roman" panose="02020603050405020304" pitchFamily="18" charset="0"/>
                <a:cs typeface="Times New Roman" panose="02020603050405020304" pitchFamily="18" charset="0"/>
              </a:rPr>
              <a:t>(200 - 85) = 115 on hand at the end of Period 1</a:t>
            </a:r>
          </a:p>
        </p:txBody>
      </p:sp>
      <p:grpSp>
        <p:nvGrpSpPr>
          <p:cNvPr id="22" name="Group 4">
            <a:extLst>
              <a:ext uri="{FF2B5EF4-FFF2-40B4-BE49-F238E27FC236}">
                <a16:creationId xmlns:a16="http://schemas.microsoft.com/office/drawing/2014/main" id="{81BBB50C-13A5-CDB6-30C9-2177A36F1239}"/>
              </a:ext>
            </a:extLst>
          </p:cNvPr>
          <p:cNvGrpSpPr>
            <a:grpSpLocks/>
          </p:cNvGrpSpPr>
          <p:nvPr/>
        </p:nvGrpSpPr>
        <p:grpSpPr bwMode="auto">
          <a:xfrm>
            <a:off x="1670193" y="1063019"/>
            <a:ext cx="7747000" cy="3219450"/>
            <a:chOff x="498" y="1090"/>
            <a:chExt cx="4880" cy="2028"/>
          </a:xfrm>
        </p:grpSpPr>
        <p:grpSp>
          <p:nvGrpSpPr>
            <p:cNvPr id="23" name="Group 5">
              <a:extLst>
                <a:ext uri="{FF2B5EF4-FFF2-40B4-BE49-F238E27FC236}">
                  <a16:creationId xmlns:a16="http://schemas.microsoft.com/office/drawing/2014/main" id="{4538073A-BD2E-29D0-28D6-4EFA8E323424}"/>
                </a:ext>
              </a:extLst>
            </p:cNvPr>
            <p:cNvGrpSpPr>
              <a:grpSpLocks/>
            </p:cNvGrpSpPr>
            <p:nvPr/>
          </p:nvGrpSpPr>
          <p:grpSpPr bwMode="auto">
            <a:xfrm>
              <a:off x="503" y="1090"/>
              <a:ext cx="4875" cy="1999"/>
              <a:chOff x="245" y="1037"/>
              <a:chExt cx="4875" cy="1999"/>
            </a:xfrm>
          </p:grpSpPr>
          <p:sp>
            <p:nvSpPr>
              <p:cNvPr id="27" name="Rectangle 6">
                <a:extLst>
                  <a:ext uri="{FF2B5EF4-FFF2-40B4-BE49-F238E27FC236}">
                    <a16:creationId xmlns:a16="http://schemas.microsoft.com/office/drawing/2014/main" id="{AE734997-17EA-9F38-AAAB-6270FCDCCBC4}"/>
                  </a:ext>
                </a:extLst>
              </p:cNvPr>
              <p:cNvSpPr>
                <a:spLocks noChangeArrowheads="1"/>
              </p:cNvSpPr>
              <p:nvPr/>
            </p:nvSpPr>
            <p:spPr bwMode="auto">
              <a:xfrm>
                <a:off x="245" y="1037"/>
                <a:ext cx="4841" cy="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CLIPBOARD	LLC: 0			PERIOD</a:t>
                </a:r>
              </a:p>
              <a:p>
                <a:pPr>
                  <a:lnSpc>
                    <a:spcPct val="15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L4L	LT: 1	</a:t>
                </a:r>
                <a:r>
                  <a:rPr lang="en-US" sz="1800" i="1">
                    <a:latin typeface="Times New Roman" panose="02020603050405020304" pitchFamily="18" charset="0"/>
                    <a:cs typeface="Times New Roman" panose="02020603050405020304" pitchFamily="18" charset="0"/>
                  </a:rPr>
                  <a:t>1	2	3	4	5</a:t>
                </a:r>
              </a:p>
            </p:txBody>
          </p:sp>
          <p:sp>
            <p:nvSpPr>
              <p:cNvPr id="28" name="Rectangle 7">
                <a:extLst>
                  <a:ext uri="{FF2B5EF4-FFF2-40B4-BE49-F238E27FC236}">
                    <a16:creationId xmlns:a16="http://schemas.microsoft.com/office/drawing/2014/main" id="{216A3FC4-C7D5-814A-1F2C-1A44376B25B2}"/>
                  </a:ext>
                </a:extLst>
              </p:cNvPr>
              <p:cNvSpPr>
                <a:spLocks noChangeArrowheads="1"/>
              </p:cNvSpPr>
              <p:nvPr/>
            </p:nvSpPr>
            <p:spPr bwMode="auto">
              <a:xfrm>
                <a:off x="245" y="1628"/>
                <a:ext cx="4875" cy="1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Gross Requirements		85	95	120	100	100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Scheduled Receipts		175</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Projected on Hand	25	115	20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Net Requirements		0	0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Receipts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Releases			</a:t>
                </a:r>
              </a:p>
            </p:txBody>
          </p:sp>
        </p:grpSp>
        <p:sp>
          <p:nvSpPr>
            <p:cNvPr id="24" name="Line 8">
              <a:extLst>
                <a:ext uri="{FF2B5EF4-FFF2-40B4-BE49-F238E27FC236}">
                  <a16:creationId xmlns:a16="http://schemas.microsoft.com/office/drawing/2014/main" id="{95B449C6-AF73-5ABF-3E14-DD691ED31D2B}"/>
                </a:ext>
              </a:extLst>
            </p:cNvPr>
            <p:cNvSpPr>
              <a:spLocks noChangeShapeType="1"/>
            </p:cNvSpPr>
            <p:nvPr/>
          </p:nvSpPr>
          <p:spPr bwMode="auto">
            <a:xfrm>
              <a:off x="498" y="1689"/>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5" name="Line 9">
              <a:extLst>
                <a:ext uri="{FF2B5EF4-FFF2-40B4-BE49-F238E27FC236}">
                  <a16:creationId xmlns:a16="http://schemas.microsoft.com/office/drawing/2014/main" id="{3C303D72-09D8-619A-D8A8-7513EA586D1D}"/>
                </a:ext>
              </a:extLst>
            </p:cNvPr>
            <p:cNvSpPr>
              <a:spLocks noChangeShapeType="1"/>
            </p:cNvSpPr>
            <p:nvPr/>
          </p:nvSpPr>
          <p:spPr bwMode="auto">
            <a:xfrm>
              <a:off x="3103" y="1403"/>
              <a:ext cx="215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6" name="Line 10">
              <a:extLst>
                <a:ext uri="{FF2B5EF4-FFF2-40B4-BE49-F238E27FC236}">
                  <a16:creationId xmlns:a16="http://schemas.microsoft.com/office/drawing/2014/main" id="{B87403EC-4A23-48CA-B189-8F7D774F2088}"/>
                </a:ext>
              </a:extLst>
            </p:cNvPr>
            <p:cNvSpPr>
              <a:spLocks noChangeShapeType="1"/>
            </p:cNvSpPr>
            <p:nvPr/>
          </p:nvSpPr>
          <p:spPr bwMode="auto">
            <a:xfrm>
              <a:off x="498" y="3118"/>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sp>
        <p:nvSpPr>
          <p:cNvPr id="29" name="Rectangle 11">
            <a:extLst>
              <a:ext uri="{FF2B5EF4-FFF2-40B4-BE49-F238E27FC236}">
                <a16:creationId xmlns:a16="http://schemas.microsoft.com/office/drawing/2014/main" id="{18AB7E82-3932-11D1-7B1D-FC1C2982A397}"/>
              </a:ext>
            </a:extLst>
          </p:cNvPr>
          <p:cNvSpPr>
            <a:spLocks noChangeArrowheads="1"/>
          </p:cNvSpPr>
          <p:nvPr/>
        </p:nvSpPr>
        <p:spPr bwMode="auto">
          <a:xfrm>
            <a:off x="1368326" y="5349251"/>
            <a:ext cx="5048690" cy="7078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r>
              <a:rPr lang="en-US" sz="2000" dirty="0">
                <a:latin typeface="Times New Roman" panose="02020603050405020304" pitchFamily="18" charset="0"/>
                <a:cs typeface="Times New Roman" panose="02020603050405020304" pitchFamily="18" charset="0"/>
              </a:rPr>
              <a:t>115 units available</a:t>
            </a:r>
          </a:p>
          <a:p>
            <a:r>
              <a:rPr lang="en-US" sz="2000" dirty="0">
                <a:latin typeface="Times New Roman" panose="02020603050405020304" pitchFamily="18" charset="0"/>
                <a:cs typeface="Times New Roman" panose="02020603050405020304" pitchFamily="18" charset="0"/>
              </a:rPr>
              <a:t>(115 - 95) = 20 on hand at the end of Period 2</a:t>
            </a:r>
          </a:p>
        </p:txBody>
      </p:sp>
      <p:grpSp>
        <p:nvGrpSpPr>
          <p:cNvPr id="30" name="Group 4">
            <a:extLst>
              <a:ext uri="{FF2B5EF4-FFF2-40B4-BE49-F238E27FC236}">
                <a16:creationId xmlns:a16="http://schemas.microsoft.com/office/drawing/2014/main" id="{0B0F5B6A-2B03-EED2-0EF3-50F013E61872}"/>
              </a:ext>
            </a:extLst>
          </p:cNvPr>
          <p:cNvGrpSpPr>
            <a:grpSpLocks/>
          </p:cNvGrpSpPr>
          <p:nvPr/>
        </p:nvGrpSpPr>
        <p:grpSpPr bwMode="auto">
          <a:xfrm>
            <a:off x="1670193" y="1063019"/>
            <a:ext cx="7747000" cy="3219450"/>
            <a:chOff x="498" y="1090"/>
            <a:chExt cx="4880" cy="2028"/>
          </a:xfrm>
        </p:grpSpPr>
        <p:grpSp>
          <p:nvGrpSpPr>
            <p:cNvPr id="31" name="Group 5">
              <a:extLst>
                <a:ext uri="{FF2B5EF4-FFF2-40B4-BE49-F238E27FC236}">
                  <a16:creationId xmlns:a16="http://schemas.microsoft.com/office/drawing/2014/main" id="{F09E0A11-0775-66DB-D78E-936C8DC4ABC7}"/>
                </a:ext>
              </a:extLst>
            </p:cNvPr>
            <p:cNvGrpSpPr>
              <a:grpSpLocks/>
            </p:cNvGrpSpPr>
            <p:nvPr/>
          </p:nvGrpSpPr>
          <p:grpSpPr bwMode="auto">
            <a:xfrm>
              <a:off x="503" y="1090"/>
              <a:ext cx="4875" cy="1999"/>
              <a:chOff x="245" y="1037"/>
              <a:chExt cx="4875" cy="1999"/>
            </a:xfrm>
          </p:grpSpPr>
          <p:sp>
            <p:nvSpPr>
              <p:cNvPr id="35" name="Rectangle 6">
                <a:extLst>
                  <a:ext uri="{FF2B5EF4-FFF2-40B4-BE49-F238E27FC236}">
                    <a16:creationId xmlns:a16="http://schemas.microsoft.com/office/drawing/2014/main" id="{B00E30AB-7E72-6079-D693-AAA085722B39}"/>
                  </a:ext>
                </a:extLst>
              </p:cNvPr>
              <p:cNvSpPr>
                <a:spLocks noChangeArrowheads="1"/>
              </p:cNvSpPr>
              <p:nvPr/>
            </p:nvSpPr>
            <p:spPr bwMode="auto">
              <a:xfrm>
                <a:off x="245" y="1037"/>
                <a:ext cx="4841" cy="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CLIPBOARD	LLC: 0			PERIOD</a:t>
                </a:r>
              </a:p>
              <a:p>
                <a:pPr>
                  <a:lnSpc>
                    <a:spcPct val="15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L4L	LT: 1	</a:t>
                </a:r>
                <a:r>
                  <a:rPr lang="en-US" sz="1800" i="1">
                    <a:latin typeface="Times New Roman" panose="02020603050405020304" pitchFamily="18" charset="0"/>
                    <a:cs typeface="Times New Roman" panose="02020603050405020304" pitchFamily="18" charset="0"/>
                  </a:rPr>
                  <a:t>1	2	3	4	5</a:t>
                </a:r>
              </a:p>
            </p:txBody>
          </p:sp>
          <p:sp>
            <p:nvSpPr>
              <p:cNvPr id="36" name="Rectangle 7">
                <a:extLst>
                  <a:ext uri="{FF2B5EF4-FFF2-40B4-BE49-F238E27FC236}">
                    <a16:creationId xmlns:a16="http://schemas.microsoft.com/office/drawing/2014/main" id="{0F119673-A7CB-22A8-E5B7-ADC5914565FD}"/>
                  </a:ext>
                </a:extLst>
              </p:cNvPr>
              <p:cNvSpPr>
                <a:spLocks noChangeArrowheads="1"/>
              </p:cNvSpPr>
              <p:nvPr/>
            </p:nvSpPr>
            <p:spPr bwMode="auto">
              <a:xfrm>
                <a:off x="245" y="1628"/>
                <a:ext cx="4875" cy="1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Gross Requirements		85	95	120	100	100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Scheduled Receipts		175</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Projected on Hand	25	115	20	0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Net Requirements		0	0	100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Receipts				100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Releases			100	</a:t>
                </a:r>
              </a:p>
            </p:txBody>
          </p:sp>
        </p:grpSp>
        <p:sp>
          <p:nvSpPr>
            <p:cNvPr id="32" name="Line 8">
              <a:extLst>
                <a:ext uri="{FF2B5EF4-FFF2-40B4-BE49-F238E27FC236}">
                  <a16:creationId xmlns:a16="http://schemas.microsoft.com/office/drawing/2014/main" id="{2B36D261-A612-E3A9-0352-4CDF8D061EB3}"/>
                </a:ext>
              </a:extLst>
            </p:cNvPr>
            <p:cNvSpPr>
              <a:spLocks noChangeShapeType="1"/>
            </p:cNvSpPr>
            <p:nvPr/>
          </p:nvSpPr>
          <p:spPr bwMode="auto">
            <a:xfrm>
              <a:off x="498" y="1689"/>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33" name="Line 9">
              <a:extLst>
                <a:ext uri="{FF2B5EF4-FFF2-40B4-BE49-F238E27FC236}">
                  <a16:creationId xmlns:a16="http://schemas.microsoft.com/office/drawing/2014/main" id="{4C7B0AAD-6D75-0F1E-B24A-8F3DBBABD149}"/>
                </a:ext>
              </a:extLst>
            </p:cNvPr>
            <p:cNvSpPr>
              <a:spLocks noChangeShapeType="1"/>
            </p:cNvSpPr>
            <p:nvPr/>
          </p:nvSpPr>
          <p:spPr bwMode="auto">
            <a:xfrm>
              <a:off x="3103" y="1403"/>
              <a:ext cx="215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34" name="Line 10">
              <a:extLst>
                <a:ext uri="{FF2B5EF4-FFF2-40B4-BE49-F238E27FC236}">
                  <a16:creationId xmlns:a16="http://schemas.microsoft.com/office/drawing/2014/main" id="{F73BF128-F2A2-DA69-B90D-0656EE25A623}"/>
                </a:ext>
              </a:extLst>
            </p:cNvPr>
            <p:cNvSpPr>
              <a:spLocks noChangeShapeType="1"/>
            </p:cNvSpPr>
            <p:nvPr/>
          </p:nvSpPr>
          <p:spPr bwMode="auto">
            <a:xfrm>
              <a:off x="498" y="3118"/>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sp>
        <p:nvSpPr>
          <p:cNvPr id="37" name="Rectangle 11">
            <a:extLst>
              <a:ext uri="{FF2B5EF4-FFF2-40B4-BE49-F238E27FC236}">
                <a16:creationId xmlns:a16="http://schemas.microsoft.com/office/drawing/2014/main" id="{2C53F03F-57CE-BD60-072B-74128C076469}"/>
              </a:ext>
            </a:extLst>
          </p:cNvPr>
          <p:cNvSpPr>
            <a:spLocks noChangeArrowheads="1"/>
          </p:cNvSpPr>
          <p:nvPr/>
        </p:nvSpPr>
        <p:spPr bwMode="auto">
          <a:xfrm>
            <a:off x="1364542" y="4400559"/>
            <a:ext cx="6788858" cy="1015663"/>
          </a:xfrm>
          <a:prstGeom prst="rect">
            <a:avLst/>
          </a:prstGeom>
          <a:solidFill>
            <a:schemeClr val="bg1">
              <a:lumMod val="95000"/>
            </a:schemeClr>
          </a:solidFill>
          <a:ln w="9525">
            <a:solidFill>
              <a:srgbClr val="000000"/>
            </a:solidFill>
            <a:miter lim="800000"/>
            <a:headEnd/>
            <a:tailEnd/>
          </a:ln>
          <a:effectLst/>
        </p:spPr>
        <p:txBody>
          <a:bodyPr wrap="square">
            <a:spAutoFit/>
          </a:bodyPr>
          <a:lstStyle/>
          <a:p>
            <a:r>
              <a:rPr lang="en-US" sz="2000" dirty="0">
                <a:latin typeface="Times New Roman" panose="02020603050405020304" pitchFamily="18" charset="0"/>
                <a:cs typeface="Times New Roman" panose="02020603050405020304" pitchFamily="18" charset="0"/>
              </a:rPr>
              <a:t>20 units available</a:t>
            </a:r>
          </a:p>
          <a:p>
            <a:r>
              <a:rPr lang="en-US" sz="2000" dirty="0">
                <a:latin typeface="Times New Roman" panose="02020603050405020304" pitchFamily="18" charset="0"/>
                <a:cs typeface="Times New Roman" panose="02020603050405020304" pitchFamily="18" charset="0"/>
              </a:rPr>
              <a:t>(20 - 120) = -100 — 100 additional Clipboards are required</a:t>
            </a:r>
          </a:p>
          <a:p>
            <a:r>
              <a:rPr lang="en-US" sz="2000" dirty="0">
                <a:latin typeface="Times New Roman" panose="02020603050405020304" pitchFamily="18" charset="0"/>
                <a:cs typeface="Times New Roman" panose="02020603050405020304" pitchFamily="18" charset="0"/>
              </a:rPr>
              <a:t>Order must be placed in Period 2 to be received in Period 3</a:t>
            </a:r>
          </a:p>
        </p:txBody>
      </p:sp>
      <p:grpSp>
        <p:nvGrpSpPr>
          <p:cNvPr id="38" name="Group 4">
            <a:extLst>
              <a:ext uri="{FF2B5EF4-FFF2-40B4-BE49-F238E27FC236}">
                <a16:creationId xmlns:a16="http://schemas.microsoft.com/office/drawing/2014/main" id="{DC92CABD-E598-4963-4477-434EB3C5BDD1}"/>
              </a:ext>
            </a:extLst>
          </p:cNvPr>
          <p:cNvGrpSpPr>
            <a:grpSpLocks/>
          </p:cNvGrpSpPr>
          <p:nvPr/>
        </p:nvGrpSpPr>
        <p:grpSpPr bwMode="auto">
          <a:xfrm>
            <a:off x="1664702" y="1063019"/>
            <a:ext cx="7747000" cy="3219450"/>
            <a:chOff x="498" y="1090"/>
            <a:chExt cx="4880" cy="2028"/>
          </a:xfrm>
        </p:grpSpPr>
        <p:grpSp>
          <p:nvGrpSpPr>
            <p:cNvPr id="39" name="Group 5">
              <a:extLst>
                <a:ext uri="{FF2B5EF4-FFF2-40B4-BE49-F238E27FC236}">
                  <a16:creationId xmlns:a16="http://schemas.microsoft.com/office/drawing/2014/main" id="{7A0933C1-E2D8-3E74-AAB0-AF0A0526F428}"/>
                </a:ext>
              </a:extLst>
            </p:cNvPr>
            <p:cNvGrpSpPr>
              <a:grpSpLocks/>
            </p:cNvGrpSpPr>
            <p:nvPr/>
          </p:nvGrpSpPr>
          <p:grpSpPr bwMode="auto">
            <a:xfrm>
              <a:off x="503" y="1090"/>
              <a:ext cx="4875" cy="1999"/>
              <a:chOff x="245" y="1037"/>
              <a:chExt cx="4875" cy="1999"/>
            </a:xfrm>
          </p:grpSpPr>
          <p:sp>
            <p:nvSpPr>
              <p:cNvPr id="43" name="Rectangle 6">
                <a:extLst>
                  <a:ext uri="{FF2B5EF4-FFF2-40B4-BE49-F238E27FC236}">
                    <a16:creationId xmlns:a16="http://schemas.microsoft.com/office/drawing/2014/main" id="{146DFA96-738D-348C-62E5-E1CBCB4AB117}"/>
                  </a:ext>
                </a:extLst>
              </p:cNvPr>
              <p:cNvSpPr>
                <a:spLocks noChangeArrowheads="1"/>
              </p:cNvSpPr>
              <p:nvPr/>
            </p:nvSpPr>
            <p:spPr bwMode="auto">
              <a:xfrm>
                <a:off x="245" y="1037"/>
                <a:ext cx="4841" cy="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CLIPBOARD	LLC: 0			PERIOD</a:t>
                </a:r>
              </a:p>
              <a:p>
                <a:pPr>
                  <a:lnSpc>
                    <a:spcPct val="15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L4L	LT: 1	</a:t>
                </a:r>
                <a:r>
                  <a:rPr lang="en-US" sz="1800" i="1">
                    <a:latin typeface="Times New Roman" panose="02020603050405020304" pitchFamily="18" charset="0"/>
                    <a:cs typeface="Times New Roman" panose="02020603050405020304" pitchFamily="18" charset="0"/>
                  </a:rPr>
                  <a:t>1	2	3	4	5</a:t>
                </a:r>
              </a:p>
            </p:txBody>
          </p:sp>
          <p:sp>
            <p:nvSpPr>
              <p:cNvPr id="44" name="Rectangle 7">
                <a:extLst>
                  <a:ext uri="{FF2B5EF4-FFF2-40B4-BE49-F238E27FC236}">
                    <a16:creationId xmlns:a16="http://schemas.microsoft.com/office/drawing/2014/main" id="{18F730C0-B096-57AB-444C-50DEC2B4C482}"/>
                  </a:ext>
                </a:extLst>
              </p:cNvPr>
              <p:cNvSpPr>
                <a:spLocks noChangeArrowheads="1"/>
              </p:cNvSpPr>
              <p:nvPr/>
            </p:nvSpPr>
            <p:spPr bwMode="auto">
              <a:xfrm>
                <a:off x="245" y="1628"/>
                <a:ext cx="4875" cy="1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Gross Requirements		85	95	120	100	100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Scheduled Receipts		175</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Projected on Hand	25	115	20	0	0	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Net Requirements		0	0	100	100	100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Receipts				100	100	100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Releases			100	100	100</a:t>
                </a:r>
              </a:p>
            </p:txBody>
          </p:sp>
        </p:grpSp>
        <p:sp>
          <p:nvSpPr>
            <p:cNvPr id="40" name="Line 8">
              <a:extLst>
                <a:ext uri="{FF2B5EF4-FFF2-40B4-BE49-F238E27FC236}">
                  <a16:creationId xmlns:a16="http://schemas.microsoft.com/office/drawing/2014/main" id="{51F84A1C-EDB4-E707-0B0A-C792E7E8BE36}"/>
                </a:ext>
              </a:extLst>
            </p:cNvPr>
            <p:cNvSpPr>
              <a:spLocks noChangeShapeType="1"/>
            </p:cNvSpPr>
            <p:nvPr/>
          </p:nvSpPr>
          <p:spPr bwMode="auto">
            <a:xfrm>
              <a:off x="498" y="1689"/>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41" name="Line 9">
              <a:extLst>
                <a:ext uri="{FF2B5EF4-FFF2-40B4-BE49-F238E27FC236}">
                  <a16:creationId xmlns:a16="http://schemas.microsoft.com/office/drawing/2014/main" id="{972404B5-09B5-4627-44A3-F515A3B89CC4}"/>
                </a:ext>
              </a:extLst>
            </p:cNvPr>
            <p:cNvSpPr>
              <a:spLocks noChangeShapeType="1"/>
            </p:cNvSpPr>
            <p:nvPr/>
          </p:nvSpPr>
          <p:spPr bwMode="auto">
            <a:xfrm>
              <a:off x="3103" y="1403"/>
              <a:ext cx="215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42" name="Line 10">
              <a:extLst>
                <a:ext uri="{FF2B5EF4-FFF2-40B4-BE49-F238E27FC236}">
                  <a16:creationId xmlns:a16="http://schemas.microsoft.com/office/drawing/2014/main" id="{105AEE1A-2521-552A-39B4-C5E3D5EACD71}"/>
                </a:ext>
              </a:extLst>
            </p:cNvPr>
            <p:cNvSpPr>
              <a:spLocks noChangeShapeType="1"/>
            </p:cNvSpPr>
            <p:nvPr/>
          </p:nvSpPr>
          <p:spPr bwMode="auto">
            <a:xfrm>
              <a:off x="498" y="3118"/>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sp>
        <p:nvSpPr>
          <p:cNvPr id="45" name="Rectangle 20">
            <a:extLst>
              <a:ext uri="{FF2B5EF4-FFF2-40B4-BE49-F238E27FC236}">
                <a16:creationId xmlns:a16="http://schemas.microsoft.com/office/drawing/2014/main" id="{D0C2D4A3-2135-3152-BCEA-15AEFC71FD1D}"/>
              </a:ext>
            </a:extLst>
          </p:cNvPr>
          <p:cNvSpPr>
            <a:spLocks noChangeArrowheads="1"/>
          </p:cNvSpPr>
          <p:nvPr/>
        </p:nvSpPr>
        <p:spPr bwMode="auto">
          <a:xfrm>
            <a:off x="1375177" y="5464267"/>
            <a:ext cx="7748587" cy="707886"/>
          </a:xfrm>
          <a:prstGeom prst="rect">
            <a:avLst/>
          </a:prstGeom>
          <a:solidFill>
            <a:schemeClr val="bg1">
              <a:lumMod val="85000"/>
            </a:schemeClr>
          </a:solidFill>
          <a:ln>
            <a:solidFill>
              <a:schemeClr val="tx1"/>
            </a:solidFill>
          </a:ln>
          <a:effectLst/>
        </p:spPr>
        <p:txBody>
          <a:bodyPr>
            <a:spAutoFit/>
          </a:bodyPr>
          <a:lstStyle/>
          <a:p>
            <a:r>
              <a:rPr lang="en-US" sz="2000" dirty="0">
                <a:latin typeface="Times New Roman" panose="02020603050405020304" pitchFamily="18" charset="0"/>
                <a:cs typeface="Times New Roman" panose="02020603050405020304" pitchFamily="18" charset="0"/>
              </a:rPr>
              <a:t>Following the same logic Gross Requirements in Periods 4 and 5 develop Net Requirements, Planned Order Receipts, and Planned Order Releases</a:t>
            </a:r>
          </a:p>
        </p:txBody>
      </p:sp>
    </p:spTree>
    <p:extLst>
      <p:ext uri="{BB962C8B-B14F-4D97-AF65-F5344CB8AC3E}">
        <p14:creationId xmlns:p14="http://schemas.microsoft.com/office/powerpoint/2010/main" val="2049705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7"/>
                                        </p:tgtEl>
                                        <p:attrNameLst>
                                          <p:attrName>style.visibility</p:attrName>
                                        </p:attrNameLst>
                                      </p:cBhvr>
                                      <p:to>
                                        <p:strVal val="visible"/>
                                      </p:to>
                                    </p:set>
                                    <p:animEffect transition="in" filter="strips(downRight)">
                                      <p:cBhvr>
                                        <p:cTn id="7" dur="1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
                                        <p:tgtEl>
                                          <p:spTgt spid="1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1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10"/>
                                        <p:tgtEl>
                                          <p:spTgt spid="2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1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10"/>
                                        <p:tgtEl>
                                          <p:spTgt spid="3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10"/>
                                        <p:tgtEl>
                                          <p:spTgt spid="37"/>
                                        </p:tgtEl>
                                      </p:cBhvr>
                                    </p:animEffect>
                                  </p:childTnLst>
                                </p:cTn>
                              </p:par>
                              <p:par>
                                <p:cTn id="32" presetID="1" presetClass="exit" presetSubtype="0" fill="hold" grpId="1" nodeType="withEffect">
                                  <p:stCondLst>
                                    <p:cond delay="0"/>
                                  </p:stCondLst>
                                  <p:childTnLst>
                                    <p:set>
                                      <p:cBhvr>
                                        <p:cTn id="33" dur="1" fill="hold">
                                          <p:stCondLst>
                                            <p:cond delay="0"/>
                                          </p:stCondLst>
                                        </p:cTn>
                                        <p:tgtEl>
                                          <p:spTgt spid="29"/>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10"/>
                                        <p:tgtEl>
                                          <p:spTgt spid="3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5"/>
                                        </p:tgtEl>
                                        <p:attrNameLst>
                                          <p:attrName>style.visibility</p:attrName>
                                        </p:attrNameLst>
                                      </p:cBhvr>
                                      <p:to>
                                        <p:strVal val="visible"/>
                                      </p:to>
                                    </p:set>
                                    <p:animEffect transition="in" filter="fade">
                                      <p:cBhvr>
                                        <p:cTn id="41" dur="1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9" grpId="0" animBg="1"/>
      <p:bldP spid="29" grpId="1" animBg="1"/>
      <p:bldP spid="37" grpId="0" animBg="1"/>
      <p:bldP spid="4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3AFE4-8E47-00D7-CDDB-3CA7D7BC5D98}"/>
              </a:ext>
            </a:extLst>
          </p:cNvPr>
          <p:cNvSpPr>
            <a:spLocks noGrp="1"/>
          </p:cNvSpPr>
          <p:nvPr>
            <p:ph type="title"/>
          </p:nvPr>
        </p:nvSpPr>
        <p:spPr/>
        <p:txBody>
          <a:bodyPr/>
          <a:lstStyle/>
          <a:p>
            <a:r>
              <a:rPr lang="en-IN" dirty="0"/>
              <a:t>Example— School mate products</a:t>
            </a:r>
          </a:p>
        </p:txBody>
      </p:sp>
      <p:sp>
        <p:nvSpPr>
          <p:cNvPr id="4" name="Date Placeholder 3">
            <a:extLst>
              <a:ext uri="{FF2B5EF4-FFF2-40B4-BE49-F238E27FC236}">
                <a16:creationId xmlns:a16="http://schemas.microsoft.com/office/drawing/2014/main" id="{72888C28-3D42-CD4B-5F0A-BCAEC6731260}"/>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D22B9421-14BE-5EB9-510F-E00880CD7AF2}"/>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57EFC63C-6B84-DDE8-0D29-8893F47547BC}"/>
              </a:ext>
            </a:extLst>
          </p:cNvPr>
          <p:cNvSpPr>
            <a:spLocks noGrp="1"/>
          </p:cNvSpPr>
          <p:nvPr>
            <p:ph type="sldNum" idx="12"/>
          </p:nvPr>
        </p:nvSpPr>
        <p:spPr/>
        <p:txBody>
          <a:bodyPr/>
          <a:lstStyle/>
          <a:p>
            <a:fld id="{00000000-1234-1234-1234-123412341234}" type="slidenum">
              <a:rPr lang="en-US" smtClean="0"/>
              <a:pPr/>
              <a:t>32</a:t>
            </a:fld>
            <a:endParaRPr lang="en-US" dirty="0"/>
          </a:p>
        </p:txBody>
      </p:sp>
      <p:grpSp>
        <p:nvGrpSpPr>
          <p:cNvPr id="7" name="Group 4">
            <a:extLst>
              <a:ext uri="{FF2B5EF4-FFF2-40B4-BE49-F238E27FC236}">
                <a16:creationId xmlns:a16="http://schemas.microsoft.com/office/drawing/2014/main" id="{05B289C8-15B8-4729-7434-1E9669453FE8}"/>
              </a:ext>
            </a:extLst>
          </p:cNvPr>
          <p:cNvGrpSpPr>
            <a:grpSpLocks/>
          </p:cNvGrpSpPr>
          <p:nvPr/>
        </p:nvGrpSpPr>
        <p:grpSpPr bwMode="auto">
          <a:xfrm>
            <a:off x="2172805" y="1096404"/>
            <a:ext cx="7747000" cy="3219450"/>
            <a:chOff x="498" y="1090"/>
            <a:chExt cx="4880" cy="2028"/>
          </a:xfrm>
        </p:grpSpPr>
        <p:grpSp>
          <p:nvGrpSpPr>
            <p:cNvPr id="8" name="Group 5">
              <a:extLst>
                <a:ext uri="{FF2B5EF4-FFF2-40B4-BE49-F238E27FC236}">
                  <a16:creationId xmlns:a16="http://schemas.microsoft.com/office/drawing/2014/main" id="{A0112946-1047-E62C-786A-E1811AD88DAE}"/>
                </a:ext>
              </a:extLst>
            </p:cNvPr>
            <p:cNvGrpSpPr>
              <a:grpSpLocks/>
            </p:cNvGrpSpPr>
            <p:nvPr/>
          </p:nvGrpSpPr>
          <p:grpSpPr bwMode="auto">
            <a:xfrm>
              <a:off x="503" y="1090"/>
              <a:ext cx="4875" cy="1999"/>
              <a:chOff x="245" y="1037"/>
              <a:chExt cx="4875" cy="1999"/>
            </a:xfrm>
          </p:grpSpPr>
          <p:sp>
            <p:nvSpPr>
              <p:cNvPr id="12" name="Rectangle 6">
                <a:extLst>
                  <a:ext uri="{FF2B5EF4-FFF2-40B4-BE49-F238E27FC236}">
                    <a16:creationId xmlns:a16="http://schemas.microsoft.com/office/drawing/2014/main" id="{2BA1EB7F-91F7-8911-6A98-11330A98D828}"/>
                  </a:ext>
                </a:extLst>
              </p:cNvPr>
              <p:cNvSpPr>
                <a:spLocks noChangeArrowheads="1"/>
              </p:cNvSpPr>
              <p:nvPr/>
            </p:nvSpPr>
            <p:spPr bwMode="auto">
              <a:xfrm>
                <a:off x="245" y="1037"/>
                <a:ext cx="4841" cy="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tabLst>
                    <a:tab pos="3146425" algn="r"/>
                    <a:tab pos="4191000" algn="ctr"/>
                    <a:tab pos="4953000" algn="ctr"/>
                    <a:tab pos="5715000" algn="ctr"/>
                    <a:tab pos="6477000" algn="ctr"/>
                    <a:tab pos="7239000" algn="ctr"/>
                  </a:tabLst>
                </a:pPr>
                <a:r>
                  <a:rPr lang="en-US" sz="1800" dirty="0">
                    <a:latin typeface="Times New Roman" panose="02020603050405020304" pitchFamily="18" charset="0"/>
                    <a:cs typeface="Times New Roman" panose="02020603050405020304" pitchFamily="18" charset="0"/>
                  </a:rPr>
                  <a:t>ITEM: LAPDESK	LLC: 0			PERIOD</a:t>
                </a:r>
              </a:p>
              <a:p>
                <a:pPr>
                  <a:lnSpc>
                    <a:spcPct val="150000"/>
                  </a:lnSpc>
                  <a:tabLst>
                    <a:tab pos="3146425" algn="r"/>
                    <a:tab pos="4191000" algn="ctr"/>
                    <a:tab pos="4953000" algn="ctr"/>
                    <a:tab pos="5715000" algn="ctr"/>
                    <a:tab pos="6477000" algn="ctr"/>
                    <a:tab pos="7239000" algn="ctr"/>
                  </a:tabLst>
                </a:pPr>
                <a:r>
                  <a:rPr lang="en-US" sz="1800" dirty="0">
                    <a:latin typeface="Times New Roman" panose="02020603050405020304" pitchFamily="18" charset="0"/>
                    <a:cs typeface="Times New Roman" panose="02020603050405020304" pitchFamily="18" charset="0"/>
                  </a:rPr>
                  <a:t>LOT SIZE: MULT 50	LT: 1	</a:t>
                </a:r>
                <a:r>
                  <a:rPr lang="en-US" sz="1800" i="1" dirty="0">
                    <a:latin typeface="Times New Roman" panose="02020603050405020304" pitchFamily="18" charset="0"/>
                    <a:cs typeface="Times New Roman" panose="02020603050405020304" pitchFamily="18" charset="0"/>
                  </a:rPr>
                  <a:t>1	2	3	4	5</a:t>
                </a:r>
              </a:p>
            </p:txBody>
          </p:sp>
          <p:sp>
            <p:nvSpPr>
              <p:cNvPr id="13" name="Rectangle 7">
                <a:extLst>
                  <a:ext uri="{FF2B5EF4-FFF2-40B4-BE49-F238E27FC236}">
                    <a16:creationId xmlns:a16="http://schemas.microsoft.com/office/drawing/2014/main" id="{4920C654-32C1-AD9B-3303-30D127B4840C}"/>
                  </a:ext>
                </a:extLst>
              </p:cNvPr>
              <p:cNvSpPr>
                <a:spLocks noChangeArrowheads="1"/>
              </p:cNvSpPr>
              <p:nvPr/>
            </p:nvSpPr>
            <p:spPr bwMode="auto">
              <a:xfrm>
                <a:off x="245" y="1628"/>
                <a:ext cx="4875" cy="1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3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Gross Requirements		0	60	0	60	0</a:t>
                </a:r>
              </a:p>
              <a:p>
                <a:pPr>
                  <a:lnSpc>
                    <a:spcPct val="13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Scheduled Receipts		</a:t>
                </a:r>
              </a:p>
              <a:p>
                <a:pPr>
                  <a:lnSpc>
                    <a:spcPct val="13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Projected on Hand	20	</a:t>
                </a:r>
              </a:p>
              <a:p>
                <a:pPr>
                  <a:lnSpc>
                    <a:spcPct val="13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Net Requirements		</a:t>
                </a:r>
              </a:p>
              <a:p>
                <a:pPr>
                  <a:lnSpc>
                    <a:spcPct val="13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Planned Order Receipts			</a:t>
                </a:r>
              </a:p>
              <a:p>
                <a:pPr>
                  <a:lnSpc>
                    <a:spcPct val="13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Planned Order Releases			</a:t>
                </a:r>
              </a:p>
            </p:txBody>
          </p:sp>
        </p:grpSp>
        <p:sp>
          <p:nvSpPr>
            <p:cNvPr id="9" name="Line 8">
              <a:extLst>
                <a:ext uri="{FF2B5EF4-FFF2-40B4-BE49-F238E27FC236}">
                  <a16:creationId xmlns:a16="http://schemas.microsoft.com/office/drawing/2014/main" id="{2FB7BE4F-B762-7AD0-6069-3288BB4F2632}"/>
                </a:ext>
              </a:extLst>
            </p:cNvPr>
            <p:cNvSpPr>
              <a:spLocks noChangeShapeType="1"/>
            </p:cNvSpPr>
            <p:nvPr/>
          </p:nvSpPr>
          <p:spPr bwMode="auto">
            <a:xfrm>
              <a:off x="498" y="1689"/>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0" name="Line 9">
              <a:extLst>
                <a:ext uri="{FF2B5EF4-FFF2-40B4-BE49-F238E27FC236}">
                  <a16:creationId xmlns:a16="http://schemas.microsoft.com/office/drawing/2014/main" id="{822BC689-EFAB-DB2B-0DAB-9377AFC8E93E}"/>
                </a:ext>
              </a:extLst>
            </p:cNvPr>
            <p:cNvSpPr>
              <a:spLocks noChangeShapeType="1"/>
            </p:cNvSpPr>
            <p:nvPr/>
          </p:nvSpPr>
          <p:spPr bwMode="auto">
            <a:xfrm>
              <a:off x="3103" y="1403"/>
              <a:ext cx="215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1" name="Line 10">
              <a:extLst>
                <a:ext uri="{FF2B5EF4-FFF2-40B4-BE49-F238E27FC236}">
                  <a16:creationId xmlns:a16="http://schemas.microsoft.com/office/drawing/2014/main" id="{605831DC-0A72-68B2-E5A0-14EA6D398E52}"/>
                </a:ext>
              </a:extLst>
            </p:cNvPr>
            <p:cNvSpPr>
              <a:spLocks noChangeShapeType="1"/>
            </p:cNvSpPr>
            <p:nvPr/>
          </p:nvSpPr>
          <p:spPr bwMode="auto">
            <a:xfrm>
              <a:off x="498" y="3118"/>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14" name="Group 22">
            <a:extLst>
              <a:ext uri="{FF2B5EF4-FFF2-40B4-BE49-F238E27FC236}">
                <a16:creationId xmlns:a16="http://schemas.microsoft.com/office/drawing/2014/main" id="{ADED9811-B6B9-0D28-1095-A28F6E367175}"/>
              </a:ext>
            </a:extLst>
          </p:cNvPr>
          <p:cNvGrpSpPr>
            <a:grpSpLocks/>
          </p:cNvGrpSpPr>
          <p:nvPr/>
        </p:nvGrpSpPr>
        <p:grpSpPr bwMode="auto">
          <a:xfrm>
            <a:off x="2172805" y="1096404"/>
            <a:ext cx="7747000" cy="3219450"/>
            <a:chOff x="498" y="1126"/>
            <a:chExt cx="4880" cy="2028"/>
          </a:xfrm>
        </p:grpSpPr>
        <p:grpSp>
          <p:nvGrpSpPr>
            <p:cNvPr id="15" name="Group 21">
              <a:extLst>
                <a:ext uri="{FF2B5EF4-FFF2-40B4-BE49-F238E27FC236}">
                  <a16:creationId xmlns:a16="http://schemas.microsoft.com/office/drawing/2014/main" id="{420C38FD-EEBA-5231-DBE7-7527D9BDD827}"/>
                </a:ext>
              </a:extLst>
            </p:cNvPr>
            <p:cNvGrpSpPr>
              <a:grpSpLocks/>
            </p:cNvGrpSpPr>
            <p:nvPr/>
          </p:nvGrpSpPr>
          <p:grpSpPr bwMode="auto">
            <a:xfrm>
              <a:off x="503" y="1126"/>
              <a:ext cx="4875" cy="1999"/>
              <a:chOff x="503" y="1126"/>
              <a:chExt cx="4875" cy="1999"/>
            </a:xfrm>
          </p:grpSpPr>
          <p:sp>
            <p:nvSpPr>
              <p:cNvPr id="19" name="Rectangle 6">
                <a:extLst>
                  <a:ext uri="{FF2B5EF4-FFF2-40B4-BE49-F238E27FC236}">
                    <a16:creationId xmlns:a16="http://schemas.microsoft.com/office/drawing/2014/main" id="{3BC54902-44F2-6DEE-3E8C-5067CB478035}"/>
                  </a:ext>
                </a:extLst>
              </p:cNvPr>
              <p:cNvSpPr>
                <a:spLocks noChangeArrowheads="1"/>
              </p:cNvSpPr>
              <p:nvPr/>
            </p:nvSpPr>
            <p:spPr bwMode="auto">
              <a:xfrm>
                <a:off x="503" y="1126"/>
                <a:ext cx="4841" cy="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LAPDESK	LLC: 0			PERIOD</a:t>
                </a:r>
              </a:p>
              <a:p>
                <a:pPr>
                  <a:lnSpc>
                    <a:spcPct val="15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MULT 50	LT: 1	</a:t>
                </a:r>
                <a:r>
                  <a:rPr lang="en-US" sz="1800" i="1">
                    <a:latin typeface="Times New Roman" panose="02020603050405020304" pitchFamily="18" charset="0"/>
                    <a:cs typeface="Times New Roman" panose="02020603050405020304" pitchFamily="18" charset="0"/>
                  </a:rPr>
                  <a:t>1	2	3	4	5</a:t>
                </a:r>
              </a:p>
            </p:txBody>
          </p:sp>
          <p:sp>
            <p:nvSpPr>
              <p:cNvPr id="20" name="Rectangle 7">
                <a:extLst>
                  <a:ext uri="{FF2B5EF4-FFF2-40B4-BE49-F238E27FC236}">
                    <a16:creationId xmlns:a16="http://schemas.microsoft.com/office/drawing/2014/main" id="{7CA25202-5EB3-0ABA-77E7-9CB594F7A63A}"/>
                  </a:ext>
                </a:extLst>
              </p:cNvPr>
              <p:cNvSpPr>
                <a:spLocks noChangeArrowheads="1"/>
              </p:cNvSpPr>
              <p:nvPr/>
            </p:nvSpPr>
            <p:spPr bwMode="auto">
              <a:xfrm>
                <a:off x="503" y="1717"/>
                <a:ext cx="4875" cy="1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Gross Requirements		0	60	0	60	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Scheduled Receipts		</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Projected on Hand	20	20	10	10	0	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Net Requirements		0	40		50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Receipts			50		50</a:t>
                </a:r>
              </a:p>
              <a:p>
                <a:pPr>
                  <a:lnSpc>
                    <a:spcPct val="13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Releases		50		50	</a:t>
                </a:r>
              </a:p>
            </p:txBody>
          </p:sp>
        </p:grpSp>
        <p:sp>
          <p:nvSpPr>
            <p:cNvPr id="16" name="Line 8">
              <a:extLst>
                <a:ext uri="{FF2B5EF4-FFF2-40B4-BE49-F238E27FC236}">
                  <a16:creationId xmlns:a16="http://schemas.microsoft.com/office/drawing/2014/main" id="{38773673-2912-33B7-78B4-14DC89F0D5AF}"/>
                </a:ext>
              </a:extLst>
            </p:cNvPr>
            <p:cNvSpPr>
              <a:spLocks noChangeShapeType="1"/>
            </p:cNvSpPr>
            <p:nvPr/>
          </p:nvSpPr>
          <p:spPr bwMode="auto">
            <a:xfrm>
              <a:off x="498" y="1725"/>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7" name="Line 9">
              <a:extLst>
                <a:ext uri="{FF2B5EF4-FFF2-40B4-BE49-F238E27FC236}">
                  <a16:creationId xmlns:a16="http://schemas.microsoft.com/office/drawing/2014/main" id="{CCD483D2-3CDD-038E-0BFC-E55BE60A324A}"/>
                </a:ext>
              </a:extLst>
            </p:cNvPr>
            <p:cNvSpPr>
              <a:spLocks noChangeShapeType="1"/>
            </p:cNvSpPr>
            <p:nvPr/>
          </p:nvSpPr>
          <p:spPr bwMode="auto">
            <a:xfrm>
              <a:off x="3103" y="1439"/>
              <a:ext cx="215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8" name="Line 10">
              <a:extLst>
                <a:ext uri="{FF2B5EF4-FFF2-40B4-BE49-F238E27FC236}">
                  <a16:creationId xmlns:a16="http://schemas.microsoft.com/office/drawing/2014/main" id="{A42D10B5-087E-127A-061C-CFC4D09F62BF}"/>
                </a:ext>
              </a:extLst>
            </p:cNvPr>
            <p:cNvSpPr>
              <a:spLocks noChangeShapeType="1"/>
            </p:cNvSpPr>
            <p:nvPr/>
          </p:nvSpPr>
          <p:spPr bwMode="auto">
            <a:xfrm>
              <a:off x="498" y="3154"/>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21" name="Group 15">
            <a:extLst>
              <a:ext uri="{FF2B5EF4-FFF2-40B4-BE49-F238E27FC236}">
                <a16:creationId xmlns:a16="http://schemas.microsoft.com/office/drawing/2014/main" id="{998BEE5C-7547-66C9-2CA4-887ACB7396F9}"/>
              </a:ext>
            </a:extLst>
          </p:cNvPr>
          <p:cNvGrpSpPr>
            <a:grpSpLocks/>
          </p:cNvGrpSpPr>
          <p:nvPr/>
        </p:nvGrpSpPr>
        <p:grpSpPr bwMode="auto">
          <a:xfrm>
            <a:off x="6168543" y="3552267"/>
            <a:ext cx="1376362" cy="684212"/>
            <a:chOff x="3015" y="2673"/>
            <a:chExt cx="867" cy="431"/>
          </a:xfrm>
        </p:grpSpPr>
        <p:sp>
          <p:nvSpPr>
            <p:cNvPr id="22" name="Freeform 12">
              <a:extLst>
                <a:ext uri="{FF2B5EF4-FFF2-40B4-BE49-F238E27FC236}">
                  <a16:creationId xmlns:a16="http://schemas.microsoft.com/office/drawing/2014/main" id="{3E093B4E-6B26-74DF-C717-776C478B77DD}"/>
                </a:ext>
              </a:extLst>
            </p:cNvPr>
            <p:cNvSpPr>
              <a:spLocks/>
            </p:cNvSpPr>
            <p:nvPr/>
          </p:nvSpPr>
          <p:spPr bwMode="auto">
            <a:xfrm>
              <a:off x="3497" y="2673"/>
              <a:ext cx="385" cy="218"/>
            </a:xfrm>
            <a:custGeom>
              <a:avLst/>
              <a:gdLst>
                <a:gd name="T0" fmla="*/ 258 w 385"/>
                <a:gd name="T1" fmla="*/ 2 h 218"/>
                <a:gd name="T2" fmla="*/ 101 w 385"/>
                <a:gd name="T3" fmla="*/ 18 h 218"/>
                <a:gd name="T4" fmla="*/ 12 w 385"/>
                <a:gd name="T5" fmla="*/ 87 h 218"/>
                <a:gd name="T6" fmla="*/ 30 w 385"/>
                <a:gd name="T7" fmla="*/ 167 h 218"/>
                <a:gd name="T8" fmla="*/ 163 w 385"/>
                <a:gd name="T9" fmla="*/ 211 h 218"/>
                <a:gd name="T10" fmla="*/ 274 w 385"/>
                <a:gd name="T11" fmla="*/ 207 h 218"/>
                <a:gd name="T12" fmla="*/ 346 w 385"/>
                <a:gd name="T13" fmla="*/ 189 h 218"/>
                <a:gd name="T14" fmla="*/ 376 w 385"/>
                <a:gd name="T15" fmla="*/ 149 h 218"/>
                <a:gd name="T16" fmla="*/ 378 w 385"/>
                <a:gd name="T17" fmla="*/ 90 h 218"/>
                <a:gd name="T18" fmla="*/ 336 w 385"/>
                <a:gd name="T19" fmla="*/ 26 h 218"/>
                <a:gd name="T20" fmla="*/ 258 w 385"/>
                <a:gd name="T21" fmla="*/ 2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5" h="218">
                  <a:moveTo>
                    <a:pt x="258" y="2"/>
                  </a:moveTo>
                  <a:cubicBezTo>
                    <a:pt x="220" y="0"/>
                    <a:pt x="142" y="4"/>
                    <a:pt x="101" y="18"/>
                  </a:cubicBezTo>
                  <a:cubicBezTo>
                    <a:pt x="60" y="32"/>
                    <a:pt x="24" y="62"/>
                    <a:pt x="12" y="87"/>
                  </a:cubicBezTo>
                  <a:cubicBezTo>
                    <a:pt x="0" y="112"/>
                    <a:pt x="5" y="146"/>
                    <a:pt x="30" y="167"/>
                  </a:cubicBezTo>
                  <a:cubicBezTo>
                    <a:pt x="55" y="188"/>
                    <a:pt x="122" y="204"/>
                    <a:pt x="163" y="211"/>
                  </a:cubicBezTo>
                  <a:cubicBezTo>
                    <a:pt x="204" y="218"/>
                    <a:pt x="244" y="211"/>
                    <a:pt x="274" y="207"/>
                  </a:cubicBezTo>
                  <a:cubicBezTo>
                    <a:pt x="304" y="203"/>
                    <a:pt x="329" y="199"/>
                    <a:pt x="346" y="189"/>
                  </a:cubicBezTo>
                  <a:cubicBezTo>
                    <a:pt x="363" y="179"/>
                    <a:pt x="371" y="165"/>
                    <a:pt x="376" y="149"/>
                  </a:cubicBezTo>
                  <a:cubicBezTo>
                    <a:pt x="381" y="133"/>
                    <a:pt x="385" y="110"/>
                    <a:pt x="378" y="90"/>
                  </a:cubicBezTo>
                  <a:cubicBezTo>
                    <a:pt x="371" y="70"/>
                    <a:pt x="356" y="41"/>
                    <a:pt x="336" y="26"/>
                  </a:cubicBezTo>
                  <a:cubicBezTo>
                    <a:pt x="316" y="11"/>
                    <a:pt x="274" y="7"/>
                    <a:pt x="258" y="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3" name="Freeform 13">
              <a:extLst>
                <a:ext uri="{FF2B5EF4-FFF2-40B4-BE49-F238E27FC236}">
                  <a16:creationId xmlns:a16="http://schemas.microsoft.com/office/drawing/2014/main" id="{DA79EC31-9BED-CF89-39AE-78604E55A8E7}"/>
                </a:ext>
              </a:extLst>
            </p:cNvPr>
            <p:cNvSpPr>
              <a:spLocks/>
            </p:cNvSpPr>
            <p:nvPr/>
          </p:nvSpPr>
          <p:spPr bwMode="auto">
            <a:xfrm>
              <a:off x="3015" y="2886"/>
              <a:ext cx="385" cy="218"/>
            </a:xfrm>
            <a:custGeom>
              <a:avLst/>
              <a:gdLst>
                <a:gd name="T0" fmla="*/ 258 w 385"/>
                <a:gd name="T1" fmla="*/ 2 h 218"/>
                <a:gd name="T2" fmla="*/ 101 w 385"/>
                <a:gd name="T3" fmla="*/ 18 h 218"/>
                <a:gd name="T4" fmla="*/ 12 w 385"/>
                <a:gd name="T5" fmla="*/ 87 h 218"/>
                <a:gd name="T6" fmla="*/ 30 w 385"/>
                <a:gd name="T7" fmla="*/ 167 h 218"/>
                <a:gd name="T8" fmla="*/ 163 w 385"/>
                <a:gd name="T9" fmla="*/ 211 h 218"/>
                <a:gd name="T10" fmla="*/ 274 w 385"/>
                <a:gd name="T11" fmla="*/ 207 h 218"/>
                <a:gd name="T12" fmla="*/ 346 w 385"/>
                <a:gd name="T13" fmla="*/ 189 h 218"/>
                <a:gd name="T14" fmla="*/ 376 w 385"/>
                <a:gd name="T15" fmla="*/ 149 h 218"/>
                <a:gd name="T16" fmla="*/ 378 w 385"/>
                <a:gd name="T17" fmla="*/ 90 h 218"/>
                <a:gd name="T18" fmla="*/ 336 w 385"/>
                <a:gd name="T19" fmla="*/ 26 h 218"/>
                <a:gd name="T20" fmla="*/ 258 w 385"/>
                <a:gd name="T21" fmla="*/ 2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5" h="218">
                  <a:moveTo>
                    <a:pt x="258" y="2"/>
                  </a:moveTo>
                  <a:cubicBezTo>
                    <a:pt x="220" y="0"/>
                    <a:pt x="142" y="4"/>
                    <a:pt x="101" y="18"/>
                  </a:cubicBezTo>
                  <a:cubicBezTo>
                    <a:pt x="60" y="32"/>
                    <a:pt x="24" y="62"/>
                    <a:pt x="12" y="87"/>
                  </a:cubicBezTo>
                  <a:cubicBezTo>
                    <a:pt x="0" y="112"/>
                    <a:pt x="5" y="146"/>
                    <a:pt x="30" y="167"/>
                  </a:cubicBezTo>
                  <a:cubicBezTo>
                    <a:pt x="55" y="188"/>
                    <a:pt x="122" y="204"/>
                    <a:pt x="163" y="211"/>
                  </a:cubicBezTo>
                  <a:cubicBezTo>
                    <a:pt x="204" y="218"/>
                    <a:pt x="244" y="211"/>
                    <a:pt x="274" y="207"/>
                  </a:cubicBezTo>
                  <a:cubicBezTo>
                    <a:pt x="304" y="203"/>
                    <a:pt x="329" y="199"/>
                    <a:pt x="346" y="189"/>
                  </a:cubicBezTo>
                  <a:cubicBezTo>
                    <a:pt x="363" y="179"/>
                    <a:pt x="371" y="165"/>
                    <a:pt x="376" y="149"/>
                  </a:cubicBezTo>
                  <a:cubicBezTo>
                    <a:pt x="381" y="133"/>
                    <a:pt x="385" y="110"/>
                    <a:pt x="378" y="90"/>
                  </a:cubicBezTo>
                  <a:cubicBezTo>
                    <a:pt x="371" y="70"/>
                    <a:pt x="356" y="41"/>
                    <a:pt x="336" y="26"/>
                  </a:cubicBezTo>
                  <a:cubicBezTo>
                    <a:pt x="316" y="11"/>
                    <a:pt x="274" y="7"/>
                    <a:pt x="258" y="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4" name="Line 14">
              <a:extLst>
                <a:ext uri="{FF2B5EF4-FFF2-40B4-BE49-F238E27FC236}">
                  <a16:creationId xmlns:a16="http://schemas.microsoft.com/office/drawing/2014/main" id="{BF4582ED-CB32-95D0-FB8F-5D8B89EEF8DD}"/>
                </a:ext>
              </a:extLst>
            </p:cNvPr>
            <p:cNvSpPr>
              <a:spLocks noChangeShapeType="1"/>
            </p:cNvSpPr>
            <p:nvPr/>
          </p:nvSpPr>
          <p:spPr bwMode="auto">
            <a:xfrm flipH="1">
              <a:off x="3399" y="2845"/>
              <a:ext cx="134" cy="98"/>
            </a:xfrm>
            <a:prstGeom prst="line">
              <a:avLst/>
            </a:prstGeom>
            <a:noFill/>
            <a:ln w="571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25" name="Group 16">
            <a:extLst>
              <a:ext uri="{FF2B5EF4-FFF2-40B4-BE49-F238E27FC236}">
                <a16:creationId xmlns:a16="http://schemas.microsoft.com/office/drawing/2014/main" id="{AD16EF91-3DD1-AE30-E99C-D2516B43A5B0}"/>
              </a:ext>
            </a:extLst>
          </p:cNvPr>
          <p:cNvGrpSpPr>
            <a:grpSpLocks/>
          </p:cNvGrpSpPr>
          <p:nvPr/>
        </p:nvGrpSpPr>
        <p:grpSpPr bwMode="auto">
          <a:xfrm>
            <a:off x="7717943" y="3550679"/>
            <a:ext cx="1376362" cy="684213"/>
            <a:chOff x="3015" y="2673"/>
            <a:chExt cx="867" cy="431"/>
          </a:xfrm>
        </p:grpSpPr>
        <p:sp>
          <p:nvSpPr>
            <p:cNvPr id="26" name="Freeform 17">
              <a:extLst>
                <a:ext uri="{FF2B5EF4-FFF2-40B4-BE49-F238E27FC236}">
                  <a16:creationId xmlns:a16="http://schemas.microsoft.com/office/drawing/2014/main" id="{89971F7E-D636-D591-C120-68E84E161D3A}"/>
                </a:ext>
              </a:extLst>
            </p:cNvPr>
            <p:cNvSpPr>
              <a:spLocks/>
            </p:cNvSpPr>
            <p:nvPr/>
          </p:nvSpPr>
          <p:spPr bwMode="auto">
            <a:xfrm>
              <a:off x="3497" y="2673"/>
              <a:ext cx="385" cy="218"/>
            </a:xfrm>
            <a:custGeom>
              <a:avLst/>
              <a:gdLst>
                <a:gd name="T0" fmla="*/ 258 w 385"/>
                <a:gd name="T1" fmla="*/ 2 h 218"/>
                <a:gd name="T2" fmla="*/ 101 w 385"/>
                <a:gd name="T3" fmla="*/ 18 h 218"/>
                <a:gd name="T4" fmla="*/ 12 w 385"/>
                <a:gd name="T5" fmla="*/ 87 h 218"/>
                <a:gd name="T6" fmla="*/ 30 w 385"/>
                <a:gd name="T7" fmla="*/ 167 h 218"/>
                <a:gd name="T8" fmla="*/ 163 w 385"/>
                <a:gd name="T9" fmla="*/ 211 h 218"/>
                <a:gd name="T10" fmla="*/ 274 w 385"/>
                <a:gd name="T11" fmla="*/ 207 h 218"/>
                <a:gd name="T12" fmla="*/ 346 w 385"/>
                <a:gd name="T13" fmla="*/ 189 h 218"/>
                <a:gd name="T14" fmla="*/ 376 w 385"/>
                <a:gd name="T15" fmla="*/ 149 h 218"/>
                <a:gd name="T16" fmla="*/ 378 w 385"/>
                <a:gd name="T17" fmla="*/ 90 h 218"/>
                <a:gd name="T18" fmla="*/ 336 w 385"/>
                <a:gd name="T19" fmla="*/ 26 h 218"/>
                <a:gd name="T20" fmla="*/ 258 w 385"/>
                <a:gd name="T21" fmla="*/ 2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5" h="218">
                  <a:moveTo>
                    <a:pt x="258" y="2"/>
                  </a:moveTo>
                  <a:cubicBezTo>
                    <a:pt x="220" y="0"/>
                    <a:pt x="142" y="4"/>
                    <a:pt x="101" y="18"/>
                  </a:cubicBezTo>
                  <a:cubicBezTo>
                    <a:pt x="60" y="32"/>
                    <a:pt x="24" y="62"/>
                    <a:pt x="12" y="87"/>
                  </a:cubicBezTo>
                  <a:cubicBezTo>
                    <a:pt x="0" y="112"/>
                    <a:pt x="5" y="146"/>
                    <a:pt x="30" y="167"/>
                  </a:cubicBezTo>
                  <a:cubicBezTo>
                    <a:pt x="55" y="188"/>
                    <a:pt x="122" y="204"/>
                    <a:pt x="163" y="211"/>
                  </a:cubicBezTo>
                  <a:cubicBezTo>
                    <a:pt x="204" y="218"/>
                    <a:pt x="244" y="211"/>
                    <a:pt x="274" y="207"/>
                  </a:cubicBezTo>
                  <a:cubicBezTo>
                    <a:pt x="304" y="203"/>
                    <a:pt x="329" y="199"/>
                    <a:pt x="346" y="189"/>
                  </a:cubicBezTo>
                  <a:cubicBezTo>
                    <a:pt x="363" y="179"/>
                    <a:pt x="371" y="165"/>
                    <a:pt x="376" y="149"/>
                  </a:cubicBezTo>
                  <a:cubicBezTo>
                    <a:pt x="381" y="133"/>
                    <a:pt x="385" y="110"/>
                    <a:pt x="378" y="90"/>
                  </a:cubicBezTo>
                  <a:cubicBezTo>
                    <a:pt x="371" y="70"/>
                    <a:pt x="356" y="41"/>
                    <a:pt x="336" y="26"/>
                  </a:cubicBezTo>
                  <a:cubicBezTo>
                    <a:pt x="316" y="11"/>
                    <a:pt x="274" y="7"/>
                    <a:pt x="258" y="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7" name="Freeform 18">
              <a:extLst>
                <a:ext uri="{FF2B5EF4-FFF2-40B4-BE49-F238E27FC236}">
                  <a16:creationId xmlns:a16="http://schemas.microsoft.com/office/drawing/2014/main" id="{57F1D2C2-6C7D-8772-F525-802E5571EA5D}"/>
                </a:ext>
              </a:extLst>
            </p:cNvPr>
            <p:cNvSpPr>
              <a:spLocks/>
            </p:cNvSpPr>
            <p:nvPr/>
          </p:nvSpPr>
          <p:spPr bwMode="auto">
            <a:xfrm>
              <a:off x="3015" y="2886"/>
              <a:ext cx="385" cy="218"/>
            </a:xfrm>
            <a:custGeom>
              <a:avLst/>
              <a:gdLst>
                <a:gd name="T0" fmla="*/ 258 w 385"/>
                <a:gd name="T1" fmla="*/ 2 h 218"/>
                <a:gd name="T2" fmla="*/ 101 w 385"/>
                <a:gd name="T3" fmla="*/ 18 h 218"/>
                <a:gd name="T4" fmla="*/ 12 w 385"/>
                <a:gd name="T5" fmla="*/ 87 h 218"/>
                <a:gd name="T6" fmla="*/ 30 w 385"/>
                <a:gd name="T7" fmla="*/ 167 h 218"/>
                <a:gd name="T8" fmla="*/ 163 w 385"/>
                <a:gd name="T9" fmla="*/ 211 h 218"/>
                <a:gd name="T10" fmla="*/ 274 w 385"/>
                <a:gd name="T11" fmla="*/ 207 h 218"/>
                <a:gd name="T12" fmla="*/ 346 w 385"/>
                <a:gd name="T13" fmla="*/ 189 h 218"/>
                <a:gd name="T14" fmla="*/ 376 w 385"/>
                <a:gd name="T15" fmla="*/ 149 h 218"/>
                <a:gd name="T16" fmla="*/ 378 w 385"/>
                <a:gd name="T17" fmla="*/ 90 h 218"/>
                <a:gd name="T18" fmla="*/ 336 w 385"/>
                <a:gd name="T19" fmla="*/ 26 h 218"/>
                <a:gd name="T20" fmla="*/ 258 w 385"/>
                <a:gd name="T21" fmla="*/ 2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5" h="218">
                  <a:moveTo>
                    <a:pt x="258" y="2"/>
                  </a:moveTo>
                  <a:cubicBezTo>
                    <a:pt x="220" y="0"/>
                    <a:pt x="142" y="4"/>
                    <a:pt x="101" y="18"/>
                  </a:cubicBezTo>
                  <a:cubicBezTo>
                    <a:pt x="60" y="32"/>
                    <a:pt x="24" y="62"/>
                    <a:pt x="12" y="87"/>
                  </a:cubicBezTo>
                  <a:cubicBezTo>
                    <a:pt x="0" y="112"/>
                    <a:pt x="5" y="146"/>
                    <a:pt x="30" y="167"/>
                  </a:cubicBezTo>
                  <a:cubicBezTo>
                    <a:pt x="55" y="188"/>
                    <a:pt x="122" y="204"/>
                    <a:pt x="163" y="211"/>
                  </a:cubicBezTo>
                  <a:cubicBezTo>
                    <a:pt x="204" y="218"/>
                    <a:pt x="244" y="211"/>
                    <a:pt x="274" y="207"/>
                  </a:cubicBezTo>
                  <a:cubicBezTo>
                    <a:pt x="304" y="203"/>
                    <a:pt x="329" y="199"/>
                    <a:pt x="346" y="189"/>
                  </a:cubicBezTo>
                  <a:cubicBezTo>
                    <a:pt x="363" y="179"/>
                    <a:pt x="371" y="165"/>
                    <a:pt x="376" y="149"/>
                  </a:cubicBezTo>
                  <a:cubicBezTo>
                    <a:pt x="381" y="133"/>
                    <a:pt x="385" y="110"/>
                    <a:pt x="378" y="90"/>
                  </a:cubicBezTo>
                  <a:cubicBezTo>
                    <a:pt x="371" y="70"/>
                    <a:pt x="356" y="41"/>
                    <a:pt x="336" y="26"/>
                  </a:cubicBezTo>
                  <a:cubicBezTo>
                    <a:pt x="316" y="11"/>
                    <a:pt x="274" y="7"/>
                    <a:pt x="258" y="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8" name="Line 19">
              <a:extLst>
                <a:ext uri="{FF2B5EF4-FFF2-40B4-BE49-F238E27FC236}">
                  <a16:creationId xmlns:a16="http://schemas.microsoft.com/office/drawing/2014/main" id="{128BDDBE-5C0A-B5A4-163C-2EAE00A120EA}"/>
                </a:ext>
              </a:extLst>
            </p:cNvPr>
            <p:cNvSpPr>
              <a:spLocks noChangeShapeType="1"/>
            </p:cNvSpPr>
            <p:nvPr/>
          </p:nvSpPr>
          <p:spPr bwMode="auto">
            <a:xfrm flipH="1">
              <a:off x="3399" y="2845"/>
              <a:ext cx="134" cy="98"/>
            </a:xfrm>
            <a:prstGeom prst="line">
              <a:avLst/>
            </a:prstGeom>
            <a:noFill/>
            <a:ln w="571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sp>
        <p:nvSpPr>
          <p:cNvPr id="29" name="Rectangle 20">
            <a:extLst>
              <a:ext uri="{FF2B5EF4-FFF2-40B4-BE49-F238E27FC236}">
                <a16:creationId xmlns:a16="http://schemas.microsoft.com/office/drawing/2014/main" id="{B6222695-3910-1AE1-C31F-CF0088153C26}"/>
              </a:ext>
            </a:extLst>
          </p:cNvPr>
          <p:cNvSpPr>
            <a:spLocks noChangeArrowheads="1"/>
          </p:cNvSpPr>
          <p:nvPr/>
        </p:nvSpPr>
        <p:spPr bwMode="auto">
          <a:xfrm>
            <a:off x="2771293" y="4588904"/>
            <a:ext cx="6646862" cy="701675"/>
          </a:xfrm>
          <a:prstGeom prst="rect">
            <a:avLst/>
          </a:prstGeom>
          <a:solidFill>
            <a:schemeClr val="accent5">
              <a:lumMod val="20000"/>
              <a:lumOff val="80000"/>
            </a:schemeClr>
          </a:solidFill>
          <a:ln>
            <a:solidFill>
              <a:schemeClr val="tx1"/>
            </a:solidFill>
          </a:ln>
          <a:effectLst/>
        </p:spPr>
        <p:txBody>
          <a:bodyPr>
            <a:spAutoFit/>
          </a:bodyPr>
          <a:lstStyle/>
          <a:p>
            <a:r>
              <a:rPr lang="en-US" sz="2000" dirty="0">
                <a:latin typeface="Times New Roman" panose="02020603050405020304" pitchFamily="18" charset="0"/>
                <a:cs typeface="Times New Roman" panose="02020603050405020304" pitchFamily="18" charset="0"/>
              </a:rPr>
              <a:t>Following the same logic, the </a:t>
            </a:r>
            <a:r>
              <a:rPr lang="en-US" sz="2000" dirty="0" err="1">
                <a:latin typeface="Times New Roman" panose="02020603050405020304" pitchFamily="18" charset="0"/>
                <a:cs typeface="Times New Roman" panose="02020603050405020304" pitchFamily="18" charset="0"/>
              </a:rPr>
              <a:t>Lapdesk</a:t>
            </a:r>
            <a:r>
              <a:rPr lang="en-US" sz="2000" dirty="0">
                <a:latin typeface="Times New Roman" panose="02020603050405020304" pitchFamily="18" charset="0"/>
                <a:cs typeface="Times New Roman" panose="02020603050405020304" pitchFamily="18" charset="0"/>
              </a:rPr>
              <a:t> MRP matrix is completed as shown</a:t>
            </a:r>
          </a:p>
        </p:txBody>
      </p:sp>
    </p:spTree>
    <p:extLst>
      <p:ext uri="{BB962C8B-B14F-4D97-AF65-F5344CB8AC3E}">
        <p14:creationId xmlns:p14="http://schemas.microsoft.com/office/powerpoint/2010/main" val="3412387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1000"/>
                                  </p:stCondLst>
                                  <p:childTnLst>
                                    <p:set>
                                      <p:cBhvr>
                                        <p:cTn id="6" dur="1" fill="hold">
                                          <p:stCondLst>
                                            <p:cond delay="0"/>
                                          </p:stCondLst>
                                        </p:cTn>
                                        <p:tgtEl>
                                          <p:spTgt spid="7"/>
                                        </p:tgtEl>
                                        <p:attrNameLst>
                                          <p:attrName>style.visibility</p:attrName>
                                        </p:attrNameLst>
                                      </p:cBhvr>
                                      <p:to>
                                        <p:strVal val="visible"/>
                                      </p:to>
                                    </p:set>
                                    <p:animEffect transition="in" filter="strips(downRigh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fade">
                                      <p:cBhvr>
                                        <p:cTn id="2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75AFE-BEA6-B30F-3478-FD69C8335C4C}"/>
              </a:ext>
            </a:extLst>
          </p:cNvPr>
          <p:cNvSpPr>
            <a:spLocks noGrp="1"/>
          </p:cNvSpPr>
          <p:nvPr>
            <p:ph type="title"/>
          </p:nvPr>
        </p:nvSpPr>
        <p:spPr/>
        <p:txBody>
          <a:bodyPr/>
          <a:lstStyle/>
          <a:p>
            <a:r>
              <a:rPr lang="en-IN" dirty="0"/>
              <a:t>Example— School mate products</a:t>
            </a:r>
          </a:p>
        </p:txBody>
      </p:sp>
      <p:sp>
        <p:nvSpPr>
          <p:cNvPr id="4" name="Date Placeholder 3">
            <a:extLst>
              <a:ext uri="{FF2B5EF4-FFF2-40B4-BE49-F238E27FC236}">
                <a16:creationId xmlns:a16="http://schemas.microsoft.com/office/drawing/2014/main" id="{10C87C55-5495-C833-3AF8-9A903E527957}"/>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A7A45BF1-15EE-20A6-9BB6-7713360F4714}"/>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C1087CA6-9A58-C89D-61B9-0BDE1F15BC4E}"/>
              </a:ext>
            </a:extLst>
          </p:cNvPr>
          <p:cNvSpPr>
            <a:spLocks noGrp="1"/>
          </p:cNvSpPr>
          <p:nvPr>
            <p:ph type="sldNum" idx="12"/>
          </p:nvPr>
        </p:nvSpPr>
        <p:spPr/>
        <p:txBody>
          <a:bodyPr/>
          <a:lstStyle/>
          <a:p>
            <a:fld id="{00000000-1234-1234-1234-123412341234}" type="slidenum">
              <a:rPr lang="en-US" smtClean="0"/>
              <a:pPr/>
              <a:t>33</a:t>
            </a:fld>
            <a:endParaRPr lang="en-US" dirty="0"/>
          </a:p>
        </p:txBody>
      </p:sp>
      <p:grpSp>
        <p:nvGrpSpPr>
          <p:cNvPr id="7" name="Group 43">
            <a:extLst>
              <a:ext uri="{FF2B5EF4-FFF2-40B4-BE49-F238E27FC236}">
                <a16:creationId xmlns:a16="http://schemas.microsoft.com/office/drawing/2014/main" id="{25D1A9F4-F22E-3840-5FB6-AB7EF1531BDD}"/>
              </a:ext>
            </a:extLst>
          </p:cNvPr>
          <p:cNvGrpSpPr>
            <a:grpSpLocks/>
          </p:cNvGrpSpPr>
          <p:nvPr/>
        </p:nvGrpSpPr>
        <p:grpSpPr bwMode="auto">
          <a:xfrm>
            <a:off x="1893039" y="3239681"/>
            <a:ext cx="7747000" cy="2633663"/>
            <a:chOff x="516" y="2168"/>
            <a:chExt cx="4880" cy="1659"/>
          </a:xfrm>
        </p:grpSpPr>
        <p:sp>
          <p:nvSpPr>
            <p:cNvPr id="8" name="Rectangle 6">
              <a:extLst>
                <a:ext uri="{FF2B5EF4-FFF2-40B4-BE49-F238E27FC236}">
                  <a16:creationId xmlns:a16="http://schemas.microsoft.com/office/drawing/2014/main" id="{9BC8E826-843C-509C-A054-A17B5A2057DD}"/>
                </a:ext>
              </a:extLst>
            </p:cNvPr>
            <p:cNvSpPr>
              <a:spLocks noChangeArrowheads="1"/>
            </p:cNvSpPr>
            <p:nvPr/>
          </p:nvSpPr>
          <p:spPr bwMode="auto">
            <a:xfrm>
              <a:off x="521" y="2168"/>
              <a:ext cx="4841" cy="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5000"/>
                </a:lnSpc>
                <a:tabLst>
                  <a:tab pos="3146425" algn="r"/>
                  <a:tab pos="4191000" algn="ctr"/>
                  <a:tab pos="4953000" algn="ctr"/>
                  <a:tab pos="5715000" algn="ctr"/>
                  <a:tab pos="6477000" algn="ctr"/>
                  <a:tab pos="7239000" algn="ctr"/>
                </a:tabLst>
              </a:pPr>
              <a:r>
                <a:rPr lang="en-US" sz="1800" dirty="0">
                  <a:latin typeface="Times New Roman" panose="02020603050405020304" pitchFamily="18" charset="0"/>
                  <a:cs typeface="Times New Roman" panose="02020603050405020304" pitchFamily="18" charset="0"/>
                </a:rPr>
                <a:t>ITEM: PRESSBOARD	LLC: 1			PERIOD</a:t>
              </a:r>
            </a:p>
            <a:p>
              <a:pPr>
                <a:lnSpc>
                  <a:spcPct val="125000"/>
                </a:lnSpc>
                <a:tabLst>
                  <a:tab pos="3146425" algn="r"/>
                  <a:tab pos="4191000" algn="ctr"/>
                  <a:tab pos="4953000" algn="ctr"/>
                  <a:tab pos="5715000" algn="ctr"/>
                  <a:tab pos="6477000" algn="ctr"/>
                  <a:tab pos="7239000" algn="ctr"/>
                </a:tabLst>
              </a:pPr>
              <a:r>
                <a:rPr lang="en-US" sz="1800" dirty="0">
                  <a:latin typeface="Times New Roman" panose="02020603050405020304" pitchFamily="18" charset="0"/>
                  <a:cs typeface="Times New Roman" panose="02020603050405020304" pitchFamily="18" charset="0"/>
                </a:rPr>
                <a:t>LOT SIZE: MIN 100	LT: 1	</a:t>
              </a:r>
              <a:r>
                <a:rPr lang="en-US" sz="1800" i="1" dirty="0">
                  <a:latin typeface="Times New Roman" panose="02020603050405020304" pitchFamily="18" charset="0"/>
                  <a:cs typeface="Times New Roman" panose="02020603050405020304" pitchFamily="18" charset="0"/>
                </a:rPr>
                <a:t>1	2	3	4	5</a:t>
              </a:r>
            </a:p>
          </p:txBody>
        </p:sp>
        <p:sp>
          <p:nvSpPr>
            <p:cNvPr id="9" name="Rectangle 7">
              <a:extLst>
                <a:ext uri="{FF2B5EF4-FFF2-40B4-BE49-F238E27FC236}">
                  <a16:creationId xmlns:a16="http://schemas.microsoft.com/office/drawing/2014/main" id="{06B0BA24-167C-32C0-BA2E-E712AB977201}"/>
                </a:ext>
              </a:extLst>
            </p:cNvPr>
            <p:cNvSpPr>
              <a:spLocks noChangeArrowheads="1"/>
            </p:cNvSpPr>
            <p:nvPr/>
          </p:nvSpPr>
          <p:spPr bwMode="auto">
            <a:xfrm>
              <a:off x="521" y="2606"/>
              <a:ext cx="4875" cy="1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1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Gross Requirements		</a:t>
              </a:r>
            </a:p>
            <a:p>
              <a:pPr>
                <a:lnSpc>
                  <a:spcPct val="11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Scheduled Receipts		</a:t>
              </a:r>
            </a:p>
            <a:p>
              <a:pPr>
                <a:lnSpc>
                  <a:spcPct val="11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Projected on Hand	150	</a:t>
              </a:r>
            </a:p>
            <a:p>
              <a:pPr>
                <a:lnSpc>
                  <a:spcPct val="11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Net Requirements			</a:t>
              </a:r>
            </a:p>
            <a:p>
              <a:pPr>
                <a:lnSpc>
                  <a:spcPct val="11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Planned Order Receipts			</a:t>
              </a:r>
            </a:p>
            <a:p>
              <a:pPr>
                <a:lnSpc>
                  <a:spcPct val="110000"/>
                </a:lnSpc>
                <a:tabLst>
                  <a:tab pos="3146425" algn="r"/>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Planned Order Releases			</a:t>
              </a:r>
            </a:p>
          </p:txBody>
        </p:sp>
        <p:sp>
          <p:nvSpPr>
            <p:cNvPr id="10" name="Line 8">
              <a:extLst>
                <a:ext uri="{FF2B5EF4-FFF2-40B4-BE49-F238E27FC236}">
                  <a16:creationId xmlns:a16="http://schemas.microsoft.com/office/drawing/2014/main" id="{12A6EDD9-C9A2-8A6F-9250-ADB2D7EB4C2E}"/>
                </a:ext>
              </a:extLst>
            </p:cNvPr>
            <p:cNvSpPr>
              <a:spLocks noChangeShapeType="1"/>
            </p:cNvSpPr>
            <p:nvPr/>
          </p:nvSpPr>
          <p:spPr bwMode="auto">
            <a:xfrm>
              <a:off x="516" y="2641"/>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1" name="Line 9">
              <a:extLst>
                <a:ext uri="{FF2B5EF4-FFF2-40B4-BE49-F238E27FC236}">
                  <a16:creationId xmlns:a16="http://schemas.microsoft.com/office/drawing/2014/main" id="{9C0F8F1E-5CF4-9F7E-E449-7D82969C8B5D}"/>
                </a:ext>
              </a:extLst>
            </p:cNvPr>
            <p:cNvSpPr>
              <a:spLocks noChangeShapeType="1"/>
            </p:cNvSpPr>
            <p:nvPr/>
          </p:nvSpPr>
          <p:spPr bwMode="auto">
            <a:xfrm>
              <a:off x="3121" y="2427"/>
              <a:ext cx="215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2" name="Line 10">
              <a:extLst>
                <a:ext uri="{FF2B5EF4-FFF2-40B4-BE49-F238E27FC236}">
                  <a16:creationId xmlns:a16="http://schemas.microsoft.com/office/drawing/2014/main" id="{43E5C17C-6633-E9DA-4452-C0E24D19C1FE}"/>
                </a:ext>
              </a:extLst>
            </p:cNvPr>
            <p:cNvSpPr>
              <a:spLocks noChangeShapeType="1"/>
            </p:cNvSpPr>
            <p:nvPr/>
          </p:nvSpPr>
          <p:spPr bwMode="auto">
            <a:xfrm>
              <a:off x="516" y="3827"/>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13" name="Group 40">
            <a:extLst>
              <a:ext uri="{FF2B5EF4-FFF2-40B4-BE49-F238E27FC236}">
                <a16:creationId xmlns:a16="http://schemas.microsoft.com/office/drawing/2014/main" id="{E8CA0FF8-6F39-A0D3-AE38-F35707E706ED}"/>
              </a:ext>
            </a:extLst>
          </p:cNvPr>
          <p:cNvGrpSpPr>
            <a:grpSpLocks/>
          </p:cNvGrpSpPr>
          <p:nvPr/>
        </p:nvGrpSpPr>
        <p:grpSpPr bwMode="auto">
          <a:xfrm>
            <a:off x="1893039" y="1063219"/>
            <a:ext cx="7986713" cy="1116012"/>
            <a:chOff x="516" y="797"/>
            <a:chExt cx="5031" cy="703"/>
          </a:xfrm>
        </p:grpSpPr>
        <p:grpSp>
          <p:nvGrpSpPr>
            <p:cNvPr id="14" name="Group 28">
              <a:extLst>
                <a:ext uri="{FF2B5EF4-FFF2-40B4-BE49-F238E27FC236}">
                  <a16:creationId xmlns:a16="http://schemas.microsoft.com/office/drawing/2014/main" id="{189A3BB4-6A7E-05B0-940D-B338033E2E17}"/>
                </a:ext>
              </a:extLst>
            </p:cNvPr>
            <p:cNvGrpSpPr>
              <a:grpSpLocks/>
            </p:cNvGrpSpPr>
            <p:nvPr/>
          </p:nvGrpSpPr>
          <p:grpSpPr bwMode="auto">
            <a:xfrm>
              <a:off x="516" y="797"/>
              <a:ext cx="5031" cy="688"/>
              <a:chOff x="422" y="806"/>
              <a:chExt cx="5031" cy="688"/>
            </a:xfrm>
          </p:grpSpPr>
          <p:sp>
            <p:nvSpPr>
              <p:cNvPr id="18" name="Rectangle 26">
                <a:extLst>
                  <a:ext uri="{FF2B5EF4-FFF2-40B4-BE49-F238E27FC236}">
                    <a16:creationId xmlns:a16="http://schemas.microsoft.com/office/drawing/2014/main" id="{386C5546-E07B-FBB7-C721-A113032B1591}"/>
                  </a:ext>
                </a:extLst>
              </p:cNvPr>
              <p:cNvSpPr>
                <a:spLocks noChangeArrowheads="1"/>
              </p:cNvSpPr>
              <p:nvPr/>
            </p:nvSpPr>
            <p:spPr bwMode="auto">
              <a:xfrm>
                <a:off x="422" y="806"/>
                <a:ext cx="4841" cy="4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CLIPBOARD	LLC: 0			PERIOD</a:t>
                </a:r>
              </a:p>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L4L	LT: 1	</a:t>
                </a:r>
                <a:r>
                  <a:rPr lang="en-US" sz="1800" i="1">
                    <a:latin typeface="Times New Roman" panose="02020603050405020304" pitchFamily="18" charset="0"/>
                    <a:cs typeface="Times New Roman" panose="02020603050405020304" pitchFamily="18" charset="0"/>
                  </a:rPr>
                  <a:t>1	2	3	4	5</a:t>
                </a:r>
              </a:p>
            </p:txBody>
          </p:sp>
          <p:sp>
            <p:nvSpPr>
              <p:cNvPr id="19" name="Rectangle 27">
                <a:extLst>
                  <a:ext uri="{FF2B5EF4-FFF2-40B4-BE49-F238E27FC236}">
                    <a16:creationId xmlns:a16="http://schemas.microsoft.com/office/drawing/2014/main" id="{A2B9A6E3-F956-39A3-2770-0D98BEB05FFD}"/>
                  </a:ext>
                </a:extLst>
              </p:cNvPr>
              <p:cNvSpPr>
                <a:spLocks noChangeArrowheads="1"/>
              </p:cNvSpPr>
              <p:nvPr/>
            </p:nvSpPr>
            <p:spPr bwMode="auto">
              <a:xfrm>
                <a:off x="422" y="1258"/>
                <a:ext cx="5031"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10000"/>
                  </a:lnSpc>
                  <a:tabLst>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Planned Order Releases		100	100	100	</a:t>
                </a:r>
                <a:endParaRPr lang="en-US">
                  <a:latin typeface="Times New Roman" panose="02020603050405020304" pitchFamily="18" charset="0"/>
                  <a:cs typeface="Times New Roman" panose="02020603050405020304" pitchFamily="18" charset="0"/>
                </a:endParaRPr>
              </a:p>
            </p:txBody>
          </p:sp>
        </p:grpSp>
        <p:sp>
          <p:nvSpPr>
            <p:cNvPr id="15" name="Line 29">
              <a:extLst>
                <a:ext uri="{FF2B5EF4-FFF2-40B4-BE49-F238E27FC236}">
                  <a16:creationId xmlns:a16="http://schemas.microsoft.com/office/drawing/2014/main" id="{E0FA06F6-5B2B-7044-36F6-3E10B24E7FDE}"/>
                </a:ext>
              </a:extLst>
            </p:cNvPr>
            <p:cNvSpPr>
              <a:spLocks noChangeShapeType="1"/>
            </p:cNvSpPr>
            <p:nvPr/>
          </p:nvSpPr>
          <p:spPr bwMode="auto">
            <a:xfrm>
              <a:off x="527" y="1262"/>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6" name="Line 30">
              <a:extLst>
                <a:ext uri="{FF2B5EF4-FFF2-40B4-BE49-F238E27FC236}">
                  <a16:creationId xmlns:a16="http://schemas.microsoft.com/office/drawing/2014/main" id="{E9271F36-674D-DD24-1791-07958009E21B}"/>
                </a:ext>
              </a:extLst>
            </p:cNvPr>
            <p:cNvSpPr>
              <a:spLocks noChangeShapeType="1"/>
            </p:cNvSpPr>
            <p:nvPr/>
          </p:nvSpPr>
          <p:spPr bwMode="auto">
            <a:xfrm>
              <a:off x="3025" y="1040"/>
              <a:ext cx="224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7" name="Line 38">
              <a:extLst>
                <a:ext uri="{FF2B5EF4-FFF2-40B4-BE49-F238E27FC236}">
                  <a16:creationId xmlns:a16="http://schemas.microsoft.com/office/drawing/2014/main" id="{C74C1950-83E0-5096-FF33-76836CB5FEC1}"/>
                </a:ext>
              </a:extLst>
            </p:cNvPr>
            <p:cNvSpPr>
              <a:spLocks noChangeShapeType="1"/>
            </p:cNvSpPr>
            <p:nvPr/>
          </p:nvSpPr>
          <p:spPr bwMode="auto">
            <a:xfrm>
              <a:off x="527" y="1500"/>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20" name="Group 42">
            <a:extLst>
              <a:ext uri="{FF2B5EF4-FFF2-40B4-BE49-F238E27FC236}">
                <a16:creationId xmlns:a16="http://schemas.microsoft.com/office/drawing/2014/main" id="{02904382-98A5-5D2A-7602-1FD4BC227681}"/>
              </a:ext>
            </a:extLst>
          </p:cNvPr>
          <p:cNvGrpSpPr>
            <a:grpSpLocks/>
          </p:cNvGrpSpPr>
          <p:nvPr/>
        </p:nvGrpSpPr>
        <p:grpSpPr bwMode="auto">
          <a:xfrm>
            <a:off x="1893039" y="2161769"/>
            <a:ext cx="7986713" cy="1092200"/>
            <a:chOff x="516" y="1489"/>
            <a:chExt cx="5031" cy="688"/>
          </a:xfrm>
        </p:grpSpPr>
        <p:grpSp>
          <p:nvGrpSpPr>
            <p:cNvPr id="21" name="Group 33">
              <a:extLst>
                <a:ext uri="{FF2B5EF4-FFF2-40B4-BE49-F238E27FC236}">
                  <a16:creationId xmlns:a16="http://schemas.microsoft.com/office/drawing/2014/main" id="{3B050133-B4AE-84B8-6462-FF5233E8D5A6}"/>
                </a:ext>
              </a:extLst>
            </p:cNvPr>
            <p:cNvGrpSpPr>
              <a:grpSpLocks/>
            </p:cNvGrpSpPr>
            <p:nvPr/>
          </p:nvGrpSpPr>
          <p:grpSpPr bwMode="auto">
            <a:xfrm>
              <a:off x="516" y="1489"/>
              <a:ext cx="5031" cy="688"/>
              <a:chOff x="422" y="806"/>
              <a:chExt cx="5031" cy="688"/>
            </a:xfrm>
          </p:grpSpPr>
          <p:sp>
            <p:nvSpPr>
              <p:cNvPr id="25" name="Rectangle 34">
                <a:extLst>
                  <a:ext uri="{FF2B5EF4-FFF2-40B4-BE49-F238E27FC236}">
                    <a16:creationId xmlns:a16="http://schemas.microsoft.com/office/drawing/2014/main" id="{003E2762-BD9A-FA47-385C-2CD0B62AA32C}"/>
                  </a:ext>
                </a:extLst>
              </p:cNvPr>
              <p:cNvSpPr>
                <a:spLocks noChangeArrowheads="1"/>
              </p:cNvSpPr>
              <p:nvPr/>
            </p:nvSpPr>
            <p:spPr bwMode="auto">
              <a:xfrm>
                <a:off x="422" y="806"/>
                <a:ext cx="4841" cy="4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LAPDESK	LLC: 0			PERIOD</a:t>
                </a:r>
              </a:p>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MULT 50	LT: 1	</a:t>
                </a:r>
                <a:r>
                  <a:rPr lang="en-US" sz="1800" i="1">
                    <a:latin typeface="Times New Roman" panose="02020603050405020304" pitchFamily="18" charset="0"/>
                    <a:cs typeface="Times New Roman" panose="02020603050405020304" pitchFamily="18" charset="0"/>
                  </a:rPr>
                  <a:t>1	2	3	4	5</a:t>
                </a:r>
              </a:p>
            </p:txBody>
          </p:sp>
          <p:sp>
            <p:nvSpPr>
              <p:cNvPr id="26" name="Rectangle 35">
                <a:extLst>
                  <a:ext uri="{FF2B5EF4-FFF2-40B4-BE49-F238E27FC236}">
                    <a16:creationId xmlns:a16="http://schemas.microsoft.com/office/drawing/2014/main" id="{46CE5846-E0CB-4D43-E6DD-2A61B82EF571}"/>
                  </a:ext>
                </a:extLst>
              </p:cNvPr>
              <p:cNvSpPr>
                <a:spLocks noChangeArrowheads="1"/>
              </p:cNvSpPr>
              <p:nvPr/>
            </p:nvSpPr>
            <p:spPr bwMode="auto">
              <a:xfrm>
                <a:off x="422" y="1258"/>
                <a:ext cx="5031"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10000"/>
                  </a:lnSpc>
                  <a:tabLst>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Planned Order Releases	50		50		</a:t>
                </a:r>
                <a:endParaRPr lang="en-US">
                  <a:latin typeface="Times New Roman" panose="02020603050405020304" pitchFamily="18" charset="0"/>
                  <a:cs typeface="Times New Roman" panose="02020603050405020304" pitchFamily="18" charset="0"/>
                </a:endParaRPr>
              </a:p>
            </p:txBody>
          </p:sp>
        </p:grpSp>
        <p:sp>
          <p:nvSpPr>
            <p:cNvPr id="22" name="Line 36">
              <a:extLst>
                <a:ext uri="{FF2B5EF4-FFF2-40B4-BE49-F238E27FC236}">
                  <a16:creationId xmlns:a16="http://schemas.microsoft.com/office/drawing/2014/main" id="{A76E259B-3C3B-621D-043E-9B119F4D49D1}"/>
                </a:ext>
              </a:extLst>
            </p:cNvPr>
            <p:cNvSpPr>
              <a:spLocks noChangeShapeType="1"/>
            </p:cNvSpPr>
            <p:nvPr/>
          </p:nvSpPr>
          <p:spPr bwMode="auto">
            <a:xfrm>
              <a:off x="527" y="1954"/>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3" name="Line 37">
              <a:extLst>
                <a:ext uri="{FF2B5EF4-FFF2-40B4-BE49-F238E27FC236}">
                  <a16:creationId xmlns:a16="http://schemas.microsoft.com/office/drawing/2014/main" id="{B5C23F42-5B37-1DC8-E790-E8C5B1C335FE}"/>
                </a:ext>
              </a:extLst>
            </p:cNvPr>
            <p:cNvSpPr>
              <a:spLocks noChangeShapeType="1"/>
            </p:cNvSpPr>
            <p:nvPr/>
          </p:nvSpPr>
          <p:spPr bwMode="auto">
            <a:xfrm>
              <a:off x="3025" y="1732"/>
              <a:ext cx="224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4" name="Line 39">
              <a:extLst>
                <a:ext uri="{FF2B5EF4-FFF2-40B4-BE49-F238E27FC236}">
                  <a16:creationId xmlns:a16="http://schemas.microsoft.com/office/drawing/2014/main" id="{C71D9274-7BBB-DA18-D720-05949FEEF0A9}"/>
                </a:ext>
              </a:extLst>
            </p:cNvPr>
            <p:cNvSpPr>
              <a:spLocks noChangeShapeType="1"/>
            </p:cNvSpPr>
            <p:nvPr/>
          </p:nvSpPr>
          <p:spPr bwMode="auto">
            <a:xfrm>
              <a:off x="527" y="2174"/>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27" name="Group 43">
            <a:extLst>
              <a:ext uri="{FF2B5EF4-FFF2-40B4-BE49-F238E27FC236}">
                <a16:creationId xmlns:a16="http://schemas.microsoft.com/office/drawing/2014/main" id="{D684BAEC-2BE4-147B-E7AC-69CDA5446E47}"/>
              </a:ext>
            </a:extLst>
          </p:cNvPr>
          <p:cNvGrpSpPr>
            <a:grpSpLocks/>
          </p:cNvGrpSpPr>
          <p:nvPr/>
        </p:nvGrpSpPr>
        <p:grpSpPr bwMode="auto">
          <a:xfrm>
            <a:off x="1893039" y="3234919"/>
            <a:ext cx="7747000" cy="2638426"/>
            <a:chOff x="516" y="2165"/>
            <a:chExt cx="4880" cy="1662"/>
          </a:xfrm>
        </p:grpSpPr>
        <p:sp>
          <p:nvSpPr>
            <p:cNvPr id="28" name="Rectangle 6">
              <a:extLst>
                <a:ext uri="{FF2B5EF4-FFF2-40B4-BE49-F238E27FC236}">
                  <a16:creationId xmlns:a16="http://schemas.microsoft.com/office/drawing/2014/main" id="{BAD6EEC6-F17B-BB6F-1C11-CCA54B870E63}"/>
                </a:ext>
              </a:extLst>
            </p:cNvPr>
            <p:cNvSpPr>
              <a:spLocks noChangeArrowheads="1"/>
            </p:cNvSpPr>
            <p:nvPr/>
          </p:nvSpPr>
          <p:spPr bwMode="auto">
            <a:xfrm>
              <a:off x="521" y="2165"/>
              <a:ext cx="4841" cy="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5000"/>
                </a:lnSpc>
                <a:tabLst>
                  <a:tab pos="3146425" algn="r"/>
                  <a:tab pos="4191000" algn="ctr"/>
                  <a:tab pos="4953000" algn="ctr"/>
                  <a:tab pos="5715000" algn="ctr"/>
                  <a:tab pos="6477000" algn="ctr"/>
                  <a:tab pos="7239000" algn="ctr"/>
                </a:tabLst>
              </a:pPr>
              <a:r>
                <a:rPr lang="en-US" sz="1800" dirty="0">
                  <a:latin typeface="Times New Roman" panose="02020603050405020304" pitchFamily="18" charset="0"/>
                  <a:cs typeface="Times New Roman" panose="02020603050405020304" pitchFamily="18" charset="0"/>
                </a:rPr>
                <a:t>ITEM: PRESSBOARD	LLC: 1			PERIOD</a:t>
              </a:r>
            </a:p>
            <a:p>
              <a:pPr>
                <a:lnSpc>
                  <a:spcPct val="125000"/>
                </a:lnSpc>
                <a:tabLst>
                  <a:tab pos="3146425" algn="r"/>
                  <a:tab pos="4191000" algn="ctr"/>
                  <a:tab pos="4953000" algn="ctr"/>
                  <a:tab pos="5715000" algn="ctr"/>
                  <a:tab pos="6477000" algn="ctr"/>
                  <a:tab pos="7239000" algn="ctr"/>
                </a:tabLst>
              </a:pPr>
              <a:r>
                <a:rPr lang="en-US" sz="1800" dirty="0">
                  <a:latin typeface="Times New Roman" panose="02020603050405020304" pitchFamily="18" charset="0"/>
                  <a:cs typeface="Times New Roman" panose="02020603050405020304" pitchFamily="18" charset="0"/>
                </a:rPr>
                <a:t>LOT SIZE: MIN 100	LT: 1	</a:t>
              </a:r>
              <a:r>
                <a:rPr lang="en-US" sz="1800" i="1" dirty="0">
                  <a:latin typeface="Times New Roman" panose="02020603050405020304" pitchFamily="18" charset="0"/>
                  <a:cs typeface="Times New Roman" panose="02020603050405020304" pitchFamily="18" charset="0"/>
                </a:rPr>
                <a:t>1	2	3	4	5</a:t>
              </a:r>
            </a:p>
          </p:txBody>
        </p:sp>
        <p:sp>
          <p:nvSpPr>
            <p:cNvPr id="29" name="Rectangle 7">
              <a:extLst>
                <a:ext uri="{FF2B5EF4-FFF2-40B4-BE49-F238E27FC236}">
                  <a16:creationId xmlns:a16="http://schemas.microsoft.com/office/drawing/2014/main" id="{F5D129E8-6C35-4CE0-6DC7-656A04D7455D}"/>
                </a:ext>
              </a:extLst>
            </p:cNvPr>
            <p:cNvSpPr>
              <a:spLocks noChangeArrowheads="1"/>
            </p:cNvSpPr>
            <p:nvPr/>
          </p:nvSpPr>
          <p:spPr bwMode="auto">
            <a:xfrm>
              <a:off x="521" y="2606"/>
              <a:ext cx="4875" cy="1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Gross Requirements		100	100	200	100	0</a:t>
              </a:r>
            </a:p>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Scheduled Receipts		</a:t>
              </a:r>
            </a:p>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Projected on Hand	150	</a:t>
              </a:r>
            </a:p>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Net Requirements			</a:t>
              </a:r>
            </a:p>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Receipts			</a:t>
              </a:r>
            </a:p>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Releases			</a:t>
              </a:r>
            </a:p>
          </p:txBody>
        </p:sp>
        <p:sp>
          <p:nvSpPr>
            <p:cNvPr id="30" name="Line 8">
              <a:extLst>
                <a:ext uri="{FF2B5EF4-FFF2-40B4-BE49-F238E27FC236}">
                  <a16:creationId xmlns:a16="http://schemas.microsoft.com/office/drawing/2014/main" id="{E3ABBB86-9C55-4EC4-D14B-AC3F8DE1AFF9}"/>
                </a:ext>
              </a:extLst>
            </p:cNvPr>
            <p:cNvSpPr>
              <a:spLocks noChangeShapeType="1"/>
            </p:cNvSpPr>
            <p:nvPr/>
          </p:nvSpPr>
          <p:spPr bwMode="auto">
            <a:xfrm>
              <a:off x="516" y="2641"/>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31" name="Line 9">
              <a:extLst>
                <a:ext uri="{FF2B5EF4-FFF2-40B4-BE49-F238E27FC236}">
                  <a16:creationId xmlns:a16="http://schemas.microsoft.com/office/drawing/2014/main" id="{17449B67-E427-020B-4E07-60D41EB94744}"/>
                </a:ext>
              </a:extLst>
            </p:cNvPr>
            <p:cNvSpPr>
              <a:spLocks noChangeShapeType="1"/>
            </p:cNvSpPr>
            <p:nvPr/>
          </p:nvSpPr>
          <p:spPr bwMode="auto">
            <a:xfrm>
              <a:off x="3121" y="2423"/>
              <a:ext cx="215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32" name="Line 10">
              <a:extLst>
                <a:ext uri="{FF2B5EF4-FFF2-40B4-BE49-F238E27FC236}">
                  <a16:creationId xmlns:a16="http://schemas.microsoft.com/office/drawing/2014/main" id="{420E9480-07C9-04E3-AACC-C171EBF5F2E5}"/>
                </a:ext>
              </a:extLst>
            </p:cNvPr>
            <p:cNvSpPr>
              <a:spLocks noChangeShapeType="1"/>
            </p:cNvSpPr>
            <p:nvPr/>
          </p:nvSpPr>
          <p:spPr bwMode="auto">
            <a:xfrm>
              <a:off x="516" y="3827"/>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33" name="Group 24">
            <a:extLst>
              <a:ext uri="{FF2B5EF4-FFF2-40B4-BE49-F238E27FC236}">
                <a16:creationId xmlns:a16="http://schemas.microsoft.com/office/drawing/2014/main" id="{CE0B4729-8D98-8D69-9977-DFF25546C8EE}"/>
              </a:ext>
            </a:extLst>
          </p:cNvPr>
          <p:cNvGrpSpPr>
            <a:grpSpLocks/>
          </p:cNvGrpSpPr>
          <p:nvPr/>
        </p:nvGrpSpPr>
        <p:grpSpPr bwMode="auto">
          <a:xfrm>
            <a:off x="1893039" y="1063219"/>
            <a:ext cx="7986713" cy="1116012"/>
            <a:chOff x="516" y="797"/>
            <a:chExt cx="5031" cy="703"/>
          </a:xfrm>
        </p:grpSpPr>
        <p:grpSp>
          <p:nvGrpSpPr>
            <p:cNvPr id="34" name="Group 25">
              <a:extLst>
                <a:ext uri="{FF2B5EF4-FFF2-40B4-BE49-F238E27FC236}">
                  <a16:creationId xmlns:a16="http://schemas.microsoft.com/office/drawing/2014/main" id="{E6CCD566-7D00-616F-00C9-446A578BBBDE}"/>
                </a:ext>
              </a:extLst>
            </p:cNvPr>
            <p:cNvGrpSpPr>
              <a:grpSpLocks/>
            </p:cNvGrpSpPr>
            <p:nvPr/>
          </p:nvGrpSpPr>
          <p:grpSpPr bwMode="auto">
            <a:xfrm>
              <a:off x="516" y="797"/>
              <a:ext cx="5031" cy="688"/>
              <a:chOff x="422" y="806"/>
              <a:chExt cx="5031" cy="688"/>
            </a:xfrm>
          </p:grpSpPr>
          <p:sp>
            <p:nvSpPr>
              <p:cNvPr id="38" name="Rectangle 26">
                <a:extLst>
                  <a:ext uri="{FF2B5EF4-FFF2-40B4-BE49-F238E27FC236}">
                    <a16:creationId xmlns:a16="http://schemas.microsoft.com/office/drawing/2014/main" id="{FF9A1130-FC66-EF74-EDCF-82A2A5B47EC6}"/>
                  </a:ext>
                </a:extLst>
              </p:cNvPr>
              <p:cNvSpPr>
                <a:spLocks noChangeArrowheads="1"/>
              </p:cNvSpPr>
              <p:nvPr/>
            </p:nvSpPr>
            <p:spPr bwMode="auto">
              <a:xfrm>
                <a:off x="422" y="806"/>
                <a:ext cx="4841" cy="4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CLIPBOARD	LLC: 0			PERIOD</a:t>
                </a:r>
              </a:p>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L4L	LT: 1	</a:t>
                </a:r>
                <a:r>
                  <a:rPr lang="en-US" sz="1800" i="1">
                    <a:latin typeface="Times New Roman" panose="02020603050405020304" pitchFamily="18" charset="0"/>
                    <a:cs typeface="Times New Roman" panose="02020603050405020304" pitchFamily="18" charset="0"/>
                  </a:rPr>
                  <a:t>1	2	3	4	5</a:t>
                </a:r>
              </a:p>
            </p:txBody>
          </p:sp>
          <p:sp>
            <p:nvSpPr>
              <p:cNvPr id="39" name="Rectangle 27">
                <a:extLst>
                  <a:ext uri="{FF2B5EF4-FFF2-40B4-BE49-F238E27FC236}">
                    <a16:creationId xmlns:a16="http://schemas.microsoft.com/office/drawing/2014/main" id="{3E7AFFD5-6BED-646D-14D0-6CD52AAA8033}"/>
                  </a:ext>
                </a:extLst>
              </p:cNvPr>
              <p:cNvSpPr>
                <a:spLocks noChangeArrowheads="1"/>
              </p:cNvSpPr>
              <p:nvPr/>
            </p:nvSpPr>
            <p:spPr bwMode="auto">
              <a:xfrm>
                <a:off x="422" y="1258"/>
                <a:ext cx="5031"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10000"/>
                  </a:lnSpc>
                  <a:tabLst>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Planned Order Releases		100	100	100	</a:t>
                </a:r>
                <a:endParaRPr lang="en-US">
                  <a:latin typeface="Times New Roman" panose="02020603050405020304" pitchFamily="18" charset="0"/>
                  <a:cs typeface="Times New Roman" panose="02020603050405020304" pitchFamily="18" charset="0"/>
                </a:endParaRPr>
              </a:p>
            </p:txBody>
          </p:sp>
        </p:grpSp>
        <p:sp>
          <p:nvSpPr>
            <p:cNvPr id="35" name="Line 28">
              <a:extLst>
                <a:ext uri="{FF2B5EF4-FFF2-40B4-BE49-F238E27FC236}">
                  <a16:creationId xmlns:a16="http://schemas.microsoft.com/office/drawing/2014/main" id="{E153808C-5DDD-5BA7-7632-24D2FC066B58}"/>
                </a:ext>
              </a:extLst>
            </p:cNvPr>
            <p:cNvSpPr>
              <a:spLocks noChangeShapeType="1"/>
            </p:cNvSpPr>
            <p:nvPr/>
          </p:nvSpPr>
          <p:spPr bwMode="auto">
            <a:xfrm>
              <a:off x="527" y="1262"/>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36" name="Line 29">
              <a:extLst>
                <a:ext uri="{FF2B5EF4-FFF2-40B4-BE49-F238E27FC236}">
                  <a16:creationId xmlns:a16="http://schemas.microsoft.com/office/drawing/2014/main" id="{6E37CE84-0886-7E9B-85D4-14A63FB747CD}"/>
                </a:ext>
              </a:extLst>
            </p:cNvPr>
            <p:cNvSpPr>
              <a:spLocks noChangeShapeType="1"/>
            </p:cNvSpPr>
            <p:nvPr/>
          </p:nvSpPr>
          <p:spPr bwMode="auto">
            <a:xfrm>
              <a:off x="3025" y="1040"/>
              <a:ext cx="224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37" name="Line 30">
              <a:extLst>
                <a:ext uri="{FF2B5EF4-FFF2-40B4-BE49-F238E27FC236}">
                  <a16:creationId xmlns:a16="http://schemas.microsoft.com/office/drawing/2014/main" id="{755FB7AC-4418-A134-E59C-9B668AACD9D5}"/>
                </a:ext>
              </a:extLst>
            </p:cNvPr>
            <p:cNvSpPr>
              <a:spLocks noChangeShapeType="1"/>
            </p:cNvSpPr>
            <p:nvPr/>
          </p:nvSpPr>
          <p:spPr bwMode="auto">
            <a:xfrm>
              <a:off x="527" y="1500"/>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40" name="Group 31">
            <a:extLst>
              <a:ext uri="{FF2B5EF4-FFF2-40B4-BE49-F238E27FC236}">
                <a16:creationId xmlns:a16="http://schemas.microsoft.com/office/drawing/2014/main" id="{CCFEB2F1-D9D0-ED90-02DA-DB151B881CB1}"/>
              </a:ext>
            </a:extLst>
          </p:cNvPr>
          <p:cNvGrpSpPr>
            <a:grpSpLocks/>
          </p:cNvGrpSpPr>
          <p:nvPr/>
        </p:nvGrpSpPr>
        <p:grpSpPr bwMode="auto">
          <a:xfrm>
            <a:off x="1893039" y="2161769"/>
            <a:ext cx="7986713" cy="1092200"/>
            <a:chOff x="516" y="1489"/>
            <a:chExt cx="5031" cy="688"/>
          </a:xfrm>
        </p:grpSpPr>
        <p:grpSp>
          <p:nvGrpSpPr>
            <p:cNvPr id="41" name="Group 32">
              <a:extLst>
                <a:ext uri="{FF2B5EF4-FFF2-40B4-BE49-F238E27FC236}">
                  <a16:creationId xmlns:a16="http://schemas.microsoft.com/office/drawing/2014/main" id="{67A8E9FF-B8CC-4E7C-7D83-B148D0063CEB}"/>
                </a:ext>
              </a:extLst>
            </p:cNvPr>
            <p:cNvGrpSpPr>
              <a:grpSpLocks/>
            </p:cNvGrpSpPr>
            <p:nvPr/>
          </p:nvGrpSpPr>
          <p:grpSpPr bwMode="auto">
            <a:xfrm>
              <a:off x="516" y="1489"/>
              <a:ext cx="5031" cy="688"/>
              <a:chOff x="422" y="806"/>
              <a:chExt cx="5031" cy="688"/>
            </a:xfrm>
          </p:grpSpPr>
          <p:sp>
            <p:nvSpPr>
              <p:cNvPr id="45" name="Rectangle 33">
                <a:extLst>
                  <a:ext uri="{FF2B5EF4-FFF2-40B4-BE49-F238E27FC236}">
                    <a16:creationId xmlns:a16="http://schemas.microsoft.com/office/drawing/2014/main" id="{CB43D4B3-ED66-6010-3337-EC7BC8100487}"/>
                  </a:ext>
                </a:extLst>
              </p:cNvPr>
              <p:cNvSpPr>
                <a:spLocks noChangeArrowheads="1"/>
              </p:cNvSpPr>
              <p:nvPr/>
            </p:nvSpPr>
            <p:spPr bwMode="auto">
              <a:xfrm>
                <a:off x="422" y="806"/>
                <a:ext cx="4841" cy="4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LAPDESK	LLC: 0			PERIOD</a:t>
                </a:r>
              </a:p>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MULT 50	LT: 1	</a:t>
                </a:r>
                <a:r>
                  <a:rPr lang="en-US" sz="1800" i="1">
                    <a:latin typeface="Times New Roman" panose="02020603050405020304" pitchFamily="18" charset="0"/>
                    <a:cs typeface="Times New Roman" panose="02020603050405020304" pitchFamily="18" charset="0"/>
                  </a:rPr>
                  <a:t>1	2	3	4	5</a:t>
                </a:r>
              </a:p>
            </p:txBody>
          </p:sp>
          <p:sp>
            <p:nvSpPr>
              <p:cNvPr id="46" name="Rectangle 34">
                <a:extLst>
                  <a:ext uri="{FF2B5EF4-FFF2-40B4-BE49-F238E27FC236}">
                    <a16:creationId xmlns:a16="http://schemas.microsoft.com/office/drawing/2014/main" id="{3269F355-7C90-0FDD-A834-2B9278C9844D}"/>
                  </a:ext>
                </a:extLst>
              </p:cNvPr>
              <p:cNvSpPr>
                <a:spLocks noChangeArrowheads="1"/>
              </p:cNvSpPr>
              <p:nvPr/>
            </p:nvSpPr>
            <p:spPr bwMode="auto">
              <a:xfrm>
                <a:off x="422" y="1258"/>
                <a:ext cx="5031"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10000"/>
                  </a:lnSpc>
                  <a:tabLst>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Planned Order Releases	50		50		</a:t>
                </a:r>
                <a:endParaRPr lang="en-US">
                  <a:latin typeface="Times New Roman" panose="02020603050405020304" pitchFamily="18" charset="0"/>
                  <a:cs typeface="Times New Roman" panose="02020603050405020304" pitchFamily="18" charset="0"/>
                </a:endParaRPr>
              </a:p>
            </p:txBody>
          </p:sp>
        </p:grpSp>
        <p:sp>
          <p:nvSpPr>
            <p:cNvPr id="42" name="Line 35">
              <a:extLst>
                <a:ext uri="{FF2B5EF4-FFF2-40B4-BE49-F238E27FC236}">
                  <a16:creationId xmlns:a16="http://schemas.microsoft.com/office/drawing/2014/main" id="{6E449C75-2EBA-4DD5-60AB-11E001B37A73}"/>
                </a:ext>
              </a:extLst>
            </p:cNvPr>
            <p:cNvSpPr>
              <a:spLocks noChangeShapeType="1"/>
            </p:cNvSpPr>
            <p:nvPr/>
          </p:nvSpPr>
          <p:spPr bwMode="auto">
            <a:xfrm>
              <a:off x="527" y="1954"/>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43" name="Line 36">
              <a:extLst>
                <a:ext uri="{FF2B5EF4-FFF2-40B4-BE49-F238E27FC236}">
                  <a16:creationId xmlns:a16="http://schemas.microsoft.com/office/drawing/2014/main" id="{7636F3E6-1B66-D087-608D-0C9C08C95CE7}"/>
                </a:ext>
              </a:extLst>
            </p:cNvPr>
            <p:cNvSpPr>
              <a:spLocks noChangeShapeType="1"/>
            </p:cNvSpPr>
            <p:nvPr/>
          </p:nvSpPr>
          <p:spPr bwMode="auto">
            <a:xfrm>
              <a:off x="3025" y="1732"/>
              <a:ext cx="224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44" name="Line 37">
              <a:extLst>
                <a:ext uri="{FF2B5EF4-FFF2-40B4-BE49-F238E27FC236}">
                  <a16:creationId xmlns:a16="http://schemas.microsoft.com/office/drawing/2014/main" id="{014A4076-8560-C42E-F032-C547FC936F5F}"/>
                </a:ext>
              </a:extLst>
            </p:cNvPr>
            <p:cNvSpPr>
              <a:spLocks noChangeShapeType="1"/>
            </p:cNvSpPr>
            <p:nvPr/>
          </p:nvSpPr>
          <p:spPr bwMode="auto">
            <a:xfrm>
              <a:off x="527" y="2174"/>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47" name="Group 50">
            <a:extLst>
              <a:ext uri="{FF2B5EF4-FFF2-40B4-BE49-F238E27FC236}">
                <a16:creationId xmlns:a16="http://schemas.microsoft.com/office/drawing/2014/main" id="{9A82A228-D3A5-D6AB-451D-8921D85F8E35}"/>
              </a:ext>
            </a:extLst>
          </p:cNvPr>
          <p:cNvGrpSpPr>
            <a:grpSpLocks/>
          </p:cNvGrpSpPr>
          <p:nvPr/>
        </p:nvGrpSpPr>
        <p:grpSpPr bwMode="auto">
          <a:xfrm>
            <a:off x="5634778" y="2090331"/>
            <a:ext cx="3689350" cy="2025650"/>
            <a:chOff x="2873" y="1444"/>
            <a:chExt cx="2324" cy="1276"/>
          </a:xfrm>
        </p:grpSpPr>
        <p:grpSp>
          <p:nvGrpSpPr>
            <p:cNvPr id="48" name="Group 44">
              <a:extLst>
                <a:ext uri="{FF2B5EF4-FFF2-40B4-BE49-F238E27FC236}">
                  <a16:creationId xmlns:a16="http://schemas.microsoft.com/office/drawing/2014/main" id="{6123019C-49C2-9BB6-786F-9C0B41E320F0}"/>
                </a:ext>
              </a:extLst>
            </p:cNvPr>
            <p:cNvGrpSpPr>
              <a:grpSpLocks/>
            </p:cNvGrpSpPr>
            <p:nvPr/>
          </p:nvGrpSpPr>
          <p:grpSpPr bwMode="auto">
            <a:xfrm>
              <a:off x="2873" y="1444"/>
              <a:ext cx="2180" cy="1276"/>
              <a:chOff x="2873" y="1444"/>
              <a:chExt cx="2180" cy="1276"/>
            </a:xfrm>
          </p:grpSpPr>
          <p:sp>
            <p:nvSpPr>
              <p:cNvPr id="54" name="Freeform 38">
                <a:extLst>
                  <a:ext uri="{FF2B5EF4-FFF2-40B4-BE49-F238E27FC236}">
                    <a16:creationId xmlns:a16="http://schemas.microsoft.com/office/drawing/2014/main" id="{33944D7A-4981-AD57-9F38-50B70073DE57}"/>
                  </a:ext>
                </a:extLst>
              </p:cNvPr>
              <p:cNvSpPr>
                <a:spLocks/>
              </p:cNvSpPr>
              <p:nvPr/>
            </p:nvSpPr>
            <p:spPr bwMode="auto">
              <a:xfrm>
                <a:off x="2873" y="2053"/>
                <a:ext cx="256" cy="667"/>
              </a:xfrm>
              <a:custGeom>
                <a:avLst/>
                <a:gdLst>
                  <a:gd name="T0" fmla="*/ 256 w 256"/>
                  <a:gd name="T1" fmla="*/ 0 h 667"/>
                  <a:gd name="T2" fmla="*/ 38 w 256"/>
                  <a:gd name="T3" fmla="*/ 183 h 667"/>
                  <a:gd name="T4" fmla="*/ 30 w 256"/>
                  <a:gd name="T5" fmla="*/ 447 h 667"/>
                  <a:gd name="T6" fmla="*/ 214 w 256"/>
                  <a:gd name="T7" fmla="*/ 667 h 667"/>
                </a:gdLst>
                <a:ahLst/>
                <a:cxnLst>
                  <a:cxn ang="0">
                    <a:pos x="T0" y="T1"/>
                  </a:cxn>
                  <a:cxn ang="0">
                    <a:pos x="T2" y="T3"/>
                  </a:cxn>
                  <a:cxn ang="0">
                    <a:pos x="T4" y="T5"/>
                  </a:cxn>
                  <a:cxn ang="0">
                    <a:pos x="T6" y="T7"/>
                  </a:cxn>
                </a:cxnLst>
                <a:rect l="0" t="0" r="r" b="b"/>
                <a:pathLst>
                  <a:path w="256" h="667">
                    <a:moveTo>
                      <a:pt x="256" y="0"/>
                    </a:moveTo>
                    <a:cubicBezTo>
                      <a:pt x="220" y="31"/>
                      <a:pt x="76" y="109"/>
                      <a:pt x="38" y="183"/>
                    </a:cubicBezTo>
                    <a:cubicBezTo>
                      <a:pt x="0" y="257"/>
                      <a:pt x="1" y="366"/>
                      <a:pt x="30" y="447"/>
                    </a:cubicBezTo>
                    <a:cubicBezTo>
                      <a:pt x="59" y="528"/>
                      <a:pt x="176" y="621"/>
                      <a:pt x="214" y="667"/>
                    </a:cubicBezTo>
                  </a:path>
                </a:pathLst>
              </a:custGeom>
              <a:noFill/>
              <a:ln w="76200" cap="flat" cmpd="sng">
                <a:solidFill>
                  <a:schemeClr val="accent1"/>
                </a:solidFill>
                <a:prstDash val="solid"/>
                <a:round/>
                <a:headEnd/>
                <a:tailEnd type="triangle" w="med"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55" name="Freeform 39">
                <a:extLst>
                  <a:ext uri="{FF2B5EF4-FFF2-40B4-BE49-F238E27FC236}">
                    <a16:creationId xmlns:a16="http://schemas.microsoft.com/office/drawing/2014/main" id="{F8CE006F-5CB0-4DB5-47B1-7F512133E763}"/>
                  </a:ext>
                </a:extLst>
              </p:cNvPr>
              <p:cNvSpPr>
                <a:spLocks/>
              </p:cNvSpPr>
              <p:nvPr/>
            </p:nvSpPr>
            <p:spPr bwMode="auto">
              <a:xfrm>
                <a:off x="3350" y="1444"/>
                <a:ext cx="222" cy="1276"/>
              </a:xfrm>
              <a:custGeom>
                <a:avLst/>
                <a:gdLst>
                  <a:gd name="T0" fmla="*/ 214 w 222"/>
                  <a:gd name="T1" fmla="*/ 0 h 1276"/>
                  <a:gd name="T2" fmla="*/ 74 w 222"/>
                  <a:gd name="T3" fmla="*/ 280 h 1276"/>
                  <a:gd name="T4" fmla="*/ 2 w 222"/>
                  <a:gd name="T5" fmla="*/ 628 h 1276"/>
                  <a:gd name="T6" fmla="*/ 62 w 222"/>
                  <a:gd name="T7" fmla="*/ 988 h 1276"/>
                  <a:gd name="T8" fmla="*/ 222 w 222"/>
                  <a:gd name="T9" fmla="*/ 1276 h 1276"/>
                </a:gdLst>
                <a:ahLst/>
                <a:cxnLst>
                  <a:cxn ang="0">
                    <a:pos x="T0" y="T1"/>
                  </a:cxn>
                  <a:cxn ang="0">
                    <a:pos x="T2" y="T3"/>
                  </a:cxn>
                  <a:cxn ang="0">
                    <a:pos x="T4" y="T5"/>
                  </a:cxn>
                  <a:cxn ang="0">
                    <a:pos x="T6" y="T7"/>
                  </a:cxn>
                  <a:cxn ang="0">
                    <a:pos x="T8" y="T9"/>
                  </a:cxn>
                </a:cxnLst>
                <a:rect l="0" t="0" r="r" b="b"/>
                <a:pathLst>
                  <a:path w="222" h="1276">
                    <a:moveTo>
                      <a:pt x="214" y="0"/>
                    </a:moveTo>
                    <a:cubicBezTo>
                      <a:pt x="161" y="87"/>
                      <a:pt x="109" y="175"/>
                      <a:pt x="74" y="280"/>
                    </a:cubicBezTo>
                    <a:cubicBezTo>
                      <a:pt x="39" y="385"/>
                      <a:pt x="4" y="510"/>
                      <a:pt x="2" y="628"/>
                    </a:cubicBezTo>
                    <a:cubicBezTo>
                      <a:pt x="0" y="746"/>
                      <a:pt x="25" y="880"/>
                      <a:pt x="62" y="988"/>
                    </a:cubicBezTo>
                    <a:cubicBezTo>
                      <a:pt x="99" y="1096"/>
                      <a:pt x="160" y="1186"/>
                      <a:pt x="222" y="1276"/>
                    </a:cubicBezTo>
                  </a:path>
                </a:pathLst>
              </a:custGeom>
              <a:noFill/>
              <a:ln w="76200" cap="flat" cmpd="sng">
                <a:solidFill>
                  <a:schemeClr val="accent1"/>
                </a:solidFill>
                <a:prstDash val="solid"/>
                <a:round/>
                <a:headEnd/>
                <a:tailEnd type="triangle" w="med"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56" name="Freeform 40">
                <a:extLst>
                  <a:ext uri="{FF2B5EF4-FFF2-40B4-BE49-F238E27FC236}">
                    <a16:creationId xmlns:a16="http://schemas.microsoft.com/office/drawing/2014/main" id="{9648C96B-CB95-E4DD-6668-06A7F40D12A8}"/>
                  </a:ext>
                </a:extLst>
              </p:cNvPr>
              <p:cNvSpPr>
                <a:spLocks/>
              </p:cNvSpPr>
              <p:nvPr/>
            </p:nvSpPr>
            <p:spPr bwMode="auto">
              <a:xfrm flipH="1">
                <a:off x="4335" y="1444"/>
                <a:ext cx="222" cy="1276"/>
              </a:xfrm>
              <a:custGeom>
                <a:avLst/>
                <a:gdLst>
                  <a:gd name="T0" fmla="*/ 214 w 222"/>
                  <a:gd name="T1" fmla="*/ 0 h 1276"/>
                  <a:gd name="T2" fmla="*/ 74 w 222"/>
                  <a:gd name="T3" fmla="*/ 280 h 1276"/>
                  <a:gd name="T4" fmla="*/ 2 w 222"/>
                  <a:gd name="T5" fmla="*/ 628 h 1276"/>
                  <a:gd name="T6" fmla="*/ 62 w 222"/>
                  <a:gd name="T7" fmla="*/ 988 h 1276"/>
                  <a:gd name="T8" fmla="*/ 222 w 222"/>
                  <a:gd name="T9" fmla="*/ 1276 h 1276"/>
                </a:gdLst>
                <a:ahLst/>
                <a:cxnLst>
                  <a:cxn ang="0">
                    <a:pos x="T0" y="T1"/>
                  </a:cxn>
                  <a:cxn ang="0">
                    <a:pos x="T2" y="T3"/>
                  </a:cxn>
                  <a:cxn ang="0">
                    <a:pos x="T4" y="T5"/>
                  </a:cxn>
                  <a:cxn ang="0">
                    <a:pos x="T6" y="T7"/>
                  </a:cxn>
                  <a:cxn ang="0">
                    <a:pos x="T8" y="T9"/>
                  </a:cxn>
                </a:cxnLst>
                <a:rect l="0" t="0" r="r" b="b"/>
                <a:pathLst>
                  <a:path w="222" h="1276">
                    <a:moveTo>
                      <a:pt x="214" y="0"/>
                    </a:moveTo>
                    <a:cubicBezTo>
                      <a:pt x="161" y="87"/>
                      <a:pt x="109" y="175"/>
                      <a:pt x="74" y="280"/>
                    </a:cubicBezTo>
                    <a:cubicBezTo>
                      <a:pt x="39" y="385"/>
                      <a:pt x="4" y="510"/>
                      <a:pt x="2" y="628"/>
                    </a:cubicBezTo>
                    <a:cubicBezTo>
                      <a:pt x="0" y="746"/>
                      <a:pt x="25" y="880"/>
                      <a:pt x="62" y="988"/>
                    </a:cubicBezTo>
                    <a:cubicBezTo>
                      <a:pt x="99" y="1096"/>
                      <a:pt x="160" y="1186"/>
                      <a:pt x="222" y="1276"/>
                    </a:cubicBezTo>
                  </a:path>
                </a:pathLst>
              </a:custGeom>
              <a:noFill/>
              <a:ln w="76200" cap="flat" cmpd="sng">
                <a:solidFill>
                  <a:schemeClr val="accent1"/>
                </a:solidFill>
                <a:prstDash val="solid"/>
                <a:round/>
                <a:headEnd/>
                <a:tailEnd type="triangle" w="med"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57" name="Freeform 41">
                <a:extLst>
                  <a:ext uri="{FF2B5EF4-FFF2-40B4-BE49-F238E27FC236}">
                    <a16:creationId xmlns:a16="http://schemas.microsoft.com/office/drawing/2014/main" id="{735910F0-7EFC-5659-E65F-4A4A1709337D}"/>
                  </a:ext>
                </a:extLst>
              </p:cNvPr>
              <p:cNvSpPr>
                <a:spLocks/>
              </p:cNvSpPr>
              <p:nvPr/>
            </p:nvSpPr>
            <p:spPr bwMode="auto">
              <a:xfrm flipH="1">
                <a:off x="4831" y="1444"/>
                <a:ext cx="222" cy="1276"/>
              </a:xfrm>
              <a:custGeom>
                <a:avLst/>
                <a:gdLst>
                  <a:gd name="T0" fmla="*/ 214 w 222"/>
                  <a:gd name="T1" fmla="*/ 0 h 1276"/>
                  <a:gd name="T2" fmla="*/ 74 w 222"/>
                  <a:gd name="T3" fmla="*/ 280 h 1276"/>
                  <a:gd name="T4" fmla="*/ 2 w 222"/>
                  <a:gd name="T5" fmla="*/ 628 h 1276"/>
                  <a:gd name="T6" fmla="*/ 62 w 222"/>
                  <a:gd name="T7" fmla="*/ 988 h 1276"/>
                  <a:gd name="T8" fmla="*/ 222 w 222"/>
                  <a:gd name="T9" fmla="*/ 1276 h 1276"/>
                </a:gdLst>
                <a:ahLst/>
                <a:cxnLst>
                  <a:cxn ang="0">
                    <a:pos x="T0" y="T1"/>
                  </a:cxn>
                  <a:cxn ang="0">
                    <a:pos x="T2" y="T3"/>
                  </a:cxn>
                  <a:cxn ang="0">
                    <a:pos x="T4" y="T5"/>
                  </a:cxn>
                  <a:cxn ang="0">
                    <a:pos x="T6" y="T7"/>
                  </a:cxn>
                  <a:cxn ang="0">
                    <a:pos x="T8" y="T9"/>
                  </a:cxn>
                </a:cxnLst>
                <a:rect l="0" t="0" r="r" b="b"/>
                <a:pathLst>
                  <a:path w="222" h="1276">
                    <a:moveTo>
                      <a:pt x="214" y="0"/>
                    </a:moveTo>
                    <a:cubicBezTo>
                      <a:pt x="161" y="87"/>
                      <a:pt x="109" y="175"/>
                      <a:pt x="74" y="280"/>
                    </a:cubicBezTo>
                    <a:cubicBezTo>
                      <a:pt x="39" y="385"/>
                      <a:pt x="4" y="510"/>
                      <a:pt x="2" y="628"/>
                    </a:cubicBezTo>
                    <a:cubicBezTo>
                      <a:pt x="0" y="746"/>
                      <a:pt x="25" y="880"/>
                      <a:pt x="62" y="988"/>
                    </a:cubicBezTo>
                    <a:cubicBezTo>
                      <a:pt x="99" y="1096"/>
                      <a:pt x="160" y="1186"/>
                      <a:pt x="222" y="1276"/>
                    </a:cubicBezTo>
                  </a:path>
                </a:pathLst>
              </a:custGeom>
              <a:noFill/>
              <a:ln w="76200" cap="flat" cmpd="sng">
                <a:solidFill>
                  <a:schemeClr val="accent1"/>
                </a:solidFill>
                <a:prstDash val="solid"/>
                <a:round/>
                <a:headEnd/>
                <a:tailEnd type="triangle" w="med"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58" name="Freeform 42">
                <a:extLst>
                  <a:ext uri="{FF2B5EF4-FFF2-40B4-BE49-F238E27FC236}">
                    <a16:creationId xmlns:a16="http://schemas.microsoft.com/office/drawing/2014/main" id="{60E4E29E-82B5-5680-7B02-94A021815845}"/>
                  </a:ext>
                </a:extLst>
              </p:cNvPr>
              <p:cNvSpPr>
                <a:spLocks/>
              </p:cNvSpPr>
              <p:nvPr/>
            </p:nvSpPr>
            <p:spPr bwMode="auto">
              <a:xfrm>
                <a:off x="3803" y="2053"/>
                <a:ext cx="256" cy="667"/>
              </a:xfrm>
              <a:custGeom>
                <a:avLst/>
                <a:gdLst>
                  <a:gd name="T0" fmla="*/ 256 w 256"/>
                  <a:gd name="T1" fmla="*/ 0 h 667"/>
                  <a:gd name="T2" fmla="*/ 38 w 256"/>
                  <a:gd name="T3" fmla="*/ 183 h 667"/>
                  <a:gd name="T4" fmla="*/ 30 w 256"/>
                  <a:gd name="T5" fmla="*/ 447 h 667"/>
                  <a:gd name="T6" fmla="*/ 214 w 256"/>
                  <a:gd name="T7" fmla="*/ 667 h 667"/>
                </a:gdLst>
                <a:ahLst/>
                <a:cxnLst>
                  <a:cxn ang="0">
                    <a:pos x="T0" y="T1"/>
                  </a:cxn>
                  <a:cxn ang="0">
                    <a:pos x="T2" y="T3"/>
                  </a:cxn>
                  <a:cxn ang="0">
                    <a:pos x="T4" y="T5"/>
                  </a:cxn>
                  <a:cxn ang="0">
                    <a:pos x="T6" y="T7"/>
                  </a:cxn>
                </a:cxnLst>
                <a:rect l="0" t="0" r="r" b="b"/>
                <a:pathLst>
                  <a:path w="256" h="667">
                    <a:moveTo>
                      <a:pt x="256" y="0"/>
                    </a:moveTo>
                    <a:cubicBezTo>
                      <a:pt x="220" y="31"/>
                      <a:pt x="76" y="109"/>
                      <a:pt x="38" y="183"/>
                    </a:cubicBezTo>
                    <a:cubicBezTo>
                      <a:pt x="0" y="257"/>
                      <a:pt x="1" y="366"/>
                      <a:pt x="30" y="447"/>
                    </a:cubicBezTo>
                    <a:cubicBezTo>
                      <a:pt x="59" y="528"/>
                      <a:pt x="176" y="621"/>
                      <a:pt x="214" y="667"/>
                    </a:cubicBezTo>
                  </a:path>
                </a:pathLst>
              </a:custGeom>
              <a:noFill/>
              <a:ln w="76200" cap="flat" cmpd="sng">
                <a:solidFill>
                  <a:schemeClr val="accent1"/>
                </a:solidFill>
                <a:prstDash val="solid"/>
                <a:round/>
                <a:headEnd/>
                <a:tailEnd type="triangle" w="med"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sp>
          <p:nvSpPr>
            <p:cNvPr id="49" name="Rectangle 45">
              <a:extLst>
                <a:ext uri="{FF2B5EF4-FFF2-40B4-BE49-F238E27FC236}">
                  <a16:creationId xmlns:a16="http://schemas.microsoft.com/office/drawing/2014/main" id="{01701F11-5F57-5035-DA31-75C7E0FCF45F}"/>
                </a:ext>
              </a:extLst>
            </p:cNvPr>
            <p:cNvSpPr>
              <a:spLocks noChangeArrowheads="1"/>
            </p:cNvSpPr>
            <p:nvPr/>
          </p:nvSpPr>
          <p:spPr bwMode="auto">
            <a:xfrm>
              <a:off x="2879" y="2134"/>
              <a:ext cx="223"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i="1">
                  <a:latin typeface="Times New Roman" panose="02020603050405020304" pitchFamily="18" charset="0"/>
                  <a:cs typeface="Times New Roman" panose="02020603050405020304" pitchFamily="18" charset="0"/>
                </a:rPr>
                <a:t>x2</a:t>
              </a:r>
            </a:p>
          </p:txBody>
        </p:sp>
        <p:sp>
          <p:nvSpPr>
            <p:cNvPr id="50" name="Rectangle 46">
              <a:extLst>
                <a:ext uri="{FF2B5EF4-FFF2-40B4-BE49-F238E27FC236}">
                  <a16:creationId xmlns:a16="http://schemas.microsoft.com/office/drawing/2014/main" id="{2E79F382-E2F2-8A38-256F-90FEEE68E286}"/>
                </a:ext>
              </a:extLst>
            </p:cNvPr>
            <p:cNvSpPr>
              <a:spLocks noChangeArrowheads="1"/>
            </p:cNvSpPr>
            <p:nvPr/>
          </p:nvSpPr>
          <p:spPr bwMode="auto">
            <a:xfrm>
              <a:off x="3481" y="2132"/>
              <a:ext cx="223"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i="1">
                  <a:latin typeface="Times New Roman" panose="02020603050405020304" pitchFamily="18" charset="0"/>
                  <a:cs typeface="Times New Roman" panose="02020603050405020304" pitchFamily="18" charset="0"/>
                </a:rPr>
                <a:t>x2</a:t>
              </a:r>
            </a:p>
          </p:txBody>
        </p:sp>
        <p:sp>
          <p:nvSpPr>
            <p:cNvPr id="51" name="Rectangle 47">
              <a:extLst>
                <a:ext uri="{FF2B5EF4-FFF2-40B4-BE49-F238E27FC236}">
                  <a16:creationId xmlns:a16="http://schemas.microsoft.com/office/drawing/2014/main" id="{A3EACDE9-C453-7FBE-4C0A-BDC5804018AF}"/>
                </a:ext>
              </a:extLst>
            </p:cNvPr>
            <p:cNvSpPr>
              <a:spLocks noChangeArrowheads="1"/>
            </p:cNvSpPr>
            <p:nvPr/>
          </p:nvSpPr>
          <p:spPr bwMode="auto">
            <a:xfrm>
              <a:off x="3126" y="1447"/>
              <a:ext cx="223"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i="1">
                  <a:latin typeface="Times New Roman" panose="02020603050405020304" pitchFamily="18" charset="0"/>
                  <a:cs typeface="Times New Roman" panose="02020603050405020304" pitchFamily="18" charset="0"/>
                </a:rPr>
                <a:t>x1</a:t>
              </a:r>
            </a:p>
          </p:txBody>
        </p:sp>
        <p:sp>
          <p:nvSpPr>
            <p:cNvPr id="52" name="Rectangle 48">
              <a:extLst>
                <a:ext uri="{FF2B5EF4-FFF2-40B4-BE49-F238E27FC236}">
                  <a16:creationId xmlns:a16="http://schemas.microsoft.com/office/drawing/2014/main" id="{01264FF3-8FB1-4A51-D85A-C54EDCAB36E8}"/>
                </a:ext>
              </a:extLst>
            </p:cNvPr>
            <p:cNvSpPr>
              <a:spLocks noChangeArrowheads="1"/>
            </p:cNvSpPr>
            <p:nvPr/>
          </p:nvSpPr>
          <p:spPr bwMode="auto">
            <a:xfrm>
              <a:off x="4974" y="1454"/>
              <a:ext cx="223"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i="1">
                  <a:latin typeface="Times New Roman" panose="02020603050405020304" pitchFamily="18" charset="0"/>
                  <a:cs typeface="Times New Roman" panose="02020603050405020304" pitchFamily="18" charset="0"/>
                </a:rPr>
                <a:t>x1</a:t>
              </a:r>
            </a:p>
          </p:txBody>
        </p:sp>
        <p:sp>
          <p:nvSpPr>
            <p:cNvPr id="53" name="Rectangle 49">
              <a:extLst>
                <a:ext uri="{FF2B5EF4-FFF2-40B4-BE49-F238E27FC236}">
                  <a16:creationId xmlns:a16="http://schemas.microsoft.com/office/drawing/2014/main" id="{18E7A053-5126-2495-709E-12AF40A74BFA}"/>
                </a:ext>
              </a:extLst>
            </p:cNvPr>
            <p:cNvSpPr>
              <a:spLocks noChangeArrowheads="1"/>
            </p:cNvSpPr>
            <p:nvPr/>
          </p:nvSpPr>
          <p:spPr bwMode="auto">
            <a:xfrm>
              <a:off x="4465" y="1453"/>
              <a:ext cx="223"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i="1">
                  <a:latin typeface="Times New Roman" panose="02020603050405020304" pitchFamily="18" charset="0"/>
                  <a:cs typeface="Times New Roman" panose="02020603050405020304" pitchFamily="18" charset="0"/>
                </a:rPr>
                <a:t>x1</a:t>
              </a:r>
            </a:p>
          </p:txBody>
        </p:sp>
      </p:grpSp>
    </p:spTree>
    <p:extLst>
      <p:ext uri="{BB962C8B-B14F-4D97-AF65-F5344CB8AC3E}">
        <p14:creationId xmlns:p14="http://schemas.microsoft.com/office/powerpoint/2010/main" val="3228180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downRigh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strips(downRigh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strips(downRight)">
                                      <p:cBhvr>
                                        <p:cTn id="17" dur="5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par>
                                <p:cTn id="21" presetID="10" presetClass="entr" presetSubtype="0" fill="hold" nodeType="with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500"/>
                                        <p:tgtEl>
                                          <p:spTgt spid="33"/>
                                        </p:tgtEl>
                                      </p:cBhvr>
                                    </p:animEffect>
                                  </p:childTnLst>
                                </p:cTn>
                              </p:par>
                              <p:par>
                                <p:cTn id="24" presetID="10" presetClass="entr" presetSubtype="0" fill="hold" nodeType="withEffect">
                                  <p:stCondLst>
                                    <p:cond delay="0"/>
                                  </p:stCondLst>
                                  <p:childTnLst>
                                    <p:set>
                                      <p:cBhvr>
                                        <p:cTn id="25" dur="1" fill="hold">
                                          <p:stCondLst>
                                            <p:cond delay="0"/>
                                          </p:stCondLst>
                                        </p:cTn>
                                        <p:tgtEl>
                                          <p:spTgt spid="40"/>
                                        </p:tgtEl>
                                        <p:attrNameLst>
                                          <p:attrName>style.visibility</p:attrName>
                                        </p:attrNameLst>
                                      </p:cBhvr>
                                      <p:to>
                                        <p:strVal val="visible"/>
                                      </p:to>
                                    </p:set>
                                    <p:animEffect transition="in" filter="fade">
                                      <p:cBhvr>
                                        <p:cTn id="26" dur="500"/>
                                        <p:tgtEl>
                                          <p:spTgt spid="40"/>
                                        </p:tgtEl>
                                      </p:cBhvr>
                                    </p:animEffect>
                                  </p:childTnLst>
                                </p:cTn>
                              </p:par>
                              <p:par>
                                <p:cTn id="27" presetID="10" presetClass="entr" presetSubtype="0" fill="hold" nodeType="withEffect">
                                  <p:stCondLst>
                                    <p:cond delay="0"/>
                                  </p:stCondLst>
                                  <p:childTnLst>
                                    <p:set>
                                      <p:cBhvr>
                                        <p:cTn id="28" dur="1" fill="hold">
                                          <p:stCondLst>
                                            <p:cond delay="0"/>
                                          </p:stCondLst>
                                        </p:cTn>
                                        <p:tgtEl>
                                          <p:spTgt spid="47"/>
                                        </p:tgtEl>
                                        <p:attrNameLst>
                                          <p:attrName>style.visibility</p:attrName>
                                        </p:attrNameLst>
                                      </p:cBhvr>
                                      <p:to>
                                        <p:strVal val="visible"/>
                                      </p:to>
                                    </p:set>
                                    <p:animEffect transition="in" filter="fade">
                                      <p:cBhvr>
                                        <p:cTn id="29"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8B34E-E20F-6C22-53E9-B54BCC37E434}"/>
              </a:ext>
            </a:extLst>
          </p:cNvPr>
          <p:cNvSpPr>
            <a:spLocks noGrp="1"/>
          </p:cNvSpPr>
          <p:nvPr>
            <p:ph type="title"/>
          </p:nvPr>
        </p:nvSpPr>
        <p:spPr/>
        <p:txBody>
          <a:bodyPr/>
          <a:lstStyle/>
          <a:p>
            <a:r>
              <a:rPr lang="en-IN" dirty="0"/>
              <a:t>Example— School mate products</a:t>
            </a:r>
          </a:p>
        </p:txBody>
      </p:sp>
      <p:sp>
        <p:nvSpPr>
          <p:cNvPr id="4" name="Date Placeholder 3">
            <a:extLst>
              <a:ext uri="{FF2B5EF4-FFF2-40B4-BE49-F238E27FC236}">
                <a16:creationId xmlns:a16="http://schemas.microsoft.com/office/drawing/2014/main" id="{25B14E9F-4ADC-6E74-8999-DCDADD1A77C6}"/>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8DA5963D-0663-DB7D-A63F-EF174D4BB4C7}"/>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4A932C11-F6B4-97D3-083D-1FCBAE017C70}"/>
              </a:ext>
            </a:extLst>
          </p:cNvPr>
          <p:cNvSpPr>
            <a:spLocks noGrp="1"/>
          </p:cNvSpPr>
          <p:nvPr>
            <p:ph type="sldNum" idx="12"/>
          </p:nvPr>
        </p:nvSpPr>
        <p:spPr/>
        <p:txBody>
          <a:bodyPr/>
          <a:lstStyle/>
          <a:p>
            <a:fld id="{00000000-1234-1234-1234-123412341234}" type="slidenum">
              <a:rPr lang="en-US" smtClean="0"/>
              <a:pPr/>
              <a:t>34</a:t>
            </a:fld>
            <a:endParaRPr lang="en-US" dirty="0"/>
          </a:p>
        </p:txBody>
      </p:sp>
      <p:grpSp>
        <p:nvGrpSpPr>
          <p:cNvPr id="7" name="Group 5">
            <a:extLst>
              <a:ext uri="{FF2B5EF4-FFF2-40B4-BE49-F238E27FC236}">
                <a16:creationId xmlns:a16="http://schemas.microsoft.com/office/drawing/2014/main" id="{96CB105B-38BF-E8CB-117A-CB5197AC6E0E}"/>
              </a:ext>
            </a:extLst>
          </p:cNvPr>
          <p:cNvGrpSpPr>
            <a:grpSpLocks/>
          </p:cNvGrpSpPr>
          <p:nvPr/>
        </p:nvGrpSpPr>
        <p:grpSpPr bwMode="auto">
          <a:xfrm>
            <a:off x="1882414" y="3239679"/>
            <a:ext cx="7747000" cy="2633663"/>
            <a:chOff x="498" y="1279"/>
            <a:chExt cx="4880" cy="1659"/>
          </a:xfrm>
        </p:grpSpPr>
        <p:sp>
          <p:nvSpPr>
            <p:cNvPr id="8" name="Rectangle 6">
              <a:extLst>
                <a:ext uri="{FF2B5EF4-FFF2-40B4-BE49-F238E27FC236}">
                  <a16:creationId xmlns:a16="http://schemas.microsoft.com/office/drawing/2014/main" id="{1CE10057-4AE0-83B2-AB1A-D6B135BE734F}"/>
                </a:ext>
              </a:extLst>
            </p:cNvPr>
            <p:cNvSpPr>
              <a:spLocks noChangeArrowheads="1"/>
            </p:cNvSpPr>
            <p:nvPr/>
          </p:nvSpPr>
          <p:spPr bwMode="auto">
            <a:xfrm>
              <a:off x="503" y="1279"/>
              <a:ext cx="4841" cy="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5000"/>
                </a:lnSpc>
                <a:tabLst>
                  <a:tab pos="3146425" algn="r"/>
                  <a:tab pos="4191000" algn="ctr"/>
                  <a:tab pos="4953000" algn="ctr"/>
                  <a:tab pos="5715000" algn="ctr"/>
                  <a:tab pos="6477000" algn="ctr"/>
                  <a:tab pos="7239000" algn="ctr"/>
                </a:tabLst>
              </a:pPr>
              <a:r>
                <a:rPr lang="en-US" sz="1800" dirty="0">
                  <a:latin typeface="Times New Roman" panose="02020603050405020304" pitchFamily="18" charset="0"/>
                  <a:cs typeface="Times New Roman" panose="02020603050405020304" pitchFamily="18" charset="0"/>
                </a:rPr>
                <a:t>ITEM: PRESSBOARD	LLC: 1			PERIOD</a:t>
              </a:r>
            </a:p>
            <a:p>
              <a:pPr>
                <a:lnSpc>
                  <a:spcPct val="125000"/>
                </a:lnSpc>
                <a:tabLst>
                  <a:tab pos="3146425" algn="r"/>
                  <a:tab pos="4191000" algn="ctr"/>
                  <a:tab pos="4953000" algn="ctr"/>
                  <a:tab pos="5715000" algn="ctr"/>
                  <a:tab pos="6477000" algn="ctr"/>
                  <a:tab pos="7239000" algn="ctr"/>
                </a:tabLst>
              </a:pPr>
              <a:r>
                <a:rPr lang="en-US" sz="1800" dirty="0">
                  <a:latin typeface="Times New Roman" panose="02020603050405020304" pitchFamily="18" charset="0"/>
                  <a:cs typeface="Times New Roman" panose="02020603050405020304" pitchFamily="18" charset="0"/>
                </a:rPr>
                <a:t>LOT SIZE: MIN 100	LT: 1	</a:t>
              </a:r>
              <a:r>
                <a:rPr lang="en-US" sz="1800" i="1" dirty="0">
                  <a:latin typeface="Times New Roman" panose="02020603050405020304" pitchFamily="18" charset="0"/>
                  <a:cs typeface="Times New Roman" panose="02020603050405020304" pitchFamily="18" charset="0"/>
                </a:rPr>
                <a:t>1	2	3	4	5</a:t>
              </a:r>
            </a:p>
          </p:txBody>
        </p:sp>
        <p:sp>
          <p:nvSpPr>
            <p:cNvPr id="9" name="Rectangle 7">
              <a:extLst>
                <a:ext uri="{FF2B5EF4-FFF2-40B4-BE49-F238E27FC236}">
                  <a16:creationId xmlns:a16="http://schemas.microsoft.com/office/drawing/2014/main" id="{B092DE07-E309-59AE-F26E-B5AC2DB0B256}"/>
                </a:ext>
              </a:extLst>
            </p:cNvPr>
            <p:cNvSpPr>
              <a:spLocks noChangeArrowheads="1"/>
            </p:cNvSpPr>
            <p:nvPr/>
          </p:nvSpPr>
          <p:spPr bwMode="auto">
            <a:xfrm>
              <a:off x="503" y="1717"/>
              <a:ext cx="4875" cy="121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Gross Requirements		100	100	200	100	0</a:t>
              </a:r>
            </a:p>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Scheduled Receipts		</a:t>
              </a:r>
            </a:p>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Projected on Hand	150	50	50	0	0	0</a:t>
              </a:r>
            </a:p>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Net Requirements			50	150	100</a:t>
              </a:r>
            </a:p>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Receipts			100	150	100</a:t>
              </a:r>
            </a:p>
            <a:p>
              <a:pPr>
                <a:lnSpc>
                  <a:spcPct val="110000"/>
                </a:lnSpc>
                <a:tabLst>
                  <a:tab pos="3146425" algn="r"/>
                  <a:tab pos="4387850" algn="r"/>
                  <a:tab pos="5149850" algn="r"/>
                  <a:tab pos="5911850" algn="r"/>
                  <a:tab pos="6673850" algn="r"/>
                  <a:tab pos="7435850" algn="r"/>
                </a:tabLst>
              </a:pPr>
              <a:r>
                <a:rPr lang="en-US" sz="1800" dirty="0">
                  <a:latin typeface="Times New Roman" panose="02020603050405020304" pitchFamily="18" charset="0"/>
                  <a:cs typeface="Times New Roman" panose="02020603050405020304" pitchFamily="18" charset="0"/>
                </a:rPr>
                <a:t>Planned Order Releases		100	150	100	</a:t>
              </a:r>
            </a:p>
          </p:txBody>
        </p:sp>
        <p:sp>
          <p:nvSpPr>
            <p:cNvPr id="10" name="Line 8">
              <a:extLst>
                <a:ext uri="{FF2B5EF4-FFF2-40B4-BE49-F238E27FC236}">
                  <a16:creationId xmlns:a16="http://schemas.microsoft.com/office/drawing/2014/main" id="{10FC33FB-342B-A8C5-F5F6-F9C1A1E890BE}"/>
                </a:ext>
              </a:extLst>
            </p:cNvPr>
            <p:cNvSpPr>
              <a:spLocks noChangeShapeType="1"/>
            </p:cNvSpPr>
            <p:nvPr/>
          </p:nvSpPr>
          <p:spPr bwMode="auto">
            <a:xfrm>
              <a:off x="498" y="1752"/>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1" name="Line 9">
              <a:extLst>
                <a:ext uri="{FF2B5EF4-FFF2-40B4-BE49-F238E27FC236}">
                  <a16:creationId xmlns:a16="http://schemas.microsoft.com/office/drawing/2014/main" id="{22D7BEE5-8AD1-C304-907D-29EDB38940BF}"/>
                </a:ext>
              </a:extLst>
            </p:cNvPr>
            <p:cNvSpPr>
              <a:spLocks noChangeShapeType="1"/>
            </p:cNvSpPr>
            <p:nvPr/>
          </p:nvSpPr>
          <p:spPr bwMode="auto">
            <a:xfrm>
              <a:off x="3103" y="1538"/>
              <a:ext cx="215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2" name="Line 10">
              <a:extLst>
                <a:ext uri="{FF2B5EF4-FFF2-40B4-BE49-F238E27FC236}">
                  <a16:creationId xmlns:a16="http://schemas.microsoft.com/office/drawing/2014/main" id="{1BC41A65-C1D1-F527-C6F0-A4C532CF60EC}"/>
                </a:ext>
              </a:extLst>
            </p:cNvPr>
            <p:cNvSpPr>
              <a:spLocks noChangeShapeType="1"/>
            </p:cNvSpPr>
            <p:nvPr/>
          </p:nvSpPr>
          <p:spPr bwMode="auto">
            <a:xfrm>
              <a:off x="498" y="2938"/>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nvGrpSpPr>
            <p:cNvPr id="13" name="Group 11">
              <a:extLst>
                <a:ext uri="{FF2B5EF4-FFF2-40B4-BE49-F238E27FC236}">
                  <a16:creationId xmlns:a16="http://schemas.microsoft.com/office/drawing/2014/main" id="{09ACC119-DB12-F8BD-C842-86353848DE1A}"/>
                </a:ext>
              </a:extLst>
            </p:cNvPr>
            <p:cNvGrpSpPr>
              <a:grpSpLocks/>
            </p:cNvGrpSpPr>
            <p:nvPr/>
          </p:nvGrpSpPr>
          <p:grpSpPr bwMode="auto">
            <a:xfrm>
              <a:off x="2997" y="2500"/>
              <a:ext cx="1843" cy="406"/>
              <a:chOff x="2997" y="2491"/>
              <a:chExt cx="1843" cy="433"/>
            </a:xfrm>
          </p:grpSpPr>
          <p:grpSp>
            <p:nvGrpSpPr>
              <p:cNvPr id="14" name="Group 12">
                <a:extLst>
                  <a:ext uri="{FF2B5EF4-FFF2-40B4-BE49-F238E27FC236}">
                    <a16:creationId xmlns:a16="http://schemas.microsoft.com/office/drawing/2014/main" id="{D664DB75-42B8-0139-5248-CD8E92A8F072}"/>
                  </a:ext>
                </a:extLst>
              </p:cNvPr>
              <p:cNvGrpSpPr>
                <a:grpSpLocks/>
              </p:cNvGrpSpPr>
              <p:nvPr/>
            </p:nvGrpSpPr>
            <p:grpSpPr bwMode="auto">
              <a:xfrm>
                <a:off x="2997" y="2493"/>
                <a:ext cx="867" cy="431"/>
                <a:chOff x="3015" y="2673"/>
                <a:chExt cx="867" cy="431"/>
              </a:xfrm>
            </p:grpSpPr>
            <p:sp>
              <p:nvSpPr>
                <p:cNvPr id="23" name="Freeform 13">
                  <a:extLst>
                    <a:ext uri="{FF2B5EF4-FFF2-40B4-BE49-F238E27FC236}">
                      <a16:creationId xmlns:a16="http://schemas.microsoft.com/office/drawing/2014/main" id="{A9F58AAC-7F15-F9BA-CD75-4EF27FE00691}"/>
                    </a:ext>
                  </a:extLst>
                </p:cNvPr>
                <p:cNvSpPr>
                  <a:spLocks/>
                </p:cNvSpPr>
                <p:nvPr/>
              </p:nvSpPr>
              <p:spPr bwMode="auto">
                <a:xfrm>
                  <a:off x="3497" y="2673"/>
                  <a:ext cx="385" cy="218"/>
                </a:xfrm>
                <a:custGeom>
                  <a:avLst/>
                  <a:gdLst>
                    <a:gd name="T0" fmla="*/ 258 w 385"/>
                    <a:gd name="T1" fmla="*/ 2 h 218"/>
                    <a:gd name="T2" fmla="*/ 101 w 385"/>
                    <a:gd name="T3" fmla="*/ 18 h 218"/>
                    <a:gd name="T4" fmla="*/ 12 w 385"/>
                    <a:gd name="T5" fmla="*/ 87 h 218"/>
                    <a:gd name="T6" fmla="*/ 30 w 385"/>
                    <a:gd name="T7" fmla="*/ 167 h 218"/>
                    <a:gd name="T8" fmla="*/ 163 w 385"/>
                    <a:gd name="T9" fmla="*/ 211 h 218"/>
                    <a:gd name="T10" fmla="*/ 274 w 385"/>
                    <a:gd name="T11" fmla="*/ 207 h 218"/>
                    <a:gd name="T12" fmla="*/ 346 w 385"/>
                    <a:gd name="T13" fmla="*/ 189 h 218"/>
                    <a:gd name="T14" fmla="*/ 376 w 385"/>
                    <a:gd name="T15" fmla="*/ 149 h 218"/>
                    <a:gd name="T16" fmla="*/ 378 w 385"/>
                    <a:gd name="T17" fmla="*/ 90 h 218"/>
                    <a:gd name="T18" fmla="*/ 336 w 385"/>
                    <a:gd name="T19" fmla="*/ 26 h 218"/>
                    <a:gd name="T20" fmla="*/ 258 w 385"/>
                    <a:gd name="T21" fmla="*/ 2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5" h="218">
                      <a:moveTo>
                        <a:pt x="258" y="2"/>
                      </a:moveTo>
                      <a:cubicBezTo>
                        <a:pt x="220" y="0"/>
                        <a:pt x="142" y="4"/>
                        <a:pt x="101" y="18"/>
                      </a:cubicBezTo>
                      <a:cubicBezTo>
                        <a:pt x="60" y="32"/>
                        <a:pt x="24" y="62"/>
                        <a:pt x="12" y="87"/>
                      </a:cubicBezTo>
                      <a:cubicBezTo>
                        <a:pt x="0" y="112"/>
                        <a:pt x="5" y="146"/>
                        <a:pt x="30" y="167"/>
                      </a:cubicBezTo>
                      <a:cubicBezTo>
                        <a:pt x="55" y="188"/>
                        <a:pt x="122" y="204"/>
                        <a:pt x="163" y="211"/>
                      </a:cubicBezTo>
                      <a:cubicBezTo>
                        <a:pt x="204" y="218"/>
                        <a:pt x="244" y="211"/>
                        <a:pt x="274" y="207"/>
                      </a:cubicBezTo>
                      <a:cubicBezTo>
                        <a:pt x="304" y="203"/>
                        <a:pt x="329" y="199"/>
                        <a:pt x="346" y="189"/>
                      </a:cubicBezTo>
                      <a:cubicBezTo>
                        <a:pt x="363" y="179"/>
                        <a:pt x="371" y="165"/>
                        <a:pt x="376" y="149"/>
                      </a:cubicBezTo>
                      <a:cubicBezTo>
                        <a:pt x="381" y="133"/>
                        <a:pt x="385" y="110"/>
                        <a:pt x="378" y="90"/>
                      </a:cubicBezTo>
                      <a:cubicBezTo>
                        <a:pt x="371" y="70"/>
                        <a:pt x="356" y="41"/>
                        <a:pt x="336" y="26"/>
                      </a:cubicBezTo>
                      <a:cubicBezTo>
                        <a:pt x="316" y="11"/>
                        <a:pt x="274" y="7"/>
                        <a:pt x="258" y="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4" name="Freeform 14">
                  <a:extLst>
                    <a:ext uri="{FF2B5EF4-FFF2-40B4-BE49-F238E27FC236}">
                      <a16:creationId xmlns:a16="http://schemas.microsoft.com/office/drawing/2014/main" id="{2E59C508-DC35-7FE4-DCD5-5BEC9FE942AB}"/>
                    </a:ext>
                  </a:extLst>
                </p:cNvPr>
                <p:cNvSpPr>
                  <a:spLocks/>
                </p:cNvSpPr>
                <p:nvPr/>
              </p:nvSpPr>
              <p:spPr bwMode="auto">
                <a:xfrm>
                  <a:off x="3015" y="2886"/>
                  <a:ext cx="385" cy="218"/>
                </a:xfrm>
                <a:custGeom>
                  <a:avLst/>
                  <a:gdLst>
                    <a:gd name="T0" fmla="*/ 258 w 385"/>
                    <a:gd name="T1" fmla="*/ 2 h 218"/>
                    <a:gd name="T2" fmla="*/ 101 w 385"/>
                    <a:gd name="T3" fmla="*/ 18 h 218"/>
                    <a:gd name="T4" fmla="*/ 12 w 385"/>
                    <a:gd name="T5" fmla="*/ 87 h 218"/>
                    <a:gd name="T6" fmla="*/ 30 w 385"/>
                    <a:gd name="T7" fmla="*/ 167 h 218"/>
                    <a:gd name="T8" fmla="*/ 163 w 385"/>
                    <a:gd name="T9" fmla="*/ 211 h 218"/>
                    <a:gd name="T10" fmla="*/ 274 w 385"/>
                    <a:gd name="T11" fmla="*/ 207 h 218"/>
                    <a:gd name="T12" fmla="*/ 346 w 385"/>
                    <a:gd name="T13" fmla="*/ 189 h 218"/>
                    <a:gd name="T14" fmla="*/ 376 w 385"/>
                    <a:gd name="T15" fmla="*/ 149 h 218"/>
                    <a:gd name="T16" fmla="*/ 378 w 385"/>
                    <a:gd name="T17" fmla="*/ 90 h 218"/>
                    <a:gd name="T18" fmla="*/ 336 w 385"/>
                    <a:gd name="T19" fmla="*/ 26 h 218"/>
                    <a:gd name="T20" fmla="*/ 258 w 385"/>
                    <a:gd name="T21" fmla="*/ 2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5" h="218">
                      <a:moveTo>
                        <a:pt x="258" y="2"/>
                      </a:moveTo>
                      <a:cubicBezTo>
                        <a:pt x="220" y="0"/>
                        <a:pt x="142" y="4"/>
                        <a:pt x="101" y="18"/>
                      </a:cubicBezTo>
                      <a:cubicBezTo>
                        <a:pt x="60" y="32"/>
                        <a:pt x="24" y="62"/>
                        <a:pt x="12" y="87"/>
                      </a:cubicBezTo>
                      <a:cubicBezTo>
                        <a:pt x="0" y="112"/>
                        <a:pt x="5" y="146"/>
                        <a:pt x="30" y="167"/>
                      </a:cubicBezTo>
                      <a:cubicBezTo>
                        <a:pt x="55" y="188"/>
                        <a:pt x="122" y="204"/>
                        <a:pt x="163" y="211"/>
                      </a:cubicBezTo>
                      <a:cubicBezTo>
                        <a:pt x="204" y="218"/>
                        <a:pt x="244" y="211"/>
                        <a:pt x="274" y="207"/>
                      </a:cubicBezTo>
                      <a:cubicBezTo>
                        <a:pt x="304" y="203"/>
                        <a:pt x="329" y="199"/>
                        <a:pt x="346" y="189"/>
                      </a:cubicBezTo>
                      <a:cubicBezTo>
                        <a:pt x="363" y="179"/>
                        <a:pt x="371" y="165"/>
                        <a:pt x="376" y="149"/>
                      </a:cubicBezTo>
                      <a:cubicBezTo>
                        <a:pt x="381" y="133"/>
                        <a:pt x="385" y="110"/>
                        <a:pt x="378" y="90"/>
                      </a:cubicBezTo>
                      <a:cubicBezTo>
                        <a:pt x="371" y="70"/>
                        <a:pt x="356" y="41"/>
                        <a:pt x="336" y="26"/>
                      </a:cubicBezTo>
                      <a:cubicBezTo>
                        <a:pt x="316" y="11"/>
                        <a:pt x="274" y="7"/>
                        <a:pt x="258" y="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5" name="Line 15">
                  <a:extLst>
                    <a:ext uri="{FF2B5EF4-FFF2-40B4-BE49-F238E27FC236}">
                      <a16:creationId xmlns:a16="http://schemas.microsoft.com/office/drawing/2014/main" id="{E7FA0492-D7A0-3CE2-612F-9214956BBADD}"/>
                    </a:ext>
                  </a:extLst>
                </p:cNvPr>
                <p:cNvSpPr>
                  <a:spLocks noChangeShapeType="1"/>
                </p:cNvSpPr>
                <p:nvPr/>
              </p:nvSpPr>
              <p:spPr bwMode="auto">
                <a:xfrm flipH="1">
                  <a:off x="3399" y="2845"/>
                  <a:ext cx="134" cy="98"/>
                </a:xfrm>
                <a:prstGeom prst="line">
                  <a:avLst/>
                </a:prstGeom>
                <a:noFill/>
                <a:ln w="571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15" name="Group 16">
                <a:extLst>
                  <a:ext uri="{FF2B5EF4-FFF2-40B4-BE49-F238E27FC236}">
                    <a16:creationId xmlns:a16="http://schemas.microsoft.com/office/drawing/2014/main" id="{41D82E21-5630-7AA0-3A68-577D1C0D4AD1}"/>
                  </a:ext>
                </a:extLst>
              </p:cNvPr>
              <p:cNvGrpSpPr>
                <a:grpSpLocks/>
              </p:cNvGrpSpPr>
              <p:nvPr/>
            </p:nvGrpSpPr>
            <p:grpSpPr bwMode="auto">
              <a:xfrm>
                <a:off x="3973" y="2492"/>
                <a:ext cx="867" cy="431"/>
                <a:chOff x="3015" y="2673"/>
                <a:chExt cx="867" cy="431"/>
              </a:xfrm>
            </p:grpSpPr>
            <p:sp>
              <p:nvSpPr>
                <p:cNvPr id="20" name="Freeform 17">
                  <a:extLst>
                    <a:ext uri="{FF2B5EF4-FFF2-40B4-BE49-F238E27FC236}">
                      <a16:creationId xmlns:a16="http://schemas.microsoft.com/office/drawing/2014/main" id="{0DA2D024-B87A-9835-64A1-96DAA6B03E83}"/>
                    </a:ext>
                  </a:extLst>
                </p:cNvPr>
                <p:cNvSpPr>
                  <a:spLocks/>
                </p:cNvSpPr>
                <p:nvPr/>
              </p:nvSpPr>
              <p:spPr bwMode="auto">
                <a:xfrm>
                  <a:off x="3497" y="2673"/>
                  <a:ext cx="385" cy="218"/>
                </a:xfrm>
                <a:custGeom>
                  <a:avLst/>
                  <a:gdLst>
                    <a:gd name="T0" fmla="*/ 258 w 385"/>
                    <a:gd name="T1" fmla="*/ 2 h 218"/>
                    <a:gd name="T2" fmla="*/ 101 w 385"/>
                    <a:gd name="T3" fmla="*/ 18 h 218"/>
                    <a:gd name="T4" fmla="*/ 12 w 385"/>
                    <a:gd name="T5" fmla="*/ 87 h 218"/>
                    <a:gd name="T6" fmla="*/ 30 w 385"/>
                    <a:gd name="T7" fmla="*/ 167 h 218"/>
                    <a:gd name="T8" fmla="*/ 163 w 385"/>
                    <a:gd name="T9" fmla="*/ 211 h 218"/>
                    <a:gd name="T10" fmla="*/ 274 w 385"/>
                    <a:gd name="T11" fmla="*/ 207 h 218"/>
                    <a:gd name="T12" fmla="*/ 346 w 385"/>
                    <a:gd name="T13" fmla="*/ 189 h 218"/>
                    <a:gd name="T14" fmla="*/ 376 w 385"/>
                    <a:gd name="T15" fmla="*/ 149 h 218"/>
                    <a:gd name="T16" fmla="*/ 378 w 385"/>
                    <a:gd name="T17" fmla="*/ 90 h 218"/>
                    <a:gd name="T18" fmla="*/ 336 w 385"/>
                    <a:gd name="T19" fmla="*/ 26 h 218"/>
                    <a:gd name="T20" fmla="*/ 258 w 385"/>
                    <a:gd name="T21" fmla="*/ 2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5" h="218">
                      <a:moveTo>
                        <a:pt x="258" y="2"/>
                      </a:moveTo>
                      <a:cubicBezTo>
                        <a:pt x="220" y="0"/>
                        <a:pt x="142" y="4"/>
                        <a:pt x="101" y="18"/>
                      </a:cubicBezTo>
                      <a:cubicBezTo>
                        <a:pt x="60" y="32"/>
                        <a:pt x="24" y="62"/>
                        <a:pt x="12" y="87"/>
                      </a:cubicBezTo>
                      <a:cubicBezTo>
                        <a:pt x="0" y="112"/>
                        <a:pt x="5" y="146"/>
                        <a:pt x="30" y="167"/>
                      </a:cubicBezTo>
                      <a:cubicBezTo>
                        <a:pt x="55" y="188"/>
                        <a:pt x="122" y="204"/>
                        <a:pt x="163" y="211"/>
                      </a:cubicBezTo>
                      <a:cubicBezTo>
                        <a:pt x="204" y="218"/>
                        <a:pt x="244" y="211"/>
                        <a:pt x="274" y="207"/>
                      </a:cubicBezTo>
                      <a:cubicBezTo>
                        <a:pt x="304" y="203"/>
                        <a:pt x="329" y="199"/>
                        <a:pt x="346" y="189"/>
                      </a:cubicBezTo>
                      <a:cubicBezTo>
                        <a:pt x="363" y="179"/>
                        <a:pt x="371" y="165"/>
                        <a:pt x="376" y="149"/>
                      </a:cubicBezTo>
                      <a:cubicBezTo>
                        <a:pt x="381" y="133"/>
                        <a:pt x="385" y="110"/>
                        <a:pt x="378" y="90"/>
                      </a:cubicBezTo>
                      <a:cubicBezTo>
                        <a:pt x="371" y="70"/>
                        <a:pt x="356" y="41"/>
                        <a:pt x="336" y="26"/>
                      </a:cubicBezTo>
                      <a:cubicBezTo>
                        <a:pt x="316" y="11"/>
                        <a:pt x="274" y="7"/>
                        <a:pt x="258" y="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1" name="Freeform 18">
                  <a:extLst>
                    <a:ext uri="{FF2B5EF4-FFF2-40B4-BE49-F238E27FC236}">
                      <a16:creationId xmlns:a16="http://schemas.microsoft.com/office/drawing/2014/main" id="{A6B3CF43-B0CE-F9CC-C296-48C879C5D009}"/>
                    </a:ext>
                  </a:extLst>
                </p:cNvPr>
                <p:cNvSpPr>
                  <a:spLocks/>
                </p:cNvSpPr>
                <p:nvPr/>
              </p:nvSpPr>
              <p:spPr bwMode="auto">
                <a:xfrm>
                  <a:off x="3015" y="2886"/>
                  <a:ext cx="385" cy="218"/>
                </a:xfrm>
                <a:custGeom>
                  <a:avLst/>
                  <a:gdLst>
                    <a:gd name="T0" fmla="*/ 258 w 385"/>
                    <a:gd name="T1" fmla="*/ 2 h 218"/>
                    <a:gd name="T2" fmla="*/ 101 w 385"/>
                    <a:gd name="T3" fmla="*/ 18 h 218"/>
                    <a:gd name="T4" fmla="*/ 12 w 385"/>
                    <a:gd name="T5" fmla="*/ 87 h 218"/>
                    <a:gd name="T6" fmla="*/ 30 w 385"/>
                    <a:gd name="T7" fmla="*/ 167 h 218"/>
                    <a:gd name="T8" fmla="*/ 163 w 385"/>
                    <a:gd name="T9" fmla="*/ 211 h 218"/>
                    <a:gd name="T10" fmla="*/ 274 w 385"/>
                    <a:gd name="T11" fmla="*/ 207 h 218"/>
                    <a:gd name="T12" fmla="*/ 346 w 385"/>
                    <a:gd name="T13" fmla="*/ 189 h 218"/>
                    <a:gd name="T14" fmla="*/ 376 w 385"/>
                    <a:gd name="T15" fmla="*/ 149 h 218"/>
                    <a:gd name="T16" fmla="*/ 378 w 385"/>
                    <a:gd name="T17" fmla="*/ 90 h 218"/>
                    <a:gd name="T18" fmla="*/ 336 w 385"/>
                    <a:gd name="T19" fmla="*/ 26 h 218"/>
                    <a:gd name="T20" fmla="*/ 258 w 385"/>
                    <a:gd name="T21" fmla="*/ 2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5" h="218">
                      <a:moveTo>
                        <a:pt x="258" y="2"/>
                      </a:moveTo>
                      <a:cubicBezTo>
                        <a:pt x="220" y="0"/>
                        <a:pt x="142" y="4"/>
                        <a:pt x="101" y="18"/>
                      </a:cubicBezTo>
                      <a:cubicBezTo>
                        <a:pt x="60" y="32"/>
                        <a:pt x="24" y="62"/>
                        <a:pt x="12" y="87"/>
                      </a:cubicBezTo>
                      <a:cubicBezTo>
                        <a:pt x="0" y="112"/>
                        <a:pt x="5" y="146"/>
                        <a:pt x="30" y="167"/>
                      </a:cubicBezTo>
                      <a:cubicBezTo>
                        <a:pt x="55" y="188"/>
                        <a:pt x="122" y="204"/>
                        <a:pt x="163" y="211"/>
                      </a:cubicBezTo>
                      <a:cubicBezTo>
                        <a:pt x="204" y="218"/>
                        <a:pt x="244" y="211"/>
                        <a:pt x="274" y="207"/>
                      </a:cubicBezTo>
                      <a:cubicBezTo>
                        <a:pt x="304" y="203"/>
                        <a:pt x="329" y="199"/>
                        <a:pt x="346" y="189"/>
                      </a:cubicBezTo>
                      <a:cubicBezTo>
                        <a:pt x="363" y="179"/>
                        <a:pt x="371" y="165"/>
                        <a:pt x="376" y="149"/>
                      </a:cubicBezTo>
                      <a:cubicBezTo>
                        <a:pt x="381" y="133"/>
                        <a:pt x="385" y="110"/>
                        <a:pt x="378" y="90"/>
                      </a:cubicBezTo>
                      <a:cubicBezTo>
                        <a:pt x="371" y="70"/>
                        <a:pt x="356" y="41"/>
                        <a:pt x="336" y="26"/>
                      </a:cubicBezTo>
                      <a:cubicBezTo>
                        <a:pt x="316" y="11"/>
                        <a:pt x="274" y="7"/>
                        <a:pt x="258" y="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2" name="Line 19">
                  <a:extLst>
                    <a:ext uri="{FF2B5EF4-FFF2-40B4-BE49-F238E27FC236}">
                      <a16:creationId xmlns:a16="http://schemas.microsoft.com/office/drawing/2014/main" id="{B7E04FAD-78C7-0C3F-D440-88C650AEF510}"/>
                    </a:ext>
                  </a:extLst>
                </p:cNvPr>
                <p:cNvSpPr>
                  <a:spLocks noChangeShapeType="1"/>
                </p:cNvSpPr>
                <p:nvPr/>
              </p:nvSpPr>
              <p:spPr bwMode="auto">
                <a:xfrm flipH="1">
                  <a:off x="3399" y="2845"/>
                  <a:ext cx="134" cy="98"/>
                </a:xfrm>
                <a:prstGeom prst="line">
                  <a:avLst/>
                </a:prstGeom>
                <a:noFill/>
                <a:ln w="571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16" name="Group 20">
                <a:extLst>
                  <a:ext uri="{FF2B5EF4-FFF2-40B4-BE49-F238E27FC236}">
                    <a16:creationId xmlns:a16="http://schemas.microsoft.com/office/drawing/2014/main" id="{2AAA72FB-5763-F191-91E3-35C85BE289B8}"/>
                  </a:ext>
                </a:extLst>
              </p:cNvPr>
              <p:cNvGrpSpPr>
                <a:grpSpLocks/>
              </p:cNvGrpSpPr>
              <p:nvPr/>
            </p:nvGrpSpPr>
            <p:grpSpPr bwMode="auto">
              <a:xfrm>
                <a:off x="3473" y="2491"/>
                <a:ext cx="867" cy="431"/>
                <a:chOff x="3015" y="2673"/>
                <a:chExt cx="867" cy="431"/>
              </a:xfrm>
            </p:grpSpPr>
            <p:sp>
              <p:nvSpPr>
                <p:cNvPr id="17" name="Freeform 21">
                  <a:extLst>
                    <a:ext uri="{FF2B5EF4-FFF2-40B4-BE49-F238E27FC236}">
                      <a16:creationId xmlns:a16="http://schemas.microsoft.com/office/drawing/2014/main" id="{3755834A-5507-E6EA-C200-E2DF0FE21524}"/>
                    </a:ext>
                  </a:extLst>
                </p:cNvPr>
                <p:cNvSpPr>
                  <a:spLocks/>
                </p:cNvSpPr>
                <p:nvPr/>
              </p:nvSpPr>
              <p:spPr bwMode="auto">
                <a:xfrm>
                  <a:off x="3497" y="2673"/>
                  <a:ext cx="385" cy="218"/>
                </a:xfrm>
                <a:custGeom>
                  <a:avLst/>
                  <a:gdLst>
                    <a:gd name="T0" fmla="*/ 258 w 385"/>
                    <a:gd name="T1" fmla="*/ 2 h 218"/>
                    <a:gd name="T2" fmla="*/ 101 w 385"/>
                    <a:gd name="T3" fmla="*/ 18 h 218"/>
                    <a:gd name="T4" fmla="*/ 12 w 385"/>
                    <a:gd name="T5" fmla="*/ 87 h 218"/>
                    <a:gd name="T6" fmla="*/ 30 w 385"/>
                    <a:gd name="T7" fmla="*/ 167 h 218"/>
                    <a:gd name="T8" fmla="*/ 163 w 385"/>
                    <a:gd name="T9" fmla="*/ 211 h 218"/>
                    <a:gd name="T10" fmla="*/ 274 w 385"/>
                    <a:gd name="T11" fmla="*/ 207 h 218"/>
                    <a:gd name="T12" fmla="*/ 346 w 385"/>
                    <a:gd name="T13" fmla="*/ 189 h 218"/>
                    <a:gd name="T14" fmla="*/ 376 w 385"/>
                    <a:gd name="T15" fmla="*/ 149 h 218"/>
                    <a:gd name="T16" fmla="*/ 378 w 385"/>
                    <a:gd name="T17" fmla="*/ 90 h 218"/>
                    <a:gd name="T18" fmla="*/ 336 w 385"/>
                    <a:gd name="T19" fmla="*/ 26 h 218"/>
                    <a:gd name="T20" fmla="*/ 258 w 385"/>
                    <a:gd name="T21" fmla="*/ 2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5" h="218">
                      <a:moveTo>
                        <a:pt x="258" y="2"/>
                      </a:moveTo>
                      <a:cubicBezTo>
                        <a:pt x="220" y="0"/>
                        <a:pt x="142" y="4"/>
                        <a:pt x="101" y="18"/>
                      </a:cubicBezTo>
                      <a:cubicBezTo>
                        <a:pt x="60" y="32"/>
                        <a:pt x="24" y="62"/>
                        <a:pt x="12" y="87"/>
                      </a:cubicBezTo>
                      <a:cubicBezTo>
                        <a:pt x="0" y="112"/>
                        <a:pt x="5" y="146"/>
                        <a:pt x="30" y="167"/>
                      </a:cubicBezTo>
                      <a:cubicBezTo>
                        <a:pt x="55" y="188"/>
                        <a:pt x="122" y="204"/>
                        <a:pt x="163" y="211"/>
                      </a:cubicBezTo>
                      <a:cubicBezTo>
                        <a:pt x="204" y="218"/>
                        <a:pt x="244" y="211"/>
                        <a:pt x="274" y="207"/>
                      </a:cubicBezTo>
                      <a:cubicBezTo>
                        <a:pt x="304" y="203"/>
                        <a:pt x="329" y="199"/>
                        <a:pt x="346" y="189"/>
                      </a:cubicBezTo>
                      <a:cubicBezTo>
                        <a:pt x="363" y="179"/>
                        <a:pt x="371" y="165"/>
                        <a:pt x="376" y="149"/>
                      </a:cubicBezTo>
                      <a:cubicBezTo>
                        <a:pt x="381" y="133"/>
                        <a:pt x="385" y="110"/>
                        <a:pt x="378" y="90"/>
                      </a:cubicBezTo>
                      <a:cubicBezTo>
                        <a:pt x="371" y="70"/>
                        <a:pt x="356" y="41"/>
                        <a:pt x="336" y="26"/>
                      </a:cubicBezTo>
                      <a:cubicBezTo>
                        <a:pt x="316" y="11"/>
                        <a:pt x="274" y="7"/>
                        <a:pt x="258" y="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8" name="Freeform 22">
                  <a:extLst>
                    <a:ext uri="{FF2B5EF4-FFF2-40B4-BE49-F238E27FC236}">
                      <a16:creationId xmlns:a16="http://schemas.microsoft.com/office/drawing/2014/main" id="{97B2672E-02E8-3AE0-83A5-04C4801ED0B0}"/>
                    </a:ext>
                  </a:extLst>
                </p:cNvPr>
                <p:cNvSpPr>
                  <a:spLocks/>
                </p:cNvSpPr>
                <p:nvPr/>
              </p:nvSpPr>
              <p:spPr bwMode="auto">
                <a:xfrm>
                  <a:off x="3015" y="2886"/>
                  <a:ext cx="385" cy="218"/>
                </a:xfrm>
                <a:custGeom>
                  <a:avLst/>
                  <a:gdLst>
                    <a:gd name="T0" fmla="*/ 258 w 385"/>
                    <a:gd name="T1" fmla="*/ 2 h 218"/>
                    <a:gd name="T2" fmla="*/ 101 w 385"/>
                    <a:gd name="T3" fmla="*/ 18 h 218"/>
                    <a:gd name="T4" fmla="*/ 12 w 385"/>
                    <a:gd name="T5" fmla="*/ 87 h 218"/>
                    <a:gd name="T6" fmla="*/ 30 w 385"/>
                    <a:gd name="T7" fmla="*/ 167 h 218"/>
                    <a:gd name="T8" fmla="*/ 163 w 385"/>
                    <a:gd name="T9" fmla="*/ 211 h 218"/>
                    <a:gd name="T10" fmla="*/ 274 w 385"/>
                    <a:gd name="T11" fmla="*/ 207 h 218"/>
                    <a:gd name="T12" fmla="*/ 346 w 385"/>
                    <a:gd name="T13" fmla="*/ 189 h 218"/>
                    <a:gd name="T14" fmla="*/ 376 w 385"/>
                    <a:gd name="T15" fmla="*/ 149 h 218"/>
                    <a:gd name="T16" fmla="*/ 378 w 385"/>
                    <a:gd name="T17" fmla="*/ 90 h 218"/>
                    <a:gd name="T18" fmla="*/ 336 w 385"/>
                    <a:gd name="T19" fmla="*/ 26 h 218"/>
                    <a:gd name="T20" fmla="*/ 258 w 385"/>
                    <a:gd name="T21" fmla="*/ 2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5" h="218">
                      <a:moveTo>
                        <a:pt x="258" y="2"/>
                      </a:moveTo>
                      <a:cubicBezTo>
                        <a:pt x="220" y="0"/>
                        <a:pt x="142" y="4"/>
                        <a:pt x="101" y="18"/>
                      </a:cubicBezTo>
                      <a:cubicBezTo>
                        <a:pt x="60" y="32"/>
                        <a:pt x="24" y="62"/>
                        <a:pt x="12" y="87"/>
                      </a:cubicBezTo>
                      <a:cubicBezTo>
                        <a:pt x="0" y="112"/>
                        <a:pt x="5" y="146"/>
                        <a:pt x="30" y="167"/>
                      </a:cubicBezTo>
                      <a:cubicBezTo>
                        <a:pt x="55" y="188"/>
                        <a:pt x="122" y="204"/>
                        <a:pt x="163" y="211"/>
                      </a:cubicBezTo>
                      <a:cubicBezTo>
                        <a:pt x="204" y="218"/>
                        <a:pt x="244" y="211"/>
                        <a:pt x="274" y="207"/>
                      </a:cubicBezTo>
                      <a:cubicBezTo>
                        <a:pt x="304" y="203"/>
                        <a:pt x="329" y="199"/>
                        <a:pt x="346" y="189"/>
                      </a:cubicBezTo>
                      <a:cubicBezTo>
                        <a:pt x="363" y="179"/>
                        <a:pt x="371" y="165"/>
                        <a:pt x="376" y="149"/>
                      </a:cubicBezTo>
                      <a:cubicBezTo>
                        <a:pt x="381" y="133"/>
                        <a:pt x="385" y="110"/>
                        <a:pt x="378" y="90"/>
                      </a:cubicBezTo>
                      <a:cubicBezTo>
                        <a:pt x="371" y="70"/>
                        <a:pt x="356" y="41"/>
                        <a:pt x="336" y="26"/>
                      </a:cubicBezTo>
                      <a:cubicBezTo>
                        <a:pt x="316" y="11"/>
                        <a:pt x="274" y="7"/>
                        <a:pt x="258" y="2"/>
                      </a:cubicBezTo>
                      <a:close/>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9" name="Line 23">
                  <a:extLst>
                    <a:ext uri="{FF2B5EF4-FFF2-40B4-BE49-F238E27FC236}">
                      <a16:creationId xmlns:a16="http://schemas.microsoft.com/office/drawing/2014/main" id="{95F3A987-1A75-BA67-65B4-D526A967B2EF}"/>
                    </a:ext>
                  </a:extLst>
                </p:cNvPr>
                <p:cNvSpPr>
                  <a:spLocks noChangeShapeType="1"/>
                </p:cNvSpPr>
                <p:nvPr/>
              </p:nvSpPr>
              <p:spPr bwMode="auto">
                <a:xfrm flipH="1">
                  <a:off x="3399" y="2845"/>
                  <a:ext cx="134" cy="98"/>
                </a:xfrm>
                <a:prstGeom prst="line">
                  <a:avLst/>
                </a:prstGeom>
                <a:noFill/>
                <a:ln w="571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grpSp>
      <p:grpSp>
        <p:nvGrpSpPr>
          <p:cNvPr id="26" name="Group 24">
            <a:extLst>
              <a:ext uri="{FF2B5EF4-FFF2-40B4-BE49-F238E27FC236}">
                <a16:creationId xmlns:a16="http://schemas.microsoft.com/office/drawing/2014/main" id="{BD4F0F10-B4F9-603C-0606-EFA8CC336035}"/>
              </a:ext>
            </a:extLst>
          </p:cNvPr>
          <p:cNvGrpSpPr>
            <a:grpSpLocks/>
          </p:cNvGrpSpPr>
          <p:nvPr/>
        </p:nvGrpSpPr>
        <p:grpSpPr bwMode="auto">
          <a:xfrm>
            <a:off x="1882414" y="1063217"/>
            <a:ext cx="7986713" cy="1116012"/>
            <a:chOff x="516" y="797"/>
            <a:chExt cx="5031" cy="703"/>
          </a:xfrm>
        </p:grpSpPr>
        <p:grpSp>
          <p:nvGrpSpPr>
            <p:cNvPr id="27" name="Group 25">
              <a:extLst>
                <a:ext uri="{FF2B5EF4-FFF2-40B4-BE49-F238E27FC236}">
                  <a16:creationId xmlns:a16="http://schemas.microsoft.com/office/drawing/2014/main" id="{254781CD-1CBA-2C5B-F18E-8608F8A8A28A}"/>
                </a:ext>
              </a:extLst>
            </p:cNvPr>
            <p:cNvGrpSpPr>
              <a:grpSpLocks/>
            </p:cNvGrpSpPr>
            <p:nvPr/>
          </p:nvGrpSpPr>
          <p:grpSpPr bwMode="auto">
            <a:xfrm>
              <a:off x="516" y="797"/>
              <a:ext cx="5031" cy="688"/>
              <a:chOff x="422" y="806"/>
              <a:chExt cx="5031" cy="688"/>
            </a:xfrm>
          </p:grpSpPr>
          <p:sp>
            <p:nvSpPr>
              <p:cNvPr id="31" name="Rectangle 26">
                <a:extLst>
                  <a:ext uri="{FF2B5EF4-FFF2-40B4-BE49-F238E27FC236}">
                    <a16:creationId xmlns:a16="http://schemas.microsoft.com/office/drawing/2014/main" id="{D8036A40-6008-B90F-0AD1-2608FA7808FF}"/>
                  </a:ext>
                </a:extLst>
              </p:cNvPr>
              <p:cNvSpPr>
                <a:spLocks noChangeArrowheads="1"/>
              </p:cNvSpPr>
              <p:nvPr/>
            </p:nvSpPr>
            <p:spPr bwMode="auto">
              <a:xfrm>
                <a:off x="422" y="806"/>
                <a:ext cx="4841" cy="4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CLIPBOARD	LLC: 0			PERIOD</a:t>
                </a:r>
              </a:p>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L4L	LT: 1	</a:t>
                </a:r>
                <a:r>
                  <a:rPr lang="en-US" sz="1800" i="1">
                    <a:latin typeface="Times New Roman" panose="02020603050405020304" pitchFamily="18" charset="0"/>
                    <a:cs typeface="Times New Roman" panose="02020603050405020304" pitchFamily="18" charset="0"/>
                  </a:rPr>
                  <a:t>1	2	3	4	5</a:t>
                </a:r>
              </a:p>
            </p:txBody>
          </p:sp>
          <p:sp>
            <p:nvSpPr>
              <p:cNvPr id="32" name="Rectangle 27">
                <a:extLst>
                  <a:ext uri="{FF2B5EF4-FFF2-40B4-BE49-F238E27FC236}">
                    <a16:creationId xmlns:a16="http://schemas.microsoft.com/office/drawing/2014/main" id="{79DFBF02-F981-E3C8-F328-386B721F05AF}"/>
                  </a:ext>
                </a:extLst>
              </p:cNvPr>
              <p:cNvSpPr>
                <a:spLocks noChangeArrowheads="1"/>
              </p:cNvSpPr>
              <p:nvPr/>
            </p:nvSpPr>
            <p:spPr bwMode="auto">
              <a:xfrm>
                <a:off x="422" y="1258"/>
                <a:ext cx="5031"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10000"/>
                  </a:lnSpc>
                  <a:tabLst>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Planned Order Releases		100	100	100	</a:t>
                </a:r>
                <a:endParaRPr lang="en-US">
                  <a:latin typeface="Times New Roman" panose="02020603050405020304" pitchFamily="18" charset="0"/>
                  <a:cs typeface="Times New Roman" panose="02020603050405020304" pitchFamily="18" charset="0"/>
                </a:endParaRPr>
              </a:p>
            </p:txBody>
          </p:sp>
        </p:grpSp>
        <p:sp>
          <p:nvSpPr>
            <p:cNvPr id="28" name="Line 28">
              <a:extLst>
                <a:ext uri="{FF2B5EF4-FFF2-40B4-BE49-F238E27FC236}">
                  <a16:creationId xmlns:a16="http://schemas.microsoft.com/office/drawing/2014/main" id="{4946D228-6821-124C-7EF4-B7CD91DE1D20}"/>
                </a:ext>
              </a:extLst>
            </p:cNvPr>
            <p:cNvSpPr>
              <a:spLocks noChangeShapeType="1"/>
            </p:cNvSpPr>
            <p:nvPr/>
          </p:nvSpPr>
          <p:spPr bwMode="auto">
            <a:xfrm>
              <a:off x="527" y="1262"/>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29" name="Line 29">
              <a:extLst>
                <a:ext uri="{FF2B5EF4-FFF2-40B4-BE49-F238E27FC236}">
                  <a16:creationId xmlns:a16="http://schemas.microsoft.com/office/drawing/2014/main" id="{2E4B46F5-529B-4B62-1DA9-60047B145A55}"/>
                </a:ext>
              </a:extLst>
            </p:cNvPr>
            <p:cNvSpPr>
              <a:spLocks noChangeShapeType="1"/>
            </p:cNvSpPr>
            <p:nvPr/>
          </p:nvSpPr>
          <p:spPr bwMode="auto">
            <a:xfrm>
              <a:off x="3025" y="1040"/>
              <a:ext cx="224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30" name="Line 30">
              <a:extLst>
                <a:ext uri="{FF2B5EF4-FFF2-40B4-BE49-F238E27FC236}">
                  <a16:creationId xmlns:a16="http://schemas.microsoft.com/office/drawing/2014/main" id="{8E7D3D5F-F4F1-938A-6FA6-2E17D1C6DB1F}"/>
                </a:ext>
              </a:extLst>
            </p:cNvPr>
            <p:cNvSpPr>
              <a:spLocks noChangeShapeType="1"/>
            </p:cNvSpPr>
            <p:nvPr/>
          </p:nvSpPr>
          <p:spPr bwMode="auto">
            <a:xfrm>
              <a:off x="527" y="1500"/>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grpSp>
        <p:nvGrpSpPr>
          <p:cNvPr id="33" name="Group 31">
            <a:extLst>
              <a:ext uri="{FF2B5EF4-FFF2-40B4-BE49-F238E27FC236}">
                <a16:creationId xmlns:a16="http://schemas.microsoft.com/office/drawing/2014/main" id="{2DF541C0-2A76-652F-3F4B-9EC98CE5F756}"/>
              </a:ext>
            </a:extLst>
          </p:cNvPr>
          <p:cNvGrpSpPr>
            <a:grpSpLocks/>
          </p:cNvGrpSpPr>
          <p:nvPr/>
        </p:nvGrpSpPr>
        <p:grpSpPr bwMode="auto">
          <a:xfrm>
            <a:off x="1882414" y="2161767"/>
            <a:ext cx="7986713" cy="1092200"/>
            <a:chOff x="516" y="1489"/>
            <a:chExt cx="5031" cy="688"/>
          </a:xfrm>
        </p:grpSpPr>
        <p:grpSp>
          <p:nvGrpSpPr>
            <p:cNvPr id="34" name="Group 32">
              <a:extLst>
                <a:ext uri="{FF2B5EF4-FFF2-40B4-BE49-F238E27FC236}">
                  <a16:creationId xmlns:a16="http://schemas.microsoft.com/office/drawing/2014/main" id="{D4E385F5-40F2-B1FA-53E8-A43DD5710E0F}"/>
                </a:ext>
              </a:extLst>
            </p:cNvPr>
            <p:cNvGrpSpPr>
              <a:grpSpLocks/>
            </p:cNvGrpSpPr>
            <p:nvPr/>
          </p:nvGrpSpPr>
          <p:grpSpPr bwMode="auto">
            <a:xfrm>
              <a:off x="516" y="1489"/>
              <a:ext cx="5031" cy="688"/>
              <a:chOff x="422" y="806"/>
              <a:chExt cx="5031" cy="688"/>
            </a:xfrm>
          </p:grpSpPr>
          <p:sp>
            <p:nvSpPr>
              <p:cNvPr id="38" name="Rectangle 33">
                <a:extLst>
                  <a:ext uri="{FF2B5EF4-FFF2-40B4-BE49-F238E27FC236}">
                    <a16:creationId xmlns:a16="http://schemas.microsoft.com/office/drawing/2014/main" id="{43B63EC5-2DB7-5269-06C4-7E0156F66BBB}"/>
                  </a:ext>
                </a:extLst>
              </p:cNvPr>
              <p:cNvSpPr>
                <a:spLocks noChangeArrowheads="1"/>
              </p:cNvSpPr>
              <p:nvPr/>
            </p:nvSpPr>
            <p:spPr bwMode="auto">
              <a:xfrm>
                <a:off x="422" y="806"/>
                <a:ext cx="4841" cy="4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ITEM: LAPDESK	LLC: 0			PERIOD</a:t>
                </a:r>
              </a:p>
              <a:p>
                <a:pPr>
                  <a:lnSpc>
                    <a:spcPct val="120000"/>
                  </a:lnSpc>
                  <a:tabLst>
                    <a:tab pos="3146425" algn="r"/>
                    <a:tab pos="4191000" algn="ctr"/>
                    <a:tab pos="4953000" algn="ctr"/>
                    <a:tab pos="5715000" algn="ctr"/>
                    <a:tab pos="6477000" algn="ctr"/>
                    <a:tab pos="7239000" algn="ctr"/>
                  </a:tabLst>
                </a:pPr>
                <a:r>
                  <a:rPr lang="en-US" sz="1800">
                    <a:latin typeface="Times New Roman" panose="02020603050405020304" pitchFamily="18" charset="0"/>
                    <a:cs typeface="Times New Roman" panose="02020603050405020304" pitchFamily="18" charset="0"/>
                  </a:rPr>
                  <a:t>LOT SIZE: MULT 50	LT: 1	</a:t>
                </a:r>
                <a:r>
                  <a:rPr lang="en-US" sz="1800" i="1">
                    <a:latin typeface="Times New Roman" panose="02020603050405020304" pitchFamily="18" charset="0"/>
                    <a:cs typeface="Times New Roman" panose="02020603050405020304" pitchFamily="18" charset="0"/>
                  </a:rPr>
                  <a:t>1	2	3	4	5</a:t>
                </a:r>
              </a:p>
            </p:txBody>
          </p:sp>
          <p:sp>
            <p:nvSpPr>
              <p:cNvPr id="39" name="Rectangle 34">
                <a:extLst>
                  <a:ext uri="{FF2B5EF4-FFF2-40B4-BE49-F238E27FC236}">
                    <a16:creationId xmlns:a16="http://schemas.microsoft.com/office/drawing/2014/main" id="{E2BAA527-DCE1-11A9-9BC8-CDF768000A5E}"/>
                  </a:ext>
                </a:extLst>
              </p:cNvPr>
              <p:cNvSpPr>
                <a:spLocks noChangeArrowheads="1"/>
              </p:cNvSpPr>
              <p:nvPr/>
            </p:nvSpPr>
            <p:spPr bwMode="auto">
              <a:xfrm>
                <a:off x="422" y="1258"/>
                <a:ext cx="5031"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10000"/>
                  </a:lnSpc>
                  <a:tabLst>
                    <a:tab pos="4387850" algn="r"/>
                    <a:tab pos="5149850" algn="r"/>
                    <a:tab pos="5911850" algn="r"/>
                    <a:tab pos="6673850" algn="r"/>
                    <a:tab pos="7435850" algn="r"/>
                  </a:tabLst>
                </a:pPr>
                <a:r>
                  <a:rPr lang="en-US" sz="1800">
                    <a:latin typeface="Times New Roman" panose="02020603050405020304" pitchFamily="18" charset="0"/>
                    <a:cs typeface="Times New Roman" panose="02020603050405020304" pitchFamily="18" charset="0"/>
                  </a:rPr>
                  <a:t>Planned Order Releases	50		50		</a:t>
                </a:r>
                <a:endParaRPr lang="en-US">
                  <a:latin typeface="Times New Roman" panose="02020603050405020304" pitchFamily="18" charset="0"/>
                  <a:cs typeface="Times New Roman" panose="02020603050405020304" pitchFamily="18" charset="0"/>
                </a:endParaRPr>
              </a:p>
            </p:txBody>
          </p:sp>
        </p:grpSp>
        <p:sp>
          <p:nvSpPr>
            <p:cNvPr id="35" name="Line 35">
              <a:extLst>
                <a:ext uri="{FF2B5EF4-FFF2-40B4-BE49-F238E27FC236}">
                  <a16:creationId xmlns:a16="http://schemas.microsoft.com/office/drawing/2014/main" id="{C5524BD6-A86F-C083-D59D-18FABF2ABA56}"/>
                </a:ext>
              </a:extLst>
            </p:cNvPr>
            <p:cNvSpPr>
              <a:spLocks noChangeShapeType="1"/>
            </p:cNvSpPr>
            <p:nvPr/>
          </p:nvSpPr>
          <p:spPr bwMode="auto">
            <a:xfrm>
              <a:off x="527" y="1954"/>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36" name="Line 36">
              <a:extLst>
                <a:ext uri="{FF2B5EF4-FFF2-40B4-BE49-F238E27FC236}">
                  <a16:creationId xmlns:a16="http://schemas.microsoft.com/office/drawing/2014/main" id="{4A85194B-2857-76C6-8E67-DAD28B9003AB}"/>
                </a:ext>
              </a:extLst>
            </p:cNvPr>
            <p:cNvSpPr>
              <a:spLocks noChangeShapeType="1"/>
            </p:cNvSpPr>
            <p:nvPr/>
          </p:nvSpPr>
          <p:spPr bwMode="auto">
            <a:xfrm>
              <a:off x="3025" y="1732"/>
              <a:ext cx="224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37" name="Line 37">
              <a:extLst>
                <a:ext uri="{FF2B5EF4-FFF2-40B4-BE49-F238E27FC236}">
                  <a16:creationId xmlns:a16="http://schemas.microsoft.com/office/drawing/2014/main" id="{CF163198-F867-4E40-26C9-5A6229CE62CC}"/>
                </a:ext>
              </a:extLst>
            </p:cNvPr>
            <p:cNvSpPr>
              <a:spLocks noChangeShapeType="1"/>
            </p:cNvSpPr>
            <p:nvPr/>
          </p:nvSpPr>
          <p:spPr bwMode="auto">
            <a:xfrm>
              <a:off x="527" y="2174"/>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4219424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85283-C7B0-35FA-11D6-DC0E91B6B179}"/>
              </a:ext>
            </a:extLst>
          </p:cNvPr>
          <p:cNvSpPr>
            <a:spLocks noGrp="1"/>
          </p:cNvSpPr>
          <p:nvPr>
            <p:ph type="title"/>
          </p:nvPr>
        </p:nvSpPr>
        <p:spPr/>
        <p:txBody>
          <a:bodyPr/>
          <a:lstStyle/>
          <a:p>
            <a:r>
              <a:rPr lang="en-IN" dirty="0"/>
              <a:t>Example— School mate products</a:t>
            </a:r>
          </a:p>
        </p:txBody>
      </p:sp>
      <p:sp>
        <p:nvSpPr>
          <p:cNvPr id="4" name="Date Placeholder 3">
            <a:extLst>
              <a:ext uri="{FF2B5EF4-FFF2-40B4-BE49-F238E27FC236}">
                <a16:creationId xmlns:a16="http://schemas.microsoft.com/office/drawing/2014/main" id="{0394EAE0-F4F1-04EB-A830-8B044FA72D63}"/>
              </a:ext>
            </a:extLst>
          </p:cNvPr>
          <p:cNvSpPr>
            <a:spLocks noGrp="1"/>
          </p:cNvSpPr>
          <p:nvPr>
            <p:ph type="dt" idx="10"/>
          </p:nvPr>
        </p:nvSpPr>
        <p:spPr/>
        <p:txBody>
          <a:bodyPr/>
          <a:lstStyle/>
          <a:p>
            <a:fld id="{D1FBB12C-6AF2-404C-B802-656F1A988312}" type="datetime1">
              <a:rPr lang="en-IN" smtClean="0"/>
              <a:pPr/>
              <a:t>04-12-2025</a:t>
            </a:fld>
            <a:endParaRPr lang="en-IN" dirty="0"/>
          </a:p>
        </p:txBody>
      </p:sp>
      <p:sp>
        <p:nvSpPr>
          <p:cNvPr id="5" name="Footer Placeholder 4">
            <a:extLst>
              <a:ext uri="{FF2B5EF4-FFF2-40B4-BE49-F238E27FC236}">
                <a16:creationId xmlns:a16="http://schemas.microsoft.com/office/drawing/2014/main" id="{14A19F36-3356-02AB-A281-A03BEC9D02BB}"/>
              </a:ext>
            </a:extLst>
          </p:cNvPr>
          <p:cNvSpPr>
            <a:spLocks noGrp="1"/>
          </p:cNvSpPr>
          <p:nvPr>
            <p:ph type="ftr" idx="11"/>
          </p:nvPr>
        </p:nvSpPr>
        <p:spPr/>
        <p:txBody>
          <a:bodyPr/>
          <a:lstStyle/>
          <a:p>
            <a:r>
              <a:rPr lang="en-IN"/>
              <a:t>Resource Planning</a:t>
            </a:r>
            <a:endParaRPr lang="en-IN" dirty="0"/>
          </a:p>
        </p:txBody>
      </p:sp>
      <p:sp>
        <p:nvSpPr>
          <p:cNvPr id="6" name="Slide Number Placeholder 5">
            <a:extLst>
              <a:ext uri="{FF2B5EF4-FFF2-40B4-BE49-F238E27FC236}">
                <a16:creationId xmlns:a16="http://schemas.microsoft.com/office/drawing/2014/main" id="{8A140355-4687-7885-F506-175625098F8B}"/>
              </a:ext>
            </a:extLst>
          </p:cNvPr>
          <p:cNvSpPr>
            <a:spLocks noGrp="1"/>
          </p:cNvSpPr>
          <p:nvPr>
            <p:ph type="sldNum" idx="12"/>
          </p:nvPr>
        </p:nvSpPr>
        <p:spPr/>
        <p:txBody>
          <a:bodyPr/>
          <a:lstStyle/>
          <a:p>
            <a:fld id="{00000000-1234-1234-1234-123412341234}" type="slidenum">
              <a:rPr lang="en-US" smtClean="0"/>
              <a:pPr/>
              <a:t>35</a:t>
            </a:fld>
            <a:endParaRPr lang="en-US" dirty="0"/>
          </a:p>
        </p:txBody>
      </p:sp>
      <p:grpSp>
        <p:nvGrpSpPr>
          <p:cNvPr id="7" name="Group 40">
            <a:extLst>
              <a:ext uri="{FF2B5EF4-FFF2-40B4-BE49-F238E27FC236}">
                <a16:creationId xmlns:a16="http://schemas.microsoft.com/office/drawing/2014/main" id="{182722C1-F8E0-C38A-73C1-50FAB6E39BD5}"/>
              </a:ext>
            </a:extLst>
          </p:cNvPr>
          <p:cNvGrpSpPr>
            <a:grpSpLocks/>
          </p:cNvGrpSpPr>
          <p:nvPr/>
        </p:nvGrpSpPr>
        <p:grpSpPr bwMode="auto">
          <a:xfrm>
            <a:off x="1733550" y="2032793"/>
            <a:ext cx="7699375" cy="2792413"/>
            <a:chOff x="471" y="1268"/>
            <a:chExt cx="4850" cy="1759"/>
          </a:xfrm>
        </p:grpSpPr>
        <p:sp>
          <p:nvSpPr>
            <p:cNvPr id="8" name="Line 9">
              <a:extLst>
                <a:ext uri="{FF2B5EF4-FFF2-40B4-BE49-F238E27FC236}">
                  <a16:creationId xmlns:a16="http://schemas.microsoft.com/office/drawing/2014/main" id="{6F9FC021-8B03-3CE9-55A7-470D4943A422}"/>
                </a:ext>
              </a:extLst>
            </p:cNvPr>
            <p:cNvSpPr>
              <a:spLocks noChangeShapeType="1"/>
            </p:cNvSpPr>
            <p:nvPr/>
          </p:nvSpPr>
          <p:spPr bwMode="auto">
            <a:xfrm>
              <a:off x="471" y="3027"/>
              <a:ext cx="4764"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9" name="Rectangle 25">
              <a:extLst>
                <a:ext uri="{FF2B5EF4-FFF2-40B4-BE49-F238E27FC236}">
                  <a16:creationId xmlns:a16="http://schemas.microsoft.com/office/drawing/2014/main" id="{F01C7F42-81AB-075A-77B0-9332B57A880B}"/>
                </a:ext>
              </a:extLst>
            </p:cNvPr>
            <p:cNvSpPr>
              <a:spLocks noChangeArrowheads="1"/>
            </p:cNvSpPr>
            <p:nvPr/>
          </p:nvSpPr>
          <p:spPr bwMode="auto">
            <a:xfrm>
              <a:off x="480" y="1268"/>
              <a:ext cx="4841" cy="9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tabLst>
                  <a:tab pos="3146425" algn="r"/>
                  <a:tab pos="4191000" algn="ctr"/>
                  <a:tab pos="4953000" algn="ctr"/>
                  <a:tab pos="5715000" algn="ctr"/>
                  <a:tab pos="6477000" algn="ctr"/>
                  <a:tab pos="7239000" algn="ctr"/>
                </a:tabLst>
              </a:pPr>
              <a:r>
                <a:rPr lang="en-US" sz="2000" dirty="0">
                  <a:latin typeface="Times New Roman" panose="02020603050405020304" pitchFamily="18" charset="0"/>
                  <a:cs typeface="Times New Roman" panose="02020603050405020304" pitchFamily="18" charset="0"/>
                </a:rPr>
                <a:t>Planned Order Report</a:t>
              </a:r>
            </a:p>
            <a:p>
              <a:pPr>
                <a:lnSpc>
                  <a:spcPct val="150000"/>
                </a:lnSpc>
                <a:tabLst>
                  <a:tab pos="3146425" algn="r"/>
                  <a:tab pos="4191000" algn="ctr"/>
                  <a:tab pos="4953000" algn="ctr"/>
                  <a:tab pos="5715000" algn="ctr"/>
                  <a:tab pos="6477000" algn="ctr"/>
                  <a:tab pos="7239000" algn="ctr"/>
                </a:tabLst>
              </a:pPr>
              <a:r>
                <a:rPr lang="en-US" sz="2000" dirty="0">
                  <a:latin typeface="Times New Roman" panose="02020603050405020304" pitchFamily="18" charset="0"/>
                  <a:cs typeface="Times New Roman" panose="02020603050405020304" pitchFamily="18" charset="0"/>
                </a:rPr>
                <a:t>				PERIOD</a:t>
              </a:r>
            </a:p>
            <a:p>
              <a:pPr>
                <a:lnSpc>
                  <a:spcPct val="150000"/>
                </a:lnSpc>
                <a:tabLst>
                  <a:tab pos="3146425" algn="r"/>
                  <a:tab pos="4191000" algn="ctr"/>
                  <a:tab pos="4953000" algn="ctr"/>
                  <a:tab pos="5715000" algn="ctr"/>
                  <a:tab pos="6477000" algn="ctr"/>
                  <a:tab pos="7239000" algn="ctr"/>
                </a:tabLst>
              </a:pPr>
              <a:r>
                <a:rPr lang="en-US" sz="2000" dirty="0">
                  <a:latin typeface="Times New Roman" panose="02020603050405020304" pitchFamily="18" charset="0"/>
                  <a:cs typeface="Times New Roman" panose="02020603050405020304" pitchFamily="18" charset="0"/>
                </a:rPr>
                <a:t>ITEM		</a:t>
              </a:r>
              <a:r>
                <a:rPr lang="en-US" sz="2000" i="1" dirty="0">
                  <a:latin typeface="Times New Roman" panose="02020603050405020304" pitchFamily="18" charset="0"/>
                  <a:cs typeface="Times New Roman" panose="02020603050405020304" pitchFamily="18" charset="0"/>
                </a:rPr>
                <a:t>1	2	3	4	5</a:t>
              </a:r>
            </a:p>
          </p:txBody>
        </p:sp>
        <p:sp>
          <p:nvSpPr>
            <p:cNvPr id="10" name="Rectangle 26">
              <a:extLst>
                <a:ext uri="{FF2B5EF4-FFF2-40B4-BE49-F238E27FC236}">
                  <a16:creationId xmlns:a16="http://schemas.microsoft.com/office/drawing/2014/main" id="{B0320C93-8038-0704-C6B4-C28106BABE84}"/>
                </a:ext>
              </a:extLst>
            </p:cNvPr>
            <p:cNvSpPr>
              <a:spLocks noChangeArrowheads="1"/>
            </p:cNvSpPr>
            <p:nvPr/>
          </p:nvSpPr>
          <p:spPr bwMode="auto">
            <a:xfrm>
              <a:off x="480" y="2206"/>
              <a:ext cx="4596" cy="7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5000"/>
                </a:lnSpc>
                <a:tabLst>
                  <a:tab pos="4387850" algn="r"/>
                  <a:tab pos="5149850" algn="r"/>
                  <a:tab pos="5911850" algn="r"/>
                  <a:tab pos="6673850" algn="r"/>
                  <a:tab pos="7435850" algn="r"/>
                </a:tabLst>
              </a:pPr>
              <a:r>
                <a:rPr lang="en-US" sz="2000" dirty="0">
                  <a:latin typeface="Times New Roman" panose="02020603050405020304" pitchFamily="18" charset="0"/>
                  <a:cs typeface="Times New Roman" panose="02020603050405020304" pitchFamily="18" charset="0"/>
                </a:rPr>
                <a:t>Clipboard		100	100	100</a:t>
              </a:r>
            </a:p>
            <a:p>
              <a:pPr>
                <a:lnSpc>
                  <a:spcPct val="125000"/>
                </a:lnSpc>
                <a:tabLst>
                  <a:tab pos="4387850" algn="r"/>
                  <a:tab pos="5149850" algn="r"/>
                  <a:tab pos="5911850" algn="r"/>
                  <a:tab pos="6673850" algn="r"/>
                  <a:tab pos="7435850" algn="r"/>
                </a:tabLst>
              </a:pPr>
              <a:r>
                <a:rPr lang="en-US" sz="2000" dirty="0" err="1">
                  <a:latin typeface="Times New Roman" panose="02020603050405020304" pitchFamily="18" charset="0"/>
                  <a:cs typeface="Times New Roman" panose="02020603050405020304" pitchFamily="18" charset="0"/>
                </a:rPr>
                <a:t>Lapdesk</a:t>
              </a:r>
              <a:r>
                <a:rPr lang="en-US" sz="2000" dirty="0">
                  <a:latin typeface="Times New Roman" panose="02020603050405020304" pitchFamily="18" charset="0"/>
                  <a:cs typeface="Times New Roman" panose="02020603050405020304" pitchFamily="18" charset="0"/>
                </a:rPr>
                <a:t>	50		50</a:t>
              </a:r>
            </a:p>
            <a:p>
              <a:pPr>
                <a:lnSpc>
                  <a:spcPct val="125000"/>
                </a:lnSpc>
                <a:tabLst>
                  <a:tab pos="4387850" algn="r"/>
                  <a:tab pos="5149850" algn="r"/>
                  <a:tab pos="5911850" algn="r"/>
                  <a:tab pos="6673850" algn="r"/>
                  <a:tab pos="7435850" algn="r"/>
                </a:tabLst>
              </a:pPr>
              <a:r>
                <a:rPr lang="en-US" sz="2000" dirty="0">
                  <a:latin typeface="Times New Roman" panose="02020603050405020304" pitchFamily="18" charset="0"/>
                  <a:cs typeface="Times New Roman" panose="02020603050405020304" pitchFamily="18" charset="0"/>
                </a:rPr>
                <a:t>Pressboard	100	150	100</a:t>
              </a:r>
            </a:p>
          </p:txBody>
        </p:sp>
        <p:sp>
          <p:nvSpPr>
            <p:cNvPr id="11" name="Line 27">
              <a:extLst>
                <a:ext uri="{FF2B5EF4-FFF2-40B4-BE49-F238E27FC236}">
                  <a16:creationId xmlns:a16="http://schemas.microsoft.com/office/drawing/2014/main" id="{E4239300-A4F5-F815-0E76-AC5B641D08A0}"/>
                </a:ext>
              </a:extLst>
            </p:cNvPr>
            <p:cNvSpPr>
              <a:spLocks noChangeShapeType="1"/>
            </p:cNvSpPr>
            <p:nvPr/>
          </p:nvSpPr>
          <p:spPr bwMode="auto">
            <a:xfrm>
              <a:off x="488" y="2201"/>
              <a:ext cx="4747"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2" name="Line 28">
              <a:extLst>
                <a:ext uri="{FF2B5EF4-FFF2-40B4-BE49-F238E27FC236}">
                  <a16:creationId xmlns:a16="http://schemas.microsoft.com/office/drawing/2014/main" id="{AE4F9E3C-205A-2D29-A84A-3AF1B32639AF}"/>
                </a:ext>
              </a:extLst>
            </p:cNvPr>
            <p:cNvSpPr>
              <a:spLocks noChangeShapeType="1"/>
            </p:cNvSpPr>
            <p:nvPr/>
          </p:nvSpPr>
          <p:spPr bwMode="auto">
            <a:xfrm>
              <a:off x="2986" y="1898"/>
              <a:ext cx="2249"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sp>
        <p:nvSpPr>
          <p:cNvPr id="13" name="TextBox 12">
            <a:extLst>
              <a:ext uri="{FF2B5EF4-FFF2-40B4-BE49-F238E27FC236}">
                <a16:creationId xmlns:a16="http://schemas.microsoft.com/office/drawing/2014/main" id="{45EC04E1-5967-080D-51E0-701B8064F6D2}"/>
              </a:ext>
            </a:extLst>
          </p:cNvPr>
          <p:cNvSpPr txBox="1"/>
          <p:nvPr/>
        </p:nvSpPr>
        <p:spPr>
          <a:xfrm>
            <a:off x="1733550" y="2032793"/>
            <a:ext cx="7562850" cy="2953875"/>
          </a:xfrm>
          <a:prstGeom prst="rect">
            <a:avLst/>
          </a:prstGeom>
          <a:noFill/>
          <a:ln>
            <a:solidFill>
              <a:schemeClr val="tx1"/>
            </a:solidFill>
          </a:ln>
        </p:spPr>
        <p:txBody>
          <a:bodyPr wrap="square" rtlCol="0">
            <a:spAutoFit/>
          </a:bodyPr>
          <a:lstStyle/>
          <a:p>
            <a:endParaRPr lang="en-IN" dirty="0"/>
          </a:p>
        </p:txBody>
      </p:sp>
    </p:spTree>
    <p:extLst>
      <p:ext uri="{BB962C8B-B14F-4D97-AF65-F5344CB8AC3E}">
        <p14:creationId xmlns:p14="http://schemas.microsoft.com/office/powerpoint/2010/main" val="36126445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18"/>
          <p:cNvSpPr txBox="1"/>
          <p:nvPr/>
        </p:nvSpPr>
        <p:spPr>
          <a:xfrm>
            <a:off x="4709161" y="2743196"/>
            <a:ext cx="3047100" cy="6858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600"/>
              <a:buFont typeface="Calibri"/>
              <a:buNone/>
            </a:pPr>
            <a:r>
              <a:rPr lang="en-US" sz="3600" b="1">
                <a:solidFill>
                  <a:schemeClr val="dk1"/>
                </a:solidFill>
                <a:latin typeface="Calibri"/>
                <a:ea typeface="Calibri"/>
                <a:cs typeface="Calibri"/>
                <a:sym typeface="Calibri"/>
              </a:rPr>
              <a:t>Thank You </a:t>
            </a:r>
            <a:endParaRPr sz="3600">
              <a:solidFill>
                <a:srgbClr val="15438E"/>
              </a:solidFill>
              <a:latin typeface="Calibri"/>
              <a:ea typeface="Calibri"/>
              <a:cs typeface="Calibri"/>
              <a:sym typeface="Calibri"/>
            </a:endParaRPr>
          </a:p>
        </p:txBody>
      </p:sp>
      <p:pic>
        <p:nvPicPr>
          <p:cNvPr id="352" name="Google Shape;352;p18" descr="Smiling face outline with solid fill"/>
          <p:cNvPicPr preferRelativeResize="0"/>
          <p:nvPr/>
        </p:nvPicPr>
        <p:blipFill rotWithShape="1">
          <a:blip r:embed="rId3">
            <a:alphaModFix/>
          </a:blip>
          <a:srcRect/>
          <a:stretch/>
        </p:blipFill>
        <p:spPr>
          <a:xfrm>
            <a:off x="4796864" y="3492157"/>
            <a:ext cx="914400" cy="914400"/>
          </a:xfrm>
          <a:prstGeom prst="rect">
            <a:avLst/>
          </a:prstGeom>
          <a:noFill/>
          <a:ln>
            <a:noFill/>
          </a:ln>
        </p:spPr>
      </p:pic>
      <p:pic>
        <p:nvPicPr>
          <p:cNvPr id="353" name="Google Shape;353;p18" descr="Questions outline"/>
          <p:cNvPicPr preferRelativeResize="0"/>
          <p:nvPr/>
        </p:nvPicPr>
        <p:blipFill rotWithShape="1">
          <a:blip r:embed="rId4">
            <a:alphaModFix/>
          </a:blip>
          <a:srcRect/>
          <a:stretch/>
        </p:blipFill>
        <p:spPr>
          <a:xfrm>
            <a:off x="5964231" y="3511878"/>
            <a:ext cx="914400" cy="914400"/>
          </a:xfrm>
          <a:prstGeom prst="rect">
            <a:avLst/>
          </a:prstGeom>
          <a:noFill/>
          <a:ln>
            <a:noFill/>
          </a:ln>
        </p:spPr>
      </p:pic>
      <p:sp>
        <p:nvSpPr>
          <p:cNvPr id="2" name="Date Placeholder 1"/>
          <p:cNvSpPr>
            <a:spLocks noGrp="1"/>
          </p:cNvSpPr>
          <p:nvPr>
            <p:ph type="dt" idx="10"/>
          </p:nvPr>
        </p:nvSpPr>
        <p:spPr/>
        <p:txBody>
          <a:bodyPr/>
          <a:lstStyle/>
          <a:p>
            <a:fld id="{DFCFA605-D1C3-4588-8847-89E0794F1E34}" type="datetime1">
              <a:rPr lang="en-IN" smtClean="0"/>
              <a:t>04-12-2025</a:t>
            </a:fld>
            <a:endParaRPr lang="en-IN" dirty="0"/>
          </a:p>
        </p:txBody>
      </p:sp>
      <p:sp>
        <p:nvSpPr>
          <p:cNvPr id="3" name="Footer Placeholder 2"/>
          <p:cNvSpPr>
            <a:spLocks noGrp="1"/>
          </p:cNvSpPr>
          <p:nvPr>
            <p:ph type="ftr" idx="11"/>
          </p:nvPr>
        </p:nvSpPr>
        <p:spPr/>
        <p:txBody>
          <a:bodyPr/>
          <a:lstStyle/>
          <a:p>
            <a:r>
              <a:rPr lang="en-IN" dirty="0"/>
              <a:t>Resource Planning</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dirty="0"/>
          </a:p>
        </p:txBody>
      </p:sp>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4459</TotalTime>
  <Words>2895</Words>
  <Application>Microsoft Office PowerPoint</Application>
  <PresentationFormat>Widescreen</PresentationFormat>
  <Paragraphs>434</Paragraphs>
  <Slides>36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Century Gothic</vt:lpstr>
      <vt:lpstr>Calibri</vt:lpstr>
      <vt:lpstr>Times New Roman</vt:lpstr>
      <vt:lpstr>Wingdings</vt:lpstr>
      <vt:lpstr>Arial</vt:lpstr>
      <vt:lpstr>Office</vt:lpstr>
      <vt:lpstr>PowerPoint Presentation</vt:lpstr>
      <vt:lpstr>Learning Objectives</vt:lpstr>
      <vt:lpstr>Resource planning</vt:lpstr>
      <vt:lpstr>Material Requirements Planning</vt:lpstr>
      <vt:lpstr>Demand Characteristics</vt:lpstr>
      <vt:lpstr>Demand Characteristics</vt:lpstr>
      <vt:lpstr>MRP Core Concepts</vt:lpstr>
      <vt:lpstr>Quick Review</vt:lpstr>
      <vt:lpstr>Quick Review</vt:lpstr>
      <vt:lpstr>Quick Review</vt:lpstr>
      <vt:lpstr>MRP Inputs and Outputs</vt:lpstr>
      <vt:lpstr>Master Production Schedule</vt:lpstr>
      <vt:lpstr>Master Production Schedule</vt:lpstr>
      <vt:lpstr>Aggregate Production Plan</vt:lpstr>
      <vt:lpstr>Product Structure File</vt:lpstr>
      <vt:lpstr>Product Structure File</vt:lpstr>
      <vt:lpstr>Product Structure File</vt:lpstr>
      <vt:lpstr>Low-Level Coding</vt:lpstr>
      <vt:lpstr>BOM Example</vt:lpstr>
      <vt:lpstr>Time-phased bills</vt:lpstr>
      <vt:lpstr>Time-phased bills Example</vt:lpstr>
      <vt:lpstr>Item Master File</vt:lpstr>
      <vt:lpstr>Item Master File</vt:lpstr>
      <vt:lpstr>Quick Review</vt:lpstr>
      <vt:lpstr>Quick Review</vt:lpstr>
      <vt:lpstr>Quick Review</vt:lpstr>
      <vt:lpstr>The MRP process</vt:lpstr>
      <vt:lpstr>MRP matrix</vt:lpstr>
      <vt:lpstr>Example— School mate products </vt:lpstr>
      <vt:lpstr>Example— School mate products</vt:lpstr>
      <vt:lpstr>Example— School mate products</vt:lpstr>
      <vt:lpstr>Example— School mate products</vt:lpstr>
      <vt:lpstr>Example— School mate products</vt:lpstr>
      <vt:lpstr>Example— School mate products</vt:lpstr>
      <vt:lpstr>Example— School mate products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Matthias Thomitzek</dc:creator>
  <cp:lastModifiedBy>Narpat Sangwa</cp:lastModifiedBy>
  <cp:revision>395</cp:revision>
  <dcterms:created xsi:type="dcterms:W3CDTF">2020-03-31T09:12:54Z</dcterms:created>
  <dcterms:modified xsi:type="dcterms:W3CDTF">2025-12-04T10:13:47Z</dcterms:modified>
</cp:coreProperties>
</file>