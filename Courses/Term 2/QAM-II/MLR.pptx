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4"/>
    <p:sldMasterId id="2147483813" r:id="rId5"/>
    <p:sldMasterId id="2147483745" r:id="rId6"/>
  </p:sldMasterIdLst>
  <p:notesMasterIdLst>
    <p:notesMasterId r:id="rId83"/>
  </p:notesMasterIdLst>
  <p:handoutMasterIdLst>
    <p:handoutMasterId r:id="rId84"/>
  </p:handoutMasterIdLst>
  <p:sldIdLst>
    <p:sldId id="264" r:id="rId7"/>
    <p:sldId id="325" r:id="rId8"/>
    <p:sldId id="327" r:id="rId9"/>
    <p:sldId id="326" r:id="rId10"/>
    <p:sldId id="328" r:id="rId11"/>
    <p:sldId id="329" r:id="rId12"/>
    <p:sldId id="331" r:id="rId13"/>
    <p:sldId id="332" r:id="rId14"/>
    <p:sldId id="333" r:id="rId15"/>
    <p:sldId id="334" r:id="rId16"/>
    <p:sldId id="336" r:id="rId17"/>
    <p:sldId id="338" r:id="rId18"/>
    <p:sldId id="340" r:id="rId19"/>
    <p:sldId id="341" r:id="rId20"/>
    <p:sldId id="342" r:id="rId21"/>
    <p:sldId id="343" r:id="rId22"/>
    <p:sldId id="344" r:id="rId23"/>
    <p:sldId id="345" r:id="rId24"/>
    <p:sldId id="347" r:id="rId25"/>
    <p:sldId id="349" r:id="rId26"/>
    <p:sldId id="350" r:id="rId27"/>
    <p:sldId id="351" r:id="rId28"/>
    <p:sldId id="352" r:id="rId29"/>
    <p:sldId id="353" r:id="rId30"/>
    <p:sldId id="356" r:id="rId31"/>
    <p:sldId id="357" r:id="rId32"/>
    <p:sldId id="358" r:id="rId33"/>
    <p:sldId id="359" r:id="rId34"/>
    <p:sldId id="360" r:id="rId35"/>
    <p:sldId id="361" r:id="rId36"/>
    <p:sldId id="362" r:id="rId37"/>
    <p:sldId id="363" r:id="rId38"/>
    <p:sldId id="364" r:id="rId39"/>
    <p:sldId id="365" r:id="rId40"/>
    <p:sldId id="366" r:id="rId41"/>
    <p:sldId id="368" r:id="rId42"/>
    <p:sldId id="369" r:id="rId43"/>
    <p:sldId id="370" r:id="rId44"/>
    <p:sldId id="371" r:id="rId45"/>
    <p:sldId id="414" r:id="rId46"/>
    <p:sldId id="372" r:id="rId47"/>
    <p:sldId id="373" r:id="rId48"/>
    <p:sldId id="374" r:id="rId49"/>
    <p:sldId id="375" r:id="rId50"/>
    <p:sldId id="376"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2" r:id="rId66"/>
    <p:sldId id="393" r:id="rId67"/>
    <p:sldId id="394" r:id="rId68"/>
    <p:sldId id="395" r:id="rId69"/>
    <p:sldId id="396" r:id="rId70"/>
    <p:sldId id="397" r:id="rId71"/>
    <p:sldId id="399" r:id="rId72"/>
    <p:sldId id="401" r:id="rId73"/>
    <p:sldId id="403" r:id="rId74"/>
    <p:sldId id="404" r:id="rId75"/>
    <p:sldId id="405" r:id="rId76"/>
    <p:sldId id="406" r:id="rId77"/>
    <p:sldId id="407" r:id="rId78"/>
    <p:sldId id="408" r:id="rId79"/>
    <p:sldId id="409" r:id="rId80"/>
    <p:sldId id="412" r:id="rId81"/>
    <p:sldId id="413" r:id="rId82"/>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dipta patra" initials="pp" lastIdx="1" clrIdx="0">
    <p:extLst>
      <p:ext uri="{19B8F6BF-5375-455C-9EA6-DF929625EA0E}">
        <p15:presenceInfo xmlns:p15="http://schemas.microsoft.com/office/powerpoint/2012/main" userId="368a5734609c113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4B2D"/>
    <a:srgbClr val="B11117"/>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4654" autoAdjust="0"/>
  </p:normalViewPr>
  <p:slideViewPr>
    <p:cSldViewPr>
      <p:cViewPr varScale="1">
        <p:scale>
          <a:sx n="66" d="100"/>
          <a:sy n="66" d="100"/>
        </p:scale>
        <p:origin x="1148"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handoutMaster" Target="handoutMasters/handoutMaster1.xml"/><Relationship Id="rId89"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viewProps" Target="viewProp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12-20T14:46:07.572"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2B96B6C2-0FC1-4CF8-84FA-60B7E5857307}" type="datetimeFigureOut">
              <a:rPr lang="en-US"/>
              <a:pPr>
                <a:defRPr/>
              </a:pPr>
              <a:t>12/26/2024</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F85C1B33-E3C8-4D7F-9975-FCA148DDC337}" type="slidenum">
              <a:rPr lang="en-US"/>
              <a:pPr>
                <a:defRPr/>
              </a:pPr>
              <a:t>‹#›</a:t>
            </a:fld>
            <a:endParaRPr lang="en-US"/>
          </a:p>
        </p:txBody>
      </p:sp>
    </p:spTree>
    <p:extLst>
      <p:ext uri="{BB962C8B-B14F-4D97-AF65-F5344CB8AC3E}">
        <p14:creationId xmlns:p14="http://schemas.microsoft.com/office/powerpoint/2010/main" val="3648285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2EFC62C1-8235-402C-B656-F15A19DD268A}" type="datetimeFigureOut">
              <a:rPr lang="en-US"/>
              <a:pPr>
                <a:defRPr/>
              </a:pPr>
              <a:t>12/25/2024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7890E1FB-CF6E-4C7F-8B6F-3B597627AE98}" type="slidenum">
              <a:rPr lang="en-US"/>
              <a:pPr>
                <a:defRPr/>
              </a:pPr>
              <a:t>‹#›</a:t>
            </a:fld>
            <a:endParaRPr lang="en-US"/>
          </a:p>
        </p:txBody>
      </p:sp>
    </p:spTree>
    <p:extLst>
      <p:ext uri="{BB962C8B-B14F-4D97-AF65-F5344CB8AC3E}">
        <p14:creationId xmlns:p14="http://schemas.microsoft.com/office/powerpoint/2010/main" val="31398818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9D274AC7-748D-46FF-A615-E8B6CE81397E}"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7DD061E-4FB4-4A47-99FF-00FA2877713C}"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U Dinesh Kumar, IIM Bangalore</a:t>
              </a:r>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3D10A43-121E-4896-B02C-92AD8F217647}"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52C715F-1993-4136-9190-22735B6E9AB4}"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6" name="Group 11">
            <a:extLst>
              <a:ext uri="{FF2B5EF4-FFF2-40B4-BE49-F238E27FC236}">
                <a16:creationId xmlns:a16="http://schemas.microsoft.com/office/drawing/2014/main" id="{DF85866D-4876-871A-9E48-C6572E668756}"/>
              </a:ext>
            </a:extLst>
          </p:cNvPr>
          <p:cNvGrpSpPr>
            <a:grpSpLocks/>
          </p:cNvGrpSpPr>
          <p:nvPr userDrawn="1"/>
        </p:nvGrpSpPr>
        <p:grpSpPr bwMode="auto">
          <a:xfrm>
            <a:off x="0" y="6553200"/>
            <a:ext cx="9144000" cy="304800"/>
            <a:chOff x="0" y="0"/>
            <a:chExt cx="9144000" cy="304800"/>
          </a:xfrm>
        </p:grpSpPr>
        <p:sp>
          <p:nvSpPr>
            <p:cNvPr id="17" name="Rectangle 16">
              <a:extLst>
                <a:ext uri="{FF2B5EF4-FFF2-40B4-BE49-F238E27FC236}">
                  <a16:creationId xmlns:a16="http://schemas.microsoft.com/office/drawing/2014/main" id="{0A9328EF-38E5-1665-2048-9C1BF308FE63}"/>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18" name="Rectangle 17">
              <a:extLst>
                <a:ext uri="{FF2B5EF4-FFF2-40B4-BE49-F238E27FC236}">
                  <a16:creationId xmlns:a16="http://schemas.microsoft.com/office/drawing/2014/main" id="{76B70CBA-54C8-AF77-F0C6-ECC53203DA66}"/>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8137D7A-0714-48D0-9792-CD3D9BE0D2E5}"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82B5E-5D62-4F4F-8B1D-539C6755B7BF}"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U Dinesh Kumar, IIM Bangalore</a:t>
              </a:r>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Obj" preserve="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7FA6B68-43F6-475A-A6E3-19ED884F821C}" type="datetimeFigureOut">
              <a:rPr lang="en-US"/>
              <a:pPr>
                <a:defRPr/>
              </a:pPr>
              <a:t>12/25/2024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ED416E8-3548-4659-A249-A081CEC2A7C7}" type="slidenum">
              <a:rPr lang="en-US"/>
              <a:pPr>
                <a:defRPr/>
              </a:pPr>
              <a:t>‹#›</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woObj" preserve="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Obj" preserve="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woObj" preserve="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FD5CDCB-B692-41E5-AD9C-3A8B58AC7326}" type="datetimeFigureOut">
              <a:rPr lang="en-US"/>
              <a:pPr>
                <a:defRPr/>
              </a:pPr>
              <a:t>12/25/2024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10A546-B08D-4739-8AE7-7D9DA1231328}" type="slidenum">
              <a:rPr lang="en-US"/>
              <a:pPr>
                <a:defRPr/>
              </a:pPr>
              <a:t>‹#›</a:t>
            </a:fld>
            <a:endParaRPr lang="en-US"/>
          </a:p>
        </p:txBody>
      </p:sp>
      <p:grpSp>
        <p:nvGrpSpPr>
          <p:cNvPr id="6" name="Group 10"/>
          <p:cNvGrpSpPr>
            <a:grpSpLocks/>
          </p:cNvGrpSpPr>
          <p:nvPr userDrawn="1"/>
        </p:nvGrpSpPr>
        <p:grpSpPr bwMode="auto">
          <a:xfrm>
            <a:off x="0" y="0"/>
            <a:ext cx="9144000" cy="304800"/>
            <a:chOff x="0" y="0"/>
            <a:chExt cx="9144000" cy="304800"/>
          </a:xfrm>
        </p:grpSpPr>
        <p:sp>
          <p:nvSpPr>
            <p:cNvPr id="7" name="Rectangle 6"/>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2" name="Group 11">
            <a:extLst>
              <a:ext uri="{FF2B5EF4-FFF2-40B4-BE49-F238E27FC236}">
                <a16:creationId xmlns:a16="http://schemas.microsoft.com/office/drawing/2014/main" id="{7D0268A7-B588-E7FC-A318-11B0F61F8491}"/>
              </a:ext>
            </a:extLst>
          </p:cNvPr>
          <p:cNvGrpSpPr>
            <a:grpSpLocks/>
          </p:cNvGrpSpPr>
          <p:nvPr userDrawn="1"/>
        </p:nvGrpSpPr>
        <p:grpSpPr bwMode="auto">
          <a:xfrm>
            <a:off x="0" y="6553200"/>
            <a:ext cx="9144000" cy="304800"/>
            <a:chOff x="0" y="0"/>
            <a:chExt cx="9144000" cy="304800"/>
          </a:xfrm>
        </p:grpSpPr>
        <p:sp>
          <p:nvSpPr>
            <p:cNvPr id="13" name="Rectangle 12">
              <a:extLst>
                <a:ext uri="{FF2B5EF4-FFF2-40B4-BE49-F238E27FC236}">
                  <a16:creationId xmlns:a16="http://schemas.microsoft.com/office/drawing/2014/main" id="{F37A64F7-984F-88F3-28F9-45ACB9FA6C1D}"/>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14" name="Rectangle 13">
              <a:extLst>
                <a:ext uri="{FF2B5EF4-FFF2-40B4-BE49-F238E27FC236}">
                  <a16:creationId xmlns:a16="http://schemas.microsoft.com/office/drawing/2014/main" id="{B26BEF80-655F-0E69-520E-8335830F8530}"/>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54D7D57-8C3B-47CA-81F0-D34499BAC684}" type="datetimeFigureOut">
              <a:rPr lang="en-US"/>
              <a:pPr>
                <a:defRPr/>
              </a:pPr>
              <a:t>12/25/2024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4C6D049A-A45F-4F3E-8470-53F2F0C5ADEC}" type="slidenum">
              <a:rPr lang="en-US"/>
              <a:pPr>
                <a:defRPr/>
              </a:pPr>
              <a:t>‹#›</a:t>
            </a:fld>
            <a:endParaRPr lang="en-US"/>
          </a:p>
        </p:txBody>
      </p:sp>
      <p:grpSp>
        <p:nvGrpSpPr>
          <p:cNvPr id="5" name="Group 10"/>
          <p:cNvGrpSpPr>
            <a:grpSpLocks/>
          </p:cNvGrpSpPr>
          <p:nvPr userDrawn="1"/>
        </p:nvGrpSpPr>
        <p:grpSpPr bwMode="auto">
          <a:xfrm>
            <a:off x="0" y="0"/>
            <a:ext cx="9144000" cy="304800"/>
            <a:chOff x="0" y="0"/>
            <a:chExt cx="9144000" cy="304800"/>
          </a:xfrm>
        </p:grpSpPr>
        <p:sp>
          <p:nvSpPr>
            <p:cNvPr id="6" name="Rectangle 5"/>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woObj" preserve="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BA661F2-D296-4AF1-A8CD-429192BEB9E3}"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C86A5C3-711F-4737-9528-E7974FDB874F}" type="slidenum">
              <a:rPr lang="en-US"/>
              <a:pPr>
                <a:defRPr/>
              </a:pPr>
              <a:t>‹#›</a:t>
            </a:fld>
            <a:endParaRPr lang="en-US"/>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0FFDAFC-9A96-4452-B46F-6482D2D76A88}"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54F06A-368A-41B8-8044-AEE4AB3922D6}" type="slidenum">
              <a:rPr lang="en-US"/>
              <a:pPr>
                <a:defRPr/>
              </a:pPr>
              <a:t>‹#›</a:t>
            </a:fld>
            <a:endParaRPr lang="en-US"/>
          </a:p>
        </p:txBody>
      </p:sp>
      <p:grpSp>
        <p:nvGrpSpPr>
          <p:cNvPr id="8" name="Group 10"/>
          <p:cNvGrpSpPr>
            <a:grpSpLocks/>
          </p:cNvGrpSpPr>
          <p:nvPr userDrawn="1"/>
        </p:nvGrpSpPr>
        <p:grpSpPr bwMode="auto">
          <a:xfrm>
            <a:off x="0" y="0"/>
            <a:ext cx="9144000" cy="304800"/>
            <a:chOff x="0" y="0"/>
            <a:chExt cx="9144000" cy="304800"/>
          </a:xfrm>
        </p:grpSpPr>
        <p:sp>
          <p:nvSpPr>
            <p:cNvPr id="9" name="Rectangle 8"/>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1"/>
          <p:cNvGrpSpPr>
            <a:grpSpLocks/>
          </p:cNvGrpSpPr>
          <p:nvPr userDrawn="1"/>
        </p:nvGrpSpPr>
        <p:grpSpPr bwMode="auto">
          <a:xfrm>
            <a:off x="0" y="6553200"/>
            <a:ext cx="9144000" cy="304800"/>
            <a:chOff x="0" y="0"/>
            <a:chExt cx="9144000" cy="304800"/>
          </a:xfrm>
        </p:grpSpPr>
        <p:sp>
          <p:nvSpPr>
            <p:cNvPr id="12" name="Rectangle 11"/>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3B01C90-6074-43CA-B2C5-B5D246A0F31A}"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893F477-34B4-435C-B4BE-57638DA8BA10}" type="slidenum">
              <a:rPr lang="en-US"/>
              <a:pPr>
                <a:defRPr/>
              </a:pPr>
              <a:t>‹#›</a:t>
            </a:fld>
            <a:endParaRPr lang="en-US"/>
          </a:p>
        </p:txBody>
      </p:sp>
      <p:grpSp>
        <p:nvGrpSpPr>
          <p:cNvPr id="8" name="Group 10"/>
          <p:cNvGrpSpPr>
            <a:grpSpLocks/>
          </p:cNvGrpSpPr>
          <p:nvPr userDrawn="1"/>
        </p:nvGrpSpPr>
        <p:grpSpPr bwMode="auto">
          <a:xfrm>
            <a:off x="0" y="0"/>
            <a:ext cx="9144000" cy="304800"/>
            <a:chOff x="0" y="0"/>
            <a:chExt cx="9144000" cy="304800"/>
          </a:xfrm>
        </p:grpSpPr>
        <p:sp>
          <p:nvSpPr>
            <p:cNvPr id="9" name="Rectangle 8"/>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1"/>
          <p:cNvGrpSpPr>
            <a:grpSpLocks/>
          </p:cNvGrpSpPr>
          <p:nvPr userDrawn="1"/>
        </p:nvGrpSpPr>
        <p:grpSpPr bwMode="auto">
          <a:xfrm>
            <a:off x="0" y="6553200"/>
            <a:ext cx="9144000" cy="304800"/>
            <a:chOff x="0" y="0"/>
            <a:chExt cx="9144000" cy="304800"/>
          </a:xfrm>
        </p:grpSpPr>
        <p:sp>
          <p:nvSpPr>
            <p:cNvPr id="12" name="Rectangle 11"/>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U Dinesh Kumar, IIM Bangalore</a:t>
              </a:r>
            </a:p>
          </p:txBody>
        </p:sp>
        <p:sp>
          <p:nvSpPr>
            <p:cNvPr id="13" name="Rectangle 12"/>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6D4210B-7343-494D-B755-FDD1C533E52D}"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078487-5378-4436-BED2-561BB04B8F68}"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8736DE8-4E60-4AB0-9EBB-C513E1EE5E62}"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B25FC99-83A5-4491-9F3D-713E30AC3473}"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grpSp>
        <p:nvGrpSpPr>
          <p:cNvPr id="2" name="Group 10"/>
          <p:cNvGrpSpPr>
            <a:grpSpLocks/>
          </p:cNvGrpSpPr>
          <p:nvPr userDrawn="1"/>
        </p:nvGrpSpPr>
        <p:grpSpPr bwMode="auto">
          <a:xfrm>
            <a:off x="0" y="0"/>
            <a:ext cx="9144000" cy="304800"/>
            <a:chOff x="0" y="0"/>
            <a:chExt cx="9144000" cy="304800"/>
          </a:xfrm>
        </p:grpSpPr>
        <p:sp>
          <p:nvSpPr>
            <p:cNvPr id="3" name="Rectangle 2"/>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11"/>
          <p:cNvGrpSpPr>
            <a:grpSpLocks/>
          </p:cNvGrpSpPr>
          <p:nvPr userDrawn="1"/>
        </p:nvGrpSpPr>
        <p:grpSpPr bwMode="auto">
          <a:xfrm>
            <a:off x="0" y="6553200"/>
            <a:ext cx="9144000" cy="304800"/>
            <a:chOff x="0" y="0"/>
            <a:chExt cx="9144000" cy="304800"/>
          </a:xfrm>
        </p:grpSpPr>
        <p:sp>
          <p:nvSpPr>
            <p:cNvPr id="6" name="Rectangle 5"/>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1"/>
            <a:ext cx="7772400" cy="1909763"/>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25-12-2024</a:t>
            </a:fld>
            <a:endParaRPr lang="en-IN"/>
          </a:p>
        </p:txBody>
      </p:sp>
      <p:sp>
        <p:nvSpPr>
          <p:cNvPr id="5" name="Footer Placeholder 4"/>
          <p:cNvSpPr>
            <a:spLocks noGrp="1"/>
          </p:cNvSpPr>
          <p:nvPr>
            <p:ph type="ftr" sz="quarter" idx="11"/>
          </p:nvPr>
        </p:nvSpPr>
        <p:spPr>
          <a:xfrm>
            <a:off x="3042805" y="6356352"/>
            <a:ext cx="3086100" cy="365125"/>
          </a:xfrm>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467834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1" y="353354"/>
            <a:ext cx="8252114" cy="518388"/>
          </a:xfrm>
        </p:spPr>
        <p:txBody>
          <a:bodyPr>
            <a:noAutofit/>
          </a:bodyPr>
          <a:lstStyle>
            <a:lvl1pPr>
              <a:defRPr sz="2400"/>
            </a:lvl1pPr>
          </a:lstStyle>
          <a:p>
            <a:r>
              <a:rPr lang="en-US" dirty="0"/>
              <a:t>Click to edit Master title style</a:t>
            </a:r>
          </a:p>
        </p:txBody>
      </p:sp>
      <p:sp>
        <p:nvSpPr>
          <p:cNvPr id="3" name="Content Placeholder 2"/>
          <p:cNvSpPr>
            <a:spLocks noGrp="1"/>
          </p:cNvSpPr>
          <p:nvPr>
            <p:ph idx="1"/>
          </p:nvPr>
        </p:nvSpPr>
        <p:spPr>
          <a:xfrm>
            <a:off x="628650" y="1205347"/>
            <a:ext cx="7886700" cy="4971616"/>
          </a:xfrm>
        </p:spPr>
        <p:txBody>
          <a:bodyPr>
            <a:normAutofit/>
          </a:bodyPr>
          <a:lstStyle>
            <a:lvl1pPr>
              <a:defRPr sz="1800"/>
            </a:lvl1pPr>
            <a:lvl2pPr>
              <a:defRPr sz="1800"/>
            </a:lvl2pPr>
            <a:lvl3pPr>
              <a:defRPr sz="18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cxnSp>
        <p:nvCxnSpPr>
          <p:cNvPr id="7" name="Straight Connector 6">
            <a:extLst>
              <a:ext uri="{FF2B5EF4-FFF2-40B4-BE49-F238E27FC236}">
                <a16:creationId xmlns:a16="http://schemas.microsoft.com/office/drawing/2014/main" id="{E3B06AE8-595F-4075-A0E9-F01D24F783BA}"/>
              </a:ext>
            </a:extLst>
          </p:cNvPr>
          <p:cNvCxnSpPr/>
          <p:nvPr userDrawn="1"/>
        </p:nvCxnSpPr>
        <p:spPr>
          <a:xfrm>
            <a:off x="628650" y="1024140"/>
            <a:ext cx="78867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8" name="Group 11">
            <a:extLst>
              <a:ext uri="{FF2B5EF4-FFF2-40B4-BE49-F238E27FC236}">
                <a16:creationId xmlns:a16="http://schemas.microsoft.com/office/drawing/2014/main" id="{21D825CA-79FF-9046-C021-E957DA9C6AD9}"/>
              </a:ext>
            </a:extLst>
          </p:cNvPr>
          <p:cNvGrpSpPr>
            <a:grpSpLocks/>
          </p:cNvGrpSpPr>
          <p:nvPr userDrawn="1"/>
        </p:nvGrpSpPr>
        <p:grpSpPr bwMode="auto">
          <a:xfrm>
            <a:off x="0" y="6553200"/>
            <a:ext cx="9144000" cy="304800"/>
            <a:chOff x="0" y="0"/>
            <a:chExt cx="9144000" cy="304800"/>
          </a:xfrm>
        </p:grpSpPr>
        <p:sp>
          <p:nvSpPr>
            <p:cNvPr id="9" name="Rectangle 8">
              <a:extLst>
                <a:ext uri="{FF2B5EF4-FFF2-40B4-BE49-F238E27FC236}">
                  <a16:creationId xmlns:a16="http://schemas.microsoft.com/office/drawing/2014/main" id="{39960393-00E8-5217-30D7-50A073BEB1F4}"/>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10" name="Rectangle 9">
              <a:extLst>
                <a:ext uri="{FF2B5EF4-FFF2-40B4-BE49-F238E27FC236}">
                  <a16:creationId xmlns:a16="http://schemas.microsoft.com/office/drawing/2014/main" id="{8C24C9CD-B6AF-9C36-5AAA-96E315C7E901}"/>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20947369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CCEAE7-0A64-4A5A-956E-C62386054A53}" type="datetimeFigureOut">
              <a:rPr lang="en-IN" smtClean="0"/>
              <a:t>25-12-2024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4207821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CCEAE7-0A64-4A5A-956E-C62386054A53}" type="datetimeFigureOut">
              <a:rPr lang="en-IN" smtClean="0"/>
              <a:t>25-12-2024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5587301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CCEAE7-0A64-4A5A-956E-C62386054A53}" type="datetimeFigureOut">
              <a:rPr lang="en-IN" smtClean="0"/>
              <a:t>25-12-2024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9916159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CCEAE7-0A64-4A5A-956E-C62386054A53}" type="datetimeFigureOut">
              <a:rPr lang="en-IN" smtClean="0"/>
              <a:t>25-12-2024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89F432A-A286-4FD0-94BB-B7E132F665BA}" type="slidenum">
              <a:rPr lang="en-IN" smtClean="0"/>
              <a:t>‹#›</a:t>
            </a:fld>
            <a:endParaRPr lang="en-IN"/>
          </a:p>
        </p:txBody>
      </p:sp>
      <p:grpSp>
        <p:nvGrpSpPr>
          <p:cNvPr id="6" name="Group 11">
            <a:extLst>
              <a:ext uri="{FF2B5EF4-FFF2-40B4-BE49-F238E27FC236}">
                <a16:creationId xmlns:a16="http://schemas.microsoft.com/office/drawing/2014/main" id="{4641281D-7DEB-92AE-AE61-BD8CC3E5FB09}"/>
              </a:ext>
            </a:extLst>
          </p:cNvPr>
          <p:cNvGrpSpPr>
            <a:grpSpLocks/>
          </p:cNvGrpSpPr>
          <p:nvPr userDrawn="1"/>
        </p:nvGrpSpPr>
        <p:grpSpPr bwMode="auto">
          <a:xfrm>
            <a:off x="0" y="6553200"/>
            <a:ext cx="9144000" cy="304800"/>
            <a:chOff x="0" y="0"/>
            <a:chExt cx="9144000" cy="304800"/>
          </a:xfrm>
        </p:grpSpPr>
        <p:sp>
          <p:nvSpPr>
            <p:cNvPr id="7" name="Rectangle 6">
              <a:extLst>
                <a:ext uri="{FF2B5EF4-FFF2-40B4-BE49-F238E27FC236}">
                  <a16:creationId xmlns:a16="http://schemas.microsoft.com/office/drawing/2014/main" id="{1BAC9360-56E8-08A0-B091-5C2EADE3324D}"/>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8" name="Rectangle 7">
              <a:extLst>
                <a:ext uri="{FF2B5EF4-FFF2-40B4-BE49-F238E27FC236}">
                  <a16:creationId xmlns:a16="http://schemas.microsoft.com/office/drawing/2014/main" id="{D97964C1-6E4A-8B32-F139-60CF76C15465}"/>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42016815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CCEAE7-0A64-4A5A-956E-C62386054A53}" type="datetimeFigureOut">
              <a:rPr lang="en-IN" smtClean="0"/>
              <a:t>25-12-2024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89F432A-A286-4FD0-94BB-B7E132F665BA}" type="slidenum">
              <a:rPr lang="en-IN" smtClean="0"/>
              <a:t>‹#›</a:t>
            </a:fld>
            <a:endParaRPr lang="en-IN"/>
          </a:p>
        </p:txBody>
      </p:sp>
      <p:grpSp>
        <p:nvGrpSpPr>
          <p:cNvPr id="5" name="Group 11">
            <a:extLst>
              <a:ext uri="{FF2B5EF4-FFF2-40B4-BE49-F238E27FC236}">
                <a16:creationId xmlns:a16="http://schemas.microsoft.com/office/drawing/2014/main" id="{4532E479-30BD-579B-D67D-1EC339FC27FD}"/>
              </a:ext>
            </a:extLst>
          </p:cNvPr>
          <p:cNvGrpSpPr>
            <a:grpSpLocks/>
          </p:cNvGrpSpPr>
          <p:nvPr userDrawn="1"/>
        </p:nvGrpSpPr>
        <p:grpSpPr bwMode="auto">
          <a:xfrm>
            <a:off x="0" y="6553200"/>
            <a:ext cx="9144000" cy="304800"/>
            <a:chOff x="0" y="0"/>
            <a:chExt cx="9144000" cy="304800"/>
          </a:xfrm>
        </p:grpSpPr>
        <p:sp>
          <p:nvSpPr>
            <p:cNvPr id="6" name="Rectangle 5">
              <a:extLst>
                <a:ext uri="{FF2B5EF4-FFF2-40B4-BE49-F238E27FC236}">
                  <a16:creationId xmlns:a16="http://schemas.microsoft.com/office/drawing/2014/main" id="{209F14F1-8D0A-9567-6106-FBB803D2ECBE}"/>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7" name="Rectangle 6">
              <a:extLst>
                <a:ext uri="{FF2B5EF4-FFF2-40B4-BE49-F238E27FC236}">
                  <a16:creationId xmlns:a16="http://schemas.microsoft.com/office/drawing/2014/main" id="{F2883352-B8BE-A0D1-9AE8-7C9FC7A521E3}"/>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3802910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937244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7CCEAE7-0A64-4A5A-956E-C62386054A53}" type="datetimeFigureOut">
              <a:rPr lang="en-IN" smtClean="0"/>
              <a:t>25-12-2024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8312696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37276885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CCEAE7-0A64-4A5A-956E-C62386054A53}" type="datetimeFigureOut">
              <a:rPr lang="en-IN" smtClean="0"/>
              <a:t>25-12-2024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89F432A-A286-4FD0-94BB-B7E132F665BA}" type="slidenum">
              <a:rPr lang="en-IN" smtClean="0"/>
              <a:t>‹#›</a:t>
            </a:fld>
            <a:endParaRPr lang="en-IN"/>
          </a:p>
        </p:txBody>
      </p:sp>
    </p:spTree>
    <p:extLst>
      <p:ext uri="{BB962C8B-B14F-4D97-AF65-F5344CB8AC3E}">
        <p14:creationId xmlns:p14="http://schemas.microsoft.com/office/powerpoint/2010/main" val="17678888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pSp>
        <p:nvGrpSpPr>
          <p:cNvPr id="13" name="Group 11"/>
          <p:cNvGrpSpPr>
            <a:grpSpLocks/>
          </p:cNvGrpSpPr>
          <p:nvPr userDrawn="1"/>
        </p:nvGrpSpPr>
        <p:grpSpPr bwMode="auto">
          <a:xfrm>
            <a:off x="0" y="-1"/>
            <a:ext cx="9144000" cy="304801"/>
            <a:chOff x="0" y="0"/>
            <a:chExt cx="9144000" cy="304800"/>
          </a:xfrm>
        </p:grpSpPr>
        <p:sp>
          <p:nvSpPr>
            <p:cNvPr id="14" name="Rectangle 13"/>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15" name="Rectangle 14"/>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grpSp>
        <p:nvGrpSpPr>
          <p:cNvPr id="16" name="Group 11"/>
          <p:cNvGrpSpPr>
            <a:grpSpLocks/>
          </p:cNvGrpSpPr>
          <p:nvPr userDrawn="1"/>
        </p:nvGrpSpPr>
        <p:grpSpPr bwMode="auto">
          <a:xfrm>
            <a:off x="0" y="6553200"/>
            <a:ext cx="9144000" cy="304800"/>
            <a:chOff x="0" y="0"/>
            <a:chExt cx="9144000" cy="304800"/>
          </a:xfrm>
        </p:grpSpPr>
        <p:sp>
          <p:nvSpPr>
            <p:cNvPr id="17" name="Rectangle 16"/>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dirty="0"/>
            </a:p>
          </p:txBody>
        </p:sp>
        <p:sp>
          <p:nvSpPr>
            <p:cNvPr id="18" name="Rectangle 17"/>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spTree>
    <p:extLst>
      <p:ext uri="{BB962C8B-B14F-4D97-AF65-F5344CB8AC3E}">
        <p14:creationId xmlns:p14="http://schemas.microsoft.com/office/powerpoint/2010/main" val="38364488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grpSp>
        <p:nvGrpSpPr>
          <p:cNvPr id="2" name="Group 10"/>
          <p:cNvGrpSpPr>
            <a:grpSpLocks/>
          </p:cNvGrpSpPr>
          <p:nvPr userDrawn="1"/>
        </p:nvGrpSpPr>
        <p:grpSpPr bwMode="auto">
          <a:xfrm>
            <a:off x="0" y="0"/>
            <a:ext cx="9144000" cy="304800"/>
            <a:chOff x="0" y="0"/>
            <a:chExt cx="9144000" cy="304800"/>
          </a:xfrm>
        </p:grpSpPr>
        <p:sp>
          <p:nvSpPr>
            <p:cNvPr id="3" name="Rectangle 2"/>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5" name="Group 11"/>
          <p:cNvGrpSpPr>
            <a:grpSpLocks/>
          </p:cNvGrpSpPr>
          <p:nvPr userDrawn="1"/>
        </p:nvGrpSpPr>
        <p:grpSpPr bwMode="auto">
          <a:xfrm>
            <a:off x="0" y="6553200"/>
            <a:ext cx="9144000" cy="304800"/>
            <a:chOff x="0" y="0"/>
            <a:chExt cx="9144000" cy="304800"/>
          </a:xfrm>
        </p:grpSpPr>
        <p:sp>
          <p:nvSpPr>
            <p:cNvPr id="6" name="Rectangle 5"/>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extLst>
      <p:ext uri="{BB962C8B-B14F-4D97-AF65-F5344CB8AC3E}">
        <p14:creationId xmlns:p14="http://schemas.microsoft.com/office/powerpoint/2010/main" val="2879226628"/>
      </p:ext>
    </p:extLst>
  </p:cSld>
  <p:clrMapOvr>
    <a:masterClrMapping/>
  </p:clrMapOvr>
  <p:transition spd="slow">
    <p:push di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8D134D0-407F-4B20-B354-B65CA04F45F3}"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2D999BD-0613-461C-879F-1ABE27C381B6}" type="slidenum">
              <a:rPr lang="en-US"/>
              <a:pPr>
                <a:defRPr/>
              </a:pPr>
              <a:t>‹#›</a:t>
            </a:fld>
            <a:endParaRPr lang="en-US"/>
          </a:p>
        </p:txBody>
      </p:sp>
    </p:spTree>
  </p:cSld>
  <p:clrMapOvr>
    <a:masterClrMapping/>
  </p:clrMapOvr>
  <p:transition spd="slow">
    <p:push di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A0F28E7-A9F1-44A3-844B-8AD8FB6692E7}"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50532B-F680-42A5-B67E-A0149319C7D0}" type="slidenum">
              <a:rPr lang="en-US"/>
              <a:pPr>
                <a:defRPr/>
              </a:pPr>
              <a:t>‹#›</a:t>
            </a:fld>
            <a:endParaRPr lang="en-US"/>
          </a:p>
        </p:txBody>
      </p:sp>
      <p:grpSp>
        <p:nvGrpSpPr>
          <p:cNvPr id="7" name="Group 11">
            <a:extLst>
              <a:ext uri="{FF2B5EF4-FFF2-40B4-BE49-F238E27FC236}">
                <a16:creationId xmlns:a16="http://schemas.microsoft.com/office/drawing/2014/main" id="{A45E3477-AD42-D41C-88D1-2105512921AF}"/>
              </a:ext>
            </a:extLst>
          </p:cNvPr>
          <p:cNvGrpSpPr>
            <a:grpSpLocks/>
          </p:cNvGrpSpPr>
          <p:nvPr userDrawn="1"/>
        </p:nvGrpSpPr>
        <p:grpSpPr bwMode="auto">
          <a:xfrm>
            <a:off x="0" y="6553200"/>
            <a:ext cx="9144000" cy="304800"/>
            <a:chOff x="0" y="0"/>
            <a:chExt cx="9144000" cy="304800"/>
          </a:xfrm>
        </p:grpSpPr>
        <p:sp>
          <p:nvSpPr>
            <p:cNvPr id="8" name="Rectangle 7">
              <a:extLst>
                <a:ext uri="{FF2B5EF4-FFF2-40B4-BE49-F238E27FC236}">
                  <a16:creationId xmlns:a16="http://schemas.microsoft.com/office/drawing/2014/main" id="{35A4629A-BD9F-BC03-1273-A859F0488CBC}"/>
                </a:ext>
              </a:extLst>
            </p:cNvPr>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 U. Dinesh Kumar, IIM Bangalore</a:t>
              </a:r>
            </a:p>
          </p:txBody>
        </p:sp>
        <p:sp>
          <p:nvSpPr>
            <p:cNvPr id="9" name="Rectangle 8">
              <a:extLst>
                <a:ext uri="{FF2B5EF4-FFF2-40B4-BE49-F238E27FC236}">
                  <a16:creationId xmlns:a16="http://schemas.microsoft.com/office/drawing/2014/main" id="{5571D329-7F09-6720-FBB1-A48FCFAD492C}"/>
                </a:ext>
              </a:extLst>
            </p:cNvPr>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transition spd="slow">
    <p:push di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980DA64-93C4-4E7E-8695-1F709B4B6BD3}"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064C3A9-9DFE-4DCE-BC97-9A983EF95978}" type="slidenum">
              <a:rPr lang="en-US"/>
              <a:pPr>
                <a:defRPr/>
              </a:pPr>
              <a:t>‹#›</a:t>
            </a:fld>
            <a:endParaRPr lang="en-US"/>
          </a:p>
        </p:txBody>
      </p:sp>
    </p:spTree>
  </p:cSld>
  <p:clrMapOvr>
    <a:masterClrMapping/>
  </p:clrMapOvr>
  <p:transition spd="slow">
    <p:push di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55802FF-0B66-494C-89CC-188E713DC275}"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8A9BEE-EC77-446F-8985-90A65AD6695A}" type="slidenum">
              <a:rPr lang="en-US"/>
              <a:pPr>
                <a:defRPr/>
              </a:pPr>
              <a:t>‹#›</a:t>
            </a:fld>
            <a:endParaRPr lang="en-US"/>
          </a:p>
        </p:txBody>
      </p:sp>
    </p:spTree>
  </p:cSld>
  <p:clrMapOvr>
    <a:masterClrMapping/>
  </p:clrMapOvr>
  <p:transition spd="slow">
    <p:push dir="u"/>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DA47B6AB-18CB-4C52-BE6D-70BCB929061E}" type="datetimeFigureOut">
              <a:rPr lang="en-US"/>
              <a:pPr>
                <a:defRPr/>
              </a:pPr>
              <a:t>12/25/2024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7C3725F-84C8-4461-9A3C-D915238A3428}" type="slidenum">
              <a:rPr lang="en-US"/>
              <a:pPr>
                <a:defRPr/>
              </a:pPr>
              <a:t>‹#›</a:t>
            </a:fld>
            <a:endParaRPr lang="en-US"/>
          </a:p>
        </p:txBody>
      </p:sp>
    </p:spTree>
  </p:cSld>
  <p:clrMapOvr>
    <a:masterClrMapping/>
  </p:clrMapOvr>
  <p:transition spd="slow">
    <p:push di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71E2E53-B91D-47F8-B5F0-85ABE195D4E8}" type="datetimeFigureOut">
              <a:rPr lang="en-US"/>
              <a:pPr>
                <a:defRPr/>
              </a:pPr>
              <a:t>12/25/2024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907F21C3-0FE4-4938-BFC2-23254B954DA2}" type="slidenum">
              <a:rPr lang="en-US"/>
              <a:pPr>
                <a:defRPr/>
              </a:pPr>
              <a:t>‹#›</a:t>
            </a:fld>
            <a:endParaRPr lang="en-US"/>
          </a:p>
        </p:txBody>
      </p:sp>
    </p:spTree>
  </p:cSld>
  <p:clrMapOvr>
    <a:masterClrMapping/>
  </p:clrMapOvr>
  <p:transition spd="slow">
    <p:push dir="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13D7C46-0DF8-4D1B-970D-C70232602894}" type="datetimeFigureOut">
              <a:rPr lang="en-US"/>
              <a:pPr>
                <a:defRPr/>
              </a:pPr>
              <a:t>12/25/2024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61A0746-800B-46DE-99DC-2F8FE8070B16}" type="slidenum">
              <a:rPr lang="en-US"/>
              <a:pPr>
                <a:defRPr/>
              </a:pPr>
              <a:t>‹#›</a:t>
            </a:fld>
            <a:endParaRPr lang="en-US"/>
          </a:p>
        </p:txBody>
      </p:sp>
    </p:spTree>
  </p:cSld>
  <p:clrMapOvr>
    <a:masterClrMapping/>
  </p:clrMapOvr>
  <p:transition spd="slow">
    <p:push dir="u"/>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21647C6-E5CD-42B5-8F4E-D5348491ED01}"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A8F6E2E-8FFC-4E33-977E-934AB189A1C8}" type="slidenum">
              <a:rPr lang="en-US"/>
              <a:pPr>
                <a:defRPr/>
              </a:pPr>
              <a:t>‹#›</a:t>
            </a:fld>
            <a:endParaRPr lang="en-US"/>
          </a:p>
        </p:txBody>
      </p:sp>
    </p:spTree>
  </p:cSld>
  <p:clrMapOvr>
    <a:masterClrMapping/>
  </p:clrMapOvr>
  <p:transition spd="slow">
    <p:push dir="u"/>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BB46A0-88AE-4C81-BB0D-0F3C00D93954}" type="datetimeFigureOut">
              <a:rPr lang="en-US"/>
              <a:pPr>
                <a:defRPr/>
              </a:pPr>
              <a:t>12/25/2024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2A871CC-6F68-4BF0-B8B8-4E3C1BF99A48}" type="slidenum">
              <a:rPr lang="en-US"/>
              <a:pPr>
                <a:defRPr/>
              </a:pPr>
              <a:t>‹#›</a:t>
            </a:fld>
            <a:endParaRPr lang="en-US"/>
          </a:p>
        </p:txBody>
      </p:sp>
    </p:spTree>
  </p:cSld>
  <p:clrMapOvr>
    <a:masterClrMapping/>
  </p:clrMapOvr>
  <p:transition spd="slow">
    <p:push dir="u"/>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DCE4AE0-EAD8-460D-A717-70FD23A93E31}"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33175AE-3CE3-4112-AB54-719FB061AA53}" type="slidenum">
              <a:rPr lang="en-US"/>
              <a:pPr>
                <a:defRPr/>
              </a:pPr>
              <a:t>‹#›</a:t>
            </a:fld>
            <a:endParaRPr lang="en-US"/>
          </a:p>
        </p:txBody>
      </p:sp>
    </p:spTree>
  </p:cSld>
  <p:clrMapOvr>
    <a:masterClrMapping/>
  </p:clrMapOvr>
  <p:transition spd="slow">
    <p:push dir="u"/>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1DA5348-ACD5-48B2-996B-29FAE4481FC5}" type="datetimeFigureOut">
              <a:rPr lang="en-US"/>
              <a:pPr>
                <a:defRPr/>
              </a:pPr>
              <a:t>12/25/2024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9DD0B7D-B284-44DD-824A-DF071E97A04C}" type="slidenum">
              <a:rPr lang="en-US"/>
              <a:pPr>
                <a:defRPr/>
              </a:pPr>
              <a:t>‹#›</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theme" Target="../theme/theme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FE3AAE7-B594-4D59-A28E-BD00E0185040}" type="datetimeFigureOut">
              <a:rPr lang="en-US"/>
              <a:pPr>
                <a:defRPr/>
              </a:pPr>
              <a:t>12/25/2024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03EFBD3E-E653-4FFB-9280-AF3BE40DA71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807" r:id="rId5"/>
    <p:sldLayoutId id="2147483809" r:id="rId6"/>
    <p:sldLayoutId id="2147483786" r:id="rId7"/>
    <p:sldLayoutId id="2147483808" r:id="rId8"/>
    <p:sldLayoutId id="2147483810" r:id="rId9"/>
    <p:sldLayoutId id="2147483811" r:id="rId10"/>
    <p:sldLayoutId id="2147483787" r:id="rId11"/>
    <p:sldLayoutId id="2147483788" r:id="rId12"/>
    <p:sldLayoutId id="2147483812" r:id="rId13"/>
    <p:sldLayoutId id="2147483789" r:id="rId14"/>
    <p:sldLayoutId id="2147483790" r:id="rId15"/>
    <p:sldLayoutId id="2147483791" r:id="rId16"/>
    <p:sldLayoutId id="2147483792" r:id="rId17"/>
    <p:sldLayoutId id="2147483804" r:id="rId18"/>
  </p:sldLayoutIdLst>
  <p:transition spd="slow">
    <p:push dir="u"/>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800"/>
            <a:ext cx="8016586" cy="113072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7CCEAE7-0A64-4A5A-956E-C62386054A53}" type="datetimeFigureOut">
              <a:rPr lang="en-IN" smtClean="0"/>
              <a:t>25-12-2024</a:t>
            </a:fld>
            <a:endParaRPr lang="en-IN"/>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89F432A-A286-4FD0-94BB-B7E132F665BA}" type="slidenum">
              <a:rPr lang="en-IN" smtClean="0"/>
              <a:t>‹#›</a:t>
            </a:fld>
            <a:endParaRPr lang="en-IN"/>
          </a:p>
        </p:txBody>
      </p:sp>
      <p:grpSp>
        <p:nvGrpSpPr>
          <p:cNvPr id="7" name="Group 11">
            <a:extLst>
              <a:ext uri="{FF2B5EF4-FFF2-40B4-BE49-F238E27FC236}">
                <a16:creationId xmlns:a16="http://schemas.microsoft.com/office/drawing/2014/main" id="{3B4EE827-5960-409F-8452-E1B0E1D857CB}"/>
              </a:ext>
            </a:extLst>
          </p:cNvPr>
          <p:cNvGrpSpPr>
            <a:grpSpLocks/>
          </p:cNvGrpSpPr>
          <p:nvPr userDrawn="1"/>
        </p:nvGrpSpPr>
        <p:grpSpPr bwMode="auto">
          <a:xfrm>
            <a:off x="0" y="-1"/>
            <a:ext cx="9144000" cy="304801"/>
            <a:chOff x="0" y="0"/>
            <a:chExt cx="9144000" cy="304800"/>
          </a:xfrm>
        </p:grpSpPr>
        <p:sp>
          <p:nvSpPr>
            <p:cNvPr id="8" name="Rectangle 7">
              <a:extLst>
                <a:ext uri="{FF2B5EF4-FFF2-40B4-BE49-F238E27FC236}">
                  <a16:creationId xmlns:a16="http://schemas.microsoft.com/office/drawing/2014/main" id="{B1B37F0E-B170-4FEF-8C15-2F265A44DAF0}"/>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9" name="Rectangle 8">
              <a:extLst>
                <a:ext uri="{FF2B5EF4-FFF2-40B4-BE49-F238E27FC236}">
                  <a16:creationId xmlns:a16="http://schemas.microsoft.com/office/drawing/2014/main" id="{93231E49-AD5D-44B0-B00E-C40B30F11C69}"/>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grpSp>
        <p:nvGrpSpPr>
          <p:cNvPr id="10" name="Group 11">
            <a:extLst>
              <a:ext uri="{FF2B5EF4-FFF2-40B4-BE49-F238E27FC236}">
                <a16:creationId xmlns:a16="http://schemas.microsoft.com/office/drawing/2014/main" id="{6A291EF1-4854-4584-9B1F-F7970B6220AA}"/>
              </a:ext>
            </a:extLst>
          </p:cNvPr>
          <p:cNvGrpSpPr>
            <a:grpSpLocks/>
          </p:cNvGrpSpPr>
          <p:nvPr userDrawn="1"/>
        </p:nvGrpSpPr>
        <p:grpSpPr bwMode="auto">
          <a:xfrm>
            <a:off x="-4" y="6567070"/>
            <a:ext cx="9144000" cy="304801"/>
            <a:chOff x="0" y="0"/>
            <a:chExt cx="9144000" cy="304800"/>
          </a:xfrm>
        </p:grpSpPr>
        <p:sp>
          <p:nvSpPr>
            <p:cNvPr id="11" name="Rectangle 10">
              <a:extLst>
                <a:ext uri="{FF2B5EF4-FFF2-40B4-BE49-F238E27FC236}">
                  <a16:creationId xmlns:a16="http://schemas.microsoft.com/office/drawing/2014/main" id="{FA03095F-F6F4-488A-ABE9-7EBAC0421518}"/>
                </a:ext>
              </a:extLst>
            </p:cNvPr>
            <p:cNvSpPr/>
            <p:nvPr/>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sp>
          <p:nvSpPr>
            <p:cNvPr id="12" name="Rectangle 11">
              <a:extLst>
                <a:ext uri="{FF2B5EF4-FFF2-40B4-BE49-F238E27FC236}">
                  <a16:creationId xmlns:a16="http://schemas.microsoft.com/office/drawing/2014/main" id="{5CDD023F-DDA6-4678-B1D0-956BF81FFF15}"/>
                </a:ext>
              </a:extLst>
            </p:cNvPr>
            <p:cNvSpPr/>
            <p:nvPr/>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013"/>
            </a:p>
          </p:txBody>
        </p:sp>
      </p:grpSp>
      <p:sp>
        <p:nvSpPr>
          <p:cNvPr id="13" name="Rectangle 12">
            <a:extLst>
              <a:ext uri="{FF2B5EF4-FFF2-40B4-BE49-F238E27FC236}">
                <a16:creationId xmlns:a16="http://schemas.microsoft.com/office/drawing/2014/main" id="{2DB49E3B-F0B5-4BA3-A39C-C63CE998F693}"/>
              </a:ext>
            </a:extLst>
          </p:cNvPr>
          <p:cNvSpPr/>
          <p:nvPr userDrawn="1"/>
        </p:nvSpPr>
        <p:spPr bwMode="auto">
          <a:xfrm>
            <a:off x="4572000" y="655320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100" dirty="0"/>
              <a:t>Business Analytics – The Science of Data Driven Decision Making</a:t>
            </a:r>
          </a:p>
        </p:txBody>
      </p:sp>
    </p:spTree>
    <p:extLst>
      <p:ext uri="{BB962C8B-B14F-4D97-AF65-F5344CB8AC3E}">
        <p14:creationId xmlns:p14="http://schemas.microsoft.com/office/powerpoint/2010/main" val="3479528274"/>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AC45A60D-A17B-4D4A-B163-12D8130C8F08}" type="datetimeFigureOut">
              <a:rPr lang="en-US"/>
              <a:pPr>
                <a:defRPr/>
              </a:pPr>
              <a:t>12/25/2024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9ED72F2-8ADF-458D-90F8-1CA28AE3966B}" type="slidenum">
              <a:rPr lang="en-US"/>
              <a:pPr>
                <a:defRPr/>
              </a:pPr>
              <a:t>‹#›</a:t>
            </a:fld>
            <a:endParaRPr lang="en-US"/>
          </a:p>
        </p:txBody>
      </p:sp>
      <p:grpSp>
        <p:nvGrpSpPr>
          <p:cNvPr id="7" name="Group 10"/>
          <p:cNvGrpSpPr>
            <a:grpSpLocks/>
          </p:cNvGrpSpPr>
          <p:nvPr userDrawn="1"/>
        </p:nvGrpSpPr>
        <p:grpSpPr bwMode="auto">
          <a:xfrm>
            <a:off x="0" y="0"/>
            <a:ext cx="9144000" cy="304800"/>
            <a:chOff x="0" y="0"/>
            <a:chExt cx="9144000" cy="304800"/>
          </a:xfrm>
        </p:grpSpPr>
        <p:sp>
          <p:nvSpPr>
            <p:cNvPr id="8" name="Rectangle 7"/>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1"/>
          <p:cNvGrpSpPr>
            <a:grpSpLocks/>
          </p:cNvGrpSpPr>
          <p:nvPr userDrawn="1"/>
        </p:nvGrpSpPr>
        <p:grpSpPr bwMode="auto">
          <a:xfrm>
            <a:off x="0" y="6553200"/>
            <a:ext cx="9144000" cy="304800"/>
            <a:chOff x="0" y="0"/>
            <a:chExt cx="9144000" cy="304800"/>
          </a:xfrm>
        </p:grpSpPr>
        <p:sp>
          <p:nvSpPr>
            <p:cNvPr id="11" name="Rectangle 10"/>
            <p:cNvSpPr/>
            <p:nvPr userDrawn="1"/>
          </p:nvSpPr>
          <p:spPr>
            <a:xfrm>
              <a:off x="4572000" y="0"/>
              <a:ext cx="4572000" cy="3048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userDrawn="1"/>
          </p:nvSpPr>
          <p:spPr>
            <a:xfrm>
              <a:off x="0" y="0"/>
              <a:ext cx="4572000" cy="304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spd="slow">
    <p:push dir="u"/>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0.xml"/><Relationship Id="rId5" Type="http://schemas.openxmlformats.org/officeDocument/2006/relationships/image" Target="../media/image3.wmf"/><Relationship Id="rId4"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6.wmf"/><Relationship Id="rId12" Type="http://schemas.openxmlformats.org/officeDocument/2006/relationships/oleObject" Target="../embeddings/oleObject9.bin"/><Relationship Id="rId2" Type="http://schemas.openxmlformats.org/officeDocument/2006/relationships/oleObject" Target="../embeddings/oleObject4.bin"/><Relationship Id="rId1" Type="http://schemas.openxmlformats.org/officeDocument/2006/relationships/slideLayout" Target="../slideLayouts/slideLayout25.xml"/><Relationship Id="rId6" Type="http://schemas.openxmlformats.org/officeDocument/2006/relationships/oleObject" Target="../embeddings/oleObject6.bin"/><Relationship Id="rId11" Type="http://schemas.openxmlformats.org/officeDocument/2006/relationships/image" Target="../media/image8.wmf"/><Relationship Id="rId5" Type="http://schemas.openxmlformats.org/officeDocument/2006/relationships/image" Target="../media/image5.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0.bin"/><Relationship Id="rId1" Type="http://schemas.openxmlformats.org/officeDocument/2006/relationships/slideLayout" Target="../slideLayouts/slideLayout20.xml"/><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2.bin"/><Relationship Id="rId1" Type="http://schemas.openxmlformats.org/officeDocument/2006/relationships/slideLayout" Target="../slideLayouts/slideLayout20.xml"/><Relationship Id="rId5" Type="http://schemas.openxmlformats.org/officeDocument/2006/relationships/image" Target="../media/image14.wmf"/><Relationship Id="rId4"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4.bin"/><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15.bin"/><Relationship Id="rId1" Type="http://schemas.openxmlformats.org/officeDocument/2006/relationships/slideLayout" Target="../slideLayouts/slideLayout20.xml"/><Relationship Id="rId6" Type="http://schemas.openxmlformats.org/officeDocument/2006/relationships/oleObject" Target="../embeddings/oleObject17.bin"/><Relationship Id="rId5" Type="http://schemas.openxmlformats.org/officeDocument/2006/relationships/image" Target="../media/image17.wmf"/><Relationship Id="rId4"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9.jpeg"/><Relationship Id="rId1" Type="http://schemas.openxmlformats.org/officeDocument/2006/relationships/slideLayout" Target="../slideLayouts/slideLayout20.xml"/><Relationship Id="rId6" Type="http://schemas.openxmlformats.org/officeDocument/2006/relationships/image" Target="../media/image21.wmf"/><Relationship Id="rId5" Type="http://schemas.openxmlformats.org/officeDocument/2006/relationships/oleObject" Target="../embeddings/oleObject19.bin"/><Relationship Id="rId4" Type="http://schemas.openxmlformats.org/officeDocument/2006/relationships/image" Target="../media/image20.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2.bin"/><Relationship Id="rId1" Type="http://schemas.openxmlformats.org/officeDocument/2006/relationships/slideLayout" Target="../slideLayouts/slideLayout20.xml"/><Relationship Id="rId5" Type="http://schemas.openxmlformats.org/officeDocument/2006/relationships/image" Target="../media/image25.wmf"/><Relationship Id="rId4" Type="http://schemas.openxmlformats.org/officeDocument/2006/relationships/oleObject" Target="../embeddings/oleObject23.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4.bin"/><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5.bin"/><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6.bin"/><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7.bin"/><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8.bin"/><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9.bin"/><Relationship Id="rId1" Type="http://schemas.openxmlformats.org/officeDocument/2006/relationships/slideLayout" Target="../slideLayouts/slideLayout20.xml"/><Relationship Id="rId5" Type="http://schemas.openxmlformats.org/officeDocument/2006/relationships/image" Target="../media/image33.wmf"/><Relationship Id="rId4" Type="http://schemas.openxmlformats.org/officeDocument/2006/relationships/oleObject" Target="../embeddings/oleObject3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1.bin"/><Relationship Id="rId1" Type="http://schemas.openxmlformats.org/officeDocument/2006/relationships/slideLayout" Target="../slideLayouts/slideLayout20.xml"/><Relationship Id="rId5" Type="http://schemas.openxmlformats.org/officeDocument/2006/relationships/image" Target="../media/image35.wmf"/><Relationship Id="rId4" Type="http://schemas.openxmlformats.org/officeDocument/2006/relationships/oleObject" Target="../embeddings/oleObject32.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33.bin"/><Relationship Id="rId1" Type="http://schemas.openxmlformats.org/officeDocument/2006/relationships/slideLayout" Target="../slideLayouts/slideLayout25.xml"/><Relationship Id="rId6" Type="http://schemas.openxmlformats.org/officeDocument/2006/relationships/oleObject" Target="../embeddings/oleObject35.bin"/><Relationship Id="rId5" Type="http://schemas.openxmlformats.org/officeDocument/2006/relationships/image" Target="../media/image37.wmf"/><Relationship Id="rId4" Type="http://schemas.openxmlformats.org/officeDocument/2006/relationships/oleObject" Target="../embeddings/oleObject34.bin"/><Relationship Id="rId9" Type="http://schemas.openxmlformats.org/officeDocument/2006/relationships/image" Target="../media/image39.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7.bin"/><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38.bin"/><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9.bin"/><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40.bin"/><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41.bin"/><Relationship Id="rId1" Type="http://schemas.openxmlformats.org/officeDocument/2006/relationships/slideLayout" Target="../slideLayouts/slideLayout20.xml"/><Relationship Id="rId5" Type="http://schemas.openxmlformats.org/officeDocument/2006/relationships/image" Target="../media/image44.wmf"/><Relationship Id="rId4" Type="http://schemas.openxmlformats.org/officeDocument/2006/relationships/oleObject" Target="../embeddings/oleObject42.bin"/></Relationships>
</file>

<file path=ppt/slides/_rels/slide58.x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43.bin"/><Relationship Id="rId1" Type="http://schemas.openxmlformats.org/officeDocument/2006/relationships/slideLayout" Target="../slideLayouts/slideLayout20.xml"/><Relationship Id="rId6" Type="http://schemas.openxmlformats.org/officeDocument/2006/relationships/oleObject" Target="../embeddings/oleObject45.bin"/><Relationship Id="rId5" Type="http://schemas.openxmlformats.org/officeDocument/2006/relationships/image" Target="../media/image46.wmf"/><Relationship Id="rId4" Type="http://schemas.openxmlformats.org/officeDocument/2006/relationships/oleObject" Target="../embeddings/oleObject44.bin"/></Relationships>
</file>

<file path=ppt/slides/_rels/slide59.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46.bin"/><Relationship Id="rId1" Type="http://schemas.openxmlformats.org/officeDocument/2006/relationships/slideLayout" Target="../slideLayouts/slideLayout20.xml"/><Relationship Id="rId5" Type="http://schemas.openxmlformats.org/officeDocument/2006/relationships/image" Target="../media/image49.wmf"/><Relationship Id="rId4" Type="http://schemas.openxmlformats.org/officeDocument/2006/relationships/oleObject" Target="../embeddings/oleObject47.bin"/></Relationships>
</file>

<file path=ppt/slides/_rels/slide60.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48.bin"/><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49.bin"/><Relationship Id="rId1" Type="http://schemas.openxmlformats.org/officeDocument/2006/relationships/slideLayout" Target="../slideLayouts/slideLayout20.xml"/><Relationship Id="rId6" Type="http://schemas.openxmlformats.org/officeDocument/2006/relationships/oleObject" Target="../embeddings/oleObject51.bin"/><Relationship Id="rId5" Type="http://schemas.openxmlformats.org/officeDocument/2006/relationships/image" Target="../media/image52.wmf"/><Relationship Id="rId4" Type="http://schemas.openxmlformats.org/officeDocument/2006/relationships/oleObject" Target="../embeddings/oleObject50.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Title 1"/>
          <p:cNvSpPr>
            <a:spLocks noGrp="1"/>
          </p:cNvSpPr>
          <p:nvPr>
            <p:ph type="title"/>
          </p:nvPr>
        </p:nvSpPr>
        <p:spPr>
          <a:xfrm>
            <a:off x="304800" y="2133600"/>
            <a:ext cx="8458200" cy="1447800"/>
          </a:xfrm>
        </p:spPr>
        <p:txBody>
          <a:bodyPr/>
          <a:lstStyle/>
          <a:p>
            <a:pPr algn="l" eaLnBrk="1" hangingPunct="1"/>
            <a:r>
              <a:rPr lang="en-GB" sz="2000" b="1" dirty="0">
                <a:latin typeface="Bookman Old Style" panose="02050604050505020204" pitchFamily="18" charset="0"/>
              </a:rPr>
              <a:t>“Regression is like a woman. You never understand it fully. When you think you do, the next model is entirely different”. </a:t>
            </a:r>
            <a:br>
              <a:rPr lang="en-US" sz="2800" b="1" dirty="0">
                <a:solidFill>
                  <a:schemeClr val="tx1"/>
                </a:solidFill>
                <a:latin typeface="Bookman Old Style" panose="02050604050505020204" pitchFamily="18" charset="0"/>
              </a:rPr>
            </a:br>
            <a:r>
              <a:rPr lang="en-US" sz="2800" b="1" dirty="0">
                <a:solidFill>
                  <a:schemeClr val="tx1"/>
                </a:solidFill>
                <a:latin typeface="Bookman Old Style" panose="02050604050505020204" pitchFamily="18" charset="0"/>
              </a:rPr>
              <a:t>				</a:t>
            </a:r>
            <a:r>
              <a:rPr lang="en-US" sz="2000" b="1" dirty="0">
                <a:solidFill>
                  <a:schemeClr val="tx1"/>
                </a:solidFill>
                <a:latin typeface="Bookman Old Style" panose="02050604050505020204" pitchFamily="18" charset="0"/>
              </a:rPr>
              <a:t>- </a:t>
            </a:r>
            <a:r>
              <a:rPr lang="en-GB" sz="2000" b="1" dirty="0">
                <a:latin typeface="Bookman Old Style" panose="02050604050505020204" pitchFamily="18" charset="0"/>
              </a:rPr>
              <a:t>Daksh </a:t>
            </a:r>
            <a:r>
              <a:rPr lang="en-GB" sz="2000" b="1" dirty="0" err="1">
                <a:latin typeface="Bookman Old Style" panose="02050604050505020204" pitchFamily="18" charset="0"/>
              </a:rPr>
              <a:t>Itha</a:t>
            </a:r>
            <a:r>
              <a:rPr lang="en-GB" sz="2000" b="1" dirty="0">
                <a:latin typeface="Bookman Old Style" panose="02050604050505020204" pitchFamily="18" charset="0"/>
              </a:rPr>
              <a:t> </a:t>
            </a:r>
            <a:r>
              <a:rPr lang="en-GB" sz="2000" b="1" dirty="0" err="1">
                <a:latin typeface="Bookman Old Style" panose="02050604050505020204" pitchFamily="18" charset="0"/>
              </a:rPr>
              <a:t>Wickramasinghe</a:t>
            </a:r>
            <a:endParaRPr lang="en-US" sz="2400" b="1" dirty="0">
              <a:latin typeface="Bookman Old Style" panose="020506040505050202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1000"/>
                                        <p:tgtEl>
                                          <p:spTgt spid="26626"/>
                                        </p:tgtEl>
                                      </p:cBhvr>
                                    </p:animEffect>
                                    <p:anim calcmode="lin" valueType="num">
                                      <p:cBhvr>
                                        <p:cTn id="8" dur="1000" fill="hold"/>
                                        <p:tgtEl>
                                          <p:spTgt spid="26626"/>
                                        </p:tgtEl>
                                        <p:attrNameLst>
                                          <p:attrName>ppt_x</p:attrName>
                                        </p:attrNameLst>
                                      </p:cBhvr>
                                      <p:tavLst>
                                        <p:tav tm="0">
                                          <p:val>
                                            <p:strVal val="#ppt_x"/>
                                          </p:val>
                                        </p:tav>
                                        <p:tav tm="100000">
                                          <p:val>
                                            <p:strVal val="#ppt_x"/>
                                          </p:val>
                                        </p:tav>
                                      </p:tavLst>
                                    </p:anim>
                                    <p:anim calcmode="lin" valueType="num">
                                      <p:cBhvr>
                                        <p:cTn id="9" dur="1000" fill="hold"/>
                                        <p:tgtEl>
                                          <p:spTgt spid="266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097425-5153-4255-85D5-F48AA39EE595}"/>
              </a:ext>
            </a:extLst>
          </p:cNvPr>
          <p:cNvSpPr>
            <a:spLocks noGrp="1"/>
          </p:cNvSpPr>
          <p:nvPr>
            <p:ph type="title"/>
          </p:nvPr>
        </p:nvSpPr>
        <p:spPr/>
        <p:txBody>
          <a:bodyPr/>
          <a:lstStyle/>
          <a:p>
            <a:pPr algn="just"/>
            <a:r>
              <a:rPr lang="en-US" sz="3200" b="1" dirty="0">
                <a:solidFill>
                  <a:srgbClr val="C00000"/>
                </a:solidFill>
                <a:latin typeface="Britannic Bold" panose="020B0903060703020204" pitchFamily="34" charset="0"/>
              </a:rPr>
              <a:t>Multiple Linear Regression</a:t>
            </a:r>
            <a:endParaRPr lang="en-IN" sz="3200" b="1" dirty="0">
              <a:solidFill>
                <a:srgbClr val="C00000"/>
              </a:solidFill>
              <a:latin typeface="Britannic Bold" panose="020B0903060703020204" pitchFamily="34" charset="0"/>
            </a:endParaRPr>
          </a:p>
        </p:txBody>
      </p:sp>
      <p:sp>
        <p:nvSpPr>
          <p:cNvPr id="4" name="Content Placeholder 3">
            <a:extLst>
              <a:ext uri="{FF2B5EF4-FFF2-40B4-BE49-F238E27FC236}">
                <a16:creationId xmlns:a16="http://schemas.microsoft.com/office/drawing/2014/main" id="{EDB635B1-428C-4C84-A6ED-8406DC30CEFC}"/>
              </a:ext>
            </a:extLst>
          </p:cNvPr>
          <p:cNvSpPr>
            <a:spLocks noGrp="1"/>
          </p:cNvSpPr>
          <p:nvPr>
            <p:ph idx="1"/>
          </p:nvPr>
        </p:nvSpPr>
        <p:spPr>
          <a:xfrm>
            <a:off x="628650" y="1205347"/>
            <a:ext cx="7886700" cy="1156853"/>
          </a:xfrm>
        </p:spPr>
        <p:txBody>
          <a:bodyPr>
            <a:noAutofit/>
          </a:bodyPr>
          <a:lstStyle/>
          <a:p>
            <a:pPr algn="just"/>
            <a:r>
              <a:rPr lang="en-US" sz="2800" dirty="0"/>
              <a:t>Multiple linear regression means linear in regression parameters (beta values).  The following are examples of multiple linear regression:</a:t>
            </a:r>
          </a:p>
          <a:p>
            <a:pPr algn="just"/>
            <a:endParaRPr lang="en-US" sz="2800" dirty="0"/>
          </a:p>
          <a:p>
            <a:endParaRPr lang="en-IN" sz="2800" dirty="0"/>
          </a:p>
        </p:txBody>
      </p:sp>
      <p:graphicFrame>
        <p:nvGraphicFramePr>
          <p:cNvPr id="5" name="Object 2">
            <a:extLst>
              <a:ext uri="{FF2B5EF4-FFF2-40B4-BE49-F238E27FC236}">
                <a16:creationId xmlns:a16="http://schemas.microsoft.com/office/drawing/2014/main" id="{CDD9F894-D0AD-4D2E-839D-43138F17A5C2}"/>
              </a:ext>
            </a:extLst>
          </p:cNvPr>
          <p:cNvGraphicFramePr>
            <a:graphicFrameLocks noChangeAspect="1"/>
          </p:cNvGraphicFramePr>
          <p:nvPr>
            <p:extLst>
              <p:ext uri="{D42A27DB-BD31-4B8C-83A1-F6EECF244321}">
                <p14:modId xmlns:p14="http://schemas.microsoft.com/office/powerpoint/2010/main" val="1953643309"/>
              </p:ext>
            </p:extLst>
          </p:nvPr>
        </p:nvGraphicFramePr>
        <p:xfrm>
          <a:off x="841375" y="3200400"/>
          <a:ext cx="8077200" cy="1320800"/>
        </p:xfrm>
        <a:graphic>
          <a:graphicData uri="http://schemas.openxmlformats.org/presentationml/2006/ole">
            <mc:AlternateContent xmlns:mc="http://schemas.openxmlformats.org/markup-compatibility/2006">
              <mc:Choice xmlns:v="urn:schemas-microsoft-com:vml" Requires="v">
                <p:oleObj name="Equation" r:id="rId2" imgW="3136680" imgH="507960" progId="Equation.3">
                  <p:embed/>
                </p:oleObj>
              </mc:Choice>
              <mc:Fallback>
                <p:oleObj name="Equation" r:id="rId2" imgW="3136680" imgH="507960" progId="Equation.3">
                  <p:embed/>
                  <p:pic>
                    <p:nvPicPr>
                      <p:cNvPr id="3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375" y="3200400"/>
                        <a:ext cx="8077200" cy="1320800"/>
                      </a:xfrm>
                      <a:prstGeom prst="rect">
                        <a:avLst/>
                      </a:prstGeom>
                      <a:noFill/>
                    </p:spPr>
                  </p:pic>
                </p:oleObj>
              </mc:Fallback>
            </mc:AlternateContent>
          </a:graphicData>
        </a:graphic>
      </p:graphicFrame>
      <p:sp>
        <p:nvSpPr>
          <p:cNvPr id="6" name="TextBox 4">
            <a:extLst>
              <a:ext uri="{FF2B5EF4-FFF2-40B4-BE49-F238E27FC236}">
                <a16:creationId xmlns:a16="http://schemas.microsoft.com/office/drawing/2014/main" id="{0AE5BB1D-4325-4529-AC85-D3448506EA8F}"/>
              </a:ext>
            </a:extLst>
          </p:cNvPr>
          <p:cNvSpPr txBox="1">
            <a:spLocks noChangeArrowheads="1"/>
          </p:cNvSpPr>
          <p:nvPr/>
        </p:nvSpPr>
        <p:spPr bwMode="auto">
          <a:xfrm>
            <a:off x="533400" y="4953000"/>
            <a:ext cx="8077200" cy="892552"/>
          </a:xfrm>
          <a:prstGeom prst="rect">
            <a:avLst/>
          </a:prstGeom>
          <a:noFill/>
          <a:ln w="9525">
            <a:noFill/>
            <a:miter lim="800000"/>
            <a:headEnd/>
            <a:tailEnd/>
          </a:ln>
        </p:spPr>
        <p:txBody>
          <a:bodyPr>
            <a:spAutoFit/>
          </a:bodyPr>
          <a:lstStyle/>
          <a:p>
            <a:pPr algn="just" eaLnBrk="0" hangingPunct="0"/>
            <a:r>
              <a:rPr lang="en-US" sz="2600" dirty="0">
                <a:latin typeface="+mn-lt"/>
              </a:rPr>
              <a:t>An important task in multiple regression is to estimate the beta values (</a:t>
            </a:r>
            <a:r>
              <a:rPr lang="en-US" sz="2600" dirty="0">
                <a:latin typeface="+mn-lt"/>
                <a:sym typeface="Symbol" pitchFamily="18" charset="2"/>
              </a:rPr>
              <a:t></a:t>
            </a:r>
            <a:r>
              <a:rPr lang="en-US" sz="2600" baseline="-25000" dirty="0">
                <a:latin typeface="+mn-lt"/>
                <a:sym typeface="Symbol" pitchFamily="18" charset="2"/>
              </a:rPr>
              <a:t>1</a:t>
            </a:r>
            <a:r>
              <a:rPr lang="en-US" sz="2600" dirty="0">
                <a:latin typeface="+mn-lt"/>
                <a:sym typeface="Symbol" pitchFamily="18" charset="2"/>
              </a:rPr>
              <a:t>, </a:t>
            </a:r>
            <a:r>
              <a:rPr lang="en-US" sz="2600" baseline="-25000" dirty="0">
                <a:latin typeface="+mn-lt"/>
                <a:sym typeface="Symbol" pitchFamily="18" charset="2"/>
              </a:rPr>
              <a:t>2</a:t>
            </a:r>
            <a:r>
              <a:rPr lang="en-US" sz="2600" dirty="0">
                <a:latin typeface="+mn-lt"/>
                <a:sym typeface="Symbol" pitchFamily="18" charset="2"/>
              </a:rPr>
              <a:t>, </a:t>
            </a:r>
            <a:r>
              <a:rPr lang="en-US" sz="2600" baseline="-25000" dirty="0">
                <a:latin typeface="+mn-lt"/>
                <a:sym typeface="Symbol" pitchFamily="18" charset="2"/>
              </a:rPr>
              <a:t>3</a:t>
            </a:r>
            <a:r>
              <a:rPr lang="en-US" sz="2600" dirty="0">
                <a:latin typeface="+mn-lt"/>
                <a:sym typeface="Symbol" pitchFamily="18" charset="2"/>
              </a:rPr>
              <a:t> </a:t>
            </a:r>
            <a:r>
              <a:rPr lang="en-US" sz="2600" dirty="0" err="1">
                <a:latin typeface="+mn-lt"/>
                <a:sym typeface="Symbol" pitchFamily="18" charset="2"/>
              </a:rPr>
              <a:t>etc</a:t>
            </a:r>
            <a:r>
              <a:rPr lang="en-US" sz="2600" dirty="0">
                <a:latin typeface="+mn-lt"/>
                <a:sym typeface="Symbol" pitchFamily="18" charset="2"/>
              </a:rPr>
              <a:t>…)</a:t>
            </a:r>
            <a:endParaRPr lang="en-US" sz="2600" dirty="0">
              <a:latin typeface="+mn-lt"/>
            </a:endParaRPr>
          </a:p>
        </p:txBody>
      </p:sp>
      <p:sp>
        <p:nvSpPr>
          <p:cNvPr id="9" name="Oval 8">
            <a:extLst>
              <a:ext uri="{FF2B5EF4-FFF2-40B4-BE49-F238E27FC236}">
                <a16:creationId xmlns:a16="http://schemas.microsoft.com/office/drawing/2014/main" id="{1331CEA1-094D-47C6-A254-0630C1C34751}"/>
              </a:ext>
            </a:extLst>
          </p:cNvPr>
          <p:cNvSpPr/>
          <p:nvPr/>
        </p:nvSpPr>
        <p:spPr>
          <a:xfrm>
            <a:off x="4495800" y="3657600"/>
            <a:ext cx="1219200" cy="1143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a:extLst>
              <a:ext uri="{FF2B5EF4-FFF2-40B4-BE49-F238E27FC236}">
                <a16:creationId xmlns:a16="http://schemas.microsoft.com/office/drawing/2014/main" id="{6840482A-D5DD-48E3-80BD-5EAB8D840030}"/>
              </a:ext>
            </a:extLst>
          </p:cNvPr>
          <p:cNvSpPr/>
          <p:nvPr/>
        </p:nvSpPr>
        <p:spPr>
          <a:xfrm rot="5062656">
            <a:off x="6356545" y="3841945"/>
            <a:ext cx="685800" cy="685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00585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1000"/>
                                        <p:tgtEl>
                                          <p:spTgt spid="4">
                                            <p:txEl>
                                              <p:pRg st="0" end="0"/>
                                            </p:txEl>
                                          </p:spTgt>
                                        </p:tgtEl>
                                      </p:cBhvr>
                                    </p:animEffect>
                                    <p:anim calcmode="lin" valueType="num">
                                      <p:cBhvr>
                                        <p:cTn id="2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1000"/>
                                        <p:tgtEl>
                                          <p:spTgt spid="6"/>
                                        </p:tgtEl>
                                      </p:cBhvr>
                                    </p:animEffect>
                                    <p:anim calcmode="lin" valueType="num">
                                      <p:cBhvr>
                                        <p:cTn id="37" dur="1000" fill="hold"/>
                                        <p:tgtEl>
                                          <p:spTgt spid="6"/>
                                        </p:tgtEl>
                                        <p:attrNameLst>
                                          <p:attrName>ppt_x</p:attrName>
                                        </p:attrNameLst>
                                      </p:cBhvr>
                                      <p:tavLst>
                                        <p:tav tm="0">
                                          <p:val>
                                            <p:strVal val="#ppt_x"/>
                                          </p:val>
                                        </p:tav>
                                        <p:tav tm="100000">
                                          <p:val>
                                            <p:strVal val="#ppt_x"/>
                                          </p:val>
                                        </p:tav>
                                      </p:tavLst>
                                    </p:anim>
                                    <p:anim calcmode="lin" valueType="num">
                                      <p:cBhvr>
                                        <p:cTn id="3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7EBC8-3C46-452E-9FA2-DF0503BF51DA}"/>
              </a:ext>
            </a:extLst>
          </p:cNvPr>
          <p:cNvSpPr>
            <a:spLocks noGrp="1"/>
          </p:cNvSpPr>
          <p:nvPr>
            <p:ph type="title"/>
          </p:nvPr>
        </p:nvSpPr>
        <p:spPr>
          <a:xfrm>
            <a:off x="609600" y="548412"/>
            <a:ext cx="8252114" cy="518388"/>
          </a:xfrm>
        </p:spPr>
        <p:txBody>
          <a:bodyPr/>
          <a:lstStyle/>
          <a:p>
            <a:br>
              <a:rPr lang="en-US" sz="3200" b="1" dirty="0">
                <a:solidFill>
                  <a:srgbClr val="C00000"/>
                </a:solidFill>
              </a:rPr>
            </a:br>
            <a:r>
              <a:rPr lang="en-US" sz="3200" b="1" dirty="0">
                <a:solidFill>
                  <a:srgbClr val="C00000"/>
                </a:solidFill>
              </a:rPr>
              <a:t>Regression:  Matrix Representation</a:t>
            </a:r>
            <a:br>
              <a:rPr lang="en-US" sz="3200" b="1" dirty="0">
                <a:solidFill>
                  <a:srgbClr val="C00000"/>
                </a:solidFill>
              </a:rPr>
            </a:br>
            <a:endParaRPr lang="en-IN" sz="3200" b="1" dirty="0">
              <a:solidFill>
                <a:srgbClr val="C00000"/>
              </a:solidFill>
            </a:endParaRPr>
          </a:p>
        </p:txBody>
      </p:sp>
      <p:graphicFrame>
        <p:nvGraphicFramePr>
          <p:cNvPr id="3" name="Object 2">
            <a:extLst>
              <a:ext uri="{FF2B5EF4-FFF2-40B4-BE49-F238E27FC236}">
                <a16:creationId xmlns:a16="http://schemas.microsoft.com/office/drawing/2014/main" id="{00359D9B-5356-4179-80DC-108D6E080BC2}"/>
              </a:ext>
            </a:extLst>
          </p:cNvPr>
          <p:cNvGraphicFramePr>
            <a:graphicFrameLocks noChangeAspect="1"/>
          </p:cNvGraphicFramePr>
          <p:nvPr>
            <p:extLst>
              <p:ext uri="{D42A27DB-BD31-4B8C-83A1-F6EECF244321}">
                <p14:modId xmlns:p14="http://schemas.microsoft.com/office/powerpoint/2010/main" val="1880356798"/>
              </p:ext>
            </p:extLst>
          </p:nvPr>
        </p:nvGraphicFramePr>
        <p:xfrm>
          <a:off x="825103" y="1752600"/>
          <a:ext cx="7175897" cy="2971800"/>
        </p:xfrm>
        <a:graphic>
          <a:graphicData uri="http://schemas.openxmlformats.org/presentationml/2006/ole">
            <mc:AlternateContent xmlns:mc="http://schemas.openxmlformats.org/markup-compatibility/2006">
              <mc:Choice xmlns:v="urn:schemas-microsoft-com:vml" Requires="v">
                <p:oleObj name="Equation" r:id="rId2" imgW="2679480" imgH="1168200" progId="Equation.3">
                  <p:embed/>
                </p:oleObj>
              </mc:Choice>
              <mc:Fallback>
                <p:oleObj name="Equation" r:id="rId2" imgW="2679480" imgH="1168200" progId="Equation.3">
                  <p:embed/>
                  <p:pic>
                    <p:nvPicPr>
                      <p:cNvPr id="2" name="Object 1"/>
                      <p:cNvPicPr/>
                      <p:nvPr/>
                    </p:nvPicPr>
                    <p:blipFill>
                      <a:blip r:embed="rId3"/>
                      <a:stretch>
                        <a:fillRect/>
                      </a:stretch>
                    </p:blipFill>
                    <p:spPr>
                      <a:xfrm>
                        <a:off x="825103" y="1752600"/>
                        <a:ext cx="7175897" cy="297180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73EA604-3182-4987-864F-AE76D64CDD78}"/>
              </a:ext>
            </a:extLst>
          </p:cNvPr>
          <p:cNvGraphicFramePr>
            <a:graphicFrameLocks noChangeAspect="1"/>
          </p:cNvGraphicFramePr>
          <p:nvPr>
            <p:extLst>
              <p:ext uri="{D42A27DB-BD31-4B8C-83A1-F6EECF244321}">
                <p14:modId xmlns:p14="http://schemas.microsoft.com/office/powerpoint/2010/main" val="2672120713"/>
              </p:ext>
            </p:extLst>
          </p:nvPr>
        </p:nvGraphicFramePr>
        <p:xfrm>
          <a:off x="2285999" y="5105400"/>
          <a:ext cx="4343401" cy="1219200"/>
        </p:xfrm>
        <a:graphic>
          <a:graphicData uri="http://schemas.openxmlformats.org/presentationml/2006/ole">
            <mc:AlternateContent xmlns:mc="http://schemas.openxmlformats.org/markup-compatibility/2006">
              <mc:Choice xmlns:v="urn:schemas-microsoft-com:vml" Requires="v">
                <p:oleObj name="Equation" r:id="rId4" imgW="723600" imgH="203040" progId="Equation.3">
                  <p:embed/>
                </p:oleObj>
              </mc:Choice>
              <mc:Fallback>
                <p:oleObj name="Equation" r:id="rId4" imgW="723600" imgH="203040" progId="Equation.3">
                  <p:embed/>
                  <p:pic>
                    <p:nvPicPr>
                      <p:cNvPr id="3" name="Object 2"/>
                      <p:cNvPicPr/>
                      <p:nvPr/>
                    </p:nvPicPr>
                    <p:blipFill>
                      <a:blip r:embed="rId5"/>
                      <a:stretch>
                        <a:fillRect/>
                      </a:stretch>
                    </p:blipFill>
                    <p:spPr>
                      <a:xfrm>
                        <a:off x="2285999" y="5105400"/>
                        <a:ext cx="4343401" cy="1219200"/>
                      </a:xfrm>
                      <a:prstGeom prst="rect">
                        <a:avLst/>
                      </a:prstGeom>
                    </p:spPr>
                  </p:pic>
                </p:oleObj>
              </mc:Fallback>
            </mc:AlternateContent>
          </a:graphicData>
        </a:graphic>
      </p:graphicFrame>
    </p:spTree>
    <p:extLst>
      <p:ext uri="{BB962C8B-B14F-4D97-AF65-F5344CB8AC3E}">
        <p14:creationId xmlns:p14="http://schemas.microsoft.com/office/powerpoint/2010/main" val="1285332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5B11-3813-4C15-A55C-78E1AA010935}"/>
              </a:ext>
            </a:extLst>
          </p:cNvPr>
          <p:cNvSpPr>
            <a:spLocks noGrp="1"/>
          </p:cNvSpPr>
          <p:nvPr>
            <p:ph type="title"/>
          </p:nvPr>
        </p:nvSpPr>
        <p:spPr>
          <a:xfrm>
            <a:off x="628651" y="353354"/>
            <a:ext cx="8252114" cy="637246"/>
          </a:xfrm>
        </p:spPr>
        <p:txBody>
          <a:bodyPr/>
          <a:lstStyle/>
          <a:p>
            <a:pPr algn="ctr"/>
            <a:br>
              <a:rPr lang="en-GB" sz="2400" b="1" dirty="0"/>
            </a:br>
            <a:r>
              <a:rPr lang="en-GB" sz="2400" b="1" dirty="0">
                <a:solidFill>
                  <a:srgbClr val="C00000"/>
                </a:solidFill>
              </a:rPr>
              <a:t>Ordinary Least Squares Estimation for Multiple Linear Regression</a:t>
            </a:r>
            <a:br>
              <a:rPr lang="en-IN" sz="2400" dirty="0"/>
            </a:br>
            <a:endParaRPr lang="en-IN" sz="2400" dirty="0"/>
          </a:p>
        </p:txBody>
      </p:sp>
      <p:sp>
        <p:nvSpPr>
          <p:cNvPr id="3" name="Content Placeholder 2">
            <a:extLst>
              <a:ext uri="{FF2B5EF4-FFF2-40B4-BE49-F238E27FC236}">
                <a16:creationId xmlns:a16="http://schemas.microsoft.com/office/drawing/2014/main" id="{8FF16CF2-3DBA-4D1F-923E-6037C02155CC}"/>
              </a:ext>
            </a:extLst>
          </p:cNvPr>
          <p:cNvSpPr>
            <a:spLocks noGrp="1"/>
          </p:cNvSpPr>
          <p:nvPr>
            <p:ph idx="1"/>
          </p:nvPr>
        </p:nvSpPr>
        <p:spPr>
          <a:xfrm>
            <a:off x="628650" y="1295401"/>
            <a:ext cx="7886700" cy="4045526"/>
          </a:xfrm>
        </p:spPr>
        <p:txBody>
          <a:bodyPr>
            <a:normAutofit/>
          </a:bodyPr>
          <a:lstStyle/>
          <a:p>
            <a:pPr marL="0" indent="0" algn="just">
              <a:buNone/>
            </a:pPr>
            <a:r>
              <a:rPr lang="en-GB" sz="2400" dirty="0"/>
              <a:t>The assumptions that are made in multiple linear regression model are as follows:</a:t>
            </a:r>
          </a:p>
          <a:p>
            <a:pPr marL="0" indent="0" algn="just">
              <a:buNone/>
            </a:pPr>
            <a:endParaRPr lang="en-IN" sz="2400" dirty="0"/>
          </a:p>
          <a:p>
            <a:pPr lvl="0" algn="just">
              <a:buFont typeface="Wingdings" panose="05000000000000000000" pitchFamily="2" charset="2"/>
              <a:buChar char="Ø"/>
            </a:pPr>
            <a:r>
              <a:rPr lang="en-GB" sz="2400" dirty="0"/>
              <a:t> The regression model is linear in parameter.</a:t>
            </a:r>
            <a:endParaRPr lang="en-IN" sz="2400" dirty="0"/>
          </a:p>
          <a:p>
            <a:pPr lvl="0" algn="just">
              <a:buFont typeface="Wingdings" panose="05000000000000000000" pitchFamily="2" charset="2"/>
              <a:buChar char="Ø"/>
            </a:pPr>
            <a:r>
              <a:rPr lang="en-GB" sz="2400" dirty="0"/>
              <a:t> The explanatory variable, </a:t>
            </a:r>
            <a:r>
              <a:rPr lang="en-GB" sz="2400" i="1" dirty="0"/>
              <a:t>X</a:t>
            </a:r>
            <a:r>
              <a:rPr lang="en-GB" sz="2400" dirty="0"/>
              <a:t>, is assumed to be non-stochastic (that is, </a:t>
            </a:r>
            <a:r>
              <a:rPr lang="en-GB" sz="2400" i="1" dirty="0"/>
              <a:t>X</a:t>
            </a:r>
            <a:r>
              <a:rPr lang="en-GB" sz="2400" dirty="0"/>
              <a:t> is deterministic).</a:t>
            </a:r>
            <a:endParaRPr lang="en-IN" sz="2400" dirty="0"/>
          </a:p>
          <a:p>
            <a:pPr lvl="0" algn="just">
              <a:buFont typeface="Wingdings" panose="05000000000000000000" pitchFamily="2" charset="2"/>
              <a:buChar char="Ø"/>
            </a:pPr>
            <a:r>
              <a:rPr lang="en-GB" sz="2400" dirty="0"/>
              <a:t> The conditional expected value of the residuals, </a:t>
            </a:r>
            <a:r>
              <a:rPr lang="en-GB" sz="2400" i="1" dirty="0"/>
              <a:t>E</a:t>
            </a:r>
            <a:r>
              <a:rPr lang="en-GB" sz="2400" dirty="0"/>
              <a:t>(</a:t>
            </a:r>
            <a:r>
              <a:rPr lang="en-GB" sz="2400" i="1" dirty="0">
                <a:sym typeface="Symbol" panose="05050102010706020507" pitchFamily="18" charset="2"/>
              </a:rPr>
              <a:t></a:t>
            </a:r>
            <a:r>
              <a:rPr lang="en-GB" sz="2400" i="1" baseline="-25000" dirty="0" err="1"/>
              <a:t>i</a:t>
            </a:r>
            <a:r>
              <a:rPr lang="en-GB" sz="2400" i="1" dirty="0" err="1"/>
              <a:t>|X</a:t>
            </a:r>
            <a:r>
              <a:rPr lang="en-GB" sz="2400" i="1" baseline="-25000" dirty="0" err="1"/>
              <a:t>i</a:t>
            </a:r>
            <a:r>
              <a:rPr lang="en-GB" sz="2400" dirty="0"/>
              <a:t>), is zero.</a:t>
            </a:r>
            <a:endParaRPr lang="en-IN" sz="2400" dirty="0"/>
          </a:p>
          <a:p>
            <a:pPr lvl="0" algn="just">
              <a:buFont typeface="Wingdings" panose="05000000000000000000" pitchFamily="2" charset="2"/>
              <a:buChar char="Ø"/>
            </a:pPr>
            <a:r>
              <a:rPr lang="en-GB" sz="2400" dirty="0"/>
              <a:t> In a time series data, residuals are uncorrelated, that is, </a:t>
            </a:r>
            <a:r>
              <a:rPr lang="en-GB" sz="2400" dirty="0" err="1"/>
              <a:t>Cov</a:t>
            </a:r>
            <a:r>
              <a:rPr lang="en-GB" sz="2400" dirty="0"/>
              <a:t>(</a:t>
            </a:r>
            <a:r>
              <a:rPr lang="en-GB" sz="2400" i="1" dirty="0">
                <a:sym typeface="Symbol" panose="05050102010706020507" pitchFamily="18" charset="2"/>
              </a:rPr>
              <a:t></a:t>
            </a:r>
            <a:r>
              <a:rPr lang="en-GB" sz="2400" i="1" baseline="-25000" dirty="0" err="1"/>
              <a:t>i</a:t>
            </a:r>
            <a:r>
              <a:rPr lang="en-GB" sz="2400" i="1" dirty="0"/>
              <a:t>, </a:t>
            </a:r>
            <a:r>
              <a:rPr lang="en-GB" sz="2400" i="1" dirty="0">
                <a:sym typeface="Symbol" panose="05050102010706020507" pitchFamily="18" charset="2"/>
              </a:rPr>
              <a:t></a:t>
            </a:r>
            <a:r>
              <a:rPr lang="en-GB" sz="2400" i="1" baseline="-25000" dirty="0"/>
              <a:t>j</a:t>
            </a:r>
            <a:r>
              <a:rPr lang="en-GB" sz="2400" dirty="0"/>
              <a:t>) = 0 for all </a:t>
            </a:r>
            <a:r>
              <a:rPr lang="en-GB" sz="2400" i="1" dirty="0" err="1"/>
              <a:t>i</a:t>
            </a:r>
            <a:r>
              <a:rPr lang="en-GB" sz="2400" dirty="0"/>
              <a:t> </a:t>
            </a:r>
            <a:r>
              <a:rPr lang="en-GB" sz="2400" dirty="0">
                <a:sym typeface="Symbol" panose="05050102010706020507" pitchFamily="18" charset="2"/>
              </a:rPr>
              <a:t></a:t>
            </a:r>
            <a:r>
              <a:rPr lang="en-GB" sz="2400" dirty="0"/>
              <a:t> </a:t>
            </a:r>
            <a:r>
              <a:rPr lang="en-GB" sz="2400" i="1" dirty="0"/>
              <a:t>j</a:t>
            </a:r>
            <a:r>
              <a:rPr lang="en-GB" sz="2400" dirty="0"/>
              <a:t>.</a:t>
            </a:r>
            <a:endParaRPr lang="en-IN" sz="2400" dirty="0"/>
          </a:p>
          <a:p>
            <a:endParaRPr lang="en-IN" dirty="0"/>
          </a:p>
        </p:txBody>
      </p:sp>
    </p:spTree>
    <p:extLst>
      <p:ext uri="{BB962C8B-B14F-4D97-AF65-F5344CB8AC3E}">
        <p14:creationId xmlns:p14="http://schemas.microsoft.com/office/powerpoint/2010/main" val="21168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195CF9-A697-4172-9B93-F0BF4BCA1995}"/>
              </a:ext>
            </a:extLst>
          </p:cNvPr>
          <p:cNvSpPr>
            <a:spLocks noGrp="1"/>
          </p:cNvSpPr>
          <p:nvPr>
            <p:ph idx="1"/>
          </p:nvPr>
        </p:nvSpPr>
        <p:spPr>
          <a:xfrm>
            <a:off x="628650" y="1205347"/>
            <a:ext cx="7886700" cy="5043053"/>
          </a:xfrm>
        </p:spPr>
        <p:txBody>
          <a:bodyPr>
            <a:noAutofit/>
          </a:bodyPr>
          <a:lstStyle/>
          <a:p>
            <a:pPr lvl="0" algn="just">
              <a:buFont typeface="Wingdings" panose="05000000000000000000" pitchFamily="2" charset="2"/>
              <a:buChar char="Ø"/>
            </a:pPr>
            <a:r>
              <a:rPr lang="en-GB" sz="2000" dirty="0">
                <a:latin typeface="Calibri" panose="020F0502020204030204" pitchFamily="34" charset="0"/>
                <a:cs typeface="Calibri" panose="020F0502020204030204" pitchFamily="34" charset="0"/>
              </a:rPr>
              <a:t>The residuals, </a:t>
            </a:r>
            <a:r>
              <a:rPr lang="en-GB" sz="2000" i="1" dirty="0">
                <a:latin typeface="Calibri" panose="020F0502020204030204" pitchFamily="34" charset="0"/>
                <a:cs typeface="Calibri" panose="020F0502020204030204" pitchFamily="34" charset="0"/>
                <a:sym typeface="Symbol" panose="05050102010706020507" pitchFamily="18" charset="2"/>
              </a:rPr>
              <a:t></a:t>
            </a:r>
            <a:r>
              <a:rPr lang="en-GB" sz="2000" i="1" baseline="-25000" dirty="0" err="1">
                <a:latin typeface="Calibri" panose="020F0502020204030204" pitchFamily="34" charset="0"/>
                <a:cs typeface="Calibri" panose="020F0502020204030204" pitchFamily="34" charset="0"/>
              </a:rPr>
              <a:t>i</a:t>
            </a:r>
            <a:r>
              <a:rPr lang="en-GB" sz="2000" dirty="0">
                <a:latin typeface="Calibri" panose="020F0502020204030204" pitchFamily="34" charset="0"/>
                <a:cs typeface="Calibri" panose="020F0502020204030204" pitchFamily="34" charset="0"/>
              </a:rPr>
              <a:t>, follow a normal distribution.</a:t>
            </a:r>
          </a:p>
          <a:p>
            <a:pPr lvl="0" algn="just">
              <a:buFont typeface="Wingdings" panose="05000000000000000000" pitchFamily="2" charset="2"/>
              <a:buChar char="Ø"/>
            </a:pPr>
            <a:endParaRPr lang="en-IN" sz="2000" dirty="0">
              <a:latin typeface="Calibri" panose="020F0502020204030204" pitchFamily="34" charset="0"/>
              <a:cs typeface="Calibri" panose="020F0502020204030204" pitchFamily="34" charset="0"/>
            </a:endParaRPr>
          </a:p>
          <a:p>
            <a:pPr lvl="0" algn="just">
              <a:buFont typeface="Wingdings" panose="05000000000000000000" pitchFamily="2" charset="2"/>
              <a:buChar char="Ø"/>
            </a:pPr>
            <a:r>
              <a:rPr lang="en-GB" sz="2000" dirty="0">
                <a:latin typeface="Calibri" panose="020F0502020204030204" pitchFamily="34" charset="0"/>
                <a:cs typeface="Calibri" panose="020F0502020204030204" pitchFamily="34" charset="0"/>
              </a:rPr>
              <a:t>The variance of the residuals, Var(</a:t>
            </a:r>
            <a:r>
              <a:rPr lang="en-GB" sz="2000" i="1" dirty="0">
                <a:latin typeface="Calibri" panose="020F0502020204030204" pitchFamily="34" charset="0"/>
                <a:cs typeface="Calibri" panose="020F0502020204030204" pitchFamily="34" charset="0"/>
                <a:sym typeface="Symbol" panose="05050102010706020507" pitchFamily="18" charset="2"/>
              </a:rPr>
              <a:t></a:t>
            </a:r>
            <a:r>
              <a:rPr lang="en-GB" sz="2000" i="1" baseline="-25000" dirty="0" err="1">
                <a:latin typeface="Calibri" panose="020F0502020204030204" pitchFamily="34" charset="0"/>
                <a:cs typeface="Calibri" panose="020F0502020204030204" pitchFamily="34" charset="0"/>
              </a:rPr>
              <a:t>i</a:t>
            </a:r>
            <a:r>
              <a:rPr lang="en-GB" sz="2000" i="1" dirty="0" err="1">
                <a:latin typeface="Calibri" panose="020F0502020204030204" pitchFamily="34" charset="0"/>
                <a:cs typeface="Calibri" panose="020F0502020204030204" pitchFamily="34" charset="0"/>
              </a:rPr>
              <a:t>|X</a:t>
            </a:r>
            <a:r>
              <a:rPr lang="en-GB" sz="2000" i="1" baseline="-25000" dirty="0" err="1">
                <a:latin typeface="Calibri" panose="020F0502020204030204" pitchFamily="34" charset="0"/>
                <a:cs typeface="Calibri" panose="020F0502020204030204" pitchFamily="34" charset="0"/>
              </a:rPr>
              <a:t>i</a:t>
            </a:r>
            <a:r>
              <a:rPr lang="en-GB" sz="2000" dirty="0">
                <a:latin typeface="Calibri" panose="020F0502020204030204" pitchFamily="34" charset="0"/>
                <a:cs typeface="Calibri" panose="020F0502020204030204" pitchFamily="34" charset="0"/>
              </a:rPr>
              <a:t>), is constant for all values of </a:t>
            </a:r>
            <a:r>
              <a:rPr lang="en-GB" sz="2000" i="1" dirty="0">
                <a:latin typeface="Calibri" panose="020F0502020204030204" pitchFamily="34" charset="0"/>
                <a:cs typeface="Calibri" panose="020F0502020204030204" pitchFamily="34" charset="0"/>
              </a:rPr>
              <a:t>X</a:t>
            </a:r>
            <a:r>
              <a:rPr lang="en-GB" sz="2000" i="1" baseline="-25000" dirty="0">
                <a:latin typeface="Calibri" panose="020F0502020204030204" pitchFamily="34" charset="0"/>
                <a:cs typeface="Calibri" panose="020F0502020204030204" pitchFamily="34" charset="0"/>
              </a:rPr>
              <a:t>i</a:t>
            </a:r>
            <a:r>
              <a:rPr lang="en-GB" sz="2000" dirty="0">
                <a:latin typeface="Calibri" panose="020F0502020204030204" pitchFamily="34" charset="0"/>
                <a:cs typeface="Calibri" panose="020F0502020204030204" pitchFamily="34" charset="0"/>
              </a:rPr>
              <a:t>. When the variance of the residuals is constant for different values of </a:t>
            </a:r>
            <a:r>
              <a:rPr lang="en-GB" sz="2000" i="1" dirty="0">
                <a:latin typeface="Calibri" panose="020F0502020204030204" pitchFamily="34" charset="0"/>
                <a:cs typeface="Calibri" panose="020F0502020204030204" pitchFamily="34" charset="0"/>
              </a:rPr>
              <a:t>X</a:t>
            </a:r>
            <a:r>
              <a:rPr lang="en-GB" sz="2000" i="1" baseline="-25000" dirty="0">
                <a:latin typeface="Calibri" panose="020F0502020204030204" pitchFamily="34" charset="0"/>
                <a:cs typeface="Calibri" panose="020F0502020204030204" pitchFamily="34" charset="0"/>
              </a:rPr>
              <a:t>i</a:t>
            </a:r>
            <a:r>
              <a:rPr lang="en-GB" sz="2000" dirty="0">
                <a:latin typeface="Calibri" panose="020F0502020204030204" pitchFamily="34" charset="0"/>
                <a:cs typeface="Calibri" panose="020F0502020204030204" pitchFamily="34" charset="0"/>
              </a:rPr>
              <a:t>, it is called </a:t>
            </a:r>
            <a:r>
              <a:rPr lang="en-GB" sz="2000" b="1" dirty="0">
                <a:latin typeface="Calibri" panose="020F0502020204030204" pitchFamily="34" charset="0"/>
                <a:cs typeface="Calibri" panose="020F0502020204030204" pitchFamily="34" charset="0"/>
              </a:rPr>
              <a:t>homoscedasticity</a:t>
            </a:r>
            <a:r>
              <a:rPr lang="en-GB" sz="2000" dirty="0">
                <a:latin typeface="Calibri" panose="020F0502020204030204" pitchFamily="34" charset="0"/>
                <a:cs typeface="Calibri" panose="020F0502020204030204" pitchFamily="34" charset="0"/>
              </a:rPr>
              <a:t>.  A non-constant variance of residuals is called </a:t>
            </a:r>
            <a:r>
              <a:rPr lang="en-GB" sz="2000" b="1" dirty="0">
                <a:latin typeface="Calibri" panose="020F0502020204030204" pitchFamily="34" charset="0"/>
                <a:cs typeface="Calibri" panose="020F0502020204030204" pitchFamily="34" charset="0"/>
              </a:rPr>
              <a:t>heteroscedasticity</a:t>
            </a:r>
            <a:r>
              <a:rPr lang="en-GB" sz="2000" dirty="0">
                <a:latin typeface="Calibri" panose="020F0502020204030204" pitchFamily="34" charset="0"/>
                <a:cs typeface="Calibri" panose="020F0502020204030204" pitchFamily="34" charset="0"/>
              </a:rPr>
              <a:t>.</a:t>
            </a:r>
          </a:p>
          <a:p>
            <a:pPr lvl="0" algn="just">
              <a:buFont typeface="Wingdings" panose="05000000000000000000" pitchFamily="2" charset="2"/>
              <a:buChar char="Ø"/>
            </a:pPr>
            <a:endParaRPr lang="en-IN" sz="2000" dirty="0">
              <a:latin typeface="Calibri" panose="020F0502020204030204" pitchFamily="34" charset="0"/>
              <a:cs typeface="Calibri" panose="020F0502020204030204" pitchFamily="34" charset="0"/>
            </a:endParaRPr>
          </a:p>
          <a:p>
            <a:pPr lvl="0" algn="just">
              <a:buFont typeface="Wingdings" panose="05000000000000000000" pitchFamily="2" charset="2"/>
              <a:buChar char="Ø"/>
            </a:pPr>
            <a:r>
              <a:rPr lang="en-GB" sz="2000" dirty="0">
                <a:latin typeface="Calibri" panose="020F0502020204030204" pitchFamily="34" charset="0"/>
                <a:cs typeface="Calibri" panose="020F0502020204030204" pitchFamily="34" charset="0"/>
              </a:rPr>
              <a:t>There is no high correlation between independent variables in the model (called </a:t>
            </a:r>
            <a:r>
              <a:rPr lang="en-GB" sz="2000" b="1" dirty="0">
                <a:latin typeface="Calibri" panose="020F0502020204030204" pitchFamily="34" charset="0"/>
                <a:cs typeface="Calibri" panose="020F0502020204030204" pitchFamily="34" charset="0"/>
              </a:rPr>
              <a:t>multi-collinearity</a:t>
            </a:r>
            <a:r>
              <a:rPr lang="en-GB" sz="2000" dirty="0">
                <a:latin typeface="Calibri" panose="020F0502020204030204" pitchFamily="34" charset="0"/>
                <a:cs typeface="Calibri" panose="020F0502020204030204" pitchFamily="34" charset="0"/>
              </a:rPr>
              <a:t>).  Multi-collinearity can destabilize the model and can result in incorrect estimation of the regression parameters.</a:t>
            </a:r>
            <a:endParaRPr lang="en-IN" sz="2000" dirty="0">
              <a:latin typeface="Calibri" panose="020F0502020204030204" pitchFamily="34" charset="0"/>
              <a:cs typeface="Calibri" panose="020F0502020204030204" pitchFamily="34" charset="0"/>
            </a:endParaRPr>
          </a:p>
          <a:p>
            <a:endParaRPr lang="en-IN" sz="20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356514CF-AD2C-4505-A92B-353CB6963ABB}"/>
              </a:ext>
            </a:extLst>
          </p:cNvPr>
          <p:cNvSpPr txBox="1"/>
          <p:nvPr/>
        </p:nvSpPr>
        <p:spPr>
          <a:xfrm>
            <a:off x="628650" y="457200"/>
            <a:ext cx="7886700" cy="523220"/>
          </a:xfrm>
          <a:prstGeom prst="rect">
            <a:avLst/>
          </a:prstGeom>
          <a:noFill/>
        </p:spPr>
        <p:txBody>
          <a:bodyPr wrap="square" rtlCol="0">
            <a:spAutoFit/>
          </a:bodyPr>
          <a:lstStyle/>
          <a:p>
            <a:pPr algn="ctr"/>
            <a:r>
              <a:rPr lang="en-IN" sz="2800" b="1" dirty="0">
                <a:solidFill>
                  <a:srgbClr val="C00000"/>
                </a:solidFill>
              </a:rPr>
              <a:t>MLR Assumptions</a:t>
            </a:r>
          </a:p>
        </p:txBody>
      </p:sp>
    </p:spTree>
    <p:extLst>
      <p:ext uri="{BB962C8B-B14F-4D97-AF65-F5344CB8AC3E}">
        <p14:creationId xmlns:p14="http://schemas.microsoft.com/office/powerpoint/2010/main" val="401480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DDB1DB2-08C8-4737-A613-83F6DF32E7E6}"/>
              </a:ext>
            </a:extLst>
          </p:cNvPr>
          <p:cNvSpPr>
            <a:spLocks noGrp="1"/>
          </p:cNvSpPr>
          <p:nvPr>
            <p:ph idx="4294967295"/>
          </p:nvPr>
        </p:nvSpPr>
        <p:spPr>
          <a:xfrm>
            <a:off x="457200" y="381000"/>
            <a:ext cx="8610600" cy="6172200"/>
          </a:xfrm>
        </p:spPr>
        <p:txBody>
          <a:bodyPr/>
          <a:lstStyle/>
          <a:p>
            <a:pPr marL="0" indent="0" algn="just">
              <a:buNone/>
            </a:pPr>
            <a:r>
              <a:rPr lang="en-GB" sz="2200" dirty="0">
                <a:latin typeface="Gill Sans MT" panose="020B0502020104020203" pitchFamily="34" charset="0"/>
              </a:rPr>
              <a:t>The regression coefficients      is given by</a:t>
            </a:r>
          </a:p>
          <a:p>
            <a:pPr marL="0" indent="0" algn="just">
              <a:buNone/>
            </a:pPr>
            <a:endParaRPr lang="en-GB" sz="2200" dirty="0">
              <a:latin typeface="Gill Sans MT" panose="020B0502020104020203" pitchFamily="34" charset="0"/>
            </a:endParaRPr>
          </a:p>
          <a:p>
            <a:pPr marL="0" indent="0" algn="just">
              <a:buNone/>
            </a:pPr>
            <a:endParaRPr lang="en-GB" sz="2200" dirty="0">
              <a:latin typeface="Gill Sans MT" panose="020B0502020104020203" pitchFamily="34" charset="0"/>
            </a:endParaRPr>
          </a:p>
          <a:p>
            <a:pPr marL="0" indent="0" algn="just">
              <a:buNone/>
            </a:pPr>
            <a:r>
              <a:rPr lang="en-GB" sz="2200" dirty="0">
                <a:latin typeface="Gill Sans MT" panose="020B0502020104020203" pitchFamily="34" charset="0"/>
              </a:rPr>
              <a:t>The estimated values of response variable are</a:t>
            </a:r>
          </a:p>
          <a:p>
            <a:pPr marL="0" indent="0" algn="just">
              <a:buNone/>
            </a:pPr>
            <a:endParaRPr lang="en-GB" sz="2200" dirty="0">
              <a:latin typeface="Gill Sans MT" panose="020B0502020104020203" pitchFamily="34" charset="0"/>
            </a:endParaRPr>
          </a:p>
          <a:p>
            <a:pPr marL="0" indent="0" algn="just">
              <a:buNone/>
            </a:pPr>
            <a:endParaRPr lang="en-GB" sz="2200" dirty="0">
              <a:latin typeface="Gill Sans MT" panose="020B0502020104020203" pitchFamily="34" charset="0"/>
            </a:endParaRPr>
          </a:p>
          <a:p>
            <a:pPr marL="0" indent="0" algn="just">
              <a:buNone/>
            </a:pPr>
            <a:r>
              <a:rPr lang="en-GB" sz="2200" dirty="0">
                <a:latin typeface="Gill Sans MT" panose="020B0502020104020203" pitchFamily="34" charset="0"/>
              </a:rPr>
              <a:t>In above Eq. the predicted value of dependent variable    is a linear function of </a:t>
            </a:r>
            <a:r>
              <a:rPr lang="en-GB" sz="2200" i="1" dirty="0">
                <a:latin typeface="Gill Sans MT" panose="020B0502020104020203" pitchFamily="34" charset="0"/>
              </a:rPr>
              <a:t>Y</a:t>
            </a:r>
            <a:r>
              <a:rPr lang="en-GB" sz="2200" i="1" baseline="-25000" dirty="0">
                <a:latin typeface="Gill Sans MT" panose="020B0502020104020203" pitchFamily="34" charset="0"/>
              </a:rPr>
              <a:t>i</a:t>
            </a:r>
            <a:r>
              <a:rPr lang="en-GB" sz="2200" dirty="0">
                <a:latin typeface="Gill Sans MT" panose="020B0502020104020203" pitchFamily="34" charset="0"/>
              </a:rPr>
              <a:t>.  Equation can be written as follows:</a:t>
            </a:r>
            <a:endParaRPr lang="en-IN" sz="2200" dirty="0">
              <a:latin typeface="Gill Sans MT" panose="020B0502020104020203" pitchFamily="34" charset="0"/>
            </a:endParaRPr>
          </a:p>
          <a:p>
            <a:pPr marL="0" indent="0" algn="just">
              <a:buNone/>
            </a:pPr>
            <a:endParaRPr lang="en-GB" sz="2200" dirty="0">
              <a:latin typeface="Gill Sans MT" panose="020B0502020104020203" pitchFamily="34" charset="0"/>
            </a:endParaRPr>
          </a:p>
          <a:p>
            <a:pPr marL="0" indent="0" algn="just">
              <a:buNone/>
            </a:pPr>
            <a:endParaRPr lang="en-GB" sz="2200" dirty="0">
              <a:latin typeface="Gill Sans MT" panose="020B0502020104020203" pitchFamily="34" charset="0"/>
            </a:endParaRPr>
          </a:p>
          <a:p>
            <a:pPr marL="0" indent="0" algn="just">
              <a:buNone/>
            </a:pPr>
            <a:r>
              <a:rPr lang="en-IN" sz="2200" dirty="0">
                <a:latin typeface="Gill Sans MT" panose="020B0502020104020203" pitchFamily="34" charset="0"/>
              </a:rPr>
              <a:t>                       </a:t>
            </a:r>
            <a:r>
              <a:rPr lang="en-GB" sz="2200" dirty="0">
                <a:latin typeface="Gill Sans MT" panose="020B0502020104020203" pitchFamily="34" charset="0"/>
              </a:rPr>
              <a:t>is called the </a:t>
            </a:r>
            <a:r>
              <a:rPr lang="en-GB" sz="2200" b="1" dirty="0">
                <a:latin typeface="Gill Sans MT" panose="020B0502020104020203" pitchFamily="34" charset="0"/>
              </a:rPr>
              <a:t>hat matrix</a:t>
            </a:r>
            <a:r>
              <a:rPr lang="en-GB" sz="2200" dirty="0">
                <a:latin typeface="Gill Sans MT" panose="020B0502020104020203" pitchFamily="34" charset="0"/>
              </a:rPr>
              <a:t>, also known as the </a:t>
            </a:r>
            <a:r>
              <a:rPr lang="en-GB" sz="2200" b="1" dirty="0">
                <a:latin typeface="Gill Sans MT" panose="020B0502020104020203" pitchFamily="34" charset="0"/>
              </a:rPr>
              <a:t>influence matrix</a:t>
            </a:r>
            <a:r>
              <a:rPr lang="en-GB" sz="2200" dirty="0">
                <a:latin typeface="Gill Sans MT" panose="020B0502020104020203" pitchFamily="34" charset="0"/>
              </a:rPr>
              <a:t>, since it describes the influence of each observation on the predicted values of response variable.</a:t>
            </a:r>
          </a:p>
          <a:p>
            <a:pPr marL="0" indent="0">
              <a:buNone/>
            </a:pPr>
            <a:endParaRPr lang="en-GB" sz="2200" dirty="0">
              <a:latin typeface="Gill Sans MT" panose="020B0502020104020203" pitchFamily="34" charset="0"/>
            </a:endParaRPr>
          </a:p>
          <a:p>
            <a:pPr marL="0" indent="0">
              <a:buNone/>
            </a:pPr>
            <a:r>
              <a:rPr lang="en-GB" sz="2200" dirty="0">
                <a:latin typeface="Gill Sans MT" panose="020B0502020104020203" pitchFamily="34" charset="0"/>
              </a:rPr>
              <a:t>Hat matrix plays a crucial role in identifying the outliers and influential observations in the sample.</a:t>
            </a:r>
            <a:endParaRPr lang="en-IN" sz="2200" dirty="0">
              <a:latin typeface="Gill Sans MT" panose="020B0502020104020203" pitchFamily="34" charset="0"/>
            </a:endParaRPr>
          </a:p>
          <a:p>
            <a:pPr marL="0" indent="0">
              <a:buNone/>
            </a:pPr>
            <a:endParaRPr lang="en-IN" sz="2200" dirty="0">
              <a:latin typeface="Gill Sans MT" panose="020B0502020104020203" pitchFamily="34" charset="0"/>
            </a:endParaRPr>
          </a:p>
        </p:txBody>
      </p:sp>
      <p:graphicFrame>
        <p:nvGraphicFramePr>
          <p:cNvPr id="6" name="Object 5">
            <a:extLst>
              <a:ext uri="{FF2B5EF4-FFF2-40B4-BE49-F238E27FC236}">
                <a16:creationId xmlns:a16="http://schemas.microsoft.com/office/drawing/2014/main" id="{80495CE2-4A4E-445E-BF9E-E2C1DA41B385}"/>
              </a:ext>
            </a:extLst>
          </p:cNvPr>
          <p:cNvGraphicFramePr>
            <a:graphicFrameLocks noChangeAspect="1"/>
          </p:cNvGraphicFramePr>
          <p:nvPr>
            <p:extLst>
              <p:ext uri="{D42A27DB-BD31-4B8C-83A1-F6EECF244321}">
                <p14:modId xmlns:p14="http://schemas.microsoft.com/office/powerpoint/2010/main" val="3862624808"/>
              </p:ext>
            </p:extLst>
          </p:nvPr>
        </p:nvGraphicFramePr>
        <p:xfrm>
          <a:off x="3657600" y="304800"/>
          <a:ext cx="381000" cy="457200"/>
        </p:xfrm>
        <a:graphic>
          <a:graphicData uri="http://schemas.openxmlformats.org/presentationml/2006/ole">
            <mc:AlternateContent xmlns:mc="http://schemas.openxmlformats.org/markup-compatibility/2006">
              <mc:Choice xmlns:v="urn:schemas-microsoft-com:vml" Requires="v">
                <p:oleObj name="Equation" r:id="rId2" imgW="126890" imgH="342603" progId="Equation.3">
                  <p:embed/>
                </p:oleObj>
              </mc:Choice>
              <mc:Fallback>
                <p:oleObj name="Equation" r:id="rId2" imgW="126890" imgH="342603"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04800"/>
                        <a:ext cx="381000" cy="457200"/>
                      </a:xfrm>
                      <a:prstGeom prst="rect">
                        <a:avLst/>
                      </a:prstGeom>
                      <a:noFill/>
                    </p:spPr>
                  </p:pic>
                </p:oleObj>
              </mc:Fallback>
            </mc:AlternateContent>
          </a:graphicData>
        </a:graphic>
      </p:graphicFrame>
      <p:sp>
        <p:nvSpPr>
          <p:cNvPr id="7" name="Rectangle 4">
            <a:extLst>
              <a:ext uri="{FF2B5EF4-FFF2-40B4-BE49-F238E27FC236}">
                <a16:creationId xmlns:a16="http://schemas.microsoft.com/office/drawing/2014/main" id="{81EF4150-535C-45CB-A994-CD2D67A8531D}"/>
              </a:ext>
            </a:extLst>
          </p:cNvPr>
          <p:cNvSpPr>
            <a:spLocks noChangeArrowheads="1"/>
          </p:cNvSpPr>
          <p:nvPr/>
        </p:nvSpPr>
        <p:spPr bwMode="auto">
          <a:xfrm>
            <a:off x="457200" y="-7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Object 7">
            <a:extLst>
              <a:ext uri="{FF2B5EF4-FFF2-40B4-BE49-F238E27FC236}">
                <a16:creationId xmlns:a16="http://schemas.microsoft.com/office/drawing/2014/main" id="{F981E9BB-242E-4553-883D-D10452A12CCF}"/>
              </a:ext>
            </a:extLst>
          </p:cNvPr>
          <p:cNvGraphicFramePr>
            <a:graphicFrameLocks noChangeAspect="1"/>
          </p:cNvGraphicFramePr>
          <p:nvPr>
            <p:extLst>
              <p:ext uri="{D42A27DB-BD31-4B8C-83A1-F6EECF244321}">
                <p14:modId xmlns:p14="http://schemas.microsoft.com/office/powerpoint/2010/main" val="2787394272"/>
              </p:ext>
            </p:extLst>
          </p:nvPr>
        </p:nvGraphicFramePr>
        <p:xfrm>
          <a:off x="2385060" y="838199"/>
          <a:ext cx="2209800" cy="609600"/>
        </p:xfrm>
        <a:graphic>
          <a:graphicData uri="http://schemas.openxmlformats.org/presentationml/2006/ole">
            <mc:AlternateContent xmlns:mc="http://schemas.openxmlformats.org/markup-compatibility/2006">
              <mc:Choice xmlns:v="urn:schemas-microsoft-com:vml" Requires="v">
                <p:oleObj name="Equation" r:id="rId4" imgW="1143000" imgH="342900" progId="Equation.3">
                  <p:embed/>
                </p:oleObj>
              </mc:Choice>
              <mc:Fallback>
                <p:oleObj name="Equation" r:id="rId4" imgW="1143000" imgH="342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5060" y="838199"/>
                        <a:ext cx="2209800" cy="6096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9" name="Rectangle 6">
            <a:extLst>
              <a:ext uri="{FF2B5EF4-FFF2-40B4-BE49-F238E27FC236}">
                <a16:creationId xmlns:a16="http://schemas.microsoft.com/office/drawing/2014/main" id="{C899B064-6F6D-4FBA-91F9-34DC26113578}"/>
              </a:ext>
            </a:extLst>
          </p:cNvPr>
          <p:cNvSpPr>
            <a:spLocks noChangeArrowheads="1"/>
          </p:cNvSpPr>
          <p:nvPr/>
        </p:nvSpPr>
        <p:spPr bwMode="auto">
          <a:xfrm>
            <a:off x="457200" y="-7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0" name="Object 9">
            <a:extLst>
              <a:ext uri="{FF2B5EF4-FFF2-40B4-BE49-F238E27FC236}">
                <a16:creationId xmlns:a16="http://schemas.microsoft.com/office/drawing/2014/main" id="{4936BCBF-67FD-4C58-B46E-EB142332AA4A}"/>
              </a:ext>
            </a:extLst>
          </p:cNvPr>
          <p:cNvGraphicFramePr>
            <a:graphicFrameLocks noChangeAspect="1"/>
          </p:cNvGraphicFramePr>
          <p:nvPr>
            <p:extLst>
              <p:ext uri="{D42A27DB-BD31-4B8C-83A1-F6EECF244321}">
                <p14:modId xmlns:p14="http://schemas.microsoft.com/office/powerpoint/2010/main" val="2662680176"/>
              </p:ext>
            </p:extLst>
          </p:nvPr>
        </p:nvGraphicFramePr>
        <p:xfrm>
          <a:off x="2385060" y="2196028"/>
          <a:ext cx="2667000" cy="533400"/>
        </p:xfrm>
        <a:graphic>
          <a:graphicData uri="http://schemas.openxmlformats.org/presentationml/2006/ole">
            <mc:AlternateContent xmlns:mc="http://schemas.openxmlformats.org/markup-compatibility/2006">
              <mc:Choice xmlns:v="urn:schemas-microsoft-com:vml" Requires="v">
                <p:oleObj name="Equation" r:id="rId6" imgW="1651000" imgH="342900" progId="Equation.3">
                  <p:embed/>
                </p:oleObj>
              </mc:Choice>
              <mc:Fallback>
                <p:oleObj name="Equation" r:id="rId6" imgW="1651000" imgH="3429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5060" y="2196028"/>
                        <a:ext cx="2667000" cy="5334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14" name="Rectangle 14">
            <a:extLst>
              <a:ext uri="{FF2B5EF4-FFF2-40B4-BE49-F238E27FC236}">
                <a16:creationId xmlns:a16="http://schemas.microsoft.com/office/drawing/2014/main" id="{AB4E7909-11FE-4209-8F25-13A4BDDB38D2}"/>
              </a:ext>
            </a:extLst>
          </p:cNvPr>
          <p:cNvSpPr>
            <a:spLocks noChangeArrowheads="1"/>
          </p:cNvSpPr>
          <p:nvPr/>
        </p:nvSpPr>
        <p:spPr bwMode="auto">
          <a:xfrm>
            <a:off x="457200" y="-7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5" name="Object 14">
            <a:extLst>
              <a:ext uri="{FF2B5EF4-FFF2-40B4-BE49-F238E27FC236}">
                <a16:creationId xmlns:a16="http://schemas.microsoft.com/office/drawing/2014/main" id="{51C3C06D-0525-4BA9-A13A-B25075F4222E}"/>
              </a:ext>
            </a:extLst>
          </p:cNvPr>
          <p:cNvGraphicFramePr>
            <a:graphicFrameLocks noChangeAspect="1"/>
          </p:cNvGraphicFramePr>
          <p:nvPr>
            <p:extLst>
              <p:ext uri="{D42A27DB-BD31-4B8C-83A1-F6EECF244321}">
                <p14:modId xmlns:p14="http://schemas.microsoft.com/office/powerpoint/2010/main" val="1046019596"/>
              </p:ext>
            </p:extLst>
          </p:nvPr>
        </p:nvGraphicFramePr>
        <p:xfrm>
          <a:off x="7391400" y="2766942"/>
          <a:ext cx="304800" cy="457200"/>
        </p:xfrm>
        <a:graphic>
          <a:graphicData uri="http://schemas.openxmlformats.org/presentationml/2006/ole">
            <mc:AlternateContent xmlns:mc="http://schemas.openxmlformats.org/markup-compatibility/2006">
              <mc:Choice xmlns:v="urn:schemas-microsoft-com:vml" Requires="v">
                <p:oleObj name="Equation" r:id="rId8" imgW="164957" imgH="355292" progId="Equation.3">
                  <p:embed/>
                </p:oleObj>
              </mc:Choice>
              <mc:Fallback>
                <p:oleObj name="Equation" r:id="rId8" imgW="164957" imgH="355292"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91400" y="2766942"/>
                        <a:ext cx="304800" cy="457200"/>
                      </a:xfrm>
                      <a:prstGeom prst="rect">
                        <a:avLst/>
                      </a:prstGeom>
                      <a:noFill/>
                    </p:spPr>
                  </p:pic>
                </p:oleObj>
              </mc:Fallback>
            </mc:AlternateContent>
          </a:graphicData>
        </a:graphic>
      </p:graphicFrame>
      <p:sp>
        <p:nvSpPr>
          <p:cNvPr id="16" name="Rectangle 16">
            <a:extLst>
              <a:ext uri="{FF2B5EF4-FFF2-40B4-BE49-F238E27FC236}">
                <a16:creationId xmlns:a16="http://schemas.microsoft.com/office/drawing/2014/main" id="{6A1832FE-6A23-4BD5-B7EB-3AD8B6ADACD3}"/>
              </a:ext>
            </a:extLst>
          </p:cNvPr>
          <p:cNvSpPr>
            <a:spLocks noChangeArrowheads="1"/>
          </p:cNvSpPr>
          <p:nvPr/>
        </p:nvSpPr>
        <p:spPr bwMode="auto">
          <a:xfrm>
            <a:off x="457200" y="-76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7" name="Object 16">
            <a:extLst>
              <a:ext uri="{FF2B5EF4-FFF2-40B4-BE49-F238E27FC236}">
                <a16:creationId xmlns:a16="http://schemas.microsoft.com/office/drawing/2014/main" id="{C9600925-5644-4B23-B556-7BBBA602B9A5}"/>
              </a:ext>
            </a:extLst>
          </p:cNvPr>
          <p:cNvGraphicFramePr>
            <a:graphicFrameLocks noChangeAspect="1"/>
          </p:cNvGraphicFramePr>
          <p:nvPr>
            <p:extLst>
              <p:ext uri="{D42A27DB-BD31-4B8C-83A1-F6EECF244321}">
                <p14:modId xmlns:p14="http://schemas.microsoft.com/office/powerpoint/2010/main" val="1268222394"/>
              </p:ext>
            </p:extLst>
          </p:nvPr>
        </p:nvGraphicFramePr>
        <p:xfrm>
          <a:off x="3162300" y="3584622"/>
          <a:ext cx="1371600" cy="533400"/>
        </p:xfrm>
        <a:graphic>
          <a:graphicData uri="http://schemas.openxmlformats.org/presentationml/2006/ole">
            <mc:AlternateContent xmlns:mc="http://schemas.openxmlformats.org/markup-compatibility/2006">
              <mc:Choice xmlns:v="urn:schemas-microsoft-com:vml" Requires="v">
                <p:oleObj name="Equation" r:id="rId10" imgW="545626" imgH="304536" progId="Equation.3">
                  <p:embed/>
                </p:oleObj>
              </mc:Choice>
              <mc:Fallback>
                <p:oleObj name="Equation" r:id="rId10" imgW="545626" imgH="304536"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62300" y="3584622"/>
                        <a:ext cx="1371600" cy="533400"/>
                      </a:xfrm>
                      <a:prstGeom prst="rect">
                        <a:avLst/>
                      </a:prstGeom>
                      <a:solidFill>
                        <a:schemeClr val="accent2">
                          <a:lumMod val="40000"/>
                          <a:lumOff val="60000"/>
                        </a:schemeClr>
                      </a:solidFill>
                      <a:ln>
                        <a:solidFill>
                          <a:schemeClr val="accent1"/>
                        </a:solidFill>
                      </a:ln>
                    </p:spPr>
                  </p:pic>
                </p:oleObj>
              </mc:Fallback>
            </mc:AlternateContent>
          </a:graphicData>
        </a:graphic>
      </p:graphicFrame>
      <p:graphicFrame>
        <p:nvGraphicFramePr>
          <p:cNvPr id="18" name="Object 17">
            <a:extLst>
              <a:ext uri="{FF2B5EF4-FFF2-40B4-BE49-F238E27FC236}">
                <a16:creationId xmlns:a16="http://schemas.microsoft.com/office/drawing/2014/main" id="{F6C133D3-AB33-469C-AAA2-54B1309EEFE0}"/>
              </a:ext>
            </a:extLst>
          </p:cNvPr>
          <p:cNvGraphicFramePr>
            <a:graphicFrameLocks noChangeAspect="1"/>
          </p:cNvGraphicFramePr>
          <p:nvPr>
            <p:extLst>
              <p:ext uri="{D42A27DB-BD31-4B8C-83A1-F6EECF244321}">
                <p14:modId xmlns:p14="http://schemas.microsoft.com/office/powerpoint/2010/main" val="2559645672"/>
              </p:ext>
            </p:extLst>
          </p:nvPr>
        </p:nvGraphicFramePr>
        <p:xfrm>
          <a:off x="685800" y="4267200"/>
          <a:ext cx="1447800" cy="381000"/>
        </p:xfrm>
        <a:graphic>
          <a:graphicData uri="http://schemas.openxmlformats.org/presentationml/2006/ole">
            <mc:AlternateContent xmlns:mc="http://schemas.openxmlformats.org/markup-compatibility/2006">
              <mc:Choice xmlns:v="urn:schemas-microsoft-com:vml" Requires="v">
                <p:oleObj name="Equation" r:id="rId12" imgW="1180588" imgH="266584" progId="Equation.3">
                  <p:embed/>
                </p:oleObj>
              </mc:Choice>
              <mc:Fallback>
                <p:oleObj name="Equation" r:id="rId12" imgW="1180588" imgH="266584" progId="Equation.3">
                  <p:embed/>
                  <p:pic>
                    <p:nvPicPr>
                      <p:cNvPr id="6" name="Object 5">
                        <a:extLst>
                          <a:ext uri="{FF2B5EF4-FFF2-40B4-BE49-F238E27FC236}">
                            <a16:creationId xmlns:a16="http://schemas.microsoft.com/office/drawing/2014/main" id="{BB78FB8E-63F1-45DF-8415-18030A97C58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00" y="4267200"/>
                        <a:ext cx="1447800" cy="3810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98496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1000"/>
                                        <p:tgtEl>
                                          <p:spTgt spid="4">
                                            <p:txEl>
                                              <p:pRg st="9" end="9"/>
                                            </p:txEl>
                                          </p:spTgt>
                                        </p:tgtEl>
                                      </p:cBhvr>
                                    </p:animEffect>
                                    <p:anim calcmode="lin" valueType="num">
                                      <p:cBhvr>
                                        <p:cTn id="43"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animEffect transition="in" filter="fade">
                                      <p:cBhvr>
                                        <p:cTn id="49" dur="1000"/>
                                        <p:tgtEl>
                                          <p:spTgt spid="4">
                                            <p:txEl>
                                              <p:pRg st="11" end="11"/>
                                            </p:txEl>
                                          </p:spTgt>
                                        </p:tgtEl>
                                      </p:cBhvr>
                                    </p:animEffect>
                                    <p:anim calcmode="lin" valueType="num">
                                      <p:cBhvr>
                                        <p:cTn id="50"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1000"/>
                                        <p:tgtEl>
                                          <p:spTgt spid="17"/>
                                        </p:tgtEl>
                                      </p:cBhvr>
                                    </p:animEffect>
                                    <p:anim calcmode="lin" valueType="num">
                                      <p:cBhvr>
                                        <p:cTn id="57" dur="1000" fill="hold"/>
                                        <p:tgtEl>
                                          <p:spTgt spid="17"/>
                                        </p:tgtEl>
                                        <p:attrNameLst>
                                          <p:attrName>ppt_x</p:attrName>
                                        </p:attrNameLst>
                                      </p:cBhvr>
                                      <p:tavLst>
                                        <p:tav tm="0">
                                          <p:val>
                                            <p:strVal val="#ppt_x"/>
                                          </p:val>
                                        </p:tav>
                                        <p:tav tm="100000">
                                          <p:val>
                                            <p:strVal val="#ppt_x"/>
                                          </p:val>
                                        </p:tav>
                                      </p:tavLst>
                                    </p:anim>
                                    <p:anim calcmode="lin" valueType="num">
                                      <p:cBhvr>
                                        <p:cTn id="5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1000"/>
                                        <p:tgtEl>
                                          <p:spTgt spid="18"/>
                                        </p:tgtEl>
                                      </p:cBhvr>
                                    </p:animEffect>
                                    <p:anim calcmode="lin" valueType="num">
                                      <p:cBhvr>
                                        <p:cTn id="64" dur="1000" fill="hold"/>
                                        <p:tgtEl>
                                          <p:spTgt spid="18"/>
                                        </p:tgtEl>
                                        <p:attrNameLst>
                                          <p:attrName>ppt_x</p:attrName>
                                        </p:attrNameLst>
                                      </p:cBhvr>
                                      <p:tavLst>
                                        <p:tav tm="0">
                                          <p:val>
                                            <p:strVal val="#ppt_x"/>
                                          </p:val>
                                        </p:tav>
                                        <p:tav tm="100000">
                                          <p:val>
                                            <p:strVal val="#ppt_x"/>
                                          </p:val>
                                        </p:tav>
                                      </p:tavLst>
                                    </p:anim>
                                    <p:anim calcmode="lin" valueType="num">
                                      <p:cBhvr>
                                        <p:cTn id="6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D8DD11-A651-4EFF-B9D2-17DC18E25063}"/>
              </a:ext>
            </a:extLst>
          </p:cNvPr>
          <p:cNvSpPr>
            <a:spLocks noGrp="1"/>
          </p:cNvSpPr>
          <p:nvPr>
            <p:ph type="title"/>
          </p:nvPr>
        </p:nvSpPr>
        <p:spPr>
          <a:xfrm>
            <a:off x="594654" y="548412"/>
            <a:ext cx="8252114" cy="518388"/>
          </a:xfrm>
        </p:spPr>
        <p:txBody>
          <a:bodyPr/>
          <a:lstStyle/>
          <a:p>
            <a:pPr algn="just"/>
            <a:r>
              <a:rPr lang="en-GB" sz="2800" b="1" dirty="0">
                <a:solidFill>
                  <a:srgbClr val="C00000"/>
                </a:solidFill>
              </a:rPr>
              <a:t>Multiple Linear Regression Model Building</a:t>
            </a:r>
            <a:endParaRPr lang="en-IN" sz="2800" dirty="0">
              <a:solidFill>
                <a:srgbClr val="C00000"/>
              </a:solidFill>
            </a:endParaRPr>
          </a:p>
        </p:txBody>
      </p:sp>
      <p:sp>
        <p:nvSpPr>
          <p:cNvPr id="4" name="Content Placeholder 3">
            <a:extLst>
              <a:ext uri="{FF2B5EF4-FFF2-40B4-BE49-F238E27FC236}">
                <a16:creationId xmlns:a16="http://schemas.microsoft.com/office/drawing/2014/main" id="{E66224B5-B598-4AF6-85E4-2C672FC24B32}"/>
              </a:ext>
            </a:extLst>
          </p:cNvPr>
          <p:cNvSpPr>
            <a:spLocks noGrp="1"/>
          </p:cNvSpPr>
          <p:nvPr>
            <p:ph idx="1"/>
          </p:nvPr>
        </p:nvSpPr>
        <p:spPr>
          <a:xfrm>
            <a:off x="594654" y="1295400"/>
            <a:ext cx="8252114" cy="4648200"/>
          </a:xfrm>
        </p:spPr>
        <p:txBody>
          <a:bodyPr>
            <a:normAutofit lnSpcReduction="10000"/>
          </a:bodyPr>
          <a:lstStyle/>
          <a:p>
            <a:pPr marL="0" indent="0">
              <a:buNone/>
            </a:pPr>
            <a:r>
              <a:rPr lang="en-GB" sz="2400" dirty="0"/>
              <a:t>A few examples of MLR are as follows:</a:t>
            </a:r>
          </a:p>
          <a:p>
            <a:pPr marL="0" indent="0">
              <a:buNone/>
            </a:pPr>
            <a:endParaRPr lang="en-GB" sz="2400" dirty="0"/>
          </a:p>
          <a:p>
            <a:pPr lvl="0">
              <a:buFont typeface="Wingdings" panose="05000000000000000000" pitchFamily="2" charset="2"/>
              <a:buChar char="q"/>
            </a:pPr>
            <a:r>
              <a:rPr lang="en-GB" sz="2400" dirty="0"/>
              <a:t>  The treatment cost of a cardiac patient may depend on   	factors such as age, past medical history, body weight, blood 	pressure, and so on.</a:t>
            </a:r>
          </a:p>
          <a:p>
            <a:pPr lvl="0">
              <a:buFont typeface="Wingdings" panose="05000000000000000000" pitchFamily="2" charset="2"/>
              <a:buChar char="q"/>
            </a:pPr>
            <a:endParaRPr lang="en-IN" sz="2400" dirty="0"/>
          </a:p>
          <a:p>
            <a:pPr lvl="0">
              <a:buFont typeface="Wingdings" panose="05000000000000000000" pitchFamily="2" charset="2"/>
              <a:buChar char="q"/>
            </a:pPr>
            <a:r>
              <a:rPr lang="en-GB" sz="2400" dirty="0"/>
              <a:t>  Salary of MBA students at the time of graduation may depend 	on factors such as their academic performance, prior work 	experience, communication skills, and so on.</a:t>
            </a:r>
          </a:p>
          <a:p>
            <a:pPr lvl="0">
              <a:buFont typeface="Wingdings" panose="05000000000000000000" pitchFamily="2" charset="2"/>
              <a:buChar char="q"/>
            </a:pPr>
            <a:endParaRPr lang="en-IN" sz="2400" dirty="0"/>
          </a:p>
          <a:p>
            <a:pPr lvl="0">
              <a:buFont typeface="Wingdings" panose="05000000000000000000" pitchFamily="2" charset="2"/>
              <a:buChar char="q"/>
            </a:pPr>
            <a:r>
              <a:rPr lang="en-GB" sz="2400" dirty="0"/>
              <a:t>  Market share of a brand may depend on factors such as price, 	promotion expenses, competitors’ price, etc.</a:t>
            </a:r>
            <a:endParaRPr lang="en-IN" sz="2400" dirty="0"/>
          </a:p>
          <a:p>
            <a:endParaRPr lang="en-IN" sz="2400" dirty="0"/>
          </a:p>
          <a:p>
            <a:endParaRPr lang="en-IN" sz="2400" dirty="0"/>
          </a:p>
        </p:txBody>
      </p:sp>
    </p:spTree>
    <p:extLst>
      <p:ext uri="{BB962C8B-B14F-4D97-AF65-F5344CB8AC3E}">
        <p14:creationId xmlns:p14="http://schemas.microsoft.com/office/powerpoint/2010/main" val="99241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1000"/>
                                        <p:tgtEl>
                                          <p:spTgt spid="4">
                                            <p:txEl>
                                              <p:pRg st="4" end="4"/>
                                            </p:txEl>
                                          </p:spTgt>
                                        </p:tgtEl>
                                      </p:cBhvr>
                                    </p:animEffect>
                                    <p:anim calcmode="lin" valueType="num">
                                      <p:cBhvr>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1000"/>
                                        <p:tgtEl>
                                          <p:spTgt spid="4">
                                            <p:txEl>
                                              <p:pRg st="6" end="6"/>
                                            </p:txEl>
                                          </p:spTgt>
                                        </p:tgtEl>
                                      </p:cBhvr>
                                    </p:animEffect>
                                    <p:anim calcmode="lin" valueType="num">
                                      <p:cBhvr>
                                        <p:cTn id="3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434DA-B55C-408B-B0A4-41D449ADF953}"/>
              </a:ext>
            </a:extLst>
          </p:cNvPr>
          <p:cNvSpPr>
            <a:spLocks noGrp="1"/>
          </p:cNvSpPr>
          <p:nvPr>
            <p:ph type="title"/>
          </p:nvPr>
        </p:nvSpPr>
        <p:spPr>
          <a:xfrm>
            <a:off x="563707" y="381000"/>
            <a:ext cx="8016586" cy="685800"/>
          </a:xfrm>
        </p:spPr>
        <p:txBody>
          <a:bodyPr>
            <a:noAutofit/>
          </a:bodyPr>
          <a:lstStyle/>
          <a:p>
            <a:pPr algn="ctr"/>
            <a:r>
              <a:rPr lang="en-GB" sz="2800" b="1" dirty="0">
                <a:solidFill>
                  <a:srgbClr val="C00000"/>
                </a:solidFill>
                <a:latin typeface="Bookman Old Style" panose="02050604050505020204" pitchFamily="18" charset="0"/>
              </a:rPr>
              <a:t>Framework for building multiple linear regression (MLR).</a:t>
            </a:r>
            <a:endParaRPr lang="en-IN" sz="2800" b="1" dirty="0">
              <a:solidFill>
                <a:srgbClr val="C00000"/>
              </a:solidFill>
              <a:latin typeface="Bookman Old Style" panose="02050604050505020204" pitchFamily="18" charset="0"/>
            </a:endParaRPr>
          </a:p>
        </p:txBody>
      </p:sp>
      <p:pic>
        <p:nvPicPr>
          <p:cNvPr id="4" name="Picture 3">
            <a:extLst>
              <a:ext uri="{FF2B5EF4-FFF2-40B4-BE49-F238E27FC236}">
                <a16:creationId xmlns:a16="http://schemas.microsoft.com/office/drawing/2014/main" id="{3167650D-02E4-439E-9C54-D840BA47962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5170" y="1752600"/>
            <a:ext cx="5396230" cy="3566160"/>
          </a:xfrm>
          <a:prstGeom prst="rect">
            <a:avLst/>
          </a:prstGeom>
          <a:noFill/>
        </p:spPr>
      </p:pic>
    </p:spTree>
    <p:extLst>
      <p:ext uri="{BB962C8B-B14F-4D97-AF65-F5344CB8AC3E}">
        <p14:creationId xmlns:p14="http://schemas.microsoft.com/office/powerpoint/2010/main" val="405119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2A187-DEEE-4D7B-8305-7DE2DFE83F65}"/>
              </a:ext>
            </a:extLst>
          </p:cNvPr>
          <p:cNvSpPr>
            <a:spLocks noGrp="1"/>
          </p:cNvSpPr>
          <p:nvPr>
            <p:ph type="title"/>
          </p:nvPr>
        </p:nvSpPr>
        <p:spPr>
          <a:xfrm>
            <a:off x="628650" y="533400"/>
            <a:ext cx="8252114" cy="518388"/>
          </a:xfrm>
        </p:spPr>
        <p:txBody>
          <a:bodyPr/>
          <a:lstStyle/>
          <a:p>
            <a:pPr algn="just"/>
            <a:r>
              <a:rPr lang="en-GB" sz="3000" b="1" dirty="0">
                <a:solidFill>
                  <a:srgbClr val="C00000"/>
                </a:solidFill>
              </a:rPr>
              <a:t>Collect/Extract Data</a:t>
            </a:r>
            <a:endParaRPr lang="en-IN" sz="3000" b="1" dirty="0">
              <a:solidFill>
                <a:srgbClr val="C00000"/>
              </a:solidFill>
            </a:endParaRPr>
          </a:p>
        </p:txBody>
      </p:sp>
      <p:sp>
        <p:nvSpPr>
          <p:cNvPr id="3" name="Content Placeholder 2">
            <a:extLst>
              <a:ext uri="{FF2B5EF4-FFF2-40B4-BE49-F238E27FC236}">
                <a16:creationId xmlns:a16="http://schemas.microsoft.com/office/drawing/2014/main" id="{FCAFB02F-A879-4443-888A-DBD2843CD13B}"/>
              </a:ext>
            </a:extLst>
          </p:cNvPr>
          <p:cNvSpPr>
            <a:spLocks noGrp="1"/>
          </p:cNvSpPr>
          <p:nvPr>
            <p:ph idx="1"/>
          </p:nvPr>
        </p:nvSpPr>
        <p:spPr/>
        <p:txBody>
          <a:bodyPr/>
          <a:lstStyle/>
          <a:p>
            <a:pPr marL="0" indent="0" algn="just">
              <a:buNone/>
            </a:pPr>
            <a:r>
              <a:rPr lang="en-GB" sz="2800" dirty="0"/>
              <a:t>The first step in regression model is to collect and/or extract data for the problem identified.  In case of multiple linear regression model, we will have several independent variables. </a:t>
            </a:r>
            <a:endParaRPr lang="en-IN" sz="2800" dirty="0"/>
          </a:p>
        </p:txBody>
      </p:sp>
    </p:spTree>
    <p:extLst>
      <p:ext uri="{BB962C8B-B14F-4D97-AF65-F5344CB8AC3E}">
        <p14:creationId xmlns:p14="http://schemas.microsoft.com/office/powerpoint/2010/main" val="119612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F98E4-2894-4906-81F5-963ECBFF380B}"/>
              </a:ext>
            </a:extLst>
          </p:cNvPr>
          <p:cNvSpPr>
            <a:spLocks noGrp="1"/>
          </p:cNvSpPr>
          <p:nvPr>
            <p:ph type="title"/>
          </p:nvPr>
        </p:nvSpPr>
        <p:spPr>
          <a:xfrm>
            <a:off x="628650" y="472212"/>
            <a:ext cx="8252114" cy="518388"/>
          </a:xfrm>
        </p:spPr>
        <p:txBody>
          <a:bodyPr/>
          <a:lstStyle/>
          <a:p>
            <a:pPr algn="just"/>
            <a:r>
              <a:rPr lang="en-GB" sz="3200" b="1" dirty="0">
                <a:solidFill>
                  <a:srgbClr val="C00000"/>
                </a:solidFill>
              </a:rPr>
              <a:t>Pre-process the Data</a:t>
            </a:r>
            <a:endParaRPr lang="en-IN" sz="3200" dirty="0">
              <a:solidFill>
                <a:srgbClr val="C00000"/>
              </a:solidFill>
            </a:endParaRPr>
          </a:p>
        </p:txBody>
      </p:sp>
      <p:sp>
        <p:nvSpPr>
          <p:cNvPr id="3" name="Content Placeholder 2">
            <a:extLst>
              <a:ext uri="{FF2B5EF4-FFF2-40B4-BE49-F238E27FC236}">
                <a16:creationId xmlns:a16="http://schemas.microsoft.com/office/drawing/2014/main" id="{D048C6D8-FAA7-4D58-8843-6519F6BFEA46}"/>
              </a:ext>
            </a:extLst>
          </p:cNvPr>
          <p:cNvSpPr>
            <a:spLocks noGrp="1"/>
          </p:cNvSpPr>
          <p:nvPr>
            <p:ph idx="1"/>
          </p:nvPr>
        </p:nvSpPr>
        <p:spPr>
          <a:xfrm>
            <a:off x="381000" y="1205346"/>
            <a:ext cx="8499764" cy="5180441"/>
          </a:xfrm>
        </p:spPr>
        <p:txBody>
          <a:bodyPr>
            <a:noAutofit/>
          </a:bodyPr>
          <a:lstStyle/>
          <a:p>
            <a:pPr marL="457200" indent="-457200" algn="just">
              <a:buFont typeface="+mj-lt"/>
              <a:buAutoNum type="arabicParenR"/>
            </a:pPr>
            <a:r>
              <a:rPr lang="en-GB" sz="2400" b="1" dirty="0"/>
              <a:t>Data Quality (measured through several characteristics such as completeness, correctness, etc.): </a:t>
            </a:r>
            <a:r>
              <a:rPr lang="en-GB" sz="2400" dirty="0"/>
              <a:t>Data completeness refers to availability of necessary data for developing the model.</a:t>
            </a:r>
          </a:p>
          <a:p>
            <a:pPr marL="457200" indent="-457200" algn="just">
              <a:buFont typeface="+mj-lt"/>
              <a:buAutoNum type="arabicParenR"/>
            </a:pPr>
            <a:r>
              <a:rPr lang="en-GB" sz="2400" b="1" dirty="0"/>
              <a:t>Missing Data: </a:t>
            </a:r>
            <a:r>
              <a:rPr lang="en-GB" sz="2400" dirty="0"/>
              <a:t>Many variables may have missing values. The data scientist has to come up with a strategy to handle missing values such as data imputation and specific techniques to carry out the imputation.  </a:t>
            </a:r>
            <a:endParaRPr lang="en-IN" sz="2400" dirty="0"/>
          </a:p>
          <a:p>
            <a:pPr marL="457200" indent="-457200">
              <a:buFont typeface="+mj-lt"/>
              <a:buAutoNum type="arabicParenR"/>
            </a:pPr>
            <a:r>
              <a:rPr lang="en-GB" sz="2400" b="1" dirty="0"/>
              <a:t>Handling Qualitative Variables :</a:t>
            </a:r>
            <a:r>
              <a:rPr lang="en-GB" sz="2400" dirty="0"/>
              <a:t>Qualitative variables or categorical variables need to be converted using dummy variables before incorporating them in regression model. </a:t>
            </a:r>
          </a:p>
          <a:p>
            <a:pPr marL="457200" indent="-457200">
              <a:buFont typeface="+mj-lt"/>
              <a:buAutoNum type="arabicParenR"/>
            </a:pPr>
            <a:r>
              <a:rPr lang="en-GB" sz="2400" b="1" dirty="0"/>
              <a:t>Derive new variables</a:t>
            </a:r>
            <a:r>
              <a:rPr lang="en-GB" sz="2400" dirty="0"/>
              <a:t> (such as ratios and interaction variables), which may have better association relationship with the dependent variable.</a:t>
            </a:r>
            <a:endParaRPr lang="en-IN" sz="2400" dirty="0"/>
          </a:p>
          <a:p>
            <a:pPr marL="0" indent="0" algn="just">
              <a:buNone/>
            </a:pPr>
            <a:endParaRPr lang="en-GB" sz="2300" dirty="0"/>
          </a:p>
        </p:txBody>
      </p:sp>
    </p:spTree>
    <p:extLst>
      <p:ext uri="{BB962C8B-B14F-4D97-AF65-F5344CB8AC3E}">
        <p14:creationId xmlns:p14="http://schemas.microsoft.com/office/powerpoint/2010/main" val="179787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E70B-73B5-4D95-A2C4-196F8AC27DDA}"/>
              </a:ext>
            </a:extLst>
          </p:cNvPr>
          <p:cNvSpPr>
            <a:spLocks noGrp="1"/>
          </p:cNvSpPr>
          <p:nvPr>
            <p:ph type="title"/>
          </p:nvPr>
        </p:nvSpPr>
        <p:spPr>
          <a:xfrm>
            <a:off x="609600" y="447222"/>
            <a:ext cx="8252114" cy="518388"/>
          </a:xfrm>
        </p:spPr>
        <p:txBody>
          <a:bodyPr/>
          <a:lstStyle/>
          <a:p>
            <a:pPr algn="just"/>
            <a:r>
              <a:rPr lang="en-GB" sz="3200" b="1" dirty="0">
                <a:solidFill>
                  <a:srgbClr val="C00000"/>
                </a:solidFill>
              </a:rPr>
              <a:t>Perform Descriptive Analytics</a:t>
            </a:r>
            <a:endParaRPr lang="en-IN" sz="3200" b="1" dirty="0">
              <a:solidFill>
                <a:srgbClr val="C00000"/>
              </a:solidFill>
            </a:endParaRPr>
          </a:p>
        </p:txBody>
      </p:sp>
      <p:sp>
        <p:nvSpPr>
          <p:cNvPr id="3" name="Content Placeholder 2">
            <a:extLst>
              <a:ext uri="{FF2B5EF4-FFF2-40B4-BE49-F238E27FC236}">
                <a16:creationId xmlns:a16="http://schemas.microsoft.com/office/drawing/2014/main" id="{D139730D-E472-498C-9BF9-07858046EF73}"/>
              </a:ext>
            </a:extLst>
          </p:cNvPr>
          <p:cNvSpPr>
            <a:spLocks noGrp="1"/>
          </p:cNvSpPr>
          <p:nvPr>
            <p:ph idx="1"/>
          </p:nvPr>
        </p:nvSpPr>
        <p:spPr>
          <a:xfrm>
            <a:off x="457200" y="1205347"/>
            <a:ext cx="8252114" cy="1766453"/>
          </a:xfrm>
        </p:spPr>
        <p:txBody>
          <a:bodyPr>
            <a:normAutofit/>
          </a:bodyPr>
          <a:lstStyle/>
          <a:p>
            <a:pPr algn="just"/>
            <a:r>
              <a:rPr lang="en-GB" sz="2200" dirty="0"/>
              <a:t>It is a good practice to start the MLR model building with descriptive analytics.  In addition to descriptive statistics and data visualizations such as scatter plot and box plot, it is useful to check correlation between different variables since it can provide early warning for issues such as multi-collinearity. </a:t>
            </a:r>
            <a:endParaRPr lang="en-IN" sz="2200" dirty="0"/>
          </a:p>
          <a:p>
            <a:pPr algn="just"/>
            <a:endParaRPr lang="en-IN" sz="2200" dirty="0"/>
          </a:p>
        </p:txBody>
      </p:sp>
      <p:sp>
        <p:nvSpPr>
          <p:cNvPr id="4" name="Title 2">
            <a:extLst>
              <a:ext uri="{FF2B5EF4-FFF2-40B4-BE49-F238E27FC236}">
                <a16:creationId xmlns:a16="http://schemas.microsoft.com/office/drawing/2014/main" id="{0F8ABB12-AB3A-4735-BC08-8C6E9784B3B2}"/>
              </a:ext>
            </a:extLst>
          </p:cNvPr>
          <p:cNvSpPr txBox="1">
            <a:spLocks/>
          </p:cNvSpPr>
          <p:nvPr/>
        </p:nvSpPr>
        <p:spPr>
          <a:xfrm>
            <a:off x="572086" y="2929369"/>
            <a:ext cx="7505114" cy="518388"/>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just" fontAlgn="auto">
              <a:spcAft>
                <a:spcPts val="0"/>
              </a:spcAft>
            </a:pPr>
            <a:r>
              <a:rPr lang="en-GB" sz="3200" b="1" dirty="0">
                <a:solidFill>
                  <a:srgbClr val="C00000"/>
                </a:solidFill>
              </a:rPr>
              <a:t>Modelling Strategy</a:t>
            </a:r>
            <a:endParaRPr lang="en-IN" sz="3200" dirty="0">
              <a:solidFill>
                <a:srgbClr val="C00000"/>
              </a:solidFill>
            </a:endParaRPr>
          </a:p>
        </p:txBody>
      </p:sp>
      <p:sp>
        <p:nvSpPr>
          <p:cNvPr id="5" name="Content Placeholder 3">
            <a:extLst>
              <a:ext uri="{FF2B5EF4-FFF2-40B4-BE49-F238E27FC236}">
                <a16:creationId xmlns:a16="http://schemas.microsoft.com/office/drawing/2014/main" id="{D31E735D-9BBA-4FBF-A24F-383AA26BF77D}"/>
              </a:ext>
            </a:extLst>
          </p:cNvPr>
          <p:cNvSpPr txBox="1">
            <a:spLocks/>
          </p:cNvSpPr>
          <p:nvPr/>
        </p:nvSpPr>
        <p:spPr>
          <a:xfrm>
            <a:off x="488852" y="3591378"/>
            <a:ext cx="8252114" cy="2819400"/>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fontAlgn="auto">
              <a:spcAft>
                <a:spcPts val="0"/>
              </a:spcAft>
            </a:pPr>
            <a:r>
              <a:rPr lang="en-GB" sz="2200" dirty="0"/>
              <a:t>When the number of variables runs into several hundreds, building regression models can get complicated due to multi-collinearity as well as computational complexity since estimation of regression parameters involves matrix inversion (Hat Matrix).</a:t>
            </a:r>
          </a:p>
          <a:p>
            <a:pPr marL="0" indent="0" algn="just" fontAlgn="auto">
              <a:spcAft>
                <a:spcPts val="0"/>
              </a:spcAft>
              <a:buFont typeface="Arial" panose="020B0604020202020204" pitchFamily="34" charset="0"/>
              <a:buNone/>
            </a:pPr>
            <a:endParaRPr lang="en-GB" sz="2200" dirty="0"/>
          </a:p>
          <a:p>
            <a:pPr algn="just" fontAlgn="auto">
              <a:spcAft>
                <a:spcPts val="0"/>
              </a:spcAft>
            </a:pPr>
            <a:r>
              <a:rPr lang="en-GB" sz="2200" dirty="0"/>
              <a:t>The data scientist may also use specific variable selection approaches such as Forward Selection, Backward Elimination or Stepwise Regression </a:t>
            </a:r>
            <a:endParaRPr lang="en-IN" sz="2200" dirty="0"/>
          </a:p>
        </p:txBody>
      </p:sp>
    </p:spTree>
    <p:extLst>
      <p:ext uri="{BB962C8B-B14F-4D97-AF65-F5344CB8AC3E}">
        <p14:creationId xmlns:p14="http://schemas.microsoft.com/office/powerpoint/2010/main" val="328816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xEl>
                                              <p:pRg st="0" end="0"/>
                                            </p:txEl>
                                          </p:spTgt>
                                        </p:tgtEl>
                                        <p:attrNameLst>
                                          <p:attrName>style.visibility</p:attrName>
                                        </p:attrNameLst>
                                      </p:cBhvr>
                                      <p:to>
                                        <p:strVal val="visible"/>
                                      </p:to>
                                    </p:set>
                                    <p:animEffect transition="in" filter="fade">
                                      <p:cBhvr>
                                        <p:cTn id="24" dur="1000"/>
                                        <p:tgtEl>
                                          <p:spTgt spid="5">
                                            <p:txEl>
                                              <p:pRg st="0" end="0"/>
                                            </p:txEl>
                                          </p:spTgt>
                                        </p:tgtEl>
                                      </p:cBhvr>
                                    </p:animEffect>
                                    <p:anim calcmode="lin" valueType="num">
                                      <p:cBhvr>
                                        <p:cTn id="2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Effect transition="in" filter="fade">
                                      <p:cBhvr>
                                        <p:cTn id="31" dur="1000"/>
                                        <p:tgtEl>
                                          <p:spTgt spid="5">
                                            <p:txEl>
                                              <p:pRg st="2" end="2"/>
                                            </p:txEl>
                                          </p:spTgt>
                                        </p:tgtEl>
                                      </p:cBhvr>
                                    </p:animEffect>
                                    <p:anim calcmode="lin" valueType="num">
                                      <p:cBhvr>
                                        <p:cTn id="3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A204A4-E7F0-4B33-B92A-3D34C3957326}"/>
              </a:ext>
            </a:extLst>
          </p:cNvPr>
          <p:cNvSpPr>
            <a:spLocks noGrp="1"/>
          </p:cNvSpPr>
          <p:nvPr>
            <p:ph type="title"/>
          </p:nvPr>
        </p:nvSpPr>
        <p:spPr>
          <a:xfrm>
            <a:off x="304800" y="304800"/>
            <a:ext cx="8574792" cy="702540"/>
          </a:xfrm>
        </p:spPr>
        <p:txBody>
          <a:bodyPr/>
          <a:lstStyle/>
          <a:p>
            <a:r>
              <a:rPr lang="en-GB" sz="2800" b="1" dirty="0">
                <a:solidFill>
                  <a:srgbClr val="C00000"/>
                </a:solidFill>
              </a:rPr>
              <a:t>Divide the Data into Training and Validation Data</a:t>
            </a:r>
            <a:endParaRPr lang="en-IN" sz="2800" dirty="0">
              <a:solidFill>
                <a:srgbClr val="C00000"/>
              </a:solidFill>
            </a:endParaRPr>
          </a:p>
        </p:txBody>
      </p:sp>
      <p:sp>
        <p:nvSpPr>
          <p:cNvPr id="4" name="Content Placeholder 3">
            <a:extLst>
              <a:ext uri="{FF2B5EF4-FFF2-40B4-BE49-F238E27FC236}">
                <a16:creationId xmlns:a16="http://schemas.microsoft.com/office/drawing/2014/main" id="{A089089D-41D0-49D6-838E-FE130792C1AF}"/>
              </a:ext>
            </a:extLst>
          </p:cNvPr>
          <p:cNvSpPr>
            <a:spLocks noGrp="1"/>
          </p:cNvSpPr>
          <p:nvPr>
            <p:ph idx="1"/>
          </p:nvPr>
        </p:nvSpPr>
        <p:spPr>
          <a:xfrm>
            <a:off x="628649" y="1205347"/>
            <a:ext cx="7930609" cy="1766453"/>
          </a:xfrm>
        </p:spPr>
        <p:txBody>
          <a:bodyPr/>
          <a:lstStyle/>
          <a:p>
            <a:pPr marL="0" indent="0" algn="just">
              <a:buNone/>
            </a:pPr>
            <a:r>
              <a:rPr lang="en-GB" sz="2400" dirty="0"/>
              <a:t>The next step is to divide the data into two or more subsets to build and validate the model for final model selection. The data scientist may decide to use cross validation in which several training and validation sets are created randomly for the final model selection.</a:t>
            </a:r>
            <a:endParaRPr lang="en-IN" sz="2400" dirty="0"/>
          </a:p>
          <a:p>
            <a:endParaRPr lang="en-IN" dirty="0"/>
          </a:p>
        </p:txBody>
      </p:sp>
      <p:sp>
        <p:nvSpPr>
          <p:cNvPr id="5" name="Title 2">
            <a:extLst>
              <a:ext uri="{FF2B5EF4-FFF2-40B4-BE49-F238E27FC236}">
                <a16:creationId xmlns:a16="http://schemas.microsoft.com/office/drawing/2014/main" id="{89288377-E9BD-4F77-AEBD-825D9BB03F4F}"/>
              </a:ext>
            </a:extLst>
          </p:cNvPr>
          <p:cNvSpPr txBox="1">
            <a:spLocks/>
          </p:cNvSpPr>
          <p:nvPr/>
        </p:nvSpPr>
        <p:spPr>
          <a:xfrm>
            <a:off x="307145" y="3182702"/>
            <a:ext cx="8252114" cy="518388"/>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just" fontAlgn="auto">
              <a:spcAft>
                <a:spcPts val="0"/>
              </a:spcAft>
            </a:pPr>
            <a:r>
              <a:rPr lang="en-GB" sz="2800" b="1" dirty="0">
                <a:solidFill>
                  <a:srgbClr val="C00000"/>
                </a:solidFill>
              </a:rPr>
              <a:t>Define the Functional Form</a:t>
            </a:r>
            <a:endParaRPr lang="en-IN" sz="2800" dirty="0">
              <a:solidFill>
                <a:srgbClr val="C00000"/>
              </a:solidFill>
            </a:endParaRPr>
          </a:p>
        </p:txBody>
      </p:sp>
      <p:sp>
        <p:nvSpPr>
          <p:cNvPr id="6" name="Content Placeholder 3">
            <a:extLst>
              <a:ext uri="{FF2B5EF4-FFF2-40B4-BE49-F238E27FC236}">
                <a16:creationId xmlns:a16="http://schemas.microsoft.com/office/drawing/2014/main" id="{7A26D424-C1F9-4573-8AEB-2D1A564D5585}"/>
              </a:ext>
            </a:extLst>
          </p:cNvPr>
          <p:cNvSpPr txBox="1">
            <a:spLocks/>
          </p:cNvSpPr>
          <p:nvPr/>
        </p:nvSpPr>
        <p:spPr>
          <a:xfrm>
            <a:off x="628650" y="3911992"/>
            <a:ext cx="7958744" cy="1461653"/>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400" dirty="0"/>
              <a:t>Most data scientists may start with a linear relationship between the dependent and the independent variables. However, the functional form may be changed if there is a lack of fit.</a:t>
            </a:r>
            <a:endParaRPr lang="en-IN" sz="2400" dirty="0"/>
          </a:p>
          <a:p>
            <a:pPr fontAlgn="auto">
              <a:spcAft>
                <a:spcPts val="0"/>
              </a:spcAft>
            </a:pPr>
            <a:endParaRPr lang="en-IN" dirty="0"/>
          </a:p>
        </p:txBody>
      </p:sp>
    </p:spTree>
    <p:extLst>
      <p:ext uri="{BB962C8B-B14F-4D97-AF65-F5344CB8AC3E}">
        <p14:creationId xmlns:p14="http://schemas.microsoft.com/office/powerpoint/2010/main" val="39945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1000"/>
                                        <p:tgtEl>
                                          <p:spTgt spid="6">
                                            <p:txEl>
                                              <p:pRg st="0" end="0"/>
                                            </p:txEl>
                                          </p:spTgt>
                                        </p:tgtEl>
                                      </p:cBhvr>
                                    </p:animEffect>
                                    <p:anim calcmode="lin" valueType="num">
                                      <p:cBhvr>
                                        <p:cTn id="2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5" grpId="0"/>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C8F031-DC49-47D2-B710-237A8CBF1B1C}"/>
              </a:ext>
            </a:extLst>
          </p:cNvPr>
          <p:cNvSpPr>
            <a:spLocks noGrp="1"/>
          </p:cNvSpPr>
          <p:nvPr>
            <p:ph type="title"/>
          </p:nvPr>
        </p:nvSpPr>
        <p:spPr>
          <a:xfrm>
            <a:off x="628650" y="533400"/>
            <a:ext cx="8252114" cy="518388"/>
          </a:xfrm>
        </p:spPr>
        <p:txBody>
          <a:bodyPr/>
          <a:lstStyle/>
          <a:p>
            <a:pPr algn="just"/>
            <a:r>
              <a:rPr lang="en-GB" sz="2800" b="1" dirty="0">
                <a:solidFill>
                  <a:srgbClr val="C00000"/>
                </a:solidFill>
              </a:rPr>
              <a:t>Estimate Regression Parameters</a:t>
            </a:r>
            <a:endParaRPr lang="en-IN" sz="2800" dirty="0">
              <a:solidFill>
                <a:srgbClr val="C00000"/>
              </a:solidFill>
            </a:endParaRPr>
          </a:p>
        </p:txBody>
      </p:sp>
      <p:sp>
        <p:nvSpPr>
          <p:cNvPr id="4" name="Content Placeholder 3">
            <a:extLst>
              <a:ext uri="{FF2B5EF4-FFF2-40B4-BE49-F238E27FC236}">
                <a16:creationId xmlns:a16="http://schemas.microsoft.com/office/drawing/2014/main" id="{81C3279E-6BAE-466C-A888-C7B647D18ABE}"/>
              </a:ext>
            </a:extLst>
          </p:cNvPr>
          <p:cNvSpPr>
            <a:spLocks noGrp="1"/>
          </p:cNvSpPr>
          <p:nvPr>
            <p:ph idx="1"/>
          </p:nvPr>
        </p:nvSpPr>
        <p:spPr>
          <a:xfrm>
            <a:off x="628650" y="1219201"/>
            <a:ext cx="7886700" cy="3931226"/>
          </a:xfrm>
        </p:spPr>
        <p:txBody>
          <a:bodyPr>
            <a:noAutofit/>
          </a:bodyPr>
          <a:lstStyle/>
          <a:p>
            <a:pPr algn="just"/>
            <a:r>
              <a:rPr lang="en-GB" sz="2400" dirty="0"/>
              <a:t>Once the functional form is specified, the next step is to estimate the partial regression coefficients using the method of </a:t>
            </a:r>
            <a:r>
              <a:rPr lang="en-GB" sz="2400" b="1" dirty="0"/>
              <a:t>Ordinary Least Squares</a:t>
            </a:r>
            <a:r>
              <a:rPr lang="en-GB" sz="2400" dirty="0"/>
              <a:t> (OLS). </a:t>
            </a:r>
          </a:p>
          <a:p>
            <a:pPr algn="just"/>
            <a:r>
              <a:rPr lang="en-GB" sz="2400" dirty="0"/>
              <a:t>OLS is used to fit a polygon through a set of data points, such that the sum of the squared distances between the actual observations in the sample and the regression equation is minimized. </a:t>
            </a:r>
          </a:p>
          <a:p>
            <a:pPr algn="just"/>
            <a:r>
              <a:rPr lang="en-GB" sz="2400" dirty="0"/>
              <a:t>OLS provides the </a:t>
            </a:r>
            <a:r>
              <a:rPr lang="en-GB" sz="2400" b="1" dirty="0"/>
              <a:t>Best Linear Unbiased Estimate</a:t>
            </a:r>
            <a:r>
              <a:rPr lang="en-GB" sz="2400" dirty="0"/>
              <a:t> (BLUE), that is,</a:t>
            </a:r>
          </a:p>
          <a:p>
            <a:pPr marL="0" indent="0" algn="just">
              <a:buNone/>
            </a:pPr>
            <a:r>
              <a:rPr lang="en-GB" sz="2400" dirty="0"/>
              <a:t> Where    is the population parameter and         is the estimated parameter value from the sample</a:t>
            </a:r>
            <a:endParaRPr lang="en-IN" sz="2400" dirty="0"/>
          </a:p>
        </p:txBody>
      </p:sp>
      <p:sp>
        <p:nvSpPr>
          <p:cNvPr id="5" name="Rectangle 2">
            <a:extLst>
              <a:ext uri="{FF2B5EF4-FFF2-40B4-BE49-F238E27FC236}">
                <a16:creationId xmlns:a16="http://schemas.microsoft.com/office/drawing/2014/main" id="{6065F0FB-04C8-43DE-A08F-575B2A49194A}"/>
              </a:ext>
            </a:extLst>
          </p:cNvPr>
          <p:cNvSpPr>
            <a:spLocks noChangeArrowheads="1"/>
          </p:cNvSpPr>
          <p:nvPr/>
        </p:nvSpPr>
        <p:spPr bwMode="auto">
          <a:xfrm>
            <a:off x="0" y="2713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sz="2400"/>
          </a:p>
        </p:txBody>
      </p:sp>
      <p:graphicFrame>
        <p:nvGraphicFramePr>
          <p:cNvPr id="6" name="Object 5">
            <a:extLst>
              <a:ext uri="{FF2B5EF4-FFF2-40B4-BE49-F238E27FC236}">
                <a16:creationId xmlns:a16="http://schemas.microsoft.com/office/drawing/2014/main" id="{E0AD3A64-6E24-48F0-9B56-C2D3CF451EC8}"/>
              </a:ext>
            </a:extLst>
          </p:cNvPr>
          <p:cNvGraphicFramePr>
            <a:graphicFrameLocks noChangeAspect="1"/>
          </p:cNvGraphicFramePr>
          <p:nvPr>
            <p:extLst>
              <p:ext uri="{D42A27DB-BD31-4B8C-83A1-F6EECF244321}">
                <p14:modId xmlns:p14="http://schemas.microsoft.com/office/powerpoint/2010/main" val="553898567"/>
              </p:ext>
            </p:extLst>
          </p:nvPr>
        </p:nvGraphicFramePr>
        <p:xfrm>
          <a:off x="6477000" y="4312226"/>
          <a:ext cx="1066800" cy="793174"/>
        </p:xfrm>
        <a:graphic>
          <a:graphicData uri="http://schemas.openxmlformats.org/presentationml/2006/ole">
            <mc:AlternateContent xmlns:mc="http://schemas.openxmlformats.org/markup-compatibility/2006">
              <mc:Choice xmlns:v="urn:schemas-microsoft-com:vml" Requires="v">
                <p:oleObj name="Equation" r:id="rId2" imgW="863225" imgH="507780" progId="Equation.3">
                  <p:embed/>
                </p:oleObj>
              </mc:Choice>
              <mc:Fallback>
                <p:oleObj name="Equation" r:id="rId2" imgW="863225" imgH="50778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4312226"/>
                        <a:ext cx="1066800" cy="793174"/>
                      </a:xfrm>
                      <a:prstGeom prst="rect">
                        <a:avLst/>
                      </a:prstGeom>
                      <a:noFill/>
                    </p:spPr>
                  </p:pic>
                </p:oleObj>
              </mc:Fallback>
            </mc:AlternateContent>
          </a:graphicData>
        </a:graphic>
      </p:graphicFrame>
      <p:cxnSp>
        <p:nvCxnSpPr>
          <p:cNvPr id="8" name="Straight Arrow Connector 7">
            <a:extLst>
              <a:ext uri="{FF2B5EF4-FFF2-40B4-BE49-F238E27FC236}">
                <a16:creationId xmlns:a16="http://schemas.microsoft.com/office/drawing/2014/main" id="{C52ADB30-847E-433B-B079-B194F0850475}"/>
              </a:ext>
            </a:extLst>
          </p:cNvPr>
          <p:cNvCxnSpPr>
            <a:cxnSpLocks/>
          </p:cNvCxnSpPr>
          <p:nvPr/>
        </p:nvCxnSpPr>
        <p:spPr>
          <a:xfrm>
            <a:off x="1752600" y="4572000"/>
            <a:ext cx="0" cy="3048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12" name="Object 11">
            <a:extLst>
              <a:ext uri="{FF2B5EF4-FFF2-40B4-BE49-F238E27FC236}">
                <a16:creationId xmlns:a16="http://schemas.microsoft.com/office/drawing/2014/main" id="{8FB88A17-7B09-4C39-80A6-887B640680ED}"/>
              </a:ext>
            </a:extLst>
          </p:cNvPr>
          <p:cNvGraphicFramePr>
            <a:graphicFrameLocks noChangeAspect="1"/>
          </p:cNvGraphicFramePr>
          <p:nvPr>
            <p:extLst>
              <p:ext uri="{D42A27DB-BD31-4B8C-83A1-F6EECF244321}">
                <p14:modId xmlns:p14="http://schemas.microsoft.com/office/powerpoint/2010/main" val="1635194710"/>
              </p:ext>
            </p:extLst>
          </p:nvPr>
        </p:nvGraphicFramePr>
        <p:xfrm>
          <a:off x="1752600" y="4388426"/>
          <a:ext cx="377625" cy="507424"/>
        </p:xfrm>
        <a:graphic>
          <a:graphicData uri="http://schemas.openxmlformats.org/presentationml/2006/ole">
            <mc:AlternateContent xmlns:mc="http://schemas.openxmlformats.org/markup-compatibility/2006">
              <mc:Choice xmlns:v="urn:schemas-microsoft-com:vml" Requires="v">
                <p:oleObj name="Equation" r:id="rId4" imgW="152334" imgH="342751" progId="Equation.3">
                  <p:embed/>
                </p:oleObj>
              </mc:Choice>
              <mc:Fallback>
                <p:oleObj name="Equation" r:id="rId4" imgW="152334" imgH="34275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4388426"/>
                        <a:ext cx="377625" cy="507424"/>
                      </a:xfrm>
                      <a:prstGeom prst="rect">
                        <a:avLst/>
                      </a:prstGeom>
                      <a:noFill/>
                    </p:spPr>
                  </p:pic>
                </p:oleObj>
              </mc:Fallback>
            </mc:AlternateContent>
          </a:graphicData>
        </a:graphic>
      </p:graphicFrame>
    </p:spTree>
    <p:extLst>
      <p:ext uri="{BB962C8B-B14F-4D97-AF65-F5344CB8AC3E}">
        <p14:creationId xmlns:p14="http://schemas.microsoft.com/office/powerpoint/2010/main" val="249662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36165-A74C-4734-B228-867ACF386F0C}"/>
              </a:ext>
            </a:extLst>
          </p:cNvPr>
          <p:cNvSpPr>
            <a:spLocks noGrp="1"/>
          </p:cNvSpPr>
          <p:nvPr>
            <p:ph type="title"/>
          </p:nvPr>
        </p:nvSpPr>
        <p:spPr>
          <a:xfrm>
            <a:off x="685800" y="508768"/>
            <a:ext cx="8252114" cy="518388"/>
          </a:xfrm>
        </p:spPr>
        <p:txBody>
          <a:bodyPr/>
          <a:lstStyle/>
          <a:p>
            <a:pPr algn="just"/>
            <a:r>
              <a:rPr lang="en-GB" sz="2800" b="1" dirty="0">
                <a:solidFill>
                  <a:srgbClr val="C00000"/>
                </a:solidFill>
              </a:rPr>
              <a:t>Perform Regression Model Diagnostics</a:t>
            </a:r>
            <a:endParaRPr lang="en-IN" sz="2800" dirty="0">
              <a:solidFill>
                <a:srgbClr val="C00000"/>
              </a:solidFill>
            </a:endParaRPr>
          </a:p>
        </p:txBody>
      </p:sp>
      <p:sp>
        <p:nvSpPr>
          <p:cNvPr id="3" name="Content Placeholder 2">
            <a:extLst>
              <a:ext uri="{FF2B5EF4-FFF2-40B4-BE49-F238E27FC236}">
                <a16:creationId xmlns:a16="http://schemas.microsoft.com/office/drawing/2014/main" id="{4B1CEE51-8BBD-4868-BEB4-EB9F8D971B8F}"/>
              </a:ext>
            </a:extLst>
          </p:cNvPr>
          <p:cNvSpPr>
            <a:spLocks noGrp="1"/>
          </p:cNvSpPr>
          <p:nvPr>
            <p:ph idx="1"/>
          </p:nvPr>
        </p:nvSpPr>
        <p:spPr>
          <a:xfrm>
            <a:off x="652975" y="1219200"/>
            <a:ext cx="7886700" cy="1690253"/>
          </a:xfrm>
        </p:spPr>
        <p:txBody>
          <a:bodyPr>
            <a:normAutofit lnSpcReduction="10000"/>
          </a:bodyPr>
          <a:lstStyle/>
          <a:p>
            <a:pPr marL="0" indent="0" algn="just">
              <a:buNone/>
            </a:pPr>
            <a:r>
              <a:rPr lang="en-GB" sz="2400" dirty="0"/>
              <a:t>F-test is used for checking the overall significance of the model whereas t-tests are used to check the significance of the individual variables. Presence of multi-collinearity can be checked through measures such as </a:t>
            </a:r>
            <a:r>
              <a:rPr lang="en-GB" sz="2400" b="1" dirty="0"/>
              <a:t>Variance Inflation Factor</a:t>
            </a:r>
            <a:r>
              <a:rPr lang="en-GB" sz="2400" dirty="0"/>
              <a:t> (VIF). </a:t>
            </a:r>
            <a:endParaRPr lang="en-IN" sz="2400" dirty="0"/>
          </a:p>
        </p:txBody>
      </p:sp>
    </p:spTree>
    <p:extLst>
      <p:ext uri="{BB962C8B-B14F-4D97-AF65-F5344CB8AC3E}">
        <p14:creationId xmlns:p14="http://schemas.microsoft.com/office/powerpoint/2010/main" val="40019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B42E-B771-4604-B4B8-F0A750CE910D}"/>
              </a:ext>
            </a:extLst>
          </p:cNvPr>
          <p:cNvSpPr>
            <a:spLocks noGrp="1"/>
          </p:cNvSpPr>
          <p:nvPr>
            <p:ph type="title"/>
          </p:nvPr>
        </p:nvSpPr>
        <p:spPr>
          <a:xfrm>
            <a:off x="628650" y="500562"/>
            <a:ext cx="8252114" cy="518388"/>
          </a:xfrm>
        </p:spPr>
        <p:txBody>
          <a:bodyPr/>
          <a:lstStyle/>
          <a:p>
            <a:pPr algn="just"/>
            <a:r>
              <a:rPr lang="en-GB" sz="2800" b="1" dirty="0">
                <a:solidFill>
                  <a:srgbClr val="C00000"/>
                </a:solidFill>
              </a:rPr>
              <a:t>Validate the Model using Validation Data</a:t>
            </a:r>
            <a:endParaRPr lang="en-IN" sz="2800" dirty="0">
              <a:solidFill>
                <a:srgbClr val="C00000"/>
              </a:solidFill>
            </a:endParaRPr>
          </a:p>
        </p:txBody>
      </p:sp>
      <p:sp>
        <p:nvSpPr>
          <p:cNvPr id="3" name="Content Placeholder 2">
            <a:extLst>
              <a:ext uri="{FF2B5EF4-FFF2-40B4-BE49-F238E27FC236}">
                <a16:creationId xmlns:a16="http://schemas.microsoft.com/office/drawing/2014/main" id="{3A081148-A4F7-4CF3-AC2B-D93360BE5229}"/>
              </a:ext>
            </a:extLst>
          </p:cNvPr>
          <p:cNvSpPr>
            <a:spLocks noGrp="1"/>
          </p:cNvSpPr>
          <p:nvPr>
            <p:ph idx="1"/>
          </p:nvPr>
        </p:nvSpPr>
        <p:spPr>
          <a:xfrm>
            <a:off x="628650" y="1205347"/>
            <a:ext cx="8134350" cy="3900053"/>
          </a:xfrm>
        </p:spPr>
        <p:txBody>
          <a:bodyPr/>
          <a:lstStyle/>
          <a:p>
            <a:pPr marL="0" indent="0" algn="just">
              <a:buNone/>
            </a:pPr>
            <a:r>
              <a:rPr lang="en-GB" sz="2400" dirty="0"/>
              <a:t>The measures that can be used for validating the model in the validation data are as follows:</a:t>
            </a:r>
          </a:p>
          <a:p>
            <a:pPr marL="0" indent="0" algn="just">
              <a:buNone/>
            </a:pPr>
            <a:endParaRPr lang="en-GB" sz="2400" dirty="0"/>
          </a:p>
          <a:p>
            <a:pPr algn="just"/>
            <a:r>
              <a:rPr lang="en-GB" sz="2400" i="1" dirty="0"/>
              <a:t>R</a:t>
            </a:r>
            <a:r>
              <a:rPr lang="en-GB" sz="2400" i="1" baseline="30000" dirty="0"/>
              <a:t>2</a:t>
            </a:r>
            <a:r>
              <a:rPr lang="en-GB" sz="2400" dirty="0"/>
              <a:t> or Adjusted </a:t>
            </a:r>
            <a:r>
              <a:rPr lang="en-GB" sz="2400" i="1" dirty="0"/>
              <a:t>R</a:t>
            </a:r>
            <a:r>
              <a:rPr lang="en-GB" sz="2400" i="1" baseline="30000" dirty="0"/>
              <a:t>2</a:t>
            </a:r>
          </a:p>
          <a:p>
            <a:pPr algn="just"/>
            <a:r>
              <a:rPr lang="en-GB" sz="2400" dirty="0"/>
              <a:t>Mean absolute percentage error,                  where </a:t>
            </a:r>
            <a:r>
              <a:rPr lang="en-GB" sz="2400" i="1" dirty="0"/>
              <a:t>K</a:t>
            </a:r>
            <a:r>
              <a:rPr lang="en-GB" sz="2400" dirty="0"/>
              <a:t> is the number of cases in the validation data.</a:t>
            </a:r>
            <a:endParaRPr lang="en-IN" sz="2400" dirty="0"/>
          </a:p>
          <a:p>
            <a:pPr algn="just"/>
            <a:r>
              <a:rPr lang="en-GB" sz="2400" dirty="0"/>
              <a:t> Root Mean Square Error (RMSE), </a:t>
            </a:r>
            <a:endParaRPr lang="en-IN" sz="2400" dirty="0"/>
          </a:p>
          <a:p>
            <a:pPr marL="0" indent="0">
              <a:buNone/>
            </a:pPr>
            <a:endParaRPr lang="en-IN" sz="2400" dirty="0"/>
          </a:p>
          <a:p>
            <a:endParaRPr lang="en-IN" dirty="0"/>
          </a:p>
        </p:txBody>
      </p:sp>
      <p:sp>
        <p:nvSpPr>
          <p:cNvPr id="4" name="Rectangle 2">
            <a:extLst>
              <a:ext uri="{FF2B5EF4-FFF2-40B4-BE49-F238E27FC236}">
                <a16:creationId xmlns:a16="http://schemas.microsoft.com/office/drawing/2014/main" id="{307ED9B7-31EA-48A4-ADF8-EBEA80A435F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6FB2134-01EE-48A4-A5F0-52FC32188A58}"/>
              </a:ext>
            </a:extLst>
          </p:cNvPr>
          <p:cNvGraphicFramePr>
            <a:graphicFrameLocks noChangeAspect="1"/>
          </p:cNvGraphicFramePr>
          <p:nvPr>
            <p:extLst>
              <p:ext uri="{D42A27DB-BD31-4B8C-83A1-F6EECF244321}">
                <p14:modId xmlns:p14="http://schemas.microsoft.com/office/powerpoint/2010/main" val="2601984217"/>
              </p:ext>
            </p:extLst>
          </p:nvPr>
        </p:nvGraphicFramePr>
        <p:xfrm>
          <a:off x="5181600" y="2633296"/>
          <a:ext cx="1512643" cy="819150"/>
        </p:xfrm>
        <a:graphic>
          <a:graphicData uri="http://schemas.openxmlformats.org/presentationml/2006/ole">
            <mc:AlternateContent xmlns:mc="http://schemas.openxmlformats.org/markup-compatibility/2006">
              <mc:Choice xmlns:v="urn:schemas-microsoft-com:vml" Requires="v">
                <p:oleObj name="Equation" r:id="rId2" imgW="1231366" imgH="672808" progId="Equation.3">
                  <p:embed/>
                </p:oleObj>
              </mc:Choice>
              <mc:Fallback>
                <p:oleObj name="Equation" r:id="rId2" imgW="1231366" imgH="672808"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2633296"/>
                        <a:ext cx="1512643" cy="819150"/>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93356C37-DF7B-4C43-B1D9-B76F60DA0C9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D61A0331-A4EB-4C8D-B9E5-7F4899936F88}"/>
              </a:ext>
            </a:extLst>
          </p:cNvPr>
          <p:cNvGraphicFramePr>
            <a:graphicFrameLocks noChangeAspect="1"/>
          </p:cNvGraphicFramePr>
          <p:nvPr>
            <p:extLst>
              <p:ext uri="{D42A27DB-BD31-4B8C-83A1-F6EECF244321}">
                <p14:modId xmlns:p14="http://schemas.microsoft.com/office/powerpoint/2010/main" val="1695984971"/>
              </p:ext>
            </p:extLst>
          </p:nvPr>
        </p:nvGraphicFramePr>
        <p:xfrm>
          <a:off x="1828800" y="4191000"/>
          <a:ext cx="1905000" cy="762000"/>
        </p:xfrm>
        <a:graphic>
          <a:graphicData uri="http://schemas.openxmlformats.org/presentationml/2006/ole">
            <mc:AlternateContent xmlns:mc="http://schemas.openxmlformats.org/markup-compatibility/2006">
              <mc:Choice xmlns:v="urn:schemas-microsoft-com:vml" Requires="v">
                <p:oleObj name="Equation" r:id="rId4" imgW="1028700" imgH="596900" progId="Equation.3">
                  <p:embed/>
                </p:oleObj>
              </mc:Choice>
              <mc:Fallback>
                <p:oleObj name="Equation" r:id="rId4" imgW="1028700" imgH="596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4191000"/>
                        <a:ext cx="1905000" cy="762000"/>
                      </a:xfrm>
                      <a:prstGeom prst="rect">
                        <a:avLst/>
                      </a:prstGeom>
                      <a:noFill/>
                    </p:spPr>
                  </p:pic>
                </p:oleObj>
              </mc:Fallback>
            </mc:AlternateContent>
          </a:graphicData>
        </a:graphic>
      </p:graphicFrame>
    </p:spTree>
    <p:extLst>
      <p:ext uri="{BB962C8B-B14F-4D97-AF65-F5344CB8AC3E}">
        <p14:creationId xmlns:p14="http://schemas.microsoft.com/office/powerpoint/2010/main" val="202039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779B1B-6213-4A3D-BEDB-D0C434BEFA0A}"/>
              </a:ext>
            </a:extLst>
          </p:cNvPr>
          <p:cNvSpPr>
            <a:spLocks noGrp="1"/>
          </p:cNvSpPr>
          <p:nvPr>
            <p:ph type="title"/>
          </p:nvPr>
        </p:nvSpPr>
        <p:spPr>
          <a:xfrm>
            <a:off x="628650" y="533400"/>
            <a:ext cx="8252114" cy="518388"/>
          </a:xfrm>
        </p:spPr>
        <p:txBody>
          <a:bodyPr/>
          <a:lstStyle/>
          <a:p>
            <a:pPr algn="just"/>
            <a:r>
              <a:rPr lang="en-GB" sz="2800" b="1" dirty="0">
                <a:solidFill>
                  <a:srgbClr val="C00000"/>
                </a:solidFill>
              </a:rPr>
              <a:t>Deploy the Model</a:t>
            </a:r>
            <a:endParaRPr lang="en-IN" sz="2800" dirty="0">
              <a:solidFill>
                <a:srgbClr val="C00000"/>
              </a:solidFill>
            </a:endParaRPr>
          </a:p>
        </p:txBody>
      </p:sp>
      <p:sp>
        <p:nvSpPr>
          <p:cNvPr id="4" name="Content Placeholder 3">
            <a:extLst>
              <a:ext uri="{FF2B5EF4-FFF2-40B4-BE49-F238E27FC236}">
                <a16:creationId xmlns:a16="http://schemas.microsoft.com/office/drawing/2014/main" id="{B1EE1832-372D-4A1A-8D7C-820BFFA7C222}"/>
              </a:ext>
            </a:extLst>
          </p:cNvPr>
          <p:cNvSpPr>
            <a:spLocks noGrp="1"/>
          </p:cNvSpPr>
          <p:nvPr>
            <p:ph idx="1"/>
          </p:nvPr>
        </p:nvSpPr>
        <p:spPr>
          <a:xfrm>
            <a:off x="627478" y="2362200"/>
            <a:ext cx="7886700" cy="928253"/>
          </a:xfrm>
        </p:spPr>
        <p:txBody>
          <a:bodyPr/>
          <a:lstStyle/>
          <a:p>
            <a:pPr marL="0" indent="0" algn="just">
              <a:buNone/>
            </a:pPr>
            <a:r>
              <a:rPr lang="en-GB" sz="2800" dirty="0"/>
              <a:t>The final step in the regression model is to generate actionable items and the implementation plan. </a:t>
            </a:r>
            <a:endParaRPr lang="en-IN" sz="2800" dirty="0"/>
          </a:p>
        </p:txBody>
      </p:sp>
    </p:spTree>
    <p:extLst>
      <p:ext uri="{BB962C8B-B14F-4D97-AF65-F5344CB8AC3E}">
        <p14:creationId xmlns:p14="http://schemas.microsoft.com/office/powerpoint/2010/main" val="142469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4C72C0-4372-4E19-9DF3-F17DC519E403}"/>
              </a:ext>
            </a:extLst>
          </p:cNvPr>
          <p:cNvSpPr>
            <a:spLocks noGrp="1"/>
          </p:cNvSpPr>
          <p:nvPr>
            <p:ph type="title"/>
          </p:nvPr>
        </p:nvSpPr>
        <p:spPr>
          <a:xfrm>
            <a:off x="628651" y="353353"/>
            <a:ext cx="8252114" cy="713437"/>
          </a:xfrm>
        </p:spPr>
        <p:txBody>
          <a:bodyPr/>
          <a:lstStyle/>
          <a:p>
            <a:pPr algn="just"/>
            <a:r>
              <a:rPr lang="en-GB" sz="2800" b="1" dirty="0">
                <a:solidFill>
                  <a:srgbClr val="C00000"/>
                </a:solidFill>
              </a:rPr>
              <a:t>Part (Semi-Partial) Correlation and Regression Model Building</a:t>
            </a:r>
            <a:endParaRPr lang="en-IN" sz="2800" dirty="0">
              <a:solidFill>
                <a:srgbClr val="C00000"/>
              </a:solidFill>
            </a:endParaRPr>
          </a:p>
        </p:txBody>
      </p:sp>
      <p:sp>
        <p:nvSpPr>
          <p:cNvPr id="4" name="Content Placeholder 3">
            <a:extLst>
              <a:ext uri="{FF2B5EF4-FFF2-40B4-BE49-F238E27FC236}">
                <a16:creationId xmlns:a16="http://schemas.microsoft.com/office/drawing/2014/main" id="{5E3C7A73-3073-4FC9-BAD0-B4D17CD9D217}"/>
              </a:ext>
            </a:extLst>
          </p:cNvPr>
          <p:cNvSpPr>
            <a:spLocks noGrp="1"/>
          </p:cNvSpPr>
          <p:nvPr>
            <p:ph idx="1"/>
          </p:nvPr>
        </p:nvSpPr>
        <p:spPr>
          <a:xfrm>
            <a:off x="628650" y="1676400"/>
            <a:ext cx="7886700" cy="2376050"/>
          </a:xfrm>
        </p:spPr>
        <p:txBody>
          <a:bodyPr/>
          <a:lstStyle/>
          <a:p>
            <a:pPr marL="0" indent="0" algn="just">
              <a:buNone/>
            </a:pPr>
            <a:r>
              <a:rPr lang="en-GB" sz="2400" dirty="0"/>
              <a:t>The increase in the coefficient of determination, </a:t>
            </a:r>
            <a:r>
              <a:rPr lang="en-GB" sz="2400" i="1" dirty="0"/>
              <a:t>R</a:t>
            </a:r>
            <a:r>
              <a:rPr lang="en-GB" sz="2400" i="1" baseline="30000" dirty="0"/>
              <a:t>2</a:t>
            </a:r>
            <a:r>
              <a:rPr lang="en-GB" sz="2400" dirty="0"/>
              <a:t>, when a new variable is added is given by the square of the semi-partial correlation of the newly added variable with dependent variable Y. </a:t>
            </a:r>
          </a:p>
          <a:p>
            <a:pPr marL="0" indent="0" algn="just">
              <a:buNone/>
            </a:pPr>
            <a:r>
              <a:rPr lang="en-GB" sz="2400" dirty="0"/>
              <a:t>Consider a regression model with two independent variables (say </a:t>
            </a:r>
            <a:r>
              <a:rPr lang="en-GB" sz="2400" i="1" dirty="0"/>
              <a:t>X</a:t>
            </a:r>
            <a:r>
              <a:rPr lang="en-GB" sz="2400" baseline="-25000" dirty="0"/>
              <a:t>1</a:t>
            </a:r>
            <a:r>
              <a:rPr lang="en-GB" sz="2400" dirty="0"/>
              <a:t> and </a:t>
            </a:r>
            <a:r>
              <a:rPr lang="en-GB" sz="2400" i="1" dirty="0"/>
              <a:t>X</a:t>
            </a:r>
            <a:r>
              <a:rPr lang="en-GB" sz="2400" baseline="-25000" dirty="0"/>
              <a:t>2</a:t>
            </a:r>
            <a:r>
              <a:rPr lang="en-GB" sz="2400" dirty="0"/>
              <a:t>). The model can be written as follows:</a:t>
            </a:r>
            <a:endParaRPr lang="en-IN" sz="2400" dirty="0"/>
          </a:p>
          <a:p>
            <a:pPr marL="0" indent="0">
              <a:buNone/>
            </a:pPr>
            <a:endParaRPr lang="en-IN" sz="2400" dirty="0"/>
          </a:p>
        </p:txBody>
      </p:sp>
      <p:sp>
        <p:nvSpPr>
          <p:cNvPr id="2" name="Rectangle 2">
            <a:extLst>
              <a:ext uri="{FF2B5EF4-FFF2-40B4-BE49-F238E27FC236}">
                <a16:creationId xmlns:a16="http://schemas.microsoft.com/office/drawing/2014/main" id="{9C485923-7896-40AC-B88B-10C33690731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73F264C8-1A6E-4664-B634-11C8478AFA9F}"/>
              </a:ext>
            </a:extLst>
          </p:cNvPr>
          <p:cNvGraphicFramePr>
            <a:graphicFrameLocks noChangeAspect="1"/>
          </p:cNvGraphicFramePr>
          <p:nvPr>
            <p:extLst>
              <p:ext uri="{D42A27DB-BD31-4B8C-83A1-F6EECF244321}">
                <p14:modId xmlns:p14="http://schemas.microsoft.com/office/powerpoint/2010/main" val="4211431897"/>
              </p:ext>
            </p:extLst>
          </p:nvPr>
        </p:nvGraphicFramePr>
        <p:xfrm>
          <a:off x="1676400" y="4343401"/>
          <a:ext cx="4800600" cy="533400"/>
        </p:xfrm>
        <a:graphic>
          <a:graphicData uri="http://schemas.openxmlformats.org/presentationml/2006/ole">
            <mc:AlternateContent xmlns:mc="http://schemas.openxmlformats.org/markup-compatibility/2006">
              <mc:Choice xmlns:v="urn:schemas-microsoft-com:vml" Requires="v">
                <p:oleObj name="Equation" r:id="rId2" imgW="1689100" imgH="228600" progId="Equation.3">
                  <p:embed/>
                </p:oleObj>
              </mc:Choice>
              <mc:Fallback>
                <p:oleObj name="Equation" r:id="rId2" imgW="1689100" imgH="228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343401"/>
                        <a:ext cx="4800600" cy="5334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420054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078-A027-47E9-A283-6934B86FBBFE}"/>
              </a:ext>
            </a:extLst>
          </p:cNvPr>
          <p:cNvSpPr>
            <a:spLocks noGrp="1"/>
          </p:cNvSpPr>
          <p:nvPr>
            <p:ph type="title"/>
          </p:nvPr>
        </p:nvSpPr>
        <p:spPr>
          <a:xfrm>
            <a:off x="628650" y="533400"/>
            <a:ext cx="8252114" cy="518388"/>
          </a:xfrm>
        </p:spPr>
        <p:txBody>
          <a:bodyPr/>
          <a:lstStyle/>
          <a:p>
            <a:pPr algn="just"/>
            <a:r>
              <a:rPr lang="en-GB" sz="2800" b="1" dirty="0">
                <a:solidFill>
                  <a:srgbClr val="C00000"/>
                </a:solidFill>
              </a:rPr>
              <a:t>Partial Correlation</a:t>
            </a:r>
            <a:endParaRPr lang="en-IN" sz="2800" b="1" dirty="0">
              <a:solidFill>
                <a:srgbClr val="C00000"/>
              </a:solidFill>
            </a:endParaRPr>
          </a:p>
        </p:txBody>
      </p:sp>
      <p:sp>
        <p:nvSpPr>
          <p:cNvPr id="3" name="Content Placeholder 2">
            <a:extLst>
              <a:ext uri="{FF2B5EF4-FFF2-40B4-BE49-F238E27FC236}">
                <a16:creationId xmlns:a16="http://schemas.microsoft.com/office/drawing/2014/main" id="{36487BF4-767F-471D-9576-309C12257A17}"/>
              </a:ext>
            </a:extLst>
          </p:cNvPr>
          <p:cNvSpPr>
            <a:spLocks noGrp="1"/>
          </p:cNvSpPr>
          <p:nvPr>
            <p:ph idx="1"/>
          </p:nvPr>
        </p:nvSpPr>
        <p:spPr>
          <a:xfrm>
            <a:off x="533400" y="1205347"/>
            <a:ext cx="8252114" cy="2757053"/>
          </a:xfrm>
        </p:spPr>
        <p:txBody>
          <a:bodyPr/>
          <a:lstStyle/>
          <a:p>
            <a:pPr algn="just"/>
            <a:r>
              <a:rPr lang="en-GB" sz="2400" dirty="0"/>
              <a:t>Partial correlation is the correlation between the response variable </a:t>
            </a:r>
            <a:r>
              <a:rPr lang="en-GB" sz="2400" i="1" dirty="0"/>
              <a:t>Y</a:t>
            </a:r>
            <a:r>
              <a:rPr lang="en-GB" sz="2400" dirty="0"/>
              <a:t> and the explanatory variable </a:t>
            </a:r>
            <a:r>
              <a:rPr lang="en-GB" sz="2400" i="1" dirty="0"/>
              <a:t>X</a:t>
            </a:r>
            <a:r>
              <a:rPr lang="en-GB" sz="2400" baseline="-25000" dirty="0"/>
              <a:t>1</a:t>
            </a:r>
            <a:r>
              <a:rPr lang="en-GB" sz="2400" dirty="0"/>
              <a:t> when influence of </a:t>
            </a:r>
            <a:r>
              <a:rPr lang="en-GB" sz="2400" i="1" dirty="0"/>
              <a:t>X</a:t>
            </a:r>
            <a:r>
              <a:rPr lang="en-GB" sz="2400" baseline="-25000" dirty="0"/>
              <a:t>2</a:t>
            </a:r>
            <a:r>
              <a:rPr lang="en-GB" sz="2400" dirty="0"/>
              <a:t> is removed from both </a:t>
            </a:r>
            <a:r>
              <a:rPr lang="en-GB" sz="2400" i="1" dirty="0"/>
              <a:t>Y</a:t>
            </a:r>
            <a:r>
              <a:rPr lang="en-GB" sz="2400" dirty="0"/>
              <a:t> and </a:t>
            </a:r>
            <a:r>
              <a:rPr lang="en-GB" sz="2400" i="1" dirty="0"/>
              <a:t>X</a:t>
            </a:r>
            <a:r>
              <a:rPr lang="en-GB" sz="2400" baseline="-25000" dirty="0"/>
              <a:t>1</a:t>
            </a:r>
            <a:r>
              <a:rPr lang="en-GB" sz="2400" dirty="0"/>
              <a:t> (in other words, when </a:t>
            </a:r>
            <a:r>
              <a:rPr lang="en-GB" sz="2400" i="1" dirty="0"/>
              <a:t>X</a:t>
            </a:r>
            <a:r>
              <a:rPr lang="en-GB" sz="2400" baseline="-25000" dirty="0"/>
              <a:t>2</a:t>
            </a:r>
            <a:r>
              <a:rPr lang="en-GB" sz="2400" dirty="0"/>
              <a:t> is kept constant).</a:t>
            </a:r>
          </a:p>
          <a:p>
            <a:pPr algn="just"/>
            <a:endParaRPr lang="en-GB" sz="2400" dirty="0"/>
          </a:p>
          <a:p>
            <a:pPr algn="just"/>
            <a:r>
              <a:rPr lang="en-GB" sz="2400" dirty="0"/>
              <a:t>Alternatively, partial correlation is the correlation between </a:t>
            </a:r>
            <a:r>
              <a:rPr lang="en-GB" sz="2400" dirty="0" err="1"/>
              <a:t>residualized</a:t>
            </a:r>
            <a:r>
              <a:rPr lang="en-GB" sz="2400" dirty="0"/>
              <a:t> response and </a:t>
            </a:r>
            <a:r>
              <a:rPr lang="en-GB" sz="2400" dirty="0" err="1"/>
              <a:t>residualized</a:t>
            </a:r>
            <a:r>
              <a:rPr lang="en-GB" sz="2400" dirty="0"/>
              <a:t> explanatory variables.</a:t>
            </a:r>
            <a:endParaRPr lang="en-IN" sz="2400" dirty="0"/>
          </a:p>
        </p:txBody>
      </p:sp>
      <p:sp>
        <p:nvSpPr>
          <p:cNvPr id="4" name="Content Placeholder 3">
            <a:extLst>
              <a:ext uri="{FF2B5EF4-FFF2-40B4-BE49-F238E27FC236}">
                <a16:creationId xmlns:a16="http://schemas.microsoft.com/office/drawing/2014/main" id="{AE76A4D4-0085-41DF-B709-5D7450C2211C}"/>
              </a:ext>
            </a:extLst>
          </p:cNvPr>
          <p:cNvSpPr txBox="1">
            <a:spLocks/>
          </p:cNvSpPr>
          <p:nvPr/>
        </p:nvSpPr>
        <p:spPr>
          <a:xfrm>
            <a:off x="663818" y="4115959"/>
            <a:ext cx="8121695" cy="100445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fontAlgn="auto">
              <a:spcAft>
                <a:spcPts val="0"/>
              </a:spcAft>
              <a:buFont typeface="Arial" panose="020B0604020202020204" pitchFamily="34" charset="0"/>
              <a:buNone/>
            </a:pPr>
            <a:r>
              <a:rPr lang="en-GB" sz="2400" dirty="0"/>
              <a:t>Let          denote the partial correlation between </a:t>
            </a:r>
            <a:r>
              <a:rPr lang="en-GB" sz="2400" i="1" dirty="0"/>
              <a:t>Y</a:t>
            </a:r>
            <a:r>
              <a:rPr lang="en-GB" sz="2400" dirty="0"/>
              <a:t> and </a:t>
            </a:r>
            <a:r>
              <a:rPr lang="en-GB" sz="2400" i="1" dirty="0"/>
              <a:t>X</a:t>
            </a:r>
            <a:r>
              <a:rPr lang="en-GB" sz="2400" baseline="-25000" dirty="0"/>
              <a:t>1</a:t>
            </a:r>
            <a:r>
              <a:rPr lang="en-GB" sz="2400" dirty="0"/>
              <a:t> when </a:t>
            </a:r>
            <a:r>
              <a:rPr lang="en-GB" sz="2400" i="1" dirty="0"/>
              <a:t>X</a:t>
            </a:r>
            <a:r>
              <a:rPr lang="en-GB" sz="2400" baseline="-25000" dirty="0"/>
              <a:t>2</a:t>
            </a:r>
            <a:r>
              <a:rPr lang="en-GB" sz="2400" dirty="0"/>
              <a:t> is kept constant. Then            is given by              </a:t>
            </a:r>
            <a:endParaRPr lang="en-IN" sz="2400" dirty="0"/>
          </a:p>
        </p:txBody>
      </p:sp>
      <p:graphicFrame>
        <p:nvGraphicFramePr>
          <p:cNvPr id="5" name="Object 4">
            <a:extLst>
              <a:ext uri="{FF2B5EF4-FFF2-40B4-BE49-F238E27FC236}">
                <a16:creationId xmlns:a16="http://schemas.microsoft.com/office/drawing/2014/main" id="{3EE76922-5BDD-4CC0-AA23-CFDCEC3E0FB6}"/>
              </a:ext>
            </a:extLst>
          </p:cNvPr>
          <p:cNvGraphicFramePr>
            <a:graphicFrameLocks noChangeAspect="1"/>
          </p:cNvGraphicFramePr>
          <p:nvPr>
            <p:extLst>
              <p:ext uri="{D42A27DB-BD31-4B8C-83A1-F6EECF244321}">
                <p14:modId xmlns:p14="http://schemas.microsoft.com/office/powerpoint/2010/main" val="2162806029"/>
              </p:ext>
            </p:extLst>
          </p:nvPr>
        </p:nvGraphicFramePr>
        <p:xfrm>
          <a:off x="1295400" y="4067785"/>
          <a:ext cx="990600" cy="428015"/>
        </p:xfrm>
        <a:graphic>
          <a:graphicData uri="http://schemas.openxmlformats.org/presentationml/2006/ole">
            <mc:AlternateContent xmlns:mc="http://schemas.openxmlformats.org/markup-compatibility/2006">
              <mc:Choice xmlns:v="urn:schemas-microsoft-com:vml" Requires="v">
                <p:oleObj name="Equation" r:id="rId2" imgW="507780" imgH="253890" progId="Equation.3">
                  <p:embed/>
                </p:oleObj>
              </mc:Choice>
              <mc:Fallback>
                <p:oleObj name="Equation" r:id="rId2" imgW="507780" imgH="253890" progId="Equation.3">
                  <p:embed/>
                  <p:pic>
                    <p:nvPicPr>
                      <p:cNvPr id="6" name="Object 5">
                        <a:extLst>
                          <a:ext uri="{FF2B5EF4-FFF2-40B4-BE49-F238E27FC236}">
                            <a16:creationId xmlns:a16="http://schemas.microsoft.com/office/drawing/2014/main" id="{06FD5EE3-33F6-4675-9D3E-94B178D53B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067785"/>
                        <a:ext cx="990600" cy="428015"/>
                      </a:xfrm>
                      <a:prstGeom prst="rect">
                        <a:avLst/>
                      </a:prstGeom>
                      <a:noFill/>
                    </p:spPr>
                  </p:pic>
                </p:oleObj>
              </mc:Fallback>
            </mc:AlternateContent>
          </a:graphicData>
        </a:graphic>
      </p:graphicFrame>
      <p:graphicFrame>
        <p:nvGraphicFramePr>
          <p:cNvPr id="6" name="Object 5">
            <a:extLst>
              <a:ext uri="{FF2B5EF4-FFF2-40B4-BE49-F238E27FC236}">
                <a16:creationId xmlns:a16="http://schemas.microsoft.com/office/drawing/2014/main" id="{86F2BFCF-B9FA-42E8-8777-6A9319F22208}"/>
              </a:ext>
            </a:extLst>
          </p:cNvPr>
          <p:cNvGraphicFramePr>
            <a:graphicFrameLocks noChangeAspect="1"/>
          </p:cNvGraphicFramePr>
          <p:nvPr>
            <p:extLst>
              <p:ext uri="{D42A27DB-BD31-4B8C-83A1-F6EECF244321}">
                <p14:modId xmlns:p14="http://schemas.microsoft.com/office/powerpoint/2010/main" val="2950857580"/>
              </p:ext>
            </p:extLst>
          </p:nvPr>
        </p:nvGraphicFramePr>
        <p:xfrm>
          <a:off x="4627804" y="4419600"/>
          <a:ext cx="858595" cy="428015"/>
        </p:xfrm>
        <a:graphic>
          <a:graphicData uri="http://schemas.openxmlformats.org/presentationml/2006/ole">
            <mc:AlternateContent xmlns:mc="http://schemas.openxmlformats.org/markup-compatibility/2006">
              <mc:Choice xmlns:v="urn:schemas-microsoft-com:vml" Requires="v">
                <p:oleObj name="Equation" r:id="rId4" imgW="507780" imgH="253890" progId="Equation.3">
                  <p:embed/>
                </p:oleObj>
              </mc:Choice>
              <mc:Fallback>
                <p:oleObj name="Equation" r:id="rId4" imgW="507780" imgH="253890" progId="Equation.3">
                  <p:embed/>
                  <p:pic>
                    <p:nvPicPr>
                      <p:cNvPr id="8" name="Object 7">
                        <a:extLst>
                          <a:ext uri="{FF2B5EF4-FFF2-40B4-BE49-F238E27FC236}">
                            <a16:creationId xmlns:a16="http://schemas.microsoft.com/office/drawing/2014/main" id="{802EDD0B-0821-4578-9B3D-57BEC2BC85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7804" y="4419600"/>
                        <a:ext cx="858595" cy="428015"/>
                      </a:xfrm>
                      <a:prstGeom prst="rect">
                        <a:avLst/>
                      </a:prstGeom>
                      <a:noFill/>
                    </p:spPr>
                  </p:pic>
                </p:oleObj>
              </mc:Fallback>
            </mc:AlternateContent>
          </a:graphicData>
        </a:graphic>
      </p:graphicFrame>
      <p:graphicFrame>
        <p:nvGraphicFramePr>
          <p:cNvPr id="7" name="Object 6">
            <a:extLst>
              <a:ext uri="{FF2B5EF4-FFF2-40B4-BE49-F238E27FC236}">
                <a16:creationId xmlns:a16="http://schemas.microsoft.com/office/drawing/2014/main" id="{0CBD139A-F2A7-4FBD-BE71-2E9E23244B0A}"/>
              </a:ext>
            </a:extLst>
          </p:cNvPr>
          <p:cNvGraphicFramePr>
            <a:graphicFrameLocks noChangeAspect="1"/>
          </p:cNvGraphicFramePr>
          <p:nvPr>
            <p:extLst>
              <p:ext uri="{D42A27DB-BD31-4B8C-83A1-F6EECF244321}">
                <p14:modId xmlns:p14="http://schemas.microsoft.com/office/powerpoint/2010/main" val="3953337735"/>
              </p:ext>
            </p:extLst>
          </p:nvPr>
        </p:nvGraphicFramePr>
        <p:xfrm>
          <a:off x="838200" y="4966853"/>
          <a:ext cx="6553200" cy="1371600"/>
        </p:xfrm>
        <a:graphic>
          <a:graphicData uri="http://schemas.openxmlformats.org/presentationml/2006/ole">
            <mc:AlternateContent xmlns:mc="http://schemas.openxmlformats.org/markup-compatibility/2006">
              <mc:Choice xmlns:v="urn:schemas-microsoft-com:vml" Requires="v">
                <p:oleObj name="Equation" r:id="rId6" imgW="2171700" imgH="584200" progId="Equation.3">
                  <p:embed/>
                </p:oleObj>
              </mc:Choice>
              <mc:Fallback>
                <p:oleObj name="Equation" r:id="rId6" imgW="2171700" imgH="584200" progId="Equation.3">
                  <p:embed/>
                  <p:pic>
                    <p:nvPicPr>
                      <p:cNvPr id="10" name="Object 9">
                        <a:extLst>
                          <a:ext uri="{FF2B5EF4-FFF2-40B4-BE49-F238E27FC236}">
                            <a16:creationId xmlns:a16="http://schemas.microsoft.com/office/drawing/2014/main" id="{4CB8A54E-A89B-44A0-B5E4-B5641C6BD9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4966853"/>
                        <a:ext cx="6553200" cy="13716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301687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Effect transition="in" filter="barn(inVertical)">
                                      <p:cBhvr>
                                        <p:cTn id="26" dur="500"/>
                                        <p:tgtEl>
                                          <p:spTgt spid="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45B9A3-4AB2-4FEB-9743-94EB54FC51C8}"/>
              </a:ext>
            </a:extLst>
          </p:cNvPr>
          <p:cNvSpPr>
            <a:spLocks noGrp="1"/>
          </p:cNvSpPr>
          <p:nvPr>
            <p:ph type="title"/>
          </p:nvPr>
        </p:nvSpPr>
        <p:spPr>
          <a:xfrm>
            <a:off x="628650" y="381000"/>
            <a:ext cx="8252114" cy="609600"/>
          </a:xfrm>
        </p:spPr>
        <p:txBody>
          <a:bodyPr/>
          <a:lstStyle/>
          <a:p>
            <a:r>
              <a:rPr lang="en-GB" b="1" dirty="0">
                <a:solidFill>
                  <a:srgbClr val="C00000"/>
                </a:solidFill>
              </a:rPr>
              <a:t>Semi-Partial Correlation (or Part Correlation)</a:t>
            </a:r>
            <a:endParaRPr lang="en-IN" dirty="0">
              <a:solidFill>
                <a:srgbClr val="C00000"/>
              </a:solidFill>
            </a:endParaRPr>
          </a:p>
        </p:txBody>
      </p:sp>
      <p:sp>
        <p:nvSpPr>
          <p:cNvPr id="4" name="Content Placeholder 3">
            <a:extLst>
              <a:ext uri="{FF2B5EF4-FFF2-40B4-BE49-F238E27FC236}">
                <a16:creationId xmlns:a16="http://schemas.microsoft.com/office/drawing/2014/main" id="{F3E591E1-59EC-43B0-920A-DFA593F5020D}"/>
              </a:ext>
            </a:extLst>
          </p:cNvPr>
          <p:cNvSpPr>
            <a:spLocks noGrp="1"/>
          </p:cNvSpPr>
          <p:nvPr>
            <p:ph idx="1"/>
          </p:nvPr>
        </p:nvSpPr>
        <p:spPr>
          <a:xfrm>
            <a:off x="504824" y="1143215"/>
            <a:ext cx="8375939" cy="2223653"/>
          </a:xfrm>
        </p:spPr>
        <p:txBody>
          <a:bodyPr/>
          <a:lstStyle/>
          <a:p>
            <a:pPr algn="just"/>
            <a:r>
              <a:rPr lang="en-GB" sz="2000" dirty="0"/>
              <a:t>Consider a regression model between a response variable </a:t>
            </a:r>
            <a:r>
              <a:rPr lang="en-GB" sz="2000" i="1" dirty="0"/>
              <a:t>Y</a:t>
            </a:r>
            <a:r>
              <a:rPr lang="en-GB" sz="2000" dirty="0"/>
              <a:t> and two independent variables </a:t>
            </a:r>
            <a:r>
              <a:rPr lang="en-GB" sz="2000" i="1" dirty="0"/>
              <a:t>X</a:t>
            </a:r>
            <a:r>
              <a:rPr lang="en-GB" sz="2000" baseline="-25000" dirty="0"/>
              <a:t>1</a:t>
            </a:r>
            <a:r>
              <a:rPr lang="en-GB" sz="2000" dirty="0"/>
              <a:t> and </a:t>
            </a:r>
            <a:r>
              <a:rPr lang="en-GB" sz="2000" i="1" dirty="0"/>
              <a:t>X</a:t>
            </a:r>
            <a:r>
              <a:rPr lang="en-GB" sz="2000" baseline="-25000" dirty="0"/>
              <a:t>2</a:t>
            </a:r>
            <a:r>
              <a:rPr lang="en-GB" sz="2000" dirty="0"/>
              <a:t>. </a:t>
            </a:r>
          </a:p>
          <a:p>
            <a:pPr algn="just"/>
            <a:r>
              <a:rPr lang="en-GB" sz="2000" dirty="0"/>
              <a:t>The semi-partial (or part correlation) between a response variable </a:t>
            </a:r>
            <a:r>
              <a:rPr lang="en-GB" sz="2000" i="1" dirty="0"/>
              <a:t>Y</a:t>
            </a:r>
            <a:r>
              <a:rPr lang="en-GB" sz="2000" dirty="0"/>
              <a:t> and independent variable </a:t>
            </a:r>
            <a:r>
              <a:rPr lang="en-GB" sz="2000" i="1" dirty="0"/>
              <a:t>X</a:t>
            </a:r>
            <a:r>
              <a:rPr lang="en-GB" sz="2000" baseline="-25000" dirty="0"/>
              <a:t>1</a:t>
            </a:r>
            <a:r>
              <a:rPr lang="en-GB" sz="2000" dirty="0"/>
              <a:t> measures the relationship between </a:t>
            </a:r>
            <a:r>
              <a:rPr lang="en-GB" sz="2000" i="1" dirty="0"/>
              <a:t>Y</a:t>
            </a:r>
            <a:r>
              <a:rPr lang="en-GB" sz="2000" dirty="0"/>
              <a:t> and </a:t>
            </a:r>
            <a:r>
              <a:rPr lang="en-GB" sz="2000" i="1" dirty="0"/>
              <a:t>X</a:t>
            </a:r>
            <a:r>
              <a:rPr lang="en-GB" sz="2000" baseline="-25000" dirty="0"/>
              <a:t>1</a:t>
            </a:r>
            <a:r>
              <a:rPr lang="en-GB" sz="2000" dirty="0"/>
              <a:t> when the influence of </a:t>
            </a:r>
            <a:r>
              <a:rPr lang="en-GB" sz="2000" i="1" dirty="0"/>
              <a:t>X</a:t>
            </a:r>
            <a:r>
              <a:rPr lang="en-GB" sz="2000" baseline="-25000" dirty="0"/>
              <a:t>2</a:t>
            </a:r>
            <a:r>
              <a:rPr lang="en-GB" sz="2000" dirty="0"/>
              <a:t> is removed from only </a:t>
            </a:r>
            <a:r>
              <a:rPr lang="en-GB" sz="2000" i="1" dirty="0"/>
              <a:t>X</a:t>
            </a:r>
            <a:r>
              <a:rPr lang="en-GB" sz="2000" baseline="-25000" dirty="0"/>
              <a:t>1 </a:t>
            </a:r>
            <a:r>
              <a:rPr lang="en-GB" sz="2000" dirty="0"/>
              <a:t>but not from </a:t>
            </a:r>
            <a:r>
              <a:rPr lang="en-GB" sz="2000" i="1" dirty="0"/>
              <a:t>Y</a:t>
            </a:r>
            <a:r>
              <a:rPr lang="en-GB" sz="2000" dirty="0"/>
              <a:t>. </a:t>
            </a:r>
          </a:p>
          <a:p>
            <a:pPr algn="just"/>
            <a:r>
              <a:rPr lang="en-GB" sz="2000" dirty="0"/>
              <a:t>It is equivalent to removing portions C and E from </a:t>
            </a:r>
            <a:r>
              <a:rPr lang="en-GB" sz="2000" i="1" dirty="0"/>
              <a:t>X</a:t>
            </a:r>
            <a:r>
              <a:rPr lang="en-GB" sz="2000" baseline="-25000" dirty="0"/>
              <a:t>1</a:t>
            </a:r>
            <a:r>
              <a:rPr lang="en-GB" sz="2000" dirty="0"/>
              <a:t> in the Venn diagram shown in Figure </a:t>
            </a:r>
            <a:endParaRPr lang="en-IN" sz="2000" dirty="0"/>
          </a:p>
        </p:txBody>
      </p:sp>
      <p:pic>
        <p:nvPicPr>
          <p:cNvPr id="5" name="Picture 4">
            <a:extLst>
              <a:ext uri="{FF2B5EF4-FFF2-40B4-BE49-F238E27FC236}">
                <a16:creationId xmlns:a16="http://schemas.microsoft.com/office/drawing/2014/main" id="{C3C9610B-2B64-43C7-91BE-569A0E6EAE76}"/>
              </a:ext>
            </a:extLst>
          </p:cNvPr>
          <p:cNvPicPr/>
          <p:nvPr/>
        </p:nvPicPr>
        <p:blipFill rotWithShape="1">
          <a:blip r:embed="rId2">
            <a:extLst>
              <a:ext uri="{28A0092B-C50C-407E-A947-70E740481C1C}">
                <a14:useLocalDpi xmlns:a14="http://schemas.microsoft.com/office/drawing/2010/main" val="0"/>
              </a:ext>
            </a:extLst>
          </a:blip>
          <a:srcRect r="12665"/>
          <a:stretch/>
        </p:blipFill>
        <p:spPr bwMode="auto">
          <a:xfrm>
            <a:off x="4876800" y="3352800"/>
            <a:ext cx="4174294" cy="2957732"/>
          </a:xfrm>
          <a:prstGeom prst="rect">
            <a:avLst/>
          </a:prstGeom>
          <a:noFill/>
        </p:spPr>
      </p:pic>
      <p:sp>
        <p:nvSpPr>
          <p:cNvPr id="6" name="Content Placeholder 3">
            <a:extLst>
              <a:ext uri="{FF2B5EF4-FFF2-40B4-BE49-F238E27FC236}">
                <a16:creationId xmlns:a16="http://schemas.microsoft.com/office/drawing/2014/main" id="{FFD4B014-70A0-442A-AB69-5846371A64A4}"/>
              </a:ext>
            </a:extLst>
          </p:cNvPr>
          <p:cNvSpPr txBox="1">
            <a:spLocks/>
          </p:cNvSpPr>
          <p:nvPr/>
        </p:nvSpPr>
        <p:spPr>
          <a:xfrm>
            <a:off x="626305" y="3519483"/>
            <a:ext cx="3886200" cy="1356517"/>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fontAlgn="auto">
              <a:spcAft>
                <a:spcPts val="0"/>
              </a:spcAft>
            </a:pPr>
            <a:r>
              <a:rPr lang="en-GB" sz="2000" dirty="0">
                <a:latin typeface="Gill Sans MT" panose="020B0502020104020203" pitchFamily="34" charset="0"/>
              </a:rPr>
              <a:t>Semi-partial correlation between Y and X</a:t>
            </a:r>
            <a:r>
              <a:rPr lang="en-GB" sz="2000" baseline="-25000" dirty="0">
                <a:latin typeface="Gill Sans MT" panose="020B0502020104020203" pitchFamily="34" charset="0"/>
              </a:rPr>
              <a:t>1</a:t>
            </a:r>
            <a:r>
              <a:rPr lang="en-GB" sz="2000" dirty="0">
                <a:latin typeface="Gill Sans MT" panose="020B0502020104020203" pitchFamily="34" charset="0"/>
              </a:rPr>
              <a:t>,                when influence of X2 is removed from X1 is given by</a:t>
            </a:r>
            <a:endParaRPr lang="en-IN" sz="2000" dirty="0">
              <a:latin typeface="Gill Sans MT" panose="020B0502020104020203" pitchFamily="34" charset="0"/>
            </a:endParaRPr>
          </a:p>
          <a:p>
            <a:pPr fontAlgn="auto">
              <a:spcAft>
                <a:spcPts val="0"/>
              </a:spcAft>
            </a:pPr>
            <a:endParaRPr lang="en-GB" sz="2000" dirty="0">
              <a:latin typeface="Gill Sans MT" panose="020B0502020104020203" pitchFamily="34" charset="0"/>
            </a:endParaRPr>
          </a:p>
        </p:txBody>
      </p:sp>
      <p:graphicFrame>
        <p:nvGraphicFramePr>
          <p:cNvPr id="7" name="Object 6">
            <a:extLst>
              <a:ext uri="{FF2B5EF4-FFF2-40B4-BE49-F238E27FC236}">
                <a16:creationId xmlns:a16="http://schemas.microsoft.com/office/drawing/2014/main" id="{ABB8C529-6B88-4979-B695-17675EDC2568}"/>
              </a:ext>
            </a:extLst>
          </p:cNvPr>
          <p:cNvGraphicFramePr>
            <a:graphicFrameLocks noChangeAspect="1"/>
          </p:cNvGraphicFramePr>
          <p:nvPr>
            <p:extLst>
              <p:ext uri="{D42A27DB-BD31-4B8C-83A1-F6EECF244321}">
                <p14:modId xmlns:p14="http://schemas.microsoft.com/office/powerpoint/2010/main" val="4002883971"/>
              </p:ext>
            </p:extLst>
          </p:nvPr>
        </p:nvGraphicFramePr>
        <p:xfrm>
          <a:off x="719211" y="4921505"/>
          <a:ext cx="3793294" cy="1356517"/>
        </p:xfrm>
        <a:graphic>
          <a:graphicData uri="http://schemas.openxmlformats.org/presentationml/2006/ole">
            <mc:AlternateContent xmlns:mc="http://schemas.openxmlformats.org/markup-compatibility/2006">
              <mc:Choice xmlns:v="urn:schemas-microsoft-com:vml" Requires="v">
                <p:oleObj name="Equation" r:id="rId3" imgW="1727200" imgH="596900" progId="Equation.3">
                  <p:embed/>
                </p:oleObj>
              </mc:Choice>
              <mc:Fallback>
                <p:oleObj name="Equation" r:id="rId3" imgW="1727200" imgH="596900" progId="Equation.3">
                  <p:embed/>
                  <p:pic>
                    <p:nvPicPr>
                      <p:cNvPr id="8" name="Object 7">
                        <a:extLst>
                          <a:ext uri="{FF2B5EF4-FFF2-40B4-BE49-F238E27FC236}">
                            <a16:creationId xmlns:a16="http://schemas.microsoft.com/office/drawing/2014/main" id="{C4129674-2783-460A-B483-F92ABF5582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211" y="4921505"/>
                        <a:ext cx="3793294" cy="1356517"/>
                      </a:xfrm>
                      <a:prstGeom prst="rect">
                        <a:avLst/>
                      </a:prstGeom>
                      <a:solidFill>
                        <a:schemeClr val="accent2">
                          <a:lumMod val="40000"/>
                          <a:lumOff val="60000"/>
                        </a:schemeClr>
                      </a:solidFill>
                      <a:ln>
                        <a:solidFill>
                          <a:schemeClr val="accent1"/>
                        </a:solidFill>
                      </a:ln>
                    </p:spPr>
                  </p:pic>
                </p:oleObj>
              </mc:Fallback>
            </mc:AlternateContent>
          </a:graphicData>
        </a:graphic>
      </p:graphicFrame>
      <p:graphicFrame>
        <p:nvGraphicFramePr>
          <p:cNvPr id="8" name="Object 7">
            <a:extLst>
              <a:ext uri="{FF2B5EF4-FFF2-40B4-BE49-F238E27FC236}">
                <a16:creationId xmlns:a16="http://schemas.microsoft.com/office/drawing/2014/main" id="{CC8161E9-C76F-414B-968E-5314BD69D18A}"/>
              </a:ext>
            </a:extLst>
          </p:cNvPr>
          <p:cNvGraphicFramePr>
            <a:graphicFrameLocks noChangeAspect="1"/>
          </p:cNvGraphicFramePr>
          <p:nvPr>
            <p:extLst>
              <p:ext uri="{D42A27DB-BD31-4B8C-83A1-F6EECF244321}">
                <p14:modId xmlns:p14="http://schemas.microsoft.com/office/powerpoint/2010/main" val="1230041200"/>
              </p:ext>
            </p:extLst>
          </p:nvPr>
        </p:nvGraphicFramePr>
        <p:xfrm>
          <a:off x="2080040" y="3740541"/>
          <a:ext cx="1806160" cy="374259"/>
        </p:xfrm>
        <a:graphic>
          <a:graphicData uri="http://schemas.openxmlformats.org/presentationml/2006/ole">
            <mc:AlternateContent xmlns:mc="http://schemas.openxmlformats.org/markup-compatibility/2006">
              <mc:Choice xmlns:v="urn:schemas-microsoft-com:vml" Requires="v">
                <p:oleObj name="Equation" r:id="rId5" imgW="571252" imgH="253890" progId="Equation.3">
                  <p:embed/>
                </p:oleObj>
              </mc:Choice>
              <mc:Fallback>
                <p:oleObj name="Equation" r:id="rId5" imgW="571252" imgH="253890" progId="Equation.3">
                  <p:embed/>
                  <p:pic>
                    <p:nvPicPr>
                      <p:cNvPr id="6" name="Object 5">
                        <a:extLst>
                          <a:ext uri="{FF2B5EF4-FFF2-40B4-BE49-F238E27FC236}">
                            <a16:creationId xmlns:a16="http://schemas.microsoft.com/office/drawing/2014/main" id="{AEBB79DB-5EA1-4602-AFFC-39F5EE435A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0040" y="3740541"/>
                        <a:ext cx="1806160" cy="374259"/>
                      </a:xfrm>
                      <a:prstGeom prst="rect">
                        <a:avLst/>
                      </a:prstGeom>
                      <a:noFill/>
                    </p:spPr>
                  </p:pic>
                </p:oleObj>
              </mc:Fallback>
            </mc:AlternateContent>
          </a:graphicData>
        </a:graphic>
      </p:graphicFrame>
    </p:spTree>
    <p:extLst>
      <p:ext uri="{BB962C8B-B14F-4D97-AF65-F5344CB8AC3E}">
        <p14:creationId xmlns:p14="http://schemas.microsoft.com/office/powerpoint/2010/main" val="39926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1000"/>
                                        <p:tgtEl>
                                          <p:spTgt spid="8"/>
                                        </p:tgtEl>
                                      </p:cBhvr>
                                    </p:animEffect>
                                    <p:anim calcmode="lin" valueType="num">
                                      <p:cBhvr>
                                        <p:cTn id="46" dur="1000" fill="hold"/>
                                        <p:tgtEl>
                                          <p:spTgt spid="8"/>
                                        </p:tgtEl>
                                        <p:attrNameLst>
                                          <p:attrName>ppt_x</p:attrName>
                                        </p:attrNameLst>
                                      </p:cBhvr>
                                      <p:tavLst>
                                        <p:tav tm="0">
                                          <p:val>
                                            <p:strVal val="#ppt_x"/>
                                          </p:val>
                                        </p:tav>
                                        <p:tav tm="100000">
                                          <p:val>
                                            <p:strVal val="#ppt_x"/>
                                          </p:val>
                                        </p:tav>
                                      </p:tavLst>
                                    </p:anim>
                                    <p:anim calcmode="lin" valueType="num">
                                      <p:cBhvr>
                                        <p:cTn id="4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fade">
                                      <p:cBhvr>
                                        <p:cTn id="52" dur="1000"/>
                                        <p:tgtEl>
                                          <p:spTgt spid="7"/>
                                        </p:tgtEl>
                                      </p:cBhvr>
                                    </p:animEffect>
                                    <p:anim calcmode="lin" valueType="num">
                                      <p:cBhvr>
                                        <p:cTn id="53" dur="1000" fill="hold"/>
                                        <p:tgtEl>
                                          <p:spTgt spid="7"/>
                                        </p:tgtEl>
                                        <p:attrNameLst>
                                          <p:attrName>ppt_x</p:attrName>
                                        </p:attrNameLst>
                                      </p:cBhvr>
                                      <p:tavLst>
                                        <p:tav tm="0">
                                          <p:val>
                                            <p:strVal val="#ppt_x"/>
                                          </p:val>
                                        </p:tav>
                                        <p:tav tm="100000">
                                          <p:val>
                                            <p:strVal val="#ppt_x"/>
                                          </p:val>
                                        </p:tav>
                                      </p:tavLst>
                                    </p:anim>
                                    <p:anim calcmode="lin" valueType="num">
                                      <p:cBhvr>
                                        <p:cTn id="5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D86723B-D1CE-4D7D-A47E-1325F0DFB3E2}"/>
              </a:ext>
            </a:extLst>
          </p:cNvPr>
          <p:cNvSpPr>
            <a:spLocks noGrp="1"/>
          </p:cNvSpPr>
          <p:nvPr>
            <p:ph idx="4294967295"/>
          </p:nvPr>
        </p:nvSpPr>
        <p:spPr>
          <a:xfrm>
            <a:off x="533400" y="1219200"/>
            <a:ext cx="8229600" cy="4038600"/>
          </a:xfrm>
        </p:spPr>
        <p:txBody>
          <a:bodyPr/>
          <a:lstStyle/>
          <a:p>
            <a:pPr marL="0" indent="0" algn="just">
              <a:buNone/>
            </a:pPr>
            <a:r>
              <a:rPr lang="en-GB" sz="2800" b="1" i="1" dirty="0">
                <a:latin typeface="Bookman Old Style" panose="02050604050505020204" pitchFamily="18" charset="0"/>
              </a:rPr>
              <a:t>Semi-partial (part) correlation plays an important role in regression model building. </a:t>
            </a:r>
          </a:p>
          <a:p>
            <a:pPr marL="0" indent="0" algn="just">
              <a:buNone/>
            </a:pPr>
            <a:endParaRPr lang="en-GB" sz="2800" b="1" i="1" dirty="0">
              <a:latin typeface="Bookman Old Style" panose="02050604050505020204" pitchFamily="18" charset="0"/>
            </a:endParaRPr>
          </a:p>
          <a:p>
            <a:pPr marL="0" indent="0" algn="just">
              <a:buNone/>
            </a:pPr>
            <a:r>
              <a:rPr lang="en-GB" sz="2800" b="1" i="1" dirty="0">
                <a:latin typeface="Bookman Old Style" panose="02050604050505020204" pitchFamily="18" charset="0"/>
              </a:rPr>
              <a:t>The increase in R-square (coefficient of determination), when a new variable is added into the model, is given by the square of the semi-partial correlation.</a:t>
            </a:r>
            <a:endParaRPr lang="en-IN" sz="2800" b="1" i="1" dirty="0">
              <a:latin typeface="Bookman Old Style" panose="02050604050505020204" pitchFamily="18" charset="0"/>
            </a:endParaRPr>
          </a:p>
        </p:txBody>
      </p:sp>
    </p:spTree>
    <p:extLst>
      <p:ext uri="{BB962C8B-B14F-4D97-AF65-F5344CB8AC3E}">
        <p14:creationId xmlns:p14="http://schemas.microsoft.com/office/powerpoint/2010/main" val="83280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42DE2-0960-44B4-9C75-9EC20BFE54A7}"/>
              </a:ext>
            </a:extLst>
          </p:cNvPr>
          <p:cNvSpPr>
            <a:spLocks noGrp="1"/>
          </p:cNvSpPr>
          <p:nvPr>
            <p:ph type="title"/>
          </p:nvPr>
        </p:nvSpPr>
        <p:spPr>
          <a:xfrm>
            <a:off x="639201" y="421843"/>
            <a:ext cx="8252114" cy="518388"/>
          </a:xfrm>
        </p:spPr>
        <p:txBody>
          <a:bodyPr/>
          <a:lstStyle/>
          <a:p>
            <a:pPr algn="l"/>
            <a:br>
              <a:rPr lang="en-GB" sz="2800" b="1" i="1" dirty="0">
                <a:solidFill>
                  <a:srgbClr val="C00000"/>
                </a:solidFill>
                <a:latin typeface="Bookman Old Style" panose="02050604050505020204" pitchFamily="18" charset="0"/>
              </a:rPr>
            </a:br>
            <a:r>
              <a:rPr lang="en-GB" sz="2800" b="1" dirty="0">
                <a:solidFill>
                  <a:srgbClr val="C00000"/>
                </a:solidFill>
                <a:latin typeface="Bookman Old Style" panose="02050604050505020204" pitchFamily="18" charset="0"/>
              </a:rPr>
              <a:t>Example</a:t>
            </a:r>
            <a:br>
              <a:rPr lang="en-IN" sz="2800" b="1" dirty="0">
                <a:latin typeface="Bookman Old Style" panose="02050604050505020204" pitchFamily="18" charset="0"/>
              </a:rPr>
            </a:br>
            <a:endParaRPr lang="en-IN" sz="2800" b="1" dirty="0">
              <a:solidFill>
                <a:srgbClr val="C0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BBFF95A1-8311-44ED-B748-2C1A4B026135}"/>
              </a:ext>
            </a:extLst>
          </p:cNvPr>
          <p:cNvSpPr>
            <a:spLocks noGrp="1"/>
          </p:cNvSpPr>
          <p:nvPr>
            <p:ph idx="1"/>
          </p:nvPr>
        </p:nvSpPr>
        <p:spPr/>
        <p:txBody>
          <a:bodyPr/>
          <a:lstStyle/>
          <a:p>
            <a:pPr marL="0" indent="0" algn="just">
              <a:buNone/>
            </a:pPr>
            <a:r>
              <a:rPr lang="en-GB" sz="2400" dirty="0"/>
              <a:t>The cumulative television rating points (</a:t>
            </a:r>
            <a:r>
              <a:rPr lang="en-GB" sz="2400" i="1" dirty="0"/>
              <a:t>CTRP</a:t>
            </a:r>
            <a:r>
              <a:rPr lang="en-GB" sz="2400" dirty="0"/>
              <a:t>) of a television program, money spent on promotion (denoted as </a:t>
            </a:r>
            <a:r>
              <a:rPr lang="en-GB" sz="2400" i="1" dirty="0"/>
              <a:t>P</a:t>
            </a:r>
            <a:r>
              <a:rPr lang="en-GB" sz="2400" dirty="0"/>
              <a:t>), and the advertisement revenue (in Indian rupees denoted as </a:t>
            </a:r>
            <a:r>
              <a:rPr lang="en-GB" sz="2400" i="1" dirty="0"/>
              <a:t>R</a:t>
            </a:r>
            <a:r>
              <a:rPr lang="en-GB" sz="2400" dirty="0"/>
              <a:t>) generated over one-month period for 38 different television programs is provided in Table 10.1. Develop a multiple regression model to understand the relationship between the advertisement revenue (R) generated as response variable and promotions (</a:t>
            </a:r>
            <a:r>
              <a:rPr lang="en-GB" sz="2400" i="1" dirty="0"/>
              <a:t>P</a:t>
            </a:r>
            <a:r>
              <a:rPr lang="en-GB" sz="2400" dirty="0"/>
              <a:t>) and </a:t>
            </a:r>
            <a:r>
              <a:rPr lang="en-GB" sz="2400" i="1" dirty="0"/>
              <a:t>CTRP</a:t>
            </a:r>
            <a:r>
              <a:rPr lang="en-GB" sz="2400" dirty="0"/>
              <a:t> as </a:t>
            </a:r>
            <a:endParaRPr lang="en-IN" sz="2400" dirty="0"/>
          </a:p>
        </p:txBody>
      </p:sp>
    </p:spTree>
    <p:extLst>
      <p:ext uri="{BB962C8B-B14F-4D97-AF65-F5344CB8AC3E}">
        <p14:creationId xmlns:p14="http://schemas.microsoft.com/office/powerpoint/2010/main" val="157360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42E6F71-FDC7-41BD-B7BF-15D5C86E4267}"/>
              </a:ext>
            </a:extLst>
          </p:cNvPr>
          <p:cNvGraphicFramePr>
            <a:graphicFrameLocks noGrp="1"/>
          </p:cNvGraphicFramePr>
          <p:nvPr>
            <p:ph idx="1"/>
            <p:extLst>
              <p:ext uri="{D42A27DB-BD31-4B8C-83A1-F6EECF244321}">
                <p14:modId xmlns:p14="http://schemas.microsoft.com/office/powerpoint/2010/main" val="270890474"/>
              </p:ext>
            </p:extLst>
          </p:nvPr>
        </p:nvGraphicFramePr>
        <p:xfrm>
          <a:off x="381000" y="500580"/>
          <a:ext cx="8229599" cy="5900220"/>
        </p:xfrm>
        <a:graphic>
          <a:graphicData uri="http://schemas.openxmlformats.org/drawingml/2006/table">
            <a:tbl>
              <a:tblPr firstRow="1" firstCol="1" bandRow="1">
                <a:tableStyleId>{5C22544A-7EE6-4342-B048-85BDC9FD1C3A}</a:tableStyleId>
              </a:tblPr>
              <a:tblGrid>
                <a:gridCol w="983740">
                  <a:extLst>
                    <a:ext uri="{9D8B030D-6E8A-4147-A177-3AD203B41FA5}">
                      <a16:colId xmlns:a16="http://schemas.microsoft.com/office/drawing/2014/main" val="1179444951"/>
                    </a:ext>
                  </a:extLst>
                </a:gridCol>
                <a:gridCol w="983740">
                  <a:extLst>
                    <a:ext uri="{9D8B030D-6E8A-4147-A177-3AD203B41FA5}">
                      <a16:colId xmlns:a16="http://schemas.microsoft.com/office/drawing/2014/main" val="4198375495"/>
                    </a:ext>
                  </a:extLst>
                </a:gridCol>
                <a:gridCol w="983740">
                  <a:extLst>
                    <a:ext uri="{9D8B030D-6E8A-4147-A177-3AD203B41FA5}">
                      <a16:colId xmlns:a16="http://schemas.microsoft.com/office/drawing/2014/main" val="4268425991"/>
                    </a:ext>
                  </a:extLst>
                </a:gridCol>
                <a:gridCol w="1019605">
                  <a:extLst>
                    <a:ext uri="{9D8B030D-6E8A-4147-A177-3AD203B41FA5}">
                      <a16:colId xmlns:a16="http://schemas.microsoft.com/office/drawing/2014/main" val="3701011928"/>
                    </a:ext>
                  </a:extLst>
                </a:gridCol>
                <a:gridCol w="983740">
                  <a:extLst>
                    <a:ext uri="{9D8B030D-6E8A-4147-A177-3AD203B41FA5}">
                      <a16:colId xmlns:a16="http://schemas.microsoft.com/office/drawing/2014/main" val="3381742321"/>
                    </a:ext>
                  </a:extLst>
                </a:gridCol>
                <a:gridCol w="1019605">
                  <a:extLst>
                    <a:ext uri="{9D8B030D-6E8A-4147-A177-3AD203B41FA5}">
                      <a16:colId xmlns:a16="http://schemas.microsoft.com/office/drawing/2014/main" val="2449793657"/>
                    </a:ext>
                  </a:extLst>
                </a:gridCol>
                <a:gridCol w="1235824">
                  <a:extLst>
                    <a:ext uri="{9D8B030D-6E8A-4147-A177-3AD203B41FA5}">
                      <a16:colId xmlns:a16="http://schemas.microsoft.com/office/drawing/2014/main" val="2523155362"/>
                    </a:ext>
                  </a:extLst>
                </a:gridCol>
                <a:gridCol w="1019605">
                  <a:extLst>
                    <a:ext uri="{9D8B030D-6E8A-4147-A177-3AD203B41FA5}">
                      <a16:colId xmlns:a16="http://schemas.microsoft.com/office/drawing/2014/main" val="1799749163"/>
                    </a:ext>
                  </a:extLst>
                </a:gridCol>
              </a:tblGrid>
              <a:tr h="295011">
                <a:tc>
                  <a:txBody>
                    <a:bodyPr/>
                    <a:lstStyle/>
                    <a:p>
                      <a:pPr>
                        <a:lnSpc>
                          <a:spcPct val="150000"/>
                        </a:lnSpc>
                        <a:spcAft>
                          <a:spcPts val="0"/>
                        </a:spcAft>
                      </a:pPr>
                      <a:r>
                        <a:rPr lang="en-GB" sz="1400">
                          <a:effectLst/>
                        </a:rPr>
                        <a:t>Serial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CTRP</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P</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dirty="0">
                          <a:effectLst/>
                        </a:rPr>
                        <a:t>Serial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CTRP</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P</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nSpc>
                          <a:spcPct val="150000"/>
                        </a:lnSpc>
                        <a:spcAft>
                          <a:spcPts val="0"/>
                        </a:spcAft>
                      </a:pPr>
                      <a:r>
                        <a:rPr lang="en-GB" sz="1400">
                          <a:effectLst/>
                        </a:rPr>
                        <a:t>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2272580967"/>
                  </a:ext>
                </a:extLst>
              </a:tr>
              <a:tr h="295011">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111600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1197576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dirty="0">
                          <a:effectLst/>
                        </a:rPr>
                        <a:t>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156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104400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1326360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2853411407"/>
                  </a:ext>
                </a:extLst>
              </a:tr>
              <a:tr h="295011">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104400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1053648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136800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1162596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521260213"/>
                  </a:ext>
                </a:extLst>
              </a:tr>
              <a:tr h="295011">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97200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1124172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115200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1195116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1688618431"/>
                  </a:ext>
                </a:extLst>
              </a:tr>
              <a:tr h="295011">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79200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987144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115200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1134768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1658390999"/>
                  </a:ext>
                </a:extLst>
              </a:tr>
              <a:tr h="295011">
                <a:tc>
                  <a:txBody>
                    <a:bodyPr/>
                    <a:lstStyle/>
                    <a:p>
                      <a:pPr algn="r">
                        <a:lnSpc>
                          <a:spcPct val="150000"/>
                        </a:lnSpc>
                        <a:spcAft>
                          <a:spcPts val="0"/>
                        </a:spcAft>
                      </a:pPr>
                      <a:r>
                        <a:rPr lang="en-GB" sz="1400">
                          <a:effectLst/>
                        </a:rPr>
                        <a:t>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126000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1283616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151200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1269024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233495358"/>
                  </a:ext>
                </a:extLst>
              </a:tr>
              <a:tr h="295011">
                <a:tc>
                  <a:txBody>
                    <a:bodyPr/>
                    <a:lstStyle/>
                    <a:p>
                      <a:pPr algn="r">
                        <a:lnSpc>
                          <a:spcPct val="150000"/>
                        </a:lnSpc>
                        <a:spcAft>
                          <a:spcPts val="0"/>
                        </a:spcAft>
                      </a:pPr>
                      <a:r>
                        <a:rPr lang="en-GB" sz="1400">
                          <a:effectLst/>
                        </a:rPr>
                        <a:t>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154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108000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dirty="0">
                          <a:effectLst/>
                        </a:rPr>
                        <a:t>1295100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97200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1118688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607580392"/>
                  </a:ext>
                </a:extLst>
              </a:tr>
              <a:tr h="295011">
                <a:tc>
                  <a:txBody>
                    <a:bodyPr/>
                    <a:lstStyle/>
                    <a:p>
                      <a:pPr algn="r">
                        <a:lnSpc>
                          <a:spcPct val="150000"/>
                        </a:lnSpc>
                        <a:spcAft>
                          <a:spcPts val="0"/>
                        </a:spcAft>
                      </a:pPr>
                      <a:r>
                        <a:rPr lang="en-GB" sz="1400">
                          <a:effectLst/>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147600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1407444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122400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904776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2922486122"/>
                  </a:ext>
                </a:extLst>
              </a:tr>
              <a:tr h="295011">
                <a:tc>
                  <a:txBody>
                    <a:bodyPr/>
                    <a:lstStyle/>
                    <a:p>
                      <a:pPr algn="r">
                        <a:lnSpc>
                          <a:spcPct val="150000"/>
                        </a:lnSpc>
                        <a:spcAft>
                          <a:spcPts val="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104400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922416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208800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1357644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485770732"/>
                  </a:ext>
                </a:extLst>
              </a:tr>
              <a:tr h="295011">
                <a:tc>
                  <a:txBody>
                    <a:bodyPr/>
                    <a:lstStyle/>
                    <a:p>
                      <a:pPr algn="r">
                        <a:lnSpc>
                          <a:spcPct val="150000"/>
                        </a:lnSpc>
                        <a:spcAft>
                          <a:spcPts val="0"/>
                        </a:spcAft>
                      </a:pPr>
                      <a:r>
                        <a:rPr lang="en-GB" sz="1400">
                          <a:effectLst/>
                        </a:rPr>
                        <a:t>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169200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1272012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93600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1027308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804463065"/>
                  </a:ext>
                </a:extLst>
              </a:tr>
              <a:tr h="295011">
                <a:tc>
                  <a:txBody>
                    <a:bodyPr/>
                    <a:lstStyle/>
                    <a:p>
                      <a:pPr algn="r">
                        <a:lnSpc>
                          <a:spcPct val="150000"/>
                        </a:lnSpc>
                        <a:spcAft>
                          <a:spcPts val="0"/>
                        </a:spcAft>
                      </a:pPr>
                      <a:r>
                        <a:rPr lang="en-GB" sz="1400">
                          <a:effectLst/>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75600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dirty="0">
                          <a:effectLst/>
                        </a:rPr>
                        <a:t>1064856</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29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115200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1181976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1045009800"/>
                  </a:ext>
                </a:extLst>
              </a:tr>
              <a:tr h="295011">
                <a:tc>
                  <a:txBody>
                    <a:bodyPr/>
                    <a:lstStyle/>
                    <a:p>
                      <a:pPr algn="r">
                        <a:lnSpc>
                          <a:spcPct val="150000"/>
                        </a:lnSpc>
                        <a:spcAft>
                          <a:spcPts val="0"/>
                        </a:spcAft>
                      </a:pPr>
                      <a:r>
                        <a:rPr lang="en-GB" sz="1400">
                          <a:effectLst/>
                        </a:rPr>
                        <a:t>11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1269960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118800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1221636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206080738"/>
                  </a:ext>
                </a:extLst>
              </a:tr>
              <a:tr h="295011">
                <a:tc>
                  <a:txBody>
                    <a:bodyPr/>
                    <a:lstStyle/>
                    <a:p>
                      <a:pPr algn="r">
                        <a:lnSpc>
                          <a:spcPct val="150000"/>
                        </a:lnSpc>
                        <a:spcAft>
                          <a:spcPts val="0"/>
                        </a:spcAft>
                      </a:pPr>
                      <a:r>
                        <a:rPr lang="en-GB" sz="1400">
                          <a:effectLst/>
                        </a:rPr>
                        <a:t>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1064760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1060452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168111013"/>
                  </a:ext>
                </a:extLst>
              </a:tr>
              <a:tr h="295011">
                <a:tc>
                  <a:txBody>
                    <a:bodyPr/>
                    <a:lstStyle/>
                    <a:p>
                      <a:pPr algn="r">
                        <a:lnSpc>
                          <a:spcPct val="150000"/>
                        </a:lnSpc>
                        <a:spcAft>
                          <a:spcPts val="0"/>
                        </a:spcAft>
                      </a:pPr>
                      <a:r>
                        <a:rPr lang="en-GB" sz="1400">
                          <a:effectLst/>
                        </a:rPr>
                        <a:t>13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176400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1207488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100800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1229028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145318470"/>
                  </a:ext>
                </a:extLst>
              </a:tr>
              <a:tr h="295011">
                <a:tc>
                  <a:txBody>
                    <a:bodyPr/>
                    <a:lstStyle/>
                    <a:p>
                      <a:pPr algn="r">
                        <a:lnSpc>
                          <a:spcPct val="150000"/>
                        </a:lnSpc>
                        <a:spcAft>
                          <a:spcPts val="0"/>
                        </a:spcAft>
                      </a:pPr>
                      <a:r>
                        <a:rPr lang="en-GB" sz="1400">
                          <a:effectLst/>
                        </a:rPr>
                        <a:t>14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180000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1186284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147600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1406196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633389209"/>
                  </a:ext>
                </a:extLst>
              </a:tr>
              <a:tr h="295011">
                <a:tc>
                  <a:txBody>
                    <a:bodyPr/>
                    <a:lstStyle/>
                    <a:p>
                      <a:pPr algn="r">
                        <a:lnSpc>
                          <a:spcPct val="150000"/>
                        </a:lnSpc>
                        <a:spcAft>
                          <a:spcPts val="0"/>
                        </a:spcAft>
                      </a:pPr>
                      <a:r>
                        <a:rPr lang="en-GB" sz="1400">
                          <a:effectLst/>
                        </a:rPr>
                        <a:t>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1231464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126000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1293936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279002229"/>
                  </a:ext>
                </a:extLst>
              </a:tr>
              <a:tr h="295011">
                <a:tc>
                  <a:txBody>
                    <a:bodyPr/>
                    <a:lstStyle/>
                    <a:p>
                      <a:pPr algn="r">
                        <a:lnSpc>
                          <a:spcPct val="150000"/>
                        </a:lnSpc>
                        <a:spcAft>
                          <a:spcPts val="0"/>
                        </a:spcAft>
                      </a:pPr>
                      <a:r>
                        <a:rPr lang="en-GB" sz="1400">
                          <a:effectLst/>
                        </a:rPr>
                        <a:t>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147600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1296708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108000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1056384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2416315902"/>
                  </a:ext>
                </a:extLst>
              </a:tr>
              <a:tr h="295011">
                <a:tc>
                  <a:txBody>
                    <a:bodyPr/>
                    <a:lstStyle/>
                    <a:p>
                      <a:pPr algn="r">
                        <a:lnSpc>
                          <a:spcPct val="150000"/>
                        </a:lnSpc>
                        <a:spcAft>
                          <a:spcPts val="0"/>
                        </a:spcAft>
                      </a:pPr>
                      <a:r>
                        <a:rPr lang="en-GB" sz="1400">
                          <a:effectLst/>
                        </a:rPr>
                        <a:t>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153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122400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1320648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194400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1415316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446810335"/>
                  </a:ext>
                </a:extLst>
              </a:tr>
              <a:tr h="295011">
                <a:tc>
                  <a:txBody>
                    <a:bodyPr/>
                    <a:lstStyle/>
                    <a:p>
                      <a:pPr algn="r">
                        <a:lnSpc>
                          <a:spcPct val="150000"/>
                        </a:lnSpc>
                        <a:spcAft>
                          <a:spcPts val="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96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158400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1102704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176400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1338060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1589035527"/>
                  </a:ext>
                </a:extLst>
              </a:tr>
              <a:tr h="295011">
                <a:tc>
                  <a:txBody>
                    <a:bodyPr/>
                    <a:lstStyle/>
                    <a:p>
                      <a:pPr algn="r">
                        <a:lnSpc>
                          <a:spcPct val="150000"/>
                        </a:lnSpc>
                        <a:spcAft>
                          <a:spcPts val="0"/>
                        </a:spcAft>
                      </a:pPr>
                      <a:r>
                        <a:rPr lang="en-GB" sz="1400">
                          <a:effectLst/>
                        </a:rPr>
                        <a:t>19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104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165600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1184316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38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dirty="0">
                          <a:effectLst/>
                        </a:rPr>
                        <a:t>117</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a:effectLst/>
                        </a:rPr>
                        <a:t>172800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tc>
                  <a:txBody>
                    <a:bodyPr/>
                    <a:lstStyle/>
                    <a:p>
                      <a:pPr algn="r">
                        <a:lnSpc>
                          <a:spcPct val="150000"/>
                        </a:lnSpc>
                        <a:spcAft>
                          <a:spcPts val="0"/>
                        </a:spcAft>
                      </a:pPr>
                      <a:r>
                        <a:rPr lang="en-GB" sz="1400" dirty="0">
                          <a:effectLst/>
                        </a:rPr>
                        <a:t>1457400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7889" marR="67889" marT="0" marB="0" anchor="b"/>
                </a:tc>
                <a:extLst>
                  <a:ext uri="{0D108BD9-81ED-4DB2-BD59-A6C34878D82A}">
                    <a16:rowId xmlns:a16="http://schemas.microsoft.com/office/drawing/2014/main" val="3472686180"/>
                  </a:ext>
                </a:extLst>
              </a:tr>
            </a:tbl>
          </a:graphicData>
        </a:graphic>
      </p:graphicFrame>
    </p:spTree>
    <p:extLst>
      <p:ext uri="{BB962C8B-B14F-4D97-AF65-F5344CB8AC3E}">
        <p14:creationId xmlns:p14="http://schemas.microsoft.com/office/powerpoint/2010/main" val="35068611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0BFE5D9-46F8-42D5-BF27-E64EAFA343B2}"/>
              </a:ext>
            </a:extLst>
          </p:cNvPr>
          <p:cNvSpPr>
            <a:spLocks noGrp="1"/>
          </p:cNvSpPr>
          <p:nvPr>
            <p:ph idx="1"/>
          </p:nvPr>
        </p:nvSpPr>
        <p:spPr>
          <a:xfrm>
            <a:off x="457199" y="778015"/>
            <a:ext cx="8254339" cy="381000"/>
          </a:xfrm>
        </p:spPr>
        <p:txBody>
          <a:bodyPr/>
          <a:lstStyle/>
          <a:p>
            <a:pPr marL="0" indent="0">
              <a:buNone/>
            </a:pPr>
            <a:r>
              <a:rPr lang="en-GB" sz="2400" dirty="0">
                <a:latin typeface="Gill Sans MT" panose="020B0502020104020203" pitchFamily="34" charset="0"/>
              </a:rPr>
              <a:t>The MLR model is given by</a:t>
            </a:r>
            <a:endParaRPr lang="en-IN" sz="2400" dirty="0">
              <a:latin typeface="Gill Sans MT" panose="020B0502020104020203" pitchFamily="34" charset="0"/>
            </a:endParaRPr>
          </a:p>
        </p:txBody>
      </p:sp>
      <p:sp>
        <p:nvSpPr>
          <p:cNvPr id="5" name="Rectangle 2">
            <a:extLst>
              <a:ext uri="{FF2B5EF4-FFF2-40B4-BE49-F238E27FC236}">
                <a16:creationId xmlns:a16="http://schemas.microsoft.com/office/drawing/2014/main" id="{A0B40ECA-E2CD-4EF3-9E23-44481814AA4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8C5C49B0-495F-4A78-B0DB-D86D46180E4B}"/>
              </a:ext>
            </a:extLst>
          </p:cNvPr>
          <p:cNvGraphicFramePr>
            <a:graphicFrameLocks noChangeAspect="1"/>
          </p:cNvGraphicFramePr>
          <p:nvPr>
            <p:extLst>
              <p:ext uri="{D42A27DB-BD31-4B8C-83A1-F6EECF244321}">
                <p14:modId xmlns:p14="http://schemas.microsoft.com/office/powerpoint/2010/main" val="3843768166"/>
              </p:ext>
            </p:extLst>
          </p:nvPr>
        </p:nvGraphicFramePr>
        <p:xfrm>
          <a:off x="555674" y="1469886"/>
          <a:ext cx="6302325" cy="438149"/>
        </p:xfrm>
        <a:graphic>
          <a:graphicData uri="http://schemas.openxmlformats.org/presentationml/2006/ole">
            <mc:AlternateContent xmlns:mc="http://schemas.openxmlformats.org/markup-compatibility/2006">
              <mc:Choice xmlns:v="urn:schemas-microsoft-com:vml" Requires="v">
                <p:oleObj name="Equation" r:id="rId2" imgW="3289300" imgH="228600" progId="Equation.3">
                  <p:embed/>
                </p:oleObj>
              </mc:Choice>
              <mc:Fallback>
                <p:oleObj name="Equation" r:id="rId2" imgW="3289300" imgH="228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74" y="1469886"/>
                        <a:ext cx="6302325" cy="438149"/>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7" name="Rectangle 6">
            <a:extLst>
              <a:ext uri="{FF2B5EF4-FFF2-40B4-BE49-F238E27FC236}">
                <a16:creationId xmlns:a16="http://schemas.microsoft.com/office/drawing/2014/main" id="{1D97F99F-C0FB-45EA-91A5-D6310D468FB2}"/>
              </a:ext>
            </a:extLst>
          </p:cNvPr>
          <p:cNvSpPr/>
          <p:nvPr/>
        </p:nvSpPr>
        <p:spPr>
          <a:xfrm>
            <a:off x="457199" y="2317701"/>
            <a:ext cx="8254339" cy="1200329"/>
          </a:xfrm>
          <a:prstGeom prst="rect">
            <a:avLst/>
          </a:prstGeom>
        </p:spPr>
        <p:txBody>
          <a:bodyPr wrap="square">
            <a:spAutoFit/>
          </a:bodyPr>
          <a:lstStyle/>
          <a:p>
            <a:pPr algn="just"/>
            <a:r>
              <a:rPr lang="en-GB" sz="2400" dirty="0">
                <a:latin typeface="Gill Sans MT" panose="020B0502020104020203" pitchFamily="34" charset="0"/>
                <a:ea typeface="Times New Roman" panose="02020603050405020304" pitchFamily="18" charset="0"/>
              </a:rPr>
              <a:t>The regression coefficients can be estimated using OLS estimation.  The SPSS output for the above regression model is provided in tables</a:t>
            </a:r>
            <a:endParaRPr lang="en-IN" sz="2400" dirty="0">
              <a:latin typeface="Gill Sans MT" panose="020B0502020104020203" pitchFamily="34" charset="0"/>
            </a:endParaRPr>
          </a:p>
        </p:txBody>
      </p:sp>
      <p:graphicFrame>
        <p:nvGraphicFramePr>
          <p:cNvPr id="8" name="Table 7">
            <a:extLst>
              <a:ext uri="{FF2B5EF4-FFF2-40B4-BE49-F238E27FC236}">
                <a16:creationId xmlns:a16="http://schemas.microsoft.com/office/drawing/2014/main" id="{C28FAC8D-0C67-4F57-A4B9-3E107666B24D}"/>
              </a:ext>
            </a:extLst>
          </p:cNvPr>
          <p:cNvGraphicFramePr>
            <a:graphicFrameLocks noGrp="1"/>
          </p:cNvGraphicFramePr>
          <p:nvPr>
            <p:extLst>
              <p:ext uri="{D42A27DB-BD31-4B8C-83A1-F6EECF244321}">
                <p14:modId xmlns:p14="http://schemas.microsoft.com/office/powerpoint/2010/main" val="705529671"/>
              </p:ext>
            </p:extLst>
          </p:nvPr>
        </p:nvGraphicFramePr>
        <p:xfrm>
          <a:off x="1676398" y="4676716"/>
          <a:ext cx="5181601" cy="1295400"/>
        </p:xfrm>
        <a:graphic>
          <a:graphicData uri="http://schemas.openxmlformats.org/drawingml/2006/table">
            <a:tbl>
              <a:tblPr>
                <a:tableStyleId>{69CF1AB2-1976-4502-BF36-3FF5EA218861}</a:tableStyleId>
              </a:tblPr>
              <a:tblGrid>
                <a:gridCol w="804458">
                  <a:extLst>
                    <a:ext uri="{9D8B030D-6E8A-4147-A177-3AD203B41FA5}">
                      <a16:colId xmlns:a16="http://schemas.microsoft.com/office/drawing/2014/main" val="1889434167"/>
                    </a:ext>
                  </a:extLst>
                </a:gridCol>
                <a:gridCol w="794626">
                  <a:extLst>
                    <a:ext uri="{9D8B030D-6E8A-4147-A177-3AD203B41FA5}">
                      <a16:colId xmlns:a16="http://schemas.microsoft.com/office/drawing/2014/main" val="2093270743"/>
                    </a:ext>
                  </a:extLst>
                </a:gridCol>
                <a:gridCol w="956411">
                  <a:extLst>
                    <a:ext uri="{9D8B030D-6E8A-4147-A177-3AD203B41FA5}">
                      <a16:colId xmlns:a16="http://schemas.microsoft.com/office/drawing/2014/main" val="495116857"/>
                    </a:ext>
                  </a:extLst>
                </a:gridCol>
                <a:gridCol w="1313053">
                  <a:extLst>
                    <a:ext uri="{9D8B030D-6E8A-4147-A177-3AD203B41FA5}">
                      <a16:colId xmlns:a16="http://schemas.microsoft.com/office/drawing/2014/main" val="3969021498"/>
                    </a:ext>
                  </a:extLst>
                </a:gridCol>
                <a:gridCol w="1313053">
                  <a:extLst>
                    <a:ext uri="{9D8B030D-6E8A-4147-A177-3AD203B41FA5}">
                      <a16:colId xmlns:a16="http://schemas.microsoft.com/office/drawing/2014/main" val="3771897569"/>
                    </a:ext>
                  </a:extLst>
                </a:gridCol>
              </a:tblGrid>
              <a:tr h="880136">
                <a:tc>
                  <a:txBody>
                    <a:bodyPr/>
                    <a:lstStyle/>
                    <a:p>
                      <a:pPr marL="38100" marR="38100" algn="ctr">
                        <a:lnSpc>
                          <a:spcPct val="150000"/>
                        </a:lnSpc>
                        <a:spcAft>
                          <a:spcPts val="0"/>
                        </a:spcAft>
                      </a:pPr>
                      <a:r>
                        <a:rPr lang="en-GB" sz="1600" b="1" dirty="0">
                          <a:effectLst/>
                        </a:rPr>
                        <a:t>Model</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600" b="1" dirty="0">
                          <a:effectLst/>
                        </a:rPr>
                        <a:t>R</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600" b="1" dirty="0">
                          <a:effectLst/>
                        </a:rPr>
                        <a:t>R-Square</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600" b="1" dirty="0">
                          <a:effectLst/>
                        </a:rPr>
                        <a:t>Adjusted R-Square</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600" b="1" dirty="0">
                          <a:effectLst/>
                        </a:rPr>
                        <a:t>Std. Error of the Estimate</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75801738"/>
                  </a:ext>
                </a:extLst>
              </a:tr>
              <a:tr h="415264">
                <a:tc>
                  <a:txBody>
                    <a:bodyPr/>
                    <a:lstStyle/>
                    <a:p>
                      <a:pPr marL="38100" marR="38100">
                        <a:lnSpc>
                          <a:spcPct val="150000"/>
                        </a:lnSpc>
                        <a:spcAft>
                          <a:spcPts val="0"/>
                        </a:spcAft>
                      </a:pPr>
                      <a:r>
                        <a:rPr lang="en-GB" sz="1600">
                          <a:effectLst/>
                        </a:rPr>
                        <a:t>1</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600">
                          <a:effectLst/>
                        </a:rPr>
                        <a:t>0.912</a:t>
                      </a:r>
                      <a:r>
                        <a:rPr lang="en-GB" sz="1600" baseline="30000">
                          <a:effectLst/>
                        </a:rPr>
                        <a:t>a</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600" dirty="0">
                          <a:effectLst/>
                        </a:rPr>
                        <a:t>0.832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600">
                          <a:effectLst/>
                        </a:rPr>
                        <a:t>0.822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600" dirty="0">
                          <a:effectLst/>
                        </a:rPr>
                        <a:t>57548.382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56029675"/>
                  </a:ext>
                </a:extLst>
              </a:tr>
            </a:tbl>
          </a:graphicData>
        </a:graphic>
      </p:graphicFrame>
      <p:sp>
        <p:nvSpPr>
          <p:cNvPr id="10" name="Content Placeholder 3">
            <a:extLst>
              <a:ext uri="{FF2B5EF4-FFF2-40B4-BE49-F238E27FC236}">
                <a16:creationId xmlns:a16="http://schemas.microsoft.com/office/drawing/2014/main" id="{4D19C46F-1ADF-469D-BE69-5818A545AF2A}"/>
              </a:ext>
            </a:extLst>
          </p:cNvPr>
          <p:cNvSpPr txBox="1">
            <a:spLocks/>
          </p:cNvSpPr>
          <p:nvPr/>
        </p:nvSpPr>
        <p:spPr bwMode="auto">
          <a:xfrm>
            <a:off x="2705100" y="3927696"/>
            <a:ext cx="3124199" cy="38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charset="0"/>
              <a:buNone/>
            </a:pPr>
            <a:r>
              <a:rPr lang="en-GB" sz="2400" b="1" dirty="0">
                <a:latin typeface="Gill Sans MT" panose="020B0502020104020203" pitchFamily="34" charset="0"/>
              </a:rPr>
              <a:t>Model Summary</a:t>
            </a:r>
            <a:endParaRPr lang="en-IN" sz="2400" b="1" dirty="0">
              <a:latin typeface="Gill Sans MT" panose="020B0502020104020203" pitchFamily="34" charset="0"/>
            </a:endParaRPr>
          </a:p>
        </p:txBody>
      </p:sp>
    </p:spTree>
    <p:extLst>
      <p:ext uri="{BB962C8B-B14F-4D97-AF65-F5344CB8AC3E}">
        <p14:creationId xmlns:p14="http://schemas.microsoft.com/office/powerpoint/2010/main" val="41898872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000"/>
                                        <p:tgtEl>
                                          <p:spTgt spid="10">
                                            <p:txEl>
                                              <p:pRg st="0" end="0"/>
                                            </p:txEl>
                                          </p:spTgt>
                                        </p:tgtEl>
                                      </p:cBhvr>
                                    </p:animEffect>
                                    <p:anim calcmode="lin" valueType="num">
                                      <p:cBhvr>
                                        <p:cTn id="3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72AC205-2299-4CBA-BCB8-2E3B2525838B}"/>
              </a:ext>
            </a:extLst>
          </p:cNvPr>
          <p:cNvSpPr>
            <a:spLocks noGrp="1"/>
          </p:cNvSpPr>
          <p:nvPr>
            <p:ph idx="1"/>
          </p:nvPr>
        </p:nvSpPr>
        <p:spPr>
          <a:xfrm>
            <a:off x="297180" y="3135940"/>
            <a:ext cx="8610600" cy="457193"/>
          </a:xfrm>
        </p:spPr>
        <p:txBody>
          <a:bodyPr/>
          <a:lstStyle/>
          <a:p>
            <a:pPr marL="0" indent="0">
              <a:buNone/>
            </a:pPr>
            <a:r>
              <a:rPr lang="en-GB" sz="2300" dirty="0">
                <a:latin typeface="Gill Sans MT" panose="020B0502020104020203" pitchFamily="34" charset="0"/>
              </a:rPr>
              <a:t>The regression model after estimation of the parameters is given by</a:t>
            </a:r>
            <a:endParaRPr lang="en-IN" sz="2300" dirty="0">
              <a:latin typeface="Gill Sans MT" panose="020B0502020104020203" pitchFamily="34" charset="0"/>
            </a:endParaRPr>
          </a:p>
          <a:p>
            <a:pPr marL="0" indent="0">
              <a:buNone/>
            </a:pPr>
            <a:endParaRPr lang="en-GB" sz="2300" dirty="0">
              <a:latin typeface="Gill Sans MT" panose="020B0502020104020203" pitchFamily="34" charset="0"/>
            </a:endParaRPr>
          </a:p>
        </p:txBody>
      </p:sp>
      <p:graphicFrame>
        <p:nvGraphicFramePr>
          <p:cNvPr id="5" name="Table 4">
            <a:extLst>
              <a:ext uri="{FF2B5EF4-FFF2-40B4-BE49-F238E27FC236}">
                <a16:creationId xmlns:a16="http://schemas.microsoft.com/office/drawing/2014/main" id="{52A414EB-F012-4BF8-BE9D-82D86BA44459}"/>
              </a:ext>
            </a:extLst>
          </p:cNvPr>
          <p:cNvGraphicFramePr>
            <a:graphicFrameLocks noGrp="1"/>
          </p:cNvGraphicFramePr>
          <p:nvPr>
            <p:extLst>
              <p:ext uri="{D42A27DB-BD31-4B8C-83A1-F6EECF244321}">
                <p14:modId xmlns:p14="http://schemas.microsoft.com/office/powerpoint/2010/main" val="958975830"/>
              </p:ext>
            </p:extLst>
          </p:nvPr>
        </p:nvGraphicFramePr>
        <p:xfrm>
          <a:off x="1104900" y="921402"/>
          <a:ext cx="6477000" cy="1981199"/>
        </p:xfrm>
        <a:graphic>
          <a:graphicData uri="http://schemas.openxmlformats.org/drawingml/2006/table">
            <a:tbl>
              <a:tblPr>
                <a:tableStyleId>{8A107856-5554-42FB-B03E-39F5DBC370BA}</a:tableStyleId>
              </a:tblPr>
              <a:tblGrid>
                <a:gridCol w="963120">
                  <a:extLst>
                    <a:ext uri="{9D8B030D-6E8A-4147-A177-3AD203B41FA5}">
                      <a16:colId xmlns:a16="http://schemas.microsoft.com/office/drawing/2014/main" val="1394648222"/>
                    </a:ext>
                  </a:extLst>
                </a:gridCol>
                <a:gridCol w="963120">
                  <a:extLst>
                    <a:ext uri="{9D8B030D-6E8A-4147-A177-3AD203B41FA5}">
                      <a16:colId xmlns:a16="http://schemas.microsoft.com/office/drawing/2014/main" val="3547135767"/>
                    </a:ext>
                  </a:extLst>
                </a:gridCol>
                <a:gridCol w="963120">
                  <a:extLst>
                    <a:ext uri="{9D8B030D-6E8A-4147-A177-3AD203B41FA5}">
                      <a16:colId xmlns:a16="http://schemas.microsoft.com/office/drawing/2014/main" val="1351316899"/>
                    </a:ext>
                  </a:extLst>
                </a:gridCol>
                <a:gridCol w="1062978">
                  <a:extLst>
                    <a:ext uri="{9D8B030D-6E8A-4147-A177-3AD203B41FA5}">
                      <a16:colId xmlns:a16="http://schemas.microsoft.com/office/drawing/2014/main" val="4153731461"/>
                    </a:ext>
                  </a:extLst>
                </a:gridCol>
                <a:gridCol w="1062978">
                  <a:extLst>
                    <a:ext uri="{9D8B030D-6E8A-4147-A177-3AD203B41FA5}">
                      <a16:colId xmlns:a16="http://schemas.microsoft.com/office/drawing/2014/main" val="1943334100"/>
                    </a:ext>
                  </a:extLst>
                </a:gridCol>
                <a:gridCol w="730842">
                  <a:extLst>
                    <a:ext uri="{9D8B030D-6E8A-4147-A177-3AD203B41FA5}">
                      <a16:colId xmlns:a16="http://schemas.microsoft.com/office/drawing/2014/main" val="3444829735"/>
                    </a:ext>
                  </a:extLst>
                </a:gridCol>
                <a:gridCol w="730842">
                  <a:extLst>
                    <a:ext uri="{9D8B030D-6E8A-4147-A177-3AD203B41FA5}">
                      <a16:colId xmlns:a16="http://schemas.microsoft.com/office/drawing/2014/main" val="4035694401"/>
                    </a:ext>
                  </a:extLst>
                </a:gridCol>
              </a:tblGrid>
              <a:tr h="825743">
                <a:tc rowSpan="2" gridSpan="2">
                  <a:txBody>
                    <a:bodyPr/>
                    <a:lstStyle/>
                    <a:p>
                      <a:pPr marL="38100" marR="38100">
                        <a:lnSpc>
                          <a:spcPct val="150000"/>
                        </a:lnSpc>
                        <a:spcAft>
                          <a:spcPts val="0"/>
                        </a:spcAft>
                      </a:pPr>
                      <a:r>
                        <a:rPr lang="en-GB" sz="1400" b="1" dirty="0">
                          <a:effectLst/>
                        </a:rPr>
                        <a:t>Model</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hMerge="1">
                  <a:txBody>
                    <a:bodyPr/>
                    <a:lstStyle/>
                    <a:p>
                      <a:endParaRPr lang="en-IN"/>
                    </a:p>
                  </a:txBody>
                  <a:tcPr/>
                </a:tc>
                <a:tc gridSpan="2">
                  <a:txBody>
                    <a:bodyPr/>
                    <a:lstStyle/>
                    <a:p>
                      <a:pPr marL="38100" marR="38100" algn="ctr">
                        <a:lnSpc>
                          <a:spcPct val="150000"/>
                        </a:lnSpc>
                        <a:spcAft>
                          <a:spcPts val="0"/>
                        </a:spcAft>
                      </a:pPr>
                      <a:r>
                        <a:rPr lang="en-GB" sz="1400" b="1" dirty="0">
                          <a:effectLst/>
                        </a:rPr>
                        <a:t>Unstandardized Coefficients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L="38100" marR="38100" algn="ctr">
                        <a:lnSpc>
                          <a:spcPct val="150000"/>
                        </a:lnSpc>
                        <a:spcAft>
                          <a:spcPts val="0"/>
                        </a:spcAft>
                      </a:pPr>
                      <a:r>
                        <a:rPr lang="en-GB" sz="1400" b="1">
                          <a:effectLst/>
                        </a:rPr>
                        <a:t>Standardized Coefficients</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b="1">
                          <a:effectLst/>
                        </a:rPr>
                        <a:t>t</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b="1" dirty="0">
                          <a:effectLst/>
                        </a:rPr>
                        <a:t>Sig.</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352013341"/>
                  </a:ext>
                </a:extLst>
              </a:tr>
              <a:tr h="288864">
                <a:tc gridSpan="2" vMerge="1">
                  <a:txBody>
                    <a:bodyPr/>
                    <a:lstStyle/>
                    <a:p>
                      <a:endParaRPr lang="en-IN"/>
                    </a:p>
                  </a:txBody>
                  <a:tcPr/>
                </a:tc>
                <a:tc hMerge="1" vMerge="1">
                  <a:txBody>
                    <a:bodyPr/>
                    <a:lstStyle/>
                    <a:p>
                      <a:endParaRPr lang="en-IN"/>
                    </a:p>
                  </a:txBody>
                  <a:tcPr/>
                </a:tc>
                <a:tc>
                  <a:txBody>
                    <a:bodyPr/>
                    <a:lstStyle/>
                    <a:p>
                      <a:pPr marL="38100" marR="38100" algn="ctr">
                        <a:lnSpc>
                          <a:spcPct val="150000"/>
                        </a:lnSpc>
                        <a:spcAft>
                          <a:spcPts val="0"/>
                        </a:spcAft>
                      </a:pPr>
                      <a:r>
                        <a:rPr lang="en-GB" sz="1400" b="1" dirty="0">
                          <a:effectLst/>
                        </a:rPr>
                        <a:t>B</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b="1" dirty="0">
                          <a:effectLst/>
                        </a:rPr>
                        <a:t>Std. Error</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b="1" dirty="0">
                          <a:effectLst/>
                        </a:rPr>
                        <a:t>Beta</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432797636"/>
                  </a:ext>
                </a:extLst>
              </a:tr>
              <a:tr h="288864">
                <a:tc rowSpan="3">
                  <a:txBody>
                    <a:bodyPr/>
                    <a:lstStyle/>
                    <a:p>
                      <a:pPr marL="38100" marR="38100">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nSpc>
                          <a:spcPct val="150000"/>
                        </a:lnSpc>
                        <a:spcAft>
                          <a:spcPts val="0"/>
                        </a:spcAft>
                      </a:pPr>
                      <a:r>
                        <a:rPr lang="en-GB" sz="1400" b="1">
                          <a:effectLst/>
                        </a:rPr>
                        <a:t>Constant</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41008.840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90958.920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50000"/>
                        </a:lnSpc>
                        <a:spcAft>
                          <a:spcPts val="0"/>
                        </a:spcAft>
                      </a:pPr>
                      <a:r>
                        <a:rPr lang="en-GB" sz="1400" dirty="0">
                          <a:effectLst/>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0.451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0.655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89998338"/>
                  </a:ext>
                </a:extLst>
              </a:tr>
              <a:tr h="288864">
                <a:tc vMerge="1">
                  <a:txBody>
                    <a:bodyPr/>
                    <a:lstStyle/>
                    <a:p>
                      <a:endParaRPr lang="en-IN"/>
                    </a:p>
                  </a:txBody>
                  <a:tcPr/>
                </a:tc>
                <a:tc>
                  <a:txBody>
                    <a:bodyPr/>
                    <a:lstStyle/>
                    <a:p>
                      <a:pPr marL="38100" marR="38100">
                        <a:lnSpc>
                          <a:spcPct val="150000"/>
                        </a:lnSpc>
                        <a:spcAft>
                          <a:spcPts val="0"/>
                        </a:spcAft>
                      </a:pPr>
                      <a:r>
                        <a:rPr lang="en-GB" sz="1400" b="1">
                          <a:effectLst/>
                        </a:rPr>
                        <a:t>CTRP</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5931.850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576.622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0.732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10.287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42889378"/>
                  </a:ext>
                </a:extLst>
              </a:tr>
              <a:tr h="288864">
                <a:tc vMerge="1">
                  <a:txBody>
                    <a:bodyPr/>
                    <a:lstStyle/>
                    <a:p>
                      <a:endParaRPr lang="en-IN"/>
                    </a:p>
                  </a:txBody>
                  <a:tcPr/>
                </a:tc>
                <a:tc>
                  <a:txBody>
                    <a:bodyPr/>
                    <a:lstStyle/>
                    <a:p>
                      <a:pPr marL="38100" marR="38100">
                        <a:lnSpc>
                          <a:spcPct val="150000"/>
                        </a:lnSpc>
                        <a:spcAft>
                          <a:spcPts val="0"/>
                        </a:spcAft>
                      </a:pPr>
                      <a:r>
                        <a:rPr lang="en-GB" sz="1400" b="1" dirty="0">
                          <a:effectLst/>
                        </a:rPr>
                        <a:t>P</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3.136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0.303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0.736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10.344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0.000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64301158"/>
                  </a:ext>
                </a:extLst>
              </a:tr>
            </a:tbl>
          </a:graphicData>
        </a:graphic>
      </p:graphicFrame>
      <p:sp>
        <p:nvSpPr>
          <p:cNvPr id="6" name="Rectangle 2">
            <a:extLst>
              <a:ext uri="{FF2B5EF4-FFF2-40B4-BE49-F238E27FC236}">
                <a16:creationId xmlns:a16="http://schemas.microsoft.com/office/drawing/2014/main" id="{A02DA7C2-1A47-4A1B-AAD7-E77001E68CA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24643FFB-9DE3-4260-9D91-CA5ECA8B70E2}"/>
              </a:ext>
            </a:extLst>
          </p:cNvPr>
          <p:cNvGraphicFramePr>
            <a:graphicFrameLocks noChangeAspect="1"/>
          </p:cNvGraphicFramePr>
          <p:nvPr>
            <p:extLst>
              <p:ext uri="{D42A27DB-BD31-4B8C-83A1-F6EECF244321}">
                <p14:modId xmlns:p14="http://schemas.microsoft.com/office/powerpoint/2010/main" val="2792664550"/>
              </p:ext>
            </p:extLst>
          </p:nvPr>
        </p:nvGraphicFramePr>
        <p:xfrm>
          <a:off x="1219200" y="3792466"/>
          <a:ext cx="6362700" cy="457200"/>
        </p:xfrm>
        <a:graphic>
          <a:graphicData uri="http://schemas.openxmlformats.org/presentationml/2006/ole">
            <mc:AlternateContent xmlns:mc="http://schemas.openxmlformats.org/markup-compatibility/2006">
              <mc:Choice xmlns:v="urn:schemas-microsoft-com:vml" Requires="v">
                <p:oleObj name="Equation" r:id="rId2" imgW="2489200" imgH="165100" progId="Equation.3">
                  <p:embed/>
                </p:oleObj>
              </mc:Choice>
              <mc:Fallback>
                <p:oleObj name="Equation" r:id="rId2" imgW="2489200" imgH="1651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792466"/>
                        <a:ext cx="6362700" cy="4572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8" name="TextBox 7">
            <a:extLst>
              <a:ext uri="{FF2B5EF4-FFF2-40B4-BE49-F238E27FC236}">
                <a16:creationId xmlns:a16="http://schemas.microsoft.com/office/drawing/2014/main" id="{719B035C-62A6-4C4E-B801-A80085B9C693}"/>
              </a:ext>
            </a:extLst>
          </p:cNvPr>
          <p:cNvSpPr txBox="1"/>
          <p:nvPr/>
        </p:nvSpPr>
        <p:spPr>
          <a:xfrm>
            <a:off x="2895600" y="368350"/>
            <a:ext cx="2895600" cy="461665"/>
          </a:xfrm>
          <a:prstGeom prst="rect">
            <a:avLst/>
          </a:prstGeom>
          <a:noFill/>
        </p:spPr>
        <p:txBody>
          <a:bodyPr wrap="square" rtlCol="0">
            <a:spAutoFit/>
          </a:bodyPr>
          <a:lstStyle/>
          <a:p>
            <a:pPr algn="ctr"/>
            <a:r>
              <a:rPr lang="en-US" sz="2300" b="1" dirty="0">
                <a:latin typeface="Gill Sans MT" panose="020B0502020104020203" pitchFamily="34" charset="0"/>
              </a:rPr>
              <a:t>Coefficients</a:t>
            </a:r>
          </a:p>
        </p:txBody>
      </p:sp>
      <p:sp>
        <p:nvSpPr>
          <p:cNvPr id="9" name="Content Placeholder 3">
            <a:extLst>
              <a:ext uri="{FF2B5EF4-FFF2-40B4-BE49-F238E27FC236}">
                <a16:creationId xmlns:a16="http://schemas.microsoft.com/office/drawing/2014/main" id="{B33677A4-781D-47FE-A556-E911622B88ED}"/>
              </a:ext>
            </a:extLst>
          </p:cNvPr>
          <p:cNvSpPr txBox="1">
            <a:spLocks/>
          </p:cNvSpPr>
          <p:nvPr/>
        </p:nvSpPr>
        <p:spPr bwMode="auto">
          <a:xfrm>
            <a:off x="297180" y="4448999"/>
            <a:ext cx="8610600" cy="1980086"/>
          </a:xfrm>
          <a:prstGeom prst="round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GB" sz="2300" i="1" dirty="0">
                <a:ln w="0"/>
                <a:solidFill>
                  <a:srgbClr val="002060"/>
                </a:solidFill>
                <a:effectLst>
                  <a:outerShdw blurRad="38100" dist="19050" dir="2700000" algn="tl" rotWithShape="0">
                    <a:schemeClr val="dk1">
                      <a:alpha val="40000"/>
                    </a:schemeClr>
                  </a:outerShdw>
                </a:effectLst>
                <a:latin typeface="Gill Sans MT" panose="020B0502020104020203" pitchFamily="34" charset="0"/>
              </a:rPr>
              <a:t>For every one unit increase in CTRP, the revenue increases by 5931.850 when the variable promotion is kept constant, and for one unit increase in promotion the revenue increases by 3.136 when CTRP is kept constant.  Note that television-rating point is likely to change when the amount spent on promotion is changed.</a:t>
            </a:r>
            <a:endParaRPr lang="en-IN" sz="2300" i="1" dirty="0">
              <a:ln w="0"/>
              <a:solidFill>
                <a:srgbClr val="002060"/>
              </a:solidFill>
              <a:effectLst>
                <a:outerShdw blurRad="38100" dist="19050" dir="2700000" algn="tl" rotWithShape="0">
                  <a:schemeClr val="dk1">
                    <a:alpha val="40000"/>
                  </a:schemeClr>
                </a:outerShdw>
              </a:effectLst>
              <a:latin typeface="Gill Sans MT" panose="020B0502020104020203" pitchFamily="34" charset="0"/>
            </a:endParaRPr>
          </a:p>
        </p:txBody>
      </p:sp>
    </p:spTree>
    <p:extLst>
      <p:ext uri="{BB962C8B-B14F-4D97-AF65-F5344CB8AC3E}">
        <p14:creationId xmlns:p14="http://schemas.microsoft.com/office/powerpoint/2010/main" val="6908718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Effect transition="in" filter="fade">
                                      <p:cBhvr>
                                        <p:cTn id="28" dur="1000"/>
                                        <p:tgtEl>
                                          <p:spTgt spid="9">
                                            <p:txEl>
                                              <p:pRg st="0" end="0"/>
                                            </p:txEl>
                                          </p:spTgt>
                                        </p:tgtEl>
                                      </p:cBhvr>
                                    </p:animEffect>
                                    <p:anim calcmode="lin" valueType="num">
                                      <p:cBhvr>
                                        <p:cTn id="29"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B2710-A4CE-42B0-AA02-03CB140D8C14}"/>
              </a:ext>
            </a:extLst>
          </p:cNvPr>
          <p:cNvSpPr>
            <a:spLocks noGrp="1"/>
          </p:cNvSpPr>
          <p:nvPr>
            <p:ph type="title"/>
          </p:nvPr>
        </p:nvSpPr>
        <p:spPr/>
        <p:txBody>
          <a:bodyPr/>
          <a:lstStyle/>
          <a:p>
            <a:pPr algn="just"/>
            <a:r>
              <a:rPr lang="en-GB" sz="2800" b="1" dirty="0">
                <a:solidFill>
                  <a:srgbClr val="C00000"/>
                </a:solidFill>
              </a:rPr>
              <a:t>Standardized Regression Co-efficient</a:t>
            </a:r>
            <a:endParaRPr lang="en-IN" sz="2800" dirty="0">
              <a:solidFill>
                <a:srgbClr val="C00000"/>
              </a:solidFill>
            </a:endParaRPr>
          </a:p>
        </p:txBody>
      </p:sp>
      <p:sp>
        <p:nvSpPr>
          <p:cNvPr id="3" name="Content Placeholder 2">
            <a:extLst>
              <a:ext uri="{FF2B5EF4-FFF2-40B4-BE49-F238E27FC236}">
                <a16:creationId xmlns:a16="http://schemas.microsoft.com/office/drawing/2014/main" id="{0FB69B3B-0CEE-476A-850F-BB147E3574C7}"/>
              </a:ext>
            </a:extLst>
          </p:cNvPr>
          <p:cNvSpPr>
            <a:spLocks noGrp="1"/>
          </p:cNvSpPr>
          <p:nvPr>
            <p:ph idx="1"/>
          </p:nvPr>
        </p:nvSpPr>
        <p:spPr/>
        <p:txBody>
          <a:bodyPr/>
          <a:lstStyle/>
          <a:p>
            <a:pPr algn="just"/>
            <a:r>
              <a:rPr lang="en-GB" sz="2400" dirty="0"/>
              <a:t>A regression model can be built on standardized dependent variable and standardized independent variables, the resulting regression coefficients are then known as </a:t>
            </a:r>
            <a:r>
              <a:rPr lang="en-GB" sz="2400" b="1" dirty="0"/>
              <a:t>standardized regression coefficients</a:t>
            </a:r>
            <a:r>
              <a:rPr lang="en-GB" sz="2400" dirty="0"/>
              <a:t>.</a:t>
            </a:r>
          </a:p>
          <a:p>
            <a:pPr algn="just"/>
            <a:r>
              <a:rPr lang="en-GB" sz="2400" dirty="0"/>
              <a:t>The standardized regression coefficient can also be calculated using the following formula:</a:t>
            </a:r>
          </a:p>
          <a:p>
            <a:pPr algn="just"/>
            <a:endParaRPr lang="en-GB" sz="2400" dirty="0"/>
          </a:p>
          <a:p>
            <a:pPr algn="just"/>
            <a:endParaRPr lang="en-GB" sz="2400" dirty="0"/>
          </a:p>
          <a:p>
            <a:pPr algn="just"/>
            <a:r>
              <a:rPr lang="en-GB" sz="2400" dirty="0"/>
              <a:t>Where      is the standard deviation of the explanatory variable Xi and SY is the standard deviation of the response variable Y</a:t>
            </a:r>
            <a:r>
              <a:rPr lang="en-GB" dirty="0"/>
              <a:t>.  </a:t>
            </a:r>
            <a:endParaRPr lang="en-IN" sz="2400" dirty="0"/>
          </a:p>
          <a:p>
            <a:pPr marL="0" indent="0" algn="just">
              <a:buNone/>
            </a:pPr>
            <a:endParaRPr lang="en-IN" sz="2400" dirty="0"/>
          </a:p>
        </p:txBody>
      </p:sp>
      <p:sp>
        <p:nvSpPr>
          <p:cNvPr id="4" name="Rectangle 2">
            <a:extLst>
              <a:ext uri="{FF2B5EF4-FFF2-40B4-BE49-F238E27FC236}">
                <a16:creationId xmlns:a16="http://schemas.microsoft.com/office/drawing/2014/main" id="{36907751-352C-47E0-ACCB-9991CBF1D2D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D7B48D20-CD47-473C-AAE9-95CDCBB13EE4}"/>
              </a:ext>
            </a:extLst>
          </p:cNvPr>
          <p:cNvGraphicFramePr>
            <a:graphicFrameLocks noChangeAspect="1"/>
          </p:cNvGraphicFramePr>
          <p:nvPr>
            <p:extLst>
              <p:ext uri="{D42A27DB-BD31-4B8C-83A1-F6EECF244321}">
                <p14:modId xmlns:p14="http://schemas.microsoft.com/office/powerpoint/2010/main" val="896854228"/>
              </p:ext>
            </p:extLst>
          </p:nvPr>
        </p:nvGraphicFramePr>
        <p:xfrm>
          <a:off x="2819400" y="3411415"/>
          <a:ext cx="2819400" cy="785019"/>
        </p:xfrm>
        <a:graphic>
          <a:graphicData uri="http://schemas.openxmlformats.org/presentationml/2006/ole">
            <mc:AlternateContent xmlns:mc="http://schemas.openxmlformats.org/markup-compatibility/2006">
              <mc:Choice xmlns:v="urn:schemas-microsoft-com:vml" Requires="v">
                <p:oleObj name="Equation" r:id="rId2" imgW="1879600" imgH="508000" progId="Equation.3">
                  <p:embed/>
                </p:oleObj>
              </mc:Choice>
              <mc:Fallback>
                <p:oleObj name="Equation" r:id="rId2" imgW="1879600" imgH="508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411415"/>
                        <a:ext cx="2819400" cy="785019"/>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9" name="Rectangle 8">
            <a:extLst>
              <a:ext uri="{FF2B5EF4-FFF2-40B4-BE49-F238E27FC236}">
                <a16:creationId xmlns:a16="http://schemas.microsoft.com/office/drawing/2014/main" id="{B5433E85-5157-47C5-BFA4-A19CADFFC08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0" name="Object 9">
            <a:extLst>
              <a:ext uri="{FF2B5EF4-FFF2-40B4-BE49-F238E27FC236}">
                <a16:creationId xmlns:a16="http://schemas.microsoft.com/office/drawing/2014/main" id="{D9D074BC-6F32-425C-83B0-146736C27ADB}"/>
              </a:ext>
            </a:extLst>
          </p:cNvPr>
          <p:cNvGraphicFramePr>
            <a:graphicFrameLocks noChangeAspect="1"/>
          </p:cNvGraphicFramePr>
          <p:nvPr>
            <p:extLst>
              <p:ext uri="{D42A27DB-BD31-4B8C-83A1-F6EECF244321}">
                <p14:modId xmlns:p14="http://schemas.microsoft.com/office/powerpoint/2010/main" val="2809212305"/>
              </p:ext>
            </p:extLst>
          </p:nvPr>
        </p:nvGraphicFramePr>
        <p:xfrm>
          <a:off x="1905000" y="4196434"/>
          <a:ext cx="457200" cy="480341"/>
        </p:xfrm>
        <a:graphic>
          <a:graphicData uri="http://schemas.openxmlformats.org/presentationml/2006/ole">
            <mc:AlternateContent xmlns:mc="http://schemas.openxmlformats.org/markup-compatibility/2006">
              <mc:Choice xmlns:v="urn:schemas-microsoft-com:vml" Requires="v">
                <p:oleObj name="Equation" r:id="rId4" imgW="266469" imgH="253780" progId="Equation.3">
                  <p:embed/>
                </p:oleObj>
              </mc:Choice>
              <mc:Fallback>
                <p:oleObj name="Equation" r:id="rId4" imgW="266469" imgH="25378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196434"/>
                        <a:ext cx="457200" cy="480341"/>
                      </a:xfrm>
                      <a:prstGeom prst="rect">
                        <a:avLst/>
                      </a:prstGeom>
                      <a:noFill/>
                    </p:spPr>
                  </p:pic>
                </p:oleObj>
              </mc:Fallback>
            </mc:AlternateContent>
          </a:graphicData>
        </a:graphic>
      </p:graphicFrame>
    </p:spTree>
    <p:extLst>
      <p:ext uri="{BB962C8B-B14F-4D97-AF65-F5344CB8AC3E}">
        <p14:creationId xmlns:p14="http://schemas.microsoft.com/office/powerpoint/2010/main" val="27510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BF0F8D-9839-4426-BD39-B920FA653298}"/>
              </a:ext>
            </a:extLst>
          </p:cNvPr>
          <p:cNvSpPr>
            <a:spLocks noGrp="1"/>
          </p:cNvSpPr>
          <p:nvPr>
            <p:ph type="title"/>
          </p:nvPr>
        </p:nvSpPr>
        <p:spPr>
          <a:xfrm>
            <a:off x="628651" y="548412"/>
            <a:ext cx="8252114" cy="518388"/>
          </a:xfrm>
        </p:spPr>
        <p:txBody>
          <a:bodyPr/>
          <a:lstStyle/>
          <a:p>
            <a:pPr algn="just"/>
            <a:r>
              <a:rPr lang="en-GB" sz="2400" b="1" dirty="0">
                <a:solidFill>
                  <a:srgbClr val="C00000"/>
                </a:solidFill>
              </a:rPr>
              <a:t>Regression Models with Qualitative Variables</a:t>
            </a:r>
            <a:endParaRPr lang="en-IN" sz="2400" dirty="0">
              <a:solidFill>
                <a:srgbClr val="C00000"/>
              </a:solidFill>
            </a:endParaRPr>
          </a:p>
        </p:txBody>
      </p:sp>
      <p:sp>
        <p:nvSpPr>
          <p:cNvPr id="4" name="Content Placeholder 3">
            <a:extLst>
              <a:ext uri="{FF2B5EF4-FFF2-40B4-BE49-F238E27FC236}">
                <a16:creationId xmlns:a16="http://schemas.microsoft.com/office/drawing/2014/main" id="{2A8CD90E-0763-4E33-9D44-4BCA8E265390}"/>
              </a:ext>
            </a:extLst>
          </p:cNvPr>
          <p:cNvSpPr>
            <a:spLocks noGrp="1"/>
          </p:cNvSpPr>
          <p:nvPr>
            <p:ph idx="1"/>
          </p:nvPr>
        </p:nvSpPr>
        <p:spPr>
          <a:xfrm>
            <a:off x="628651" y="2057400"/>
            <a:ext cx="7886700" cy="2452252"/>
          </a:xfrm>
        </p:spPr>
        <p:txBody>
          <a:bodyPr/>
          <a:lstStyle/>
          <a:p>
            <a:pPr algn="just"/>
            <a:r>
              <a:rPr lang="en-GB" sz="2400" dirty="0"/>
              <a:t>In MLR, many predictor variables are likely to be qualitative or categorical variables. Since the scale is not a ratio or interval for categorical variables, we cannot include them directly in the model, since its inclusion directly will result in model misspecification. We have to pre-process the categorical variables using dummy variables for building a regression model. </a:t>
            </a:r>
            <a:endParaRPr lang="en-IN" sz="2400" dirty="0"/>
          </a:p>
        </p:txBody>
      </p:sp>
      <p:sp>
        <p:nvSpPr>
          <p:cNvPr id="5" name="Rectangle 2">
            <a:extLst>
              <a:ext uri="{FF2B5EF4-FFF2-40B4-BE49-F238E27FC236}">
                <a16:creationId xmlns:a16="http://schemas.microsoft.com/office/drawing/2014/main" id="{AEFD4D05-6E2D-448B-9978-DE4860029EA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6788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3C63-8657-4B45-9DEC-28F1A62C9973}"/>
              </a:ext>
            </a:extLst>
          </p:cNvPr>
          <p:cNvSpPr>
            <a:spLocks noGrp="1"/>
          </p:cNvSpPr>
          <p:nvPr>
            <p:ph type="title"/>
          </p:nvPr>
        </p:nvSpPr>
        <p:spPr>
          <a:xfrm>
            <a:off x="650924" y="421843"/>
            <a:ext cx="8252114" cy="518388"/>
          </a:xfrm>
        </p:spPr>
        <p:txBody>
          <a:bodyPr/>
          <a:lstStyle/>
          <a:p>
            <a:pPr algn="just"/>
            <a:r>
              <a:rPr lang="en-GB" b="1" dirty="0">
                <a:solidFill>
                  <a:srgbClr val="C00000"/>
                </a:solidFill>
              </a:rPr>
              <a:t>Example</a:t>
            </a:r>
            <a:endParaRPr lang="en-IN" dirty="0">
              <a:solidFill>
                <a:srgbClr val="C00000"/>
              </a:solidFill>
            </a:endParaRPr>
          </a:p>
        </p:txBody>
      </p:sp>
      <p:sp>
        <p:nvSpPr>
          <p:cNvPr id="3" name="Content Placeholder 2">
            <a:extLst>
              <a:ext uri="{FF2B5EF4-FFF2-40B4-BE49-F238E27FC236}">
                <a16:creationId xmlns:a16="http://schemas.microsoft.com/office/drawing/2014/main" id="{CCE9C8C7-D2E9-47BE-B8DC-363C8FD5DF78}"/>
              </a:ext>
            </a:extLst>
          </p:cNvPr>
          <p:cNvSpPr>
            <a:spLocks noGrp="1"/>
          </p:cNvSpPr>
          <p:nvPr>
            <p:ph idx="1"/>
          </p:nvPr>
        </p:nvSpPr>
        <p:spPr>
          <a:xfrm>
            <a:off x="628650" y="1205347"/>
            <a:ext cx="7886700" cy="1385453"/>
          </a:xfrm>
        </p:spPr>
        <p:txBody>
          <a:bodyPr>
            <a:noAutofit/>
          </a:bodyPr>
          <a:lstStyle/>
          <a:p>
            <a:pPr marL="0" indent="0" algn="just">
              <a:buNone/>
            </a:pPr>
            <a:r>
              <a:rPr lang="en-GB" sz="2400" dirty="0"/>
              <a:t>The data in Table provides salary and educational qualifications of 30 randomly chosen people in Bangalore.  Build a regression model to establish the relationship between salary earned and their educational qualifications.</a:t>
            </a:r>
            <a:endParaRPr lang="en-IN" sz="2400" dirty="0"/>
          </a:p>
          <a:p>
            <a:endParaRPr lang="en-IN" sz="2400" dirty="0"/>
          </a:p>
        </p:txBody>
      </p:sp>
      <p:graphicFrame>
        <p:nvGraphicFramePr>
          <p:cNvPr id="4" name="Table 3">
            <a:extLst>
              <a:ext uri="{FF2B5EF4-FFF2-40B4-BE49-F238E27FC236}">
                <a16:creationId xmlns:a16="http://schemas.microsoft.com/office/drawing/2014/main" id="{2AA40B17-01EE-43FC-9A2F-E3D1A2D361B6}"/>
              </a:ext>
            </a:extLst>
          </p:cNvPr>
          <p:cNvGraphicFramePr>
            <a:graphicFrameLocks noGrp="1"/>
          </p:cNvGraphicFramePr>
          <p:nvPr>
            <p:extLst>
              <p:ext uri="{D42A27DB-BD31-4B8C-83A1-F6EECF244321}">
                <p14:modId xmlns:p14="http://schemas.microsoft.com/office/powerpoint/2010/main" val="1103906361"/>
              </p:ext>
            </p:extLst>
          </p:nvPr>
        </p:nvGraphicFramePr>
        <p:xfrm>
          <a:off x="838200" y="2743200"/>
          <a:ext cx="7239001" cy="3399528"/>
        </p:xfrm>
        <a:graphic>
          <a:graphicData uri="http://schemas.openxmlformats.org/drawingml/2006/table">
            <a:tbl>
              <a:tblPr firstRow="1" firstCol="1" bandRow="1">
                <a:tableStyleId>{5C22544A-7EE6-4342-B048-85BDC9FD1C3A}</a:tableStyleId>
              </a:tblPr>
              <a:tblGrid>
                <a:gridCol w="683610">
                  <a:extLst>
                    <a:ext uri="{9D8B030D-6E8A-4147-A177-3AD203B41FA5}">
                      <a16:colId xmlns:a16="http://schemas.microsoft.com/office/drawing/2014/main" val="748043692"/>
                    </a:ext>
                  </a:extLst>
                </a:gridCol>
                <a:gridCol w="1040275">
                  <a:extLst>
                    <a:ext uri="{9D8B030D-6E8A-4147-A177-3AD203B41FA5}">
                      <a16:colId xmlns:a16="http://schemas.microsoft.com/office/drawing/2014/main" val="950340262"/>
                    </a:ext>
                  </a:extLst>
                </a:gridCol>
                <a:gridCol w="685260">
                  <a:extLst>
                    <a:ext uri="{9D8B030D-6E8A-4147-A177-3AD203B41FA5}">
                      <a16:colId xmlns:a16="http://schemas.microsoft.com/office/drawing/2014/main" val="3198736383"/>
                    </a:ext>
                  </a:extLst>
                </a:gridCol>
                <a:gridCol w="652238">
                  <a:extLst>
                    <a:ext uri="{9D8B030D-6E8A-4147-A177-3AD203B41FA5}">
                      <a16:colId xmlns:a16="http://schemas.microsoft.com/office/drawing/2014/main" val="2960354868"/>
                    </a:ext>
                  </a:extLst>
                </a:gridCol>
                <a:gridCol w="977217">
                  <a:extLst>
                    <a:ext uri="{9D8B030D-6E8A-4147-A177-3AD203B41FA5}">
                      <a16:colId xmlns:a16="http://schemas.microsoft.com/office/drawing/2014/main" val="3296073919"/>
                    </a:ext>
                  </a:extLst>
                </a:gridCol>
                <a:gridCol w="731808">
                  <a:extLst>
                    <a:ext uri="{9D8B030D-6E8A-4147-A177-3AD203B41FA5}">
                      <a16:colId xmlns:a16="http://schemas.microsoft.com/office/drawing/2014/main" val="3813562750"/>
                    </a:ext>
                  </a:extLst>
                </a:gridCol>
                <a:gridCol w="743055">
                  <a:extLst>
                    <a:ext uri="{9D8B030D-6E8A-4147-A177-3AD203B41FA5}">
                      <a16:colId xmlns:a16="http://schemas.microsoft.com/office/drawing/2014/main" val="2036944502"/>
                    </a:ext>
                  </a:extLst>
                </a:gridCol>
                <a:gridCol w="982483">
                  <a:extLst>
                    <a:ext uri="{9D8B030D-6E8A-4147-A177-3AD203B41FA5}">
                      <a16:colId xmlns:a16="http://schemas.microsoft.com/office/drawing/2014/main" val="4248360072"/>
                    </a:ext>
                  </a:extLst>
                </a:gridCol>
                <a:gridCol w="743055">
                  <a:extLst>
                    <a:ext uri="{9D8B030D-6E8A-4147-A177-3AD203B41FA5}">
                      <a16:colId xmlns:a16="http://schemas.microsoft.com/office/drawing/2014/main" val="3833604265"/>
                    </a:ext>
                  </a:extLst>
                </a:gridCol>
              </a:tblGrid>
              <a:tr h="265879">
                <a:tc>
                  <a:txBody>
                    <a:bodyPr/>
                    <a:lstStyle/>
                    <a:p>
                      <a:pPr algn="just">
                        <a:lnSpc>
                          <a:spcPct val="150000"/>
                        </a:lnSpc>
                        <a:spcAft>
                          <a:spcPts val="0"/>
                        </a:spcAft>
                      </a:pPr>
                      <a:r>
                        <a:rPr lang="en-GB" sz="1400">
                          <a:effectLst/>
                        </a:rPr>
                        <a:t>S. 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dirty="0">
                          <a:effectLst/>
                        </a:rPr>
                        <a:t>Education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a:effectLst/>
                        </a:rPr>
                        <a:t>Salary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a:effectLst/>
                        </a:rPr>
                        <a:t>S. 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dirty="0">
                          <a:effectLst/>
                        </a:rPr>
                        <a:t>Education</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dirty="0">
                          <a:effectLst/>
                        </a:rPr>
                        <a:t>Salary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a:effectLst/>
                        </a:rPr>
                        <a:t>S. 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a:effectLst/>
                        </a:rPr>
                        <a:t>Education</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0"/>
                        </a:spcAft>
                      </a:pPr>
                      <a:r>
                        <a:rPr lang="en-GB" sz="1400">
                          <a:effectLst/>
                        </a:rPr>
                        <a:t>Salary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90059075"/>
                  </a:ext>
                </a:extLst>
              </a:tr>
              <a:tr h="311727">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9800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12447670"/>
                  </a:ext>
                </a:extLst>
              </a:tr>
              <a:tr h="311727">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10200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19400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972852564"/>
                  </a:ext>
                </a:extLst>
              </a:tr>
              <a:tr h="311727">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14200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17650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228029793"/>
                  </a:ext>
                </a:extLst>
              </a:tr>
              <a:tr h="311727">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dirty="0">
                          <a:effectLst/>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19600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762399294"/>
                  </a:ext>
                </a:extLst>
              </a:tr>
              <a:tr h="311727">
                <a:tc>
                  <a:txBody>
                    <a:bodyPr/>
                    <a:lstStyle/>
                    <a:p>
                      <a:pPr algn="r">
                        <a:lnSpc>
                          <a:spcPct val="150000"/>
                        </a:lnSpc>
                        <a:spcAft>
                          <a:spcPts val="0"/>
                        </a:spcAft>
                      </a:pPr>
                      <a:r>
                        <a:rPr lang="en-GB" sz="1400">
                          <a:effectLst/>
                        </a:rPr>
                        <a:t>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16500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16700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6500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512245454"/>
                  </a:ext>
                </a:extLst>
              </a:tr>
              <a:tr h="311727">
                <a:tc>
                  <a:txBody>
                    <a:bodyPr/>
                    <a:lstStyle/>
                    <a:p>
                      <a:pPr algn="r">
                        <a:lnSpc>
                          <a:spcPct val="150000"/>
                        </a:lnSpc>
                        <a:spcAft>
                          <a:spcPts val="0"/>
                        </a:spcAft>
                      </a:pPr>
                      <a:r>
                        <a:rPr lang="en-GB" sz="1400">
                          <a:effectLst/>
                        </a:rPr>
                        <a:t>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19210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16700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7200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61313233"/>
                  </a:ext>
                </a:extLst>
              </a:tr>
              <a:tr h="311727">
                <a:tc>
                  <a:txBody>
                    <a:bodyPr/>
                    <a:lstStyle/>
                    <a:p>
                      <a:pPr algn="r">
                        <a:lnSpc>
                          <a:spcPct val="150000"/>
                        </a:lnSpc>
                        <a:spcAft>
                          <a:spcPts val="0"/>
                        </a:spcAft>
                      </a:pPr>
                      <a:r>
                        <a:rPr lang="en-GB" sz="1400">
                          <a:effectLst/>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9700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17500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7700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45625477"/>
                  </a:ext>
                </a:extLst>
              </a:tr>
              <a:tr h="311727">
                <a:tc>
                  <a:txBody>
                    <a:bodyPr/>
                    <a:lstStyle/>
                    <a:p>
                      <a:pPr algn="r">
                        <a:lnSpc>
                          <a:spcPct val="150000"/>
                        </a:lnSpc>
                        <a:spcAft>
                          <a:spcPts val="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11000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15000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5600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86905226"/>
                  </a:ext>
                </a:extLst>
              </a:tr>
              <a:tr h="311727">
                <a:tc>
                  <a:txBody>
                    <a:bodyPr/>
                    <a:lstStyle/>
                    <a:p>
                      <a:pPr algn="r">
                        <a:lnSpc>
                          <a:spcPct val="150000"/>
                        </a:lnSpc>
                        <a:spcAft>
                          <a:spcPts val="0"/>
                        </a:spcAft>
                      </a:pPr>
                      <a:r>
                        <a:rPr lang="en-GB" sz="1400">
                          <a:effectLst/>
                        </a:rPr>
                        <a:t>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7800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18500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8000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390828626"/>
                  </a:ext>
                </a:extLst>
              </a:tr>
              <a:tr h="311727">
                <a:tc>
                  <a:txBody>
                    <a:bodyPr/>
                    <a:lstStyle/>
                    <a:p>
                      <a:pPr algn="r">
                        <a:lnSpc>
                          <a:spcPct val="150000"/>
                        </a:lnSpc>
                        <a:spcAft>
                          <a:spcPts val="0"/>
                        </a:spcAft>
                      </a:pPr>
                      <a:r>
                        <a:rPr lang="en-GB" sz="1400">
                          <a:effectLst/>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8800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19700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30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dirty="0">
                          <a:effectLst/>
                        </a:rPr>
                        <a:t>9300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30816352"/>
                  </a:ext>
                </a:extLst>
              </a:tr>
            </a:tbl>
          </a:graphicData>
        </a:graphic>
      </p:graphicFrame>
    </p:spTree>
    <p:extLst>
      <p:ext uri="{BB962C8B-B14F-4D97-AF65-F5344CB8AC3E}">
        <p14:creationId xmlns:p14="http://schemas.microsoft.com/office/powerpoint/2010/main" val="244936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B105062-8E8A-462E-A1CD-858DCDC06B08}"/>
              </a:ext>
            </a:extLst>
          </p:cNvPr>
          <p:cNvSpPr>
            <a:spLocks noGrp="1"/>
          </p:cNvSpPr>
          <p:nvPr>
            <p:ph idx="1"/>
          </p:nvPr>
        </p:nvSpPr>
        <p:spPr>
          <a:xfrm>
            <a:off x="381000" y="1205347"/>
            <a:ext cx="8382000" cy="1842653"/>
          </a:xfrm>
        </p:spPr>
        <p:txBody>
          <a:bodyPr>
            <a:noAutofit/>
          </a:bodyPr>
          <a:lstStyle/>
          <a:p>
            <a:pPr marL="0" indent="0" algn="just">
              <a:buNone/>
            </a:pPr>
            <a:r>
              <a:rPr lang="en-GB" sz="2400" dirty="0"/>
              <a:t>Note that, if we build a model </a:t>
            </a:r>
            <a:r>
              <a:rPr lang="en-GB" sz="2400" i="1" dirty="0"/>
              <a:t>Y</a:t>
            </a:r>
            <a:r>
              <a:rPr lang="en-GB" sz="2400" dirty="0"/>
              <a:t> = </a:t>
            </a:r>
            <a:r>
              <a:rPr lang="en-GB" sz="2400" dirty="0">
                <a:sym typeface="Symbol" panose="05050102010706020507" pitchFamily="18" charset="2"/>
              </a:rPr>
              <a:t></a:t>
            </a:r>
            <a:r>
              <a:rPr lang="en-GB" sz="2400" dirty="0"/>
              <a:t> </a:t>
            </a:r>
            <a:r>
              <a:rPr lang="en-GB" sz="2400" baseline="-25000" dirty="0"/>
              <a:t>0</a:t>
            </a:r>
            <a:r>
              <a:rPr lang="en-GB" sz="2400" dirty="0"/>
              <a:t> +</a:t>
            </a:r>
            <a:r>
              <a:rPr lang="en-GB" sz="2400" dirty="0">
                <a:sym typeface="Symbol" panose="05050102010706020507" pitchFamily="18" charset="2"/>
              </a:rPr>
              <a:t> </a:t>
            </a:r>
            <a:r>
              <a:rPr lang="en-GB" sz="2400" baseline="-25000" dirty="0"/>
              <a:t>1</a:t>
            </a:r>
            <a:r>
              <a:rPr lang="en-GB" sz="2400" dirty="0"/>
              <a:t> × Education, it will be incorrect. We have to use 3 dummy variables since there are 4 categories for educational qualification. Data in Table 10.12 has to be pre-processed using 3 dummy variables (HS, UG and PG) as shown in Table.</a:t>
            </a:r>
            <a:endParaRPr lang="en-IN" sz="2400" dirty="0"/>
          </a:p>
          <a:p>
            <a:pPr marL="0" indent="0">
              <a:buNone/>
            </a:pPr>
            <a:endParaRPr lang="en-GB" sz="2400" dirty="0"/>
          </a:p>
        </p:txBody>
      </p:sp>
      <p:graphicFrame>
        <p:nvGraphicFramePr>
          <p:cNvPr id="8" name="Table 7">
            <a:extLst>
              <a:ext uri="{FF2B5EF4-FFF2-40B4-BE49-F238E27FC236}">
                <a16:creationId xmlns:a16="http://schemas.microsoft.com/office/drawing/2014/main" id="{EBE43797-7210-416E-96C2-6E4E2F4F4093}"/>
              </a:ext>
            </a:extLst>
          </p:cNvPr>
          <p:cNvGraphicFramePr>
            <a:graphicFrameLocks noGrp="1"/>
          </p:cNvGraphicFramePr>
          <p:nvPr>
            <p:extLst>
              <p:ext uri="{D42A27DB-BD31-4B8C-83A1-F6EECF244321}">
                <p14:modId xmlns:p14="http://schemas.microsoft.com/office/powerpoint/2010/main" val="2985917052"/>
              </p:ext>
            </p:extLst>
          </p:nvPr>
        </p:nvGraphicFramePr>
        <p:xfrm>
          <a:off x="914400" y="3565027"/>
          <a:ext cx="6705600" cy="2586720"/>
        </p:xfrm>
        <a:graphic>
          <a:graphicData uri="http://schemas.openxmlformats.org/drawingml/2006/table">
            <a:tbl>
              <a:tblPr firstRow="1" firstCol="1" bandRow="1">
                <a:tableStyleId>{5C22544A-7EE6-4342-B048-85BDC9FD1C3A}</a:tableStyleId>
              </a:tblPr>
              <a:tblGrid>
                <a:gridCol w="1117600">
                  <a:extLst>
                    <a:ext uri="{9D8B030D-6E8A-4147-A177-3AD203B41FA5}">
                      <a16:colId xmlns:a16="http://schemas.microsoft.com/office/drawing/2014/main" val="3323629175"/>
                    </a:ext>
                  </a:extLst>
                </a:gridCol>
                <a:gridCol w="1117600">
                  <a:extLst>
                    <a:ext uri="{9D8B030D-6E8A-4147-A177-3AD203B41FA5}">
                      <a16:colId xmlns:a16="http://schemas.microsoft.com/office/drawing/2014/main" val="3845521246"/>
                    </a:ext>
                  </a:extLst>
                </a:gridCol>
                <a:gridCol w="1117600">
                  <a:extLst>
                    <a:ext uri="{9D8B030D-6E8A-4147-A177-3AD203B41FA5}">
                      <a16:colId xmlns:a16="http://schemas.microsoft.com/office/drawing/2014/main" val="97887241"/>
                    </a:ext>
                  </a:extLst>
                </a:gridCol>
                <a:gridCol w="1117600">
                  <a:extLst>
                    <a:ext uri="{9D8B030D-6E8A-4147-A177-3AD203B41FA5}">
                      <a16:colId xmlns:a16="http://schemas.microsoft.com/office/drawing/2014/main" val="1863643366"/>
                    </a:ext>
                  </a:extLst>
                </a:gridCol>
                <a:gridCol w="1117600">
                  <a:extLst>
                    <a:ext uri="{9D8B030D-6E8A-4147-A177-3AD203B41FA5}">
                      <a16:colId xmlns:a16="http://schemas.microsoft.com/office/drawing/2014/main" val="3904785522"/>
                    </a:ext>
                  </a:extLst>
                </a:gridCol>
                <a:gridCol w="1117600">
                  <a:extLst>
                    <a:ext uri="{9D8B030D-6E8A-4147-A177-3AD203B41FA5}">
                      <a16:colId xmlns:a16="http://schemas.microsoft.com/office/drawing/2014/main" val="2073253359"/>
                    </a:ext>
                  </a:extLst>
                </a:gridCol>
              </a:tblGrid>
              <a:tr h="359229">
                <a:tc rowSpan="2">
                  <a:txBody>
                    <a:bodyPr/>
                    <a:lstStyle/>
                    <a:p>
                      <a:pPr algn="ctr">
                        <a:lnSpc>
                          <a:spcPct val="150000"/>
                        </a:lnSpc>
                        <a:spcAft>
                          <a:spcPts val="0"/>
                        </a:spcAft>
                      </a:pPr>
                      <a:r>
                        <a:rPr lang="en-GB" sz="1200" b="1">
                          <a:effectLst/>
                        </a:rPr>
                        <a:t>Observation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rowSpan="2">
                  <a:txBody>
                    <a:bodyPr/>
                    <a:lstStyle/>
                    <a:p>
                      <a:pPr algn="ctr">
                        <a:lnSpc>
                          <a:spcPct val="150000"/>
                        </a:lnSpc>
                        <a:spcAft>
                          <a:spcPts val="0"/>
                        </a:spcAft>
                      </a:pPr>
                      <a:r>
                        <a:rPr lang="en-GB" sz="1200" b="1" dirty="0">
                          <a:effectLst/>
                        </a:rPr>
                        <a:t>Education</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gridSpan="3">
                  <a:txBody>
                    <a:bodyPr/>
                    <a:lstStyle/>
                    <a:p>
                      <a:pPr algn="ctr">
                        <a:lnSpc>
                          <a:spcPct val="150000"/>
                        </a:lnSpc>
                        <a:spcAft>
                          <a:spcPts val="0"/>
                        </a:spcAft>
                      </a:pPr>
                      <a:r>
                        <a:rPr lang="en-GB" sz="1200" b="1">
                          <a:effectLst/>
                        </a:rPr>
                        <a:t>Pre-processed data</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rowSpan="2">
                  <a:txBody>
                    <a:bodyPr/>
                    <a:lstStyle/>
                    <a:p>
                      <a:pPr algn="ctr">
                        <a:lnSpc>
                          <a:spcPct val="150000"/>
                        </a:lnSpc>
                        <a:spcAft>
                          <a:spcPts val="0"/>
                        </a:spcAft>
                      </a:pPr>
                      <a:r>
                        <a:rPr lang="en-GB" sz="1200" b="1" dirty="0">
                          <a:effectLst/>
                        </a:rPr>
                        <a:t>Salary</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6096865"/>
                  </a:ext>
                </a:extLst>
              </a:tr>
              <a:tr h="718456">
                <a:tc vMerge="1">
                  <a:txBody>
                    <a:bodyPr/>
                    <a:lstStyle/>
                    <a:p>
                      <a:endParaRPr lang="en-IN"/>
                    </a:p>
                  </a:txBody>
                  <a:tcPr/>
                </a:tc>
                <a:tc vMerge="1">
                  <a:txBody>
                    <a:bodyPr/>
                    <a:lstStyle/>
                    <a:p>
                      <a:endParaRPr lang="en-IN"/>
                    </a:p>
                  </a:txBody>
                  <a:tcPr/>
                </a:tc>
                <a:tc>
                  <a:txBody>
                    <a:bodyPr/>
                    <a:lstStyle/>
                    <a:p>
                      <a:pPr algn="ctr">
                        <a:lnSpc>
                          <a:spcPct val="150000"/>
                        </a:lnSpc>
                        <a:spcAft>
                          <a:spcPts val="0"/>
                        </a:spcAft>
                      </a:pPr>
                      <a:r>
                        <a:rPr lang="en-GB" sz="1200" b="1">
                          <a:effectLst/>
                        </a:rPr>
                        <a:t>High School (HS)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200" b="1" dirty="0">
                          <a:effectLst/>
                        </a:rPr>
                        <a:t>Under-Graduate (UG)</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200" b="1" dirty="0">
                          <a:effectLst/>
                        </a:rPr>
                        <a:t>Post-Graduate (PG)</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vMerge="1">
                  <a:txBody>
                    <a:bodyPr/>
                    <a:lstStyle/>
                    <a:p>
                      <a:endParaRPr lang="en-IN"/>
                    </a:p>
                  </a:txBody>
                  <a:tcPr/>
                </a:tc>
                <a:extLst>
                  <a:ext uri="{0D108BD9-81ED-4DB2-BD59-A6C34878D82A}">
                    <a16:rowId xmlns:a16="http://schemas.microsoft.com/office/drawing/2014/main" val="149183871"/>
                  </a:ext>
                </a:extLst>
              </a:tr>
              <a:tr h="359229">
                <a:tc>
                  <a:txBody>
                    <a:bodyPr/>
                    <a:lstStyle/>
                    <a:p>
                      <a:pPr algn="ctr">
                        <a:lnSpc>
                          <a:spcPct val="150000"/>
                        </a:lnSpc>
                        <a:spcAft>
                          <a:spcPts val="0"/>
                        </a:spcAft>
                      </a:pPr>
                      <a:r>
                        <a:rPr lang="en-GB" sz="10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dirty="0">
                          <a:effectLst/>
                        </a:rPr>
                        <a:t>9800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38957474"/>
                  </a:ext>
                </a:extLst>
              </a:tr>
              <a:tr h="359229">
                <a:tc>
                  <a:txBody>
                    <a:bodyPr/>
                    <a:lstStyle/>
                    <a:p>
                      <a:pPr algn="ctr">
                        <a:lnSpc>
                          <a:spcPct val="150000"/>
                        </a:lnSpc>
                        <a:spcAft>
                          <a:spcPts val="0"/>
                        </a:spcAft>
                      </a:pPr>
                      <a:r>
                        <a:rPr lang="en-GB" sz="1000">
                          <a:effectLst/>
                        </a:rPr>
                        <a:t>11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17200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6097642"/>
                  </a:ext>
                </a:extLst>
              </a:tr>
              <a:tr h="359229">
                <a:tc>
                  <a:txBody>
                    <a:bodyPr/>
                    <a:lstStyle/>
                    <a:p>
                      <a:pPr algn="ctr">
                        <a:lnSpc>
                          <a:spcPct val="150000"/>
                        </a:lnSpc>
                        <a:spcAft>
                          <a:spcPts val="0"/>
                        </a:spcAft>
                      </a:pPr>
                      <a:r>
                        <a:rPr lang="en-GB" sz="1000">
                          <a:effectLst/>
                        </a:rPr>
                        <a:t>19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18500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4932019"/>
                  </a:ext>
                </a:extLst>
              </a:tr>
              <a:tr h="359229">
                <a:tc>
                  <a:txBody>
                    <a:bodyPr/>
                    <a:lstStyle/>
                    <a:p>
                      <a:pPr algn="ctr">
                        <a:lnSpc>
                          <a:spcPct val="150000"/>
                        </a:lnSpc>
                        <a:spcAft>
                          <a:spcPts val="0"/>
                        </a:spcAft>
                      </a:pPr>
                      <a:r>
                        <a:rPr lang="en-GB" sz="1000">
                          <a:effectLst/>
                        </a:rPr>
                        <a:t>27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ctr">
                        <a:lnSpc>
                          <a:spcPct val="150000"/>
                        </a:lnSpc>
                        <a:spcAft>
                          <a:spcPts val="0"/>
                        </a:spcAft>
                      </a:pPr>
                      <a:r>
                        <a:rPr lang="en-GB" sz="1400" dirty="0">
                          <a:effectLst/>
                        </a:rPr>
                        <a:t>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a:effectLst/>
                        </a:rPr>
                        <a:t>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spcAft>
                          <a:spcPts val="0"/>
                        </a:spcAft>
                      </a:pPr>
                      <a:r>
                        <a:rPr lang="en-GB" sz="1400" dirty="0">
                          <a:effectLst/>
                        </a:rPr>
                        <a:t>7700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06682185"/>
                  </a:ext>
                </a:extLst>
              </a:tr>
            </a:tbl>
          </a:graphicData>
        </a:graphic>
      </p:graphicFrame>
      <p:sp>
        <p:nvSpPr>
          <p:cNvPr id="9" name="TextBox 8">
            <a:extLst>
              <a:ext uri="{FF2B5EF4-FFF2-40B4-BE49-F238E27FC236}">
                <a16:creationId xmlns:a16="http://schemas.microsoft.com/office/drawing/2014/main" id="{B6E9E3D6-C595-4464-97A3-FC4F877AF2E3}"/>
              </a:ext>
            </a:extLst>
          </p:cNvPr>
          <p:cNvSpPr txBox="1"/>
          <p:nvPr/>
        </p:nvSpPr>
        <p:spPr>
          <a:xfrm>
            <a:off x="2514600" y="3015734"/>
            <a:ext cx="3809992" cy="369332"/>
          </a:xfrm>
          <a:prstGeom prst="rect">
            <a:avLst/>
          </a:prstGeom>
          <a:noFill/>
        </p:spPr>
        <p:txBody>
          <a:bodyPr wrap="square" rtlCol="0">
            <a:spAutoFit/>
          </a:bodyPr>
          <a:lstStyle/>
          <a:p>
            <a:r>
              <a:rPr lang="en-GB" b="1" dirty="0">
                <a:latin typeface="+mn-lt"/>
              </a:rPr>
              <a:t>Pre-processed data (sample)</a:t>
            </a:r>
            <a:endParaRPr lang="en-US" b="1" dirty="0">
              <a:latin typeface="+mn-lt"/>
            </a:endParaRPr>
          </a:p>
        </p:txBody>
      </p:sp>
      <p:sp>
        <p:nvSpPr>
          <p:cNvPr id="10" name="TextBox 9">
            <a:extLst>
              <a:ext uri="{FF2B5EF4-FFF2-40B4-BE49-F238E27FC236}">
                <a16:creationId xmlns:a16="http://schemas.microsoft.com/office/drawing/2014/main" id="{6247B62F-507F-4088-965B-9EE7A87ED5CE}"/>
              </a:ext>
            </a:extLst>
          </p:cNvPr>
          <p:cNvSpPr txBox="1"/>
          <p:nvPr/>
        </p:nvSpPr>
        <p:spPr>
          <a:xfrm>
            <a:off x="609600" y="450260"/>
            <a:ext cx="3276600" cy="523220"/>
          </a:xfrm>
          <a:prstGeom prst="rect">
            <a:avLst/>
          </a:prstGeom>
          <a:noFill/>
        </p:spPr>
        <p:txBody>
          <a:bodyPr wrap="square" rtlCol="0">
            <a:spAutoFit/>
          </a:bodyPr>
          <a:lstStyle/>
          <a:p>
            <a:r>
              <a:rPr lang="en-US" sz="2800" b="1" dirty="0">
                <a:solidFill>
                  <a:srgbClr val="B11117"/>
                </a:solidFill>
                <a:latin typeface="+mj-lt"/>
              </a:rPr>
              <a:t>Solution</a:t>
            </a:r>
          </a:p>
        </p:txBody>
      </p:sp>
    </p:spTree>
    <p:extLst>
      <p:ext uri="{BB962C8B-B14F-4D97-AF65-F5344CB8AC3E}">
        <p14:creationId xmlns:p14="http://schemas.microsoft.com/office/powerpoint/2010/main" val="186053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2BADAE5-C6AA-4DA1-9F8E-BCECE714CF0E}"/>
              </a:ext>
            </a:extLst>
          </p:cNvPr>
          <p:cNvSpPr>
            <a:spLocks noGrp="1"/>
          </p:cNvSpPr>
          <p:nvPr>
            <p:ph idx="4294967295"/>
          </p:nvPr>
        </p:nvSpPr>
        <p:spPr>
          <a:xfrm>
            <a:off x="609600" y="899318"/>
            <a:ext cx="8229600" cy="5059363"/>
          </a:xfrm>
        </p:spPr>
        <p:txBody>
          <a:bodyPr/>
          <a:lstStyle/>
          <a:p>
            <a:pPr marL="0" indent="0" algn="just">
              <a:buNone/>
            </a:pPr>
            <a:r>
              <a:rPr lang="en-GB" sz="2400" dirty="0">
                <a:latin typeface="Calibri" panose="020F0502020204030204" pitchFamily="34" charset="0"/>
                <a:cs typeface="Calibri" panose="020F0502020204030204" pitchFamily="34" charset="0"/>
              </a:rPr>
              <a:t>The corresponding regression model is as follows:</a:t>
            </a:r>
            <a:endParaRPr lang="en-IN" sz="2400" dirty="0">
              <a:latin typeface="Calibri" panose="020F0502020204030204" pitchFamily="34" charset="0"/>
              <a:cs typeface="Calibri" panose="020F0502020204030204" pitchFamily="34" charset="0"/>
            </a:endParaRPr>
          </a:p>
          <a:p>
            <a:pPr marL="0" indent="0" algn="just">
              <a:buNone/>
            </a:pPr>
            <a:r>
              <a:rPr lang="en-GB" sz="2400" i="1" dirty="0">
                <a:latin typeface="Calibri" panose="020F0502020204030204" pitchFamily="34" charset="0"/>
                <a:cs typeface="Calibri" panose="020F0502020204030204" pitchFamily="34" charset="0"/>
              </a:rPr>
              <a:t>Y</a:t>
            </a:r>
            <a:r>
              <a:rPr lang="en-GB" sz="2400" dirty="0">
                <a:latin typeface="Calibri" panose="020F0502020204030204" pitchFamily="34" charset="0"/>
                <a:cs typeface="Calibri" panose="020F0502020204030204" pitchFamily="34" charset="0"/>
              </a:rPr>
              <a:t> = </a:t>
            </a:r>
            <a:r>
              <a:rPr lang="en-GB" sz="2400" dirty="0">
                <a:latin typeface="Calibri" panose="020F0502020204030204" pitchFamily="34" charset="0"/>
                <a:cs typeface="Calibri" panose="020F0502020204030204" pitchFamily="34" charset="0"/>
                <a:sym typeface="Symbol" panose="05050102010706020507" pitchFamily="18" charset="2"/>
              </a:rPr>
              <a:t></a:t>
            </a:r>
            <a:r>
              <a:rPr lang="en-GB" sz="2400" i="1" baseline="-25000" dirty="0">
                <a:latin typeface="Calibri" panose="020F0502020204030204" pitchFamily="34" charset="0"/>
                <a:cs typeface="Calibri" panose="020F0502020204030204" pitchFamily="34" charset="0"/>
              </a:rPr>
              <a:t>0</a:t>
            </a:r>
            <a:r>
              <a:rPr lang="en-GB" sz="2400" dirty="0">
                <a:latin typeface="Calibri" panose="020F0502020204030204" pitchFamily="34" charset="0"/>
                <a:cs typeface="Calibri" panose="020F0502020204030204" pitchFamily="34" charset="0"/>
              </a:rPr>
              <a:t> + </a:t>
            </a:r>
            <a:r>
              <a:rPr lang="en-GB" sz="2400" dirty="0">
                <a:latin typeface="Calibri" panose="020F0502020204030204" pitchFamily="34" charset="0"/>
                <a:cs typeface="Calibri" panose="020F0502020204030204" pitchFamily="34" charset="0"/>
                <a:sym typeface="Symbol" panose="05050102010706020507" pitchFamily="18" charset="2"/>
              </a:rPr>
              <a:t></a:t>
            </a:r>
            <a:r>
              <a:rPr lang="en-GB" sz="2400" i="1" baseline="-25000" dirty="0">
                <a:latin typeface="Calibri" panose="020F0502020204030204" pitchFamily="34" charset="0"/>
                <a:cs typeface="Calibri" panose="020F0502020204030204" pitchFamily="34" charset="0"/>
              </a:rPr>
              <a:t>1</a:t>
            </a:r>
            <a:r>
              <a:rPr lang="en-GB" sz="2400" dirty="0">
                <a:latin typeface="Calibri" panose="020F0502020204030204" pitchFamily="34" charset="0"/>
                <a:cs typeface="Calibri" panose="020F0502020204030204" pitchFamily="34" charset="0"/>
              </a:rPr>
              <a:t> × </a:t>
            </a:r>
            <a:r>
              <a:rPr lang="en-GB" sz="2400" i="1" dirty="0">
                <a:latin typeface="Calibri" panose="020F0502020204030204" pitchFamily="34" charset="0"/>
                <a:cs typeface="Calibri" panose="020F0502020204030204" pitchFamily="34" charset="0"/>
              </a:rPr>
              <a:t>HS</a:t>
            </a:r>
            <a:r>
              <a:rPr lang="en-GB" sz="2400" dirty="0">
                <a:latin typeface="Calibri" panose="020F0502020204030204" pitchFamily="34" charset="0"/>
                <a:cs typeface="Calibri" panose="020F0502020204030204" pitchFamily="34" charset="0"/>
              </a:rPr>
              <a:t> + </a:t>
            </a:r>
            <a:r>
              <a:rPr lang="en-GB" sz="2400" dirty="0">
                <a:latin typeface="Calibri" panose="020F0502020204030204" pitchFamily="34" charset="0"/>
                <a:cs typeface="Calibri" panose="020F0502020204030204" pitchFamily="34" charset="0"/>
                <a:sym typeface="Symbol" panose="05050102010706020507" pitchFamily="18" charset="2"/>
              </a:rPr>
              <a:t></a:t>
            </a:r>
            <a:r>
              <a:rPr lang="en-GB" sz="2400" i="1" baseline="-25000" dirty="0">
                <a:latin typeface="Calibri" panose="020F0502020204030204" pitchFamily="34" charset="0"/>
                <a:cs typeface="Calibri" panose="020F0502020204030204" pitchFamily="34" charset="0"/>
              </a:rPr>
              <a:t>2</a:t>
            </a:r>
            <a:r>
              <a:rPr lang="en-GB" sz="2400" dirty="0">
                <a:latin typeface="Calibri" panose="020F0502020204030204" pitchFamily="34" charset="0"/>
                <a:cs typeface="Calibri" panose="020F0502020204030204" pitchFamily="34" charset="0"/>
              </a:rPr>
              <a:t> × </a:t>
            </a:r>
            <a:r>
              <a:rPr lang="en-GB" sz="2400" i="1" dirty="0">
                <a:latin typeface="Calibri" panose="020F0502020204030204" pitchFamily="34" charset="0"/>
                <a:cs typeface="Calibri" panose="020F0502020204030204" pitchFamily="34" charset="0"/>
              </a:rPr>
              <a:t>UG</a:t>
            </a:r>
            <a:r>
              <a:rPr lang="en-GB" sz="2400" dirty="0">
                <a:latin typeface="Calibri" panose="020F0502020204030204" pitchFamily="34" charset="0"/>
                <a:cs typeface="Calibri" panose="020F0502020204030204" pitchFamily="34" charset="0"/>
              </a:rPr>
              <a:t> + </a:t>
            </a:r>
            <a:r>
              <a:rPr lang="en-GB" sz="2400" dirty="0">
                <a:latin typeface="Calibri" panose="020F0502020204030204" pitchFamily="34" charset="0"/>
                <a:cs typeface="Calibri" panose="020F0502020204030204" pitchFamily="34" charset="0"/>
                <a:sym typeface="Symbol" panose="05050102010706020507" pitchFamily="18" charset="2"/>
              </a:rPr>
              <a:t></a:t>
            </a:r>
            <a:r>
              <a:rPr lang="en-GB" sz="2400" i="1" baseline="-25000" dirty="0">
                <a:latin typeface="Calibri" panose="020F0502020204030204" pitchFamily="34" charset="0"/>
                <a:cs typeface="Calibri" panose="020F0502020204030204" pitchFamily="34" charset="0"/>
              </a:rPr>
              <a:t>3</a:t>
            </a:r>
            <a:r>
              <a:rPr lang="en-GB" sz="2400" dirty="0">
                <a:latin typeface="Calibri" panose="020F0502020204030204" pitchFamily="34" charset="0"/>
                <a:cs typeface="Calibri" panose="020F0502020204030204" pitchFamily="34" charset="0"/>
              </a:rPr>
              <a:t> × </a:t>
            </a:r>
            <a:r>
              <a:rPr lang="en-GB" sz="2400" i="1" dirty="0">
                <a:latin typeface="Calibri" panose="020F0502020204030204" pitchFamily="34" charset="0"/>
                <a:cs typeface="Calibri" panose="020F0502020204030204" pitchFamily="34" charset="0"/>
              </a:rPr>
              <a:t>PG</a:t>
            </a:r>
          </a:p>
          <a:p>
            <a:pPr marL="0" indent="0" algn="just">
              <a:buNone/>
            </a:pPr>
            <a:endParaRPr lang="en-GB" sz="2400" i="1" dirty="0">
              <a:latin typeface="Calibri" panose="020F0502020204030204" pitchFamily="34" charset="0"/>
              <a:cs typeface="Calibri" panose="020F0502020204030204" pitchFamily="34" charset="0"/>
            </a:endParaRPr>
          </a:p>
          <a:p>
            <a:pPr marL="0" indent="0" algn="just">
              <a:buNone/>
            </a:pPr>
            <a:r>
              <a:rPr lang="en-GB" sz="2400" dirty="0">
                <a:latin typeface="Calibri" panose="020F0502020204030204" pitchFamily="34" charset="0"/>
                <a:cs typeface="Calibri" panose="020F0502020204030204" pitchFamily="34" charset="0"/>
              </a:rPr>
              <a:t>where HS, UG, and PG are the dummy variables corresponding to the categories high school, under-graduate, and post-graduate, respectively. </a:t>
            </a:r>
          </a:p>
          <a:p>
            <a:pPr marL="0" indent="0" algn="just">
              <a:buNone/>
            </a:pPr>
            <a:r>
              <a:rPr lang="en-GB" sz="2400" dirty="0">
                <a:latin typeface="Calibri" panose="020F0502020204030204" pitchFamily="34" charset="0"/>
                <a:cs typeface="Calibri" panose="020F0502020204030204" pitchFamily="34" charset="0"/>
              </a:rPr>
              <a:t>The fourth category (none) for which we did not create an explicit dummy variable is called the </a:t>
            </a:r>
            <a:r>
              <a:rPr lang="en-GB" sz="2400" b="1" dirty="0">
                <a:latin typeface="Calibri" panose="020F0502020204030204" pitchFamily="34" charset="0"/>
                <a:cs typeface="Calibri" panose="020F0502020204030204" pitchFamily="34" charset="0"/>
              </a:rPr>
              <a:t>base category</a:t>
            </a:r>
            <a:r>
              <a:rPr lang="en-GB" sz="2400" dirty="0">
                <a:latin typeface="Calibri" panose="020F0502020204030204" pitchFamily="34" charset="0"/>
                <a:cs typeface="Calibri" panose="020F0502020204030204" pitchFamily="34" charset="0"/>
              </a:rPr>
              <a:t>. In </a:t>
            </a:r>
            <a:r>
              <a:rPr lang="en-GB" sz="2400" dirty="0" err="1">
                <a:latin typeface="Calibri" panose="020F0502020204030204" pitchFamily="34" charset="0"/>
                <a:cs typeface="Calibri" panose="020F0502020204030204" pitchFamily="34" charset="0"/>
              </a:rPr>
              <a:t>Eq</a:t>
            </a:r>
            <a:r>
              <a:rPr lang="en-GB" sz="2400" dirty="0">
                <a:latin typeface="Calibri" panose="020F0502020204030204" pitchFamily="34" charset="0"/>
                <a:cs typeface="Calibri" panose="020F0502020204030204" pitchFamily="34" charset="0"/>
              </a:rPr>
              <a:t>, when </a:t>
            </a:r>
            <a:r>
              <a:rPr lang="en-GB" sz="2400" i="1" dirty="0">
                <a:latin typeface="Calibri" panose="020F0502020204030204" pitchFamily="34" charset="0"/>
                <a:cs typeface="Calibri" panose="020F0502020204030204" pitchFamily="34" charset="0"/>
              </a:rPr>
              <a:t>HS</a:t>
            </a:r>
            <a:r>
              <a:rPr lang="en-GB" sz="2400" dirty="0">
                <a:latin typeface="Calibri" panose="020F0502020204030204" pitchFamily="34" charset="0"/>
                <a:cs typeface="Calibri" panose="020F0502020204030204" pitchFamily="34" charset="0"/>
              </a:rPr>
              <a:t> = </a:t>
            </a:r>
            <a:r>
              <a:rPr lang="en-GB" sz="2400" i="1" dirty="0">
                <a:latin typeface="Calibri" panose="020F0502020204030204" pitchFamily="34" charset="0"/>
                <a:cs typeface="Calibri" panose="020F0502020204030204" pitchFamily="34" charset="0"/>
              </a:rPr>
              <a:t>UG</a:t>
            </a:r>
            <a:r>
              <a:rPr lang="en-GB" sz="2400" dirty="0">
                <a:latin typeface="Calibri" panose="020F0502020204030204" pitchFamily="34" charset="0"/>
                <a:cs typeface="Calibri" panose="020F0502020204030204" pitchFamily="34" charset="0"/>
              </a:rPr>
              <a:t> = </a:t>
            </a:r>
            <a:r>
              <a:rPr lang="en-GB" sz="2400" i="1" dirty="0">
                <a:latin typeface="Calibri" panose="020F0502020204030204" pitchFamily="34" charset="0"/>
                <a:cs typeface="Calibri" panose="020F0502020204030204" pitchFamily="34" charset="0"/>
              </a:rPr>
              <a:t>PG</a:t>
            </a:r>
            <a:r>
              <a:rPr lang="en-GB" sz="2400" dirty="0">
                <a:latin typeface="Calibri" panose="020F0502020204030204" pitchFamily="34" charset="0"/>
                <a:cs typeface="Calibri" panose="020F0502020204030204" pitchFamily="34" charset="0"/>
              </a:rPr>
              <a:t> = 0, the value of </a:t>
            </a:r>
            <a:r>
              <a:rPr lang="en-GB" sz="2400" i="1" dirty="0">
                <a:latin typeface="Calibri" panose="020F0502020204030204" pitchFamily="34" charset="0"/>
                <a:cs typeface="Calibri" panose="020F0502020204030204" pitchFamily="34" charset="0"/>
              </a:rPr>
              <a:t>Y</a:t>
            </a:r>
            <a:r>
              <a:rPr lang="en-GB" sz="2400" dirty="0">
                <a:latin typeface="Calibri" panose="020F0502020204030204" pitchFamily="34" charset="0"/>
                <a:cs typeface="Calibri" panose="020F0502020204030204" pitchFamily="34" charset="0"/>
              </a:rPr>
              <a:t> is </a:t>
            </a:r>
            <a:r>
              <a:rPr lang="en-GB" sz="2400" i="1" dirty="0">
                <a:latin typeface="Calibri" panose="020F0502020204030204" pitchFamily="34" charset="0"/>
                <a:cs typeface="Calibri" panose="020F0502020204030204" pitchFamily="34" charset="0"/>
                <a:sym typeface="Symbol" panose="05050102010706020507" pitchFamily="18" charset="2"/>
              </a:rPr>
              <a:t></a:t>
            </a:r>
            <a:r>
              <a:rPr lang="en-GB" sz="2400" baseline="-25000" dirty="0">
                <a:latin typeface="Calibri" panose="020F0502020204030204" pitchFamily="34" charset="0"/>
                <a:cs typeface="Calibri" panose="020F0502020204030204" pitchFamily="34" charset="0"/>
              </a:rPr>
              <a:t>0</a:t>
            </a:r>
            <a:r>
              <a:rPr lang="en-GB" sz="2400" dirty="0">
                <a:latin typeface="Calibri" panose="020F0502020204030204" pitchFamily="34" charset="0"/>
                <a:cs typeface="Calibri" panose="020F0502020204030204" pitchFamily="34" charset="0"/>
              </a:rPr>
              <a:t>, which corresponds to the education category, “none”. </a:t>
            </a:r>
          </a:p>
          <a:p>
            <a:pPr marL="0" indent="0" algn="just">
              <a:buNone/>
            </a:pPr>
            <a:r>
              <a:rPr lang="en-GB" sz="2400" dirty="0">
                <a:latin typeface="Calibri" panose="020F0502020204030204" pitchFamily="34" charset="0"/>
                <a:cs typeface="Calibri" panose="020F0502020204030204" pitchFamily="34" charset="0"/>
              </a:rPr>
              <a:t> The SPSS output for the regression model in Eq. using the data in above Table is shown in Table in next slide.</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436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F7F151C-51C1-4A03-9636-65A5E56F6B00}"/>
              </a:ext>
            </a:extLst>
          </p:cNvPr>
          <p:cNvSpPr>
            <a:spLocks noGrp="1"/>
          </p:cNvSpPr>
          <p:nvPr>
            <p:ph idx="4294967295"/>
          </p:nvPr>
        </p:nvSpPr>
        <p:spPr>
          <a:xfrm>
            <a:off x="457200" y="3962400"/>
            <a:ext cx="8229600" cy="2514600"/>
          </a:xfrm>
        </p:spPr>
        <p:txBody>
          <a:bodyPr>
            <a:normAutofit lnSpcReduction="10000"/>
          </a:bodyPr>
          <a:lstStyle/>
          <a:p>
            <a:pPr marL="0" indent="0" algn="just">
              <a:buNone/>
            </a:pPr>
            <a:r>
              <a:rPr lang="en-GB" sz="2200" dirty="0">
                <a:latin typeface="Gill Sans MT" panose="020B0502020104020203" pitchFamily="34" charset="0"/>
              </a:rPr>
              <a:t>The corresponding regression equation is given by</a:t>
            </a:r>
          </a:p>
          <a:p>
            <a:pPr marL="0" indent="0" algn="just">
              <a:buNone/>
            </a:pPr>
            <a:endParaRPr lang="en-IN" sz="2200" dirty="0">
              <a:latin typeface="Gill Sans MT" panose="020B0502020104020203" pitchFamily="34" charset="0"/>
            </a:endParaRPr>
          </a:p>
          <a:p>
            <a:pPr marL="0" indent="0" algn="just">
              <a:buNone/>
            </a:pPr>
            <a:r>
              <a:rPr lang="en-GB" sz="2200" i="1" dirty="0">
                <a:ln w="22225">
                  <a:solidFill>
                    <a:schemeClr val="accent2"/>
                  </a:solidFill>
                  <a:prstDash val="solid"/>
                </a:ln>
                <a:latin typeface="Gill Sans MT" panose="020B0502020104020203" pitchFamily="34" charset="0"/>
              </a:rPr>
              <a:t>Y</a:t>
            </a:r>
            <a:r>
              <a:rPr lang="en-GB" sz="2200" dirty="0">
                <a:ln w="22225">
                  <a:solidFill>
                    <a:schemeClr val="accent2"/>
                  </a:solidFill>
                  <a:prstDash val="solid"/>
                </a:ln>
                <a:latin typeface="Gill Sans MT" panose="020B0502020104020203" pitchFamily="34" charset="0"/>
              </a:rPr>
              <a:t> = 7383.33 + 5437.667 × </a:t>
            </a:r>
            <a:r>
              <a:rPr lang="en-GB" sz="2200" i="1" dirty="0">
                <a:ln w="22225">
                  <a:solidFill>
                    <a:schemeClr val="accent2"/>
                  </a:solidFill>
                  <a:prstDash val="solid"/>
                </a:ln>
                <a:latin typeface="Gill Sans MT" panose="020B0502020104020203" pitchFamily="34" charset="0"/>
              </a:rPr>
              <a:t>HS</a:t>
            </a:r>
            <a:r>
              <a:rPr lang="en-GB" sz="2200" dirty="0">
                <a:ln w="22225">
                  <a:solidFill>
                    <a:schemeClr val="accent2"/>
                  </a:solidFill>
                  <a:prstDash val="solid"/>
                </a:ln>
                <a:latin typeface="Gill Sans MT" panose="020B0502020104020203" pitchFamily="34" charset="0"/>
              </a:rPr>
              <a:t> + 9860.417 × </a:t>
            </a:r>
            <a:r>
              <a:rPr lang="en-GB" sz="2200" i="1" dirty="0">
                <a:ln w="22225">
                  <a:solidFill>
                    <a:schemeClr val="accent2"/>
                  </a:solidFill>
                  <a:prstDash val="solid"/>
                </a:ln>
                <a:latin typeface="Gill Sans MT" panose="020B0502020104020203" pitchFamily="34" charset="0"/>
              </a:rPr>
              <a:t>UG</a:t>
            </a:r>
            <a:r>
              <a:rPr lang="en-GB" sz="2200" dirty="0">
                <a:ln w="22225">
                  <a:solidFill>
                    <a:schemeClr val="accent2"/>
                  </a:solidFill>
                  <a:prstDash val="solid"/>
                </a:ln>
                <a:latin typeface="Gill Sans MT" panose="020B0502020104020203" pitchFamily="34" charset="0"/>
              </a:rPr>
              <a:t> + 12350.00 × </a:t>
            </a:r>
            <a:r>
              <a:rPr lang="en-GB" sz="2200" i="1" dirty="0">
                <a:ln w="22225">
                  <a:solidFill>
                    <a:schemeClr val="accent2"/>
                  </a:solidFill>
                  <a:prstDash val="solid"/>
                </a:ln>
                <a:latin typeface="Gill Sans MT" panose="020B0502020104020203" pitchFamily="34" charset="0"/>
              </a:rPr>
              <a:t>PG</a:t>
            </a:r>
          </a:p>
          <a:p>
            <a:pPr marL="0" indent="0" algn="just">
              <a:buNone/>
            </a:pPr>
            <a:endParaRPr lang="en-GB" sz="2200" dirty="0">
              <a:latin typeface="Gill Sans MT" panose="020B0502020104020203" pitchFamily="34" charset="0"/>
            </a:endParaRPr>
          </a:p>
          <a:p>
            <a:pPr marL="0" indent="0" algn="just">
              <a:buNone/>
            </a:pPr>
            <a:r>
              <a:rPr lang="en-GB" sz="2200" dirty="0">
                <a:latin typeface="Gill Sans MT" panose="020B0502020104020203" pitchFamily="34" charset="0"/>
              </a:rPr>
              <a:t>Note that in Table 10.4, all the dummy variables are statistically significant </a:t>
            </a:r>
            <a:r>
              <a:rPr lang="en-GB" sz="2200" i="1" dirty="0">
                <a:latin typeface="Gill Sans MT" panose="020B0502020104020203" pitchFamily="34" charset="0"/>
                <a:sym typeface="Symbol" panose="05050102010706020507" pitchFamily="18" charset="2"/>
              </a:rPr>
              <a:t></a:t>
            </a:r>
            <a:r>
              <a:rPr lang="en-GB" sz="2200" dirty="0">
                <a:latin typeface="Gill Sans MT" panose="020B0502020104020203" pitchFamily="34" charset="0"/>
              </a:rPr>
              <a:t> = 0.01, since </a:t>
            </a:r>
            <a:r>
              <a:rPr lang="en-GB" sz="2200" i="1" dirty="0">
                <a:latin typeface="Gill Sans MT" panose="020B0502020104020203" pitchFamily="34" charset="0"/>
              </a:rPr>
              <a:t>p</a:t>
            </a:r>
            <a:r>
              <a:rPr lang="en-GB" sz="2200" dirty="0">
                <a:latin typeface="Gill Sans MT" panose="020B0502020104020203" pitchFamily="34" charset="0"/>
              </a:rPr>
              <a:t>-values are less than 0.01.  </a:t>
            </a:r>
            <a:endParaRPr lang="en-IN" sz="2200" dirty="0">
              <a:latin typeface="Gill Sans MT" panose="020B0502020104020203" pitchFamily="34" charset="0"/>
            </a:endParaRPr>
          </a:p>
          <a:p>
            <a:pPr marL="0" indent="0">
              <a:buNone/>
            </a:pPr>
            <a:r>
              <a:rPr lang="en-GB" sz="2200" dirty="0">
                <a:latin typeface="Gill Sans MT" panose="020B0502020104020203" pitchFamily="34" charset="0"/>
              </a:rPr>
              <a:t>	</a:t>
            </a:r>
            <a:endParaRPr lang="en-IN" sz="2200" dirty="0">
              <a:latin typeface="Gill Sans MT" panose="020B0502020104020203" pitchFamily="34" charset="0"/>
            </a:endParaRPr>
          </a:p>
        </p:txBody>
      </p:sp>
      <p:graphicFrame>
        <p:nvGraphicFramePr>
          <p:cNvPr id="3" name="Table 2">
            <a:extLst>
              <a:ext uri="{FF2B5EF4-FFF2-40B4-BE49-F238E27FC236}">
                <a16:creationId xmlns:a16="http://schemas.microsoft.com/office/drawing/2014/main" id="{C282B6E0-59D2-47FC-A037-7C6BD39B1A6D}"/>
              </a:ext>
            </a:extLst>
          </p:cNvPr>
          <p:cNvGraphicFramePr>
            <a:graphicFrameLocks noGrp="1"/>
          </p:cNvGraphicFramePr>
          <p:nvPr>
            <p:extLst>
              <p:ext uri="{D42A27DB-BD31-4B8C-83A1-F6EECF244321}">
                <p14:modId xmlns:p14="http://schemas.microsoft.com/office/powerpoint/2010/main" val="1640755881"/>
              </p:ext>
            </p:extLst>
          </p:nvPr>
        </p:nvGraphicFramePr>
        <p:xfrm>
          <a:off x="685800" y="609600"/>
          <a:ext cx="7315201" cy="3120208"/>
        </p:xfrm>
        <a:graphic>
          <a:graphicData uri="http://schemas.openxmlformats.org/drawingml/2006/table">
            <a:tbl>
              <a:tblPr>
                <a:tableStyleId>{8A107856-5554-42FB-B03E-39F5DBC370BA}</a:tableStyleId>
              </a:tblPr>
              <a:tblGrid>
                <a:gridCol w="1567543">
                  <a:extLst>
                    <a:ext uri="{9D8B030D-6E8A-4147-A177-3AD203B41FA5}">
                      <a16:colId xmlns:a16="http://schemas.microsoft.com/office/drawing/2014/main" val="3421208977"/>
                    </a:ext>
                  </a:extLst>
                </a:gridCol>
                <a:gridCol w="1567543">
                  <a:extLst>
                    <a:ext uri="{9D8B030D-6E8A-4147-A177-3AD203B41FA5}">
                      <a16:colId xmlns:a16="http://schemas.microsoft.com/office/drawing/2014/main" val="461411511"/>
                    </a:ext>
                  </a:extLst>
                </a:gridCol>
                <a:gridCol w="844061">
                  <a:extLst>
                    <a:ext uri="{9D8B030D-6E8A-4147-A177-3AD203B41FA5}">
                      <a16:colId xmlns:a16="http://schemas.microsoft.com/office/drawing/2014/main" val="2237793249"/>
                    </a:ext>
                  </a:extLst>
                </a:gridCol>
                <a:gridCol w="1024932">
                  <a:extLst>
                    <a:ext uri="{9D8B030D-6E8A-4147-A177-3AD203B41FA5}">
                      <a16:colId xmlns:a16="http://schemas.microsoft.com/office/drawing/2014/main" val="1591566138"/>
                    </a:ext>
                  </a:extLst>
                </a:gridCol>
                <a:gridCol w="1024932">
                  <a:extLst>
                    <a:ext uri="{9D8B030D-6E8A-4147-A177-3AD203B41FA5}">
                      <a16:colId xmlns:a16="http://schemas.microsoft.com/office/drawing/2014/main" val="2950253970"/>
                    </a:ext>
                  </a:extLst>
                </a:gridCol>
                <a:gridCol w="643095">
                  <a:extLst>
                    <a:ext uri="{9D8B030D-6E8A-4147-A177-3AD203B41FA5}">
                      <a16:colId xmlns:a16="http://schemas.microsoft.com/office/drawing/2014/main" val="1844679543"/>
                    </a:ext>
                  </a:extLst>
                </a:gridCol>
                <a:gridCol w="643095">
                  <a:extLst>
                    <a:ext uri="{9D8B030D-6E8A-4147-A177-3AD203B41FA5}">
                      <a16:colId xmlns:a16="http://schemas.microsoft.com/office/drawing/2014/main" val="2749266390"/>
                    </a:ext>
                  </a:extLst>
                </a:gridCol>
              </a:tblGrid>
              <a:tr h="286276">
                <a:tc gridSpan="7">
                  <a:txBody>
                    <a:bodyPr/>
                    <a:lstStyle/>
                    <a:p>
                      <a:pPr marL="38100" marR="38100" algn="ctr">
                        <a:lnSpc>
                          <a:spcPct val="150000"/>
                        </a:lnSpc>
                        <a:spcAft>
                          <a:spcPts val="0"/>
                        </a:spcAft>
                      </a:pPr>
                      <a:r>
                        <a:rPr lang="en-GB" sz="1300">
                          <a:effectLst/>
                        </a:rPr>
                        <a:t>Table 10.14 Coefficients</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702963150"/>
                  </a:ext>
                </a:extLst>
              </a:tr>
              <a:tr h="572553">
                <a:tc rowSpan="2" gridSpan="2">
                  <a:txBody>
                    <a:bodyPr/>
                    <a:lstStyle/>
                    <a:p>
                      <a:pPr marL="38100" marR="38100">
                        <a:lnSpc>
                          <a:spcPct val="150000"/>
                        </a:lnSpc>
                        <a:spcAft>
                          <a:spcPts val="0"/>
                        </a:spcAft>
                      </a:pPr>
                      <a:r>
                        <a:rPr lang="en-GB" sz="1300" b="1" dirty="0">
                          <a:effectLst/>
                        </a:rPr>
                        <a:t>Model</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hMerge="1">
                  <a:txBody>
                    <a:bodyPr/>
                    <a:lstStyle/>
                    <a:p>
                      <a:endParaRPr lang="en-IN"/>
                    </a:p>
                  </a:txBody>
                  <a:tcPr/>
                </a:tc>
                <a:tc gridSpan="2">
                  <a:txBody>
                    <a:bodyPr/>
                    <a:lstStyle/>
                    <a:p>
                      <a:pPr marL="38100" marR="38100" algn="ctr">
                        <a:lnSpc>
                          <a:spcPct val="150000"/>
                        </a:lnSpc>
                        <a:spcAft>
                          <a:spcPts val="0"/>
                        </a:spcAft>
                      </a:pPr>
                      <a:r>
                        <a:rPr lang="en-GB" sz="1300" b="1" dirty="0">
                          <a:effectLst/>
                        </a:rPr>
                        <a:t>Unstandardized Coefficients</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L="38100" marR="38100" algn="ctr">
                        <a:lnSpc>
                          <a:spcPct val="150000"/>
                        </a:lnSpc>
                        <a:spcAft>
                          <a:spcPts val="0"/>
                        </a:spcAft>
                      </a:pPr>
                      <a:r>
                        <a:rPr lang="en-GB" sz="1300" b="1" dirty="0">
                          <a:effectLst/>
                        </a:rPr>
                        <a:t>Standardized Coefficients</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300" b="1" dirty="0">
                          <a:effectLst/>
                        </a:rPr>
                        <a:t>t-value</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300" b="1" dirty="0">
                          <a:effectLst/>
                        </a:rPr>
                        <a:t>p-value</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08301254"/>
                  </a:ext>
                </a:extLst>
              </a:tr>
              <a:tr h="286276">
                <a:tc gridSpan="2" vMerge="1">
                  <a:txBody>
                    <a:bodyPr/>
                    <a:lstStyle/>
                    <a:p>
                      <a:endParaRPr lang="en-IN"/>
                    </a:p>
                  </a:txBody>
                  <a:tcPr/>
                </a:tc>
                <a:tc hMerge="1" vMerge="1">
                  <a:txBody>
                    <a:bodyPr/>
                    <a:lstStyle/>
                    <a:p>
                      <a:endParaRPr lang="en-IN"/>
                    </a:p>
                  </a:txBody>
                  <a:tcPr/>
                </a:tc>
                <a:tc>
                  <a:txBody>
                    <a:bodyPr/>
                    <a:lstStyle/>
                    <a:p>
                      <a:pPr marL="38100" marR="38100" algn="ctr">
                        <a:lnSpc>
                          <a:spcPct val="150000"/>
                        </a:lnSpc>
                        <a:spcAft>
                          <a:spcPts val="0"/>
                        </a:spcAft>
                      </a:pPr>
                      <a:r>
                        <a:rPr lang="en-GB" sz="1300" b="1">
                          <a:effectLst/>
                        </a:rPr>
                        <a:t>B</a:t>
                      </a:r>
                      <a:endParaRPr lang="en-IN" sz="13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300" b="1">
                          <a:effectLst/>
                        </a:rPr>
                        <a:t>Std. Error</a:t>
                      </a:r>
                      <a:endParaRPr lang="en-IN" sz="13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300" b="1" dirty="0">
                          <a:effectLst/>
                        </a:rPr>
                        <a:t>Beta</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455472818"/>
                  </a:ext>
                </a:extLst>
              </a:tr>
              <a:tr h="286276">
                <a:tc rowSpan="4">
                  <a:txBody>
                    <a:bodyPr/>
                    <a:lstStyle/>
                    <a:p>
                      <a:pPr marL="38100" marR="38100">
                        <a:lnSpc>
                          <a:spcPct val="150000"/>
                        </a:lnSpc>
                        <a:spcAft>
                          <a:spcPts val="0"/>
                        </a:spcAft>
                      </a:pPr>
                      <a:r>
                        <a:rPr lang="en-GB" sz="1300">
                          <a:effectLst/>
                        </a:rPr>
                        <a:t>1</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nSpc>
                          <a:spcPct val="150000"/>
                        </a:lnSpc>
                        <a:spcAft>
                          <a:spcPts val="0"/>
                        </a:spcAft>
                      </a:pPr>
                      <a:r>
                        <a:rPr lang="en-GB" sz="1300" b="1">
                          <a:effectLst/>
                        </a:rPr>
                        <a:t>(Constant)</a:t>
                      </a:r>
                      <a:endParaRPr lang="en-IN" sz="13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300">
                          <a:effectLst/>
                        </a:rPr>
                        <a:t>7383.333</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1184.793</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50000"/>
                        </a:lnSpc>
                        <a:spcAft>
                          <a:spcPts val="0"/>
                        </a:spcAft>
                      </a:pPr>
                      <a:r>
                        <a:rPr lang="en-GB" sz="1300">
                          <a:effectLst/>
                        </a:rPr>
                        <a:t> </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6.232</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0.000</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20637443"/>
                  </a:ext>
                </a:extLst>
              </a:tr>
              <a:tr h="286276">
                <a:tc vMerge="1">
                  <a:txBody>
                    <a:bodyPr/>
                    <a:lstStyle/>
                    <a:p>
                      <a:endParaRPr lang="en-IN"/>
                    </a:p>
                  </a:txBody>
                  <a:tcPr/>
                </a:tc>
                <a:tc>
                  <a:txBody>
                    <a:bodyPr/>
                    <a:lstStyle/>
                    <a:p>
                      <a:pPr marL="38100" marR="38100">
                        <a:lnSpc>
                          <a:spcPct val="150000"/>
                        </a:lnSpc>
                        <a:spcAft>
                          <a:spcPts val="0"/>
                        </a:spcAft>
                      </a:pPr>
                      <a:r>
                        <a:rPr lang="en-GB" sz="1300" b="1">
                          <a:effectLst/>
                        </a:rPr>
                        <a:t>High-School (HS)</a:t>
                      </a:r>
                      <a:endParaRPr lang="en-IN" sz="13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300">
                          <a:effectLst/>
                        </a:rPr>
                        <a:t>5437.667</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1498.658</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0.505</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3.628</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0.001</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925005795"/>
                  </a:ext>
                </a:extLst>
              </a:tr>
              <a:tr h="510666">
                <a:tc vMerge="1">
                  <a:txBody>
                    <a:bodyPr/>
                    <a:lstStyle/>
                    <a:p>
                      <a:endParaRPr lang="en-IN"/>
                    </a:p>
                  </a:txBody>
                  <a:tcPr/>
                </a:tc>
                <a:tc>
                  <a:txBody>
                    <a:bodyPr/>
                    <a:lstStyle/>
                    <a:p>
                      <a:pPr marL="38100" marR="38100">
                        <a:lnSpc>
                          <a:spcPct val="150000"/>
                        </a:lnSpc>
                        <a:spcAft>
                          <a:spcPts val="0"/>
                        </a:spcAft>
                      </a:pPr>
                      <a:r>
                        <a:rPr lang="en-GB" sz="1300" b="1">
                          <a:effectLst/>
                        </a:rPr>
                        <a:t>Under-Graduate (UG)</a:t>
                      </a:r>
                      <a:endParaRPr lang="en-IN" sz="13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300">
                          <a:effectLst/>
                        </a:rPr>
                        <a:t>9860.417</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1567.334</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0.858</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6.291</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0.000</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30628860"/>
                  </a:ext>
                </a:extLst>
              </a:tr>
              <a:tr h="286276">
                <a:tc vMerge="1">
                  <a:txBody>
                    <a:bodyPr/>
                    <a:lstStyle/>
                    <a:p>
                      <a:endParaRPr lang="en-IN"/>
                    </a:p>
                  </a:txBody>
                  <a:tcPr/>
                </a:tc>
                <a:tc>
                  <a:txBody>
                    <a:bodyPr/>
                    <a:lstStyle/>
                    <a:p>
                      <a:pPr marL="38100" marR="38100">
                        <a:lnSpc>
                          <a:spcPct val="150000"/>
                        </a:lnSpc>
                        <a:spcAft>
                          <a:spcPts val="0"/>
                        </a:spcAft>
                      </a:pPr>
                      <a:r>
                        <a:rPr lang="en-GB" sz="1300" b="1" dirty="0">
                          <a:effectLst/>
                        </a:rPr>
                        <a:t>Post-Graduate (PG)</a:t>
                      </a:r>
                      <a:endParaRPr lang="en-IN" sz="13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300" dirty="0">
                          <a:effectLst/>
                        </a:rPr>
                        <a:t>12350.000</a:t>
                      </a:r>
                      <a:endParaRPr lang="en-IN"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1675.550</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0.972</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a:effectLst/>
                        </a:rPr>
                        <a:t>7.371</a:t>
                      </a:r>
                      <a:endParaRPr lang="en-IN" sz="13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300" dirty="0">
                          <a:effectLst/>
                        </a:rPr>
                        <a:t>0.000</a:t>
                      </a:r>
                      <a:endParaRPr lang="en-IN" sz="13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64346079"/>
                  </a:ext>
                </a:extLst>
              </a:tr>
            </a:tbl>
          </a:graphicData>
        </a:graphic>
      </p:graphicFrame>
    </p:spTree>
    <p:extLst>
      <p:ext uri="{BB962C8B-B14F-4D97-AF65-F5344CB8AC3E}">
        <p14:creationId xmlns:p14="http://schemas.microsoft.com/office/powerpoint/2010/main" val="4032645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1000"/>
                                        <p:tgtEl>
                                          <p:spTgt spid="5">
                                            <p:txEl>
                                              <p:pRg st="4" end="4"/>
                                            </p:txEl>
                                          </p:spTgt>
                                        </p:tgtEl>
                                      </p:cBhvr>
                                    </p:animEffect>
                                    <p:anim calcmode="lin" valueType="num">
                                      <p:cBhvr>
                                        <p:cTn id="29"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33C5C-3BA0-4154-857C-83B44DAFD85B}"/>
              </a:ext>
            </a:extLst>
          </p:cNvPr>
          <p:cNvSpPr>
            <a:spLocks noGrp="1"/>
          </p:cNvSpPr>
          <p:nvPr>
            <p:ph type="title"/>
          </p:nvPr>
        </p:nvSpPr>
        <p:spPr/>
        <p:txBody>
          <a:bodyPr/>
          <a:lstStyle/>
          <a:p>
            <a:pPr algn="just"/>
            <a:r>
              <a:rPr lang="en-GB" sz="2600" b="1" dirty="0">
                <a:solidFill>
                  <a:srgbClr val="C00000"/>
                </a:solidFill>
                <a:latin typeface="Bookman Old Style" panose="02050604050505020204" pitchFamily="18" charset="0"/>
              </a:rPr>
              <a:t>Interpretation of Regression Coefficients of Categorical Variables</a:t>
            </a:r>
            <a:endParaRPr lang="en-IN" sz="2600" dirty="0">
              <a:solidFill>
                <a:srgbClr val="C00000"/>
              </a:solidFill>
              <a:latin typeface="Bookman Old Style" panose="02050604050505020204" pitchFamily="18" charset="0"/>
            </a:endParaRPr>
          </a:p>
        </p:txBody>
      </p:sp>
      <p:sp>
        <p:nvSpPr>
          <p:cNvPr id="3" name="Content Placeholder 2">
            <a:extLst>
              <a:ext uri="{FF2B5EF4-FFF2-40B4-BE49-F238E27FC236}">
                <a16:creationId xmlns:a16="http://schemas.microsoft.com/office/drawing/2014/main" id="{9E49AD56-25AD-4E54-BE60-967601393EE8}"/>
              </a:ext>
            </a:extLst>
          </p:cNvPr>
          <p:cNvSpPr>
            <a:spLocks noGrp="1"/>
          </p:cNvSpPr>
          <p:nvPr>
            <p:ph idx="1"/>
          </p:nvPr>
        </p:nvSpPr>
        <p:spPr>
          <a:xfrm>
            <a:off x="470095" y="1828801"/>
            <a:ext cx="8229600" cy="1371600"/>
          </a:xfrm>
        </p:spPr>
        <p:txBody>
          <a:bodyPr/>
          <a:lstStyle/>
          <a:p>
            <a:pPr marL="0" indent="0" algn="just">
              <a:buNone/>
            </a:pPr>
            <a:r>
              <a:rPr lang="en-GB" sz="2400" dirty="0">
                <a:latin typeface="Gill Sans MT" panose="020B0502020104020203" pitchFamily="34" charset="0"/>
              </a:rPr>
              <a:t>In regression model with categorical variables, the regression coefficient corresponding to a specific category represents the change in the value of </a:t>
            </a:r>
            <a:r>
              <a:rPr lang="en-GB" sz="2400" i="1" dirty="0">
                <a:latin typeface="Gill Sans MT" panose="020B0502020104020203" pitchFamily="34" charset="0"/>
              </a:rPr>
              <a:t>Y</a:t>
            </a:r>
            <a:r>
              <a:rPr lang="en-GB" sz="2400" dirty="0">
                <a:latin typeface="Gill Sans MT" panose="020B0502020104020203" pitchFamily="34" charset="0"/>
              </a:rPr>
              <a:t> from the base category value (</a:t>
            </a:r>
            <a:r>
              <a:rPr lang="en-GB" sz="2400"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a:t>
            </a:r>
            <a:endParaRPr lang="en-IN" sz="2400" dirty="0">
              <a:latin typeface="Gill Sans MT" panose="020B0502020104020203" pitchFamily="34" charset="0"/>
            </a:endParaRPr>
          </a:p>
        </p:txBody>
      </p:sp>
    </p:spTree>
    <p:extLst>
      <p:ext uri="{BB962C8B-B14F-4D97-AF65-F5344CB8AC3E}">
        <p14:creationId xmlns:p14="http://schemas.microsoft.com/office/powerpoint/2010/main" val="13054273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04C1DB-0C7A-4FF9-9005-4F320D77665C}"/>
              </a:ext>
            </a:extLst>
          </p:cNvPr>
          <p:cNvSpPr>
            <a:spLocks noGrp="1"/>
          </p:cNvSpPr>
          <p:nvPr>
            <p:ph type="title"/>
          </p:nvPr>
        </p:nvSpPr>
        <p:spPr>
          <a:xfrm>
            <a:off x="628651" y="472212"/>
            <a:ext cx="8252114" cy="518388"/>
          </a:xfrm>
        </p:spPr>
        <p:txBody>
          <a:bodyPr/>
          <a:lstStyle/>
          <a:p>
            <a:r>
              <a:rPr lang="en-GB" sz="2800" b="1" dirty="0">
                <a:solidFill>
                  <a:srgbClr val="C00000"/>
                </a:solidFill>
              </a:rPr>
              <a:t>Interaction Variables in Regression Models</a:t>
            </a:r>
            <a:endParaRPr lang="en-IN" sz="2800" dirty="0">
              <a:solidFill>
                <a:srgbClr val="C00000"/>
              </a:solidFill>
            </a:endParaRPr>
          </a:p>
        </p:txBody>
      </p:sp>
      <p:sp>
        <p:nvSpPr>
          <p:cNvPr id="4" name="Content Placeholder 3">
            <a:extLst>
              <a:ext uri="{FF2B5EF4-FFF2-40B4-BE49-F238E27FC236}">
                <a16:creationId xmlns:a16="http://schemas.microsoft.com/office/drawing/2014/main" id="{F06D6120-39B6-454E-97EB-DCDB918809AF}"/>
              </a:ext>
            </a:extLst>
          </p:cNvPr>
          <p:cNvSpPr>
            <a:spLocks noGrp="1"/>
          </p:cNvSpPr>
          <p:nvPr>
            <p:ph idx="1"/>
          </p:nvPr>
        </p:nvSpPr>
        <p:spPr>
          <a:xfrm>
            <a:off x="646236" y="1447800"/>
            <a:ext cx="7886700" cy="4204853"/>
          </a:xfrm>
        </p:spPr>
        <p:txBody>
          <a:bodyPr>
            <a:normAutofit/>
          </a:bodyPr>
          <a:lstStyle/>
          <a:p>
            <a:pPr algn="just"/>
            <a:r>
              <a:rPr lang="en-GB" sz="2400" dirty="0"/>
              <a:t>Interaction variables are basically inclusion of variables in the regression model that are a product of two independent variables (such as </a:t>
            </a:r>
            <a:r>
              <a:rPr lang="en-GB" sz="2400" i="1" dirty="0"/>
              <a:t>X</a:t>
            </a:r>
            <a:r>
              <a:rPr lang="en-GB" sz="2400" baseline="-25000" dirty="0"/>
              <a:t>1</a:t>
            </a:r>
            <a:r>
              <a:rPr lang="en-GB" sz="2400" i="1" baseline="-25000" dirty="0"/>
              <a:t> </a:t>
            </a:r>
            <a:r>
              <a:rPr lang="en-GB" sz="2400" i="1" dirty="0"/>
              <a:t>X</a:t>
            </a:r>
            <a:r>
              <a:rPr lang="en-GB" sz="2400" baseline="-25000" dirty="0"/>
              <a:t>2</a:t>
            </a:r>
            <a:r>
              <a:rPr lang="en-GB" sz="2400" dirty="0"/>
              <a:t>). </a:t>
            </a:r>
          </a:p>
          <a:p>
            <a:pPr algn="just"/>
            <a:endParaRPr lang="en-GB" sz="2400" dirty="0"/>
          </a:p>
          <a:p>
            <a:pPr algn="just"/>
            <a:r>
              <a:rPr lang="en-GB" sz="2400" dirty="0"/>
              <a:t>Usually the interaction variables are between a continuous and a categorical variable. </a:t>
            </a:r>
          </a:p>
          <a:p>
            <a:pPr algn="just"/>
            <a:endParaRPr lang="en-GB" sz="2400" dirty="0"/>
          </a:p>
          <a:p>
            <a:pPr algn="just"/>
            <a:r>
              <a:rPr lang="en-GB" sz="2400" dirty="0"/>
              <a:t>The inclusion of interaction variables enables the data scientists to check the existence of conditional relationship between the dependent variable and two independent variables. </a:t>
            </a:r>
          </a:p>
          <a:p>
            <a:pPr algn="just"/>
            <a:endParaRPr lang="en-IN" sz="2400" dirty="0"/>
          </a:p>
        </p:txBody>
      </p:sp>
    </p:spTree>
    <p:extLst>
      <p:ext uri="{BB962C8B-B14F-4D97-AF65-F5344CB8AC3E}">
        <p14:creationId xmlns:p14="http://schemas.microsoft.com/office/powerpoint/2010/main" val="112792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1000"/>
                                        <p:tgtEl>
                                          <p:spTgt spid="4">
                                            <p:txEl>
                                              <p:pRg st="4" end="4"/>
                                            </p:txEl>
                                          </p:spTgt>
                                        </p:tgtEl>
                                      </p:cBhvr>
                                    </p:animEffect>
                                    <p:anim calcmode="lin" valueType="num">
                                      <p:cBhvr>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E4C12-7F16-492A-BAB5-419FEC037C03}"/>
              </a:ext>
            </a:extLst>
          </p:cNvPr>
          <p:cNvSpPr>
            <a:spLocks noGrp="1"/>
          </p:cNvSpPr>
          <p:nvPr>
            <p:ph type="title"/>
          </p:nvPr>
        </p:nvSpPr>
        <p:spPr/>
        <p:txBody>
          <a:bodyPr/>
          <a:lstStyle/>
          <a:p>
            <a:pPr algn="l"/>
            <a:r>
              <a:rPr lang="en-GB" sz="2800" b="1" dirty="0">
                <a:solidFill>
                  <a:srgbClr val="C00000"/>
                </a:solidFill>
              </a:rPr>
              <a:t>Example</a:t>
            </a:r>
            <a:endParaRPr lang="en-IN" dirty="0">
              <a:solidFill>
                <a:srgbClr val="C00000"/>
              </a:solidFill>
            </a:endParaRPr>
          </a:p>
        </p:txBody>
      </p:sp>
      <p:sp>
        <p:nvSpPr>
          <p:cNvPr id="3" name="Content Placeholder 2">
            <a:extLst>
              <a:ext uri="{FF2B5EF4-FFF2-40B4-BE49-F238E27FC236}">
                <a16:creationId xmlns:a16="http://schemas.microsoft.com/office/drawing/2014/main" id="{E3C0BE6C-62CA-4A39-8CDA-6952F777EE69}"/>
              </a:ext>
            </a:extLst>
          </p:cNvPr>
          <p:cNvSpPr>
            <a:spLocks noGrp="1"/>
          </p:cNvSpPr>
          <p:nvPr>
            <p:ph idx="1"/>
          </p:nvPr>
        </p:nvSpPr>
        <p:spPr>
          <a:xfrm>
            <a:off x="628650" y="1139362"/>
            <a:ext cx="7886700" cy="1537853"/>
          </a:xfrm>
        </p:spPr>
        <p:txBody>
          <a:bodyPr>
            <a:noAutofit/>
          </a:bodyPr>
          <a:lstStyle/>
          <a:p>
            <a:pPr marL="0" indent="0" algn="just">
              <a:buNone/>
            </a:pPr>
            <a:r>
              <a:rPr lang="en-GB" sz="2000" dirty="0"/>
              <a:t>The data in below table provides salary, gender, and work experience (WE) of 30 workers in a firm. In Table gender = 1 denotes female and 0 denotes male and WE is the work experience in number of years.   Build a regression model by including an interaction variable between gender and work experience.  Discuss the insights based on the regression output.</a:t>
            </a:r>
            <a:endParaRPr lang="en-IN" sz="2000" dirty="0"/>
          </a:p>
          <a:p>
            <a:endParaRPr lang="en-IN" sz="2000" dirty="0"/>
          </a:p>
        </p:txBody>
      </p:sp>
      <p:graphicFrame>
        <p:nvGraphicFramePr>
          <p:cNvPr id="4" name="Table 3">
            <a:extLst>
              <a:ext uri="{FF2B5EF4-FFF2-40B4-BE49-F238E27FC236}">
                <a16:creationId xmlns:a16="http://schemas.microsoft.com/office/drawing/2014/main" id="{39E59ADE-1494-46AF-81A0-9C26ABE47282}"/>
              </a:ext>
            </a:extLst>
          </p:cNvPr>
          <p:cNvGraphicFramePr>
            <a:graphicFrameLocks noGrp="1"/>
          </p:cNvGraphicFramePr>
          <p:nvPr>
            <p:extLst>
              <p:ext uri="{D42A27DB-BD31-4B8C-83A1-F6EECF244321}">
                <p14:modId xmlns:p14="http://schemas.microsoft.com/office/powerpoint/2010/main" val="883835411"/>
              </p:ext>
            </p:extLst>
          </p:nvPr>
        </p:nvGraphicFramePr>
        <p:xfrm>
          <a:off x="628650" y="2633686"/>
          <a:ext cx="7543800" cy="3870960"/>
        </p:xfrm>
        <a:graphic>
          <a:graphicData uri="http://schemas.openxmlformats.org/drawingml/2006/table">
            <a:tbl>
              <a:tblPr firstRow="1" firstCol="1" bandRow="1">
                <a:tableStyleId>{5C22544A-7EE6-4342-B048-85BDC9FD1C3A}</a:tableStyleId>
              </a:tblPr>
              <a:tblGrid>
                <a:gridCol w="942975">
                  <a:extLst>
                    <a:ext uri="{9D8B030D-6E8A-4147-A177-3AD203B41FA5}">
                      <a16:colId xmlns:a16="http://schemas.microsoft.com/office/drawing/2014/main" val="312637952"/>
                    </a:ext>
                  </a:extLst>
                </a:gridCol>
                <a:gridCol w="942975">
                  <a:extLst>
                    <a:ext uri="{9D8B030D-6E8A-4147-A177-3AD203B41FA5}">
                      <a16:colId xmlns:a16="http://schemas.microsoft.com/office/drawing/2014/main" val="4174455905"/>
                    </a:ext>
                  </a:extLst>
                </a:gridCol>
                <a:gridCol w="942975">
                  <a:extLst>
                    <a:ext uri="{9D8B030D-6E8A-4147-A177-3AD203B41FA5}">
                      <a16:colId xmlns:a16="http://schemas.microsoft.com/office/drawing/2014/main" val="2635993863"/>
                    </a:ext>
                  </a:extLst>
                </a:gridCol>
                <a:gridCol w="942975">
                  <a:extLst>
                    <a:ext uri="{9D8B030D-6E8A-4147-A177-3AD203B41FA5}">
                      <a16:colId xmlns:a16="http://schemas.microsoft.com/office/drawing/2014/main" val="2262878326"/>
                    </a:ext>
                  </a:extLst>
                </a:gridCol>
                <a:gridCol w="942975">
                  <a:extLst>
                    <a:ext uri="{9D8B030D-6E8A-4147-A177-3AD203B41FA5}">
                      <a16:colId xmlns:a16="http://schemas.microsoft.com/office/drawing/2014/main" val="864745095"/>
                    </a:ext>
                  </a:extLst>
                </a:gridCol>
                <a:gridCol w="942975">
                  <a:extLst>
                    <a:ext uri="{9D8B030D-6E8A-4147-A177-3AD203B41FA5}">
                      <a16:colId xmlns:a16="http://schemas.microsoft.com/office/drawing/2014/main" val="1414039764"/>
                    </a:ext>
                  </a:extLst>
                </a:gridCol>
                <a:gridCol w="942975">
                  <a:extLst>
                    <a:ext uri="{9D8B030D-6E8A-4147-A177-3AD203B41FA5}">
                      <a16:colId xmlns:a16="http://schemas.microsoft.com/office/drawing/2014/main" val="2115439122"/>
                    </a:ext>
                  </a:extLst>
                </a:gridCol>
                <a:gridCol w="942975">
                  <a:extLst>
                    <a:ext uri="{9D8B030D-6E8A-4147-A177-3AD203B41FA5}">
                      <a16:colId xmlns:a16="http://schemas.microsoft.com/office/drawing/2014/main" val="2844120978"/>
                    </a:ext>
                  </a:extLst>
                </a:gridCol>
              </a:tblGrid>
              <a:tr h="230682">
                <a:tc>
                  <a:txBody>
                    <a:bodyPr/>
                    <a:lstStyle/>
                    <a:p>
                      <a:pPr>
                        <a:lnSpc>
                          <a:spcPct val="150000"/>
                        </a:lnSpc>
                        <a:spcAft>
                          <a:spcPts val="0"/>
                        </a:spcAft>
                      </a:pPr>
                      <a:r>
                        <a:rPr lang="en-GB" sz="1200">
                          <a:effectLst/>
                        </a:rPr>
                        <a:t>S. No.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Gender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dirty="0">
                          <a:effectLst/>
                        </a:rPr>
                        <a:t>WE</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Salary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S. No.</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Gender</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WE</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nSpc>
                          <a:spcPct val="150000"/>
                        </a:lnSpc>
                        <a:spcAft>
                          <a:spcPts val="0"/>
                        </a:spcAft>
                      </a:pPr>
                      <a:r>
                        <a:rPr lang="en-GB" sz="1200">
                          <a:effectLst/>
                        </a:rPr>
                        <a:t>Salary</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758144729"/>
                  </a:ext>
                </a:extLst>
              </a:tr>
              <a:tr h="230682">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6800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22100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919554699"/>
                  </a:ext>
                </a:extLst>
              </a:tr>
              <a:tr h="230682">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8700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20200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441307602"/>
                  </a:ext>
                </a:extLst>
              </a:tr>
              <a:tr h="230682">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dirty="0">
                          <a:effectLst/>
                        </a:rPr>
                        <a:t>1</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9700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17700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547773210"/>
                  </a:ext>
                </a:extLst>
              </a:tr>
              <a:tr h="230682">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9500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34700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508855093"/>
                  </a:ext>
                </a:extLst>
              </a:tr>
              <a:tr h="230682">
                <a:tc>
                  <a:txBody>
                    <a:bodyPr/>
                    <a:lstStyle/>
                    <a:p>
                      <a:pPr algn="r">
                        <a:lnSpc>
                          <a:spcPct val="150000"/>
                        </a:lnSpc>
                        <a:spcAft>
                          <a:spcPts val="0"/>
                        </a:spcAft>
                      </a:pPr>
                      <a:r>
                        <a:rPr lang="en-GB" sz="1200">
                          <a:effectLst/>
                        </a:rPr>
                        <a:t>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10100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38600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564107381"/>
                  </a:ext>
                </a:extLst>
              </a:tr>
              <a:tr h="230682">
                <a:tc>
                  <a:txBody>
                    <a:bodyPr/>
                    <a:lstStyle/>
                    <a:p>
                      <a:pPr algn="r">
                        <a:lnSpc>
                          <a:spcPct val="150000"/>
                        </a:lnSpc>
                        <a:spcAft>
                          <a:spcPts val="0"/>
                        </a:spcAft>
                      </a:pPr>
                      <a:r>
                        <a:rPr lang="en-GB" sz="1200">
                          <a:effectLst/>
                        </a:rPr>
                        <a:t>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9800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39900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736624357"/>
                  </a:ext>
                </a:extLst>
              </a:tr>
              <a:tr h="230682">
                <a:tc>
                  <a:txBody>
                    <a:bodyPr/>
                    <a:lstStyle/>
                    <a:p>
                      <a:pPr algn="r">
                        <a:lnSpc>
                          <a:spcPct val="150000"/>
                        </a:lnSpc>
                        <a:spcAft>
                          <a:spcPts val="0"/>
                        </a:spcAft>
                      </a:pPr>
                      <a:r>
                        <a:rPr lang="en-GB" sz="1200">
                          <a:effectLst/>
                        </a:rPr>
                        <a:t>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14500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38300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79193257"/>
                  </a:ext>
                </a:extLst>
              </a:tr>
              <a:tr h="230682">
                <a:tc>
                  <a:txBody>
                    <a:bodyPr/>
                    <a:lstStyle/>
                    <a:p>
                      <a:pPr algn="r">
                        <a:lnSpc>
                          <a:spcPct val="150000"/>
                        </a:lnSpc>
                        <a:spcAft>
                          <a:spcPts val="0"/>
                        </a:spcAft>
                      </a:pPr>
                      <a:r>
                        <a:rPr lang="en-GB" sz="1200">
                          <a:effectLst/>
                        </a:rPr>
                        <a:t>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19100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26900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204678791"/>
                  </a:ext>
                </a:extLst>
              </a:tr>
              <a:tr h="230682">
                <a:tc>
                  <a:txBody>
                    <a:bodyPr/>
                    <a:lstStyle/>
                    <a:p>
                      <a:pPr algn="r">
                        <a:lnSpc>
                          <a:spcPct val="150000"/>
                        </a:lnSpc>
                        <a:spcAft>
                          <a:spcPts val="0"/>
                        </a:spcAft>
                      </a:pPr>
                      <a:r>
                        <a:rPr lang="en-GB" sz="1200">
                          <a:effectLst/>
                        </a:rPr>
                        <a:t>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18600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31800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87223798"/>
                  </a:ext>
                </a:extLst>
              </a:tr>
              <a:tr h="230682">
                <a:tc>
                  <a:txBody>
                    <a:bodyPr/>
                    <a:lstStyle/>
                    <a:p>
                      <a:pPr algn="r">
                        <a:lnSpc>
                          <a:spcPct val="150000"/>
                        </a:lnSpc>
                        <a:spcAft>
                          <a:spcPts val="0"/>
                        </a:spcAft>
                      </a:pPr>
                      <a:r>
                        <a:rPr lang="en-GB" sz="1200">
                          <a:effectLst/>
                        </a:rPr>
                        <a:t>10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14200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dirty="0">
                          <a:effectLst/>
                        </a:rPr>
                        <a:t>1</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8000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761006380"/>
                  </a:ext>
                </a:extLst>
              </a:tr>
              <a:tr h="230682">
                <a:tc>
                  <a:txBody>
                    <a:bodyPr/>
                    <a:lstStyle/>
                    <a:p>
                      <a:pPr algn="r">
                        <a:lnSpc>
                          <a:spcPct val="150000"/>
                        </a:lnSpc>
                        <a:spcAft>
                          <a:spcPts val="0"/>
                        </a:spcAft>
                      </a:pPr>
                      <a:r>
                        <a:rPr lang="en-GB" sz="1200">
                          <a:effectLst/>
                        </a:rPr>
                        <a:t>11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28000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26</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8700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811316333"/>
                  </a:ext>
                </a:extLst>
              </a:tr>
              <a:tr h="230682">
                <a:tc>
                  <a:txBody>
                    <a:bodyPr/>
                    <a:lstStyle/>
                    <a:p>
                      <a:pPr algn="r">
                        <a:lnSpc>
                          <a:spcPct val="150000"/>
                        </a:lnSpc>
                        <a:spcAft>
                          <a:spcPts val="0"/>
                        </a:spcAft>
                      </a:pPr>
                      <a:r>
                        <a:rPr lang="en-GB" sz="1200">
                          <a:effectLst/>
                        </a:rPr>
                        <a:t>12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25700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27</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6200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361969401"/>
                  </a:ext>
                </a:extLst>
              </a:tr>
              <a:tr h="230682">
                <a:tc>
                  <a:txBody>
                    <a:bodyPr/>
                    <a:lstStyle/>
                    <a:p>
                      <a:pPr algn="r">
                        <a:lnSpc>
                          <a:spcPct val="150000"/>
                        </a:lnSpc>
                        <a:spcAft>
                          <a:spcPts val="0"/>
                        </a:spcAft>
                      </a:pPr>
                      <a:r>
                        <a:rPr lang="en-GB" sz="1200">
                          <a:effectLst/>
                        </a:rPr>
                        <a:t>13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20350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28</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4100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030140642"/>
                  </a:ext>
                </a:extLst>
              </a:tr>
              <a:tr h="230682">
                <a:tc>
                  <a:txBody>
                    <a:bodyPr/>
                    <a:lstStyle/>
                    <a:p>
                      <a:pPr algn="r">
                        <a:lnSpc>
                          <a:spcPct val="150000"/>
                        </a:lnSpc>
                        <a:spcAft>
                          <a:spcPts val="0"/>
                        </a:spcAft>
                      </a:pPr>
                      <a:r>
                        <a:rPr lang="en-GB" sz="1200">
                          <a:effectLst/>
                        </a:rPr>
                        <a:t>14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4</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30400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29</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2</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5000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166708169"/>
                  </a:ext>
                </a:extLst>
              </a:tr>
              <a:tr h="230682">
                <a:tc>
                  <a:txBody>
                    <a:bodyPr/>
                    <a:lstStyle/>
                    <a:p>
                      <a:pPr algn="r">
                        <a:lnSpc>
                          <a:spcPct val="150000"/>
                        </a:lnSpc>
                        <a:spcAft>
                          <a:spcPts val="0"/>
                        </a:spcAft>
                      </a:pPr>
                      <a:r>
                        <a:rPr lang="en-GB" sz="1200">
                          <a:effectLst/>
                        </a:rPr>
                        <a:t>15</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19400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30</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a:effectLst/>
                        </a:rPr>
                        <a:t>1</a:t>
                      </a:r>
                      <a:endParaRPr lang="en-IN"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200" dirty="0">
                          <a:effectLst/>
                        </a:rPr>
                        <a:t>4800</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624366613"/>
                  </a:ext>
                </a:extLst>
              </a:tr>
            </a:tbl>
          </a:graphicData>
        </a:graphic>
      </p:graphicFrame>
    </p:spTree>
    <p:extLst>
      <p:ext uri="{BB962C8B-B14F-4D97-AF65-F5344CB8AC3E}">
        <p14:creationId xmlns:p14="http://schemas.microsoft.com/office/powerpoint/2010/main" val="369818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A876-08B4-497B-876D-ED68B1407ABC}"/>
              </a:ext>
            </a:extLst>
          </p:cNvPr>
          <p:cNvSpPr>
            <a:spLocks noGrp="1"/>
          </p:cNvSpPr>
          <p:nvPr>
            <p:ph type="title"/>
          </p:nvPr>
        </p:nvSpPr>
        <p:spPr>
          <a:xfrm>
            <a:off x="628650" y="518974"/>
            <a:ext cx="8252114" cy="518388"/>
          </a:xfrm>
        </p:spPr>
        <p:txBody>
          <a:bodyPr/>
          <a:lstStyle/>
          <a:p>
            <a:pPr algn="l"/>
            <a:r>
              <a:rPr lang="en-GB" sz="2800" b="1" dirty="0">
                <a:solidFill>
                  <a:srgbClr val="C00000"/>
                </a:solidFill>
              </a:rPr>
              <a:t>Solution</a:t>
            </a:r>
            <a:endParaRPr lang="en-IN" sz="2800" dirty="0">
              <a:solidFill>
                <a:srgbClr val="C00000"/>
              </a:solidFill>
            </a:endParaRPr>
          </a:p>
        </p:txBody>
      </p:sp>
      <p:sp>
        <p:nvSpPr>
          <p:cNvPr id="3" name="Content Placeholder 2">
            <a:extLst>
              <a:ext uri="{FF2B5EF4-FFF2-40B4-BE49-F238E27FC236}">
                <a16:creationId xmlns:a16="http://schemas.microsoft.com/office/drawing/2014/main" id="{C1141968-2EB8-475C-B017-F92714807A39}"/>
              </a:ext>
            </a:extLst>
          </p:cNvPr>
          <p:cNvSpPr>
            <a:spLocks noGrp="1"/>
          </p:cNvSpPr>
          <p:nvPr>
            <p:ph idx="1"/>
          </p:nvPr>
        </p:nvSpPr>
        <p:spPr>
          <a:xfrm>
            <a:off x="628650" y="1268520"/>
            <a:ext cx="8252114" cy="1766453"/>
          </a:xfrm>
        </p:spPr>
        <p:txBody>
          <a:bodyPr/>
          <a:lstStyle/>
          <a:p>
            <a:pPr marL="0" indent="0">
              <a:buNone/>
            </a:pPr>
            <a:r>
              <a:rPr lang="en-GB" sz="2400" dirty="0"/>
              <a:t>Let the regression model be:</a:t>
            </a:r>
          </a:p>
          <a:p>
            <a:pPr marL="0" indent="0">
              <a:buNone/>
            </a:pPr>
            <a:r>
              <a:rPr lang="en-GB" sz="2400" i="1" dirty="0">
                <a:solidFill>
                  <a:srgbClr val="C00000"/>
                </a:solidFill>
              </a:rPr>
              <a:t>Y</a:t>
            </a:r>
            <a:r>
              <a:rPr lang="en-GB" sz="2400" dirty="0">
                <a:solidFill>
                  <a:srgbClr val="C00000"/>
                </a:solidFill>
              </a:rPr>
              <a:t> = </a:t>
            </a:r>
            <a:r>
              <a:rPr lang="en-GB" sz="2400" dirty="0">
                <a:solidFill>
                  <a:srgbClr val="C00000"/>
                </a:solidFill>
                <a:sym typeface="Symbol" panose="05050102010706020507" pitchFamily="18" charset="2"/>
              </a:rPr>
              <a:t></a:t>
            </a:r>
            <a:r>
              <a:rPr lang="en-GB" sz="2400" baseline="-25000" dirty="0">
                <a:solidFill>
                  <a:srgbClr val="C00000"/>
                </a:solidFill>
              </a:rPr>
              <a:t>0</a:t>
            </a:r>
            <a:r>
              <a:rPr lang="en-GB" sz="2400" dirty="0">
                <a:solidFill>
                  <a:srgbClr val="C00000"/>
                </a:solidFill>
              </a:rPr>
              <a:t> +  </a:t>
            </a:r>
            <a:r>
              <a:rPr lang="en-GB" sz="2400" dirty="0">
                <a:solidFill>
                  <a:srgbClr val="C00000"/>
                </a:solidFill>
                <a:sym typeface="Symbol" panose="05050102010706020507" pitchFamily="18" charset="2"/>
              </a:rPr>
              <a:t></a:t>
            </a:r>
            <a:r>
              <a:rPr lang="en-GB" sz="2400" baseline="-25000" dirty="0">
                <a:solidFill>
                  <a:srgbClr val="C00000"/>
                </a:solidFill>
              </a:rPr>
              <a:t>1 </a:t>
            </a:r>
            <a:r>
              <a:rPr lang="en-US" sz="2400" dirty="0">
                <a:solidFill>
                  <a:srgbClr val="C00000"/>
                </a:solidFill>
                <a:sym typeface="Symbol" panose="05050102010706020507" pitchFamily="18" charset="2"/>
              </a:rPr>
              <a:t></a:t>
            </a:r>
            <a:r>
              <a:rPr lang="en-US" sz="2400" dirty="0">
                <a:solidFill>
                  <a:srgbClr val="C00000"/>
                </a:solidFill>
              </a:rPr>
              <a:t> </a:t>
            </a:r>
            <a:r>
              <a:rPr lang="en-GB" sz="2400" dirty="0">
                <a:solidFill>
                  <a:srgbClr val="C00000"/>
                </a:solidFill>
              </a:rPr>
              <a:t>Gender</a:t>
            </a:r>
            <a:r>
              <a:rPr lang="en-GB" sz="2400" i="1" dirty="0">
                <a:solidFill>
                  <a:srgbClr val="C00000"/>
                </a:solidFill>
              </a:rPr>
              <a:t> </a:t>
            </a:r>
            <a:r>
              <a:rPr lang="en-GB" sz="2400" dirty="0">
                <a:solidFill>
                  <a:srgbClr val="C00000"/>
                </a:solidFill>
              </a:rPr>
              <a:t>+ </a:t>
            </a:r>
            <a:r>
              <a:rPr lang="en-GB" sz="2400" dirty="0">
                <a:solidFill>
                  <a:srgbClr val="C00000"/>
                </a:solidFill>
                <a:sym typeface="Symbol" panose="05050102010706020507" pitchFamily="18" charset="2"/>
              </a:rPr>
              <a:t></a:t>
            </a:r>
            <a:r>
              <a:rPr lang="en-GB" sz="2400" baseline="-25000" dirty="0">
                <a:solidFill>
                  <a:srgbClr val="C00000"/>
                </a:solidFill>
              </a:rPr>
              <a:t>2 </a:t>
            </a:r>
            <a:r>
              <a:rPr lang="en-US" sz="2400" dirty="0">
                <a:solidFill>
                  <a:srgbClr val="C00000"/>
                </a:solidFill>
                <a:sym typeface="Symbol" panose="05050102010706020507" pitchFamily="18" charset="2"/>
              </a:rPr>
              <a:t></a:t>
            </a:r>
            <a:r>
              <a:rPr lang="en-US" sz="2400" dirty="0">
                <a:solidFill>
                  <a:srgbClr val="C00000"/>
                </a:solidFill>
              </a:rPr>
              <a:t> </a:t>
            </a:r>
            <a:r>
              <a:rPr lang="en-GB" sz="2400" dirty="0">
                <a:solidFill>
                  <a:srgbClr val="C00000"/>
                </a:solidFill>
              </a:rPr>
              <a:t>WE + </a:t>
            </a:r>
            <a:r>
              <a:rPr lang="en-GB" sz="2400" dirty="0">
                <a:solidFill>
                  <a:srgbClr val="C00000"/>
                </a:solidFill>
                <a:sym typeface="Symbol" panose="05050102010706020507" pitchFamily="18" charset="2"/>
              </a:rPr>
              <a:t></a:t>
            </a:r>
            <a:r>
              <a:rPr lang="en-GB" sz="2400" baseline="-25000" dirty="0">
                <a:solidFill>
                  <a:srgbClr val="C00000"/>
                </a:solidFill>
              </a:rPr>
              <a:t>3 </a:t>
            </a:r>
            <a:r>
              <a:rPr lang="en-US" sz="2400" dirty="0">
                <a:solidFill>
                  <a:srgbClr val="C00000"/>
                </a:solidFill>
                <a:sym typeface="Symbol" panose="05050102010706020507" pitchFamily="18" charset="2"/>
              </a:rPr>
              <a:t></a:t>
            </a:r>
            <a:r>
              <a:rPr lang="en-US" sz="2400" dirty="0">
                <a:solidFill>
                  <a:srgbClr val="C00000"/>
                </a:solidFill>
              </a:rPr>
              <a:t> </a:t>
            </a:r>
            <a:r>
              <a:rPr lang="en-GB" sz="2400" dirty="0">
                <a:solidFill>
                  <a:srgbClr val="C00000"/>
                </a:solidFill>
              </a:rPr>
              <a:t>Gender × WE</a:t>
            </a:r>
            <a:endParaRPr lang="en-IN" sz="2400" dirty="0">
              <a:solidFill>
                <a:srgbClr val="C00000"/>
              </a:solidFill>
            </a:endParaRPr>
          </a:p>
          <a:p>
            <a:pPr marL="0" indent="0">
              <a:buNone/>
            </a:pPr>
            <a:r>
              <a:rPr lang="en-GB" sz="2400" dirty="0"/>
              <a:t>The SPSS output for the regression model including interaction variable is given in Table </a:t>
            </a:r>
            <a:endParaRPr lang="en-IN" sz="2400" dirty="0"/>
          </a:p>
          <a:p>
            <a:endParaRPr lang="en-IN" dirty="0"/>
          </a:p>
        </p:txBody>
      </p:sp>
      <p:graphicFrame>
        <p:nvGraphicFramePr>
          <p:cNvPr id="6" name="Table 5">
            <a:extLst>
              <a:ext uri="{FF2B5EF4-FFF2-40B4-BE49-F238E27FC236}">
                <a16:creationId xmlns:a16="http://schemas.microsoft.com/office/drawing/2014/main" id="{F08DD6FA-6AEA-43D0-B36F-4B1284913F96}"/>
              </a:ext>
            </a:extLst>
          </p:cNvPr>
          <p:cNvGraphicFramePr>
            <a:graphicFrameLocks noGrp="1"/>
          </p:cNvGraphicFramePr>
          <p:nvPr>
            <p:extLst>
              <p:ext uri="{D42A27DB-BD31-4B8C-83A1-F6EECF244321}">
                <p14:modId xmlns:p14="http://schemas.microsoft.com/office/powerpoint/2010/main" val="2900495908"/>
              </p:ext>
            </p:extLst>
          </p:nvPr>
        </p:nvGraphicFramePr>
        <p:xfrm>
          <a:off x="1333500" y="3266131"/>
          <a:ext cx="6477000" cy="2944244"/>
        </p:xfrm>
        <a:graphic>
          <a:graphicData uri="http://schemas.openxmlformats.org/drawingml/2006/table">
            <a:tbl>
              <a:tblPr>
                <a:tableStyleId>{8A107856-5554-42FB-B03E-39F5DBC370BA}</a:tableStyleId>
              </a:tblPr>
              <a:tblGrid>
                <a:gridCol w="609600">
                  <a:extLst>
                    <a:ext uri="{9D8B030D-6E8A-4147-A177-3AD203B41FA5}">
                      <a16:colId xmlns:a16="http://schemas.microsoft.com/office/drawing/2014/main" val="2635052296"/>
                    </a:ext>
                  </a:extLst>
                </a:gridCol>
                <a:gridCol w="1143000">
                  <a:extLst>
                    <a:ext uri="{9D8B030D-6E8A-4147-A177-3AD203B41FA5}">
                      <a16:colId xmlns:a16="http://schemas.microsoft.com/office/drawing/2014/main" val="15869642"/>
                    </a:ext>
                  </a:extLst>
                </a:gridCol>
                <a:gridCol w="1166034">
                  <a:extLst>
                    <a:ext uri="{9D8B030D-6E8A-4147-A177-3AD203B41FA5}">
                      <a16:colId xmlns:a16="http://schemas.microsoft.com/office/drawing/2014/main" val="3070189317"/>
                    </a:ext>
                  </a:extLst>
                </a:gridCol>
                <a:gridCol w="891366">
                  <a:extLst>
                    <a:ext uri="{9D8B030D-6E8A-4147-A177-3AD203B41FA5}">
                      <a16:colId xmlns:a16="http://schemas.microsoft.com/office/drawing/2014/main" val="2039143448"/>
                    </a:ext>
                  </a:extLst>
                </a:gridCol>
                <a:gridCol w="1218092">
                  <a:extLst>
                    <a:ext uri="{9D8B030D-6E8A-4147-A177-3AD203B41FA5}">
                      <a16:colId xmlns:a16="http://schemas.microsoft.com/office/drawing/2014/main" val="3379984230"/>
                    </a:ext>
                  </a:extLst>
                </a:gridCol>
                <a:gridCol w="724454">
                  <a:extLst>
                    <a:ext uri="{9D8B030D-6E8A-4147-A177-3AD203B41FA5}">
                      <a16:colId xmlns:a16="http://schemas.microsoft.com/office/drawing/2014/main" val="1789147290"/>
                    </a:ext>
                  </a:extLst>
                </a:gridCol>
                <a:gridCol w="724454">
                  <a:extLst>
                    <a:ext uri="{9D8B030D-6E8A-4147-A177-3AD203B41FA5}">
                      <a16:colId xmlns:a16="http://schemas.microsoft.com/office/drawing/2014/main" val="1808045017"/>
                    </a:ext>
                  </a:extLst>
                </a:gridCol>
              </a:tblGrid>
              <a:tr h="762000">
                <a:tc rowSpan="2" gridSpan="2">
                  <a:txBody>
                    <a:bodyPr/>
                    <a:lstStyle/>
                    <a:p>
                      <a:pPr marL="38100" marR="38100">
                        <a:lnSpc>
                          <a:spcPct val="150000"/>
                        </a:lnSpc>
                        <a:spcAft>
                          <a:spcPts val="0"/>
                        </a:spcAft>
                      </a:pPr>
                      <a:r>
                        <a:rPr lang="en-GB" sz="1400" b="1" dirty="0">
                          <a:effectLst/>
                        </a:rPr>
                        <a:t>Model</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hMerge="1">
                  <a:txBody>
                    <a:bodyPr/>
                    <a:lstStyle/>
                    <a:p>
                      <a:endParaRPr lang="en-IN"/>
                    </a:p>
                  </a:txBody>
                  <a:tcPr/>
                </a:tc>
                <a:tc gridSpan="2">
                  <a:txBody>
                    <a:bodyPr/>
                    <a:lstStyle/>
                    <a:p>
                      <a:pPr marL="38100" marR="38100" algn="ctr">
                        <a:lnSpc>
                          <a:spcPct val="150000"/>
                        </a:lnSpc>
                        <a:spcAft>
                          <a:spcPts val="0"/>
                        </a:spcAft>
                      </a:pPr>
                      <a:r>
                        <a:rPr lang="en-GB" sz="1400" b="1" dirty="0">
                          <a:effectLst/>
                        </a:rPr>
                        <a:t>Unstandardized Coefficients</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L="38100" marR="38100" algn="ctr">
                        <a:lnSpc>
                          <a:spcPct val="150000"/>
                        </a:lnSpc>
                        <a:spcAft>
                          <a:spcPts val="0"/>
                        </a:spcAft>
                      </a:pPr>
                      <a:r>
                        <a:rPr lang="en-GB" sz="1400" b="1">
                          <a:effectLst/>
                        </a:rPr>
                        <a:t>Standardized Coefficients</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b="1" dirty="0">
                          <a:effectLst/>
                        </a:rPr>
                        <a:t>T</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b="1" dirty="0">
                          <a:effectLst/>
                        </a:rPr>
                        <a:t>Sig.</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556034835"/>
                  </a:ext>
                </a:extLst>
              </a:tr>
              <a:tr h="353304">
                <a:tc gridSpan="2" vMerge="1">
                  <a:txBody>
                    <a:bodyPr/>
                    <a:lstStyle/>
                    <a:p>
                      <a:endParaRPr lang="en-IN"/>
                    </a:p>
                  </a:txBody>
                  <a:tcPr/>
                </a:tc>
                <a:tc hMerge="1" vMerge="1">
                  <a:txBody>
                    <a:bodyPr/>
                    <a:lstStyle/>
                    <a:p>
                      <a:endParaRPr lang="en-IN"/>
                    </a:p>
                  </a:txBody>
                  <a:tcPr/>
                </a:tc>
                <a:tc>
                  <a:txBody>
                    <a:bodyPr/>
                    <a:lstStyle/>
                    <a:p>
                      <a:pPr marL="38100" marR="38100" algn="ctr">
                        <a:lnSpc>
                          <a:spcPct val="150000"/>
                        </a:lnSpc>
                        <a:spcAft>
                          <a:spcPts val="0"/>
                        </a:spcAft>
                      </a:pPr>
                      <a:r>
                        <a:rPr lang="en-GB" sz="1400" b="1">
                          <a:effectLst/>
                        </a:rPr>
                        <a:t>B</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b="1">
                          <a:effectLst/>
                        </a:rPr>
                        <a:t>Std. Error</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b="1" dirty="0">
                          <a:effectLst/>
                        </a:rPr>
                        <a:t>Beta</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265251088"/>
                  </a:ext>
                </a:extLst>
              </a:tr>
              <a:tr h="561166">
                <a:tc rowSpan="4">
                  <a:txBody>
                    <a:bodyPr/>
                    <a:lstStyle/>
                    <a:p>
                      <a:pPr marL="38100" marR="38100">
                        <a:lnSpc>
                          <a:spcPct val="150000"/>
                        </a:lnSpc>
                        <a:spcAft>
                          <a:spcPts val="0"/>
                        </a:spcAft>
                      </a:pPr>
                      <a:r>
                        <a:rPr lang="en-GB" sz="1400" b="1" dirty="0">
                          <a:effectLst/>
                        </a:rPr>
                        <a:t>1</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nSpc>
                          <a:spcPct val="150000"/>
                        </a:lnSpc>
                        <a:spcAft>
                          <a:spcPts val="0"/>
                        </a:spcAft>
                      </a:pPr>
                      <a:r>
                        <a:rPr lang="en-GB" sz="1400" b="1">
                          <a:effectLst/>
                        </a:rPr>
                        <a:t>(Constant)</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13443.895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1539.893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50000"/>
                        </a:lnSpc>
                        <a:spcAft>
                          <a:spcPts val="0"/>
                        </a:spcAft>
                      </a:pPr>
                      <a:r>
                        <a:rPr lang="en-GB" sz="1400">
                          <a:effectLst/>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8.730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22880019"/>
                  </a:ext>
                </a:extLst>
              </a:tr>
              <a:tr h="353304">
                <a:tc vMerge="1">
                  <a:txBody>
                    <a:bodyPr/>
                    <a:lstStyle/>
                    <a:p>
                      <a:endParaRPr lang="en-IN"/>
                    </a:p>
                  </a:txBody>
                  <a:tcPr/>
                </a:tc>
                <a:tc>
                  <a:txBody>
                    <a:bodyPr/>
                    <a:lstStyle/>
                    <a:p>
                      <a:pPr marL="38100" marR="38100">
                        <a:lnSpc>
                          <a:spcPct val="150000"/>
                        </a:lnSpc>
                        <a:spcAft>
                          <a:spcPts val="0"/>
                        </a:spcAft>
                      </a:pPr>
                      <a:r>
                        <a:rPr lang="en-GB" sz="1400" b="1">
                          <a:effectLst/>
                        </a:rPr>
                        <a:t>Gender</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7757.751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2717.884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0.348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2.854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47487202"/>
                  </a:ext>
                </a:extLst>
              </a:tr>
              <a:tr h="353304">
                <a:tc vMerge="1">
                  <a:txBody>
                    <a:bodyPr/>
                    <a:lstStyle/>
                    <a:p>
                      <a:endParaRPr lang="en-IN"/>
                    </a:p>
                  </a:txBody>
                  <a:tcPr/>
                </a:tc>
                <a:tc>
                  <a:txBody>
                    <a:bodyPr/>
                    <a:lstStyle/>
                    <a:p>
                      <a:pPr marL="38100" marR="38100">
                        <a:lnSpc>
                          <a:spcPct val="150000"/>
                        </a:lnSpc>
                        <a:spcAft>
                          <a:spcPts val="0"/>
                        </a:spcAft>
                      </a:pPr>
                      <a:r>
                        <a:rPr lang="en-GB" sz="1400" b="1">
                          <a:effectLst/>
                        </a:rPr>
                        <a:t>WE</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3523.547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383.643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0.603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9.184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026470090"/>
                  </a:ext>
                </a:extLst>
              </a:tr>
              <a:tr h="561166">
                <a:tc vMerge="1">
                  <a:txBody>
                    <a:bodyPr/>
                    <a:lstStyle/>
                    <a:p>
                      <a:endParaRPr lang="en-IN"/>
                    </a:p>
                  </a:txBody>
                  <a:tcPr/>
                </a:tc>
                <a:tc>
                  <a:txBody>
                    <a:bodyPr/>
                    <a:lstStyle/>
                    <a:p>
                      <a:pPr marL="38100" marR="38100">
                        <a:lnSpc>
                          <a:spcPct val="150000"/>
                        </a:lnSpc>
                        <a:spcAft>
                          <a:spcPts val="0"/>
                        </a:spcAft>
                      </a:pPr>
                      <a:r>
                        <a:rPr lang="en-GB" sz="1400" b="1" dirty="0">
                          <a:effectLst/>
                        </a:rPr>
                        <a:t>Gender*WE</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2913.908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744.214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0.487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sym typeface="Symbol" panose="05050102010706020507" pitchFamily="18" charset="2"/>
                        </a:rPr>
                        <a:t></a:t>
                      </a:r>
                      <a:r>
                        <a:rPr lang="en-GB" sz="1400">
                          <a:effectLst/>
                        </a:rPr>
                        <a:t>3.915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0.001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38699194"/>
                  </a:ext>
                </a:extLst>
              </a:tr>
            </a:tbl>
          </a:graphicData>
        </a:graphic>
      </p:graphicFrame>
    </p:spTree>
    <p:extLst>
      <p:ext uri="{BB962C8B-B14F-4D97-AF65-F5344CB8AC3E}">
        <p14:creationId xmlns:p14="http://schemas.microsoft.com/office/powerpoint/2010/main" val="400948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D895F1C-1E1E-452F-BE95-06013D4883C3}"/>
              </a:ext>
            </a:extLst>
          </p:cNvPr>
          <p:cNvSpPr>
            <a:spLocks noGrp="1"/>
          </p:cNvSpPr>
          <p:nvPr>
            <p:ph idx="4294967295"/>
          </p:nvPr>
        </p:nvSpPr>
        <p:spPr>
          <a:xfrm>
            <a:off x="342900" y="533400"/>
            <a:ext cx="8458200" cy="4038600"/>
          </a:xfrm>
        </p:spPr>
        <p:txBody>
          <a:bodyPr/>
          <a:lstStyle/>
          <a:p>
            <a:pPr marL="0" indent="0" algn="just">
              <a:buNone/>
            </a:pPr>
            <a:r>
              <a:rPr lang="en-GB" sz="2200" dirty="0"/>
              <a:t>The regression equation is given by</a:t>
            </a:r>
          </a:p>
          <a:p>
            <a:pPr marL="0" indent="0" algn="just">
              <a:buNone/>
            </a:pPr>
            <a:r>
              <a:rPr lang="en-GB" sz="2200" b="1" i="1" dirty="0">
                <a:solidFill>
                  <a:srgbClr val="0070C0"/>
                </a:solidFill>
              </a:rPr>
              <a:t>Y</a:t>
            </a:r>
            <a:r>
              <a:rPr lang="en-GB" sz="2200" b="1" dirty="0">
                <a:solidFill>
                  <a:srgbClr val="0070C0"/>
                </a:solidFill>
              </a:rPr>
              <a:t> = 13442.895 – 7757.75 Gender</a:t>
            </a:r>
            <a:r>
              <a:rPr lang="en-GB" sz="2200" b="1" i="1" dirty="0">
                <a:solidFill>
                  <a:srgbClr val="0070C0"/>
                </a:solidFill>
              </a:rPr>
              <a:t> </a:t>
            </a:r>
            <a:r>
              <a:rPr lang="en-GB" sz="2200" b="1" dirty="0">
                <a:solidFill>
                  <a:srgbClr val="0070C0"/>
                </a:solidFill>
              </a:rPr>
              <a:t>+ 3523.547 WE – 2913.908 Gender × WE</a:t>
            </a:r>
          </a:p>
          <a:p>
            <a:pPr marL="0" indent="0" algn="just">
              <a:buNone/>
            </a:pPr>
            <a:r>
              <a:rPr lang="en-GB" sz="2200" dirty="0"/>
              <a:t>Equation can be written as</a:t>
            </a:r>
          </a:p>
          <a:p>
            <a:pPr marL="0" indent="0" algn="just">
              <a:buNone/>
            </a:pPr>
            <a:endParaRPr lang="en-GB" sz="2200" dirty="0"/>
          </a:p>
          <a:p>
            <a:pPr algn="just">
              <a:buFont typeface="Wingdings" panose="05000000000000000000" pitchFamily="2" charset="2"/>
              <a:buChar char="Ø"/>
            </a:pPr>
            <a:r>
              <a:rPr lang="en-GB" sz="2200" dirty="0"/>
              <a:t>For Female (Gender = 1)</a:t>
            </a:r>
            <a:endParaRPr lang="en-IN" sz="2200" dirty="0"/>
          </a:p>
          <a:p>
            <a:pPr marL="0" indent="0" algn="just">
              <a:buNone/>
            </a:pPr>
            <a:r>
              <a:rPr lang="en-GB" sz="2200" b="1" i="1" dirty="0">
                <a:solidFill>
                  <a:srgbClr val="0070C0"/>
                </a:solidFill>
              </a:rPr>
              <a:t>Y</a:t>
            </a:r>
            <a:r>
              <a:rPr lang="en-GB" sz="2200" b="1" dirty="0">
                <a:solidFill>
                  <a:srgbClr val="0070C0"/>
                </a:solidFill>
              </a:rPr>
              <a:t> = 13442.895 – 7757.75 + (3523.547 – 2913.908) WE</a:t>
            </a:r>
            <a:r>
              <a:rPr lang="en-GB" sz="2200" dirty="0"/>
              <a:t>				</a:t>
            </a:r>
          </a:p>
          <a:p>
            <a:pPr algn="just">
              <a:buFont typeface="Wingdings" panose="05000000000000000000" pitchFamily="2" charset="2"/>
              <a:buChar char="Ø"/>
            </a:pPr>
            <a:r>
              <a:rPr lang="en-GB" sz="2200" dirty="0"/>
              <a:t>For Male (Gender = 1)</a:t>
            </a:r>
            <a:endParaRPr lang="en-IN" sz="2200" dirty="0"/>
          </a:p>
          <a:p>
            <a:pPr marL="0" indent="0" algn="just">
              <a:buNone/>
            </a:pPr>
            <a:r>
              <a:rPr lang="en-GB" sz="2200" b="1" i="1" dirty="0">
                <a:solidFill>
                  <a:srgbClr val="0070C0"/>
                </a:solidFill>
              </a:rPr>
              <a:t>Y</a:t>
            </a:r>
            <a:r>
              <a:rPr lang="en-GB" sz="2200" b="1" dirty="0">
                <a:solidFill>
                  <a:srgbClr val="0070C0"/>
                </a:solidFill>
              </a:rPr>
              <a:t> = 13442.895 + 3523.547 WE</a:t>
            </a:r>
            <a:endParaRPr lang="en-IN" sz="2200" b="1" dirty="0">
              <a:solidFill>
                <a:srgbClr val="0070C0"/>
              </a:solidFill>
            </a:endParaRPr>
          </a:p>
          <a:p>
            <a:endParaRPr lang="en-IN" sz="2200" dirty="0"/>
          </a:p>
        </p:txBody>
      </p:sp>
      <p:sp>
        <p:nvSpPr>
          <p:cNvPr id="5" name="Content Placeholder 3">
            <a:extLst>
              <a:ext uri="{FF2B5EF4-FFF2-40B4-BE49-F238E27FC236}">
                <a16:creationId xmlns:a16="http://schemas.microsoft.com/office/drawing/2014/main" id="{D9AF0E81-63F5-4C4C-98F9-85F721BD05EB}"/>
              </a:ext>
            </a:extLst>
          </p:cNvPr>
          <p:cNvSpPr txBox="1">
            <a:spLocks/>
          </p:cNvSpPr>
          <p:nvPr/>
        </p:nvSpPr>
        <p:spPr bwMode="auto">
          <a:xfrm>
            <a:off x="228600" y="4800600"/>
            <a:ext cx="8686800" cy="152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charset="0"/>
              <a:buNone/>
            </a:pPr>
            <a:r>
              <a:rPr lang="en-GB" sz="2200" dirty="0">
                <a:ln w="0"/>
                <a:solidFill>
                  <a:srgbClr val="DF4B2D"/>
                </a:solidFill>
                <a:effectLst>
                  <a:outerShdw blurRad="38100" dist="25400" dir="5400000" algn="ctr" rotWithShape="0">
                    <a:srgbClr val="6E747A">
                      <a:alpha val="43000"/>
                    </a:srgbClr>
                  </a:outerShdw>
                </a:effectLst>
              </a:rPr>
              <a:t>That is, the change in salary for female when WE increases by one year is 609.639 and for male is 3523.547. That is the salary for male workers is increasing at a higher rate compared female workers.  Interaction variables are an important class of derived variables in regression model building.</a:t>
            </a:r>
            <a:endParaRPr lang="en-IN" sz="2200" dirty="0">
              <a:ln w="0"/>
              <a:solidFill>
                <a:srgbClr val="DF4B2D"/>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0131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1000"/>
                                        <p:tgtEl>
                                          <p:spTgt spid="4">
                                            <p:txEl>
                                              <p:pRg st="7" end="7"/>
                                            </p:txEl>
                                          </p:spTgt>
                                        </p:tgtEl>
                                      </p:cBhvr>
                                    </p:animEffect>
                                    <p:anim calcmode="lin" valueType="num">
                                      <p:cBhvr>
                                        <p:cTn id="5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5">
                                            <p:txEl>
                                              <p:pRg st="0" end="0"/>
                                            </p:txEl>
                                          </p:spTgt>
                                        </p:tgtEl>
                                        <p:attrNameLst>
                                          <p:attrName>style.visibility</p:attrName>
                                        </p:attrNameLst>
                                      </p:cBhvr>
                                      <p:to>
                                        <p:strVal val="visible"/>
                                      </p:to>
                                    </p:set>
                                    <p:animEffect transition="in" filter="fade">
                                      <p:cBhvr>
                                        <p:cTn id="56" dur="1000"/>
                                        <p:tgtEl>
                                          <p:spTgt spid="5">
                                            <p:txEl>
                                              <p:pRg st="0" end="0"/>
                                            </p:txEl>
                                          </p:spTgt>
                                        </p:tgtEl>
                                      </p:cBhvr>
                                    </p:animEffect>
                                    <p:anim calcmode="lin" valueType="num">
                                      <p:cBhvr>
                                        <p:cTn id="5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ACBA03-9546-497E-9006-56108EB34B60}"/>
              </a:ext>
            </a:extLst>
          </p:cNvPr>
          <p:cNvSpPr>
            <a:spLocks noGrp="1"/>
          </p:cNvSpPr>
          <p:nvPr>
            <p:ph type="title"/>
          </p:nvPr>
        </p:nvSpPr>
        <p:spPr>
          <a:xfrm>
            <a:off x="663286" y="472212"/>
            <a:ext cx="8252114" cy="518388"/>
          </a:xfrm>
        </p:spPr>
        <p:txBody>
          <a:bodyPr/>
          <a:lstStyle/>
          <a:p>
            <a:pPr algn="just"/>
            <a:r>
              <a:rPr lang="en-GB" sz="2400" b="1" dirty="0">
                <a:solidFill>
                  <a:srgbClr val="C00000"/>
                </a:solidFill>
              </a:rPr>
              <a:t>Validation of Multiple Regression Model</a:t>
            </a:r>
            <a:endParaRPr lang="en-IN" sz="2400" dirty="0">
              <a:solidFill>
                <a:srgbClr val="C00000"/>
              </a:solidFill>
            </a:endParaRPr>
          </a:p>
        </p:txBody>
      </p:sp>
      <p:sp>
        <p:nvSpPr>
          <p:cNvPr id="4" name="Content Placeholder 3">
            <a:extLst>
              <a:ext uri="{FF2B5EF4-FFF2-40B4-BE49-F238E27FC236}">
                <a16:creationId xmlns:a16="http://schemas.microsoft.com/office/drawing/2014/main" id="{411D59E2-56DE-4182-9BB0-E4AAA332C9CB}"/>
              </a:ext>
            </a:extLst>
          </p:cNvPr>
          <p:cNvSpPr>
            <a:spLocks noGrp="1"/>
          </p:cNvSpPr>
          <p:nvPr>
            <p:ph idx="1"/>
          </p:nvPr>
        </p:nvSpPr>
        <p:spPr>
          <a:xfrm>
            <a:off x="598171" y="1524000"/>
            <a:ext cx="7886700" cy="4143665"/>
          </a:xfrm>
        </p:spPr>
        <p:txBody>
          <a:bodyPr>
            <a:normAutofit/>
          </a:bodyPr>
          <a:lstStyle/>
          <a:p>
            <a:pPr marL="0" indent="0" algn="just">
              <a:buNone/>
            </a:pPr>
            <a:r>
              <a:rPr lang="en-GB" sz="2400" dirty="0"/>
              <a:t>The following measures and tests are carried out to validate a multiple linear regression model:  </a:t>
            </a:r>
          </a:p>
          <a:p>
            <a:pPr marL="0" indent="0" algn="just">
              <a:buNone/>
            </a:pPr>
            <a:endParaRPr lang="en-IN" sz="2400" dirty="0"/>
          </a:p>
          <a:p>
            <a:pPr lvl="0" algn="just"/>
            <a:r>
              <a:rPr lang="en-GB" sz="2400" dirty="0"/>
              <a:t>Coefficient of multiple determination (</a:t>
            </a:r>
            <a:r>
              <a:rPr lang="en-GB" sz="2400" i="1" dirty="0"/>
              <a:t>R</a:t>
            </a:r>
            <a:r>
              <a:rPr lang="en-GB" sz="2400" dirty="0"/>
              <a:t>-Square) and Adjusted </a:t>
            </a:r>
            <a:r>
              <a:rPr lang="en-GB" sz="2400" i="1" dirty="0"/>
              <a:t>R</a:t>
            </a:r>
            <a:r>
              <a:rPr lang="en-GB" sz="2400" dirty="0"/>
              <a:t>-Square, which can be used to judge the overall fitness of the model.</a:t>
            </a:r>
          </a:p>
          <a:p>
            <a:pPr lvl="0" algn="just"/>
            <a:endParaRPr lang="en-IN" sz="2400" dirty="0"/>
          </a:p>
          <a:p>
            <a:pPr lvl="0" algn="just"/>
            <a:r>
              <a:rPr lang="en-GB" sz="2400" i="1" dirty="0"/>
              <a:t>t</a:t>
            </a:r>
            <a:r>
              <a:rPr lang="en-GB" sz="2400" dirty="0"/>
              <a:t>-test to check the existence of statistically significant relationship between the response variable and individual explanatory variable at a given significance level (</a:t>
            </a:r>
            <a:r>
              <a:rPr lang="en-GB" sz="2400" i="1" dirty="0">
                <a:sym typeface="Symbol" panose="05050102010706020507" pitchFamily="18" charset="2"/>
              </a:rPr>
              <a:t></a:t>
            </a:r>
            <a:r>
              <a:rPr lang="en-GB" sz="2400" dirty="0"/>
              <a:t>) or at (1 </a:t>
            </a:r>
            <a:r>
              <a:rPr lang="en-GB" sz="2400" dirty="0">
                <a:sym typeface="Symbol" panose="05050102010706020507" pitchFamily="18" charset="2"/>
              </a:rPr>
              <a:t></a:t>
            </a:r>
            <a:r>
              <a:rPr lang="en-GB" sz="2400" dirty="0"/>
              <a:t> </a:t>
            </a:r>
            <a:r>
              <a:rPr lang="en-GB" sz="2400" i="1" dirty="0">
                <a:sym typeface="Symbol" panose="05050102010706020507" pitchFamily="18" charset="2"/>
              </a:rPr>
              <a:t></a:t>
            </a:r>
            <a:r>
              <a:rPr lang="en-GB" sz="2400" dirty="0"/>
              <a:t>)100% confidence level.</a:t>
            </a:r>
            <a:endParaRPr lang="en-IN" sz="2400" dirty="0"/>
          </a:p>
          <a:p>
            <a:endParaRPr lang="en-IN" dirty="0"/>
          </a:p>
        </p:txBody>
      </p:sp>
    </p:spTree>
    <p:extLst>
      <p:ext uri="{BB962C8B-B14F-4D97-AF65-F5344CB8AC3E}">
        <p14:creationId xmlns:p14="http://schemas.microsoft.com/office/powerpoint/2010/main" val="3595384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1000"/>
                                        <p:tgtEl>
                                          <p:spTgt spid="4">
                                            <p:txEl>
                                              <p:pRg st="4" end="4"/>
                                            </p:txEl>
                                          </p:spTgt>
                                        </p:tgtEl>
                                      </p:cBhvr>
                                    </p:animEffect>
                                    <p:anim calcmode="lin" valueType="num">
                                      <p:cBhvr>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1DEFD9F-B88B-49EE-8BF4-F371876FCD11}"/>
              </a:ext>
            </a:extLst>
          </p:cNvPr>
          <p:cNvSpPr>
            <a:spLocks noGrp="1"/>
          </p:cNvSpPr>
          <p:nvPr>
            <p:ph idx="4294967295"/>
          </p:nvPr>
        </p:nvSpPr>
        <p:spPr>
          <a:xfrm>
            <a:off x="457200" y="937418"/>
            <a:ext cx="8229600" cy="4983163"/>
          </a:xfrm>
        </p:spPr>
        <p:txBody>
          <a:bodyPr>
            <a:normAutofit lnSpcReduction="10000"/>
          </a:bodyPr>
          <a:lstStyle/>
          <a:p>
            <a:pPr lvl="0" algn="just"/>
            <a:r>
              <a:rPr lang="en-GB" sz="2400" i="1" dirty="0"/>
              <a:t>F</a:t>
            </a:r>
            <a:r>
              <a:rPr lang="en-GB" sz="2400" dirty="0"/>
              <a:t>-test to check the statistical significance of the overall model at a given significance level (</a:t>
            </a:r>
            <a:r>
              <a:rPr lang="en-GB" sz="2400" i="1" dirty="0">
                <a:sym typeface="Symbol" panose="05050102010706020507" pitchFamily="18" charset="2"/>
              </a:rPr>
              <a:t></a:t>
            </a:r>
            <a:r>
              <a:rPr lang="en-GB" sz="2400" dirty="0"/>
              <a:t>) or at (1 </a:t>
            </a:r>
            <a:r>
              <a:rPr lang="en-GB" sz="2400" dirty="0">
                <a:sym typeface="Symbol" panose="05050102010706020507" pitchFamily="18" charset="2"/>
              </a:rPr>
              <a:t></a:t>
            </a:r>
            <a:r>
              <a:rPr lang="en-GB" sz="2400" dirty="0"/>
              <a:t> </a:t>
            </a:r>
            <a:r>
              <a:rPr lang="en-GB" sz="2400" i="1" dirty="0">
                <a:sym typeface="Symbol" panose="05050102010706020507" pitchFamily="18" charset="2"/>
              </a:rPr>
              <a:t></a:t>
            </a:r>
            <a:r>
              <a:rPr lang="en-GB" sz="2400" dirty="0"/>
              <a:t>)100% confidence level.</a:t>
            </a:r>
          </a:p>
          <a:p>
            <a:pPr lvl="0" algn="just"/>
            <a:endParaRPr lang="en-IN" sz="2400" dirty="0"/>
          </a:p>
          <a:p>
            <a:pPr lvl="0" algn="just"/>
            <a:r>
              <a:rPr lang="en-GB" sz="2400" dirty="0"/>
              <a:t>Conduct a residual analysis to check whether the normality, homoscedasticity assumptions have been satisfied. Also, check for any pattern in the residual plots to check for correct model specification.</a:t>
            </a:r>
          </a:p>
          <a:p>
            <a:pPr lvl="0" algn="just"/>
            <a:endParaRPr lang="en-GB" sz="2400" dirty="0"/>
          </a:p>
          <a:p>
            <a:pPr lvl="0" algn="just"/>
            <a:r>
              <a:rPr lang="en-GB" sz="2400" dirty="0"/>
              <a:t>Check for presence of multi-collinearity (strong correlation between independent variables) that can destabilize the regression model.</a:t>
            </a:r>
          </a:p>
          <a:p>
            <a:pPr lvl="0" algn="just"/>
            <a:endParaRPr lang="en-IN" sz="2400" dirty="0"/>
          </a:p>
          <a:p>
            <a:pPr lvl="0" algn="just"/>
            <a:r>
              <a:rPr lang="en-GB" sz="2400" dirty="0"/>
              <a:t>Check for auto-correlation in case of time-series data.</a:t>
            </a:r>
            <a:endParaRPr lang="en-IN" sz="2400" dirty="0"/>
          </a:p>
          <a:p>
            <a:pPr lvl="0"/>
            <a:endParaRPr lang="en-IN" sz="2400" dirty="0"/>
          </a:p>
          <a:p>
            <a:endParaRPr lang="en-IN" dirty="0"/>
          </a:p>
        </p:txBody>
      </p:sp>
    </p:spTree>
    <p:extLst>
      <p:ext uri="{BB962C8B-B14F-4D97-AF65-F5344CB8AC3E}">
        <p14:creationId xmlns:p14="http://schemas.microsoft.com/office/powerpoint/2010/main" val="317280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fade">
                                      <p:cBhvr>
                                        <p:cTn id="28" dur="1000"/>
                                        <p:tgtEl>
                                          <p:spTgt spid="4">
                                            <p:txEl>
                                              <p:pRg st="6" end="6"/>
                                            </p:txEl>
                                          </p:spTgt>
                                        </p:tgtEl>
                                      </p:cBhvr>
                                    </p:animEffect>
                                    <p:anim calcmode="lin" valueType="num">
                                      <p:cBhvr>
                                        <p:cTn id="29"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ABD6E-B3ED-4420-A7C6-5A0E36EB0409}"/>
              </a:ext>
            </a:extLst>
          </p:cNvPr>
          <p:cNvSpPr>
            <a:spLocks noGrp="1"/>
          </p:cNvSpPr>
          <p:nvPr>
            <p:ph type="title"/>
          </p:nvPr>
        </p:nvSpPr>
        <p:spPr>
          <a:xfrm>
            <a:off x="628650" y="214553"/>
            <a:ext cx="8252114" cy="852248"/>
          </a:xfrm>
        </p:spPr>
        <p:txBody>
          <a:bodyPr/>
          <a:lstStyle/>
          <a:p>
            <a:pPr algn="ctr">
              <a:lnSpc>
                <a:spcPct val="100000"/>
              </a:lnSpc>
            </a:pPr>
            <a:r>
              <a:rPr lang="en-GB" b="1" dirty="0">
                <a:solidFill>
                  <a:srgbClr val="C00000"/>
                </a:solidFill>
              </a:rPr>
              <a:t>Co-efficient of Multiple Determination (</a:t>
            </a:r>
            <a:r>
              <a:rPr lang="en-GB" b="1" i="1" dirty="0">
                <a:solidFill>
                  <a:srgbClr val="C00000"/>
                </a:solidFill>
              </a:rPr>
              <a:t>R</a:t>
            </a:r>
            <a:r>
              <a:rPr lang="en-GB" b="1" dirty="0">
                <a:solidFill>
                  <a:srgbClr val="C00000"/>
                </a:solidFill>
              </a:rPr>
              <a:t>-Square) and Adjusted </a:t>
            </a:r>
            <a:r>
              <a:rPr lang="en-GB" b="1" i="1" dirty="0">
                <a:solidFill>
                  <a:srgbClr val="C00000"/>
                </a:solidFill>
              </a:rPr>
              <a:t>R</a:t>
            </a:r>
            <a:r>
              <a:rPr lang="en-GB" b="1" dirty="0">
                <a:solidFill>
                  <a:srgbClr val="C00000"/>
                </a:solidFill>
              </a:rPr>
              <a:t>-Square</a:t>
            </a:r>
            <a:endParaRPr lang="en-IN" b="1" dirty="0">
              <a:solidFill>
                <a:srgbClr val="C00000"/>
              </a:solidFill>
            </a:endParaRPr>
          </a:p>
        </p:txBody>
      </p:sp>
      <p:sp>
        <p:nvSpPr>
          <p:cNvPr id="3" name="Content Placeholder 2">
            <a:extLst>
              <a:ext uri="{FF2B5EF4-FFF2-40B4-BE49-F238E27FC236}">
                <a16:creationId xmlns:a16="http://schemas.microsoft.com/office/drawing/2014/main" id="{67C916A6-9964-4522-B730-E217D96395AC}"/>
              </a:ext>
            </a:extLst>
          </p:cNvPr>
          <p:cNvSpPr>
            <a:spLocks noGrp="1"/>
          </p:cNvSpPr>
          <p:nvPr>
            <p:ph idx="1"/>
          </p:nvPr>
        </p:nvSpPr>
        <p:spPr>
          <a:xfrm>
            <a:off x="628650" y="1205347"/>
            <a:ext cx="7886700" cy="1614053"/>
          </a:xfrm>
        </p:spPr>
        <p:txBody>
          <a:bodyPr/>
          <a:lstStyle/>
          <a:p>
            <a:pPr marL="0" indent="0" algn="just">
              <a:buNone/>
            </a:pPr>
            <a:r>
              <a:rPr lang="en-GB" sz="2400" dirty="0"/>
              <a:t>As in the case of simple linear regression, </a:t>
            </a:r>
            <a:r>
              <a:rPr lang="en-GB" sz="2400" i="1" dirty="0"/>
              <a:t>R</a:t>
            </a:r>
            <a:r>
              <a:rPr lang="en-GB" sz="2400" dirty="0"/>
              <a:t>-square measures the proportion of variation in the dependent variable explained by the model. The co-efficient of multiple determination (</a:t>
            </a:r>
            <a:r>
              <a:rPr lang="en-GB" sz="2400" i="1" dirty="0"/>
              <a:t>R</a:t>
            </a:r>
            <a:r>
              <a:rPr lang="en-GB" sz="2400" dirty="0"/>
              <a:t>-Square or </a:t>
            </a:r>
            <a:r>
              <a:rPr lang="en-GB" sz="2400" i="1" dirty="0"/>
              <a:t>R</a:t>
            </a:r>
            <a:r>
              <a:rPr lang="en-GB" sz="2400" i="1" baseline="30000" dirty="0"/>
              <a:t>2</a:t>
            </a:r>
            <a:r>
              <a:rPr lang="en-GB" sz="2400" dirty="0"/>
              <a:t>) is given by</a:t>
            </a:r>
            <a:endParaRPr lang="en-IN" sz="2400" dirty="0"/>
          </a:p>
          <a:p>
            <a:endParaRPr lang="en-IN" dirty="0"/>
          </a:p>
        </p:txBody>
      </p:sp>
      <p:sp>
        <p:nvSpPr>
          <p:cNvPr id="4" name="Rectangle 2">
            <a:extLst>
              <a:ext uri="{FF2B5EF4-FFF2-40B4-BE49-F238E27FC236}">
                <a16:creationId xmlns:a16="http://schemas.microsoft.com/office/drawing/2014/main" id="{CF04D73D-BBE8-42C8-B5D6-914B4B30C19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8B8D632D-E911-4B77-B94B-C147D3F5CEB5}"/>
              </a:ext>
            </a:extLst>
          </p:cNvPr>
          <p:cNvGraphicFramePr>
            <a:graphicFrameLocks noChangeAspect="1"/>
          </p:cNvGraphicFramePr>
          <p:nvPr>
            <p:extLst>
              <p:ext uri="{D42A27DB-BD31-4B8C-83A1-F6EECF244321}">
                <p14:modId xmlns:p14="http://schemas.microsoft.com/office/powerpoint/2010/main" val="3984052838"/>
              </p:ext>
            </p:extLst>
          </p:nvPr>
        </p:nvGraphicFramePr>
        <p:xfrm>
          <a:off x="1219200" y="3429000"/>
          <a:ext cx="5867400" cy="1981200"/>
        </p:xfrm>
        <a:graphic>
          <a:graphicData uri="http://schemas.openxmlformats.org/presentationml/2006/ole">
            <mc:AlternateContent xmlns:mc="http://schemas.openxmlformats.org/markup-compatibility/2006">
              <mc:Choice xmlns:v="urn:schemas-microsoft-com:vml" Requires="v">
                <p:oleObj r:id="rId2" imgW="1892300" imgH="889000" progId="Equation.3">
                  <p:embed/>
                </p:oleObj>
              </mc:Choice>
              <mc:Fallback>
                <p:oleObj r:id="rId2" imgW="1892300" imgH="889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429000"/>
                        <a:ext cx="5867400" cy="19812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171648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43062AA-8026-42B2-848B-D60805E32391}"/>
              </a:ext>
            </a:extLst>
          </p:cNvPr>
          <p:cNvSpPr>
            <a:spLocks noGrp="1"/>
          </p:cNvSpPr>
          <p:nvPr>
            <p:ph idx="4294967295"/>
          </p:nvPr>
        </p:nvSpPr>
        <p:spPr>
          <a:xfrm>
            <a:off x="304800" y="1041754"/>
            <a:ext cx="8229600" cy="2849562"/>
          </a:xfrm>
        </p:spPr>
        <p:txBody>
          <a:bodyPr>
            <a:normAutofit lnSpcReduction="10000"/>
          </a:bodyPr>
          <a:lstStyle/>
          <a:p>
            <a:pPr algn="just"/>
            <a:r>
              <a:rPr lang="en-GB" sz="2400" i="1" dirty="0"/>
              <a:t>SSE</a:t>
            </a:r>
            <a:r>
              <a:rPr lang="en-GB" sz="2400" dirty="0"/>
              <a:t> is the sum of squares of errors and </a:t>
            </a:r>
            <a:r>
              <a:rPr lang="en-GB" sz="2400" i="1" dirty="0"/>
              <a:t>SST</a:t>
            </a:r>
            <a:r>
              <a:rPr lang="en-GB" sz="2400" dirty="0"/>
              <a:t> is the sum of squares of total deviation. In case of MLR, </a:t>
            </a:r>
            <a:r>
              <a:rPr lang="en-GB" sz="2400" i="1" dirty="0"/>
              <a:t>SSE</a:t>
            </a:r>
            <a:r>
              <a:rPr lang="en-GB" sz="2400" dirty="0"/>
              <a:t> will decrease as the number of explanatory variables increases, and </a:t>
            </a:r>
            <a:r>
              <a:rPr lang="en-GB" sz="2400" i="1" dirty="0"/>
              <a:t>SST</a:t>
            </a:r>
            <a:r>
              <a:rPr lang="en-GB" sz="2400" dirty="0"/>
              <a:t> remains constant.</a:t>
            </a:r>
          </a:p>
          <a:p>
            <a:pPr algn="just"/>
            <a:endParaRPr lang="en-GB" sz="2400" dirty="0"/>
          </a:p>
          <a:p>
            <a:pPr algn="just"/>
            <a:r>
              <a:rPr lang="en-GB" sz="2400" dirty="0"/>
              <a:t>To counter this, R2 value is adjusted by normalizing both SSE and SST with the corresponding degrees of freedom. The adjusted R-square is given by</a:t>
            </a:r>
          </a:p>
          <a:p>
            <a:pPr algn="just"/>
            <a:endParaRPr lang="en-IN" sz="2400" dirty="0"/>
          </a:p>
          <a:p>
            <a:pPr algn="just"/>
            <a:endParaRPr lang="en-IN" sz="2400" dirty="0"/>
          </a:p>
        </p:txBody>
      </p:sp>
      <p:sp>
        <p:nvSpPr>
          <p:cNvPr id="5" name="Rectangle 2">
            <a:extLst>
              <a:ext uri="{FF2B5EF4-FFF2-40B4-BE49-F238E27FC236}">
                <a16:creationId xmlns:a16="http://schemas.microsoft.com/office/drawing/2014/main" id="{0535D2C6-FD19-4E79-9A65-3E3AC3FBDDC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6" name="Object 5">
            <a:extLst>
              <a:ext uri="{FF2B5EF4-FFF2-40B4-BE49-F238E27FC236}">
                <a16:creationId xmlns:a16="http://schemas.microsoft.com/office/drawing/2014/main" id="{C9E27C5D-6CD8-4AE5-A38F-3FCBBB74A9D7}"/>
              </a:ext>
            </a:extLst>
          </p:cNvPr>
          <p:cNvGraphicFramePr>
            <a:graphicFrameLocks noChangeAspect="1"/>
          </p:cNvGraphicFramePr>
          <p:nvPr>
            <p:extLst>
              <p:ext uri="{D42A27DB-BD31-4B8C-83A1-F6EECF244321}">
                <p14:modId xmlns:p14="http://schemas.microsoft.com/office/powerpoint/2010/main" val="2661535137"/>
              </p:ext>
            </p:extLst>
          </p:nvPr>
        </p:nvGraphicFramePr>
        <p:xfrm>
          <a:off x="1219200" y="4876800"/>
          <a:ext cx="6172200" cy="1066800"/>
        </p:xfrm>
        <a:graphic>
          <a:graphicData uri="http://schemas.openxmlformats.org/presentationml/2006/ole">
            <mc:AlternateContent xmlns:mc="http://schemas.openxmlformats.org/markup-compatibility/2006">
              <mc:Choice xmlns:v="urn:schemas-microsoft-com:vml" Requires="v">
                <p:oleObj r:id="rId2" imgW="2400300" imgH="431800" progId="Equation.3">
                  <p:embed/>
                </p:oleObj>
              </mc:Choice>
              <mc:Fallback>
                <p:oleObj r:id="rId2" imgW="2400300" imgH="4318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876800"/>
                        <a:ext cx="6172200" cy="10668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412424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7A09E4E-1671-EC42-F8EF-5583D9084B00}"/>
            </a:ext>
          </a:extLst>
        </p:cNvPr>
        <p:cNvGrpSpPr/>
        <p:nvPr/>
      </p:nvGrpSpPr>
      <p:grpSpPr>
        <a:xfrm>
          <a:off x="0" y="0"/>
          <a:ext cx="0" cy="0"/>
          <a:chOff x="0" y="0"/>
          <a:chExt cx="0" cy="0"/>
        </a:xfrm>
      </p:grpSpPr>
      <p:sp>
        <p:nvSpPr>
          <p:cNvPr id="5" name="Rectangle 2">
            <a:extLst>
              <a:ext uri="{FF2B5EF4-FFF2-40B4-BE49-F238E27FC236}">
                <a16:creationId xmlns:a16="http://schemas.microsoft.com/office/drawing/2014/main" id="{00A7BE60-ACE7-E2DA-9784-F551606EA1F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 name="Table 1">
            <a:extLst>
              <a:ext uri="{FF2B5EF4-FFF2-40B4-BE49-F238E27FC236}">
                <a16:creationId xmlns:a16="http://schemas.microsoft.com/office/drawing/2014/main" id="{BA2C3252-CEF1-5CAD-0C93-2A3CC49B8A3A}"/>
              </a:ext>
            </a:extLst>
          </p:cNvPr>
          <p:cNvGraphicFramePr>
            <a:graphicFrameLocks noGrp="1"/>
          </p:cNvGraphicFramePr>
          <p:nvPr>
            <p:extLst>
              <p:ext uri="{D42A27DB-BD31-4B8C-83A1-F6EECF244321}">
                <p14:modId xmlns:p14="http://schemas.microsoft.com/office/powerpoint/2010/main" val="1310223794"/>
              </p:ext>
            </p:extLst>
          </p:nvPr>
        </p:nvGraphicFramePr>
        <p:xfrm>
          <a:off x="533400" y="609602"/>
          <a:ext cx="8305800" cy="5412186"/>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791085160"/>
                    </a:ext>
                  </a:extLst>
                </a:gridCol>
                <a:gridCol w="4152900">
                  <a:extLst>
                    <a:ext uri="{9D8B030D-6E8A-4147-A177-3AD203B41FA5}">
                      <a16:colId xmlns:a16="http://schemas.microsoft.com/office/drawing/2014/main" val="3964513969"/>
                    </a:ext>
                  </a:extLst>
                </a:gridCol>
              </a:tblGrid>
              <a:tr h="355884">
                <a:tc>
                  <a:txBody>
                    <a:bodyPr/>
                    <a:lstStyle/>
                    <a:p>
                      <a:pPr algn="just"/>
                      <a:r>
                        <a:rPr lang="en-IN" sz="2000" dirty="0">
                          <a:latin typeface="Times New Roman" panose="02020603050405020304" pitchFamily="18" charset="0"/>
                          <a:cs typeface="Times New Roman" panose="02020603050405020304" pitchFamily="18" charset="0"/>
                        </a:rPr>
                        <a:t>R-square</a:t>
                      </a:r>
                    </a:p>
                  </a:txBody>
                  <a:tcPr/>
                </a:tc>
                <a:tc>
                  <a:txBody>
                    <a:bodyPr/>
                    <a:lstStyle/>
                    <a:p>
                      <a:pPr algn="just"/>
                      <a:r>
                        <a:rPr lang="en-IN" sz="2000" dirty="0">
                          <a:latin typeface="Times New Roman" panose="02020603050405020304" pitchFamily="18" charset="0"/>
                          <a:cs typeface="Times New Roman" panose="02020603050405020304" pitchFamily="18" charset="0"/>
                        </a:rPr>
                        <a:t>Adjusted R-square</a:t>
                      </a:r>
                    </a:p>
                  </a:txBody>
                  <a:tcPr/>
                </a:tc>
                <a:extLst>
                  <a:ext uri="{0D108BD9-81ED-4DB2-BD59-A6C34878D82A}">
                    <a16:rowId xmlns:a16="http://schemas.microsoft.com/office/drawing/2014/main" val="1500008393"/>
                  </a:ext>
                </a:extLst>
              </a:tr>
              <a:tr h="1450912">
                <a:tc>
                  <a:txBody>
                    <a:bodyPr/>
                    <a:lstStyle/>
                    <a:p>
                      <a:pPr algn="just"/>
                      <a:r>
                        <a:rPr lang="en-IN" sz="2000" dirty="0">
                          <a:latin typeface="Times New Roman" panose="02020603050405020304" pitchFamily="18" charset="0"/>
                          <a:cs typeface="Times New Roman" panose="02020603050405020304" pitchFamily="18" charset="0"/>
                        </a:rPr>
                        <a:t>Measures the proportion of the variance in Y that is explained by the X variables</a:t>
                      </a:r>
                    </a:p>
                  </a:txBody>
                  <a:tcPr/>
                </a:tc>
                <a:tc>
                  <a:txBody>
                    <a:bodyPr/>
                    <a:lstStyle/>
                    <a:p>
                      <a:pPr algn="just"/>
                      <a:r>
                        <a:rPr lang="en-IN" sz="2000" dirty="0">
                          <a:latin typeface="Times New Roman" panose="02020603050405020304" pitchFamily="18" charset="0"/>
                          <a:cs typeface="Times New Roman" panose="02020603050405020304" pitchFamily="18" charset="0"/>
                        </a:rPr>
                        <a:t>Adjusted R-square improves only when the new explanatory variables genuinely improve the model. Penalizes the addition of new X variables.</a:t>
                      </a:r>
                    </a:p>
                  </a:txBody>
                  <a:tcPr/>
                </a:tc>
                <a:extLst>
                  <a:ext uri="{0D108BD9-81ED-4DB2-BD59-A6C34878D82A}">
                    <a16:rowId xmlns:a16="http://schemas.microsoft.com/office/drawing/2014/main" val="2580237844"/>
                  </a:ext>
                </a:extLst>
              </a:tr>
              <a:tr h="1998426">
                <a:tc>
                  <a:txBody>
                    <a:bodyPr/>
                    <a:lstStyle/>
                    <a:p>
                      <a:pPr algn="just"/>
                      <a:r>
                        <a:rPr lang="en-IN" sz="2000" dirty="0">
                          <a:latin typeface="Times New Roman" panose="02020603050405020304" pitchFamily="18" charset="0"/>
                          <a:cs typeface="Times New Roman" panose="02020603050405020304" pitchFamily="18" charset="0"/>
                        </a:rPr>
                        <a:t>Non-decreasing function of the number of X variables in the linear regression model. Increases when more number of explanatory variables are added to the model, irrespective of their relevance in the model.</a:t>
                      </a:r>
                    </a:p>
                  </a:txBody>
                  <a:tcPr/>
                </a:tc>
                <a:tc>
                  <a:txBody>
                    <a:bodyPr/>
                    <a:lstStyle/>
                    <a:p>
                      <a:pPr algn="just"/>
                      <a:r>
                        <a:rPr lang="en-IN" sz="2000" dirty="0">
                          <a:latin typeface="Times New Roman" panose="02020603050405020304" pitchFamily="18" charset="0"/>
                          <a:cs typeface="Times New Roman" panose="02020603050405020304" pitchFamily="18" charset="0"/>
                        </a:rPr>
                        <a:t>Prevents overfitting of model. The value of adjusted R-square may increase, decrease or remain the same as more variables are added in the model.</a:t>
                      </a:r>
                    </a:p>
                  </a:txBody>
                  <a:tcPr/>
                </a:tc>
                <a:extLst>
                  <a:ext uri="{0D108BD9-81ED-4DB2-BD59-A6C34878D82A}">
                    <a16:rowId xmlns:a16="http://schemas.microsoft.com/office/drawing/2014/main" val="1122648982"/>
                  </a:ext>
                </a:extLst>
              </a:tr>
              <a:tr h="538175">
                <a:tc>
                  <a:txBody>
                    <a:bodyPr/>
                    <a:lstStyle/>
                    <a:p>
                      <a:pPr algn="just"/>
                      <a:r>
                        <a:rPr lang="en-IN" sz="2000" dirty="0">
                          <a:latin typeface="Times New Roman" panose="02020603050405020304" pitchFamily="18" charset="0"/>
                          <a:cs typeface="Times New Roman" panose="02020603050405020304" pitchFamily="18" charset="0"/>
                        </a:rPr>
                        <a:t>Takes values between 0 and 1</a:t>
                      </a:r>
                    </a:p>
                  </a:txBody>
                  <a:tcPr/>
                </a:tc>
                <a:tc>
                  <a:txBody>
                    <a:bodyPr/>
                    <a:lstStyle/>
                    <a:p>
                      <a:pPr algn="just"/>
                      <a:r>
                        <a:rPr lang="en-IN" sz="2000" dirty="0">
                          <a:latin typeface="Times New Roman" panose="02020603050405020304" pitchFamily="18" charset="0"/>
                          <a:cs typeface="Times New Roman" panose="02020603050405020304" pitchFamily="18" charset="0"/>
                        </a:rPr>
                        <a:t>Adjusted R-square may take negative values.</a:t>
                      </a:r>
                    </a:p>
                  </a:txBody>
                  <a:tcPr/>
                </a:tc>
                <a:extLst>
                  <a:ext uri="{0D108BD9-81ED-4DB2-BD59-A6C34878D82A}">
                    <a16:rowId xmlns:a16="http://schemas.microsoft.com/office/drawing/2014/main" val="1726722678"/>
                  </a:ext>
                </a:extLst>
              </a:tr>
              <a:tr h="538175">
                <a:tc>
                  <a:txBody>
                    <a:bodyPr/>
                    <a:lstStyle/>
                    <a:p>
                      <a:pPr algn="just"/>
                      <a:endParaRPr lang="en-IN" sz="2000" dirty="0">
                        <a:latin typeface="Times New Roman" panose="02020603050405020304" pitchFamily="18" charset="0"/>
                        <a:cs typeface="Times New Roman" panose="02020603050405020304" pitchFamily="18" charset="0"/>
                      </a:endParaRPr>
                    </a:p>
                  </a:txBody>
                  <a:tcPr/>
                </a:tc>
                <a:tc>
                  <a:txBody>
                    <a:bodyPr/>
                    <a:lstStyle/>
                    <a:p>
                      <a:pPr algn="just"/>
                      <a:r>
                        <a:rPr lang="en-IN" sz="2000" dirty="0">
                          <a:latin typeface="Times New Roman" panose="02020603050405020304" pitchFamily="18" charset="0"/>
                          <a:cs typeface="Times New Roman" panose="02020603050405020304" pitchFamily="18" charset="0"/>
                        </a:rPr>
                        <a:t>Adjusted R-square value is less than R-square value.</a:t>
                      </a:r>
                    </a:p>
                  </a:txBody>
                  <a:tcPr/>
                </a:tc>
                <a:extLst>
                  <a:ext uri="{0D108BD9-81ED-4DB2-BD59-A6C34878D82A}">
                    <a16:rowId xmlns:a16="http://schemas.microsoft.com/office/drawing/2014/main" val="182131556"/>
                  </a:ext>
                </a:extLst>
              </a:tr>
            </a:tbl>
          </a:graphicData>
        </a:graphic>
      </p:graphicFrame>
    </p:spTree>
    <p:extLst>
      <p:ext uri="{BB962C8B-B14F-4D97-AF65-F5344CB8AC3E}">
        <p14:creationId xmlns:p14="http://schemas.microsoft.com/office/powerpoint/2010/main" val="11218130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F8F9-A4CD-4D08-A2EB-8AB65840F38E}"/>
              </a:ext>
            </a:extLst>
          </p:cNvPr>
          <p:cNvSpPr>
            <a:spLocks noGrp="1"/>
          </p:cNvSpPr>
          <p:nvPr>
            <p:ph type="title"/>
          </p:nvPr>
        </p:nvSpPr>
        <p:spPr>
          <a:xfrm>
            <a:off x="609600" y="304800"/>
            <a:ext cx="8252114" cy="746988"/>
          </a:xfrm>
        </p:spPr>
        <p:txBody>
          <a:bodyPr/>
          <a:lstStyle/>
          <a:p>
            <a:pPr algn="ctr"/>
            <a:r>
              <a:rPr lang="en-GB" sz="2400" b="1" dirty="0">
                <a:solidFill>
                  <a:srgbClr val="C00000"/>
                </a:solidFill>
              </a:rPr>
              <a:t>Statistical Significance of Individual Variables in MLR – </a:t>
            </a:r>
            <a:r>
              <a:rPr lang="en-GB" sz="2400" b="1" i="1" dirty="0">
                <a:solidFill>
                  <a:srgbClr val="C00000"/>
                </a:solidFill>
              </a:rPr>
              <a:t>t</a:t>
            </a:r>
            <a:r>
              <a:rPr lang="en-GB" sz="2400" b="1" dirty="0">
                <a:solidFill>
                  <a:srgbClr val="C00000"/>
                </a:solidFill>
              </a:rPr>
              <a:t>-test</a:t>
            </a:r>
            <a:endParaRPr lang="en-IN" sz="2400" dirty="0">
              <a:solidFill>
                <a:srgbClr val="C00000"/>
              </a:solidFill>
            </a:endParaRPr>
          </a:p>
        </p:txBody>
      </p:sp>
      <p:sp>
        <p:nvSpPr>
          <p:cNvPr id="3" name="Content Placeholder 2">
            <a:extLst>
              <a:ext uri="{FF2B5EF4-FFF2-40B4-BE49-F238E27FC236}">
                <a16:creationId xmlns:a16="http://schemas.microsoft.com/office/drawing/2014/main" id="{48E583C8-DA0C-4299-9519-6A6B9EA66FC4}"/>
              </a:ext>
            </a:extLst>
          </p:cNvPr>
          <p:cNvSpPr>
            <a:spLocks noGrp="1"/>
          </p:cNvSpPr>
          <p:nvPr>
            <p:ph idx="1"/>
          </p:nvPr>
        </p:nvSpPr>
        <p:spPr>
          <a:xfrm>
            <a:off x="381000" y="1205347"/>
            <a:ext cx="8382000" cy="4814453"/>
          </a:xfrm>
        </p:spPr>
        <p:txBody>
          <a:bodyPr>
            <a:normAutofit lnSpcReduction="10000"/>
          </a:bodyPr>
          <a:lstStyle/>
          <a:p>
            <a:pPr marL="0" indent="0" algn="just">
              <a:buNone/>
            </a:pPr>
            <a:r>
              <a:rPr lang="en-GB" sz="2400" dirty="0"/>
              <a:t>Checking the statistical significance of individual variables is achieved through </a:t>
            </a:r>
            <a:r>
              <a:rPr lang="en-GB" sz="2400" i="1" dirty="0"/>
              <a:t>t</a:t>
            </a:r>
            <a:r>
              <a:rPr lang="en-GB" sz="2400" dirty="0"/>
              <a:t>-test. Note that the estimate of regression coefficient is given by </a:t>
            </a:r>
            <a:r>
              <a:rPr lang="en-GB" sz="2400" dirty="0" err="1"/>
              <a:t>Eq</a:t>
            </a:r>
            <a:r>
              <a:rPr lang="en-GB" sz="2400" dirty="0"/>
              <a:t>:</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This means the estimated value of regression coefficient is a linear function of the response variable.  Since we assume that the residuals follow normal distribution, Y follows a normal distribution and the estimate of regression coefficient also follows a normal distribution. Since the standard deviation of the regression coefficient is estimated from the sample, we use a t-test. </a:t>
            </a:r>
            <a:endParaRPr lang="en-IN" sz="2400" dirty="0"/>
          </a:p>
        </p:txBody>
      </p:sp>
      <p:sp>
        <p:nvSpPr>
          <p:cNvPr id="4" name="Rectangle 2">
            <a:extLst>
              <a:ext uri="{FF2B5EF4-FFF2-40B4-BE49-F238E27FC236}">
                <a16:creationId xmlns:a16="http://schemas.microsoft.com/office/drawing/2014/main" id="{162C7A58-A81D-4417-AE95-31E04770F64F}"/>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E0C2ADBA-DD08-41F1-A3E6-05E611EA80C7}"/>
              </a:ext>
            </a:extLst>
          </p:cNvPr>
          <p:cNvGraphicFramePr>
            <a:graphicFrameLocks noChangeAspect="1"/>
          </p:cNvGraphicFramePr>
          <p:nvPr>
            <p:extLst>
              <p:ext uri="{D42A27DB-BD31-4B8C-83A1-F6EECF244321}">
                <p14:modId xmlns:p14="http://schemas.microsoft.com/office/powerpoint/2010/main" val="2952558247"/>
              </p:ext>
            </p:extLst>
          </p:nvPr>
        </p:nvGraphicFramePr>
        <p:xfrm>
          <a:off x="2286000" y="2743200"/>
          <a:ext cx="3352800" cy="685800"/>
        </p:xfrm>
        <a:graphic>
          <a:graphicData uri="http://schemas.openxmlformats.org/presentationml/2006/ole">
            <mc:AlternateContent xmlns:mc="http://schemas.openxmlformats.org/markup-compatibility/2006">
              <mc:Choice xmlns:v="urn:schemas-microsoft-com:vml" Requires="v">
                <p:oleObj r:id="rId2" imgW="1143000" imgH="342900" progId="Equation.3">
                  <p:embed/>
                </p:oleObj>
              </mc:Choice>
              <mc:Fallback>
                <p:oleObj r:id="rId2" imgW="1143000" imgH="3429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743200"/>
                        <a:ext cx="3352800" cy="6858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87021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anim calcmode="lin" valueType="num">
                                      <p:cBhvr>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624CB-7CBC-4197-B815-F649FA1109B0}"/>
              </a:ext>
            </a:extLst>
          </p:cNvPr>
          <p:cNvSpPr>
            <a:spLocks noGrp="1"/>
          </p:cNvSpPr>
          <p:nvPr>
            <p:ph idx="4294967295"/>
          </p:nvPr>
        </p:nvSpPr>
        <p:spPr>
          <a:xfrm>
            <a:off x="381000" y="479474"/>
            <a:ext cx="8382000" cy="4625926"/>
          </a:xfrm>
        </p:spPr>
        <p:txBody>
          <a:bodyPr>
            <a:noAutofit/>
          </a:bodyPr>
          <a:lstStyle/>
          <a:p>
            <a:pPr marL="0" indent="0" algn="just">
              <a:buNone/>
            </a:pPr>
            <a:r>
              <a:rPr lang="en-GB" sz="2200" dirty="0"/>
              <a:t>The null and alternative hypotheses in the case of individual independent variable and the dependent variable </a:t>
            </a:r>
            <a:r>
              <a:rPr lang="en-GB" sz="2200" i="1" dirty="0"/>
              <a:t>Y</a:t>
            </a:r>
            <a:r>
              <a:rPr lang="en-GB" sz="2200" dirty="0"/>
              <a:t> is given, respectively, by</a:t>
            </a:r>
          </a:p>
          <a:p>
            <a:pPr marL="0" indent="0" algn="just">
              <a:buNone/>
            </a:pPr>
            <a:endParaRPr lang="en-GB" sz="2200" dirty="0"/>
          </a:p>
          <a:p>
            <a:pPr algn="just"/>
            <a:r>
              <a:rPr lang="en-GB" sz="2200" i="1" dirty="0"/>
              <a:t>H</a:t>
            </a:r>
            <a:r>
              <a:rPr lang="en-GB" sz="2200" baseline="-25000" dirty="0"/>
              <a:t>0</a:t>
            </a:r>
            <a:r>
              <a:rPr lang="en-GB" sz="2200" dirty="0"/>
              <a:t>: There is no relationship between independent variable </a:t>
            </a:r>
            <a:r>
              <a:rPr lang="en-GB" sz="2200" i="1" dirty="0"/>
              <a:t>X</a:t>
            </a:r>
            <a:r>
              <a:rPr lang="en-GB" sz="2200" i="1" baseline="-25000" dirty="0"/>
              <a:t>i</a:t>
            </a:r>
            <a:r>
              <a:rPr lang="en-GB" sz="2200" dirty="0"/>
              <a:t> and dependent variable </a:t>
            </a:r>
            <a:r>
              <a:rPr lang="en-GB" sz="2200" i="1" dirty="0"/>
              <a:t>Y</a:t>
            </a:r>
            <a:endParaRPr lang="en-IN" sz="2200" dirty="0"/>
          </a:p>
          <a:p>
            <a:pPr algn="just"/>
            <a:r>
              <a:rPr lang="en-GB" sz="2200" i="1" dirty="0"/>
              <a:t>H</a:t>
            </a:r>
            <a:r>
              <a:rPr lang="en-GB" sz="2200" baseline="-25000" dirty="0"/>
              <a:t>A</a:t>
            </a:r>
            <a:r>
              <a:rPr lang="en-GB" sz="2200" dirty="0"/>
              <a:t>: There is a relationship between independent variable </a:t>
            </a:r>
            <a:r>
              <a:rPr lang="en-GB" sz="2200" i="1" dirty="0"/>
              <a:t>X</a:t>
            </a:r>
            <a:r>
              <a:rPr lang="en-GB" sz="2200" i="1" baseline="-25000" dirty="0"/>
              <a:t>i</a:t>
            </a:r>
            <a:r>
              <a:rPr lang="en-GB" sz="2200" dirty="0"/>
              <a:t> and dependent variable </a:t>
            </a:r>
            <a:r>
              <a:rPr lang="en-GB" sz="2200" i="1" dirty="0"/>
              <a:t>Y</a:t>
            </a:r>
          </a:p>
          <a:p>
            <a:pPr marL="0" indent="0" algn="just">
              <a:buNone/>
            </a:pPr>
            <a:endParaRPr lang="en-GB" sz="2200" dirty="0"/>
          </a:p>
          <a:p>
            <a:pPr marL="0" indent="0" algn="just">
              <a:buNone/>
            </a:pPr>
            <a:r>
              <a:rPr lang="en-GB" sz="2200" dirty="0"/>
              <a:t>Alternatively,</a:t>
            </a:r>
          </a:p>
          <a:p>
            <a:pPr algn="just"/>
            <a:r>
              <a:rPr lang="en-GB" sz="2200" i="1" dirty="0"/>
              <a:t>H</a:t>
            </a:r>
            <a:r>
              <a:rPr lang="en-GB" sz="2200" baseline="-25000" dirty="0"/>
              <a:t>0</a:t>
            </a:r>
            <a:r>
              <a:rPr lang="en-GB" sz="2200" dirty="0"/>
              <a:t>: </a:t>
            </a:r>
            <a:r>
              <a:rPr lang="en-GB" sz="2200" i="1" dirty="0"/>
              <a:t> </a:t>
            </a:r>
            <a:r>
              <a:rPr lang="en-GB" sz="2200" i="1" dirty="0">
                <a:sym typeface="Symbol" panose="05050102010706020507" pitchFamily="18" charset="2"/>
              </a:rPr>
              <a:t></a:t>
            </a:r>
            <a:r>
              <a:rPr lang="en-GB" sz="2200" baseline="-25000" dirty="0" err="1"/>
              <a:t>i</a:t>
            </a:r>
            <a:r>
              <a:rPr lang="en-GB" sz="2200" dirty="0"/>
              <a:t> = 0</a:t>
            </a:r>
            <a:endParaRPr lang="en-IN" sz="2200" dirty="0"/>
          </a:p>
          <a:p>
            <a:pPr algn="just"/>
            <a:r>
              <a:rPr lang="en-GB" sz="2200" i="1" dirty="0"/>
              <a:t>H</a:t>
            </a:r>
            <a:r>
              <a:rPr lang="en-GB" sz="2200" baseline="-25000" dirty="0"/>
              <a:t>A</a:t>
            </a:r>
            <a:r>
              <a:rPr lang="en-GB" sz="2200" dirty="0"/>
              <a:t>: </a:t>
            </a:r>
            <a:r>
              <a:rPr lang="en-GB" sz="2200" i="1" dirty="0">
                <a:sym typeface="Symbol" panose="05050102010706020507" pitchFamily="18" charset="2"/>
              </a:rPr>
              <a:t></a:t>
            </a:r>
            <a:r>
              <a:rPr lang="en-GB" sz="2200" i="1" baseline="-25000" dirty="0" err="1"/>
              <a:t>i</a:t>
            </a:r>
            <a:r>
              <a:rPr lang="en-GB" sz="2200" dirty="0"/>
              <a:t> </a:t>
            </a:r>
            <a:r>
              <a:rPr lang="en-GB" sz="2200" dirty="0">
                <a:sym typeface="Symbol" panose="05050102010706020507" pitchFamily="18" charset="2"/>
              </a:rPr>
              <a:t></a:t>
            </a:r>
            <a:r>
              <a:rPr lang="en-GB" sz="2200" dirty="0"/>
              <a:t> 0</a:t>
            </a:r>
          </a:p>
          <a:p>
            <a:pPr marL="0" indent="0" algn="just">
              <a:buNone/>
            </a:pPr>
            <a:r>
              <a:rPr lang="en-GB" sz="2200" dirty="0"/>
              <a:t>The corresponding test statistic is given by</a:t>
            </a:r>
          </a:p>
          <a:p>
            <a:pPr marL="0" indent="0">
              <a:buNone/>
            </a:pPr>
            <a:endParaRPr lang="en-IN" sz="2200" dirty="0"/>
          </a:p>
          <a:p>
            <a:pPr marL="0" indent="0">
              <a:buNone/>
            </a:pPr>
            <a:endParaRPr lang="en-IN" sz="2200" dirty="0"/>
          </a:p>
          <a:p>
            <a:pPr marL="0" indent="0">
              <a:buNone/>
            </a:pPr>
            <a:endParaRPr lang="en-IN" sz="2200" dirty="0"/>
          </a:p>
          <a:p>
            <a:endParaRPr lang="en-IN" sz="2200" dirty="0"/>
          </a:p>
        </p:txBody>
      </p:sp>
      <p:sp>
        <p:nvSpPr>
          <p:cNvPr id="4" name="Rectangle 2">
            <a:extLst>
              <a:ext uri="{FF2B5EF4-FFF2-40B4-BE49-F238E27FC236}">
                <a16:creationId xmlns:a16="http://schemas.microsoft.com/office/drawing/2014/main" id="{0EB23AE0-8CC4-476E-ABB1-75051D497BC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637038F6-ABE6-4E6C-AA6E-C5D572679CB6}"/>
              </a:ext>
            </a:extLst>
          </p:cNvPr>
          <p:cNvGraphicFramePr>
            <a:graphicFrameLocks noChangeAspect="1"/>
          </p:cNvGraphicFramePr>
          <p:nvPr>
            <p:extLst>
              <p:ext uri="{D42A27DB-BD31-4B8C-83A1-F6EECF244321}">
                <p14:modId xmlns:p14="http://schemas.microsoft.com/office/powerpoint/2010/main" val="1938689792"/>
              </p:ext>
            </p:extLst>
          </p:nvPr>
        </p:nvGraphicFramePr>
        <p:xfrm>
          <a:off x="2362200" y="5311726"/>
          <a:ext cx="3581400" cy="1066800"/>
        </p:xfrm>
        <a:graphic>
          <a:graphicData uri="http://schemas.openxmlformats.org/presentationml/2006/ole">
            <mc:AlternateContent xmlns:mc="http://schemas.openxmlformats.org/markup-compatibility/2006">
              <mc:Choice xmlns:v="urn:schemas-microsoft-com:vml" Requires="v">
                <p:oleObj r:id="rId2" imgW="1282700" imgH="660400" progId="Equation.3">
                  <p:embed/>
                </p:oleObj>
              </mc:Choice>
              <mc:Fallback>
                <p:oleObj r:id="rId2" imgW="1282700" imgH="6604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5311726"/>
                        <a:ext cx="3581400" cy="10668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113986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1000"/>
                                        <p:tgtEl>
                                          <p:spTgt spid="5"/>
                                        </p:tgtEl>
                                      </p:cBhvr>
                                    </p:animEffect>
                                    <p:anim calcmode="lin" valueType="num">
                                      <p:cBhvr>
                                        <p:cTn id="57" dur="1000" fill="hold"/>
                                        <p:tgtEl>
                                          <p:spTgt spid="5"/>
                                        </p:tgtEl>
                                        <p:attrNameLst>
                                          <p:attrName>ppt_x</p:attrName>
                                        </p:attrNameLst>
                                      </p:cBhvr>
                                      <p:tavLst>
                                        <p:tav tm="0">
                                          <p:val>
                                            <p:strVal val="#ppt_x"/>
                                          </p:val>
                                        </p:tav>
                                        <p:tav tm="100000">
                                          <p:val>
                                            <p:strVal val="#ppt_x"/>
                                          </p:val>
                                        </p:tav>
                                      </p:tavLst>
                                    </p:anim>
                                    <p:anim calcmode="lin" valueType="num">
                                      <p:cBhvr>
                                        <p:cTn id="5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FB25-01D1-432D-B534-44F0D48A1D88}"/>
              </a:ext>
            </a:extLst>
          </p:cNvPr>
          <p:cNvSpPr>
            <a:spLocks noGrp="1"/>
          </p:cNvSpPr>
          <p:nvPr>
            <p:ph type="title"/>
          </p:nvPr>
        </p:nvSpPr>
        <p:spPr>
          <a:xfrm>
            <a:off x="628650" y="297656"/>
            <a:ext cx="8252114" cy="766762"/>
          </a:xfrm>
        </p:spPr>
        <p:txBody>
          <a:bodyPr/>
          <a:lstStyle/>
          <a:p>
            <a:pPr algn="ctr"/>
            <a:r>
              <a:rPr lang="en-GB" sz="2800" b="1" dirty="0">
                <a:solidFill>
                  <a:srgbClr val="C00000"/>
                </a:solidFill>
              </a:rPr>
              <a:t>Validation of Overall Regression Model – </a:t>
            </a:r>
            <a:r>
              <a:rPr lang="en-GB" sz="2800" b="1" i="1" dirty="0">
                <a:solidFill>
                  <a:srgbClr val="C00000"/>
                </a:solidFill>
              </a:rPr>
              <a:t>F</a:t>
            </a:r>
            <a:r>
              <a:rPr lang="en-GB" sz="2800" b="1" dirty="0">
                <a:solidFill>
                  <a:srgbClr val="C00000"/>
                </a:solidFill>
              </a:rPr>
              <a:t>-test</a:t>
            </a:r>
            <a:endParaRPr lang="en-IN" sz="2800" dirty="0">
              <a:solidFill>
                <a:srgbClr val="C00000"/>
              </a:solidFill>
            </a:endParaRPr>
          </a:p>
        </p:txBody>
      </p:sp>
      <p:sp>
        <p:nvSpPr>
          <p:cNvPr id="3" name="Content Placeholder 2">
            <a:extLst>
              <a:ext uri="{FF2B5EF4-FFF2-40B4-BE49-F238E27FC236}">
                <a16:creationId xmlns:a16="http://schemas.microsoft.com/office/drawing/2014/main" id="{7556B461-FA08-4D97-B482-D2A7CCE28D9B}"/>
              </a:ext>
            </a:extLst>
          </p:cNvPr>
          <p:cNvSpPr>
            <a:spLocks noGrp="1"/>
          </p:cNvSpPr>
          <p:nvPr>
            <p:ph idx="1"/>
          </p:nvPr>
        </p:nvSpPr>
        <p:spPr>
          <a:xfrm>
            <a:off x="628650" y="1205347"/>
            <a:ext cx="7886700" cy="4971616"/>
          </a:xfrm>
        </p:spPr>
        <p:txBody>
          <a:bodyPr>
            <a:normAutofit/>
          </a:bodyPr>
          <a:lstStyle/>
          <a:p>
            <a:pPr marL="0" indent="0" algn="just">
              <a:buNone/>
            </a:pPr>
            <a:r>
              <a:rPr lang="en-GB" sz="2400" dirty="0"/>
              <a:t>Analysis of Variance (ANOVA) is used to validate the overall regression model. If there are </a:t>
            </a:r>
            <a:r>
              <a:rPr lang="en-GB" sz="2400" i="1" dirty="0"/>
              <a:t>k</a:t>
            </a:r>
            <a:r>
              <a:rPr lang="en-GB" sz="2400" dirty="0"/>
              <a:t> independent variables in the model, then the null and the alternative hypotheses are, respectively, given by</a:t>
            </a:r>
          </a:p>
          <a:p>
            <a:pPr marL="0" indent="0" algn="just">
              <a:buNone/>
            </a:pPr>
            <a:endParaRPr lang="en-GB" sz="2800" i="1" dirty="0"/>
          </a:p>
          <a:p>
            <a:pPr marL="0" indent="0" algn="just">
              <a:buNone/>
            </a:pPr>
            <a:r>
              <a:rPr lang="en-GB" sz="2800" i="1" dirty="0"/>
              <a:t>	H</a:t>
            </a:r>
            <a:r>
              <a:rPr lang="en-GB" sz="2800" baseline="-25000" dirty="0"/>
              <a:t>0</a:t>
            </a:r>
            <a:r>
              <a:rPr lang="en-GB" sz="2800" dirty="0"/>
              <a:t>:   </a:t>
            </a:r>
            <a:r>
              <a:rPr lang="en-GB" sz="2800" baseline="-25000" dirty="0"/>
              <a:t>1</a:t>
            </a:r>
            <a:r>
              <a:rPr lang="en-GB" sz="2800" dirty="0"/>
              <a:t> =   </a:t>
            </a:r>
            <a:r>
              <a:rPr lang="en-GB" sz="2800" baseline="-25000" dirty="0"/>
              <a:t>2</a:t>
            </a:r>
            <a:r>
              <a:rPr lang="en-GB" sz="2800" dirty="0"/>
              <a:t> =  </a:t>
            </a:r>
            <a:r>
              <a:rPr lang="en-GB" sz="2800" baseline="-25000" dirty="0"/>
              <a:t>3</a:t>
            </a:r>
            <a:r>
              <a:rPr lang="en-GB" sz="2800" dirty="0"/>
              <a:t> = … =  </a:t>
            </a:r>
            <a:r>
              <a:rPr lang="en-GB" sz="2800" i="1" baseline="-25000" dirty="0"/>
              <a:t>k</a:t>
            </a:r>
            <a:r>
              <a:rPr lang="en-GB" sz="2800" dirty="0"/>
              <a:t> = </a:t>
            </a:r>
            <a:r>
              <a:rPr lang="en-GB" sz="2400" dirty="0"/>
              <a:t>0</a:t>
            </a:r>
            <a:endParaRPr lang="en-IN" sz="2400" dirty="0"/>
          </a:p>
          <a:p>
            <a:pPr marL="0" indent="0" algn="just">
              <a:buNone/>
            </a:pPr>
            <a:r>
              <a:rPr lang="en-GB" sz="2800" i="1" dirty="0"/>
              <a:t>	H</a:t>
            </a:r>
            <a:r>
              <a:rPr lang="en-GB" sz="2800" baseline="-25000" dirty="0"/>
              <a:t>1</a:t>
            </a:r>
            <a:r>
              <a:rPr lang="en-GB" sz="2800" dirty="0"/>
              <a:t>:  Not all   s are zero.</a:t>
            </a:r>
            <a:endParaRPr lang="en-IN" sz="2800" dirty="0"/>
          </a:p>
          <a:p>
            <a:pPr marL="0" indent="0" algn="just">
              <a:buNone/>
            </a:pPr>
            <a:endParaRPr lang="en-IN" sz="2400" dirty="0"/>
          </a:p>
          <a:p>
            <a:pPr marL="0" indent="0" algn="just">
              <a:buNone/>
            </a:pPr>
            <a:r>
              <a:rPr lang="en-GB" sz="2400" dirty="0"/>
              <a:t>F-statistic is given by:</a:t>
            </a:r>
          </a:p>
          <a:p>
            <a:pPr marL="0" indent="0" algn="just">
              <a:buNone/>
            </a:pPr>
            <a:endParaRPr lang="en-GB" sz="2400" dirty="0"/>
          </a:p>
          <a:p>
            <a:pPr marL="0" indent="0" algn="just">
              <a:buNone/>
            </a:pPr>
            <a:r>
              <a:rPr lang="en-GB" sz="2800" i="1" dirty="0"/>
              <a:t>		F</a:t>
            </a:r>
            <a:r>
              <a:rPr lang="en-GB" sz="2800" dirty="0"/>
              <a:t> = MSR/MSE=(</a:t>
            </a:r>
            <a:r>
              <a:rPr lang="en-GB" sz="2800" i="1" dirty="0"/>
              <a:t>SSR/k)/(SSE/(n-k-1)</a:t>
            </a:r>
            <a:r>
              <a:rPr lang="en-GB" sz="2000" dirty="0"/>
              <a:t>)</a:t>
            </a:r>
            <a:endParaRPr lang="en-IN" sz="2400" dirty="0"/>
          </a:p>
        </p:txBody>
      </p:sp>
      <p:cxnSp>
        <p:nvCxnSpPr>
          <p:cNvPr id="5" name="Straight Arrow Connector 4">
            <a:extLst>
              <a:ext uri="{FF2B5EF4-FFF2-40B4-BE49-F238E27FC236}">
                <a16:creationId xmlns:a16="http://schemas.microsoft.com/office/drawing/2014/main" id="{720F17B2-8D44-4407-972C-BCCEB11CAE15}"/>
              </a:ext>
            </a:extLst>
          </p:cNvPr>
          <p:cNvCxnSpPr>
            <a:cxnSpLocks/>
          </p:cNvCxnSpPr>
          <p:nvPr/>
        </p:nvCxnSpPr>
        <p:spPr>
          <a:xfrm>
            <a:off x="1981200" y="3200400"/>
            <a:ext cx="0" cy="35052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C64FE73-100B-47A4-A19C-08193A77D414}"/>
              </a:ext>
            </a:extLst>
          </p:cNvPr>
          <p:cNvCxnSpPr>
            <a:cxnSpLocks/>
          </p:cNvCxnSpPr>
          <p:nvPr/>
        </p:nvCxnSpPr>
        <p:spPr>
          <a:xfrm>
            <a:off x="4724400" y="3121855"/>
            <a:ext cx="0" cy="3727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37D6E3E-BA68-413C-A873-E7044B07E33F}"/>
              </a:ext>
            </a:extLst>
          </p:cNvPr>
          <p:cNvCxnSpPr>
            <a:cxnSpLocks/>
          </p:cNvCxnSpPr>
          <p:nvPr/>
        </p:nvCxnSpPr>
        <p:spPr>
          <a:xfrm>
            <a:off x="2743200" y="3169920"/>
            <a:ext cx="0" cy="3810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E30AC1A-C627-42FC-A1A9-85E4E7DDEAFF}"/>
              </a:ext>
            </a:extLst>
          </p:cNvPr>
          <p:cNvCxnSpPr>
            <a:cxnSpLocks/>
          </p:cNvCxnSpPr>
          <p:nvPr/>
        </p:nvCxnSpPr>
        <p:spPr>
          <a:xfrm>
            <a:off x="3352800" y="3121855"/>
            <a:ext cx="0" cy="42906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154CE15-43E8-46DE-9CF3-FC4E40FEC44C}"/>
              </a:ext>
            </a:extLst>
          </p:cNvPr>
          <p:cNvCxnSpPr>
            <a:cxnSpLocks/>
          </p:cNvCxnSpPr>
          <p:nvPr/>
        </p:nvCxnSpPr>
        <p:spPr>
          <a:xfrm>
            <a:off x="5257800" y="3121855"/>
            <a:ext cx="0" cy="3810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79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1000"/>
                                        <p:tgtEl>
                                          <p:spTgt spid="3">
                                            <p:txEl>
                                              <p:pRg st="5" end="5"/>
                                            </p:txEl>
                                          </p:spTgt>
                                        </p:tgtEl>
                                      </p:cBhvr>
                                    </p:animEffect>
                                    <p:anim calcmode="lin" valueType="num">
                                      <p:cBhvr>
                                        <p:cTn id="34"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1000"/>
                                        <p:tgtEl>
                                          <p:spTgt spid="3">
                                            <p:txEl>
                                              <p:pRg st="7" end="7"/>
                                            </p:txEl>
                                          </p:spTgt>
                                        </p:tgtEl>
                                      </p:cBhvr>
                                    </p:animEffect>
                                    <p:anim calcmode="lin" valueType="num">
                                      <p:cBhvr>
                                        <p:cTn id="4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B61C8-BFEE-4DCF-B8DC-36264C68613C}"/>
              </a:ext>
            </a:extLst>
          </p:cNvPr>
          <p:cNvSpPr>
            <a:spLocks noGrp="1"/>
          </p:cNvSpPr>
          <p:nvPr>
            <p:ph type="title"/>
          </p:nvPr>
        </p:nvSpPr>
        <p:spPr>
          <a:xfrm>
            <a:off x="628651" y="353354"/>
            <a:ext cx="8252114" cy="637246"/>
          </a:xfrm>
        </p:spPr>
        <p:txBody>
          <a:bodyPr/>
          <a:lstStyle/>
          <a:p>
            <a:pPr algn="ctr"/>
            <a:r>
              <a:rPr lang="en-GB" sz="2400" b="1" dirty="0">
                <a:solidFill>
                  <a:srgbClr val="C00000"/>
                </a:solidFill>
              </a:rPr>
              <a:t>Validation of Portions of a MLR Model – Partial </a:t>
            </a:r>
            <a:r>
              <a:rPr lang="en-GB" sz="2400" b="1" i="1" dirty="0">
                <a:solidFill>
                  <a:srgbClr val="C00000"/>
                </a:solidFill>
              </a:rPr>
              <a:t>F</a:t>
            </a:r>
            <a:r>
              <a:rPr lang="en-GB" sz="2400" b="1" dirty="0">
                <a:solidFill>
                  <a:srgbClr val="C00000"/>
                </a:solidFill>
              </a:rPr>
              <a:t>-test</a:t>
            </a:r>
            <a:endParaRPr lang="en-IN" sz="2400" dirty="0">
              <a:solidFill>
                <a:srgbClr val="C00000"/>
              </a:solidFill>
            </a:endParaRPr>
          </a:p>
        </p:txBody>
      </p:sp>
      <p:sp>
        <p:nvSpPr>
          <p:cNvPr id="3" name="Content Placeholder 2">
            <a:extLst>
              <a:ext uri="{FF2B5EF4-FFF2-40B4-BE49-F238E27FC236}">
                <a16:creationId xmlns:a16="http://schemas.microsoft.com/office/drawing/2014/main" id="{4107BDB3-7E9A-4D88-B7EA-0597033F4169}"/>
              </a:ext>
            </a:extLst>
          </p:cNvPr>
          <p:cNvSpPr>
            <a:spLocks noGrp="1"/>
          </p:cNvSpPr>
          <p:nvPr>
            <p:ph idx="1"/>
          </p:nvPr>
        </p:nvSpPr>
        <p:spPr>
          <a:xfrm>
            <a:off x="628650" y="1205347"/>
            <a:ext cx="7886700" cy="3366653"/>
          </a:xfrm>
        </p:spPr>
        <p:txBody>
          <a:bodyPr/>
          <a:lstStyle/>
          <a:p>
            <a:pPr marL="0" indent="0">
              <a:buNone/>
            </a:pPr>
            <a:r>
              <a:rPr lang="en-GB" sz="2400" dirty="0"/>
              <a:t>The objective of the partial </a:t>
            </a:r>
            <a:r>
              <a:rPr lang="en-GB" sz="2400" i="1" dirty="0"/>
              <a:t>F</a:t>
            </a:r>
            <a:r>
              <a:rPr lang="en-GB" sz="2400" dirty="0"/>
              <a:t>-test is to check where the additional variables (</a:t>
            </a:r>
            <a:r>
              <a:rPr lang="en-GB" sz="2400" i="1" dirty="0"/>
              <a:t>X</a:t>
            </a:r>
            <a:r>
              <a:rPr lang="en-GB" sz="2400" i="1" baseline="-25000" dirty="0"/>
              <a:t>r+</a:t>
            </a:r>
            <a:r>
              <a:rPr lang="en-GB" sz="2400" baseline="-25000" dirty="0"/>
              <a:t>1</a:t>
            </a:r>
            <a:r>
              <a:rPr lang="en-GB" sz="2400" dirty="0"/>
              <a:t>,  </a:t>
            </a:r>
            <a:r>
              <a:rPr lang="en-GB" sz="2400" i="1" dirty="0"/>
              <a:t>X</a:t>
            </a:r>
            <a:r>
              <a:rPr lang="en-GB" sz="2400" i="1" baseline="-25000" dirty="0"/>
              <a:t>r+</a:t>
            </a:r>
            <a:r>
              <a:rPr lang="en-GB" sz="2400" baseline="-25000" dirty="0"/>
              <a:t>2</a:t>
            </a:r>
            <a:r>
              <a:rPr lang="en-GB" sz="2400" dirty="0"/>
              <a:t>, …, </a:t>
            </a:r>
            <a:r>
              <a:rPr lang="en-GB" sz="2400" i="1" dirty="0" err="1"/>
              <a:t>X</a:t>
            </a:r>
            <a:r>
              <a:rPr lang="en-GB" sz="2400" i="1" baseline="-25000" dirty="0" err="1"/>
              <a:t>k</a:t>
            </a:r>
            <a:r>
              <a:rPr lang="en-GB" sz="2400" dirty="0"/>
              <a:t>) in the full model are statistically significant. </a:t>
            </a:r>
          </a:p>
          <a:p>
            <a:pPr marL="0" indent="0">
              <a:buNone/>
            </a:pPr>
            <a:r>
              <a:rPr lang="en-GB" sz="2400" dirty="0"/>
              <a:t>The corresponding partial </a:t>
            </a:r>
            <a:r>
              <a:rPr lang="en-GB" sz="2400" i="1" dirty="0"/>
              <a:t>F</a:t>
            </a:r>
            <a:r>
              <a:rPr lang="en-GB" sz="2400" dirty="0"/>
              <a:t>-test has the following null and alternative hypotheses:</a:t>
            </a:r>
            <a:endParaRPr lang="en-IN" sz="2400" dirty="0"/>
          </a:p>
          <a:p>
            <a:r>
              <a:rPr lang="en-GB" sz="2400" i="1" dirty="0"/>
              <a:t>H</a:t>
            </a:r>
            <a:r>
              <a:rPr lang="en-GB" sz="2400" baseline="-25000" dirty="0"/>
              <a:t>0</a:t>
            </a:r>
            <a:r>
              <a:rPr lang="en-GB" sz="2400" dirty="0"/>
              <a:t>: </a:t>
            </a:r>
            <a:r>
              <a:rPr lang="en-GB" sz="2400" dirty="0">
                <a:sym typeface="Symbol" panose="05050102010706020507" pitchFamily="18" charset="2"/>
              </a:rPr>
              <a:t></a:t>
            </a:r>
            <a:r>
              <a:rPr lang="en-GB" sz="2400" i="1" baseline="-25000" dirty="0"/>
              <a:t>r</a:t>
            </a:r>
            <a:r>
              <a:rPr lang="en-GB" sz="2400" baseline="-25000" dirty="0"/>
              <a:t>+1</a:t>
            </a:r>
            <a:r>
              <a:rPr lang="en-GB" sz="2400" dirty="0"/>
              <a:t> = </a:t>
            </a:r>
            <a:r>
              <a:rPr lang="en-GB" sz="2400" dirty="0">
                <a:sym typeface="Symbol" panose="05050102010706020507" pitchFamily="18" charset="2"/>
              </a:rPr>
              <a:t></a:t>
            </a:r>
            <a:r>
              <a:rPr lang="en-GB" sz="2400" i="1" baseline="-25000" dirty="0"/>
              <a:t>r</a:t>
            </a:r>
            <a:r>
              <a:rPr lang="en-GB" sz="2400" baseline="-25000" dirty="0"/>
              <a:t>+2</a:t>
            </a:r>
            <a:r>
              <a:rPr lang="en-GB" sz="2400" dirty="0"/>
              <a:t> = … = </a:t>
            </a:r>
            <a:r>
              <a:rPr lang="en-GB" sz="2400" dirty="0">
                <a:sym typeface="Symbol" panose="05050102010706020507" pitchFamily="18" charset="2"/>
              </a:rPr>
              <a:t></a:t>
            </a:r>
            <a:r>
              <a:rPr lang="en-GB" sz="2400" i="1" baseline="-25000" dirty="0"/>
              <a:t>k</a:t>
            </a:r>
            <a:r>
              <a:rPr lang="en-GB" sz="2400" dirty="0"/>
              <a:t> = 0</a:t>
            </a:r>
            <a:endParaRPr lang="en-IN" sz="2400" dirty="0"/>
          </a:p>
          <a:p>
            <a:r>
              <a:rPr lang="en-GB" sz="2400" i="1" dirty="0"/>
              <a:t>H</a:t>
            </a:r>
            <a:r>
              <a:rPr lang="en-GB" sz="2400" baseline="-25000" dirty="0"/>
              <a:t>1</a:t>
            </a:r>
            <a:r>
              <a:rPr lang="en-GB" sz="2400" dirty="0"/>
              <a:t>: Not all </a:t>
            </a:r>
            <a:r>
              <a:rPr lang="en-GB" sz="2400" dirty="0">
                <a:sym typeface="Symbol" panose="05050102010706020507" pitchFamily="18" charset="2"/>
              </a:rPr>
              <a:t></a:t>
            </a:r>
            <a:r>
              <a:rPr lang="en-GB" sz="2400" i="1" baseline="-25000" dirty="0"/>
              <a:t>r</a:t>
            </a:r>
            <a:r>
              <a:rPr lang="en-GB" sz="2400" baseline="-25000" dirty="0"/>
              <a:t>+1</a:t>
            </a:r>
            <a:r>
              <a:rPr lang="en-GB" sz="2400" dirty="0"/>
              <a:t>, </a:t>
            </a:r>
            <a:r>
              <a:rPr lang="en-GB" sz="2400" dirty="0">
                <a:sym typeface="Symbol" panose="05050102010706020507" pitchFamily="18" charset="2"/>
              </a:rPr>
              <a:t></a:t>
            </a:r>
            <a:r>
              <a:rPr lang="en-GB" sz="2400" i="1" baseline="-25000" dirty="0"/>
              <a:t>r+</a:t>
            </a:r>
            <a:r>
              <a:rPr lang="en-GB" sz="2400" baseline="-25000" dirty="0"/>
              <a:t>2</a:t>
            </a:r>
            <a:r>
              <a:rPr lang="en-GB" sz="2400" dirty="0"/>
              <a:t>, …, </a:t>
            </a:r>
            <a:r>
              <a:rPr lang="en-GB" sz="2400" dirty="0">
                <a:sym typeface="Symbol" panose="05050102010706020507" pitchFamily="18" charset="2"/>
              </a:rPr>
              <a:t></a:t>
            </a:r>
            <a:r>
              <a:rPr lang="en-GB" sz="2400" i="1" baseline="-25000" dirty="0"/>
              <a:t>k</a:t>
            </a:r>
            <a:r>
              <a:rPr lang="en-GB" sz="2400" dirty="0"/>
              <a:t> are zero</a:t>
            </a:r>
            <a:endParaRPr lang="en-IN" sz="2400" dirty="0"/>
          </a:p>
          <a:p>
            <a:r>
              <a:rPr lang="en-GB" sz="2400" dirty="0"/>
              <a:t>The partial </a:t>
            </a:r>
            <a:r>
              <a:rPr lang="en-GB" sz="2400" i="1" dirty="0"/>
              <a:t>F</a:t>
            </a:r>
            <a:r>
              <a:rPr lang="en-GB" sz="2400" dirty="0"/>
              <a:t>-test statistic is given by</a:t>
            </a:r>
            <a:endParaRPr lang="en-IN" sz="2400" dirty="0"/>
          </a:p>
          <a:p>
            <a:pPr marL="0" indent="0">
              <a:buNone/>
            </a:pPr>
            <a:endParaRPr lang="en-IN" sz="2400" dirty="0"/>
          </a:p>
          <a:p>
            <a:endParaRPr lang="en-IN" dirty="0"/>
          </a:p>
        </p:txBody>
      </p:sp>
      <p:sp>
        <p:nvSpPr>
          <p:cNvPr id="4" name="Rectangle 2">
            <a:extLst>
              <a:ext uri="{FF2B5EF4-FFF2-40B4-BE49-F238E27FC236}">
                <a16:creationId xmlns:a16="http://schemas.microsoft.com/office/drawing/2014/main" id="{57270420-A243-4A09-B195-DDE0137B886A}"/>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F7E5B124-5016-4401-9F9B-F9C7AC366C49}"/>
              </a:ext>
            </a:extLst>
          </p:cNvPr>
          <p:cNvGraphicFramePr>
            <a:graphicFrameLocks noChangeAspect="1"/>
          </p:cNvGraphicFramePr>
          <p:nvPr>
            <p:extLst>
              <p:ext uri="{D42A27DB-BD31-4B8C-83A1-F6EECF244321}">
                <p14:modId xmlns:p14="http://schemas.microsoft.com/office/powerpoint/2010/main" val="1464584632"/>
              </p:ext>
            </p:extLst>
          </p:nvPr>
        </p:nvGraphicFramePr>
        <p:xfrm>
          <a:off x="1390357" y="5119253"/>
          <a:ext cx="5486400" cy="914400"/>
        </p:xfrm>
        <a:graphic>
          <a:graphicData uri="http://schemas.openxmlformats.org/presentationml/2006/ole">
            <mc:AlternateContent xmlns:mc="http://schemas.openxmlformats.org/markup-compatibility/2006">
              <mc:Choice xmlns:v="urn:schemas-microsoft-com:vml" Requires="v">
                <p:oleObj r:id="rId2" imgW="2145369" imgH="444307" progId="Equation.3">
                  <p:embed/>
                </p:oleObj>
              </mc:Choice>
              <mc:Fallback>
                <p:oleObj r:id="rId2" imgW="2145369" imgH="444307"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357" y="5119253"/>
                        <a:ext cx="5486400" cy="9144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4005922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7C1E-8F72-4A07-93F4-AC27BB0E867D}"/>
              </a:ext>
            </a:extLst>
          </p:cNvPr>
          <p:cNvSpPr>
            <a:spLocks noGrp="1"/>
          </p:cNvSpPr>
          <p:nvPr>
            <p:ph type="title"/>
          </p:nvPr>
        </p:nvSpPr>
        <p:spPr>
          <a:xfrm>
            <a:off x="628650" y="304800"/>
            <a:ext cx="8252114" cy="746988"/>
          </a:xfrm>
        </p:spPr>
        <p:txBody>
          <a:bodyPr/>
          <a:lstStyle/>
          <a:p>
            <a:pPr algn="ctr"/>
            <a:r>
              <a:rPr lang="en-GB" sz="2800" b="1" dirty="0">
                <a:solidFill>
                  <a:srgbClr val="C00000"/>
                </a:solidFill>
              </a:rPr>
              <a:t>Residual Analysis in Multiple Linear Regression</a:t>
            </a:r>
            <a:endParaRPr lang="en-IN" sz="2800" dirty="0">
              <a:solidFill>
                <a:srgbClr val="C00000"/>
              </a:solidFill>
            </a:endParaRPr>
          </a:p>
        </p:txBody>
      </p:sp>
      <p:sp>
        <p:nvSpPr>
          <p:cNvPr id="3" name="Content Placeholder 2">
            <a:extLst>
              <a:ext uri="{FF2B5EF4-FFF2-40B4-BE49-F238E27FC236}">
                <a16:creationId xmlns:a16="http://schemas.microsoft.com/office/drawing/2014/main" id="{F7B768F7-7C78-42C4-86C4-CA0DDDD23A54}"/>
              </a:ext>
            </a:extLst>
          </p:cNvPr>
          <p:cNvSpPr>
            <a:spLocks noGrp="1"/>
          </p:cNvSpPr>
          <p:nvPr>
            <p:ph idx="1"/>
          </p:nvPr>
        </p:nvSpPr>
        <p:spPr>
          <a:xfrm>
            <a:off x="628650" y="1205347"/>
            <a:ext cx="7886700" cy="1233053"/>
          </a:xfrm>
        </p:spPr>
        <p:txBody>
          <a:bodyPr/>
          <a:lstStyle/>
          <a:p>
            <a:pPr marL="0" indent="0">
              <a:buNone/>
            </a:pPr>
            <a:r>
              <a:rPr lang="en-GB" sz="2400" dirty="0"/>
              <a:t>Residual analysis is important for checking assumptions about normal distribution of residuals, homoscedasticity, and the functional form of a regression model.</a:t>
            </a:r>
          </a:p>
          <a:p>
            <a:endParaRPr lang="en-IN" sz="2400" dirty="0"/>
          </a:p>
        </p:txBody>
      </p:sp>
      <p:pic>
        <p:nvPicPr>
          <p:cNvPr id="4" name="Content Placeholder 3">
            <a:extLst>
              <a:ext uri="{FF2B5EF4-FFF2-40B4-BE49-F238E27FC236}">
                <a16:creationId xmlns:a16="http://schemas.microsoft.com/office/drawing/2014/main" id="{08F6DCAA-B5A9-4107-B998-7564C30F1848}"/>
              </a:ext>
            </a:extLst>
          </p:cNvPr>
          <p:cNvPicPr>
            <a:picLocks/>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374499" y="2458329"/>
            <a:ext cx="3962400" cy="37138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7EE7FDCB-3202-4A2E-ADC4-77EBB5614AD9}"/>
              </a:ext>
            </a:extLst>
          </p:cNvPr>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4622942" y="2362200"/>
            <a:ext cx="4267200" cy="37900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72179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DB4FA-4132-4D08-A973-DFD840BA32E2}"/>
              </a:ext>
            </a:extLst>
          </p:cNvPr>
          <p:cNvSpPr>
            <a:spLocks noGrp="1"/>
          </p:cNvSpPr>
          <p:nvPr>
            <p:ph type="title"/>
          </p:nvPr>
        </p:nvSpPr>
        <p:spPr>
          <a:xfrm>
            <a:off x="628650" y="304800"/>
            <a:ext cx="8252114" cy="785517"/>
          </a:xfrm>
        </p:spPr>
        <p:txBody>
          <a:bodyPr/>
          <a:lstStyle/>
          <a:p>
            <a:pPr algn="ctr"/>
            <a:r>
              <a:rPr lang="en-GB" sz="2800" b="1" dirty="0">
                <a:solidFill>
                  <a:srgbClr val="C00000"/>
                </a:solidFill>
              </a:rPr>
              <a:t>Multi-Collinearity and Variance Inflation Factor</a:t>
            </a:r>
            <a:endParaRPr lang="en-IN" sz="2800" dirty="0">
              <a:solidFill>
                <a:srgbClr val="C00000"/>
              </a:solidFill>
            </a:endParaRPr>
          </a:p>
        </p:txBody>
      </p:sp>
      <p:sp>
        <p:nvSpPr>
          <p:cNvPr id="3" name="Content Placeholder 2">
            <a:extLst>
              <a:ext uri="{FF2B5EF4-FFF2-40B4-BE49-F238E27FC236}">
                <a16:creationId xmlns:a16="http://schemas.microsoft.com/office/drawing/2014/main" id="{07E1E187-D7D7-40DF-B3ED-DB20560DD04B}"/>
              </a:ext>
            </a:extLst>
          </p:cNvPr>
          <p:cNvSpPr>
            <a:spLocks noGrp="1"/>
          </p:cNvSpPr>
          <p:nvPr>
            <p:ph idx="1"/>
          </p:nvPr>
        </p:nvSpPr>
        <p:spPr>
          <a:xfrm>
            <a:off x="544657" y="1388775"/>
            <a:ext cx="8252114" cy="4769428"/>
          </a:xfrm>
        </p:spPr>
        <p:txBody>
          <a:bodyPr>
            <a:noAutofit/>
          </a:bodyPr>
          <a:lstStyle/>
          <a:p>
            <a:pPr marL="0" indent="0" algn="just">
              <a:buNone/>
            </a:pPr>
            <a:r>
              <a:rPr lang="en-GB" sz="2400" dirty="0"/>
              <a:t>Multi-collinearity can have the following impact on the model:</a:t>
            </a:r>
            <a:endParaRPr lang="en-IN" sz="2400" dirty="0"/>
          </a:p>
          <a:p>
            <a:pPr algn="just"/>
            <a:r>
              <a:rPr lang="en-GB" sz="2400" dirty="0"/>
              <a:t>The standard error of estimate of a regression coefficient may be inflated, and may result in retaining of null hypothesis in </a:t>
            </a:r>
            <a:r>
              <a:rPr lang="en-GB" sz="2400" i="1" dirty="0"/>
              <a:t>t</a:t>
            </a:r>
            <a:r>
              <a:rPr lang="en-GB" sz="2400" dirty="0"/>
              <a:t>-test, resulting in rejection of a statistically significant explanatory variable. </a:t>
            </a:r>
          </a:p>
          <a:p>
            <a:pPr algn="just"/>
            <a:r>
              <a:rPr lang="en-GB" sz="2400" dirty="0"/>
              <a:t>The </a:t>
            </a:r>
            <a:r>
              <a:rPr lang="en-GB" sz="2400" i="1" dirty="0"/>
              <a:t>t</a:t>
            </a:r>
            <a:r>
              <a:rPr lang="en-GB" sz="2400" dirty="0"/>
              <a:t>-statistic value is         </a:t>
            </a:r>
          </a:p>
          <a:p>
            <a:pPr algn="just"/>
            <a:r>
              <a:rPr lang="en-GB" sz="2400" dirty="0"/>
              <a:t>If        is inflated, then the </a:t>
            </a:r>
            <a:r>
              <a:rPr lang="en-GB" sz="2400" i="1" dirty="0"/>
              <a:t>t</a:t>
            </a:r>
            <a:r>
              <a:rPr lang="en-GB" sz="2400" dirty="0"/>
              <a:t>-value will be underestimated resulting in high </a:t>
            </a:r>
            <a:r>
              <a:rPr lang="en-GB" sz="2400" i="1" dirty="0"/>
              <a:t>p</a:t>
            </a:r>
            <a:r>
              <a:rPr lang="en-GB" sz="2400" dirty="0"/>
              <a:t>-value that may result in failing to reject the null hypothesis. </a:t>
            </a:r>
          </a:p>
          <a:p>
            <a:pPr algn="just"/>
            <a:r>
              <a:rPr lang="en-GB" sz="2400" dirty="0"/>
              <a:t>Thus, it is possible that a statistically significant explanatory variable may be labelled as statistically insignificant due to the presence of multi-collinearity.</a:t>
            </a:r>
            <a:endParaRPr lang="en-IN" sz="2400" dirty="0"/>
          </a:p>
          <a:p>
            <a:pPr algn="just"/>
            <a:endParaRPr lang="en-GB" sz="2400" dirty="0"/>
          </a:p>
          <a:p>
            <a:pPr marL="0" indent="0" algn="just">
              <a:buNone/>
            </a:pPr>
            <a:r>
              <a:rPr lang="en-GB" sz="2400" dirty="0"/>
              <a:t>                                                                                                                        </a:t>
            </a:r>
            <a:endParaRPr lang="en-IN" sz="2400" dirty="0"/>
          </a:p>
        </p:txBody>
      </p:sp>
      <p:sp>
        <p:nvSpPr>
          <p:cNvPr id="4" name="Rectangle 2">
            <a:extLst>
              <a:ext uri="{FF2B5EF4-FFF2-40B4-BE49-F238E27FC236}">
                <a16:creationId xmlns:a16="http://schemas.microsoft.com/office/drawing/2014/main" id="{2A6B57B6-6954-41F9-9041-190F69BEF28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B3E05621-7D67-4199-AB78-1EEF24871FF8}"/>
              </a:ext>
            </a:extLst>
          </p:cNvPr>
          <p:cNvGraphicFramePr>
            <a:graphicFrameLocks noChangeAspect="1"/>
          </p:cNvGraphicFramePr>
          <p:nvPr>
            <p:extLst>
              <p:ext uri="{D42A27DB-BD31-4B8C-83A1-F6EECF244321}">
                <p14:modId xmlns:p14="http://schemas.microsoft.com/office/powerpoint/2010/main" val="353875555"/>
              </p:ext>
            </p:extLst>
          </p:nvPr>
        </p:nvGraphicFramePr>
        <p:xfrm>
          <a:off x="3557368" y="3152920"/>
          <a:ext cx="1050974" cy="557214"/>
        </p:xfrm>
        <a:graphic>
          <a:graphicData uri="http://schemas.openxmlformats.org/presentationml/2006/ole">
            <mc:AlternateContent xmlns:mc="http://schemas.openxmlformats.org/markup-compatibility/2006">
              <mc:Choice xmlns:v="urn:schemas-microsoft-com:vml" Requires="v">
                <p:oleObj r:id="rId2" imgW="749300" imgH="508000" progId="Equation.3">
                  <p:embed/>
                </p:oleObj>
              </mc:Choice>
              <mc:Fallback>
                <p:oleObj r:id="rId2" imgW="749300" imgH="508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7368" y="3152920"/>
                        <a:ext cx="1050974" cy="557214"/>
                      </a:xfrm>
                      <a:prstGeom prst="rect">
                        <a:avLst/>
                      </a:prstGeom>
                      <a:noFill/>
                    </p:spPr>
                  </p:pic>
                </p:oleObj>
              </mc:Fallback>
            </mc:AlternateContent>
          </a:graphicData>
        </a:graphic>
      </p:graphicFrame>
      <p:sp>
        <p:nvSpPr>
          <p:cNvPr id="6" name="Rectangle 5">
            <a:extLst>
              <a:ext uri="{FF2B5EF4-FFF2-40B4-BE49-F238E27FC236}">
                <a16:creationId xmlns:a16="http://schemas.microsoft.com/office/drawing/2014/main" id="{A7D4D5F7-D8B0-43EE-A25B-9EB6E84E622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38040502-345E-4C2C-A24B-058CC3653F6F}"/>
              </a:ext>
            </a:extLst>
          </p:cNvPr>
          <p:cNvGraphicFramePr>
            <a:graphicFrameLocks noChangeAspect="1"/>
          </p:cNvGraphicFramePr>
          <p:nvPr>
            <p:extLst>
              <p:ext uri="{D42A27DB-BD31-4B8C-83A1-F6EECF244321}">
                <p14:modId xmlns:p14="http://schemas.microsoft.com/office/powerpoint/2010/main" val="1644842908"/>
              </p:ext>
            </p:extLst>
          </p:nvPr>
        </p:nvGraphicFramePr>
        <p:xfrm>
          <a:off x="1219200" y="3581399"/>
          <a:ext cx="762000" cy="420689"/>
        </p:xfrm>
        <a:graphic>
          <a:graphicData uri="http://schemas.openxmlformats.org/presentationml/2006/ole">
            <mc:AlternateContent xmlns:mc="http://schemas.openxmlformats.org/markup-compatibility/2006">
              <mc:Choice xmlns:v="urn:schemas-microsoft-com:vml" Requires="v">
                <p:oleObj r:id="rId4" imgW="406048" imgH="355292" progId="Equation.3">
                  <p:embed/>
                </p:oleObj>
              </mc:Choice>
              <mc:Fallback>
                <p:oleObj r:id="rId4" imgW="406048" imgH="35529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3581399"/>
                        <a:ext cx="762000" cy="420689"/>
                      </a:xfrm>
                      <a:prstGeom prst="rect">
                        <a:avLst/>
                      </a:prstGeom>
                      <a:noFill/>
                    </p:spPr>
                  </p:pic>
                </p:oleObj>
              </mc:Fallback>
            </mc:AlternateContent>
          </a:graphicData>
        </a:graphic>
      </p:graphicFrame>
    </p:spTree>
    <p:extLst>
      <p:ext uri="{BB962C8B-B14F-4D97-AF65-F5344CB8AC3E}">
        <p14:creationId xmlns:p14="http://schemas.microsoft.com/office/powerpoint/2010/main" val="144020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91F630-28B6-4C78-A1F5-3F5A2C4F8745}"/>
              </a:ext>
            </a:extLst>
          </p:cNvPr>
          <p:cNvSpPr>
            <a:spLocks noGrp="1"/>
          </p:cNvSpPr>
          <p:nvPr>
            <p:ph idx="4294967295"/>
          </p:nvPr>
        </p:nvSpPr>
        <p:spPr>
          <a:xfrm>
            <a:off x="457200" y="1600200"/>
            <a:ext cx="8229600" cy="2514600"/>
          </a:xfrm>
        </p:spPr>
        <p:txBody>
          <a:bodyPr/>
          <a:lstStyle/>
          <a:p>
            <a:pPr lvl="0" algn="just"/>
            <a:r>
              <a:rPr lang="en-GB" sz="2400" dirty="0"/>
              <a:t>The sign of the regression coefficient may be different, that is, instead of negative value for regression coefficient, we may have a positive regression coefficient and vice versa.</a:t>
            </a:r>
          </a:p>
          <a:p>
            <a:pPr marL="0" lvl="0" indent="0" algn="just">
              <a:buNone/>
            </a:pPr>
            <a:endParaRPr lang="en-IN" sz="2400" dirty="0"/>
          </a:p>
          <a:p>
            <a:pPr lvl="0" algn="just"/>
            <a:r>
              <a:rPr lang="en-GB" sz="2400" dirty="0"/>
              <a:t>Adding/removing a variable or even an observation may result in large variation in regression coefficient estimates.</a:t>
            </a:r>
            <a:endParaRPr lang="en-IN" sz="2400" dirty="0"/>
          </a:p>
          <a:p>
            <a:endParaRPr lang="en-IN" dirty="0"/>
          </a:p>
        </p:txBody>
      </p:sp>
      <p:sp>
        <p:nvSpPr>
          <p:cNvPr id="2" name="TextBox 1">
            <a:extLst>
              <a:ext uri="{FF2B5EF4-FFF2-40B4-BE49-F238E27FC236}">
                <a16:creationId xmlns:a16="http://schemas.microsoft.com/office/drawing/2014/main" id="{3D9E69B6-BABB-4CE2-8C05-E518533464CD}"/>
              </a:ext>
            </a:extLst>
          </p:cNvPr>
          <p:cNvSpPr txBox="1"/>
          <p:nvPr/>
        </p:nvSpPr>
        <p:spPr>
          <a:xfrm>
            <a:off x="1066800" y="762000"/>
            <a:ext cx="7010400" cy="461665"/>
          </a:xfrm>
          <a:prstGeom prst="rect">
            <a:avLst/>
          </a:prstGeom>
          <a:noFill/>
        </p:spPr>
        <p:txBody>
          <a:bodyPr wrap="square" rtlCol="0">
            <a:spAutoFit/>
          </a:bodyPr>
          <a:lstStyle/>
          <a:p>
            <a:pPr algn="ctr"/>
            <a:r>
              <a:rPr lang="en-IN" sz="2400" b="1" dirty="0">
                <a:solidFill>
                  <a:srgbClr val="C00000"/>
                </a:solidFill>
                <a:latin typeface="Calibri" panose="020F0502020204030204" pitchFamily="34" charset="0"/>
                <a:cs typeface="Calibri" panose="020F0502020204030204" pitchFamily="34" charset="0"/>
              </a:rPr>
              <a:t>Impact of Multicollinearity</a:t>
            </a:r>
          </a:p>
        </p:txBody>
      </p:sp>
    </p:spTree>
    <p:extLst>
      <p:ext uri="{BB962C8B-B14F-4D97-AF65-F5344CB8AC3E}">
        <p14:creationId xmlns:p14="http://schemas.microsoft.com/office/powerpoint/2010/main" val="4044493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48E11-46A2-4021-8566-9C982EC8B528}"/>
              </a:ext>
            </a:extLst>
          </p:cNvPr>
          <p:cNvSpPr>
            <a:spLocks noGrp="1"/>
          </p:cNvSpPr>
          <p:nvPr>
            <p:ph type="title"/>
          </p:nvPr>
        </p:nvSpPr>
        <p:spPr>
          <a:xfrm>
            <a:off x="602566" y="524303"/>
            <a:ext cx="8252114" cy="518388"/>
          </a:xfrm>
        </p:spPr>
        <p:txBody>
          <a:bodyPr/>
          <a:lstStyle/>
          <a:p>
            <a:pPr algn="just"/>
            <a:r>
              <a:rPr lang="en-GB" sz="2800" b="1" dirty="0">
                <a:solidFill>
                  <a:srgbClr val="C00000"/>
                </a:solidFill>
              </a:rPr>
              <a:t>Variance Inflation Factor (VIF)</a:t>
            </a:r>
            <a:endParaRPr lang="en-IN" sz="2800" dirty="0">
              <a:solidFill>
                <a:srgbClr val="C00000"/>
              </a:solidFill>
            </a:endParaRPr>
          </a:p>
        </p:txBody>
      </p:sp>
      <p:sp>
        <p:nvSpPr>
          <p:cNvPr id="3" name="Content Placeholder 2">
            <a:extLst>
              <a:ext uri="{FF2B5EF4-FFF2-40B4-BE49-F238E27FC236}">
                <a16:creationId xmlns:a16="http://schemas.microsoft.com/office/drawing/2014/main" id="{DE8C736A-768B-4CB5-B169-C45461925118}"/>
              </a:ext>
            </a:extLst>
          </p:cNvPr>
          <p:cNvSpPr>
            <a:spLocks noGrp="1"/>
          </p:cNvSpPr>
          <p:nvPr>
            <p:ph idx="1"/>
          </p:nvPr>
        </p:nvSpPr>
        <p:spPr>
          <a:xfrm>
            <a:off x="602566" y="1205347"/>
            <a:ext cx="7912784" cy="3613221"/>
          </a:xfrm>
        </p:spPr>
        <p:txBody>
          <a:bodyPr/>
          <a:lstStyle/>
          <a:p>
            <a:pPr marL="0" indent="0" algn="just">
              <a:buNone/>
            </a:pPr>
            <a:r>
              <a:rPr lang="en-GB" sz="2400" dirty="0"/>
              <a:t>Variance inflation factor (VIF) measures the magnitude of multi-collinearity. Let us consider a regression model with two explanatory variables defined as follows:</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To find whether there is multi-collinearity, we develop a regression model between the two explanatory variables as follows:</a:t>
            </a:r>
            <a:endParaRPr lang="en-IN" sz="2400" dirty="0"/>
          </a:p>
          <a:p>
            <a:pPr marL="0" indent="0">
              <a:buNone/>
            </a:pPr>
            <a:endParaRPr lang="en-IN" sz="2400" dirty="0"/>
          </a:p>
          <a:p>
            <a:endParaRPr lang="en-IN" dirty="0"/>
          </a:p>
        </p:txBody>
      </p:sp>
      <p:sp>
        <p:nvSpPr>
          <p:cNvPr id="4" name="Rectangle 2">
            <a:extLst>
              <a:ext uri="{FF2B5EF4-FFF2-40B4-BE49-F238E27FC236}">
                <a16:creationId xmlns:a16="http://schemas.microsoft.com/office/drawing/2014/main" id="{B1D1D8BC-3684-4B29-A358-4FDC80A580F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92E8709E-2AE5-4C8C-9A8C-497A3DAFD840}"/>
              </a:ext>
            </a:extLst>
          </p:cNvPr>
          <p:cNvGraphicFramePr>
            <a:graphicFrameLocks noChangeAspect="1"/>
          </p:cNvGraphicFramePr>
          <p:nvPr>
            <p:extLst>
              <p:ext uri="{D42A27DB-BD31-4B8C-83A1-F6EECF244321}">
                <p14:modId xmlns:p14="http://schemas.microsoft.com/office/powerpoint/2010/main" val="1970035830"/>
              </p:ext>
            </p:extLst>
          </p:nvPr>
        </p:nvGraphicFramePr>
        <p:xfrm>
          <a:off x="2286000" y="2469574"/>
          <a:ext cx="3200400" cy="457200"/>
        </p:xfrm>
        <a:graphic>
          <a:graphicData uri="http://schemas.openxmlformats.org/presentationml/2006/ole">
            <mc:AlternateContent xmlns:mc="http://schemas.openxmlformats.org/markup-compatibility/2006">
              <mc:Choice xmlns:v="urn:schemas-microsoft-com:vml" Requires="v">
                <p:oleObj r:id="rId2" imgW="1397000" imgH="228600" progId="Equation.3">
                  <p:embed/>
                </p:oleObj>
              </mc:Choice>
              <mc:Fallback>
                <p:oleObj r:id="rId2" imgW="1397000" imgH="228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69574"/>
                        <a:ext cx="3200400" cy="4572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6" name="Rectangle 5">
            <a:extLst>
              <a:ext uri="{FF2B5EF4-FFF2-40B4-BE49-F238E27FC236}">
                <a16:creationId xmlns:a16="http://schemas.microsoft.com/office/drawing/2014/main" id="{A2AD88CD-7B00-40C4-BDC9-83A9A5B08C4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DE282EDA-2029-4E9C-91A8-30C41349BDCD}"/>
              </a:ext>
            </a:extLst>
          </p:cNvPr>
          <p:cNvGraphicFramePr>
            <a:graphicFrameLocks noChangeAspect="1"/>
          </p:cNvGraphicFramePr>
          <p:nvPr>
            <p:extLst>
              <p:ext uri="{D42A27DB-BD31-4B8C-83A1-F6EECF244321}">
                <p14:modId xmlns:p14="http://schemas.microsoft.com/office/powerpoint/2010/main" val="3495249424"/>
              </p:ext>
            </p:extLst>
          </p:nvPr>
        </p:nvGraphicFramePr>
        <p:xfrm>
          <a:off x="3423138" y="4818568"/>
          <a:ext cx="2133600" cy="381000"/>
        </p:xfrm>
        <a:graphic>
          <a:graphicData uri="http://schemas.openxmlformats.org/presentationml/2006/ole">
            <mc:AlternateContent xmlns:mc="http://schemas.openxmlformats.org/markup-compatibility/2006">
              <mc:Choice xmlns:v="urn:schemas-microsoft-com:vml" Requires="v">
                <p:oleObj r:id="rId4" imgW="1002865" imgH="228501" progId="Equation.3">
                  <p:embed/>
                </p:oleObj>
              </mc:Choice>
              <mc:Fallback>
                <p:oleObj r:id="rId4" imgW="1002865" imgH="22850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3138" y="4818568"/>
                        <a:ext cx="2133600" cy="3810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122250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1000"/>
                                        <p:tgtEl>
                                          <p:spTgt spid="7"/>
                                        </p:tgtEl>
                                      </p:cBhvr>
                                    </p:animEffect>
                                    <p:anim calcmode="lin" valueType="num">
                                      <p:cBhvr>
                                        <p:cTn id="34" dur="1000" fill="hold"/>
                                        <p:tgtEl>
                                          <p:spTgt spid="7"/>
                                        </p:tgtEl>
                                        <p:attrNameLst>
                                          <p:attrName>ppt_x</p:attrName>
                                        </p:attrNameLst>
                                      </p:cBhvr>
                                      <p:tavLst>
                                        <p:tav tm="0">
                                          <p:val>
                                            <p:strVal val="#ppt_x"/>
                                          </p:val>
                                        </p:tav>
                                        <p:tav tm="100000">
                                          <p:val>
                                            <p:strVal val="#ppt_x"/>
                                          </p:val>
                                        </p:tav>
                                      </p:tavLst>
                                    </p:anim>
                                    <p:anim calcmode="lin" valueType="num">
                                      <p:cBhvr>
                                        <p:cTn id="3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0F152AA-BF49-4CD4-8887-E2086BFE26F4}"/>
              </a:ext>
            </a:extLst>
          </p:cNvPr>
          <p:cNvSpPr>
            <a:spLocks noGrp="1"/>
          </p:cNvSpPr>
          <p:nvPr>
            <p:ph idx="4294967295"/>
          </p:nvPr>
        </p:nvSpPr>
        <p:spPr>
          <a:xfrm>
            <a:off x="609600" y="990600"/>
            <a:ext cx="8229600" cy="3601329"/>
          </a:xfrm>
        </p:spPr>
        <p:txBody>
          <a:bodyPr/>
          <a:lstStyle/>
          <a:p>
            <a:pPr marL="0" indent="0" algn="just">
              <a:buNone/>
            </a:pPr>
            <a:r>
              <a:rPr lang="en-GB" sz="2400" dirty="0"/>
              <a:t>Variance inflation factor (</a:t>
            </a:r>
            <a:r>
              <a:rPr lang="en-GB" sz="2400" i="1" dirty="0"/>
              <a:t>VIF</a:t>
            </a:r>
            <a:r>
              <a:rPr lang="en-GB" sz="2400" dirty="0"/>
              <a:t>) is then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The value           is called the tolerance</a:t>
            </a:r>
          </a:p>
          <a:p>
            <a:pPr marL="0" indent="0" algn="just">
              <a:buNone/>
            </a:pPr>
            <a:r>
              <a:rPr lang="en-GB" sz="2400" dirty="0"/>
              <a:t>        is the value by which the t-statistic is deflated.  So, the actual t-value is given by</a:t>
            </a:r>
          </a:p>
          <a:p>
            <a:pPr marL="0" indent="0">
              <a:buNone/>
            </a:pPr>
            <a:endParaRPr lang="en-GB" sz="2400" dirty="0"/>
          </a:p>
          <a:p>
            <a:pPr marL="0" indent="0">
              <a:buNone/>
            </a:pPr>
            <a:endParaRPr lang="en-IN" sz="2400" dirty="0"/>
          </a:p>
          <a:p>
            <a:pPr marL="0" indent="0">
              <a:buNone/>
            </a:pPr>
            <a:endParaRPr lang="en-GB" sz="2400" dirty="0"/>
          </a:p>
          <a:p>
            <a:pPr marL="0" indent="0">
              <a:buNone/>
            </a:pPr>
            <a:endParaRPr lang="en-IN" sz="2400" dirty="0"/>
          </a:p>
          <a:p>
            <a:endParaRPr lang="en-IN" dirty="0"/>
          </a:p>
        </p:txBody>
      </p:sp>
      <p:sp>
        <p:nvSpPr>
          <p:cNvPr id="6" name="Rectangle 2">
            <a:extLst>
              <a:ext uri="{FF2B5EF4-FFF2-40B4-BE49-F238E27FC236}">
                <a16:creationId xmlns:a16="http://schemas.microsoft.com/office/drawing/2014/main" id="{609F2330-371D-447D-88DE-660FE4A509E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634CD481-EDCF-4849-AC17-E29AB2B3B58E}"/>
              </a:ext>
            </a:extLst>
          </p:cNvPr>
          <p:cNvGraphicFramePr>
            <a:graphicFrameLocks noChangeAspect="1"/>
          </p:cNvGraphicFramePr>
          <p:nvPr>
            <p:extLst>
              <p:ext uri="{D42A27DB-BD31-4B8C-83A1-F6EECF244321}">
                <p14:modId xmlns:p14="http://schemas.microsoft.com/office/powerpoint/2010/main" val="1414006419"/>
              </p:ext>
            </p:extLst>
          </p:nvPr>
        </p:nvGraphicFramePr>
        <p:xfrm>
          <a:off x="2743200" y="1943101"/>
          <a:ext cx="2057400" cy="685800"/>
        </p:xfrm>
        <a:graphic>
          <a:graphicData uri="http://schemas.openxmlformats.org/presentationml/2006/ole">
            <mc:AlternateContent xmlns:mc="http://schemas.openxmlformats.org/markup-compatibility/2006">
              <mc:Choice xmlns:v="urn:schemas-microsoft-com:vml" Requires="v">
                <p:oleObj r:id="rId2" imgW="863225" imgH="457002" progId="Equation.3">
                  <p:embed/>
                </p:oleObj>
              </mc:Choice>
              <mc:Fallback>
                <p:oleObj r:id="rId2" imgW="863225" imgH="457002"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943101"/>
                        <a:ext cx="2057400" cy="6858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8" name="Rectangle 4">
            <a:extLst>
              <a:ext uri="{FF2B5EF4-FFF2-40B4-BE49-F238E27FC236}">
                <a16:creationId xmlns:a16="http://schemas.microsoft.com/office/drawing/2014/main" id="{CE24B514-5F0B-49FC-8CDE-07A4368FF47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5FAC3E9F-7166-48C3-B7EB-F7270B9CCA7C}"/>
              </a:ext>
            </a:extLst>
          </p:cNvPr>
          <p:cNvGraphicFramePr>
            <a:graphicFrameLocks noChangeAspect="1"/>
          </p:cNvGraphicFramePr>
          <p:nvPr>
            <p:extLst>
              <p:ext uri="{D42A27DB-BD31-4B8C-83A1-F6EECF244321}">
                <p14:modId xmlns:p14="http://schemas.microsoft.com/office/powerpoint/2010/main" val="2588302347"/>
              </p:ext>
            </p:extLst>
          </p:nvPr>
        </p:nvGraphicFramePr>
        <p:xfrm>
          <a:off x="2057400" y="3124200"/>
          <a:ext cx="685800" cy="381000"/>
        </p:xfrm>
        <a:graphic>
          <a:graphicData uri="http://schemas.openxmlformats.org/presentationml/2006/ole">
            <mc:AlternateContent xmlns:mc="http://schemas.openxmlformats.org/markup-compatibility/2006">
              <mc:Choice xmlns:v="urn:schemas-microsoft-com:vml" Requires="v">
                <p:oleObj r:id="rId4" imgW="444114" imgH="266469" progId="Equation.3">
                  <p:embed/>
                </p:oleObj>
              </mc:Choice>
              <mc:Fallback>
                <p:oleObj r:id="rId4" imgW="444114" imgH="26646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3124200"/>
                        <a:ext cx="685800" cy="381000"/>
                      </a:xfrm>
                      <a:prstGeom prst="rect">
                        <a:avLst/>
                      </a:prstGeom>
                      <a:noFill/>
                    </p:spPr>
                  </p:pic>
                </p:oleObj>
              </mc:Fallback>
            </mc:AlternateContent>
          </a:graphicData>
        </a:graphic>
      </p:graphicFrame>
      <p:sp>
        <p:nvSpPr>
          <p:cNvPr id="10" name="Rectangle 6">
            <a:extLst>
              <a:ext uri="{FF2B5EF4-FFF2-40B4-BE49-F238E27FC236}">
                <a16:creationId xmlns:a16="http://schemas.microsoft.com/office/drawing/2014/main" id="{D18BFC51-FDE1-400D-968F-7638663560A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1" name="Object 10">
            <a:extLst>
              <a:ext uri="{FF2B5EF4-FFF2-40B4-BE49-F238E27FC236}">
                <a16:creationId xmlns:a16="http://schemas.microsoft.com/office/drawing/2014/main" id="{A33F79D2-CB74-4B8B-8760-69DA509D1E49}"/>
              </a:ext>
            </a:extLst>
          </p:cNvPr>
          <p:cNvGraphicFramePr>
            <a:graphicFrameLocks noChangeAspect="1"/>
          </p:cNvGraphicFramePr>
          <p:nvPr>
            <p:extLst>
              <p:ext uri="{D42A27DB-BD31-4B8C-83A1-F6EECF244321}">
                <p14:modId xmlns:p14="http://schemas.microsoft.com/office/powerpoint/2010/main" val="3853089312"/>
              </p:ext>
            </p:extLst>
          </p:nvPr>
        </p:nvGraphicFramePr>
        <p:xfrm>
          <a:off x="685800" y="3657600"/>
          <a:ext cx="685800" cy="304800"/>
        </p:xfrm>
        <a:graphic>
          <a:graphicData uri="http://schemas.openxmlformats.org/presentationml/2006/ole">
            <mc:AlternateContent xmlns:mc="http://schemas.openxmlformats.org/markup-compatibility/2006">
              <mc:Choice xmlns:v="urn:schemas-microsoft-com:vml" Requires="v">
                <p:oleObj r:id="rId6" imgW="406224" imgH="228501" progId="Equation.3">
                  <p:embed/>
                </p:oleObj>
              </mc:Choice>
              <mc:Fallback>
                <p:oleObj r:id="rId6" imgW="406224" imgH="228501"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657600"/>
                        <a:ext cx="685800" cy="304800"/>
                      </a:xfrm>
                      <a:prstGeom prst="rect">
                        <a:avLst/>
                      </a:prstGeom>
                      <a:noFill/>
                    </p:spPr>
                  </p:pic>
                </p:oleObj>
              </mc:Fallback>
            </mc:AlternateContent>
          </a:graphicData>
        </a:graphic>
      </p:graphicFrame>
      <p:sp>
        <p:nvSpPr>
          <p:cNvPr id="12" name="Rectangle 8">
            <a:extLst>
              <a:ext uri="{FF2B5EF4-FFF2-40B4-BE49-F238E27FC236}">
                <a16:creationId xmlns:a16="http://schemas.microsoft.com/office/drawing/2014/main" id="{4E830CC6-D332-4D0E-879B-77F514552A3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13" name="Object 12">
            <a:extLst>
              <a:ext uri="{FF2B5EF4-FFF2-40B4-BE49-F238E27FC236}">
                <a16:creationId xmlns:a16="http://schemas.microsoft.com/office/drawing/2014/main" id="{CACD8E4D-E31A-4F4F-B18D-1CA0C258D8F3}"/>
              </a:ext>
            </a:extLst>
          </p:cNvPr>
          <p:cNvGraphicFramePr>
            <a:graphicFrameLocks noChangeAspect="1"/>
          </p:cNvGraphicFramePr>
          <p:nvPr>
            <p:extLst>
              <p:ext uri="{D42A27DB-BD31-4B8C-83A1-F6EECF244321}">
                <p14:modId xmlns:p14="http://schemas.microsoft.com/office/powerpoint/2010/main" val="1654357506"/>
              </p:ext>
            </p:extLst>
          </p:nvPr>
        </p:nvGraphicFramePr>
        <p:xfrm>
          <a:off x="2438400" y="4871208"/>
          <a:ext cx="3581400" cy="1143000"/>
        </p:xfrm>
        <a:graphic>
          <a:graphicData uri="http://schemas.openxmlformats.org/presentationml/2006/ole">
            <mc:AlternateContent xmlns:mc="http://schemas.openxmlformats.org/markup-compatibility/2006">
              <mc:Choice xmlns:v="urn:schemas-microsoft-com:vml" Requires="v">
                <p:oleObj r:id="rId8" imgW="1625600" imgH="685800" progId="Equation.3">
                  <p:embed/>
                </p:oleObj>
              </mc:Choice>
              <mc:Fallback>
                <p:oleObj r:id="rId8" imgW="1625600" imgH="6858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38400" y="4871208"/>
                        <a:ext cx="3581400" cy="11430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226837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E24E6-6318-4E5D-83FC-19A382A3A55A}"/>
              </a:ext>
            </a:extLst>
          </p:cNvPr>
          <p:cNvSpPr>
            <a:spLocks noGrp="1"/>
          </p:cNvSpPr>
          <p:nvPr>
            <p:ph type="title"/>
          </p:nvPr>
        </p:nvSpPr>
        <p:spPr>
          <a:xfrm>
            <a:off x="628650" y="421843"/>
            <a:ext cx="8252114" cy="518388"/>
          </a:xfrm>
        </p:spPr>
        <p:txBody>
          <a:bodyPr/>
          <a:lstStyle/>
          <a:p>
            <a:pPr algn="just"/>
            <a:r>
              <a:rPr lang="en-GB" sz="2800" b="1" dirty="0">
                <a:solidFill>
                  <a:srgbClr val="C00000"/>
                </a:solidFill>
              </a:rPr>
              <a:t>Remedies for Handling Multi-Collinearity </a:t>
            </a:r>
            <a:endParaRPr lang="en-IN" sz="2800" dirty="0">
              <a:solidFill>
                <a:srgbClr val="C00000"/>
              </a:solidFill>
            </a:endParaRPr>
          </a:p>
        </p:txBody>
      </p:sp>
      <p:sp>
        <p:nvSpPr>
          <p:cNvPr id="3" name="Content Placeholder 2">
            <a:extLst>
              <a:ext uri="{FF2B5EF4-FFF2-40B4-BE49-F238E27FC236}">
                <a16:creationId xmlns:a16="http://schemas.microsoft.com/office/drawing/2014/main" id="{6FCC9CBB-18E3-45B9-A58A-FE9FE7DACCB1}"/>
              </a:ext>
            </a:extLst>
          </p:cNvPr>
          <p:cNvSpPr>
            <a:spLocks noGrp="1"/>
          </p:cNvSpPr>
          <p:nvPr>
            <p:ph idx="1"/>
          </p:nvPr>
        </p:nvSpPr>
        <p:spPr>
          <a:xfrm>
            <a:off x="628650" y="1723735"/>
            <a:ext cx="7886700" cy="3457865"/>
          </a:xfrm>
        </p:spPr>
        <p:txBody>
          <a:bodyPr>
            <a:noAutofit/>
          </a:bodyPr>
          <a:lstStyle/>
          <a:p>
            <a:pPr algn="just"/>
            <a:r>
              <a:rPr lang="en-GB" sz="2400" dirty="0"/>
              <a:t>When there are many variables in the data, the data scientists can use </a:t>
            </a:r>
            <a:r>
              <a:rPr lang="en-GB" sz="2400" b="1" dirty="0"/>
              <a:t>Principle Component Analysis</a:t>
            </a:r>
            <a:r>
              <a:rPr lang="en-GB" sz="2400" dirty="0"/>
              <a:t> (PCA) to avoid multi-collinearity.</a:t>
            </a:r>
          </a:p>
          <a:p>
            <a:pPr algn="just"/>
            <a:endParaRPr lang="en-GB" sz="2400" dirty="0"/>
          </a:p>
          <a:p>
            <a:pPr algn="just"/>
            <a:r>
              <a:rPr lang="en-GB" sz="2400" dirty="0"/>
              <a:t>PCA will create orthogonal components and thus remove potential multi-collinearity. In the recent years, authors use advanced regression models such as </a:t>
            </a:r>
            <a:r>
              <a:rPr lang="en-GB" sz="2400" b="1" dirty="0"/>
              <a:t>Ridge regression</a:t>
            </a:r>
            <a:r>
              <a:rPr lang="en-GB" sz="2400" dirty="0"/>
              <a:t> and </a:t>
            </a:r>
            <a:r>
              <a:rPr lang="en-GB" sz="2400" b="1" dirty="0"/>
              <a:t>LASSO regression</a:t>
            </a:r>
            <a:r>
              <a:rPr lang="en-GB" sz="2400" dirty="0"/>
              <a:t> to handle multi-collinearity.  </a:t>
            </a:r>
            <a:endParaRPr lang="en-IN" sz="2400" dirty="0"/>
          </a:p>
          <a:p>
            <a:endParaRPr lang="en-IN" sz="2400" dirty="0"/>
          </a:p>
        </p:txBody>
      </p:sp>
    </p:spTree>
    <p:extLst>
      <p:ext uri="{BB962C8B-B14F-4D97-AF65-F5344CB8AC3E}">
        <p14:creationId xmlns:p14="http://schemas.microsoft.com/office/powerpoint/2010/main" val="63453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B4D8-BBEF-4FB2-92B9-731498348F9F}"/>
              </a:ext>
            </a:extLst>
          </p:cNvPr>
          <p:cNvSpPr>
            <a:spLocks noGrp="1"/>
          </p:cNvSpPr>
          <p:nvPr>
            <p:ph type="title"/>
          </p:nvPr>
        </p:nvSpPr>
        <p:spPr>
          <a:xfrm>
            <a:off x="628650" y="472212"/>
            <a:ext cx="8252114" cy="518388"/>
          </a:xfrm>
        </p:spPr>
        <p:txBody>
          <a:bodyPr/>
          <a:lstStyle/>
          <a:p>
            <a:pPr algn="just"/>
            <a:r>
              <a:rPr lang="en-GB" sz="2400" b="1" dirty="0">
                <a:solidFill>
                  <a:srgbClr val="C00000"/>
                </a:solidFill>
              </a:rPr>
              <a:t>Auto-Correlation</a:t>
            </a:r>
            <a:endParaRPr lang="en-IN" sz="2400" dirty="0">
              <a:solidFill>
                <a:srgbClr val="C00000"/>
              </a:solidFill>
            </a:endParaRPr>
          </a:p>
        </p:txBody>
      </p:sp>
      <p:sp>
        <p:nvSpPr>
          <p:cNvPr id="3" name="Content Placeholder 2">
            <a:extLst>
              <a:ext uri="{FF2B5EF4-FFF2-40B4-BE49-F238E27FC236}">
                <a16:creationId xmlns:a16="http://schemas.microsoft.com/office/drawing/2014/main" id="{0F7DF12A-B221-4838-8C29-98BFEC2D8071}"/>
              </a:ext>
            </a:extLst>
          </p:cNvPr>
          <p:cNvSpPr>
            <a:spLocks noGrp="1"/>
          </p:cNvSpPr>
          <p:nvPr>
            <p:ph idx="1"/>
          </p:nvPr>
        </p:nvSpPr>
        <p:spPr>
          <a:xfrm>
            <a:off x="628650" y="1708496"/>
            <a:ext cx="7886700" cy="1156854"/>
          </a:xfrm>
        </p:spPr>
        <p:txBody>
          <a:bodyPr/>
          <a:lstStyle/>
          <a:p>
            <a:pPr marL="0" indent="0" algn="just">
              <a:buNone/>
            </a:pPr>
            <a:r>
              <a:rPr lang="en-GB" sz="2400" dirty="0"/>
              <a:t>Auto-correlation is the correlation between successive error terms in a time-series data.  Consider a time-series model as defined below:</a:t>
            </a:r>
          </a:p>
          <a:p>
            <a:pPr marL="0" indent="0">
              <a:buNone/>
            </a:pPr>
            <a:endParaRPr lang="en-GB" sz="2400" dirty="0"/>
          </a:p>
          <a:p>
            <a:pPr marL="0" indent="0">
              <a:buNone/>
            </a:pPr>
            <a:endParaRPr lang="en-GB" sz="2400" dirty="0"/>
          </a:p>
          <a:p>
            <a:pPr marL="0" indent="0">
              <a:buNone/>
            </a:pPr>
            <a:endParaRPr lang="en-IN" sz="2400" dirty="0"/>
          </a:p>
          <a:p>
            <a:endParaRPr lang="en-IN" dirty="0"/>
          </a:p>
        </p:txBody>
      </p:sp>
      <p:sp>
        <p:nvSpPr>
          <p:cNvPr id="4" name="Rectangle 2">
            <a:extLst>
              <a:ext uri="{FF2B5EF4-FFF2-40B4-BE49-F238E27FC236}">
                <a16:creationId xmlns:a16="http://schemas.microsoft.com/office/drawing/2014/main" id="{59AA8D02-DDEA-4175-AD0B-DEBB7ED29D0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10352808-8C3F-45FF-A818-9F0243666AD3}"/>
              </a:ext>
            </a:extLst>
          </p:cNvPr>
          <p:cNvGraphicFramePr>
            <a:graphicFrameLocks noChangeAspect="1"/>
          </p:cNvGraphicFramePr>
          <p:nvPr>
            <p:extLst>
              <p:ext uri="{D42A27DB-BD31-4B8C-83A1-F6EECF244321}">
                <p14:modId xmlns:p14="http://schemas.microsoft.com/office/powerpoint/2010/main" val="766220197"/>
              </p:ext>
            </p:extLst>
          </p:nvPr>
        </p:nvGraphicFramePr>
        <p:xfrm>
          <a:off x="2133600" y="3383051"/>
          <a:ext cx="3886200" cy="609600"/>
        </p:xfrm>
        <a:graphic>
          <a:graphicData uri="http://schemas.openxmlformats.org/presentationml/2006/ole">
            <mc:AlternateContent xmlns:mc="http://schemas.openxmlformats.org/markup-compatibility/2006">
              <mc:Choice xmlns:v="urn:schemas-microsoft-com:vml" Requires="v">
                <p:oleObj r:id="rId2" imgW="1231366" imgH="228501" progId="Equation.3">
                  <p:embed/>
                </p:oleObj>
              </mc:Choice>
              <mc:Fallback>
                <p:oleObj r:id="rId2" imgW="1231366" imgH="228501"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383051"/>
                        <a:ext cx="3886200" cy="6096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83712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F87E-A2A5-4D94-9C49-3183B6D58C1F}"/>
              </a:ext>
            </a:extLst>
          </p:cNvPr>
          <p:cNvSpPr>
            <a:spLocks noGrp="1"/>
          </p:cNvSpPr>
          <p:nvPr>
            <p:ph type="title"/>
          </p:nvPr>
        </p:nvSpPr>
        <p:spPr>
          <a:xfrm>
            <a:off x="628650" y="509867"/>
            <a:ext cx="8252114" cy="518388"/>
          </a:xfrm>
        </p:spPr>
        <p:txBody>
          <a:bodyPr/>
          <a:lstStyle/>
          <a:p>
            <a:pPr algn="just"/>
            <a:r>
              <a:rPr lang="en-GB" sz="2800" b="1" dirty="0" err="1">
                <a:solidFill>
                  <a:srgbClr val="C00000"/>
                </a:solidFill>
              </a:rPr>
              <a:t>Durbin</a:t>
            </a:r>
            <a:r>
              <a:rPr lang="en-GB" sz="2800" b="1" dirty="0" err="1">
                <a:solidFill>
                  <a:srgbClr val="C00000"/>
                </a:solidFill>
                <a:sym typeface="Symbol" panose="05050102010706020507" pitchFamily="18" charset="2"/>
              </a:rPr>
              <a:t></a:t>
            </a:r>
            <a:r>
              <a:rPr lang="en-GB" sz="2800" b="1" dirty="0" err="1">
                <a:solidFill>
                  <a:srgbClr val="C00000"/>
                </a:solidFill>
              </a:rPr>
              <a:t>Watson</a:t>
            </a:r>
            <a:r>
              <a:rPr lang="en-GB" sz="2800" b="1" dirty="0">
                <a:solidFill>
                  <a:srgbClr val="C00000"/>
                </a:solidFill>
              </a:rPr>
              <a:t> Test for Auto-Correlation</a:t>
            </a:r>
            <a:endParaRPr lang="en-IN" sz="2800" dirty="0">
              <a:solidFill>
                <a:srgbClr val="C00000"/>
              </a:solidFill>
            </a:endParaRPr>
          </a:p>
        </p:txBody>
      </p:sp>
      <p:sp>
        <p:nvSpPr>
          <p:cNvPr id="3" name="Content Placeholder 2">
            <a:extLst>
              <a:ext uri="{FF2B5EF4-FFF2-40B4-BE49-F238E27FC236}">
                <a16:creationId xmlns:a16="http://schemas.microsoft.com/office/drawing/2014/main" id="{F9C3197E-30A8-4F92-B871-0EB11F3B9942}"/>
              </a:ext>
            </a:extLst>
          </p:cNvPr>
          <p:cNvSpPr>
            <a:spLocks noGrp="1"/>
          </p:cNvSpPr>
          <p:nvPr>
            <p:ph idx="1"/>
          </p:nvPr>
        </p:nvSpPr>
        <p:spPr>
          <a:xfrm>
            <a:off x="628650" y="1205347"/>
            <a:ext cx="7886700" cy="3290453"/>
          </a:xfrm>
        </p:spPr>
        <p:txBody>
          <a:bodyPr/>
          <a:lstStyle/>
          <a:p>
            <a:pPr marL="0" indent="0" algn="just">
              <a:buNone/>
            </a:pPr>
            <a:r>
              <a:rPr lang="en-GB" sz="2400" dirty="0" err="1"/>
              <a:t>Durbin</a:t>
            </a:r>
            <a:r>
              <a:rPr lang="en-GB" sz="2400" dirty="0" err="1">
                <a:sym typeface="Symbol" panose="05050102010706020507" pitchFamily="18" charset="2"/>
              </a:rPr>
              <a:t></a:t>
            </a:r>
            <a:r>
              <a:rPr lang="en-GB" sz="2400" dirty="0" err="1"/>
              <a:t>Watson</a:t>
            </a:r>
            <a:r>
              <a:rPr lang="en-GB" sz="2400" dirty="0"/>
              <a:t> is a hypothesis test to check the existence of auto-correlation (Durbin and Watson, 1950, . Let </a:t>
            </a:r>
            <a:r>
              <a:rPr lang="en-GB" sz="2400" i="1" dirty="0">
                <a:sym typeface="Symbol" panose="05050102010706020507" pitchFamily="18" charset="2"/>
              </a:rPr>
              <a:t></a:t>
            </a:r>
            <a:r>
              <a:rPr lang="en-GB" sz="2400" dirty="0"/>
              <a:t> be the correlation between error terms (</a:t>
            </a:r>
            <a:r>
              <a:rPr lang="en-GB" sz="2400" i="1" dirty="0">
                <a:sym typeface="Symbol" panose="05050102010706020507" pitchFamily="18" charset="2"/>
              </a:rPr>
              <a:t></a:t>
            </a:r>
            <a:r>
              <a:rPr lang="en-GB" sz="2400" i="1" baseline="-25000" dirty="0"/>
              <a:t>t</a:t>
            </a:r>
            <a:r>
              <a:rPr lang="en-GB" sz="2400" dirty="0"/>
              <a:t>, </a:t>
            </a:r>
            <a:r>
              <a:rPr lang="en-GB" sz="2400" i="1" dirty="0">
                <a:sym typeface="Symbol" panose="05050102010706020507" pitchFamily="18" charset="2"/>
              </a:rPr>
              <a:t></a:t>
            </a:r>
            <a:r>
              <a:rPr lang="en-GB" sz="2400" i="1" baseline="-25000" dirty="0"/>
              <a:t>t</a:t>
            </a:r>
            <a:r>
              <a:rPr lang="en-GB" sz="2400" baseline="-25000" dirty="0">
                <a:sym typeface="Symbol" panose="05050102010706020507" pitchFamily="18" charset="2"/>
              </a:rPr>
              <a:t></a:t>
            </a:r>
            <a:r>
              <a:rPr lang="en-GB" sz="2400" baseline="-25000" dirty="0"/>
              <a:t>1</a:t>
            </a:r>
            <a:r>
              <a:rPr lang="en-GB" sz="2400" dirty="0"/>
              <a:t>). The null and alternative hypotheses are stated below:</a:t>
            </a:r>
            <a:endParaRPr lang="en-IN" sz="2400" dirty="0"/>
          </a:p>
          <a:p>
            <a:pPr marL="0" indent="0" algn="just">
              <a:buNone/>
            </a:pPr>
            <a:r>
              <a:rPr lang="en-GB" sz="2400" dirty="0"/>
              <a:t>H0: </a:t>
            </a:r>
            <a:r>
              <a:rPr lang="en-GB" sz="2400" dirty="0">
                <a:sym typeface="Symbol" panose="05050102010706020507" pitchFamily="18" charset="2"/>
              </a:rPr>
              <a:t></a:t>
            </a:r>
            <a:r>
              <a:rPr lang="en-GB" sz="2400" dirty="0"/>
              <a:t> </a:t>
            </a:r>
            <a:r>
              <a:rPr lang="en-GB" sz="2400" dirty="0">
                <a:sym typeface="Symbol" panose="05050102010706020507" pitchFamily="18" charset="2"/>
              </a:rPr>
              <a:t></a:t>
            </a:r>
            <a:r>
              <a:rPr lang="en-GB" sz="2400" dirty="0"/>
              <a:t> 0</a:t>
            </a:r>
            <a:endParaRPr lang="en-IN" sz="2400" dirty="0"/>
          </a:p>
          <a:p>
            <a:pPr marL="0" indent="0" algn="just">
              <a:buNone/>
            </a:pPr>
            <a:r>
              <a:rPr lang="en-GB" sz="2400" dirty="0"/>
              <a:t>H1: </a:t>
            </a:r>
            <a:r>
              <a:rPr lang="en-GB" sz="2400" dirty="0">
                <a:sym typeface="Symbol" panose="05050102010706020507" pitchFamily="18" charset="2"/>
              </a:rPr>
              <a:t></a:t>
            </a:r>
            <a:r>
              <a:rPr lang="en-GB" sz="2400" dirty="0"/>
              <a:t> </a:t>
            </a:r>
            <a:r>
              <a:rPr lang="en-GB" sz="2400" dirty="0">
                <a:sym typeface="Symbol" panose="05050102010706020507" pitchFamily="18" charset="2"/>
              </a:rPr>
              <a:t></a:t>
            </a:r>
            <a:r>
              <a:rPr lang="en-GB" sz="2400" dirty="0"/>
              <a:t> 0</a:t>
            </a:r>
            <a:endParaRPr lang="en-IN" sz="2400" dirty="0"/>
          </a:p>
          <a:p>
            <a:pPr marL="0" indent="0" algn="just">
              <a:buNone/>
            </a:pPr>
            <a:r>
              <a:rPr lang="en-GB" sz="2400" dirty="0"/>
              <a:t>The </a:t>
            </a:r>
            <a:r>
              <a:rPr lang="en-GB" sz="2400" dirty="0" err="1"/>
              <a:t>Durbin</a:t>
            </a:r>
            <a:r>
              <a:rPr lang="en-GB" sz="2400" dirty="0" err="1">
                <a:sym typeface="Symbol" panose="05050102010706020507" pitchFamily="18" charset="2"/>
              </a:rPr>
              <a:t></a:t>
            </a:r>
            <a:r>
              <a:rPr lang="en-GB" sz="2400" dirty="0" err="1"/>
              <a:t>Watson</a:t>
            </a:r>
            <a:r>
              <a:rPr lang="en-GB" sz="2400" dirty="0"/>
              <a:t> statistic, D, for correlation between errors of one lag is given by</a:t>
            </a:r>
            <a:endParaRPr lang="en-IN" sz="2400" dirty="0"/>
          </a:p>
          <a:p>
            <a:endParaRPr lang="en-IN" dirty="0"/>
          </a:p>
        </p:txBody>
      </p:sp>
      <p:sp>
        <p:nvSpPr>
          <p:cNvPr id="4" name="Rectangle 2">
            <a:extLst>
              <a:ext uri="{FF2B5EF4-FFF2-40B4-BE49-F238E27FC236}">
                <a16:creationId xmlns:a16="http://schemas.microsoft.com/office/drawing/2014/main" id="{0C681E71-E6A8-457A-8533-6C7C05657F8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8C4236A8-85E0-4D15-B410-7DD2E41AA405}"/>
              </a:ext>
            </a:extLst>
          </p:cNvPr>
          <p:cNvGraphicFramePr>
            <a:graphicFrameLocks noChangeAspect="1"/>
          </p:cNvGraphicFramePr>
          <p:nvPr>
            <p:extLst>
              <p:ext uri="{D42A27DB-BD31-4B8C-83A1-F6EECF244321}">
                <p14:modId xmlns:p14="http://schemas.microsoft.com/office/powerpoint/2010/main" val="711056688"/>
              </p:ext>
            </p:extLst>
          </p:nvPr>
        </p:nvGraphicFramePr>
        <p:xfrm>
          <a:off x="1676400" y="5004953"/>
          <a:ext cx="4724400" cy="1295400"/>
        </p:xfrm>
        <a:graphic>
          <a:graphicData uri="http://schemas.openxmlformats.org/presentationml/2006/ole">
            <mc:AlternateContent xmlns:mc="http://schemas.openxmlformats.org/markup-compatibility/2006">
              <mc:Choice xmlns:v="urn:schemas-microsoft-com:vml" Requires="v">
                <p:oleObj r:id="rId2" imgW="2235200" imgH="889000" progId="Equation.3">
                  <p:embed/>
                </p:oleObj>
              </mc:Choice>
              <mc:Fallback>
                <p:oleObj r:id="rId2" imgW="2235200" imgH="889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5004953"/>
                        <a:ext cx="4724400" cy="12954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9651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0"/>
                                        <p:tgtEl>
                                          <p:spTgt spid="5"/>
                                        </p:tgtEl>
                                      </p:cBhvr>
                                    </p:animEffect>
                                    <p:anim calcmode="lin" valueType="num">
                                      <p:cBhvr>
                                        <p:cTn id="41" dur="1000" fill="hold"/>
                                        <p:tgtEl>
                                          <p:spTgt spid="5"/>
                                        </p:tgtEl>
                                        <p:attrNameLst>
                                          <p:attrName>ppt_x</p:attrName>
                                        </p:attrNameLst>
                                      </p:cBhvr>
                                      <p:tavLst>
                                        <p:tav tm="0">
                                          <p:val>
                                            <p:strVal val="#ppt_x"/>
                                          </p:val>
                                        </p:tav>
                                        <p:tav tm="100000">
                                          <p:val>
                                            <p:strVal val="#ppt_x"/>
                                          </p:val>
                                        </p:tav>
                                      </p:tavLst>
                                    </p:anim>
                                    <p:anim calcmode="lin" valueType="num">
                                      <p:cBhvr>
                                        <p:cTn id="4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ADCED-487D-488B-A207-7D494F1EFC4B}"/>
              </a:ext>
            </a:extLst>
          </p:cNvPr>
          <p:cNvSpPr>
            <a:spLocks noGrp="1"/>
          </p:cNvSpPr>
          <p:nvPr>
            <p:ph idx="4294967295"/>
          </p:nvPr>
        </p:nvSpPr>
        <p:spPr>
          <a:xfrm>
            <a:off x="342900" y="1143000"/>
            <a:ext cx="8458200" cy="4191000"/>
          </a:xfrm>
        </p:spPr>
        <p:txBody>
          <a:bodyPr/>
          <a:lstStyle/>
          <a:p>
            <a:pPr marL="0" indent="0" algn="just">
              <a:buNone/>
            </a:pPr>
            <a:r>
              <a:rPr lang="en-GB" sz="2400" dirty="0"/>
              <a:t>The </a:t>
            </a:r>
            <a:r>
              <a:rPr lang="en-GB" sz="2400" dirty="0" err="1"/>
              <a:t>Durbin</a:t>
            </a:r>
            <a:r>
              <a:rPr lang="en-GB" sz="2400" dirty="0" err="1">
                <a:sym typeface="Symbol" panose="05050102010706020507" pitchFamily="18" charset="2"/>
              </a:rPr>
              <a:t></a:t>
            </a:r>
            <a:r>
              <a:rPr lang="en-GB" sz="2400" dirty="0" err="1"/>
              <a:t>Watson</a:t>
            </a:r>
            <a:r>
              <a:rPr lang="en-GB" sz="2400" dirty="0"/>
              <a:t> test has two critical values, </a:t>
            </a:r>
            <a:r>
              <a:rPr lang="en-GB" sz="2400" i="1" dirty="0"/>
              <a:t>D</a:t>
            </a:r>
            <a:r>
              <a:rPr lang="en-GB" sz="2400" i="1" baseline="-25000" dirty="0"/>
              <a:t>L</a:t>
            </a:r>
            <a:r>
              <a:rPr lang="en-GB" sz="2400" dirty="0"/>
              <a:t> and </a:t>
            </a:r>
            <a:r>
              <a:rPr lang="en-GB" sz="2400" i="1" dirty="0"/>
              <a:t>D</a:t>
            </a:r>
            <a:r>
              <a:rPr lang="en-GB" sz="2400" i="1" baseline="-25000" dirty="0"/>
              <a:t>U</a:t>
            </a:r>
            <a:r>
              <a:rPr lang="en-GB" sz="2400" dirty="0"/>
              <a:t>. The inference of the test can be made based on the following conditions:</a:t>
            </a:r>
          </a:p>
          <a:p>
            <a:pPr lvl="0" algn="just"/>
            <a:r>
              <a:rPr lang="en-GB" sz="2400" dirty="0"/>
              <a:t>If </a:t>
            </a:r>
            <a:r>
              <a:rPr lang="en-GB" sz="2400" i="1" dirty="0"/>
              <a:t>D</a:t>
            </a:r>
            <a:r>
              <a:rPr lang="en-GB" sz="2400" dirty="0"/>
              <a:t> &lt; </a:t>
            </a:r>
            <a:r>
              <a:rPr lang="en-GB" sz="2400" i="1" dirty="0"/>
              <a:t>D</a:t>
            </a:r>
            <a:r>
              <a:rPr lang="en-GB" sz="2400" i="1" baseline="-25000" dirty="0"/>
              <a:t>L</a:t>
            </a:r>
            <a:r>
              <a:rPr lang="en-GB" sz="2400" dirty="0"/>
              <a:t>, then the errors are positively correlated.</a:t>
            </a:r>
            <a:endParaRPr lang="en-IN" sz="2400" dirty="0"/>
          </a:p>
          <a:p>
            <a:pPr lvl="0" algn="just"/>
            <a:r>
              <a:rPr lang="en-GB" sz="2400" dirty="0"/>
              <a:t>If </a:t>
            </a:r>
            <a:r>
              <a:rPr lang="en-GB" sz="2400" i="1" dirty="0"/>
              <a:t>D</a:t>
            </a:r>
            <a:r>
              <a:rPr lang="en-GB" sz="2400" dirty="0"/>
              <a:t> &gt; </a:t>
            </a:r>
            <a:r>
              <a:rPr lang="en-GB" sz="2400" i="1" dirty="0"/>
              <a:t>D</a:t>
            </a:r>
            <a:r>
              <a:rPr lang="en-GB" sz="2400" i="1" baseline="-25000" dirty="0"/>
              <a:t>L</a:t>
            </a:r>
            <a:r>
              <a:rPr lang="en-GB" sz="2400" dirty="0"/>
              <a:t>, then there is no evidence for positive auto-correlation.</a:t>
            </a:r>
            <a:endParaRPr lang="en-IN" sz="2400" dirty="0"/>
          </a:p>
          <a:p>
            <a:pPr lvl="0" algn="just"/>
            <a:r>
              <a:rPr lang="en-GB" sz="2400" dirty="0"/>
              <a:t>If </a:t>
            </a:r>
            <a:r>
              <a:rPr lang="en-GB" sz="2400" i="1" dirty="0"/>
              <a:t>D</a:t>
            </a:r>
            <a:r>
              <a:rPr lang="en-GB" sz="2400" i="1" baseline="-25000" dirty="0"/>
              <a:t>L</a:t>
            </a:r>
            <a:r>
              <a:rPr lang="en-GB" sz="2400" dirty="0"/>
              <a:t> &lt; </a:t>
            </a:r>
            <a:r>
              <a:rPr lang="en-GB" sz="2400" i="1" dirty="0"/>
              <a:t>D</a:t>
            </a:r>
            <a:r>
              <a:rPr lang="en-GB" sz="2400" dirty="0"/>
              <a:t> &lt; </a:t>
            </a:r>
            <a:r>
              <a:rPr lang="en-GB" sz="2400" i="1" dirty="0"/>
              <a:t>D</a:t>
            </a:r>
            <a:r>
              <a:rPr lang="en-GB" sz="2400" i="1" baseline="-25000" dirty="0"/>
              <a:t>U</a:t>
            </a:r>
            <a:r>
              <a:rPr lang="en-GB" sz="2400" dirty="0"/>
              <a:t>, the </a:t>
            </a:r>
            <a:r>
              <a:rPr lang="en-GB" sz="2400" dirty="0" err="1"/>
              <a:t>Durbin</a:t>
            </a:r>
            <a:r>
              <a:rPr lang="en-GB" sz="2400" dirty="0" err="1">
                <a:sym typeface="Symbol" panose="05050102010706020507" pitchFamily="18" charset="2"/>
              </a:rPr>
              <a:t></a:t>
            </a:r>
            <a:r>
              <a:rPr lang="en-GB" sz="2400" dirty="0" err="1"/>
              <a:t>Watson</a:t>
            </a:r>
            <a:r>
              <a:rPr lang="en-GB" sz="2400" dirty="0"/>
              <a:t> test is inconclusive.</a:t>
            </a:r>
            <a:endParaRPr lang="en-IN" sz="2400" dirty="0"/>
          </a:p>
          <a:p>
            <a:pPr lvl="0" algn="just"/>
            <a:r>
              <a:rPr lang="en-GB" sz="2400" dirty="0"/>
              <a:t>If (4 </a:t>
            </a:r>
            <a:r>
              <a:rPr lang="en-GB" sz="2400" dirty="0">
                <a:sym typeface="Symbol" panose="05050102010706020507" pitchFamily="18" charset="2"/>
              </a:rPr>
              <a:t></a:t>
            </a:r>
            <a:r>
              <a:rPr lang="en-GB" sz="2400" dirty="0"/>
              <a:t> </a:t>
            </a:r>
            <a:r>
              <a:rPr lang="en-GB" sz="2400" i="1" dirty="0"/>
              <a:t>D</a:t>
            </a:r>
            <a:r>
              <a:rPr lang="en-GB" sz="2400" dirty="0"/>
              <a:t>) &lt; </a:t>
            </a:r>
            <a:r>
              <a:rPr lang="en-GB" sz="2400" i="1" dirty="0"/>
              <a:t>D</a:t>
            </a:r>
            <a:r>
              <a:rPr lang="en-GB" sz="2400" i="1" baseline="-25000" dirty="0"/>
              <a:t>L</a:t>
            </a:r>
            <a:r>
              <a:rPr lang="en-GB" sz="2400" dirty="0"/>
              <a:t>, then errors are negatively correlated.</a:t>
            </a:r>
            <a:endParaRPr lang="en-IN" sz="2400" dirty="0"/>
          </a:p>
          <a:p>
            <a:pPr lvl="0" algn="just"/>
            <a:r>
              <a:rPr lang="en-GB" sz="2400" dirty="0"/>
              <a:t>If (4 </a:t>
            </a:r>
            <a:r>
              <a:rPr lang="en-GB" sz="2400" dirty="0">
                <a:sym typeface="Symbol" panose="05050102010706020507" pitchFamily="18" charset="2"/>
              </a:rPr>
              <a:t></a:t>
            </a:r>
            <a:r>
              <a:rPr lang="en-GB" sz="2400" dirty="0"/>
              <a:t> </a:t>
            </a:r>
            <a:r>
              <a:rPr lang="en-GB" sz="2400" i="1" dirty="0"/>
              <a:t>D</a:t>
            </a:r>
            <a:r>
              <a:rPr lang="en-GB" sz="2400" dirty="0"/>
              <a:t>) &gt; </a:t>
            </a:r>
            <a:r>
              <a:rPr lang="en-GB" sz="2400" i="1" dirty="0"/>
              <a:t>D</a:t>
            </a:r>
            <a:r>
              <a:rPr lang="en-GB" sz="2400" i="1" baseline="-25000" dirty="0"/>
              <a:t>U</a:t>
            </a:r>
            <a:r>
              <a:rPr lang="en-GB" sz="2400" dirty="0"/>
              <a:t>, there is no evidence for negative auto-correlation.</a:t>
            </a:r>
            <a:endParaRPr lang="en-IN" sz="2400" dirty="0"/>
          </a:p>
          <a:p>
            <a:pPr lvl="0" algn="just"/>
            <a:r>
              <a:rPr lang="en-GB" sz="2400" dirty="0"/>
              <a:t>If </a:t>
            </a:r>
            <a:r>
              <a:rPr lang="en-GB" sz="2400" i="1" dirty="0"/>
              <a:t>D</a:t>
            </a:r>
            <a:r>
              <a:rPr lang="en-GB" sz="2400" i="1" baseline="-25000" dirty="0"/>
              <a:t>L</a:t>
            </a:r>
            <a:r>
              <a:rPr lang="en-GB" sz="2400" dirty="0"/>
              <a:t> &lt; (4 </a:t>
            </a:r>
            <a:r>
              <a:rPr lang="en-GB" sz="2400" dirty="0">
                <a:sym typeface="Symbol" panose="05050102010706020507" pitchFamily="18" charset="2"/>
              </a:rPr>
              <a:t></a:t>
            </a:r>
            <a:r>
              <a:rPr lang="en-GB" sz="2400" dirty="0"/>
              <a:t> </a:t>
            </a:r>
            <a:r>
              <a:rPr lang="en-GB" sz="2400" i="1" dirty="0"/>
              <a:t>D</a:t>
            </a:r>
            <a:r>
              <a:rPr lang="en-GB" sz="2400" dirty="0"/>
              <a:t>) &lt; </a:t>
            </a:r>
            <a:r>
              <a:rPr lang="en-GB" sz="2400" i="1" dirty="0"/>
              <a:t>D</a:t>
            </a:r>
            <a:r>
              <a:rPr lang="en-GB" sz="2400" i="1" baseline="-25000" dirty="0"/>
              <a:t>U</a:t>
            </a:r>
            <a:r>
              <a:rPr lang="en-GB" sz="2400" dirty="0"/>
              <a:t>, the test is inconclusive.</a:t>
            </a:r>
            <a:endParaRPr lang="en-IN" sz="2400" dirty="0"/>
          </a:p>
          <a:p>
            <a:pPr marL="0" indent="0">
              <a:buNone/>
            </a:pPr>
            <a:endParaRPr lang="en-IN" sz="2400" dirty="0"/>
          </a:p>
          <a:p>
            <a:endParaRPr lang="en-IN" dirty="0"/>
          </a:p>
        </p:txBody>
      </p:sp>
    </p:spTree>
    <p:extLst>
      <p:ext uri="{BB962C8B-B14F-4D97-AF65-F5344CB8AC3E}">
        <p14:creationId xmlns:p14="http://schemas.microsoft.com/office/powerpoint/2010/main" val="82175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5A04C-7107-4522-AB24-F62239BE3ACB}"/>
              </a:ext>
            </a:extLst>
          </p:cNvPr>
          <p:cNvSpPr>
            <a:spLocks noGrp="1"/>
          </p:cNvSpPr>
          <p:nvPr>
            <p:ph type="title"/>
          </p:nvPr>
        </p:nvSpPr>
        <p:spPr>
          <a:xfrm>
            <a:off x="628650" y="304800"/>
            <a:ext cx="8252114" cy="685800"/>
          </a:xfrm>
        </p:spPr>
        <p:txBody>
          <a:bodyPr/>
          <a:lstStyle/>
          <a:p>
            <a:pPr algn="ctr"/>
            <a:r>
              <a:rPr lang="en-US" sz="2800" b="1" dirty="0">
                <a:solidFill>
                  <a:srgbClr val="C00000"/>
                </a:solidFill>
              </a:rPr>
              <a:t>Distance Measures and Outliers Diagnostics</a:t>
            </a:r>
            <a:endParaRPr lang="en-IN" sz="2800" b="1" dirty="0">
              <a:solidFill>
                <a:srgbClr val="C00000"/>
              </a:solidFill>
            </a:endParaRPr>
          </a:p>
        </p:txBody>
      </p:sp>
      <p:sp>
        <p:nvSpPr>
          <p:cNvPr id="3" name="Content Placeholder 2">
            <a:extLst>
              <a:ext uri="{FF2B5EF4-FFF2-40B4-BE49-F238E27FC236}">
                <a16:creationId xmlns:a16="http://schemas.microsoft.com/office/drawing/2014/main" id="{594F62F8-2644-4AFB-B406-BEEBC927385D}"/>
              </a:ext>
            </a:extLst>
          </p:cNvPr>
          <p:cNvSpPr>
            <a:spLocks noGrp="1"/>
          </p:cNvSpPr>
          <p:nvPr>
            <p:ph idx="1"/>
          </p:nvPr>
        </p:nvSpPr>
        <p:spPr>
          <a:xfrm>
            <a:off x="628650" y="1295400"/>
            <a:ext cx="7886700" cy="4495800"/>
          </a:xfrm>
        </p:spPr>
        <p:txBody>
          <a:bodyPr>
            <a:noAutofit/>
          </a:bodyPr>
          <a:lstStyle/>
          <a:p>
            <a:pPr marL="0" indent="0" algn="just">
              <a:buNone/>
            </a:pPr>
            <a:r>
              <a:rPr lang="en-GB" sz="2400" dirty="0"/>
              <a:t>The following distance measures are used for diagnosing the outliers and influential observations in MLR model.</a:t>
            </a:r>
          </a:p>
          <a:p>
            <a:pPr marL="0" indent="0" algn="just">
              <a:buNone/>
            </a:pPr>
            <a:endParaRPr lang="en-IN" sz="2400" dirty="0"/>
          </a:p>
          <a:p>
            <a:pPr lvl="0" algn="just">
              <a:buFont typeface="Wingdings" panose="05000000000000000000" pitchFamily="2" charset="2"/>
              <a:buChar char="q"/>
            </a:pPr>
            <a:r>
              <a:rPr lang="en-GB" sz="2400" dirty="0"/>
              <a:t> </a:t>
            </a:r>
            <a:r>
              <a:rPr lang="en-GB" sz="2400" dirty="0" err="1"/>
              <a:t>Mahalanobis</a:t>
            </a:r>
            <a:r>
              <a:rPr lang="en-GB" sz="2400" dirty="0"/>
              <a:t> Distance</a:t>
            </a:r>
          </a:p>
          <a:p>
            <a:pPr lvl="0" algn="just">
              <a:buFont typeface="Wingdings" panose="05000000000000000000" pitchFamily="2" charset="2"/>
              <a:buChar char="q"/>
            </a:pPr>
            <a:endParaRPr lang="en-IN" sz="2400" dirty="0"/>
          </a:p>
          <a:p>
            <a:pPr lvl="0" algn="just">
              <a:buFont typeface="Wingdings" panose="05000000000000000000" pitchFamily="2" charset="2"/>
              <a:buChar char="q"/>
            </a:pPr>
            <a:r>
              <a:rPr lang="en-GB" sz="2400" dirty="0"/>
              <a:t> Cook’s Distance</a:t>
            </a:r>
          </a:p>
          <a:p>
            <a:pPr lvl="0" algn="just">
              <a:buFont typeface="Wingdings" panose="05000000000000000000" pitchFamily="2" charset="2"/>
              <a:buChar char="q"/>
            </a:pPr>
            <a:endParaRPr lang="en-IN" sz="2400" dirty="0"/>
          </a:p>
          <a:p>
            <a:pPr lvl="0" algn="just">
              <a:buFont typeface="Wingdings" panose="05000000000000000000" pitchFamily="2" charset="2"/>
              <a:buChar char="q"/>
            </a:pPr>
            <a:r>
              <a:rPr lang="en-GB" sz="2400" dirty="0"/>
              <a:t> Leverage Values</a:t>
            </a:r>
          </a:p>
          <a:p>
            <a:pPr lvl="0" algn="just">
              <a:buFont typeface="Wingdings" panose="05000000000000000000" pitchFamily="2" charset="2"/>
              <a:buChar char="q"/>
            </a:pPr>
            <a:endParaRPr lang="en-IN" sz="2400" dirty="0"/>
          </a:p>
          <a:p>
            <a:pPr lvl="0" algn="just">
              <a:buFont typeface="Wingdings" panose="05000000000000000000" pitchFamily="2" charset="2"/>
              <a:buChar char="q"/>
            </a:pPr>
            <a:r>
              <a:rPr lang="en-GB" sz="2400" dirty="0"/>
              <a:t> DFFIT and DFBETA Values</a:t>
            </a:r>
            <a:endParaRPr lang="en-IN" sz="2400" dirty="0"/>
          </a:p>
          <a:p>
            <a:endParaRPr lang="en-IN" dirty="0"/>
          </a:p>
        </p:txBody>
      </p:sp>
    </p:spTree>
    <p:extLst>
      <p:ext uri="{BB962C8B-B14F-4D97-AF65-F5344CB8AC3E}">
        <p14:creationId xmlns:p14="http://schemas.microsoft.com/office/powerpoint/2010/main" val="362799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anim calcmode="lin" valueType="num">
                                      <p:cBhvr>
                                        <p:cTn id="3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1000"/>
                                        <p:tgtEl>
                                          <p:spTgt spid="3">
                                            <p:txEl>
                                              <p:pRg st="8" end="8"/>
                                            </p:txEl>
                                          </p:spTgt>
                                        </p:tgtEl>
                                      </p:cBhvr>
                                    </p:animEffect>
                                    <p:anim calcmode="lin" valueType="num">
                                      <p:cBhvr>
                                        <p:cTn id="4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7F6AA-449B-4172-AC64-C667817B8B08}"/>
              </a:ext>
            </a:extLst>
          </p:cNvPr>
          <p:cNvSpPr>
            <a:spLocks noGrp="1"/>
          </p:cNvSpPr>
          <p:nvPr>
            <p:ph type="title"/>
          </p:nvPr>
        </p:nvSpPr>
        <p:spPr>
          <a:xfrm>
            <a:off x="607548" y="514784"/>
            <a:ext cx="8252114" cy="518388"/>
          </a:xfrm>
        </p:spPr>
        <p:txBody>
          <a:bodyPr/>
          <a:lstStyle/>
          <a:p>
            <a:pPr algn="just"/>
            <a:r>
              <a:rPr lang="en-GB" sz="3200" b="1" dirty="0" err="1">
                <a:solidFill>
                  <a:srgbClr val="C00000"/>
                </a:solidFill>
              </a:rPr>
              <a:t>Mahalanobis</a:t>
            </a:r>
            <a:r>
              <a:rPr lang="en-GB" sz="3200" b="1" dirty="0">
                <a:solidFill>
                  <a:srgbClr val="C00000"/>
                </a:solidFill>
              </a:rPr>
              <a:t> Distance</a:t>
            </a:r>
            <a:endParaRPr lang="en-IN" sz="3200" dirty="0">
              <a:solidFill>
                <a:srgbClr val="C00000"/>
              </a:solidFill>
            </a:endParaRPr>
          </a:p>
        </p:txBody>
      </p:sp>
      <p:sp>
        <p:nvSpPr>
          <p:cNvPr id="3" name="Content Placeholder 2">
            <a:extLst>
              <a:ext uri="{FF2B5EF4-FFF2-40B4-BE49-F238E27FC236}">
                <a16:creationId xmlns:a16="http://schemas.microsoft.com/office/drawing/2014/main" id="{D3208314-326E-4FF5-AA45-C0947711002D}"/>
              </a:ext>
            </a:extLst>
          </p:cNvPr>
          <p:cNvSpPr>
            <a:spLocks noGrp="1"/>
          </p:cNvSpPr>
          <p:nvPr>
            <p:ph idx="1"/>
          </p:nvPr>
        </p:nvSpPr>
        <p:spPr>
          <a:xfrm>
            <a:off x="628650" y="1425710"/>
            <a:ext cx="7886700" cy="3061853"/>
          </a:xfrm>
        </p:spPr>
        <p:txBody>
          <a:bodyPr/>
          <a:lstStyle/>
          <a:p>
            <a:pPr algn="just"/>
            <a:r>
              <a:rPr lang="en-GB" sz="2400" dirty="0" err="1"/>
              <a:t>Mahalanobis</a:t>
            </a:r>
            <a:r>
              <a:rPr lang="en-GB" sz="2400" dirty="0"/>
              <a:t> distance (1936) is a distance between a specific observation and the centroid of all observations of the predictor variables. </a:t>
            </a:r>
          </a:p>
          <a:p>
            <a:pPr algn="just"/>
            <a:r>
              <a:rPr lang="en-GB" sz="2400" dirty="0" err="1"/>
              <a:t>Mahalanobis</a:t>
            </a:r>
            <a:r>
              <a:rPr lang="en-GB" sz="2400" dirty="0"/>
              <a:t> distance overcomes the drawbacks of Euclidian distance while measuring distances between multivariate data.</a:t>
            </a:r>
          </a:p>
          <a:p>
            <a:pPr algn="just"/>
            <a:r>
              <a:rPr lang="en-GB" sz="2400" dirty="0"/>
              <a:t>Mathematically, </a:t>
            </a:r>
            <a:r>
              <a:rPr lang="en-GB" sz="2400" dirty="0" err="1"/>
              <a:t>Mahalanobis</a:t>
            </a:r>
            <a:r>
              <a:rPr lang="en-GB" sz="2400" dirty="0"/>
              <a:t> distance, DM, is given by (Warrant et al. 2011)</a:t>
            </a:r>
            <a:endParaRPr lang="en-IN" sz="2400" dirty="0"/>
          </a:p>
          <a:p>
            <a:endParaRPr lang="en-IN" sz="1800" dirty="0"/>
          </a:p>
        </p:txBody>
      </p:sp>
      <p:sp>
        <p:nvSpPr>
          <p:cNvPr id="4" name="Rectangle 2">
            <a:extLst>
              <a:ext uri="{FF2B5EF4-FFF2-40B4-BE49-F238E27FC236}">
                <a16:creationId xmlns:a16="http://schemas.microsoft.com/office/drawing/2014/main" id="{11641892-4843-4464-A496-E073F72955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03B1D138-2BBE-4FD8-9569-EB006F0B61F7}"/>
              </a:ext>
            </a:extLst>
          </p:cNvPr>
          <p:cNvGraphicFramePr>
            <a:graphicFrameLocks noChangeAspect="1"/>
          </p:cNvGraphicFramePr>
          <p:nvPr>
            <p:extLst>
              <p:ext uri="{D42A27DB-BD31-4B8C-83A1-F6EECF244321}">
                <p14:modId xmlns:p14="http://schemas.microsoft.com/office/powerpoint/2010/main" val="607931883"/>
              </p:ext>
            </p:extLst>
          </p:nvPr>
        </p:nvGraphicFramePr>
        <p:xfrm>
          <a:off x="1981200" y="4880102"/>
          <a:ext cx="4419600" cy="762000"/>
        </p:xfrm>
        <a:graphic>
          <a:graphicData uri="http://schemas.openxmlformats.org/presentationml/2006/ole">
            <mc:AlternateContent xmlns:mc="http://schemas.openxmlformats.org/markup-compatibility/2006">
              <mc:Choice xmlns:v="urn:schemas-microsoft-com:vml" Requires="v">
                <p:oleObj r:id="rId2" imgW="2247900" imgH="317500" progId="Equation.3">
                  <p:embed/>
                </p:oleObj>
              </mc:Choice>
              <mc:Fallback>
                <p:oleObj r:id="rId2" imgW="2247900" imgH="3175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880102"/>
                        <a:ext cx="4419600" cy="7620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21174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529D7-34FB-4423-93BC-98BEEA751946}"/>
              </a:ext>
            </a:extLst>
          </p:cNvPr>
          <p:cNvSpPr>
            <a:spLocks noGrp="1"/>
          </p:cNvSpPr>
          <p:nvPr>
            <p:ph type="title"/>
          </p:nvPr>
        </p:nvSpPr>
        <p:spPr>
          <a:xfrm>
            <a:off x="612238" y="484190"/>
            <a:ext cx="8252114" cy="518388"/>
          </a:xfrm>
        </p:spPr>
        <p:txBody>
          <a:bodyPr/>
          <a:lstStyle/>
          <a:p>
            <a:pPr algn="l"/>
            <a:r>
              <a:rPr lang="en-GB" sz="2800" b="1" dirty="0">
                <a:solidFill>
                  <a:srgbClr val="C00000"/>
                </a:solidFill>
              </a:rPr>
              <a:t>Cook’s Distance</a:t>
            </a:r>
            <a:endParaRPr lang="en-IN" sz="2800" dirty="0">
              <a:solidFill>
                <a:srgbClr val="C00000"/>
              </a:solidFill>
            </a:endParaRPr>
          </a:p>
        </p:txBody>
      </p:sp>
      <p:sp>
        <p:nvSpPr>
          <p:cNvPr id="3" name="Content Placeholder 2">
            <a:extLst>
              <a:ext uri="{FF2B5EF4-FFF2-40B4-BE49-F238E27FC236}">
                <a16:creationId xmlns:a16="http://schemas.microsoft.com/office/drawing/2014/main" id="{12FBBC49-E831-42B6-B4CD-8A31CD2D39D6}"/>
              </a:ext>
            </a:extLst>
          </p:cNvPr>
          <p:cNvSpPr>
            <a:spLocks noGrp="1"/>
          </p:cNvSpPr>
          <p:nvPr>
            <p:ph idx="1"/>
          </p:nvPr>
        </p:nvSpPr>
        <p:spPr>
          <a:xfrm>
            <a:off x="587086" y="1205347"/>
            <a:ext cx="8252114" cy="2985653"/>
          </a:xfrm>
        </p:spPr>
        <p:txBody>
          <a:bodyPr/>
          <a:lstStyle/>
          <a:p>
            <a:r>
              <a:rPr lang="en-GB" sz="2400" dirty="0"/>
              <a:t>Cook’s distance (Cook, 1977) measures the change in the regression parameters and thus how much the predicted value of the dependent variable changes for all the observations in the sample when a particular observation is excluded from sample for the estimation of regression parameters. </a:t>
            </a:r>
          </a:p>
          <a:p>
            <a:endParaRPr lang="en-GB" sz="2400" dirty="0"/>
          </a:p>
          <a:p>
            <a:r>
              <a:rPr lang="en-GB" sz="2400" dirty="0"/>
              <a:t>Cook’s distance for multiple linear regression is given by (Bingham 1977, Chatterjee and </a:t>
            </a:r>
            <a:r>
              <a:rPr lang="en-GB" sz="2400" dirty="0" err="1"/>
              <a:t>Hadi</a:t>
            </a:r>
            <a:r>
              <a:rPr lang="en-GB" sz="2400" dirty="0"/>
              <a:t> 1986)</a:t>
            </a:r>
            <a:endParaRPr lang="en-IN" sz="2400" dirty="0"/>
          </a:p>
          <a:p>
            <a:endParaRPr lang="en-IN" sz="2400" dirty="0"/>
          </a:p>
        </p:txBody>
      </p:sp>
      <p:sp>
        <p:nvSpPr>
          <p:cNvPr id="4" name="Rectangle 2">
            <a:extLst>
              <a:ext uri="{FF2B5EF4-FFF2-40B4-BE49-F238E27FC236}">
                <a16:creationId xmlns:a16="http://schemas.microsoft.com/office/drawing/2014/main" id="{3D2285B2-0794-4474-B5E1-0536DF022F6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D766305E-4685-4B86-8EC6-7085ECB65436}"/>
              </a:ext>
            </a:extLst>
          </p:cNvPr>
          <p:cNvGraphicFramePr>
            <a:graphicFrameLocks noChangeAspect="1"/>
          </p:cNvGraphicFramePr>
          <p:nvPr>
            <p:extLst>
              <p:ext uri="{D42A27DB-BD31-4B8C-83A1-F6EECF244321}">
                <p14:modId xmlns:p14="http://schemas.microsoft.com/office/powerpoint/2010/main" val="486096429"/>
              </p:ext>
            </p:extLst>
          </p:nvPr>
        </p:nvGraphicFramePr>
        <p:xfrm>
          <a:off x="1981200" y="4536616"/>
          <a:ext cx="4419600" cy="1143000"/>
        </p:xfrm>
        <a:graphic>
          <a:graphicData uri="http://schemas.openxmlformats.org/presentationml/2006/ole">
            <mc:AlternateContent xmlns:mc="http://schemas.openxmlformats.org/markup-compatibility/2006">
              <mc:Choice xmlns:v="urn:schemas-microsoft-com:vml" Requires="v">
                <p:oleObj r:id="rId2" imgW="1905000" imgH="762000" progId="Equation.3">
                  <p:embed/>
                </p:oleObj>
              </mc:Choice>
              <mc:Fallback>
                <p:oleObj r:id="rId2" imgW="1905000" imgH="762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536616"/>
                        <a:ext cx="4419600" cy="11430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160111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2937-5BDC-4915-8813-8FE0CFE288D7}"/>
              </a:ext>
            </a:extLst>
          </p:cNvPr>
          <p:cNvSpPr>
            <a:spLocks noGrp="1"/>
          </p:cNvSpPr>
          <p:nvPr>
            <p:ph type="title"/>
          </p:nvPr>
        </p:nvSpPr>
        <p:spPr>
          <a:xfrm>
            <a:off x="628650" y="421843"/>
            <a:ext cx="8252114" cy="518388"/>
          </a:xfrm>
        </p:spPr>
        <p:txBody>
          <a:bodyPr/>
          <a:lstStyle/>
          <a:p>
            <a:pPr algn="just"/>
            <a:br>
              <a:rPr lang="en-GB" sz="3200" b="1" dirty="0">
                <a:solidFill>
                  <a:srgbClr val="C00000"/>
                </a:solidFill>
              </a:rPr>
            </a:br>
            <a:r>
              <a:rPr lang="en-GB" sz="3200" b="1" dirty="0">
                <a:solidFill>
                  <a:srgbClr val="C00000"/>
                </a:solidFill>
              </a:rPr>
              <a:t>Leverage Value (or Hat Value)</a:t>
            </a:r>
            <a:br>
              <a:rPr lang="en-IN" sz="3200" dirty="0">
                <a:solidFill>
                  <a:srgbClr val="C00000"/>
                </a:solidFill>
              </a:rPr>
            </a:br>
            <a:endParaRPr lang="en-IN" sz="3200" dirty="0">
              <a:solidFill>
                <a:srgbClr val="C00000"/>
              </a:solidFill>
            </a:endParaRPr>
          </a:p>
        </p:txBody>
      </p:sp>
      <p:sp>
        <p:nvSpPr>
          <p:cNvPr id="3" name="Content Placeholder 2">
            <a:extLst>
              <a:ext uri="{FF2B5EF4-FFF2-40B4-BE49-F238E27FC236}">
                <a16:creationId xmlns:a16="http://schemas.microsoft.com/office/drawing/2014/main" id="{6A2FBCC2-C389-474A-9008-237295F1E842}"/>
              </a:ext>
            </a:extLst>
          </p:cNvPr>
          <p:cNvSpPr>
            <a:spLocks noGrp="1"/>
          </p:cNvSpPr>
          <p:nvPr>
            <p:ph idx="1"/>
          </p:nvPr>
        </p:nvSpPr>
        <p:spPr>
          <a:xfrm>
            <a:off x="628650" y="1205347"/>
            <a:ext cx="7981950" cy="4971616"/>
          </a:xfrm>
        </p:spPr>
        <p:txBody>
          <a:bodyPr/>
          <a:lstStyle/>
          <a:p>
            <a:r>
              <a:rPr lang="en-GB" sz="2400" dirty="0"/>
              <a:t>Leverage value of an observation measures the influence of that observation on the overall fit of the regression function and is related to the </a:t>
            </a:r>
            <a:r>
              <a:rPr lang="en-GB" sz="2400" dirty="0" err="1"/>
              <a:t>Mahalanobis</a:t>
            </a:r>
            <a:r>
              <a:rPr lang="en-GB" sz="2400" dirty="0"/>
              <a:t> distance</a:t>
            </a:r>
          </a:p>
          <a:p>
            <a:r>
              <a:rPr lang="en-GB" sz="2400" dirty="0"/>
              <a:t>Leverage point hi is nothing but the </a:t>
            </a:r>
            <a:r>
              <a:rPr lang="en-GB" sz="2400" dirty="0" err="1"/>
              <a:t>i</a:t>
            </a:r>
            <a:r>
              <a:rPr lang="en-GB" sz="2400" baseline="30000" dirty="0" err="1"/>
              <a:t>th</a:t>
            </a:r>
            <a:r>
              <a:rPr lang="en-GB" sz="2400" dirty="0"/>
              <a:t> diagonal element of the hat matrix,</a:t>
            </a:r>
          </a:p>
          <a:p>
            <a:r>
              <a:rPr lang="en-GB" sz="2400" dirty="0"/>
              <a:t>Leverage value for an observation in MLR is given by</a:t>
            </a:r>
            <a:endParaRPr lang="en-IN" sz="2400" dirty="0"/>
          </a:p>
          <a:p>
            <a:pPr marL="0" indent="0">
              <a:buNone/>
            </a:pPr>
            <a:r>
              <a:rPr lang="en-GB" sz="2400" dirty="0"/>
              <a:t>                       </a:t>
            </a:r>
            <a:endParaRPr lang="en-IN" sz="1800" dirty="0"/>
          </a:p>
        </p:txBody>
      </p:sp>
      <p:sp>
        <p:nvSpPr>
          <p:cNvPr id="4" name="Rectangle 2">
            <a:extLst>
              <a:ext uri="{FF2B5EF4-FFF2-40B4-BE49-F238E27FC236}">
                <a16:creationId xmlns:a16="http://schemas.microsoft.com/office/drawing/2014/main" id="{A3B8D133-80A6-44A8-9EA9-CAA33972C83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C6E10CF9-52C9-43E8-95AE-6D2C66DA8469}"/>
              </a:ext>
            </a:extLst>
          </p:cNvPr>
          <p:cNvGraphicFramePr>
            <a:graphicFrameLocks noChangeAspect="1"/>
          </p:cNvGraphicFramePr>
          <p:nvPr>
            <p:extLst>
              <p:ext uri="{D42A27DB-BD31-4B8C-83A1-F6EECF244321}">
                <p14:modId xmlns:p14="http://schemas.microsoft.com/office/powerpoint/2010/main" val="3320236900"/>
              </p:ext>
            </p:extLst>
          </p:nvPr>
        </p:nvGraphicFramePr>
        <p:xfrm>
          <a:off x="3429000" y="4919109"/>
          <a:ext cx="2209800" cy="551933"/>
        </p:xfrm>
        <a:graphic>
          <a:graphicData uri="http://schemas.openxmlformats.org/presentationml/2006/ole">
            <mc:AlternateContent xmlns:mc="http://schemas.openxmlformats.org/markup-compatibility/2006">
              <mc:Choice xmlns:v="urn:schemas-microsoft-com:vml" Requires="v">
                <p:oleObj r:id="rId2" imgW="1180588" imgH="266584" progId="Equation.3">
                  <p:embed/>
                </p:oleObj>
              </mc:Choice>
              <mc:Fallback>
                <p:oleObj r:id="rId2" imgW="1180588" imgH="266584"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919109"/>
                        <a:ext cx="2209800" cy="551933"/>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A9975464-02FD-41BA-9045-E069DDB7A31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91BF62C7-00E1-40F7-94C7-2B24C7D5C9AD}"/>
              </a:ext>
            </a:extLst>
          </p:cNvPr>
          <p:cNvGraphicFramePr>
            <a:graphicFrameLocks noChangeAspect="1"/>
          </p:cNvGraphicFramePr>
          <p:nvPr>
            <p:extLst>
              <p:ext uri="{D42A27DB-BD31-4B8C-83A1-F6EECF244321}">
                <p14:modId xmlns:p14="http://schemas.microsoft.com/office/powerpoint/2010/main" val="3812503760"/>
              </p:ext>
            </p:extLst>
          </p:nvPr>
        </p:nvGraphicFramePr>
        <p:xfrm>
          <a:off x="2933700" y="3943867"/>
          <a:ext cx="3162300" cy="551933"/>
        </p:xfrm>
        <a:graphic>
          <a:graphicData uri="http://schemas.openxmlformats.org/presentationml/2006/ole">
            <mc:AlternateContent xmlns:mc="http://schemas.openxmlformats.org/markup-compatibility/2006">
              <mc:Choice xmlns:v="urn:schemas-microsoft-com:vml" Requires="v">
                <p:oleObj r:id="rId4" imgW="1574800" imgH="254000" progId="Equation.3">
                  <p:embed/>
                </p:oleObj>
              </mc:Choice>
              <mc:Fallback>
                <p:oleObj r:id="rId4" imgW="1574800" imgH="254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3700" y="3943867"/>
                        <a:ext cx="3162300" cy="551933"/>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132253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1000"/>
                                        <p:tgtEl>
                                          <p:spTgt spid="7"/>
                                        </p:tgtEl>
                                      </p:cBhvr>
                                    </p:animEffect>
                                    <p:anim calcmode="lin" valueType="num">
                                      <p:cBhvr>
                                        <p:cTn id="41" dur="1000" fill="hold"/>
                                        <p:tgtEl>
                                          <p:spTgt spid="7"/>
                                        </p:tgtEl>
                                        <p:attrNameLst>
                                          <p:attrName>ppt_x</p:attrName>
                                        </p:attrNameLst>
                                      </p:cBhvr>
                                      <p:tavLst>
                                        <p:tav tm="0">
                                          <p:val>
                                            <p:strVal val="#ppt_x"/>
                                          </p:val>
                                        </p:tav>
                                        <p:tav tm="100000">
                                          <p:val>
                                            <p:strVal val="#ppt_x"/>
                                          </p:val>
                                        </p:tav>
                                      </p:tavLst>
                                    </p:anim>
                                    <p:anim calcmode="lin" valueType="num">
                                      <p:cBhvr>
                                        <p:cTn id="4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3DB79-AF1D-4D79-9ECA-CE23F7D880A8}"/>
              </a:ext>
            </a:extLst>
          </p:cNvPr>
          <p:cNvSpPr>
            <a:spLocks noGrp="1"/>
          </p:cNvSpPr>
          <p:nvPr>
            <p:ph type="title"/>
          </p:nvPr>
        </p:nvSpPr>
        <p:spPr>
          <a:xfrm>
            <a:off x="609600" y="498407"/>
            <a:ext cx="8252114" cy="518388"/>
          </a:xfrm>
        </p:spPr>
        <p:txBody>
          <a:bodyPr/>
          <a:lstStyle/>
          <a:p>
            <a:pPr algn="just"/>
            <a:r>
              <a:rPr lang="en-GB" sz="2800" b="1" dirty="0">
                <a:solidFill>
                  <a:srgbClr val="C00000"/>
                </a:solidFill>
              </a:rPr>
              <a:t>DFFIT and SDFFIT</a:t>
            </a:r>
            <a:endParaRPr lang="en-IN" sz="2800" dirty="0">
              <a:solidFill>
                <a:srgbClr val="C00000"/>
              </a:solidFill>
            </a:endParaRPr>
          </a:p>
        </p:txBody>
      </p:sp>
      <p:sp>
        <p:nvSpPr>
          <p:cNvPr id="3" name="Content Placeholder 2">
            <a:extLst>
              <a:ext uri="{FF2B5EF4-FFF2-40B4-BE49-F238E27FC236}">
                <a16:creationId xmlns:a16="http://schemas.microsoft.com/office/drawing/2014/main" id="{C4961185-CCAF-4E69-AB10-B45EB5D12BCF}"/>
              </a:ext>
            </a:extLst>
          </p:cNvPr>
          <p:cNvSpPr>
            <a:spLocks noGrp="1"/>
          </p:cNvSpPr>
          <p:nvPr>
            <p:ph idx="1"/>
          </p:nvPr>
        </p:nvSpPr>
        <p:spPr>
          <a:xfrm>
            <a:off x="628650" y="1205347"/>
            <a:ext cx="8134350" cy="4971616"/>
          </a:xfrm>
        </p:spPr>
        <p:txBody>
          <a:bodyPr/>
          <a:lstStyle/>
          <a:p>
            <a:pPr marL="0" indent="0" algn="just">
              <a:buNone/>
            </a:pPr>
            <a:r>
              <a:rPr lang="en-GB" sz="2400" dirty="0"/>
              <a:t>DFFIT measures the difference in the fitted value of an observation when that particular observation is removed from the model building. DFFIT is given by</a:t>
            </a:r>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endParaRPr lang="en-GB" sz="2400" dirty="0"/>
          </a:p>
          <a:p>
            <a:pPr marL="0" indent="0" algn="just">
              <a:buNone/>
            </a:pPr>
            <a:r>
              <a:rPr lang="en-GB" sz="2400" dirty="0"/>
              <a:t>where,     is the predicted value of </a:t>
            </a:r>
            <a:r>
              <a:rPr lang="en-GB" sz="2400" i="1" dirty="0" err="1"/>
              <a:t>i</a:t>
            </a:r>
            <a:r>
              <a:rPr lang="en-GB" sz="2400" baseline="30000" dirty="0" err="1"/>
              <a:t>th</a:t>
            </a:r>
            <a:r>
              <a:rPr lang="en-GB" sz="2400" dirty="0"/>
              <a:t> observation including </a:t>
            </a:r>
            <a:r>
              <a:rPr lang="en-GB" sz="2400" i="1" dirty="0" err="1"/>
              <a:t>i</a:t>
            </a:r>
            <a:r>
              <a:rPr lang="en-GB" sz="2400" baseline="30000" dirty="0" err="1"/>
              <a:t>th</a:t>
            </a:r>
            <a:r>
              <a:rPr lang="en-GB" sz="2400" dirty="0"/>
              <a:t> observation,        is the predicted value of </a:t>
            </a:r>
            <a:r>
              <a:rPr lang="en-GB" sz="2400" i="1" dirty="0" err="1"/>
              <a:t>i</a:t>
            </a:r>
            <a:r>
              <a:rPr lang="en-GB" sz="2400" baseline="30000" dirty="0" err="1"/>
              <a:t>th</a:t>
            </a:r>
            <a:r>
              <a:rPr lang="en-GB" sz="2400" dirty="0"/>
              <a:t> observation after excluding </a:t>
            </a:r>
            <a:r>
              <a:rPr lang="en-GB" sz="2400" i="1" dirty="0" err="1"/>
              <a:t>i</a:t>
            </a:r>
            <a:r>
              <a:rPr lang="en-GB" sz="2400" baseline="30000" dirty="0" err="1"/>
              <a:t>th</a:t>
            </a:r>
            <a:r>
              <a:rPr lang="en-GB" sz="2400" dirty="0"/>
              <a:t> observation from the sample. </a:t>
            </a:r>
          </a:p>
          <a:p>
            <a:endParaRPr lang="en-IN" dirty="0"/>
          </a:p>
          <a:p>
            <a:endParaRPr lang="en-IN" dirty="0"/>
          </a:p>
        </p:txBody>
      </p:sp>
      <p:sp>
        <p:nvSpPr>
          <p:cNvPr id="4" name="Rectangle 2">
            <a:extLst>
              <a:ext uri="{FF2B5EF4-FFF2-40B4-BE49-F238E27FC236}">
                <a16:creationId xmlns:a16="http://schemas.microsoft.com/office/drawing/2014/main" id="{447D9599-17D7-4B11-B216-068718DCB16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803B5041-E1E8-4801-A5C6-BF37EBD0E1AF}"/>
              </a:ext>
            </a:extLst>
          </p:cNvPr>
          <p:cNvGraphicFramePr>
            <a:graphicFrameLocks noChangeAspect="1"/>
          </p:cNvGraphicFramePr>
          <p:nvPr>
            <p:extLst>
              <p:ext uri="{D42A27DB-BD31-4B8C-83A1-F6EECF244321}">
                <p14:modId xmlns:p14="http://schemas.microsoft.com/office/powerpoint/2010/main" val="4091511398"/>
              </p:ext>
            </p:extLst>
          </p:nvPr>
        </p:nvGraphicFramePr>
        <p:xfrm>
          <a:off x="2590800" y="2743200"/>
          <a:ext cx="2590800" cy="908085"/>
        </p:xfrm>
        <a:graphic>
          <a:graphicData uri="http://schemas.openxmlformats.org/presentationml/2006/ole">
            <mc:AlternateContent xmlns:mc="http://schemas.openxmlformats.org/markup-compatibility/2006">
              <mc:Choice xmlns:v="urn:schemas-microsoft-com:vml" Requires="v">
                <p:oleObj r:id="rId2" imgW="1104900" imgH="368300" progId="Equation.3">
                  <p:embed/>
                </p:oleObj>
              </mc:Choice>
              <mc:Fallback>
                <p:oleObj r:id="rId2" imgW="1104900" imgH="3683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2743200"/>
                        <a:ext cx="2590800" cy="908085"/>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6" name="Rectangle 5">
            <a:extLst>
              <a:ext uri="{FF2B5EF4-FFF2-40B4-BE49-F238E27FC236}">
                <a16:creationId xmlns:a16="http://schemas.microsoft.com/office/drawing/2014/main" id="{B26F2A99-F0F8-4E4C-A80E-CA4C11F2B75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A36EAF7D-9C87-4E7A-BDF3-CEA1DB77204D}"/>
              </a:ext>
            </a:extLst>
          </p:cNvPr>
          <p:cNvGraphicFramePr>
            <a:graphicFrameLocks noChangeAspect="1"/>
          </p:cNvGraphicFramePr>
          <p:nvPr>
            <p:extLst>
              <p:ext uri="{D42A27DB-BD31-4B8C-83A1-F6EECF244321}">
                <p14:modId xmlns:p14="http://schemas.microsoft.com/office/powerpoint/2010/main" val="3064973194"/>
              </p:ext>
            </p:extLst>
          </p:nvPr>
        </p:nvGraphicFramePr>
        <p:xfrm>
          <a:off x="1600200" y="4380724"/>
          <a:ext cx="533400" cy="457200"/>
        </p:xfrm>
        <a:graphic>
          <a:graphicData uri="http://schemas.openxmlformats.org/presentationml/2006/ole">
            <mc:AlternateContent xmlns:mc="http://schemas.openxmlformats.org/markup-compatibility/2006">
              <mc:Choice xmlns:v="urn:schemas-microsoft-com:vml" Requires="v">
                <p:oleObj r:id="rId4" imgW="164957" imgH="355292" progId="Equation.3">
                  <p:embed/>
                </p:oleObj>
              </mc:Choice>
              <mc:Fallback>
                <p:oleObj r:id="rId4" imgW="164957" imgH="355292"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4380724"/>
                        <a:ext cx="533400" cy="457200"/>
                      </a:xfrm>
                      <a:prstGeom prst="rect">
                        <a:avLst/>
                      </a:prstGeom>
                      <a:noFill/>
                    </p:spPr>
                  </p:pic>
                </p:oleObj>
              </mc:Fallback>
            </mc:AlternateContent>
          </a:graphicData>
        </a:graphic>
      </p:graphicFrame>
      <p:sp>
        <p:nvSpPr>
          <p:cNvPr id="8" name="Rectangle 7">
            <a:extLst>
              <a:ext uri="{FF2B5EF4-FFF2-40B4-BE49-F238E27FC236}">
                <a16:creationId xmlns:a16="http://schemas.microsoft.com/office/drawing/2014/main" id="{0C451291-B97E-40C4-B4EB-222A0FE2E0F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FC4D26CD-863E-4E8E-86A4-98F939876926}"/>
              </a:ext>
            </a:extLst>
          </p:cNvPr>
          <p:cNvGraphicFramePr>
            <a:graphicFrameLocks noChangeAspect="1"/>
          </p:cNvGraphicFramePr>
          <p:nvPr>
            <p:extLst>
              <p:ext uri="{D42A27DB-BD31-4B8C-83A1-F6EECF244321}">
                <p14:modId xmlns:p14="http://schemas.microsoft.com/office/powerpoint/2010/main" val="3131328742"/>
              </p:ext>
            </p:extLst>
          </p:nvPr>
        </p:nvGraphicFramePr>
        <p:xfrm>
          <a:off x="2324100" y="4609324"/>
          <a:ext cx="533400" cy="609600"/>
        </p:xfrm>
        <a:graphic>
          <a:graphicData uri="http://schemas.openxmlformats.org/presentationml/2006/ole">
            <mc:AlternateContent xmlns:mc="http://schemas.openxmlformats.org/markup-compatibility/2006">
              <mc:Choice xmlns:v="urn:schemas-microsoft-com:vml" Requires="v">
                <p:oleObj r:id="rId6" imgW="291973" imgH="380835" progId="Equation.3">
                  <p:embed/>
                </p:oleObj>
              </mc:Choice>
              <mc:Fallback>
                <p:oleObj r:id="rId6" imgW="291973" imgH="38083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4100" y="4609324"/>
                        <a:ext cx="533400" cy="609600"/>
                      </a:xfrm>
                      <a:prstGeom prst="rect">
                        <a:avLst/>
                      </a:prstGeom>
                      <a:noFill/>
                    </p:spPr>
                  </p:pic>
                </p:oleObj>
              </mc:Fallback>
            </mc:AlternateContent>
          </a:graphicData>
        </a:graphic>
      </p:graphicFrame>
    </p:spTree>
    <p:extLst>
      <p:ext uri="{BB962C8B-B14F-4D97-AF65-F5344CB8AC3E}">
        <p14:creationId xmlns:p14="http://schemas.microsoft.com/office/powerpoint/2010/main" val="420806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1000"/>
                                        <p:tgtEl>
                                          <p:spTgt spid="3">
                                            <p:txEl>
                                              <p:pRg st="6" end="6"/>
                                            </p:txEl>
                                          </p:spTgt>
                                        </p:tgtEl>
                                      </p:cBhvr>
                                    </p:animEffect>
                                    <p:anim calcmode="lin" valueType="num">
                                      <p:cBhvr>
                                        <p:cTn id="2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607458-31D7-4E9A-BF24-7331955206BC}"/>
              </a:ext>
            </a:extLst>
          </p:cNvPr>
          <p:cNvSpPr>
            <a:spLocks noGrp="1"/>
          </p:cNvSpPr>
          <p:nvPr>
            <p:ph idx="1"/>
          </p:nvPr>
        </p:nvSpPr>
        <p:spPr>
          <a:xfrm>
            <a:off x="457200" y="1205347"/>
            <a:ext cx="8058150" cy="4971616"/>
          </a:xfrm>
        </p:spPr>
        <p:txBody>
          <a:bodyPr>
            <a:normAutofit/>
          </a:bodyPr>
          <a:lstStyle/>
          <a:p>
            <a:pPr marL="0" indent="0">
              <a:buNone/>
            </a:pPr>
            <a:r>
              <a:rPr lang="en-GB" sz="2400" dirty="0"/>
              <a:t>The standardized DFFIT (SDFFIT) is given by (</a:t>
            </a:r>
            <a:r>
              <a:rPr lang="en-GB" sz="2400" dirty="0" err="1"/>
              <a:t>Belsley</a:t>
            </a:r>
            <a:r>
              <a:rPr lang="en-GB" sz="2400" dirty="0"/>
              <a:t> </a:t>
            </a:r>
            <a:r>
              <a:rPr lang="en-GB" sz="2400" i="1" dirty="0"/>
              <a:t>et al.</a:t>
            </a:r>
            <a:r>
              <a:rPr lang="en-GB" sz="2400" dirty="0"/>
              <a:t> 1980, Ryan 1990)</a:t>
            </a:r>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r>
              <a:rPr lang="en-GB" sz="2400" dirty="0"/>
              <a:t>S</a:t>
            </a:r>
            <a:r>
              <a:rPr lang="en-GB" sz="2400" baseline="-25000" dirty="0"/>
              <a:t>e</a:t>
            </a:r>
            <a:r>
              <a:rPr lang="en-GB" sz="2400" dirty="0"/>
              <a:t>(</a:t>
            </a:r>
            <a:r>
              <a:rPr lang="en-GB" sz="2400" dirty="0" err="1"/>
              <a:t>i</a:t>
            </a:r>
            <a:r>
              <a:rPr lang="en-GB" sz="2400" dirty="0"/>
              <a:t>) is the standard error of estimate of the model after removing </a:t>
            </a:r>
            <a:r>
              <a:rPr lang="en-GB" sz="2400" dirty="0" err="1"/>
              <a:t>i</a:t>
            </a:r>
            <a:r>
              <a:rPr lang="en-GB" sz="2400" baseline="30000" dirty="0" err="1"/>
              <a:t>th</a:t>
            </a:r>
            <a:r>
              <a:rPr lang="en-GB" sz="2400" dirty="0"/>
              <a:t> observation and h</a:t>
            </a:r>
            <a:r>
              <a:rPr lang="en-GB" sz="2400" baseline="-25000" dirty="0"/>
              <a:t>i</a:t>
            </a:r>
            <a:r>
              <a:rPr lang="en-GB" sz="2400" dirty="0"/>
              <a:t> is the </a:t>
            </a:r>
            <a:r>
              <a:rPr lang="en-GB" sz="2400" dirty="0" err="1"/>
              <a:t>i</a:t>
            </a:r>
            <a:r>
              <a:rPr lang="en-GB" sz="2400" baseline="30000" dirty="0" err="1"/>
              <a:t>th</a:t>
            </a:r>
            <a:r>
              <a:rPr lang="en-GB" sz="2400" dirty="0"/>
              <a:t> diagonal element in the hat matrix.  The threshold for DFFIT is defined using </a:t>
            </a:r>
            <a:r>
              <a:rPr lang="en-GB" sz="2400" b="1" dirty="0"/>
              <a:t>Standardized DFFIT</a:t>
            </a:r>
            <a:r>
              <a:rPr lang="en-GB" sz="2400" dirty="0"/>
              <a:t> (SDFFIT). The value of SDFFIT should be less than </a:t>
            </a:r>
            <a:endParaRPr lang="en-IN" sz="2400" dirty="0"/>
          </a:p>
          <a:p>
            <a:endParaRPr lang="en-IN" sz="2400" dirty="0"/>
          </a:p>
        </p:txBody>
      </p:sp>
      <p:sp>
        <p:nvSpPr>
          <p:cNvPr id="4" name="Rectangle 2">
            <a:extLst>
              <a:ext uri="{FF2B5EF4-FFF2-40B4-BE49-F238E27FC236}">
                <a16:creationId xmlns:a16="http://schemas.microsoft.com/office/drawing/2014/main" id="{E991E7FD-61F8-4D72-B0A1-50025AA4FFC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3931BF09-F6D7-4C1D-A283-1B5630F0185D}"/>
              </a:ext>
            </a:extLst>
          </p:cNvPr>
          <p:cNvGraphicFramePr>
            <a:graphicFrameLocks noChangeAspect="1"/>
          </p:cNvGraphicFramePr>
          <p:nvPr>
            <p:extLst>
              <p:ext uri="{D42A27DB-BD31-4B8C-83A1-F6EECF244321}">
                <p14:modId xmlns:p14="http://schemas.microsoft.com/office/powerpoint/2010/main" val="1173118722"/>
              </p:ext>
            </p:extLst>
          </p:nvPr>
        </p:nvGraphicFramePr>
        <p:xfrm>
          <a:off x="2857500" y="2126674"/>
          <a:ext cx="2819400" cy="990600"/>
        </p:xfrm>
        <a:graphic>
          <a:graphicData uri="http://schemas.openxmlformats.org/presentationml/2006/ole">
            <mc:AlternateContent xmlns:mc="http://schemas.openxmlformats.org/markup-compatibility/2006">
              <mc:Choice xmlns:v="urn:schemas-microsoft-com:vml" Requires="v">
                <p:oleObj r:id="rId2" imgW="1219200" imgH="596900" progId="Equation.3">
                  <p:embed/>
                </p:oleObj>
              </mc:Choice>
              <mc:Fallback>
                <p:oleObj r:id="rId2" imgW="1219200" imgH="5969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2126674"/>
                        <a:ext cx="2819400" cy="99060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6" name="Rectangle 4">
            <a:extLst>
              <a:ext uri="{FF2B5EF4-FFF2-40B4-BE49-F238E27FC236}">
                <a16:creationId xmlns:a16="http://schemas.microsoft.com/office/drawing/2014/main" id="{D62F6D5E-8401-4D48-B793-17428E601D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A0AC0509-1146-4BAA-A2EF-ABD6D7018FCE}"/>
              </a:ext>
            </a:extLst>
          </p:cNvPr>
          <p:cNvGraphicFramePr>
            <a:graphicFrameLocks noChangeAspect="1"/>
          </p:cNvGraphicFramePr>
          <p:nvPr>
            <p:extLst>
              <p:ext uri="{D42A27DB-BD31-4B8C-83A1-F6EECF244321}">
                <p14:modId xmlns:p14="http://schemas.microsoft.com/office/powerpoint/2010/main" val="3263990181"/>
              </p:ext>
            </p:extLst>
          </p:nvPr>
        </p:nvGraphicFramePr>
        <p:xfrm>
          <a:off x="3429000" y="5562600"/>
          <a:ext cx="1676400" cy="466725"/>
        </p:xfrm>
        <a:graphic>
          <a:graphicData uri="http://schemas.openxmlformats.org/presentationml/2006/ole">
            <mc:AlternateContent xmlns:mc="http://schemas.openxmlformats.org/markup-compatibility/2006">
              <mc:Choice xmlns:v="urn:schemas-microsoft-com:vml" Requires="v">
                <p:oleObj r:id="rId4" imgW="787058" imgH="253890" progId="Equation.3">
                  <p:embed/>
                </p:oleObj>
              </mc:Choice>
              <mc:Fallback>
                <p:oleObj r:id="rId4" imgW="787058" imgH="25389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5562600"/>
                        <a:ext cx="1676400" cy="466725"/>
                      </a:xfrm>
                      <a:prstGeom prst="rect">
                        <a:avLst/>
                      </a:prstGeom>
                      <a:noFill/>
                    </p:spPr>
                  </p:pic>
                </p:oleObj>
              </mc:Fallback>
            </mc:AlternateContent>
          </a:graphicData>
        </a:graphic>
      </p:graphicFrame>
    </p:spTree>
    <p:extLst>
      <p:ext uri="{BB962C8B-B14F-4D97-AF65-F5344CB8AC3E}">
        <p14:creationId xmlns:p14="http://schemas.microsoft.com/office/powerpoint/2010/main" val="144023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3FC1E-5752-4832-A709-C8FF9CD90999}"/>
              </a:ext>
            </a:extLst>
          </p:cNvPr>
          <p:cNvSpPr>
            <a:spLocks noGrp="1"/>
          </p:cNvSpPr>
          <p:nvPr>
            <p:ph type="title"/>
          </p:nvPr>
        </p:nvSpPr>
        <p:spPr>
          <a:xfrm>
            <a:off x="616927" y="517818"/>
            <a:ext cx="7898423" cy="518388"/>
          </a:xfrm>
        </p:spPr>
        <p:txBody>
          <a:bodyPr/>
          <a:lstStyle/>
          <a:p>
            <a:pPr algn="just"/>
            <a:r>
              <a:rPr lang="en-GB" sz="2800" b="1" dirty="0">
                <a:solidFill>
                  <a:srgbClr val="C00000"/>
                </a:solidFill>
              </a:rPr>
              <a:t>DFBETA and SDFBETA</a:t>
            </a:r>
            <a:endParaRPr lang="en-IN" sz="2800" dirty="0">
              <a:solidFill>
                <a:srgbClr val="C00000"/>
              </a:solidFill>
            </a:endParaRPr>
          </a:p>
        </p:txBody>
      </p:sp>
      <p:sp>
        <p:nvSpPr>
          <p:cNvPr id="3" name="Content Placeholder 2">
            <a:extLst>
              <a:ext uri="{FF2B5EF4-FFF2-40B4-BE49-F238E27FC236}">
                <a16:creationId xmlns:a16="http://schemas.microsoft.com/office/drawing/2014/main" id="{A5310917-A682-42CA-B185-9E3410F18126}"/>
              </a:ext>
            </a:extLst>
          </p:cNvPr>
          <p:cNvSpPr>
            <a:spLocks noGrp="1"/>
          </p:cNvSpPr>
          <p:nvPr>
            <p:ph idx="1"/>
          </p:nvPr>
        </p:nvSpPr>
        <p:spPr>
          <a:xfrm>
            <a:off x="616927" y="1554023"/>
            <a:ext cx="8153400" cy="3214245"/>
          </a:xfrm>
        </p:spPr>
        <p:txBody>
          <a:bodyPr>
            <a:normAutofit/>
          </a:bodyPr>
          <a:lstStyle/>
          <a:p>
            <a:pPr marL="0" indent="0">
              <a:buNone/>
            </a:pPr>
            <a:r>
              <a:rPr lang="en-GB" sz="2200" dirty="0"/>
              <a:t>DFBETA measures the change in the regression coefficient when an observation “</a:t>
            </a:r>
            <a:r>
              <a:rPr lang="en-GB" sz="2200" i="1" dirty="0" err="1"/>
              <a:t>i</a:t>
            </a:r>
            <a:r>
              <a:rPr lang="en-GB" sz="2200" dirty="0"/>
              <a:t>” is excluded from the model building.  DFBETA is given by</a:t>
            </a:r>
          </a:p>
          <a:p>
            <a:pPr marL="0" indent="0">
              <a:buNone/>
            </a:pPr>
            <a:endParaRPr lang="en-GB" sz="2200" dirty="0"/>
          </a:p>
          <a:p>
            <a:pPr marL="0" indent="0">
              <a:buNone/>
            </a:pPr>
            <a:endParaRPr lang="en-GB" sz="2200" dirty="0"/>
          </a:p>
          <a:p>
            <a:pPr marL="0" indent="0">
              <a:buNone/>
            </a:pPr>
            <a:endParaRPr lang="en-GB" sz="2200" dirty="0"/>
          </a:p>
          <a:p>
            <a:pPr marL="0" indent="0">
              <a:buNone/>
            </a:pPr>
            <a:r>
              <a:rPr lang="en-GB" sz="2200" dirty="0"/>
              <a:t>where </a:t>
            </a:r>
            <a:r>
              <a:rPr lang="en-GB" sz="2200" dirty="0" err="1"/>
              <a:t>DFBETA</a:t>
            </a:r>
            <a:r>
              <a:rPr lang="en-GB" sz="2200" baseline="-25000" dirty="0" err="1"/>
              <a:t>i</a:t>
            </a:r>
            <a:r>
              <a:rPr lang="en-GB" sz="2200" dirty="0"/>
              <a:t>(j)is the change in the regression coefficient for independent variable j when observation </a:t>
            </a:r>
            <a:r>
              <a:rPr lang="en-GB" sz="2200" dirty="0" err="1"/>
              <a:t>i</a:t>
            </a:r>
            <a:r>
              <a:rPr lang="en-GB" sz="2200" dirty="0"/>
              <a:t> is excluded. </a:t>
            </a:r>
            <a:endParaRPr lang="en-IN" sz="2200" dirty="0"/>
          </a:p>
          <a:p>
            <a:endParaRPr lang="en-IN" dirty="0"/>
          </a:p>
        </p:txBody>
      </p:sp>
      <p:sp>
        <p:nvSpPr>
          <p:cNvPr id="4" name="Rectangle 2">
            <a:extLst>
              <a:ext uri="{FF2B5EF4-FFF2-40B4-BE49-F238E27FC236}">
                <a16:creationId xmlns:a16="http://schemas.microsoft.com/office/drawing/2014/main" id="{FB551F91-2A6D-4E65-90BA-362B6755AC4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2BCADBAA-985F-4A85-82C1-0B045ED18762}"/>
              </a:ext>
            </a:extLst>
          </p:cNvPr>
          <p:cNvGraphicFramePr>
            <a:graphicFrameLocks noChangeAspect="1"/>
          </p:cNvGraphicFramePr>
          <p:nvPr>
            <p:extLst>
              <p:ext uri="{D42A27DB-BD31-4B8C-83A1-F6EECF244321}">
                <p14:modId xmlns:p14="http://schemas.microsoft.com/office/powerpoint/2010/main" val="3841411938"/>
              </p:ext>
            </p:extLst>
          </p:nvPr>
        </p:nvGraphicFramePr>
        <p:xfrm>
          <a:off x="2133600" y="2604296"/>
          <a:ext cx="3276600" cy="685800"/>
        </p:xfrm>
        <a:graphic>
          <a:graphicData uri="http://schemas.openxmlformats.org/presentationml/2006/ole">
            <mc:AlternateContent xmlns:mc="http://schemas.openxmlformats.org/markup-compatibility/2006">
              <mc:Choice xmlns:v="urn:schemas-microsoft-com:vml" Requires="v">
                <p:oleObj r:id="rId2" imgW="1511300" imgH="368300" progId="Equation.3">
                  <p:embed/>
                </p:oleObj>
              </mc:Choice>
              <mc:Fallback>
                <p:oleObj r:id="rId2" imgW="1511300" imgH="3683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604296"/>
                        <a:ext cx="3276600" cy="685800"/>
                      </a:xfrm>
                      <a:prstGeom prst="rect">
                        <a:avLst/>
                      </a:prstGeom>
                      <a:solidFill>
                        <a:schemeClr val="accent2">
                          <a:lumMod val="40000"/>
                          <a:lumOff val="60000"/>
                        </a:schemeClr>
                      </a:solidFill>
                      <a:ln>
                        <a:solidFill>
                          <a:schemeClr val="accent1"/>
                        </a:solidFill>
                      </a:ln>
                    </p:spPr>
                  </p:pic>
                </p:oleObj>
              </mc:Fallback>
            </mc:AlternateContent>
          </a:graphicData>
        </a:graphic>
      </p:graphicFrame>
    </p:spTree>
    <p:extLst>
      <p:ext uri="{BB962C8B-B14F-4D97-AF65-F5344CB8AC3E}">
        <p14:creationId xmlns:p14="http://schemas.microsoft.com/office/powerpoint/2010/main" val="403613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6B7613-CB0A-4D28-AE1B-0C1AEF0C5061}"/>
              </a:ext>
            </a:extLst>
          </p:cNvPr>
          <p:cNvSpPr>
            <a:spLocks noGrp="1"/>
          </p:cNvSpPr>
          <p:nvPr>
            <p:ph idx="1"/>
          </p:nvPr>
        </p:nvSpPr>
        <p:spPr/>
        <p:txBody>
          <a:bodyPr/>
          <a:lstStyle/>
          <a:p>
            <a:pPr marL="0" indent="0">
              <a:buNone/>
            </a:pPr>
            <a:r>
              <a:rPr lang="en-GB" sz="2200" dirty="0">
                <a:latin typeface="Gill Sans MT" panose="020B0502020104020203" pitchFamily="34" charset="0"/>
              </a:rPr>
              <a:t>The standardized DFBETA value (SDFBETA) for observation </a:t>
            </a:r>
            <a:r>
              <a:rPr lang="en-GB" sz="2200" dirty="0" err="1">
                <a:latin typeface="Gill Sans MT" panose="020B0502020104020203" pitchFamily="34" charset="0"/>
              </a:rPr>
              <a:t>i</a:t>
            </a:r>
            <a:r>
              <a:rPr lang="en-GB" sz="2200" dirty="0">
                <a:latin typeface="Gill Sans MT" panose="020B0502020104020203" pitchFamily="34" charset="0"/>
              </a:rPr>
              <a:t> is given by (</a:t>
            </a:r>
            <a:r>
              <a:rPr lang="en-GB" sz="2200" dirty="0" err="1">
                <a:latin typeface="Gill Sans MT" panose="020B0502020104020203" pitchFamily="34" charset="0"/>
              </a:rPr>
              <a:t>Belsley</a:t>
            </a:r>
            <a:r>
              <a:rPr lang="en-GB" sz="2200" dirty="0">
                <a:latin typeface="Gill Sans MT" panose="020B0502020104020203" pitchFamily="34" charset="0"/>
              </a:rPr>
              <a:t> et al 1980, Ryan 1990)</a:t>
            </a:r>
          </a:p>
          <a:p>
            <a:pPr marL="0" indent="0">
              <a:buNone/>
            </a:pPr>
            <a:endParaRPr lang="en-GB" sz="2200" dirty="0">
              <a:latin typeface="Gill Sans MT" panose="020B0502020104020203" pitchFamily="34" charset="0"/>
            </a:endParaRPr>
          </a:p>
          <a:p>
            <a:pPr marL="0" indent="0">
              <a:buNone/>
            </a:pPr>
            <a:endParaRPr lang="en-GB" sz="2200" dirty="0">
              <a:latin typeface="Gill Sans MT" panose="020B0502020104020203" pitchFamily="34" charset="0"/>
            </a:endParaRPr>
          </a:p>
          <a:p>
            <a:pPr marL="0" indent="0">
              <a:buNone/>
            </a:pPr>
            <a:endParaRPr lang="en-GB" sz="2200" dirty="0">
              <a:latin typeface="Gill Sans MT" panose="020B0502020104020203" pitchFamily="34" charset="0"/>
            </a:endParaRPr>
          </a:p>
          <a:p>
            <a:pPr marL="0" indent="0">
              <a:buNone/>
            </a:pPr>
            <a:endParaRPr lang="en-GB" sz="2200" dirty="0">
              <a:latin typeface="Gill Sans MT" panose="020B0502020104020203" pitchFamily="34" charset="0"/>
            </a:endParaRPr>
          </a:p>
          <a:p>
            <a:pPr marL="0" indent="0">
              <a:buNone/>
            </a:pPr>
            <a:r>
              <a:rPr lang="en-GB" sz="2200" dirty="0" err="1">
                <a:latin typeface="Gill Sans MT" panose="020B0502020104020203" pitchFamily="34" charset="0"/>
              </a:rPr>
              <a:t>SDFBETAi</a:t>
            </a:r>
            <a:r>
              <a:rPr lang="en-GB" sz="2200" dirty="0">
                <a:latin typeface="Gill Sans MT" panose="020B0502020104020203" pitchFamily="34" charset="0"/>
              </a:rPr>
              <a:t>(j) is the standardized DFBETA value for variable j after removing observation </a:t>
            </a:r>
            <a:r>
              <a:rPr lang="en-GB" sz="2200" dirty="0" err="1">
                <a:latin typeface="Gill Sans MT" panose="020B0502020104020203" pitchFamily="34" charset="0"/>
              </a:rPr>
              <a:t>i</a:t>
            </a:r>
            <a:r>
              <a:rPr lang="en-GB" sz="2200" dirty="0">
                <a:latin typeface="Gill Sans MT" panose="020B0502020104020203" pitchFamily="34" charset="0"/>
              </a:rPr>
              <a:t> and              </a:t>
            </a:r>
            <a:r>
              <a:rPr lang="en-US" sz="2200" dirty="0">
                <a:latin typeface="Gill Sans MT" panose="020B0502020104020203" pitchFamily="34" charset="0"/>
              </a:rPr>
              <a:t>is the standard error of      </a:t>
            </a:r>
            <a:r>
              <a:rPr lang="en-GB" sz="2200" dirty="0">
                <a:latin typeface="Gill Sans MT" panose="020B0502020104020203" pitchFamily="34" charset="0"/>
              </a:rPr>
              <a:t>after removing observation </a:t>
            </a:r>
            <a:r>
              <a:rPr lang="en-GB" sz="2200" dirty="0" err="1">
                <a:latin typeface="Gill Sans MT" panose="020B0502020104020203" pitchFamily="34" charset="0"/>
              </a:rPr>
              <a:t>i</a:t>
            </a:r>
            <a:r>
              <a:rPr lang="en-GB" sz="2200" dirty="0">
                <a:latin typeface="Gill Sans MT" panose="020B0502020104020203" pitchFamily="34" charset="0"/>
              </a:rPr>
              <a:t>.</a:t>
            </a:r>
            <a:endParaRPr lang="en-IN" sz="2200" dirty="0">
              <a:latin typeface="Gill Sans MT" panose="020B0502020104020203" pitchFamily="34" charset="0"/>
            </a:endParaRPr>
          </a:p>
        </p:txBody>
      </p:sp>
      <p:sp>
        <p:nvSpPr>
          <p:cNvPr id="4" name="Rectangle 2">
            <a:extLst>
              <a:ext uri="{FF2B5EF4-FFF2-40B4-BE49-F238E27FC236}">
                <a16:creationId xmlns:a16="http://schemas.microsoft.com/office/drawing/2014/main" id="{92E082B8-60F0-459F-B0B1-9F73A8668F4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5" name="Object 4">
            <a:extLst>
              <a:ext uri="{FF2B5EF4-FFF2-40B4-BE49-F238E27FC236}">
                <a16:creationId xmlns:a16="http://schemas.microsoft.com/office/drawing/2014/main" id="{B56B2387-5BF6-4772-90B6-934F132E8B4C}"/>
              </a:ext>
            </a:extLst>
          </p:cNvPr>
          <p:cNvGraphicFramePr>
            <a:graphicFrameLocks noChangeAspect="1"/>
          </p:cNvGraphicFramePr>
          <p:nvPr>
            <p:extLst>
              <p:ext uri="{D42A27DB-BD31-4B8C-83A1-F6EECF244321}">
                <p14:modId xmlns:p14="http://schemas.microsoft.com/office/powerpoint/2010/main" val="380718171"/>
              </p:ext>
            </p:extLst>
          </p:nvPr>
        </p:nvGraphicFramePr>
        <p:xfrm>
          <a:off x="2286000" y="2016517"/>
          <a:ext cx="3657600" cy="1141680"/>
        </p:xfrm>
        <a:graphic>
          <a:graphicData uri="http://schemas.openxmlformats.org/presentationml/2006/ole">
            <mc:AlternateContent xmlns:mc="http://schemas.openxmlformats.org/markup-compatibility/2006">
              <mc:Choice xmlns:v="urn:schemas-microsoft-com:vml" Requires="v">
                <p:oleObj r:id="rId2" imgW="1625600" imgH="723900" progId="Equation.3">
                  <p:embed/>
                </p:oleObj>
              </mc:Choice>
              <mc:Fallback>
                <p:oleObj r:id="rId2" imgW="1625600" imgH="7239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016517"/>
                        <a:ext cx="3657600" cy="1141680"/>
                      </a:xfrm>
                      <a:prstGeom prst="rect">
                        <a:avLst/>
                      </a:prstGeom>
                      <a:solidFill>
                        <a:schemeClr val="accent2">
                          <a:lumMod val="40000"/>
                          <a:lumOff val="60000"/>
                        </a:schemeClr>
                      </a:solidFill>
                      <a:ln>
                        <a:solidFill>
                          <a:schemeClr val="accent1"/>
                        </a:solidFill>
                      </a:ln>
                    </p:spPr>
                  </p:pic>
                </p:oleObj>
              </mc:Fallback>
            </mc:AlternateContent>
          </a:graphicData>
        </a:graphic>
      </p:graphicFrame>
      <p:sp>
        <p:nvSpPr>
          <p:cNvPr id="6" name="Rectangle 6">
            <a:extLst>
              <a:ext uri="{FF2B5EF4-FFF2-40B4-BE49-F238E27FC236}">
                <a16:creationId xmlns:a16="http://schemas.microsoft.com/office/drawing/2014/main" id="{5332EA14-148A-4522-9252-A81CE8A4EB4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783349BC-5564-4C57-B158-243F0E8BFF53}"/>
              </a:ext>
            </a:extLst>
          </p:cNvPr>
          <p:cNvGraphicFramePr>
            <a:graphicFrameLocks noChangeAspect="1"/>
          </p:cNvGraphicFramePr>
          <p:nvPr>
            <p:extLst>
              <p:ext uri="{D42A27DB-BD31-4B8C-83A1-F6EECF244321}">
                <p14:modId xmlns:p14="http://schemas.microsoft.com/office/powerpoint/2010/main" val="3037028654"/>
              </p:ext>
            </p:extLst>
          </p:nvPr>
        </p:nvGraphicFramePr>
        <p:xfrm>
          <a:off x="3962400" y="3733800"/>
          <a:ext cx="838200" cy="589525"/>
        </p:xfrm>
        <a:graphic>
          <a:graphicData uri="http://schemas.openxmlformats.org/presentationml/2006/ole">
            <mc:AlternateContent xmlns:mc="http://schemas.openxmlformats.org/markup-compatibility/2006">
              <mc:Choice xmlns:v="urn:schemas-microsoft-com:vml" Requires="v">
                <p:oleObj r:id="rId4" imgW="609600" imgH="368300" progId="Equation.3">
                  <p:embed/>
                </p:oleObj>
              </mc:Choice>
              <mc:Fallback>
                <p:oleObj r:id="rId4" imgW="609600" imgH="3683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3733800"/>
                        <a:ext cx="838200" cy="589525"/>
                      </a:xfrm>
                      <a:prstGeom prst="rect">
                        <a:avLst/>
                      </a:prstGeom>
                      <a:noFill/>
                    </p:spPr>
                  </p:pic>
                </p:oleObj>
              </mc:Fallback>
            </mc:AlternateContent>
          </a:graphicData>
        </a:graphic>
      </p:graphicFrame>
      <p:sp>
        <p:nvSpPr>
          <p:cNvPr id="8" name="Rectangle 8">
            <a:extLst>
              <a:ext uri="{FF2B5EF4-FFF2-40B4-BE49-F238E27FC236}">
                <a16:creationId xmlns:a16="http://schemas.microsoft.com/office/drawing/2014/main" id="{85B0EBE4-F7AA-429C-A939-ADB41E38F9C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Object 8">
            <a:extLst>
              <a:ext uri="{FF2B5EF4-FFF2-40B4-BE49-F238E27FC236}">
                <a16:creationId xmlns:a16="http://schemas.microsoft.com/office/drawing/2014/main" id="{44E5EA01-A119-428C-A517-56E70902114C}"/>
              </a:ext>
            </a:extLst>
          </p:cNvPr>
          <p:cNvGraphicFramePr>
            <a:graphicFrameLocks noChangeAspect="1"/>
          </p:cNvGraphicFramePr>
          <p:nvPr>
            <p:extLst>
              <p:ext uri="{D42A27DB-BD31-4B8C-83A1-F6EECF244321}">
                <p14:modId xmlns:p14="http://schemas.microsoft.com/office/powerpoint/2010/main" val="1641825821"/>
              </p:ext>
            </p:extLst>
          </p:nvPr>
        </p:nvGraphicFramePr>
        <p:xfrm>
          <a:off x="7708802" y="3736145"/>
          <a:ext cx="457200" cy="454855"/>
        </p:xfrm>
        <a:graphic>
          <a:graphicData uri="http://schemas.openxmlformats.org/presentationml/2006/ole">
            <mc:AlternateContent xmlns:mc="http://schemas.openxmlformats.org/markup-compatibility/2006">
              <mc:Choice xmlns:v="urn:schemas-microsoft-com:vml" Requires="v">
                <p:oleObj r:id="rId6" imgW="215713" imgH="355292" progId="Equation.3">
                  <p:embed/>
                </p:oleObj>
              </mc:Choice>
              <mc:Fallback>
                <p:oleObj r:id="rId6" imgW="215713" imgH="355292"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8802" y="3736145"/>
                        <a:ext cx="457200" cy="454855"/>
                      </a:xfrm>
                      <a:prstGeom prst="rect">
                        <a:avLst/>
                      </a:prstGeom>
                      <a:noFill/>
                    </p:spPr>
                  </p:pic>
                </p:oleObj>
              </mc:Fallback>
            </mc:AlternateContent>
          </a:graphicData>
        </a:graphic>
      </p:graphicFrame>
    </p:spTree>
    <p:extLst>
      <p:ext uri="{BB962C8B-B14F-4D97-AF65-F5344CB8AC3E}">
        <p14:creationId xmlns:p14="http://schemas.microsoft.com/office/powerpoint/2010/main" val="185299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AF314-AB95-4270-99EE-12C3A9A8DEE4}"/>
              </a:ext>
            </a:extLst>
          </p:cNvPr>
          <p:cNvSpPr>
            <a:spLocks noGrp="1"/>
          </p:cNvSpPr>
          <p:nvPr>
            <p:ph type="title" idx="4294967295"/>
          </p:nvPr>
        </p:nvSpPr>
        <p:spPr>
          <a:xfrm>
            <a:off x="457200" y="2362200"/>
            <a:ext cx="8229600" cy="1752600"/>
          </a:xfrm>
        </p:spPr>
        <p:txBody>
          <a:bodyPr/>
          <a:lstStyle/>
          <a:p>
            <a:r>
              <a:rPr lang="en-GB" sz="3200" b="1" dirty="0">
                <a:solidFill>
                  <a:srgbClr val="C00000"/>
                </a:solidFill>
                <a:latin typeface="Bookman Old Style" panose="02050604050505020204" pitchFamily="18" charset="0"/>
              </a:rPr>
              <a:t>Variable Selection in Regression Model Building (Forward, Backward, and Stepwise Regression)</a:t>
            </a:r>
            <a:endParaRPr lang="en-IN" sz="3200" dirty="0">
              <a:solidFill>
                <a:srgbClr val="C00000"/>
              </a:solidFill>
              <a:latin typeface="Bookman Old Style" panose="02050604050505020204" pitchFamily="18" charset="0"/>
            </a:endParaRPr>
          </a:p>
        </p:txBody>
      </p:sp>
    </p:spTree>
    <p:extLst>
      <p:ext uri="{BB962C8B-B14F-4D97-AF65-F5344CB8AC3E}">
        <p14:creationId xmlns:p14="http://schemas.microsoft.com/office/powerpoint/2010/main" val="16632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F9DC2-170A-4165-8352-FC3E8694D6D9}"/>
              </a:ext>
            </a:extLst>
          </p:cNvPr>
          <p:cNvSpPr>
            <a:spLocks noGrp="1"/>
          </p:cNvSpPr>
          <p:nvPr>
            <p:ph type="title"/>
          </p:nvPr>
        </p:nvSpPr>
        <p:spPr>
          <a:xfrm>
            <a:off x="606376" y="421843"/>
            <a:ext cx="8252114" cy="518388"/>
          </a:xfrm>
        </p:spPr>
        <p:txBody>
          <a:bodyPr/>
          <a:lstStyle/>
          <a:p>
            <a:pPr algn="just"/>
            <a:r>
              <a:rPr lang="en-GB" sz="3200" b="1" dirty="0">
                <a:solidFill>
                  <a:srgbClr val="C00000"/>
                </a:solidFill>
              </a:rPr>
              <a:t>Forward Selection</a:t>
            </a:r>
            <a:endParaRPr lang="en-IN" sz="3200" dirty="0">
              <a:solidFill>
                <a:srgbClr val="C00000"/>
              </a:solidFill>
            </a:endParaRPr>
          </a:p>
        </p:txBody>
      </p:sp>
      <p:sp>
        <p:nvSpPr>
          <p:cNvPr id="3" name="Content Placeholder 2">
            <a:extLst>
              <a:ext uri="{FF2B5EF4-FFF2-40B4-BE49-F238E27FC236}">
                <a16:creationId xmlns:a16="http://schemas.microsoft.com/office/drawing/2014/main" id="{E636F3F8-B964-44C6-8817-D13EAAA639FD}"/>
              </a:ext>
            </a:extLst>
          </p:cNvPr>
          <p:cNvSpPr>
            <a:spLocks noGrp="1"/>
          </p:cNvSpPr>
          <p:nvPr>
            <p:ph idx="1"/>
          </p:nvPr>
        </p:nvSpPr>
        <p:spPr>
          <a:xfrm>
            <a:off x="457200" y="1143000"/>
            <a:ext cx="8077200" cy="4971616"/>
          </a:xfrm>
        </p:spPr>
        <p:txBody>
          <a:bodyPr>
            <a:normAutofit lnSpcReduction="10000"/>
          </a:bodyPr>
          <a:lstStyle/>
          <a:p>
            <a:pPr marL="0" indent="0" algn="just">
              <a:buNone/>
            </a:pPr>
            <a:r>
              <a:rPr lang="en-GB" sz="2400" dirty="0"/>
              <a:t>The following steps are used in building regression model using forward selection method.</a:t>
            </a:r>
          </a:p>
          <a:p>
            <a:pPr marL="0" indent="0" algn="just">
              <a:buNone/>
            </a:pPr>
            <a:endParaRPr lang="en-GB" sz="2400" dirty="0"/>
          </a:p>
          <a:p>
            <a:pPr marL="0" indent="0" algn="just">
              <a:buNone/>
            </a:pPr>
            <a:r>
              <a:rPr lang="en-GB" sz="2400" b="1" dirty="0"/>
              <a:t>Step 1:</a:t>
            </a:r>
            <a:r>
              <a:rPr lang="en-GB" sz="2400" dirty="0"/>
              <a:t> Start with no variables in the model. Calculate the correlation between dependent and all independent variables.</a:t>
            </a:r>
          </a:p>
          <a:p>
            <a:pPr marL="0" indent="0" algn="just">
              <a:buNone/>
            </a:pPr>
            <a:endParaRPr lang="en-IN" sz="2400" dirty="0"/>
          </a:p>
          <a:p>
            <a:pPr marL="0" indent="0" algn="just">
              <a:buNone/>
            </a:pPr>
            <a:r>
              <a:rPr lang="en-GB" sz="2400" b="1" dirty="0"/>
              <a:t>Step 2:</a:t>
            </a:r>
            <a:r>
              <a:rPr lang="en-GB" sz="2400" dirty="0"/>
              <a:t> Develop simple linear regression model by adding the variable for which the correlation coefficient is highest with the dependent variable (say variable X</a:t>
            </a:r>
            <a:r>
              <a:rPr lang="en-GB" sz="2400" baseline="-25000" dirty="0"/>
              <a:t>i</a:t>
            </a:r>
            <a:r>
              <a:rPr lang="en-GB" sz="2400" dirty="0"/>
              <a:t>). Note that a variable can be added only when the corresponding </a:t>
            </a:r>
            <a:r>
              <a:rPr lang="en-GB" sz="2400" i="1" dirty="0"/>
              <a:t>p</a:t>
            </a:r>
            <a:r>
              <a:rPr lang="en-GB" sz="2400" dirty="0"/>
              <a:t>-value is less than the value </a:t>
            </a:r>
            <a:r>
              <a:rPr lang="en-GB" sz="2400" i="1" dirty="0">
                <a:sym typeface="Symbol" panose="05050102010706020507" pitchFamily="18" charset="2"/>
              </a:rPr>
              <a:t></a:t>
            </a:r>
            <a:r>
              <a:rPr lang="en-GB" sz="2400" dirty="0"/>
              <a:t>.  Let the model be Y = </a:t>
            </a:r>
            <a:r>
              <a:rPr lang="en-GB" sz="2400" dirty="0">
                <a:sym typeface="Symbol" panose="05050102010706020507" pitchFamily="18" charset="2"/>
              </a:rPr>
              <a:t></a:t>
            </a:r>
            <a:r>
              <a:rPr lang="en-GB" sz="2400" baseline="-25000" dirty="0"/>
              <a:t>0</a:t>
            </a:r>
            <a:r>
              <a:rPr lang="en-GB" sz="2400" dirty="0"/>
              <a:t> + </a:t>
            </a:r>
            <a:r>
              <a:rPr lang="en-GB" sz="2400" dirty="0">
                <a:sym typeface="Symbol" panose="05050102010706020507" pitchFamily="18" charset="2"/>
              </a:rPr>
              <a:t></a:t>
            </a:r>
            <a:r>
              <a:rPr lang="en-GB" sz="2400" baseline="-25000" dirty="0"/>
              <a:t>1</a:t>
            </a:r>
            <a:r>
              <a:rPr lang="en-GB" sz="2400" dirty="0"/>
              <a:t>X</a:t>
            </a:r>
            <a:r>
              <a:rPr lang="en-GB" sz="2400" baseline="-25000" dirty="0"/>
              <a:t>i</a:t>
            </a:r>
            <a:r>
              <a:rPr lang="en-GB" sz="2400" dirty="0"/>
              <a:t>.  Create a new model Y = </a:t>
            </a:r>
            <a:r>
              <a:rPr lang="en-GB" sz="2400" dirty="0">
                <a:sym typeface="Symbol" panose="05050102010706020507" pitchFamily="18" charset="2"/>
              </a:rPr>
              <a:t></a:t>
            </a:r>
            <a:r>
              <a:rPr lang="en-GB" sz="2400" baseline="-25000" dirty="0"/>
              <a:t>0 </a:t>
            </a:r>
            <a:r>
              <a:rPr lang="en-GB" sz="2400" dirty="0"/>
              <a:t>+ </a:t>
            </a:r>
            <a:r>
              <a:rPr lang="en-GB" sz="2400" dirty="0">
                <a:sym typeface="Symbol" panose="05050102010706020507" pitchFamily="18" charset="2"/>
              </a:rPr>
              <a:t></a:t>
            </a:r>
            <a:r>
              <a:rPr lang="en-GB" sz="2400" baseline="-25000" dirty="0"/>
              <a:t>1</a:t>
            </a:r>
            <a:r>
              <a:rPr lang="en-GB" sz="2400" dirty="0"/>
              <a:t> X</a:t>
            </a:r>
            <a:r>
              <a:rPr lang="en-GB" sz="2400" baseline="-25000" dirty="0"/>
              <a:t>i</a:t>
            </a:r>
            <a:r>
              <a:rPr lang="en-GB" sz="2400" dirty="0"/>
              <a:t> + </a:t>
            </a:r>
            <a:r>
              <a:rPr lang="en-GB" sz="2400" dirty="0">
                <a:sym typeface="Symbol" panose="05050102010706020507" pitchFamily="18" charset="2"/>
              </a:rPr>
              <a:t></a:t>
            </a:r>
            <a:r>
              <a:rPr lang="en-GB" sz="2400" baseline="-25000" dirty="0"/>
              <a:t>2</a:t>
            </a:r>
            <a:r>
              <a:rPr lang="en-GB" sz="2400" dirty="0"/>
              <a:t> </a:t>
            </a:r>
            <a:r>
              <a:rPr lang="en-GB" sz="2400" dirty="0" err="1"/>
              <a:t>X</a:t>
            </a:r>
            <a:r>
              <a:rPr lang="en-GB" sz="2400" baseline="-25000" dirty="0" err="1"/>
              <a:t>j</a:t>
            </a:r>
            <a:r>
              <a:rPr lang="en-GB" sz="2400" dirty="0"/>
              <a:t> (j </a:t>
            </a:r>
            <a:r>
              <a:rPr lang="en-GB" sz="2400" dirty="0">
                <a:sym typeface="Symbol" panose="05050102010706020507" pitchFamily="18" charset="2"/>
              </a:rPr>
              <a:t></a:t>
            </a:r>
            <a:r>
              <a:rPr lang="en-GB" sz="2400" dirty="0" err="1"/>
              <a:t>i</a:t>
            </a:r>
            <a:r>
              <a:rPr lang="en-GB" sz="2400" dirty="0"/>
              <a:t>), there will be (k-1) such models.  Conduct a partial-F test to check whether the variable </a:t>
            </a:r>
            <a:r>
              <a:rPr lang="en-GB" sz="2400" dirty="0" err="1"/>
              <a:t>X</a:t>
            </a:r>
            <a:r>
              <a:rPr lang="en-GB" sz="2400" baseline="-25000" dirty="0" err="1"/>
              <a:t>j</a:t>
            </a:r>
            <a:r>
              <a:rPr lang="en-GB" sz="2400" dirty="0"/>
              <a:t> is statistically significant at </a:t>
            </a:r>
            <a:r>
              <a:rPr lang="en-GB" sz="2400" dirty="0">
                <a:sym typeface="Symbol" panose="05050102010706020507" pitchFamily="18" charset="2"/>
              </a:rPr>
              <a:t></a:t>
            </a:r>
            <a:r>
              <a:rPr lang="en-GB" sz="2400" dirty="0"/>
              <a:t>. </a:t>
            </a:r>
            <a:endParaRPr lang="en-IN" sz="2400" dirty="0"/>
          </a:p>
          <a:p>
            <a:pPr marL="0" indent="0">
              <a:buNone/>
            </a:pPr>
            <a:endParaRPr lang="en-IN" sz="2400" dirty="0"/>
          </a:p>
          <a:p>
            <a:endParaRPr lang="en-IN" dirty="0"/>
          </a:p>
        </p:txBody>
      </p:sp>
    </p:spTree>
    <p:extLst>
      <p:ext uri="{BB962C8B-B14F-4D97-AF65-F5344CB8AC3E}">
        <p14:creationId xmlns:p14="http://schemas.microsoft.com/office/powerpoint/2010/main" val="1666401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D3F3A-5AA1-45BE-93EF-E1B4DCF169FA}"/>
              </a:ext>
            </a:extLst>
          </p:cNvPr>
          <p:cNvSpPr>
            <a:spLocks noGrp="1"/>
          </p:cNvSpPr>
          <p:nvPr>
            <p:ph idx="1"/>
          </p:nvPr>
        </p:nvSpPr>
        <p:spPr>
          <a:xfrm>
            <a:off x="628650" y="1600200"/>
            <a:ext cx="7886700" cy="2514600"/>
          </a:xfrm>
        </p:spPr>
        <p:txBody>
          <a:bodyPr>
            <a:normAutofit/>
          </a:bodyPr>
          <a:lstStyle/>
          <a:p>
            <a:pPr marL="0" indent="0" algn="just">
              <a:buNone/>
            </a:pPr>
            <a:r>
              <a:rPr lang="en-GB" sz="2400" b="1" dirty="0"/>
              <a:t>Step 3: </a:t>
            </a:r>
            <a:r>
              <a:rPr lang="en-GB" sz="2400" dirty="0"/>
              <a:t>Add the variable </a:t>
            </a:r>
            <a:r>
              <a:rPr lang="en-GB" sz="2400" dirty="0" err="1"/>
              <a:t>X</a:t>
            </a:r>
            <a:r>
              <a:rPr lang="en-GB" sz="2400" baseline="-25000" dirty="0" err="1"/>
              <a:t>j</a:t>
            </a:r>
            <a:r>
              <a:rPr lang="en-GB" sz="2400" dirty="0"/>
              <a:t> from step 2 with smallest </a:t>
            </a:r>
            <a:r>
              <a:rPr lang="en-GB" sz="2400" i="1" dirty="0"/>
              <a:t>p</a:t>
            </a:r>
            <a:r>
              <a:rPr lang="en-GB" sz="2400" dirty="0"/>
              <a:t>-value based on partial </a:t>
            </a:r>
            <a:r>
              <a:rPr lang="en-GB" sz="2400" i="1" dirty="0"/>
              <a:t>F</a:t>
            </a:r>
            <a:r>
              <a:rPr lang="en-GB" sz="2400" dirty="0"/>
              <a:t>-test if the </a:t>
            </a:r>
            <a:r>
              <a:rPr lang="en-GB" sz="2400" i="1" dirty="0"/>
              <a:t>p</a:t>
            </a:r>
            <a:r>
              <a:rPr lang="en-GB" sz="2400" dirty="0"/>
              <a:t>-value is less than the significance </a:t>
            </a:r>
            <a:r>
              <a:rPr lang="en-GB" sz="2400" i="1" dirty="0">
                <a:sym typeface="Symbol" panose="05050102010706020507" pitchFamily="18" charset="2"/>
              </a:rPr>
              <a:t></a:t>
            </a:r>
            <a:r>
              <a:rPr lang="en-GB" sz="2400" dirty="0"/>
              <a:t>.</a:t>
            </a:r>
          </a:p>
          <a:p>
            <a:pPr marL="0" indent="0" algn="just">
              <a:buNone/>
            </a:pPr>
            <a:endParaRPr lang="en-IN" sz="2400" dirty="0"/>
          </a:p>
          <a:p>
            <a:pPr marL="0" indent="0" algn="just">
              <a:buNone/>
            </a:pPr>
            <a:r>
              <a:rPr lang="en-GB" sz="2400" b="1" dirty="0"/>
              <a:t>Step 4: </a:t>
            </a:r>
            <a:r>
              <a:rPr lang="en-GB" sz="2400" dirty="0"/>
              <a:t> Repeat step 3 till the smallest </a:t>
            </a:r>
            <a:r>
              <a:rPr lang="en-GB" sz="2400" i="1" dirty="0"/>
              <a:t>p</a:t>
            </a:r>
            <a:r>
              <a:rPr lang="en-GB" sz="2400" dirty="0"/>
              <a:t>-value based on partial </a:t>
            </a:r>
            <a:r>
              <a:rPr lang="en-GB" sz="2400" i="1" dirty="0"/>
              <a:t>F</a:t>
            </a:r>
            <a:r>
              <a:rPr lang="en-GB" sz="2400" dirty="0"/>
              <a:t>-test is greater than </a:t>
            </a:r>
            <a:r>
              <a:rPr lang="en-GB" sz="2400" i="1" dirty="0">
                <a:sym typeface="Symbol" panose="05050102010706020507" pitchFamily="18" charset="2"/>
              </a:rPr>
              <a:t></a:t>
            </a:r>
            <a:r>
              <a:rPr lang="en-GB" sz="2400" i="1" dirty="0"/>
              <a:t> </a:t>
            </a:r>
            <a:r>
              <a:rPr lang="en-GB" sz="2400" dirty="0"/>
              <a:t>or all variables are exhausted.</a:t>
            </a:r>
            <a:endParaRPr lang="en-IN" sz="2400" dirty="0"/>
          </a:p>
          <a:p>
            <a:endParaRPr lang="en-IN" dirty="0"/>
          </a:p>
        </p:txBody>
      </p:sp>
    </p:spTree>
    <p:extLst>
      <p:ext uri="{BB962C8B-B14F-4D97-AF65-F5344CB8AC3E}">
        <p14:creationId xmlns:p14="http://schemas.microsoft.com/office/powerpoint/2010/main" val="499493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E244-E9F1-4961-A3FE-6B09DD528FA0}"/>
              </a:ext>
            </a:extLst>
          </p:cNvPr>
          <p:cNvSpPr>
            <a:spLocks noGrp="1"/>
          </p:cNvSpPr>
          <p:nvPr>
            <p:ph type="title"/>
          </p:nvPr>
        </p:nvSpPr>
        <p:spPr>
          <a:xfrm>
            <a:off x="626306" y="484190"/>
            <a:ext cx="8252114" cy="518388"/>
          </a:xfrm>
        </p:spPr>
        <p:txBody>
          <a:bodyPr/>
          <a:lstStyle/>
          <a:p>
            <a:pPr algn="just"/>
            <a:r>
              <a:rPr lang="en-GB" sz="2800" b="1" dirty="0">
                <a:solidFill>
                  <a:srgbClr val="C00000"/>
                </a:solidFill>
              </a:rPr>
              <a:t>Backward Elimination Procedure</a:t>
            </a:r>
            <a:endParaRPr lang="en-IN" sz="2800" dirty="0">
              <a:solidFill>
                <a:srgbClr val="C00000"/>
              </a:solidFill>
            </a:endParaRPr>
          </a:p>
        </p:txBody>
      </p:sp>
      <p:sp>
        <p:nvSpPr>
          <p:cNvPr id="3" name="Content Placeholder 2">
            <a:extLst>
              <a:ext uri="{FF2B5EF4-FFF2-40B4-BE49-F238E27FC236}">
                <a16:creationId xmlns:a16="http://schemas.microsoft.com/office/drawing/2014/main" id="{B8A02BA1-0F9A-42D2-970A-AD09B66AFA9A}"/>
              </a:ext>
            </a:extLst>
          </p:cNvPr>
          <p:cNvSpPr>
            <a:spLocks noGrp="1"/>
          </p:cNvSpPr>
          <p:nvPr>
            <p:ph idx="1"/>
          </p:nvPr>
        </p:nvSpPr>
        <p:spPr>
          <a:xfrm>
            <a:off x="457200" y="1143000"/>
            <a:ext cx="8252114" cy="5334000"/>
          </a:xfrm>
        </p:spPr>
        <p:txBody>
          <a:bodyPr>
            <a:normAutofit/>
          </a:bodyPr>
          <a:lstStyle/>
          <a:p>
            <a:pPr marL="0" indent="0">
              <a:buNone/>
            </a:pPr>
            <a:r>
              <a:rPr lang="en-GB" sz="2400" b="1" dirty="0"/>
              <a:t>Step 1:   </a:t>
            </a:r>
            <a:r>
              <a:rPr lang="en-GB" sz="2400" dirty="0"/>
              <a:t>Assume that the data has “</a:t>
            </a:r>
            <a:r>
              <a:rPr lang="en-GB" sz="2400" i="1" dirty="0"/>
              <a:t>n</a:t>
            </a:r>
            <a:r>
              <a:rPr lang="en-GB" sz="2400" dirty="0"/>
              <a:t>” explanatory variables.  We start with a multiple regression model with all </a:t>
            </a:r>
            <a:r>
              <a:rPr lang="en-GB" sz="2400" i="1" dirty="0"/>
              <a:t>n</a:t>
            </a:r>
            <a:r>
              <a:rPr lang="en-GB" sz="2400" dirty="0"/>
              <a:t> variables.  That is </a:t>
            </a:r>
            <a:r>
              <a:rPr lang="en-GB" sz="2400" i="1" dirty="0"/>
              <a:t>Y</a:t>
            </a:r>
            <a:r>
              <a:rPr lang="en-GB" sz="2400" dirty="0"/>
              <a:t> = </a:t>
            </a:r>
            <a:r>
              <a:rPr lang="en-GB" sz="2400" i="1" dirty="0">
                <a:sym typeface="Symbol" panose="05050102010706020507" pitchFamily="18" charset="2"/>
              </a:rPr>
              <a:t></a:t>
            </a:r>
            <a:r>
              <a:rPr lang="en-GB" sz="2400" baseline="-25000" dirty="0"/>
              <a:t>0</a:t>
            </a:r>
            <a:r>
              <a:rPr lang="en-GB" sz="2400" dirty="0"/>
              <a:t> + </a:t>
            </a:r>
            <a:r>
              <a:rPr lang="en-GB" sz="2400" i="1" dirty="0">
                <a:sym typeface="Symbol" panose="05050102010706020507" pitchFamily="18" charset="2"/>
              </a:rPr>
              <a:t></a:t>
            </a:r>
            <a:r>
              <a:rPr lang="en-GB" sz="2400" baseline="-25000" dirty="0"/>
              <a:t>1</a:t>
            </a:r>
            <a:r>
              <a:rPr lang="en-GB" sz="2400" i="1" dirty="0"/>
              <a:t> X</a:t>
            </a:r>
            <a:r>
              <a:rPr lang="en-GB" sz="2400" baseline="-25000" dirty="0"/>
              <a:t>1</a:t>
            </a:r>
            <a:r>
              <a:rPr lang="en-GB" sz="2400" dirty="0"/>
              <a:t> + </a:t>
            </a:r>
            <a:r>
              <a:rPr lang="en-GB" sz="2400" i="1" dirty="0">
                <a:sym typeface="Symbol" panose="05050102010706020507" pitchFamily="18" charset="2"/>
              </a:rPr>
              <a:t></a:t>
            </a:r>
            <a:r>
              <a:rPr lang="en-GB" sz="2400" baseline="-25000" dirty="0"/>
              <a:t>2</a:t>
            </a:r>
            <a:r>
              <a:rPr lang="en-GB" sz="2400" i="1" dirty="0"/>
              <a:t> X</a:t>
            </a:r>
            <a:r>
              <a:rPr lang="en-GB" sz="2400" baseline="-25000" dirty="0"/>
              <a:t>2</a:t>
            </a:r>
            <a:r>
              <a:rPr lang="en-GB" sz="2400" dirty="0"/>
              <a:t> + … + </a:t>
            </a:r>
            <a:r>
              <a:rPr lang="en-GB" sz="2400" i="1" dirty="0">
                <a:sym typeface="Symbol" panose="05050102010706020507" pitchFamily="18" charset="2"/>
              </a:rPr>
              <a:t></a:t>
            </a:r>
            <a:r>
              <a:rPr lang="en-GB" sz="2400" i="1" baseline="-25000" dirty="0" err="1"/>
              <a:t>n</a:t>
            </a:r>
            <a:r>
              <a:rPr lang="en-GB" sz="2400" i="1" dirty="0" err="1"/>
              <a:t>X</a:t>
            </a:r>
            <a:r>
              <a:rPr lang="en-GB" sz="2400" i="1" baseline="-25000" dirty="0" err="1"/>
              <a:t>n</a:t>
            </a:r>
            <a:r>
              <a:rPr lang="en-GB" sz="2400" dirty="0"/>
              <a:t>. We call this full model.</a:t>
            </a:r>
          </a:p>
          <a:p>
            <a:pPr marL="0" indent="0">
              <a:buNone/>
            </a:pPr>
            <a:r>
              <a:rPr lang="en-GB" sz="2400" b="1" dirty="0"/>
              <a:t>Step 2:</a:t>
            </a:r>
            <a:r>
              <a:rPr lang="en-GB" sz="2400" dirty="0"/>
              <a:t>  Remove one variable at a time repeatedly from the model in step 1 and create a reduced model (say model 2), there will be k such models. Perform a partial </a:t>
            </a:r>
            <a:r>
              <a:rPr lang="en-GB" sz="2400" i="1" dirty="0"/>
              <a:t>F</a:t>
            </a:r>
            <a:r>
              <a:rPr lang="en-GB" sz="2400" dirty="0"/>
              <a:t>-test between the models in step 1 and step 2. </a:t>
            </a:r>
            <a:endParaRPr lang="en-IN" sz="2400" dirty="0"/>
          </a:p>
          <a:p>
            <a:pPr marL="0" indent="0">
              <a:buNone/>
            </a:pPr>
            <a:r>
              <a:rPr lang="en-US" sz="2400" b="1" dirty="0"/>
              <a:t>Step 3:</a:t>
            </a:r>
            <a:r>
              <a:rPr lang="en-US" sz="2400" dirty="0"/>
              <a:t>  Remove the variable with largest p-value (based on partial F-test) if the p-value is greater than the significance </a:t>
            </a:r>
            <a:r>
              <a:rPr lang="en-GB" sz="2400" i="1" dirty="0">
                <a:sym typeface="Symbol" panose="05050102010706020507" pitchFamily="18" charset="2"/>
              </a:rPr>
              <a:t></a:t>
            </a:r>
            <a:r>
              <a:rPr lang="en-US" sz="2400" dirty="0"/>
              <a:t> (or the F-value is less than the critical F-value).</a:t>
            </a:r>
          </a:p>
          <a:p>
            <a:pPr marL="0" indent="0">
              <a:buNone/>
            </a:pPr>
            <a:r>
              <a:rPr lang="en-US" sz="2400" b="1" dirty="0"/>
              <a:t>Step 4 :</a:t>
            </a:r>
            <a:r>
              <a:rPr lang="en-US" sz="2400" dirty="0"/>
              <a:t> Repeat the procedure till the p-value becomes less than </a:t>
            </a:r>
            <a:r>
              <a:rPr lang="en-GB" sz="2400" i="1" dirty="0">
                <a:sym typeface="Symbol" panose="05050102010706020507" pitchFamily="18" charset="2"/>
              </a:rPr>
              <a:t></a:t>
            </a:r>
            <a:r>
              <a:rPr lang="en-US" sz="2400" dirty="0"/>
              <a:t> or there are no variables in the model for which the p-value is greater than </a:t>
            </a:r>
            <a:r>
              <a:rPr lang="en-GB" sz="2400" i="1" dirty="0">
                <a:sym typeface="Symbol" panose="05050102010706020507" pitchFamily="18" charset="2"/>
              </a:rPr>
              <a:t></a:t>
            </a:r>
            <a:r>
              <a:rPr lang="en-US" sz="2400" dirty="0"/>
              <a:t> based on partial F-test.</a:t>
            </a:r>
          </a:p>
          <a:p>
            <a:endParaRPr lang="en-IN" dirty="0"/>
          </a:p>
        </p:txBody>
      </p:sp>
    </p:spTree>
    <p:extLst>
      <p:ext uri="{BB962C8B-B14F-4D97-AF65-F5344CB8AC3E}">
        <p14:creationId xmlns:p14="http://schemas.microsoft.com/office/powerpoint/2010/main" val="351073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9BC56-5381-4783-9707-2A81E0ADFD52}"/>
              </a:ext>
            </a:extLst>
          </p:cNvPr>
          <p:cNvSpPr>
            <a:spLocks noGrp="1"/>
          </p:cNvSpPr>
          <p:nvPr>
            <p:ph type="title"/>
          </p:nvPr>
        </p:nvSpPr>
        <p:spPr>
          <a:xfrm>
            <a:off x="628651" y="533400"/>
            <a:ext cx="8252114" cy="518388"/>
          </a:xfrm>
        </p:spPr>
        <p:txBody>
          <a:bodyPr/>
          <a:lstStyle/>
          <a:p>
            <a:pPr algn="just"/>
            <a:r>
              <a:rPr lang="en-GB" sz="2800" b="1" dirty="0">
                <a:solidFill>
                  <a:srgbClr val="C00000"/>
                </a:solidFill>
              </a:rPr>
              <a:t>Stepwise Regression</a:t>
            </a:r>
            <a:endParaRPr lang="en-IN" sz="2800" dirty="0">
              <a:solidFill>
                <a:srgbClr val="C00000"/>
              </a:solidFill>
            </a:endParaRPr>
          </a:p>
        </p:txBody>
      </p:sp>
      <p:sp>
        <p:nvSpPr>
          <p:cNvPr id="3" name="Content Placeholder 2">
            <a:extLst>
              <a:ext uri="{FF2B5EF4-FFF2-40B4-BE49-F238E27FC236}">
                <a16:creationId xmlns:a16="http://schemas.microsoft.com/office/drawing/2014/main" id="{C16A7C91-F641-4A78-8F51-8D906CD2CCA3}"/>
              </a:ext>
            </a:extLst>
          </p:cNvPr>
          <p:cNvSpPr>
            <a:spLocks noGrp="1"/>
          </p:cNvSpPr>
          <p:nvPr>
            <p:ph idx="1"/>
          </p:nvPr>
        </p:nvSpPr>
        <p:spPr>
          <a:xfrm>
            <a:off x="581025" y="1600201"/>
            <a:ext cx="7981950" cy="3109188"/>
          </a:xfrm>
        </p:spPr>
        <p:txBody>
          <a:bodyPr/>
          <a:lstStyle/>
          <a:p>
            <a:r>
              <a:rPr lang="en-GB" sz="2400" dirty="0"/>
              <a:t>Stepwise regression is a combination of forward selection and backward elimination procedure</a:t>
            </a:r>
          </a:p>
          <a:p>
            <a:endParaRPr lang="en-GB" sz="2400" dirty="0"/>
          </a:p>
          <a:p>
            <a:r>
              <a:rPr lang="en-GB" sz="2400" dirty="0"/>
              <a:t>In this case, we set the entering criteria (</a:t>
            </a:r>
            <a:r>
              <a:rPr lang="en-GB" sz="2400" i="1" dirty="0">
                <a:sym typeface="Symbol" panose="05050102010706020507" pitchFamily="18" charset="2"/>
              </a:rPr>
              <a:t></a:t>
            </a:r>
            <a:r>
              <a:rPr lang="en-GB" sz="2400" dirty="0"/>
              <a:t>) for a new variable to enter the model based on the smallest </a:t>
            </a:r>
            <a:r>
              <a:rPr lang="en-GB" sz="2400" i="1" dirty="0"/>
              <a:t>p</a:t>
            </a:r>
            <a:r>
              <a:rPr lang="en-GB" sz="2400" dirty="0"/>
              <a:t>-value of the partial </a:t>
            </a:r>
            <a:r>
              <a:rPr lang="en-GB" sz="2400" i="1" dirty="0"/>
              <a:t>F</a:t>
            </a:r>
            <a:r>
              <a:rPr lang="en-GB" sz="2400" dirty="0"/>
              <a:t>-test and removal criteria (</a:t>
            </a:r>
            <a:r>
              <a:rPr lang="en-GB" sz="2400" i="1" dirty="0">
                <a:sym typeface="Symbol" panose="05050102010706020507" pitchFamily="18" charset="2"/>
              </a:rPr>
              <a:t></a:t>
            </a:r>
            <a:r>
              <a:rPr lang="en-GB" sz="2400" dirty="0"/>
              <a:t>) for a variable to be removed from the model if the</a:t>
            </a:r>
            <a:r>
              <a:rPr lang="en-GB" sz="2400" i="1" dirty="0"/>
              <a:t> p</a:t>
            </a:r>
            <a:r>
              <a:rPr lang="en-GB" sz="2400" dirty="0"/>
              <a:t>-value exceeds a pre-defined value based on the partial </a:t>
            </a:r>
            <a:r>
              <a:rPr lang="en-GB" sz="2400" i="1" dirty="0"/>
              <a:t>F</a:t>
            </a:r>
            <a:r>
              <a:rPr lang="en-GB" sz="2400" dirty="0"/>
              <a:t>-test (</a:t>
            </a:r>
            <a:r>
              <a:rPr lang="en-GB" sz="2400" i="1" dirty="0">
                <a:sym typeface="Symbol" panose="05050102010706020507" pitchFamily="18" charset="2"/>
              </a:rPr>
              <a:t></a:t>
            </a:r>
            <a:r>
              <a:rPr lang="en-GB" sz="2400" dirty="0"/>
              <a:t> &lt; </a:t>
            </a:r>
            <a:r>
              <a:rPr lang="en-GB" sz="2400" i="1" dirty="0">
                <a:sym typeface="Symbol" panose="05050102010706020507" pitchFamily="18" charset="2"/>
              </a:rPr>
              <a:t></a:t>
            </a:r>
            <a:r>
              <a:rPr lang="en-GB" sz="2400" dirty="0"/>
              <a:t>). </a:t>
            </a:r>
            <a:endParaRPr lang="en-IN" sz="1800" dirty="0"/>
          </a:p>
        </p:txBody>
      </p:sp>
    </p:spTree>
    <p:extLst>
      <p:ext uri="{BB962C8B-B14F-4D97-AF65-F5344CB8AC3E}">
        <p14:creationId xmlns:p14="http://schemas.microsoft.com/office/powerpoint/2010/main" val="344110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E382-12B6-4140-8830-7F8EA0D6D656}"/>
              </a:ext>
            </a:extLst>
          </p:cNvPr>
          <p:cNvSpPr>
            <a:spLocks noGrp="1"/>
          </p:cNvSpPr>
          <p:nvPr>
            <p:ph type="title"/>
          </p:nvPr>
        </p:nvSpPr>
        <p:spPr>
          <a:xfrm>
            <a:off x="609600" y="381000"/>
            <a:ext cx="8252114" cy="518388"/>
          </a:xfrm>
        </p:spPr>
        <p:txBody>
          <a:bodyPr/>
          <a:lstStyle/>
          <a:p>
            <a:pPr algn="ctr"/>
            <a:br>
              <a:rPr lang="en-GB" sz="3200" b="1" dirty="0">
                <a:solidFill>
                  <a:srgbClr val="C00000"/>
                </a:solidFill>
              </a:rPr>
            </a:br>
            <a:r>
              <a:rPr lang="en-GB" sz="3200" b="1" dirty="0">
                <a:solidFill>
                  <a:srgbClr val="C00000"/>
                </a:solidFill>
              </a:rPr>
              <a:t>Transformations</a:t>
            </a:r>
            <a:br>
              <a:rPr lang="en-IN" sz="3200" dirty="0">
                <a:solidFill>
                  <a:srgbClr val="C00000"/>
                </a:solidFill>
              </a:rPr>
            </a:br>
            <a:endParaRPr lang="en-IN" sz="3200" dirty="0">
              <a:solidFill>
                <a:srgbClr val="C00000"/>
              </a:solidFill>
            </a:endParaRPr>
          </a:p>
        </p:txBody>
      </p:sp>
      <p:sp>
        <p:nvSpPr>
          <p:cNvPr id="4" name="Content Placeholder 2">
            <a:extLst>
              <a:ext uri="{FF2B5EF4-FFF2-40B4-BE49-F238E27FC236}">
                <a16:creationId xmlns:a16="http://schemas.microsoft.com/office/drawing/2014/main" id="{50E956E6-FCA7-4444-903F-B10B82E6A14E}"/>
              </a:ext>
            </a:extLst>
          </p:cNvPr>
          <p:cNvSpPr txBox="1">
            <a:spLocks/>
          </p:cNvSpPr>
          <p:nvPr/>
        </p:nvSpPr>
        <p:spPr bwMode="auto">
          <a:xfrm>
            <a:off x="457200" y="1143000"/>
            <a:ext cx="8404514"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sz="2400" dirty="0">
                <a:latin typeface="Gill Sans MT" panose="020B0502020104020203" pitchFamily="34" charset="0"/>
              </a:rPr>
              <a:t>Transformation is a process of deriving new dependent and/or independent variables to identify the correct functional form of the regression model</a:t>
            </a:r>
          </a:p>
          <a:p>
            <a:pPr marL="0" indent="0">
              <a:buFont typeface="Arial" charset="0"/>
              <a:buNone/>
            </a:pPr>
            <a:r>
              <a:rPr lang="en-GB" sz="2400" dirty="0">
                <a:latin typeface="Gill Sans MT" panose="020B0502020104020203" pitchFamily="34" charset="0"/>
              </a:rPr>
              <a:t>Transformation in MLR is used to address  the following issues:</a:t>
            </a:r>
          </a:p>
          <a:p>
            <a:r>
              <a:rPr lang="en-GB" sz="2400" dirty="0">
                <a:latin typeface="Gill Sans MT" panose="020B0502020104020203" pitchFamily="34" charset="0"/>
              </a:rPr>
              <a:t>Poor fit (low </a:t>
            </a:r>
            <a:r>
              <a:rPr lang="en-GB" sz="2400" i="1" dirty="0">
                <a:latin typeface="Gill Sans MT" panose="020B0502020104020203" pitchFamily="34" charset="0"/>
              </a:rPr>
              <a:t>R</a:t>
            </a:r>
            <a:r>
              <a:rPr lang="en-GB" sz="2400" i="1" baseline="30000" dirty="0">
                <a:latin typeface="Gill Sans MT" panose="020B0502020104020203" pitchFamily="34" charset="0"/>
              </a:rPr>
              <a:t>2</a:t>
            </a:r>
            <a:r>
              <a:rPr lang="en-GB" sz="2400" dirty="0">
                <a:latin typeface="Gill Sans MT" panose="020B0502020104020203" pitchFamily="34" charset="0"/>
              </a:rPr>
              <a:t> value).</a:t>
            </a:r>
            <a:endParaRPr lang="en-IN" sz="2400" dirty="0">
              <a:latin typeface="Gill Sans MT" panose="020B0502020104020203" pitchFamily="34" charset="0"/>
            </a:endParaRPr>
          </a:p>
          <a:p>
            <a:r>
              <a:rPr lang="en-GB" sz="2400" dirty="0">
                <a:latin typeface="Gill Sans MT" panose="020B0502020104020203" pitchFamily="34" charset="0"/>
              </a:rPr>
              <a:t>Patten in residual analysis indicating potential non-linear relationship between the dependent and independent variable.  For example,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i="1" dirty="0">
                <a:latin typeface="Gill Sans MT" panose="020B0502020104020203" pitchFamily="34" charset="0"/>
              </a:rPr>
              <a:t>X</a:t>
            </a:r>
            <a:r>
              <a:rPr lang="en-GB" sz="2400" baseline="-25000" dirty="0">
                <a:latin typeface="Gill Sans MT" panose="020B0502020104020203" pitchFamily="34" charset="0"/>
              </a:rPr>
              <a:t>1</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2</a:t>
            </a:r>
            <a:r>
              <a:rPr lang="en-GB" sz="2400" i="1" dirty="0">
                <a:latin typeface="Gill Sans MT" panose="020B0502020104020203" pitchFamily="34" charset="0"/>
              </a:rPr>
              <a:t> X</a:t>
            </a:r>
            <a:r>
              <a:rPr lang="en-GB" sz="2400" baseline="-25000" dirty="0">
                <a:latin typeface="Gill Sans MT" panose="020B0502020104020203" pitchFamily="34" charset="0"/>
              </a:rPr>
              <a:t>2</a:t>
            </a:r>
            <a:r>
              <a:rPr lang="en-GB" sz="2400" dirty="0">
                <a:latin typeface="Gill Sans MT" panose="020B0502020104020203" pitchFamily="34" charset="0"/>
              </a:rPr>
              <a:t> is used for developing the model instead or ln(</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i="1" dirty="0">
                <a:latin typeface="Gill Sans MT" panose="020B0502020104020203" pitchFamily="34" charset="0"/>
              </a:rPr>
              <a:t> X</a:t>
            </a:r>
            <a:r>
              <a:rPr lang="en-GB" sz="2400" baseline="-25000" dirty="0">
                <a:latin typeface="Gill Sans MT" panose="020B0502020104020203" pitchFamily="34" charset="0"/>
              </a:rPr>
              <a:t>1</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2</a:t>
            </a:r>
            <a:r>
              <a:rPr lang="en-GB" sz="2400" i="1" dirty="0">
                <a:latin typeface="Gill Sans MT" panose="020B0502020104020203" pitchFamily="34" charset="0"/>
              </a:rPr>
              <a:t> X</a:t>
            </a:r>
            <a:r>
              <a:rPr lang="en-GB" sz="2400" baseline="-25000" dirty="0">
                <a:latin typeface="Gill Sans MT" panose="020B0502020104020203" pitchFamily="34" charset="0"/>
              </a:rPr>
              <a:t>2</a:t>
            </a:r>
            <a:r>
              <a:rPr lang="en-GB" sz="2400" dirty="0">
                <a:latin typeface="Gill Sans MT" panose="020B0502020104020203" pitchFamily="34" charset="0"/>
              </a:rPr>
              <a:t>,</a:t>
            </a:r>
            <a:r>
              <a:rPr lang="en-GB" sz="2400" baseline="-25000" dirty="0">
                <a:latin typeface="Gill Sans MT" panose="020B0502020104020203" pitchFamily="34" charset="0"/>
              </a:rPr>
              <a:t> </a:t>
            </a:r>
            <a:r>
              <a:rPr lang="en-GB" sz="2400" dirty="0">
                <a:latin typeface="Gill Sans MT" panose="020B0502020104020203" pitchFamily="34" charset="0"/>
              </a:rPr>
              <a:t>resulting in clear pattern in residual plot.</a:t>
            </a:r>
            <a:endParaRPr lang="en-IN" sz="2400" dirty="0">
              <a:latin typeface="Gill Sans MT" panose="020B0502020104020203" pitchFamily="34" charset="0"/>
            </a:endParaRPr>
          </a:p>
          <a:p>
            <a:r>
              <a:rPr lang="en-GB" sz="2400" dirty="0">
                <a:latin typeface="Gill Sans MT" panose="020B0502020104020203" pitchFamily="34" charset="0"/>
              </a:rPr>
              <a:t>Residuals do not follow a normal distribution.</a:t>
            </a:r>
            <a:endParaRPr lang="en-IN" sz="2400" dirty="0">
              <a:latin typeface="Gill Sans MT" panose="020B0502020104020203" pitchFamily="34" charset="0"/>
            </a:endParaRPr>
          </a:p>
          <a:p>
            <a:r>
              <a:rPr lang="en-GB" sz="2400" dirty="0">
                <a:latin typeface="Gill Sans MT" panose="020B0502020104020203" pitchFamily="34" charset="0"/>
              </a:rPr>
              <a:t>Residuals are not homoscedastic.</a:t>
            </a:r>
            <a:endParaRPr lang="en-IN" dirty="0">
              <a:latin typeface="Gill Sans MT" panose="020B0502020104020203" pitchFamily="34" charset="0"/>
            </a:endParaRPr>
          </a:p>
        </p:txBody>
      </p:sp>
    </p:spTree>
    <p:extLst>
      <p:ext uri="{BB962C8B-B14F-4D97-AF65-F5344CB8AC3E}">
        <p14:creationId xmlns:p14="http://schemas.microsoft.com/office/powerpoint/2010/main" val="145499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1000"/>
                                        <p:tgtEl>
                                          <p:spTgt spid="4">
                                            <p:txEl>
                                              <p:pRg st="1" end="1"/>
                                            </p:txEl>
                                          </p:spTgt>
                                        </p:tgtEl>
                                      </p:cBhvr>
                                    </p:animEffect>
                                    <p:anim calcmode="lin" valueType="num">
                                      <p:cBhvr>
                                        <p:cTn id="2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fade">
                                      <p:cBhvr>
                                        <p:cTn id="33" dur="1000"/>
                                        <p:tgtEl>
                                          <p:spTgt spid="4">
                                            <p:txEl>
                                              <p:pRg st="3" end="3"/>
                                            </p:txEl>
                                          </p:spTgt>
                                        </p:tgtEl>
                                      </p:cBhvr>
                                    </p:animEffect>
                                    <p:anim calcmode="lin" valueType="num">
                                      <p:cBhvr>
                                        <p:cTn id="3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fade">
                                      <p:cBhvr>
                                        <p:cTn id="40" dur="1000"/>
                                        <p:tgtEl>
                                          <p:spTgt spid="4">
                                            <p:txEl>
                                              <p:pRg st="4" end="4"/>
                                            </p:txEl>
                                          </p:spTgt>
                                        </p:tgtEl>
                                      </p:cBhvr>
                                    </p:animEffect>
                                    <p:anim calcmode="lin" valueType="num">
                                      <p:cBhvr>
                                        <p:cTn id="41"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1000"/>
                                        <p:tgtEl>
                                          <p:spTgt spid="4">
                                            <p:txEl>
                                              <p:pRg st="5" end="5"/>
                                            </p:txEl>
                                          </p:spTgt>
                                        </p:tgtEl>
                                      </p:cBhvr>
                                    </p:animEffect>
                                    <p:anim calcmode="lin" valueType="num">
                                      <p:cBhvr>
                                        <p:cTn id="4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ED3A-8957-4EC0-AE10-FEA765FF2D3E}"/>
              </a:ext>
            </a:extLst>
          </p:cNvPr>
          <p:cNvSpPr>
            <a:spLocks noGrp="1"/>
          </p:cNvSpPr>
          <p:nvPr>
            <p:ph type="title"/>
          </p:nvPr>
        </p:nvSpPr>
        <p:spPr>
          <a:xfrm>
            <a:off x="615755" y="508839"/>
            <a:ext cx="8252114" cy="518388"/>
          </a:xfrm>
        </p:spPr>
        <p:txBody>
          <a:bodyPr/>
          <a:lstStyle/>
          <a:p>
            <a:pPr algn="just"/>
            <a:r>
              <a:rPr lang="en-GB" sz="2800" b="1" dirty="0">
                <a:solidFill>
                  <a:srgbClr val="C00000"/>
                </a:solidFill>
              </a:rPr>
              <a:t>Example</a:t>
            </a:r>
            <a:endParaRPr lang="en-IN" sz="2800" dirty="0">
              <a:solidFill>
                <a:srgbClr val="C00000"/>
              </a:solidFill>
            </a:endParaRPr>
          </a:p>
        </p:txBody>
      </p:sp>
      <p:sp>
        <p:nvSpPr>
          <p:cNvPr id="3" name="Content Placeholder 2">
            <a:extLst>
              <a:ext uri="{FF2B5EF4-FFF2-40B4-BE49-F238E27FC236}">
                <a16:creationId xmlns:a16="http://schemas.microsoft.com/office/drawing/2014/main" id="{F2189585-55FC-4C1F-91C4-4AD4859F7849}"/>
              </a:ext>
            </a:extLst>
          </p:cNvPr>
          <p:cNvSpPr>
            <a:spLocks noGrp="1"/>
          </p:cNvSpPr>
          <p:nvPr>
            <p:ph idx="1"/>
          </p:nvPr>
        </p:nvSpPr>
        <p:spPr>
          <a:xfrm>
            <a:off x="628650" y="1151085"/>
            <a:ext cx="7886700" cy="928253"/>
          </a:xfrm>
        </p:spPr>
        <p:txBody>
          <a:bodyPr>
            <a:noAutofit/>
          </a:bodyPr>
          <a:lstStyle/>
          <a:p>
            <a:pPr marL="0" indent="0">
              <a:buNone/>
            </a:pPr>
            <a:r>
              <a:rPr lang="en-GB" sz="2400" dirty="0"/>
              <a:t>Table shows the data on revenue generated (in million of rupees) from a product and the promotion expenses (in million of rupees).  Develop an appropriate regression model</a:t>
            </a:r>
            <a:endParaRPr lang="en-IN" sz="2400" dirty="0"/>
          </a:p>
        </p:txBody>
      </p:sp>
      <p:graphicFrame>
        <p:nvGraphicFramePr>
          <p:cNvPr id="4" name="Table 3">
            <a:extLst>
              <a:ext uri="{FF2B5EF4-FFF2-40B4-BE49-F238E27FC236}">
                <a16:creationId xmlns:a16="http://schemas.microsoft.com/office/drawing/2014/main" id="{609D2AE0-5A02-4608-B0BA-E9BB3A725D13}"/>
              </a:ext>
            </a:extLst>
          </p:cNvPr>
          <p:cNvGraphicFramePr>
            <a:graphicFrameLocks noGrp="1"/>
          </p:cNvGraphicFramePr>
          <p:nvPr>
            <p:extLst>
              <p:ext uri="{D42A27DB-BD31-4B8C-83A1-F6EECF244321}">
                <p14:modId xmlns:p14="http://schemas.microsoft.com/office/powerpoint/2010/main" val="2721089980"/>
              </p:ext>
            </p:extLst>
          </p:nvPr>
        </p:nvGraphicFramePr>
        <p:xfrm>
          <a:off x="685800" y="2362200"/>
          <a:ext cx="7829550" cy="4019694"/>
        </p:xfrm>
        <a:graphic>
          <a:graphicData uri="http://schemas.openxmlformats.org/drawingml/2006/table">
            <a:tbl>
              <a:tblPr firstRow="1" firstCol="1" bandRow="1">
                <a:tableStyleId>{5C22544A-7EE6-4342-B048-85BDC9FD1C3A}</a:tableStyleId>
              </a:tblPr>
              <a:tblGrid>
                <a:gridCol w="1304925">
                  <a:extLst>
                    <a:ext uri="{9D8B030D-6E8A-4147-A177-3AD203B41FA5}">
                      <a16:colId xmlns:a16="http://schemas.microsoft.com/office/drawing/2014/main" val="3406580230"/>
                    </a:ext>
                  </a:extLst>
                </a:gridCol>
                <a:gridCol w="1304925">
                  <a:extLst>
                    <a:ext uri="{9D8B030D-6E8A-4147-A177-3AD203B41FA5}">
                      <a16:colId xmlns:a16="http://schemas.microsoft.com/office/drawing/2014/main" val="3849069565"/>
                    </a:ext>
                  </a:extLst>
                </a:gridCol>
                <a:gridCol w="1304925">
                  <a:extLst>
                    <a:ext uri="{9D8B030D-6E8A-4147-A177-3AD203B41FA5}">
                      <a16:colId xmlns:a16="http://schemas.microsoft.com/office/drawing/2014/main" val="982070621"/>
                    </a:ext>
                  </a:extLst>
                </a:gridCol>
                <a:gridCol w="1304925">
                  <a:extLst>
                    <a:ext uri="{9D8B030D-6E8A-4147-A177-3AD203B41FA5}">
                      <a16:colId xmlns:a16="http://schemas.microsoft.com/office/drawing/2014/main" val="2461404707"/>
                    </a:ext>
                  </a:extLst>
                </a:gridCol>
                <a:gridCol w="1304925">
                  <a:extLst>
                    <a:ext uri="{9D8B030D-6E8A-4147-A177-3AD203B41FA5}">
                      <a16:colId xmlns:a16="http://schemas.microsoft.com/office/drawing/2014/main" val="1139510498"/>
                    </a:ext>
                  </a:extLst>
                </a:gridCol>
                <a:gridCol w="1304925">
                  <a:extLst>
                    <a:ext uri="{9D8B030D-6E8A-4147-A177-3AD203B41FA5}">
                      <a16:colId xmlns:a16="http://schemas.microsoft.com/office/drawing/2014/main" val="1507883043"/>
                    </a:ext>
                  </a:extLst>
                </a:gridCol>
              </a:tblGrid>
              <a:tr h="569566">
                <a:tc>
                  <a:txBody>
                    <a:bodyPr/>
                    <a:lstStyle/>
                    <a:p>
                      <a:pPr algn="just">
                        <a:lnSpc>
                          <a:spcPct val="150000"/>
                        </a:lnSpc>
                        <a:spcAft>
                          <a:spcPts val="800"/>
                        </a:spcAft>
                      </a:pPr>
                      <a:r>
                        <a:rPr lang="en-GB" sz="1400">
                          <a:effectLst/>
                        </a:rPr>
                        <a:t>S. 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Revenue in Millions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dirty="0">
                          <a:effectLst/>
                        </a:rPr>
                        <a:t>Promotion Expenses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S. No.</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Revenue in Millions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Promotion Expenses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86253943"/>
                  </a:ext>
                </a:extLst>
              </a:tr>
              <a:tr h="284783">
                <a:tc>
                  <a:txBody>
                    <a:bodyPr/>
                    <a:lstStyle/>
                    <a:p>
                      <a:pPr algn="just">
                        <a:lnSpc>
                          <a:spcPct val="150000"/>
                        </a:lnSpc>
                        <a:spcAft>
                          <a:spcPts val="80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dirty="0">
                          <a:effectLst/>
                        </a:rPr>
                        <a:t>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dirty="0">
                          <a:effectLst/>
                        </a:rPr>
                        <a:t>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633100564"/>
                  </a:ext>
                </a:extLst>
              </a:tr>
              <a:tr h="284783">
                <a:tc>
                  <a:txBody>
                    <a:bodyPr/>
                    <a:lstStyle/>
                    <a:p>
                      <a:pPr algn="just">
                        <a:lnSpc>
                          <a:spcPct val="150000"/>
                        </a:lnSpc>
                        <a:spcAft>
                          <a:spcPts val="800"/>
                        </a:spcAft>
                      </a:pPr>
                      <a:r>
                        <a:rPr lang="en-GB" sz="1400" dirty="0">
                          <a:effectLst/>
                        </a:rPr>
                        <a:t>2</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8.1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245723559"/>
                  </a:ext>
                </a:extLst>
              </a:tr>
              <a:tr h="284783">
                <a:tc>
                  <a:txBody>
                    <a:bodyPr/>
                    <a:lstStyle/>
                    <a:p>
                      <a:pPr algn="just">
                        <a:lnSpc>
                          <a:spcPct val="150000"/>
                        </a:lnSpc>
                        <a:spcAft>
                          <a:spcPts val="800"/>
                        </a:spcAft>
                      </a:pPr>
                      <a:r>
                        <a:rPr lang="en-GB" sz="1400">
                          <a:effectLst/>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6.5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dirty="0">
                          <a:effectLst/>
                        </a:rPr>
                        <a:t>1.6</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735559090"/>
                  </a:ext>
                </a:extLst>
              </a:tr>
              <a:tr h="284783">
                <a:tc>
                  <a:txBody>
                    <a:bodyPr/>
                    <a:lstStyle/>
                    <a:p>
                      <a:pPr algn="just">
                        <a:lnSpc>
                          <a:spcPct val="150000"/>
                        </a:lnSpc>
                        <a:spcAft>
                          <a:spcPts val="800"/>
                        </a:spcAft>
                      </a:pPr>
                      <a:r>
                        <a:rPr lang="en-GB" sz="1400">
                          <a:effectLst/>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85456639"/>
                  </a:ext>
                </a:extLst>
              </a:tr>
              <a:tr h="284783">
                <a:tc>
                  <a:txBody>
                    <a:bodyPr/>
                    <a:lstStyle/>
                    <a:p>
                      <a:pPr algn="just">
                        <a:lnSpc>
                          <a:spcPct val="150000"/>
                        </a:lnSpc>
                        <a:spcAft>
                          <a:spcPts val="800"/>
                        </a:spcAft>
                      </a:pPr>
                      <a:r>
                        <a:rPr lang="en-GB" sz="1400">
                          <a:effectLst/>
                        </a:rPr>
                        <a:t>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7.5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18.5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752936834"/>
                  </a:ext>
                </a:extLst>
              </a:tr>
              <a:tr h="284783">
                <a:tc>
                  <a:txBody>
                    <a:bodyPr/>
                    <a:lstStyle/>
                    <a:p>
                      <a:pPr algn="just">
                        <a:lnSpc>
                          <a:spcPct val="150000"/>
                        </a:lnSpc>
                        <a:spcAft>
                          <a:spcPts val="800"/>
                        </a:spcAft>
                      </a:pPr>
                      <a:r>
                        <a:rPr lang="en-GB" sz="1400">
                          <a:effectLst/>
                        </a:rPr>
                        <a:t>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12.7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03154811"/>
                  </a:ext>
                </a:extLst>
              </a:tr>
              <a:tr h="284783">
                <a:tc>
                  <a:txBody>
                    <a:bodyPr/>
                    <a:lstStyle/>
                    <a:p>
                      <a:pPr algn="just">
                        <a:lnSpc>
                          <a:spcPct val="150000"/>
                        </a:lnSpc>
                        <a:spcAft>
                          <a:spcPts val="800"/>
                        </a:spcAft>
                      </a:pPr>
                      <a:r>
                        <a:rPr lang="en-GB" sz="1400">
                          <a:effectLst/>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19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91842526"/>
                  </a:ext>
                </a:extLst>
              </a:tr>
              <a:tr h="284783">
                <a:tc>
                  <a:txBody>
                    <a:bodyPr/>
                    <a:lstStyle/>
                    <a:p>
                      <a:pPr algn="just">
                        <a:lnSpc>
                          <a:spcPct val="150000"/>
                        </a:lnSpc>
                        <a:spcAft>
                          <a:spcPts val="800"/>
                        </a:spcAft>
                      </a:pPr>
                      <a:r>
                        <a:rPr lang="en-GB" sz="1400">
                          <a:effectLst/>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10.8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2.8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20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535434377"/>
                  </a:ext>
                </a:extLst>
              </a:tr>
              <a:tr h="284783">
                <a:tc>
                  <a:txBody>
                    <a:bodyPr/>
                    <a:lstStyle/>
                    <a:p>
                      <a:pPr algn="just">
                        <a:lnSpc>
                          <a:spcPct val="150000"/>
                        </a:lnSpc>
                        <a:spcAft>
                          <a:spcPts val="800"/>
                        </a:spcAft>
                      </a:pPr>
                      <a:r>
                        <a:rPr lang="en-GB" sz="1400">
                          <a:effectLst/>
                        </a:rPr>
                        <a:t>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3.5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14.4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791918065"/>
                  </a:ext>
                </a:extLst>
              </a:tr>
              <a:tr h="284783">
                <a:tc>
                  <a:txBody>
                    <a:bodyPr/>
                    <a:lstStyle/>
                    <a:p>
                      <a:pPr algn="just">
                        <a:lnSpc>
                          <a:spcPct val="150000"/>
                        </a:lnSpc>
                        <a:spcAft>
                          <a:spcPts val="800"/>
                        </a:spcAft>
                      </a:pPr>
                      <a:r>
                        <a:rPr lang="en-GB" sz="1400">
                          <a:effectLst/>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3.3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7.1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560285461"/>
                  </a:ext>
                </a:extLst>
              </a:tr>
              <a:tr h="284783">
                <a:tc>
                  <a:txBody>
                    <a:bodyPr/>
                    <a:lstStyle/>
                    <a:p>
                      <a:pPr algn="just">
                        <a:lnSpc>
                          <a:spcPct val="150000"/>
                        </a:lnSpc>
                        <a:spcAft>
                          <a:spcPts val="800"/>
                        </a:spcAft>
                      </a:pPr>
                      <a:r>
                        <a:rPr lang="en-GB" sz="1400">
                          <a:effectLst/>
                        </a:rPr>
                        <a:t>11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15.5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4.8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23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10.5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215363305"/>
                  </a:ext>
                </a:extLst>
              </a:tr>
              <a:tr h="284783">
                <a:tc>
                  <a:txBody>
                    <a:bodyPr/>
                    <a:lstStyle/>
                    <a:p>
                      <a:pPr algn="just">
                        <a:lnSpc>
                          <a:spcPct val="150000"/>
                        </a:lnSpc>
                        <a:spcAft>
                          <a:spcPts val="800"/>
                        </a:spcAft>
                      </a:pPr>
                      <a:r>
                        <a:rPr lang="en-GB" sz="1400">
                          <a:effectLst/>
                        </a:rPr>
                        <a:t>12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dirty="0">
                          <a:effectLst/>
                        </a:rPr>
                        <a:t>15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GB" sz="1400">
                          <a:effectLst/>
                        </a:rPr>
                        <a:t>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r">
                        <a:lnSpc>
                          <a:spcPct val="150000"/>
                        </a:lnSpc>
                        <a:spcAft>
                          <a:spcPts val="0"/>
                        </a:spcAft>
                      </a:pPr>
                      <a:r>
                        <a:rPr lang="en-GB" sz="1400">
                          <a:effectLst/>
                        </a:rPr>
                        <a:t>24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a:effectLst/>
                        </a:rPr>
                        <a:t>15.8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tc>
                  <a:txBody>
                    <a:bodyPr/>
                    <a:lstStyle/>
                    <a:p>
                      <a:pPr algn="r">
                        <a:lnSpc>
                          <a:spcPct val="150000"/>
                        </a:lnSpc>
                        <a:spcAft>
                          <a:spcPts val="0"/>
                        </a:spcAft>
                      </a:pPr>
                      <a:r>
                        <a:rPr lang="en-GB" sz="1400" dirty="0">
                          <a:effectLst/>
                        </a:rPr>
                        <a:t>4.75</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91323811"/>
                  </a:ext>
                </a:extLst>
              </a:tr>
            </a:tbl>
          </a:graphicData>
        </a:graphic>
      </p:graphicFrame>
    </p:spTree>
    <p:extLst>
      <p:ext uri="{BB962C8B-B14F-4D97-AF65-F5344CB8AC3E}">
        <p14:creationId xmlns:p14="http://schemas.microsoft.com/office/powerpoint/2010/main" val="287806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37674-F240-4227-971D-C12194A1E0D6}"/>
              </a:ext>
            </a:extLst>
          </p:cNvPr>
          <p:cNvSpPr>
            <a:spLocks noGrp="1"/>
          </p:cNvSpPr>
          <p:nvPr>
            <p:ph idx="4294967295"/>
          </p:nvPr>
        </p:nvSpPr>
        <p:spPr>
          <a:xfrm>
            <a:off x="342900" y="583809"/>
            <a:ext cx="8458200" cy="2133600"/>
          </a:xfrm>
        </p:spPr>
        <p:txBody>
          <a:bodyPr>
            <a:normAutofit/>
          </a:bodyPr>
          <a:lstStyle/>
          <a:p>
            <a:pPr marL="0" indent="0" algn="just">
              <a:buNone/>
            </a:pPr>
            <a:r>
              <a:rPr lang="en-GB" sz="2400" dirty="0"/>
              <a:t>Let </a:t>
            </a:r>
            <a:r>
              <a:rPr lang="en-GB" sz="2400" i="1" dirty="0"/>
              <a:t>Y</a:t>
            </a:r>
            <a:r>
              <a:rPr lang="en-GB" sz="2400" dirty="0"/>
              <a:t> = Revenue Generated and </a:t>
            </a:r>
            <a:r>
              <a:rPr lang="en-GB" sz="2400" i="1" dirty="0"/>
              <a:t>X</a:t>
            </a:r>
            <a:r>
              <a:rPr lang="en-GB" sz="2400" dirty="0"/>
              <a:t> = Promotion Expenses</a:t>
            </a:r>
          </a:p>
          <a:p>
            <a:pPr marL="0" indent="0" algn="just">
              <a:buNone/>
            </a:pPr>
            <a:r>
              <a:rPr lang="en-GB" sz="2400" dirty="0"/>
              <a:t>The scatter plot between Y and X for the data in Table is shown in Figure . </a:t>
            </a:r>
          </a:p>
          <a:p>
            <a:pPr marL="0" indent="0" algn="just">
              <a:buNone/>
            </a:pPr>
            <a:r>
              <a:rPr lang="en-GB" sz="2400" dirty="0"/>
              <a:t>It is clear from the scatter plot that the relationship between X and Y is not linear; it looks more like a logarithmic function.   </a:t>
            </a:r>
            <a:endParaRPr lang="en-IN" sz="2400" dirty="0"/>
          </a:p>
          <a:p>
            <a:pPr marL="0" indent="0">
              <a:buNone/>
            </a:pPr>
            <a:endParaRPr lang="en-IN" sz="2400" dirty="0"/>
          </a:p>
          <a:p>
            <a:endParaRPr lang="en-IN" dirty="0"/>
          </a:p>
        </p:txBody>
      </p:sp>
      <p:pic>
        <p:nvPicPr>
          <p:cNvPr id="4" name="Picture 3">
            <a:extLst>
              <a:ext uri="{FF2B5EF4-FFF2-40B4-BE49-F238E27FC236}">
                <a16:creationId xmlns:a16="http://schemas.microsoft.com/office/drawing/2014/main" id="{F61C547A-EBD7-402B-BF15-E3786AE850BB}"/>
              </a:ext>
            </a:extLst>
          </p:cNvPr>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676400" y="2971800"/>
            <a:ext cx="5257800" cy="3276600"/>
          </a:xfrm>
          <a:prstGeom prst="rect">
            <a:avLst/>
          </a:prstGeom>
          <a:noFill/>
          <a:ln>
            <a:noFill/>
          </a:ln>
        </p:spPr>
      </p:pic>
    </p:spTree>
    <p:extLst>
      <p:ext uri="{BB962C8B-B14F-4D97-AF65-F5344CB8AC3E}">
        <p14:creationId xmlns:p14="http://schemas.microsoft.com/office/powerpoint/2010/main" val="22284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2D1700-3F3D-496C-8011-67F542747B4B}"/>
              </a:ext>
            </a:extLst>
          </p:cNvPr>
          <p:cNvSpPr>
            <a:spLocks noGrp="1"/>
          </p:cNvSpPr>
          <p:nvPr>
            <p:ph idx="4294967295"/>
          </p:nvPr>
        </p:nvSpPr>
        <p:spPr>
          <a:xfrm>
            <a:off x="304800" y="581025"/>
            <a:ext cx="8229600" cy="1447800"/>
          </a:xfrm>
        </p:spPr>
        <p:txBody>
          <a:bodyPr/>
          <a:lstStyle/>
          <a:p>
            <a:pPr marL="0" indent="0" algn="just">
              <a:buNone/>
            </a:pPr>
            <a:r>
              <a:rPr lang="en-GB" sz="2400" dirty="0"/>
              <a:t>Consider the function </a:t>
            </a:r>
            <a:r>
              <a:rPr lang="en-GB" sz="2400" i="1" dirty="0"/>
              <a:t>Y</a:t>
            </a:r>
            <a:r>
              <a:rPr lang="en-GB" sz="2400" dirty="0"/>
              <a:t> = </a:t>
            </a:r>
            <a:r>
              <a:rPr lang="en-GB" sz="2400" i="1" dirty="0">
                <a:sym typeface="Symbol" panose="05050102010706020507" pitchFamily="18" charset="2"/>
              </a:rPr>
              <a:t></a:t>
            </a:r>
            <a:r>
              <a:rPr lang="en-GB" sz="2400" baseline="-25000" dirty="0"/>
              <a:t>0</a:t>
            </a:r>
            <a:r>
              <a:rPr lang="en-GB" sz="2400" dirty="0"/>
              <a:t> +</a:t>
            </a:r>
            <a:r>
              <a:rPr lang="en-GB" sz="2400" i="1" dirty="0"/>
              <a:t> </a:t>
            </a:r>
            <a:r>
              <a:rPr lang="en-GB" sz="2400" i="1" dirty="0">
                <a:sym typeface="Symbol" panose="05050102010706020507" pitchFamily="18" charset="2"/>
              </a:rPr>
              <a:t></a:t>
            </a:r>
            <a:r>
              <a:rPr lang="en-GB" sz="2400" baseline="-25000" dirty="0"/>
              <a:t>1</a:t>
            </a:r>
            <a:r>
              <a:rPr lang="en-GB" sz="2400" i="1" dirty="0"/>
              <a:t>X.</a:t>
            </a:r>
            <a:r>
              <a:rPr lang="en-GB" sz="2400" dirty="0"/>
              <a:t> The output for this regression is shown in below tables  and in Figure . There is a clear increasing and decreasing pattern in Figure indicating non-linear relationship between </a:t>
            </a:r>
            <a:r>
              <a:rPr lang="en-GB" sz="2400" i="1" dirty="0"/>
              <a:t>X</a:t>
            </a:r>
            <a:r>
              <a:rPr lang="en-GB" sz="2400" dirty="0"/>
              <a:t> and </a:t>
            </a:r>
            <a:r>
              <a:rPr lang="en-GB" sz="2400" i="1" dirty="0"/>
              <a:t>Y</a:t>
            </a:r>
            <a:r>
              <a:rPr lang="en-GB" sz="2400" dirty="0"/>
              <a:t>.</a:t>
            </a:r>
            <a:endParaRPr lang="en-IN" sz="2400" dirty="0"/>
          </a:p>
          <a:p>
            <a:endParaRPr lang="en-IN" dirty="0"/>
          </a:p>
        </p:txBody>
      </p:sp>
      <p:graphicFrame>
        <p:nvGraphicFramePr>
          <p:cNvPr id="4" name="Table 3">
            <a:extLst>
              <a:ext uri="{FF2B5EF4-FFF2-40B4-BE49-F238E27FC236}">
                <a16:creationId xmlns:a16="http://schemas.microsoft.com/office/drawing/2014/main" id="{346F2E2D-203A-414E-8C4C-642CA1F8CCBA}"/>
              </a:ext>
            </a:extLst>
          </p:cNvPr>
          <p:cNvGraphicFramePr>
            <a:graphicFrameLocks noGrp="1"/>
          </p:cNvGraphicFramePr>
          <p:nvPr>
            <p:extLst>
              <p:ext uri="{D42A27DB-BD31-4B8C-83A1-F6EECF244321}">
                <p14:modId xmlns:p14="http://schemas.microsoft.com/office/powerpoint/2010/main" val="3912246393"/>
              </p:ext>
            </p:extLst>
          </p:nvPr>
        </p:nvGraphicFramePr>
        <p:xfrm>
          <a:off x="1714499" y="2681095"/>
          <a:ext cx="5257799" cy="914400"/>
        </p:xfrm>
        <a:graphic>
          <a:graphicData uri="http://schemas.openxmlformats.org/drawingml/2006/table">
            <a:tbl>
              <a:tblPr>
                <a:tableStyleId>{69CF1AB2-1976-4502-BF36-3FF5EA218861}</a:tableStyleId>
              </a:tblPr>
              <a:tblGrid>
                <a:gridCol w="707449">
                  <a:extLst>
                    <a:ext uri="{9D8B030D-6E8A-4147-A177-3AD203B41FA5}">
                      <a16:colId xmlns:a16="http://schemas.microsoft.com/office/drawing/2014/main" val="3789520040"/>
                    </a:ext>
                  </a:extLst>
                </a:gridCol>
                <a:gridCol w="915148">
                  <a:extLst>
                    <a:ext uri="{9D8B030D-6E8A-4147-A177-3AD203B41FA5}">
                      <a16:colId xmlns:a16="http://schemas.microsoft.com/office/drawing/2014/main" val="755776493"/>
                    </a:ext>
                  </a:extLst>
                </a:gridCol>
                <a:gridCol w="970476">
                  <a:extLst>
                    <a:ext uri="{9D8B030D-6E8A-4147-A177-3AD203B41FA5}">
                      <a16:colId xmlns:a16="http://schemas.microsoft.com/office/drawing/2014/main" val="3365094935"/>
                    </a:ext>
                  </a:extLst>
                </a:gridCol>
                <a:gridCol w="1332363">
                  <a:extLst>
                    <a:ext uri="{9D8B030D-6E8A-4147-A177-3AD203B41FA5}">
                      <a16:colId xmlns:a16="http://schemas.microsoft.com/office/drawing/2014/main" val="79332554"/>
                    </a:ext>
                  </a:extLst>
                </a:gridCol>
                <a:gridCol w="1332363">
                  <a:extLst>
                    <a:ext uri="{9D8B030D-6E8A-4147-A177-3AD203B41FA5}">
                      <a16:colId xmlns:a16="http://schemas.microsoft.com/office/drawing/2014/main" val="3280796713"/>
                    </a:ext>
                  </a:extLst>
                </a:gridCol>
              </a:tblGrid>
              <a:tr h="621284">
                <a:tc>
                  <a:txBody>
                    <a:bodyPr/>
                    <a:lstStyle/>
                    <a:p>
                      <a:pPr marL="38100" marR="38100">
                        <a:lnSpc>
                          <a:spcPct val="150000"/>
                        </a:lnSpc>
                        <a:spcAft>
                          <a:spcPts val="0"/>
                        </a:spcAft>
                      </a:pPr>
                      <a:r>
                        <a:rPr lang="en-GB" sz="1400">
                          <a:effectLst/>
                        </a:rPr>
                        <a:t>Model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R-Square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Adjusted R-Square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Std. Error of the Estimate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68142575"/>
                  </a:ext>
                </a:extLst>
              </a:tr>
              <a:tr h="293116">
                <a:tc>
                  <a:txBody>
                    <a:bodyPr/>
                    <a:lstStyle/>
                    <a:p>
                      <a:pPr marL="38100" marR="38100">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dirty="0">
                          <a:effectLst/>
                          <a:highlight>
                            <a:srgbClr val="FFFF00"/>
                          </a:highlight>
                        </a:rPr>
                        <a:t>0.940</a:t>
                      </a:r>
                      <a:endParaRPr lang="en-IN" sz="1400" dirty="0">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0.883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0.878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1.946</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156764375"/>
                  </a:ext>
                </a:extLst>
              </a:tr>
            </a:tbl>
          </a:graphicData>
        </a:graphic>
      </p:graphicFrame>
      <p:sp>
        <p:nvSpPr>
          <p:cNvPr id="5" name="TextBox 4">
            <a:extLst>
              <a:ext uri="{FF2B5EF4-FFF2-40B4-BE49-F238E27FC236}">
                <a16:creationId xmlns:a16="http://schemas.microsoft.com/office/drawing/2014/main" id="{23BA7516-FB65-4A0F-9F17-770C87D408A4}"/>
              </a:ext>
            </a:extLst>
          </p:cNvPr>
          <p:cNvSpPr txBox="1"/>
          <p:nvPr/>
        </p:nvSpPr>
        <p:spPr>
          <a:xfrm>
            <a:off x="3086100" y="2193429"/>
            <a:ext cx="2667000" cy="369332"/>
          </a:xfrm>
          <a:prstGeom prst="rect">
            <a:avLst/>
          </a:prstGeom>
          <a:noFill/>
        </p:spPr>
        <p:txBody>
          <a:bodyPr wrap="square" rtlCol="0">
            <a:spAutoFit/>
          </a:bodyPr>
          <a:lstStyle/>
          <a:p>
            <a:r>
              <a:rPr lang="en-IN" b="1" dirty="0">
                <a:latin typeface="+mn-lt"/>
              </a:rPr>
              <a:t>Model Summary</a:t>
            </a:r>
          </a:p>
        </p:txBody>
      </p:sp>
      <p:graphicFrame>
        <p:nvGraphicFramePr>
          <p:cNvPr id="6" name="Table 5">
            <a:extLst>
              <a:ext uri="{FF2B5EF4-FFF2-40B4-BE49-F238E27FC236}">
                <a16:creationId xmlns:a16="http://schemas.microsoft.com/office/drawing/2014/main" id="{D9B8E061-932C-4974-B019-2B4F869D5139}"/>
              </a:ext>
            </a:extLst>
          </p:cNvPr>
          <p:cNvGraphicFramePr>
            <a:graphicFrameLocks noGrp="1"/>
          </p:cNvGraphicFramePr>
          <p:nvPr>
            <p:extLst>
              <p:ext uri="{D42A27DB-BD31-4B8C-83A1-F6EECF244321}">
                <p14:modId xmlns:p14="http://schemas.microsoft.com/office/powerpoint/2010/main" val="766295896"/>
              </p:ext>
            </p:extLst>
          </p:nvPr>
        </p:nvGraphicFramePr>
        <p:xfrm>
          <a:off x="990599" y="4222991"/>
          <a:ext cx="6705598" cy="2195196"/>
        </p:xfrm>
        <a:graphic>
          <a:graphicData uri="http://schemas.openxmlformats.org/drawingml/2006/table">
            <a:tbl>
              <a:tblPr>
                <a:tableStyleId>{69CF1AB2-1976-4502-BF36-3FF5EA218861}</a:tableStyleId>
              </a:tblPr>
              <a:tblGrid>
                <a:gridCol w="1210719">
                  <a:extLst>
                    <a:ext uri="{9D8B030D-6E8A-4147-A177-3AD203B41FA5}">
                      <a16:colId xmlns:a16="http://schemas.microsoft.com/office/drawing/2014/main" val="2628564956"/>
                    </a:ext>
                  </a:extLst>
                </a:gridCol>
                <a:gridCol w="1289608">
                  <a:extLst>
                    <a:ext uri="{9D8B030D-6E8A-4147-A177-3AD203B41FA5}">
                      <a16:colId xmlns:a16="http://schemas.microsoft.com/office/drawing/2014/main" val="332232272"/>
                    </a:ext>
                  </a:extLst>
                </a:gridCol>
                <a:gridCol w="890285">
                  <a:extLst>
                    <a:ext uri="{9D8B030D-6E8A-4147-A177-3AD203B41FA5}">
                      <a16:colId xmlns:a16="http://schemas.microsoft.com/office/drawing/2014/main" val="554997917"/>
                    </a:ext>
                  </a:extLst>
                </a:gridCol>
                <a:gridCol w="982590">
                  <a:extLst>
                    <a:ext uri="{9D8B030D-6E8A-4147-A177-3AD203B41FA5}">
                      <a16:colId xmlns:a16="http://schemas.microsoft.com/office/drawing/2014/main" val="4281951486"/>
                    </a:ext>
                  </a:extLst>
                </a:gridCol>
                <a:gridCol w="982590">
                  <a:extLst>
                    <a:ext uri="{9D8B030D-6E8A-4147-A177-3AD203B41FA5}">
                      <a16:colId xmlns:a16="http://schemas.microsoft.com/office/drawing/2014/main" val="3880871893"/>
                    </a:ext>
                  </a:extLst>
                </a:gridCol>
                <a:gridCol w="674903">
                  <a:extLst>
                    <a:ext uri="{9D8B030D-6E8A-4147-A177-3AD203B41FA5}">
                      <a16:colId xmlns:a16="http://schemas.microsoft.com/office/drawing/2014/main" val="292027838"/>
                    </a:ext>
                  </a:extLst>
                </a:gridCol>
                <a:gridCol w="674903">
                  <a:extLst>
                    <a:ext uri="{9D8B030D-6E8A-4147-A177-3AD203B41FA5}">
                      <a16:colId xmlns:a16="http://schemas.microsoft.com/office/drawing/2014/main" val="113336536"/>
                    </a:ext>
                  </a:extLst>
                </a:gridCol>
              </a:tblGrid>
              <a:tr h="670560">
                <a:tc rowSpan="2" gridSpan="2">
                  <a:txBody>
                    <a:bodyPr/>
                    <a:lstStyle/>
                    <a:p>
                      <a:pPr marL="38100" marR="38100">
                        <a:lnSpc>
                          <a:spcPct val="150000"/>
                        </a:lnSpc>
                        <a:spcAft>
                          <a:spcPts val="0"/>
                        </a:spcAft>
                      </a:pPr>
                      <a:r>
                        <a:rPr lang="en-GB" sz="1400" dirty="0">
                          <a:effectLst/>
                        </a:rPr>
                        <a:t>Model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hMerge="1">
                  <a:txBody>
                    <a:bodyPr/>
                    <a:lstStyle/>
                    <a:p>
                      <a:endParaRPr lang="en-IN"/>
                    </a:p>
                  </a:txBody>
                  <a:tcPr/>
                </a:tc>
                <a:tc gridSpan="2">
                  <a:txBody>
                    <a:bodyPr/>
                    <a:lstStyle/>
                    <a:p>
                      <a:pPr marL="38100" marR="38100" algn="ctr">
                        <a:lnSpc>
                          <a:spcPct val="150000"/>
                        </a:lnSpc>
                        <a:spcAft>
                          <a:spcPts val="0"/>
                        </a:spcAft>
                      </a:pPr>
                      <a:r>
                        <a:rPr lang="en-GB" sz="1400" dirty="0">
                          <a:effectLst/>
                        </a:rPr>
                        <a:t>Unstandardized Coefficients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L="38100" marR="38100" algn="ctr">
                        <a:lnSpc>
                          <a:spcPct val="150000"/>
                        </a:lnSpc>
                        <a:spcAft>
                          <a:spcPts val="0"/>
                        </a:spcAft>
                      </a:pPr>
                      <a:r>
                        <a:rPr lang="en-GB" sz="1400">
                          <a:effectLst/>
                        </a:rPr>
                        <a:t>Standardized Coefficients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a:effectLst/>
                        </a:rPr>
                        <a:t>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a:effectLst/>
                        </a:rPr>
                        <a:t>Sig.</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451959110"/>
                  </a:ext>
                </a:extLst>
              </a:tr>
              <a:tr h="335280">
                <a:tc gridSpan="2" vMerge="1">
                  <a:txBody>
                    <a:bodyPr/>
                    <a:lstStyle/>
                    <a:p>
                      <a:endParaRPr lang="en-IN"/>
                    </a:p>
                  </a:txBody>
                  <a:tcPr/>
                </a:tc>
                <a:tc hMerge="1" vMerge="1">
                  <a:txBody>
                    <a:bodyPr/>
                    <a:lstStyle/>
                    <a:p>
                      <a:endParaRPr lang="en-IN"/>
                    </a:p>
                  </a:txBody>
                  <a:tcPr/>
                </a:tc>
                <a:tc>
                  <a:txBody>
                    <a:bodyPr/>
                    <a:lstStyle/>
                    <a:p>
                      <a:pPr marL="38100" marR="38100" algn="ctr">
                        <a:lnSpc>
                          <a:spcPct val="150000"/>
                        </a:lnSpc>
                        <a:spcAft>
                          <a:spcPts val="0"/>
                        </a:spcAft>
                      </a:pPr>
                      <a:r>
                        <a:rPr lang="en-GB" sz="1400" dirty="0">
                          <a:effectLst/>
                        </a:rPr>
                        <a:t>B</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Std. Error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Beta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211909358"/>
                  </a:ext>
                </a:extLst>
              </a:tr>
              <a:tr h="335280">
                <a:tc rowSpan="2">
                  <a:txBody>
                    <a:bodyPr/>
                    <a:lstStyle/>
                    <a:p>
                      <a:pPr marL="38100" marR="38100">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nSpc>
                          <a:spcPct val="150000"/>
                        </a:lnSpc>
                        <a:spcAft>
                          <a:spcPts val="0"/>
                        </a:spcAft>
                      </a:pPr>
                      <a:r>
                        <a:rPr lang="en-GB" sz="1400">
                          <a:effectLst/>
                        </a:rPr>
                        <a:t>(Constant)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6.831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0.650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50000"/>
                        </a:lnSpc>
                        <a:spcAft>
                          <a:spcPts val="0"/>
                        </a:spcAft>
                      </a:pPr>
                      <a:r>
                        <a:rPr lang="en-GB" sz="1400" dirty="0">
                          <a:effectLst/>
                        </a:rPr>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10.516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208832078"/>
                  </a:ext>
                </a:extLst>
              </a:tr>
              <a:tr h="335280">
                <a:tc vMerge="1">
                  <a:txBody>
                    <a:bodyPr/>
                    <a:lstStyle/>
                    <a:p>
                      <a:endParaRPr lang="en-IN"/>
                    </a:p>
                  </a:txBody>
                  <a:tcPr/>
                </a:tc>
                <a:tc>
                  <a:txBody>
                    <a:bodyPr/>
                    <a:lstStyle/>
                    <a:p>
                      <a:pPr marL="38100" marR="38100">
                        <a:lnSpc>
                          <a:spcPct val="150000"/>
                        </a:lnSpc>
                        <a:spcAft>
                          <a:spcPts val="0"/>
                        </a:spcAft>
                      </a:pPr>
                      <a:r>
                        <a:rPr lang="en-GB" sz="1400">
                          <a:effectLst/>
                        </a:rPr>
                        <a:t>Promotion Expenses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1.181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0.091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0.940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12.911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0.000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17985046"/>
                  </a:ext>
                </a:extLst>
              </a:tr>
            </a:tbl>
          </a:graphicData>
        </a:graphic>
      </p:graphicFrame>
      <p:sp>
        <p:nvSpPr>
          <p:cNvPr id="7" name="TextBox 6">
            <a:extLst>
              <a:ext uri="{FF2B5EF4-FFF2-40B4-BE49-F238E27FC236}">
                <a16:creationId xmlns:a16="http://schemas.microsoft.com/office/drawing/2014/main" id="{B19C33A5-66B1-4E1B-99B7-A7E1C4EE039E}"/>
              </a:ext>
            </a:extLst>
          </p:cNvPr>
          <p:cNvSpPr txBox="1"/>
          <p:nvPr/>
        </p:nvSpPr>
        <p:spPr>
          <a:xfrm>
            <a:off x="3505200" y="3822881"/>
            <a:ext cx="1828800" cy="400110"/>
          </a:xfrm>
          <a:prstGeom prst="rect">
            <a:avLst/>
          </a:prstGeom>
          <a:noFill/>
        </p:spPr>
        <p:txBody>
          <a:bodyPr wrap="square" rtlCol="0">
            <a:spAutoFit/>
          </a:bodyPr>
          <a:lstStyle/>
          <a:p>
            <a:r>
              <a:rPr lang="en-GB" sz="2000" b="1" dirty="0">
                <a:latin typeface="+mn-lt"/>
              </a:rPr>
              <a:t>Coefficients</a:t>
            </a:r>
            <a:endParaRPr lang="en-IN" sz="2000" b="1" dirty="0">
              <a:latin typeface="+mn-lt"/>
            </a:endParaRPr>
          </a:p>
        </p:txBody>
      </p:sp>
    </p:spTree>
    <p:extLst>
      <p:ext uri="{BB962C8B-B14F-4D97-AF65-F5344CB8AC3E}">
        <p14:creationId xmlns:p14="http://schemas.microsoft.com/office/powerpoint/2010/main" val="366477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8D04D5-985F-4A0D-9FAA-3288940DA5D6}"/>
              </a:ext>
            </a:extLst>
          </p:cNvPr>
          <p:cNvPicPr>
            <a:picLocks noGrp="1"/>
          </p:cNvPicPr>
          <p:nvPr>
            <p:ph idx="4294967295"/>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762000" y="899318"/>
            <a:ext cx="7315200" cy="5059363"/>
          </a:xfrm>
          <a:prstGeom prst="rect">
            <a:avLst/>
          </a:prstGeom>
          <a:noFill/>
          <a:ln>
            <a:noFill/>
          </a:ln>
        </p:spPr>
      </p:pic>
    </p:spTree>
    <p:extLst>
      <p:ext uri="{BB962C8B-B14F-4D97-AF65-F5344CB8AC3E}">
        <p14:creationId xmlns:p14="http://schemas.microsoft.com/office/powerpoint/2010/main" val="4046485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B31936-1AB9-4E16-9701-B9A087A0C3FD}"/>
              </a:ext>
            </a:extLst>
          </p:cNvPr>
          <p:cNvSpPr>
            <a:spLocks noGrp="1"/>
          </p:cNvSpPr>
          <p:nvPr>
            <p:ph idx="4294967295"/>
          </p:nvPr>
        </p:nvSpPr>
        <p:spPr>
          <a:xfrm>
            <a:off x="609600" y="838200"/>
            <a:ext cx="8229600" cy="4830763"/>
          </a:xfrm>
        </p:spPr>
        <p:txBody>
          <a:bodyPr/>
          <a:lstStyle/>
          <a:p>
            <a:pPr marL="0" indent="0">
              <a:buNone/>
            </a:pPr>
            <a:r>
              <a:rPr lang="en-GB" sz="2400" dirty="0">
                <a:latin typeface="Gill Sans MT" panose="020B0502020104020203" pitchFamily="34" charset="0"/>
              </a:rPr>
              <a:t>Since there is a pattern in the residual plot, we cannot accept the linear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i="1" dirty="0">
                <a:latin typeface="Gill Sans MT" panose="020B0502020104020203" pitchFamily="34" charset="0"/>
              </a:rPr>
              <a:t>X</a:t>
            </a:r>
            <a:r>
              <a:rPr lang="en-GB" sz="2400" dirty="0">
                <a:latin typeface="Gill Sans MT" panose="020B0502020104020203" pitchFamily="34" charset="0"/>
              </a:rPr>
              <a:t>).  </a:t>
            </a:r>
          </a:p>
          <a:p>
            <a:pPr marL="0" indent="0">
              <a:buNone/>
            </a:pPr>
            <a:endParaRPr lang="en-IN" sz="2400" dirty="0">
              <a:latin typeface="Gill Sans MT" panose="020B0502020104020203" pitchFamily="34" charset="0"/>
            </a:endParaRPr>
          </a:p>
          <a:p>
            <a:pPr marL="0" indent="0">
              <a:buNone/>
            </a:pPr>
            <a:r>
              <a:rPr lang="en-GB" sz="2400" dirty="0">
                <a:latin typeface="Gill Sans MT" panose="020B0502020104020203" pitchFamily="34" charset="0"/>
              </a:rPr>
              <a:t>Next we try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dirty="0">
                <a:latin typeface="Gill Sans MT" panose="020B0502020104020203" pitchFamily="34" charset="0"/>
              </a:rPr>
              <a:t> ln(</a:t>
            </a:r>
            <a:r>
              <a:rPr lang="en-GB" sz="2400" i="1" dirty="0">
                <a:latin typeface="Gill Sans MT" panose="020B0502020104020203" pitchFamily="34" charset="0"/>
              </a:rPr>
              <a:t>X</a:t>
            </a:r>
            <a:r>
              <a:rPr lang="en-GB" sz="2400" dirty="0">
                <a:latin typeface="Gill Sans MT" panose="020B0502020104020203" pitchFamily="34" charset="0"/>
              </a:rPr>
              <a:t>). The SPSS output for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dirty="0">
                <a:latin typeface="Gill Sans MT" panose="020B0502020104020203" pitchFamily="34" charset="0"/>
              </a:rPr>
              <a:t>ln(</a:t>
            </a:r>
            <a:r>
              <a:rPr lang="en-GB" sz="2400" i="1" dirty="0">
                <a:latin typeface="Gill Sans MT" panose="020B0502020104020203" pitchFamily="34" charset="0"/>
              </a:rPr>
              <a:t>X</a:t>
            </a:r>
            <a:r>
              <a:rPr lang="en-GB" sz="2400" dirty="0">
                <a:latin typeface="Gill Sans MT" panose="020B0502020104020203" pitchFamily="34" charset="0"/>
              </a:rPr>
              <a:t>) is shown in Tables 10.31 and 10.32 and the residual plot is shown in Figure 10.11. </a:t>
            </a:r>
          </a:p>
          <a:p>
            <a:pPr marL="0" indent="0">
              <a:buNone/>
            </a:pPr>
            <a:endParaRPr lang="en-GB" sz="2400" dirty="0">
              <a:latin typeface="Gill Sans MT" panose="020B0502020104020203" pitchFamily="34" charset="0"/>
            </a:endParaRPr>
          </a:p>
          <a:p>
            <a:pPr marL="0" indent="0">
              <a:buNone/>
            </a:pPr>
            <a:r>
              <a:rPr lang="en-GB" sz="2400" dirty="0">
                <a:latin typeface="Gill Sans MT" panose="020B0502020104020203" pitchFamily="34" charset="0"/>
              </a:rPr>
              <a:t>Note that for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dirty="0">
                <a:latin typeface="Gill Sans MT" panose="020B0502020104020203" pitchFamily="34" charset="0"/>
              </a:rPr>
              <a:t>ln(</a:t>
            </a:r>
            <a:r>
              <a:rPr lang="en-GB" sz="2400" i="1" dirty="0">
                <a:latin typeface="Gill Sans MT" panose="020B0502020104020203" pitchFamily="34" charset="0"/>
              </a:rPr>
              <a:t>X</a:t>
            </a:r>
            <a:r>
              <a:rPr lang="en-GB" sz="2400" dirty="0">
                <a:latin typeface="Gill Sans MT" panose="020B0502020104020203" pitchFamily="34" charset="0"/>
              </a:rPr>
              <a:t>), the </a:t>
            </a:r>
            <a:r>
              <a:rPr lang="en-GB" sz="2400" i="1" dirty="0">
                <a:latin typeface="Gill Sans MT" panose="020B0502020104020203" pitchFamily="34" charset="0"/>
              </a:rPr>
              <a:t>R</a:t>
            </a:r>
            <a:r>
              <a:rPr lang="en-GB" sz="2400" baseline="30000" dirty="0">
                <a:latin typeface="Gill Sans MT" panose="020B0502020104020203" pitchFamily="34" charset="0"/>
              </a:rPr>
              <a:t>2</a:t>
            </a:r>
            <a:r>
              <a:rPr lang="en-GB" sz="2400" dirty="0">
                <a:latin typeface="Gill Sans MT" panose="020B0502020104020203" pitchFamily="34" charset="0"/>
              </a:rPr>
              <a:t>-value is 0.96 whereas the </a:t>
            </a:r>
            <a:r>
              <a:rPr lang="en-GB" sz="2400" i="1" dirty="0">
                <a:latin typeface="Gill Sans MT" panose="020B0502020104020203" pitchFamily="34" charset="0"/>
              </a:rPr>
              <a:t>R</a:t>
            </a:r>
            <a:r>
              <a:rPr lang="en-GB" sz="2400" baseline="30000" dirty="0">
                <a:latin typeface="Gill Sans MT" panose="020B0502020104020203" pitchFamily="34" charset="0"/>
              </a:rPr>
              <a:t>2</a:t>
            </a:r>
            <a:r>
              <a:rPr lang="en-GB" sz="2400" dirty="0">
                <a:latin typeface="Gill Sans MT" panose="020B0502020104020203" pitchFamily="34" charset="0"/>
              </a:rPr>
              <a:t>-value for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i="1" dirty="0">
                <a:latin typeface="Gill Sans MT" panose="020B0502020104020203" pitchFamily="34" charset="0"/>
              </a:rPr>
              <a:t>X</a:t>
            </a:r>
            <a:r>
              <a:rPr lang="en-GB" sz="2400" dirty="0">
                <a:latin typeface="Gill Sans MT" panose="020B0502020104020203" pitchFamily="34" charset="0"/>
              </a:rPr>
              <a:t> is 0.883. Most important, there is no obvious pattern in the residual plot of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dirty="0">
                <a:latin typeface="Gill Sans MT" panose="020B0502020104020203" pitchFamily="34" charset="0"/>
              </a:rPr>
              <a:t>ln(</a:t>
            </a:r>
            <a:r>
              <a:rPr lang="en-GB" sz="2400" i="1" dirty="0">
                <a:latin typeface="Gill Sans MT" panose="020B0502020104020203" pitchFamily="34" charset="0"/>
              </a:rPr>
              <a:t>X</a:t>
            </a:r>
            <a:r>
              <a:rPr lang="en-GB" sz="2400" dirty="0">
                <a:latin typeface="Gill Sans MT" panose="020B0502020104020203" pitchFamily="34" charset="0"/>
              </a:rPr>
              <a:t>).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dirty="0">
                <a:latin typeface="Gill Sans MT" panose="020B0502020104020203" pitchFamily="34" charset="0"/>
              </a:rPr>
              <a:t>ln(</a:t>
            </a:r>
            <a:r>
              <a:rPr lang="en-GB" sz="2400" i="1" dirty="0">
                <a:latin typeface="Gill Sans MT" panose="020B0502020104020203" pitchFamily="34" charset="0"/>
              </a:rPr>
              <a:t>X</a:t>
            </a:r>
            <a:r>
              <a:rPr lang="en-GB" sz="2400" dirty="0">
                <a:latin typeface="Gill Sans MT" panose="020B0502020104020203" pitchFamily="34" charset="0"/>
              </a:rPr>
              <a:t>) is preferred over the model </a:t>
            </a:r>
            <a:r>
              <a:rPr lang="en-GB" sz="2400" i="1" dirty="0">
                <a:latin typeface="Gill Sans MT" panose="020B0502020104020203" pitchFamily="34" charset="0"/>
              </a:rPr>
              <a:t>Y</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0</a:t>
            </a:r>
            <a:r>
              <a:rPr lang="en-GB" sz="2400" dirty="0">
                <a:latin typeface="Gill Sans MT" panose="020B0502020104020203" pitchFamily="34" charset="0"/>
              </a:rPr>
              <a:t> + </a:t>
            </a:r>
            <a:r>
              <a:rPr lang="en-GB" sz="2400" i="1" dirty="0">
                <a:latin typeface="Gill Sans MT" panose="020B0502020104020203" pitchFamily="34" charset="0"/>
                <a:sym typeface="Symbol" panose="05050102010706020507" pitchFamily="18" charset="2"/>
              </a:rPr>
              <a:t></a:t>
            </a:r>
            <a:r>
              <a:rPr lang="en-GB" sz="2400" baseline="-25000" dirty="0">
                <a:latin typeface="Gill Sans MT" panose="020B0502020104020203" pitchFamily="34" charset="0"/>
              </a:rPr>
              <a:t>1</a:t>
            </a:r>
            <a:r>
              <a:rPr lang="en-GB" sz="2400" i="1" dirty="0">
                <a:latin typeface="Gill Sans MT" panose="020B0502020104020203" pitchFamily="34" charset="0"/>
              </a:rPr>
              <a:t>X</a:t>
            </a:r>
            <a:r>
              <a:rPr lang="en-GB" sz="2400" dirty="0">
                <a:latin typeface="Gill Sans MT" panose="020B0502020104020203" pitchFamily="34" charset="0"/>
              </a:rPr>
              <a:t>.   </a:t>
            </a:r>
            <a:endParaRPr lang="en-IN" sz="2400" dirty="0">
              <a:latin typeface="Gill Sans MT" panose="020B0502020104020203" pitchFamily="34" charset="0"/>
            </a:endParaRPr>
          </a:p>
          <a:p>
            <a:endParaRPr lang="en-IN" dirty="0">
              <a:latin typeface="Gill Sans MT" panose="020B0502020104020203" pitchFamily="34" charset="0"/>
            </a:endParaRPr>
          </a:p>
        </p:txBody>
      </p:sp>
    </p:spTree>
    <p:extLst>
      <p:ext uri="{BB962C8B-B14F-4D97-AF65-F5344CB8AC3E}">
        <p14:creationId xmlns:p14="http://schemas.microsoft.com/office/powerpoint/2010/main" val="177825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6D25C9C-D0CA-44B5-AFBD-6423A6743B21}"/>
              </a:ext>
            </a:extLst>
          </p:cNvPr>
          <p:cNvGraphicFramePr>
            <a:graphicFrameLocks noGrp="1"/>
          </p:cNvGraphicFramePr>
          <p:nvPr>
            <p:ph idx="1"/>
            <p:extLst>
              <p:ext uri="{D42A27DB-BD31-4B8C-83A1-F6EECF244321}">
                <p14:modId xmlns:p14="http://schemas.microsoft.com/office/powerpoint/2010/main" val="1216945172"/>
              </p:ext>
            </p:extLst>
          </p:nvPr>
        </p:nvGraphicFramePr>
        <p:xfrm>
          <a:off x="1828800" y="1676400"/>
          <a:ext cx="5486400" cy="1143000"/>
        </p:xfrm>
        <a:graphic>
          <a:graphicData uri="http://schemas.openxmlformats.org/drawingml/2006/table">
            <a:tbl>
              <a:tblPr>
                <a:tableStyleId>{69CF1AB2-1976-4502-BF36-3FF5EA218861}</a:tableStyleId>
              </a:tblPr>
              <a:tblGrid>
                <a:gridCol w="676691">
                  <a:extLst>
                    <a:ext uri="{9D8B030D-6E8A-4147-A177-3AD203B41FA5}">
                      <a16:colId xmlns:a16="http://schemas.microsoft.com/office/drawing/2014/main" val="2257397116"/>
                    </a:ext>
                  </a:extLst>
                </a:gridCol>
                <a:gridCol w="875360">
                  <a:extLst>
                    <a:ext uri="{9D8B030D-6E8A-4147-A177-3AD203B41FA5}">
                      <a16:colId xmlns:a16="http://schemas.microsoft.com/office/drawing/2014/main" val="2323684212"/>
                    </a:ext>
                  </a:extLst>
                </a:gridCol>
                <a:gridCol w="928281">
                  <a:extLst>
                    <a:ext uri="{9D8B030D-6E8A-4147-A177-3AD203B41FA5}">
                      <a16:colId xmlns:a16="http://schemas.microsoft.com/office/drawing/2014/main" val="3860444645"/>
                    </a:ext>
                  </a:extLst>
                </a:gridCol>
                <a:gridCol w="1274434">
                  <a:extLst>
                    <a:ext uri="{9D8B030D-6E8A-4147-A177-3AD203B41FA5}">
                      <a16:colId xmlns:a16="http://schemas.microsoft.com/office/drawing/2014/main" val="1111504166"/>
                    </a:ext>
                  </a:extLst>
                </a:gridCol>
                <a:gridCol w="1731634">
                  <a:extLst>
                    <a:ext uri="{9D8B030D-6E8A-4147-A177-3AD203B41FA5}">
                      <a16:colId xmlns:a16="http://schemas.microsoft.com/office/drawing/2014/main" val="1025187529"/>
                    </a:ext>
                  </a:extLst>
                </a:gridCol>
              </a:tblGrid>
              <a:tr h="776606">
                <a:tc>
                  <a:txBody>
                    <a:bodyPr/>
                    <a:lstStyle/>
                    <a:p>
                      <a:pPr marL="38100" marR="38100">
                        <a:lnSpc>
                          <a:spcPct val="150000"/>
                        </a:lnSpc>
                        <a:spcAft>
                          <a:spcPts val="0"/>
                        </a:spcAft>
                      </a:pPr>
                      <a:r>
                        <a:rPr lang="en-GB" sz="1400">
                          <a:effectLst/>
                        </a:rPr>
                        <a:t>Model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R</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R-Square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dirty="0">
                          <a:effectLst/>
                        </a:rPr>
                        <a:t>Adjusted R-Square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Std. Error of the Estimate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094479802"/>
                  </a:ext>
                </a:extLst>
              </a:tr>
              <a:tr h="366394">
                <a:tc>
                  <a:txBody>
                    <a:bodyPr/>
                    <a:lstStyle/>
                    <a:p>
                      <a:pPr marL="38100" marR="38100">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dirty="0">
                          <a:effectLst/>
                          <a:highlight>
                            <a:srgbClr val="FFFF00"/>
                          </a:highlight>
                        </a:rPr>
                        <a:t>0.980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0.960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0.959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1.134</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16575937"/>
                  </a:ext>
                </a:extLst>
              </a:tr>
            </a:tbl>
          </a:graphicData>
        </a:graphic>
      </p:graphicFrame>
      <p:sp>
        <p:nvSpPr>
          <p:cNvPr id="5" name="TextBox 4">
            <a:extLst>
              <a:ext uri="{FF2B5EF4-FFF2-40B4-BE49-F238E27FC236}">
                <a16:creationId xmlns:a16="http://schemas.microsoft.com/office/drawing/2014/main" id="{FB9D63AA-6AE0-4606-A5A8-D9FCE979D0DB}"/>
              </a:ext>
            </a:extLst>
          </p:cNvPr>
          <p:cNvSpPr txBox="1"/>
          <p:nvPr/>
        </p:nvSpPr>
        <p:spPr>
          <a:xfrm>
            <a:off x="3352800" y="1052816"/>
            <a:ext cx="2438400" cy="400110"/>
          </a:xfrm>
          <a:prstGeom prst="rect">
            <a:avLst/>
          </a:prstGeom>
          <a:noFill/>
        </p:spPr>
        <p:txBody>
          <a:bodyPr wrap="square" rtlCol="0">
            <a:spAutoFit/>
          </a:bodyPr>
          <a:lstStyle/>
          <a:p>
            <a:r>
              <a:rPr lang="en-IN" sz="2000" b="1" dirty="0">
                <a:latin typeface="Bookman Old Style" panose="02050604050505020204" pitchFamily="18" charset="0"/>
              </a:rPr>
              <a:t>Model Summary</a:t>
            </a:r>
          </a:p>
        </p:txBody>
      </p:sp>
      <p:graphicFrame>
        <p:nvGraphicFramePr>
          <p:cNvPr id="8" name="Table 7">
            <a:extLst>
              <a:ext uri="{FF2B5EF4-FFF2-40B4-BE49-F238E27FC236}">
                <a16:creationId xmlns:a16="http://schemas.microsoft.com/office/drawing/2014/main" id="{754FB990-48F7-488D-86C5-0C1AA25C1D6F}"/>
              </a:ext>
            </a:extLst>
          </p:cNvPr>
          <p:cNvGraphicFramePr>
            <a:graphicFrameLocks noGrp="1"/>
          </p:cNvGraphicFramePr>
          <p:nvPr>
            <p:extLst>
              <p:ext uri="{D42A27DB-BD31-4B8C-83A1-F6EECF244321}">
                <p14:modId xmlns:p14="http://schemas.microsoft.com/office/powerpoint/2010/main" val="3195283871"/>
              </p:ext>
            </p:extLst>
          </p:nvPr>
        </p:nvGraphicFramePr>
        <p:xfrm>
          <a:off x="1219200" y="3886200"/>
          <a:ext cx="6781801" cy="1752600"/>
        </p:xfrm>
        <a:graphic>
          <a:graphicData uri="http://schemas.openxmlformats.org/drawingml/2006/table">
            <a:tbl>
              <a:tblPr>
                <a:tableStyleId>{69CF1AB2-1976-4502-BF36-3FF5EA218861}</a:tableStyleId>
              </a:tblPr>
              <a:tblGrid>
                <a:gridCol w="1008443">
                  <a:extLst>
                    <a:ext uri="{9D8B030D-6E8A-4147-A177-3AD203B41FA5}">
                      <a16:colId xmlns:a16="http://schemas.microsoft.com/office/drawing/2014/main" val="4200460010"/>
                    </a:ext>
                  </a:extLst>
                </a:gridCol>
                <a:gridCol w="1008443">
                  <a:extLst>
                    <a:ext uri="{9D8B030D-6E8A-4147-A177-3AD203B41FA5}">
                      <a16:colId xmlns:a16="http://schemas.microsoft.com/office/drawing/2014/main" val="907629029"/>
                    </a:ext>
                  </a:extLst>
                </a:gridCol>
                <a:gridCol w="1008443">
                  <a:extLst>
                    <a:ext uri="{9D8B030D-6E8A-4147-A177-3AD203B41FA5}">
                      <a16:colId xmlns:a16="http://schemas.microsoft.com/office/drawing/2014/main" val="702036531"/>
                    </a:ext>
                  </a:extLst>
                </a:gridCol>
                <a:gridCol w="1113000">
                  <a:extLst>
                    <a:ext uri="{9D8B030D-6E8A-4147-A177-3AD203B41FA5}">
                      <a16:colId xmlns:a16="http://schemas.microsoft.com/office/drawing/2014/main" val="771430938"/>
                    </a:ext>
                  </a:extLst>
                </a:gridCol>
                <a:gridCol w="1113000">
                  <a:extLst>
                    <a:ext uri="{9D8B030D-6E8A-4147-A177-3AD203B41FA5}">
                      <a16:colId xmlns:a16="http://schemas.microsoft.com/office/drawing/2014/main" val="4023606608"/>
                    </a:ext>
                  </a:extLst>
                </a:gridCol>
                <a:gridCol w="765236">
                  <a:extLst>
                    <a:ext uri="{9D8B030D-6E8A-4147-A177-3AD203B41FA5}">
                      <a16:colId xmlns:a16="http://schemas.microsoft.com/office/drawing/2014/main" val="2776547571"/>
                    </a:ext>
                  </a:extLst>
                </a:gridCol>
                <a:gridCol w="765236">
                  <a:extLst>
                    <a:ext uri="{9D8B030D-6E8A-4147-A177-3AD203B41FA5}">
                      <a16:colId xmlns:a16="http://schemas.microsoft.com/office/drawing/2014/main" val="3632468297"/>
                    </a:ext>
                  </a:extLst>
                </a:gridCol>
              </a:tblGrid>
              <a:tr h="701040">
                <a:tc rowSpan="2" gridSpan="2">
                  <a:txBody>
                    <a:bodyPr/>
                    <a:lstStyle/>
                    <a:p>
                      <a:pPr marL="38100" marR="38100">
                        <a:lnSpc>
                          <a:spcPct val="150000"/>
                        </a:lnSpc>
                        <a:spcAft>
                          <a:spcPts val="0"/>
                        </a:spcAft>
                      </a:pPr>
                      <a:r>
                        <a:rPr lang="en-GB" sz="1400" dirty="0">
                          <a:effectLst/>
                        </a:rPr>
                        <a:t>Model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hMerge="1">
                  <a:txBody>
                    <a:bodyPr/>
                    <a:lstStyle/>
                    <a:p>
                      <a:endParaRPr lang="en-IN"/>
                    </a:p>
                  </a:txBody>
                  <a:tcPr/>
                </a:tc>
                <a:tc gridSpan="2">
                  <a:txBody>
                    <a:bodyPr/>
                    <a:lstStyle/>
                    <a:p>
                      <a:pPr marL="38100" marR="38100" algn="ctr">
                        <a:lnSpc>
                          <a:spcPct val="150000"/>
                        </a:lnSpc>
                        <a:spcAft>
                          <a:spcPts val="0"/>
                        </a:spcAft>
                      </a:pPr>
                      <a:r>
                        <a:rPr lang="en-GB" sz="1400">
                          <a:effectLst/>
                        </a:rPr>
                        <a:t>Unstandardized Coefficients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a:txBody>
                    <a:bodyPr/>
                    <a:lstStyle/>
                    <a:p>
                      <a:pPr marL="38100" marR="38100" algn="ctr">
                        <a:lnSpc>
                          <a:spcPct val="150000"/>
                        </a:lnSpc>
                        <a:spcAft>
                          <a:spcPts val="0"/>
                        </a:spcAft>
                      </a:pPr>
                      <a:r>
                        <a:rPr lang="en-GB" sz="1400">
                          <a:effectLst/>
                        </a:rPr>
                        <a:t>Standardized Coefficients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a:effectLst/>
                        </a:rPr>
                        <a:t>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38100" marR="38100" algn="ctr">
                        <a:lnSpc>
                          <a:spcPct val="150000"/>
                        </a:lnSpc>
                        <a:spcAft>
                          <a:spcPts val="0"/>
                        </a:spcAft>
                      </a:pPr>
                      <a:r>
                        <a:rPr lang="en-GB" sz="1400">
                          <a:effectLst/>
                        </a:rPr>
                        <a:t>Sig.</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28991275"/>
                  </a:ext>
                </a:extLst>
              </a:tr>
              <a:tr h="350520">
                <a:tc gridSpan="2" vMerge="1">
                  <a:txBody>
                    <a:bodyPr/>
                    <a:lstStyle/>
                    <a:p>
                      <a:endParaRPr lang="en-IN"/>
                    </a:p>
                  </a:txBody>
                  <a:tcPr/>
                </a:tc>
                <a:tc hMerge="1" vMerge="1">
                  <a:txBody>
                    <a:bodyPr/>
                    <a:lstStyle/>
                    <a:p>
                      <a:endParaRPr lang="en-IN"/>
                    </a:p>
                  </a:txBody>
                  <a:tcPr/>
                </a:tc>
                <a:tc>
                  <a:txBody>
                    <a:bodyPr/>
                    <a:lstStyle/>
                    <a:p>
                      <a:pPr marL="38100" marR="38100" algn="ctr">
                        <a:lnSpc>
                          <a:spcPct val="150000"/>
                        </a:lnSpc>
                        <a:spcAft>
                          <a:spcPts val="0"/>
                        </a:spcAft>
                      </a:pPr>
                      <a:r>
                        <a:rPr lang="en-GB" sz="1400">
                          <a:effectLst/>
                        </a:rPr>
                        <a:t>B</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Std. Error</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ctr">
                        <a:lnSpc>
                          <a:spcPct val="150000"/>
                        </a:lnSpc>
                        <a:spcAft>
                          <a:spcPts val="0"/>
                        </a:spcAft>
                      </a:pPr>
                      <a:r>
                        <a:rPr lang="en-GB" sz="1400">
                          <a:effectLst/>
                        </a:rPr>
                        <a:t>Beta</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2947605796"/>
                  </a:ext>
                </a:extLst>
              </a:tr>
              <a:tr h="350520">
                <a:tc rowSpan="2">
                  <a:txBody>
                    <a:bodyPr/>
                    <a:lstStyle/>
                    <a:p>
                      <a:pPr marL="38100" marR="38100">
                        <a:lnSpc>
                          <a:spcPct val="150000"/>
                        </a:lnSpc>
                        <a:spcAft>
                          <a:spcPts val="0"/>
                        </a:spcAft>
                      </a:pPr>
                      <a:r>
                        <a:rPr lang="en-GB" sz="1400">
                          <a:effectLst/>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nSpc>
                          <a:spcPct val="150000"/>
                        </a:lnSpc>
                        <a:spcAft>
                          <a:spcPts val="0"/>
                        </a:spcAft>
                      </a:pPr>
                      <a:r>
                        <a:rPr lang="en-GB" sz="1400" dirty="0">
                          <a:effectLst/>
                        </a:rPr>
                        <a:t>(Constant)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4.439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0.454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50000"/>
                        </a:lnSpc>
                        <a:spcAft>
                          <a:spcPts val="0"/>
                        </a:spcAft>
                      </a:pPr>
                      <a:r>
                        <a:rPr lang="en-GB" sz="1400">
                          <a:effectLst/>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9.771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0.000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468701517"/>
                  </a:ext>
                </a:extLst>
              </a:tr>
              <a:tr h="350520">
                <a:tc vMerge="1">
                  <a:txBody>
                    <a:bodyPr/>
                    <a:lstStyle/>
                    <a:p>
                      <a:endParaRPr lang="en-IN"/>
                    </a:p>
                  </a:txBody>
                  <a:tcPr/>
                </a:tc>
                <a:tc>
                  <a:txBody>
                    <a:bodyPr/>
                    <a:lstStyle/>
                    <a:p>
                      <a:pPr marL="38100" marR="38100">
                        <a:lnSpc>
                          <a:spcPct val="150000"/>
                        </a:lnSpc>
                        <a:spcAft>
                          <a:spcPts val="0"/>
                        </a:spcAft>
                      </a:pPr>
                      <a:r>
                        <a:rPr lang="en-GB" sz="1400">
                          <a:effectLst/>
                        </a:rPr>
                        <a:t>ln (X)</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8100" marR="38100" algn="r">
                        <a:lnSpc>
                          <a:spcPct val="150000"/>
                        </a:lnSpc>
                        <a:spcAft>
                          <a:spcPts val="0"/>
                        </a:spcAft>
                      </a:pPr>
                      <a:r>
                        <a:rPr lang="en-GB" sz="1400">
                          <a:effectLst/>
                        </a:rPr>
                        <a:t>6.436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0.279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0.980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a:effectLst/>
                        </a:rPr>
                        <a:t>23.095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8100" marR="38100" algn="r">
                        <a:lnSpc>
                          <a:spcPct val="150000"/>
                        </a:lnSpc>
                        <a:spcAft>
                          <a:spcPts val="0"/>
                        </a:spcAft>
                      </a:pPr>
                      <a:r>
                        <a:rPr lang="en-GB" sz="1400" dirty="0">
                          <a:effectLst/>
                        </a:rPr>
                        <a:t>0.000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50023253"/>
                  </a:ext>
                </a:extLst>
              </a:tr>
            </a:tbl>
          </a:graphicData>
        </a:graphic>
      </p:graphicFrame>
      <p:sp>
        <p:nvSpPr>
          <p:cNvPr id="9" name="Rectangle 2">
            <a:extLst>
              <a:ext uri="{FF2B5EF4-FFF2-40B4-BE49-F238E27FC236}">
                <a16:creationId xmlns:a16="http://schemas.microsoft.com/office/drawing/2014/main" id="{DBF5E1A0-61BE-4D42-AADF-6868B384B6BD}"/>
              </a:ext>
            </a:extLst>
          </p:cNvPr>
          <p:cNvSpPr>
            <a:spLocks noChangeArrowheads="1"/>
          </p:cNvSpPr>
          <p:nvPr/>
        </p:nvSpPr>
        <p:spPr bwMode="auto">
          <a:xfrm>
            <a:off x="2019300" y="32337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TextBox 10">
            <a:extLst>
              <a:ext uri="{FF2B5EF4-FFF2-40B4-BE49-F238E27FC236}">
                <a16:creationId xmlns:a16="http://schemas.microsoft.com/office/drawing/2014/main" id="{F17C63B3-F3F4-4F6A-9EDE-3B19EFE8BBBD}"/>
              </a:ext>
            </a:extLst>
          </p:cNvPr>
          <p:cNvSpPr txBox="1"/>
          <p:nvPr/>
        </p:nvSpPr>
        <p:spPr>
          <a:xfrm>
            <a:off x="3882682" y="3352800"/>
            <a:ext cx="1756117" cy="369332"/>
          </a:xfrm>
          <a:prstGeom prst="rect">
            <a:avLst/>
          </a:prstGeom>
          <a:noFill/>
        </p:spPr>
        <p:txBody>
          <a:bodyPr wrap="square" rtlCol="0">
            <a:spAutoFit/>
          </a:bodyPr>
          <a:lstStyle/>
          <a:p>
            <a:r>
              <a:rPr lang="en-GB" b="1" dirty="0">
                <a:latin typeface="Bookman Old Style" panose="02050604050505020204" pitchFamily="18" charset="0"/>
              </a:rPr>
              <a:t>Coefficients</a:t>
            </a:r>
            <a:endParaRPr lang="en-IN" b="1" dirty="0">
              <a:latin typeface="Bookman Old Style" panose="02050604050505020204" pitchFamily="18" charset="0"/>
            </a:endParaRPr>
          </a:p>
        </p:txBody>
      </p:sp>
    </p:spTree>
    <p:extLst>
      <p:ext uri="{BB962C8B-B14F-4D97-AF65-F5344CB8AC3E}">
        <p14:creationId xmlns:p14="http://schemas.microsoft.com/office/powerpoint/2010/main" val="38614992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80EAEE-9AC4-4BFE-85EC-A4AE8306E782}"/>
              </a:ext>
            </a:extLst>
          </p:cNvPr>
          <p:cNvPicPr>
            <a:picLocks noGrp="1"/>
          </p:cNvPicPr>
          <p:nvPr>
            <p:ph idx="4294967295"/>
          </p:nvPr>
        </p:nvPicPr>
        <p:blipFill>
          <a:blip r:embed="rId2">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143000" y="1600200"/>
            <a:ext cx="6553200" cy="4525963"/>
          </a:xfrm>
          <a:prstGeom prst="rect">
            <a:avLst/>
          </a:prstGeom>
          <a:noFill/>
          <a:ln>
            <a:noFill/>
          </a:ln>
        </p:spPr>
      </p:pic>
      <p:sp>
        <p:nvSpPr>
          <p:cNvPr id="2" name="Title 1">
            <a:extLst>
              <a:ext uri="{FF2B5EF4-FFF2-40B4-BE49-F238E27FC236}">
                <a16:creationId xmlns:a16="http://schemas.microsoft.com/office/drawing/2014/main" id="{889382C9-2B99-46B2-A09D-BA483CFF2745}"/>
              </a:ext>
            </a:extLst>
          </p:cNvPr>
          <p:cNvSpPr>
            <a:spLocks noGrp="1"/>
          </p:cNvSpPr>
          <p:nvPr>
            <p:ph type="title" idx="4294967295"/>
          </p:nvPr>
        </p:nvSpPr>
        <p:spPr>
          <a:xfrm>
            <a:off x="1143000" y="533400"/>
            <a:ext cx="6553200" cy="868363"/>
          </a:xfrm>
        </p:spPr>
        <p:txBody>
          <a:bodyPr/>
          <a:lstStyle/>
          <a:p>
            <a:r>
              <a:rPr lang="en-GB" sz="2800" dirty="0">
                <a:latin typeface="Bookman Old Style" panose="02050604050505020204" pitchFamily="18" charset="0"/>
              </a:rPr>
              <a:t>Residual plot for the model </a:t>
            </a:r>
            <a:r>
              <a:rPr lang="en-GB" sz="2800" i="1" dirty="0">
                <a:latin typeface="Bookman Old Style" panose="02050604050505020204" pitchFamily="18" charset="0"/>
              </a:rPr>
              <a:t>Y</a:t>
            </a:r>
            <a:r>
              <a:rPr lang="en-GB" sz="2800" dirty="0">
                <a:latin typeface="Bookman Old Style" panose="02050604050505020204" pitchFamily="18" charset="0"/>
              </a:rPr>
              <a:t> = </a:t>
            </a:r>
            <a:r>
              <a:rPr lang="en-GB" sz="2800" i="1" dirty="0">
                <a:latin typeface="Bookman Old Style" panose="02050604050505020204" pitchFamily="18" charset="0"/>
                <a:sym typeface="Symbol" panose="05050102010706020507" pitchFamily="18" charset="2"/>
              </a:rPr>
              <a:t></a:t>
            </a:r>
            <a:r>
              <a:rPr lang="en-GB" sz="2800" baseline="-25000" dirty="0">
                <a:latin typeface="Bookman Old Style" panose="02050604050505020204" pitchFamily="18" charset="0"/>
              </a:rPr>
              <a:t>0</a:t>
            </a:r>
            <a:r>
              <a:rPr lang="en-GB" sz="2800" dirty="0">
                <a:latin typeface="Bookman Old Style" panose="02050604050505020204" pitchFamily="18" charset="0"/>
              </a:rPr>
              <a:t> + </a:t>
            </a:r>
            <a:r>
              <a:rPr lang="en-GB" sz="2800" i="1" dirty="0">
                <a:latin typeface="Bookman Old Style" panose="02050604050505020204" pitchFamily="18" charset="0"/>
                <a:sym typeface="Symbol" panose="05050102010706020507" pitchFamily="18" charset="2"/>
              </a:rPr>
              <a:t></a:t>
            </a:r>
            <a:r>
              <a:rPr lang="en-GB" sz="2800" baseline="-25000" dirty="0">
                <a:latin typeface="Bookman Old Style" panose="02050604050505020204" pitchFamily="18" charset="0"/>
              </a:rPr>
              <a:t>1</a:t>
            </a:r>
            <a:r>
              <a:rPr lang="en-GB" sz="2800" dirty="0">
                <a:latin typeface="Bookman Old Style" panose="02050604050505020204" pitchFamily="18" charset="0"/>
              </a:rPr>
              <a:t>ln(</a:t>
            </a:r>
            <a:r>
              <a:rPr lang="en-GB" sz="2800" i="1" dirty="0">
                <a:latin typeface="Bookman Old Style" panose="02050604050505020204" pitchFamily="18" charset="0"/>
              </a:rPr>
              <a:t>X</a:t>
            </a:r>
            <a:r>
              <a:rPr lang="en-GB" sz="2800" dirty="0">
                <a:latin typeface="Bookman Old Style" panose="02050604050505020204" pitchFamily="18" charset="0"/>
              </a:rPr>
              <a:t>). </a:t>
            </a:r>
            <a:endParaRPr lang="en-IN" sz="2800" dirty="0">
              <a:latin typeface="Bookman Old Style" panose="02050604050505020204" pitchFamily="18" charset="0"/>
            </a:endParaRPr>
          </a:p>
        </p:txBody>
      </p:sp>
    </p:spTree>
    <p:extLst>
      <p:ext uri="{BB962C8B-B14F-4D97-AF65-F5344CB8AC3E}">
        <p14:creationId xmlns:p14="http://schemas.microsoft.com/office/powerpoint/2010/main" val="236526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964F-64F9-427B-B327-6C5635AC5D39}"/>
              </a:ext>
            </a:extLst>
          </p:cNvPr>
          <p:cNvSpPr>
            <a:spLocks noGrp="1"/>
          </p:cNvSpPr>
          <p:nvPr>
            <p:ph type="title"/>
          </p:nvPr>
        </p:nvSpPr>
        <p:spPr>
          <a:xfrm>
            <a:off x="663819" y="533400"/>
            <a:ext cx="8252114" cy="518388"/>
          </a:xfrm>
        </p:spPr>
        <p:txBody>
          <a:bodyPr/>
          <a:lstStyle/>
          <a:p>
            <a:pPr algn="just"/>
            <a:r>
              <a:rPr lang="en-GB" sz="3200" b="1" dirty="0">
                <a:solidFill>
                  <a:srgbClr val="C00000"/>
                </a:solidFill>
              </a:rPr>
              <a:t>Summary</a:t>
            </a:r>
            <a:endParaRPr lang="en-IN" sz="2800" b="1" dirty="0">
              <a:solidFill>
                <a:srgbClr val="C00000"/>
              </a:solidFill>
            </a:endParaRPr>
          </a:p>
        </p:txBody>
      </p:sp>
      <p:sp>
        <p:nvSpPr>
          <p:cNvPr id="3" name="Content Placeholder 2">
            <a:extLst>
              <a:ext uri="{FF2B5EF4-FFF2-40B4-BE49-F238E27FC236}">
                <a16:creationId xmlns:a16="http://schemas.microsoft.com/office/drawing/2014/main" id="{8DC94A18-7DE8-4CBB-998C-7B1DD26D9B28}"/>
              </a:ext>
            </a:extLst>
          </p:cNvPr>
          <p:cNvSpPr>
            <a:spLocks noGrp="1"/>
          </p:cNvSpPr>
          <p:nvPr>
            <p:ph idx="1"/>
          </p:nvPr>
        </p:nvSpPr>
        <p:spPr>
          <a:xfrm>
            <a:off x="457200" y="1205347"/>
            <a:ext cx="8153400" cy="4971616"/>
          </a:xfrm>
        </p:spPr>
        <p:txBody>
          <a:bodyPr>
            <a:normAutofit lnSpcReduction="10000"/>
          </a:bodyPr>
          <a:lstStyle/>
          <a:p>
            <a:pPr algn="just"/>
            <a:r>
              <a:rPr lang="en-GB" sz="2400" dirty="0"/>
              <a:t>Multiple linear regression model is used to find existence of association relationship between a dependent variable and more than one independent variables.</a:t>
            </a:r>
          </a:p>
          <a:p>
            <a:pPr algn="just"/>
            <a:endParaRPr lang="en-IN" sz="2400" dirty="0"/>
          </a:p>
          <a:p>
            <a:pPr algn="just"/>
            <a:r>
              <a:rPr lang="en-GB" sz="2400" dirty="0"/>
              <a:t>In MLR, the regression coefficients are called partial regression coefficients, since it measures the change in the value of dependent variable for every one unit change in the value of independent variable, when all other independent variables in the model are kept constant.</a:t>
            </a:r>
          </a:p>
          <a:p>
            <a:pPr algn="just"/>
            <a:endParaRPr lang="en-IN" sz="2400" dirty="0"/>
          </a:p>
          <a:p>
            <a:pPr algn="just"/>
            <a:r>
              <a:rPr lang="en-GB" sz="2400" dirty="0"/>
              <a:t>When a new variable is added to a MLR model, the increase in R</a:t>
            </a:r>
            <a:r>
              <a:rPr lang="en-GB" sz="2400" baseline="30000" dirty="0"/>
              <a:t>2 </a:t>
            </a:r>
            <a:r>
              <a:rPr lang="en-GB" sz="2400" dirty="0"/>
              <a:t>is given by the square of the part-correlation (semi-partial correlation) between the dependent variable and the newly added variable.</a:t>
            </a:r>
            <a:endParaRPr lang="en-IN" sz="2400" dirty="0"/>
          </a:p>
          <a:p>
            <a:endParaRPr lang="en-IN" dirty="0"/>
          </a:p>
        </p:txBody>
      </p:sp>
    </p:spTree>
    <p:extLst>
      <p:ext uri="{BB962C8B-B14F-4D97-AF65-F5344CB8AC3E}">
        <p14:creationId xmlns:p14="http://schemas.microsoft.com/office/powerpoint/2010/main" val="400341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BD2D3D-455A-4A1C-AE81-7B4BA8B4956E}"/>
              </a:ext>
            </a:extLst>
          </p:cNvPr>
          <p:cNvSpPr>
            <a:spLocks noGrp="1"/>
          </p:cNvSpPr>
          <p:nvPr>
            <p:ph idx="4294967295"/>
          </p:nvPr>
        </p:nvSpPr>
        <p:spPr>
          <a:xfrm>
            <a:off x="228600" y="685800"/>
            <a:ext cx="8458200" cy="5715000"/>
          </a:xfrm>
        </p:spPr>
        <p:txBody>
          <a:bodyPr/>
          <a:lstStyle/>
          <a:p>
            <a:pPr algn="just">
              <a:buFont typeface="Wingdings" panose="05000000000000000000" pitchFamily="2" charset="2"/>
              <a:buChar char="Ø"/>
            </a:pPr>
            <a:r>
              <a:rPr lang="en-GB" sz="2400" dirty="0">
                <a:latin typeface="Gill Sans MT" panose="020B0502020104020203" pitchFamily="34" charset="0"/>
              </a:rPr>
              <a:t>While building MLR model, the categorical variables with n categories should be replaced with (n-1) dummy (binary) variables to avoid model </a:t>
            </a:r>
            <a:r>
              <a:rPr lang="en-GB" sz="2400" dirty="0" err="1">
                <a:latin typeface="Gill Sans MT" panose="020B0502020104020203" pitchFamily="34" charset="0"/>
              </a:rPr>
              <a:t>mis</a:t>
            </a:r>
            <a:r>
              <a:rPr lang="en-GB" sz="2400" dirty="0">
                <a:latin typeface="Gill Sans MT" panose="020B0502020104020203" pitchFamily="34" charset="0"/>
              </a:rPr>
              <a:t>-specification.</a:t>
            </a:r>
          </a:p>
          <a:p>
            <a:pPr algn="just">
              <a:buFont typeface="Wingdings" panose="05000000000000000000" pitchFamily="2" charset="2"/>
              <a:buChar char="Ø"/>
            </a:pPr>
            <a:r>
              <a:rPr lang="en-GB" sz="2400" dirty="0">
                <a:latin typeface="Gill Sans MT" panose="020B0502020104020203" pitchFamily="34" charset="0"/>
              </a:rPr>
              <a:t>Apart from checking for normality, heteroscedasticity, every MLR model should be checked for presence of multi-collinearity, since multi-collinearity can destabilize the MLR model.</a:t>
            </a:r>
            <a:endParaRPr lang="en-IN" sz="2400" dirty="0">
              <a:latin typeface="Gill Sans MT" panose="020B0502020104020203" pitchFamily="34" charset="0"/>
            </a:endParaRPr>
          </a:p>
          <a:p>
            <a:pPr algn="just">
              <a:buFont typeface="Wingdings" panose="05000000000000000000" pitchFamily="2" charset="2"/>
              <a:buChar char="Ø"/>
            </a:pPr>
            <a:r>
              <a:rPr lang="en-GB" sz="2400" dirty="0">
                <a:latin typeface="Gill Sans MT" panose="020B0502020104020203" pitchFamily="34" charset="0"/>
              </a:rPr>
              <a:t>If the data is time-series, then there could be auto-correlation which can result in adding a variable which is statistically not significance.  The presence of auto-correlation can result in inflating the t-statistic value.</a:t>
            </a:r>
          </a:p>
          <a:p>
            <a:pPr algn="just">
              <a:buFont typeface="Wingdings" panose="05000000000000000000" pitchFamily="2" charset="2"/>
              <a:buChar char="Ø"/>
            </a:pPr>
            <a:r>
              <a:rPr lang="en-GB" sz="2400" dirty="0">
                <a:latin typeface="Gill Sans MT" panose="020B0502020104020203" pitchFamily="34" charset="0"/>
              </a:rPr>
              <a:t>Variable selection is an important step in MLR model building.  Several strategies such as forward, backward and stepwise variable selection are used in building the model.  Partial F-test is one of the frequently used approached for variable selection.</a:t>
            </a:r>
            <a:endParaRPr lang="en-IN" sz="2400" dirty="0">
              <a:latin typeface="Gill Sans MT" panose="020B0502020104020203" pitchFamily="34" charset="0"/>
            </a:endParaRPr>
          </a:p>
          <a:p>
            <a:pPr>
              <a:buFont typeface="Wingdings" panose="05000000000000000000" pitchFamily="2" charset="2"/>
              <a:buChar char="Ø"/>
            </a:pPr>
            <a:endParaRPr lang="en-IN" sz="2400" dirty="0">
              <a:latin typeface="Gill Sans MT" panose="020B0502020104020203" pitchFamily="34" charset="0"/>
            </a:endParaRPr>
          </a:p>
        </p:txBody>
      </p:sp>
    </p:spTree>
    <p:extLst>
      <p:ext uri="{BB962C8B-B14F-4D97-AF65-F5344CB8AC3E}">
        <p14:creationId xmlns:p14="http://schemas.microsoft.com/office/powerpoint/2010/main" val="298162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Bookman Old Style"/>
        <a:ea typeface=""/>
        <a:cs typeface=""/>
      </a:majorFont>
      <a:minorFont>
        <a:latin typeface="Gill Sans M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dcb02f9-468b-42f6-bca8-27a1beec3d0f">
      <Terms xmlns="http://schemas.microsoft.com/office/infopath/2007/PartnerControls"/>
    </lcf76f155ced4ddcb4097134ff3c332f>
    <TaxCatchAll xmlns="9f51f41b-1389-4fd9-8715-53f051acc8f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41639689983243A575BB239F6EB19C" ma:contentTypeVersion="17" ma:contentTypeDescription="Create a new document." ma:contentTypeScope="" ma:versionID="7b4ed3c5c857c59c798834bbb5ae9f56">
  <xsd:schema xmlns:xsd="http://www.w3.org/2001/XMLSchema" xmlns:xs="http://www.w3.org/2001/XMLSchema" xmlns:p="http://schemas.microsoft.com/office/2006/metadata/properties" xmlns:ns2="6dcb02f9-468b-42f6-bca8-27a1beec3d0f" xmlns:ns3="9f51f41b-1389-4fd9-8715-53f051acc8f1" targetNamespace="http://schemas.microsoft.com/office/2006/metadata/properties" ma:root="true" ma:fieldsID="9b691ef5d1e24f7250626236073e1ae9" ns2:_="" ns3:_="">
    <xsd:import namespace="6dcb02f9-468b-42f6-bca8-27a1beec3d0f"/>
    <xsd:import namespace="9f51f41b-1389-4fd9-8715-53f051acc8f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3:TaxCatchAll"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b02f9-468b-42f6-bca8-27a1beec3d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f51f41b-1389-4fd9-8715-53f051acc8f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d2bfeba8-bc0f-43d4-bc38-d21a4ddb5615}" ma:internalName="TaxCatchAll" ma:showField="CatchAllData" ma:web="9f51f41b-1389-4fd9-8715-53f051acc8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321C44-DB11-42B6-B094-DC527010F253}">
  <ds:schemaRefs>
    <ds:schemaRef ds:uri="http://schemas.microsoft.com/sharepoint/v3/contenttype/forms"/>
  </ds:schemaRefs>
</ds:datastoreItem>
</file>

<file path=customXml/itemProps2.xml><?xml version="1.0" encoding="utf-8"?>
<ds:datastoreItem xmlns:ds="http://schemas.openxmlformats.org/officeDocument/2006/customXml" ds:itemID="{C6CCE297-34CF-4BB3-A7FF-4BFCB2A01D1C}">
  <ds:schemaRefs>
    <ds:schemaRef ds:uri="http://schemas.microsoft.com/office/2006/metadata/properties"/>
    <ds:schemaRef ds:uri="http://schemas.microsoft.com/office/infopath/2007/PartnerControls"/>
    <ds:schemaRef ds:uri="7a75d453-f6a4-4b2d-bad2-02019ece6a6e"/>
    <ds:schemaRef ds:uri="ad289718-5b2a-4112-8b11-b008fbc99b04"/>
    <ds:schemaRef ds:uri="6dcb02f9-468b-42f6-bca8-27a1beec3d0f"/>
    <ds:schemaRef ds:uri="9f51f41b-1389-4fd9-8715-53f051acc8f1"/>
  </ds:schemaRefs>
</ds:datastoreItem>
</file>

<file path=customXml/itemProps3.xml><?xml version="1.0" encoding="utf-8"?>
<ds:datastoreItem xmlns:ds="http://schemas.openxmlformats.org/officeDocument/2006/customXml" ds:itemID="{7F64B584-4FC0-4149-AA02-46B924C92B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cb02f9-468b-42f6-bca8-27a1beec3d0f"/>
    <ds:schemaRef ds:uri="9f51f41b-1389-4fd9-8715-53f051acc8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24374</TotalTime>
  <Words>5912</Words>
  <Application>Microsoft Office PowerPoint</Application>
  <PresentationFormat>On-screen Show (4:3)</PresentationFormat>
  <Paragraphs>1016</Paragraphs>
  <Slides>76</Slides>
  <Notes>0</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2</vt:i4>
      </vt:variant>
      <vt:variant>
        <vt:lpstr>Slide Titles</vt:lpstr>
      </vt:variant>
      <vt:variant>
        <vt:i4>76</vt:i4>
      </vt:variant>
    </vt:vector>
  </HeadingPairs>
  <TitlesOfParts>
    <vt:vector size="89" baseType="lpstr">
      <vt:lpstr>Arial</vt:lpstr>
      <vt:lpstr>Bookman Old Style</vt:lpstr>
      <vt:lpstr>Britannic Bold</vt:lpstr>
      <vt:lpstr>Calibri</vt:lpstr>
      <vt:lpstr>Gill Sans MT</vt:lpstr>
      <vt:lpstr>Symbol</vt:lpstr>
      <vt:lpstr>Times New Roman</vt:lpstr>
      <vt:lpstr>Wingdings</vt:lpstr>
      <vt:lpstr>Office Theme</vt:lpstr>
      <vt:lpstr>1_Office Theme</vt:lpstr>
      <vt:lpstr>Custom Design</vt:lpstr>
      <vt:lpstr>Equation</vt:lpstr>
      <vt:lpstr>Equation.3</vt:lpstr>
      <vt:lpstr>“Regression is like a woman. You never understand it fully. When you think you do, the next model is entirely different”.      - Daksh Itha Wickramasinghe</vt:lpstr>
      <vt:lpstr>Multiple Linear Regression</vt:lpstr>
      <vt:lpstr> Regression:  Matrix Representation </vt:lpstr>
      <vt:lpstr> Ordinary Least Squares Estimation for Multiple Linear Regression </vt:lpstr>
      <vt:lpstr>PowerPoint Presentation</vt:lpstr>
      <vt:lpstr>PowerPoint Presentation</vt:lpstr>
      <vt:lpstr>Multiple Linear Regression Model Building</vt:lpstr>
      <vt:lpstr>Framework for building multiple linear regression (MLR).</vt:lpstr>
      <vt:lpstr>Collect/Extract Data</vt:lpstr>
      <vt:lpstr>Pre-process the Data</vt:lpstr>
      <vt:lpstr>Perform Descriptive Analytics</vt:lpstr>
      <vt:lpstr>Divide the Data into Training and Validation Data</vt:lpstr>
      <vt:lpstr>Estimate Regression Parameters</vt:lpstr>
      <vt:lpstr>Perform Regression Model Diagnostics</vt:lpstr>
      <vt:lpstr>Validate the Model using Validation Data</vt:lpstr>
      <vt:lpstr>Deploy the Model</vt:lpstr>
      <vt:lpstr>Part (Semi-Partial) Correlation and Regression Model Building</vt:lpstr>
      <vt:lpstr>Partial Correlation</vt:lpstr>
      <vt:lpstr>Semi-Partial Correlation (or Part Correlation)</vt:lpstr>
      <vt:lpstr>PowerPoint Presentation</vt:lpstr>
      <vt:lpstr> Example </vt:lpstr>
      <vt:lpstr>PowerPoint Presentation</vt:lpstr>
      <vt:lpstr>PowerPoint Presentation</vt:lpstr>
      <vt:lpstr>PowerPoint Presentation</vt:lpstr>
      <vt:lpstr>Standardized Regression Co-efficient</vt:lpstr>
      <vt:lpstr>Regression Models with Qualitative Variables</vt:lpstr>
      <vt:lpstr>Example</vt:lpstr>
      <vt:lpstr>PowerPoint Presentation</vt:lpstr>
      <vt:lpstr>PowerPoint Presentation</vt:lpstr>
      <vt:lpstr>PowerPoint Presentation</vt:lpstr>
      <vt:lpstr>Interpretation of Regression Coefficients of Categorical Variables</vt:lpstr>
      <vt:lpstr>Interaction Variables in Regression Models</vt:lpstr>
      <vt:lpstr>Example</vt:lpstr>
      <vt:lpstr>Solution</vt:lpstr>
      <vt:lpstr>PowerPoint Presentation</vt:lpstr>
      <vt:lpstr>Validation of Multiple Regression Model</vt:lpstr>
      <vt:lpstr>PowerPoint Presentation</vt:lpstr>
      <vt:lpstr>Co-efficient of Multiple Determination (R-Square) and Adjusted R-Square</vt:lpstr>
      <vt:lpstr>PowerPoint Presentation</vt:lpstr>
      <vt:lpstr>PowerPoint Presentation</vt:lpstr>
      <vt:lpstr>Statistical Significance of Individual Variables in MLR – t-test</vt:lpstr>
      <vt:lpstr>PowerPoint Presentation</vt:lpstr>
      <vt:lpstr>Validation of Overall Regression Model – F-test</vt:lpstr>
      <vt:lpstr>Validation of Portions of a MLR Model – Partial F-test</vt:lpstr>
      <vt:lpstr>Residual Analysis in Multiple Linear Regression</vt:lpstr>
      <vt:lpstr>Multi-Collinearity and Variance Inflation Factor</vt:lpstr>
      <vt:lpstr>PowerPoint Presentation</vt:lpstr>
      <vt:lpstr>Variance Inflation Factor (VIF)</vt:lpstr>
      <vt:lpstr>PowerPoint Presentation</vt:lpstr>
      <vt:lpstr>Remedies for Handling Multi-Collinearity </vt:lpstr>
      <vt:lpstr>Auto-Correlation</vt:lpstr>
      <vt:lpstr>DurbinWatson Test for Auto-Correlation</vt:lpstr>
      <vt:lpstr>PowerPoint Presentation</vt:lpstr>
      <vt:lpstr>Distance Measures and Outliers Diagnostics</vt:lpstr>
      <vt:lpstr>Mahalanobis Distance</vt:lpstr>
      <vt:lpstr>Cook’s Distance</vt:lpstr>
      <vt:lpstr> Leverage Value (or Hat Value) </vt:lpstr>
      <vt:lpstr>DFFIT and SDFFIT</vt:lpstr>
      <vt:lpstr>PowerPoint Presentation</vt:lpstr>
      <vt:lpstr>DFBETA and SDFBETA</vt:lpstr>
      <vt:lpstr>PowerPoint Presentation</vt:lpstr>
      <vt:lpstr>Variable Selection in Regression Model Building (Forward, Backward, and Stepwise Regression)</vt:lpstr>
      <vt:lpstr>Forward Selection</vt:lpstr>
      <vt:lpstr>PowerPoint Presentation</vt:lpstr>
      <vt:lpstr>Backward Elimination Procedure</vt:lpstr>
      <vt:lpstr>Stepwise Regression</vt:lpstr>
      <vt:lpstr> Transformations </vt:lpstr>
      <vt:lpstr>Example</vt:lpstr>
      <vt:lpstr>PowerPoint Presentation</vt:lpstr>
      <vt:lpstr>PowerPoint Presentation</vt:lpstr>
      <vt:lpstr>PowerPoint Presentation</vt:lpstr>
      <vt:lpstr>PowerPoint Presentation</vt:lpstr>
      <vt:lpstr>PowerPoint Presentation</vt:lpstr>
      <vt:lpstr>Residual plot for the model Y = 0 + 1ln(X). </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shephali.tandon</dc:creator>
  <cp:lastModifiedBy>pradipta patra</cp:lastModifiedBy>
  <cp:revision>579</cp:revision>
  <dcterms:created xsi:type="dcterms:W3CDTF">2009-06-23T09:59:21Z</dcterms:created>
  <dcterms:modified xsi:type="dcterms:W3CDTF">2024-12-26T10:24:22Z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0x010100A041639689983243A575BB239F6EB19C</vt:lpwstr>
  </property>
</Properties>
</file>