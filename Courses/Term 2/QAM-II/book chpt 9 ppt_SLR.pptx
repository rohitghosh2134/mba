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4"/>
    <p:sldMasterId id="2147483745" r:id="rId5"/>
    <p:sldMasterId id="2147483840" r:id="rId6"/>
  </p:sldMasterIdLst>
  <p:notesMasterIdLst>
    <p:notesMasterId r:id="rId95"/>
  </p:notesMasterIdLst>
  <p:handoutMasterIdLst>
    <p:handoutMasterId r:id="rId96"/>
  </p:handoutMasterIdLst>
  <p:sldIdLst>
    <p:sldId id="264" r:id="rId7"/>
    <p:sldId id="266" r:id="rId8"/>
    <p:sldId id="369" r:id="rId9"/>
    <p:sldId id="356" r:id="rId10"/>
    <p:sldId id="355" r:id="rId11"/>
    <p:sldId id="371" r:id="rId12"/>
    <p:sldId id="372" r:id="rId13"/>
    <p:sldId id="378" r:id="rId14"/>
    <p:sldId id="268" r:id="rId15"/>
    <p:sldId id="327" r:id="rId16"/>
    <p:sldId id="326" r:id="rId17"/>
    <p:sldId id="325" r:id="rId18"/>
    <p:sldId id="693" r:id="rId19"/>
    <p:sldId id="269" r:id="rId20"/>
    <p:sldId id="357" r:id="rId21"/>
    <p:sldId id="270" r:id="rId22"/>
    <p:sldId id="271" r:id="rId23"/>
    <p:sldId id="272" r:id="rId24"/>
    <p:sldId id="279" r:id="rId25"/>
    <p:sldId id="280" r:id="rId26"/>
    <p:sldId id="281" r:id="rId27"/>
    <p:sldId id="282" r:id="rId28"/>
    <p:sldId id="285" r:id="rId29"/>
    <p:sldId id="381" r:id="rId30"/>
    <p:sldId id="286" r:id="rId31"/>
    <p:sldId id="287" r:id="rId32"/>
    <p:sldId id="288" r:id="rId33"/>
    <p:sldId id="382" r:id="rId34"/>
    <p:sldId id="388" r:id="rId35"/>
    <p:sldId id="387" r:id="rId36"/>
    <p:sldId id="386" r:id="rId37"/>
    <p:sldId id="385" r:id="rId38"/>
    <p:sldId id="383" r:id="rId39"/>
    <p:sldId id="397" r:id="rId40"/>
    <p:sldId id="396" r:id="rId41"/>
    <p:sldId id="394" r:id="rId42"/>
    <p:sldId id="393" r:id="rId43"/>
    <p:sldId id="392" r:id="rId44"/>
    <p:sldId id="391" r:id="rId45"/>
    <p:sldId id="390" r:id="rId46"/>
    <p:sldId id="359" r:id="rId47"/>
    <p:sldId id="294" r:id="rId48"/>
    <p:sldId id="361" r:id="rId49"/>
    <p:sldId id="297" r:id="rId50"/>
    <p:sldId id="350" r:id="rId51"/>
    <p:sldId id="362" r:id="rId52"/>
    <p:sldId id="305" r:id="rId53"/>
    <p:sldId id="306" r:id="rId54"/>
    <p:sldId id="308" r:id="rId55"/>
    <p:sldId id="399" r:id="rId56"/>
    <p:sldId id="400" r:id="rId57"/>
    <p:sldId id="402" r:id="rId58"/>
    <p:sldId id="404" r:id="rId59"/>
    <p:sldId id="398" r:id="rId60"/>
    <p:sldId id="406" r:id="rId61"/>
    <p:sldId id="407" r:id="rId62"/>
    <p:sldId id="678" r:id="rId63"/>
    <p:sldId id="679" r:id="rId64"/>
    <p:sldId id="680" r:id="rId65"/>
    <p:sldId id="686" r:id="rId66"/>
    <p:sldId id="683" r:id="rId67"/>
    <p:sldId id="415" r:id="rId68"/>
    <p:sldId id="413" r:id="rId69"/>
    <p:sldId id="681" r:id="rId70"/>
    <p:sldId id="684" r:id="rId71"/>
    <p:sldId id="675" r:id="rId72"/>
    <p:sldId id="384" r:id="rId73"/>
    <p:sldId id="682" r:id="rId74"/>
    <p:sldId id="687" r:id="rId75"/>
    <p:sldId id="676" r:id="rId76"/>
    <p:sldId id="677" r:id="rId77"/>
    <p:sldId id="685" r:id="rId78"/>
    <p:sldId id="688" r:id="rId79"/>
    <p:sldId id="412" r:id="rId80"/>
    <p:sldId id="410" r:id="rId81"/>
    <p:sldId id="421" r:id="rId82"/>
    <p:sldId id="420" r:id="rId83"/>
    <p:sldId id="689" r:id="rId84"/>
    <p:sldId id="690" r:id="rId85"/>
    <p:sldId id="419" r:id="rId86"/>
    <p:sldId id="691" r:id="rId87"/>
    <p:sldId id="418" r:id="rId88"/>
    <p:sldId id="692" r:id="rId89"/>
    <p:sldId id="417" r:id="rId90"/>
    <p:sldId id="409" r:id="rId91"/>
    <p:sldId id="423" r:id="rId92"/>
    <p:sldId id="428" r:id="rId93"/>
    <p:sldId id="425" r:id="rId94"/>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dipta patra" initials="pp" lastIdx="1" clrIdx="0">
    <p:extLst>
      <p:ext uri="{19B8F6BF-5375-455C-9EA6-DF929625EA0E}">
        <p15:presenceInfo xmlns:p15="http://schemas.microsoft.com/office/powerpoint/2012/main" userId="368a5734609c113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B111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3" autoAdjust="0"/>
    <p:restoredTop sz="94654" autoAdjust="0"/>
  </p:normalViewPr>
  <p:slideViewPr>
    <p:cSldViewPr>
      <p:cViewPr varScale="1">
        <p:scale>
          <a:sx n="63" d="100"/>
          <a:sy n="63" d="100"/>
        </p:scale>
        <p:origin x="1248"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notesMaster" Target="notesMasters/notesMaster1.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commentAuthors" Target="commentAuthor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presProps" Target="presProps.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E9260C-DCDF-40B8-8FC1-B6CAC589952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99F5856C-4C33-4812-8633-8453C404F60B}">
      <dgm:prSet phldrT="[Text]"/>
      <dgm:spPr>
        <a:solidFill>
          <a:srgbClr val="002060"/>
        </a:solidFill>
      </dgm:spPr>
      <dgm:t>
        <a:bodyPr/>
        <a:lstStyle/>
        <a:p>
          <a:r>
            <a:rPr lang="en-US" dirty="0"/>
            <a:t>Regression Models</a:t>
          </a:r>
        </a:p>
      </dgm:t>
    </dgm:pt>
    <dgm:pt modelId="{3EA95E0E-57D8-494B-A83E-DE05AB144684}" type="parTrans" cxnId="{B224C240-6C89-4B79-80BE-B6CE69A89385}">
      <dgm:prSet/>
      <dgm:spPr/>
      <dgm:t>
        <a:bodyPr/>
        <a:lstStyle/>
        <a:p>
          <a:endParaRPr lang="en-US"/>
        </a:p>
      </dgm:t>
    </dgm:pt>
    <dgm:pt modelId="{0193EFE7-86A9-49C4-8CCB-64EEE4A9A790}" type="sibTrans" cxnId="{B224C240-6C89-4B79-80BE-B6CE69A89385}">
      <dgm:prSet/>
      <dgm:spPr/>
      <dgm:t>
        <a:bodyPr/>
        <a:lstStyle/>
        <a:p>
          <a:endParaRPr lang="en-US"/>
        </a:p>
      </dgm:t>
    </dgm:pt>
    <dgm:pt modelId="{EE2690E7-5FDB-4BE1-9C5F-9007B304829C}" type="asst">
      <dgm:prSet phldrT="[Text]"/>
      <dgm:spPr>
        <a:solidFill>
          <a:srgbClr val="002060"/>
        </a:solidFill>
      </dgm:spPr>
      <dgm:t>
        <a:bodyPr/>
        <a:lstStyle/>
        <a:p>
          <a:r>
            <a:rPr lang="en-US" dirty="0"/>
            <a:t>Simple Regression</a:t>
          </a:r>
        </a:p>
      </dgm:t>
    </dgm:pt>
    <dgm:pt modelId="{C883A1F0-D10B-4103-BAE4-526588AF49FA}" type="parTrans" cxnId="{F207FD5A-085B-46A8-9DB2-24FAFFB7929A}">
      <dgm:prSet/>
      <dgm:spPr/>
      <dgm:t>
        <a:bodyPr/>
        <a:lstStyle/>
        <a:p>
          <a:endParaRPr lang="en-US"/>
        </a:p>
      </dgm:t>
    </dgm:pt>
    <dgm:pt modelId="{49D36CF0-A4F3-4B8C-964B-73CB05394490}" type="sibTrans" cxnId="{F207FD5A-085B-46A8-9DB2-24FAFFB7929A}">
      <dgm:prSet/>
      <dgm:spPr/>
      <dgm:t>
        <a:bodyPr/>
        <a:lstStyle/>
        <a:p>
          <a:endParaRPr lang="en-US"/>
        </a:p>
      </dgm:t>
    </dgm:pt>
    <dgm:pt modelId="{F3B2F55E-E78D-472D-842C-F948B459AA48}" type="asst">
      <dgm:prSet/>
      <dgm:spPr>
        <a:solidFill>
          <a:srgbClr val="002060"/>
        </a:solidFill>
      </dgm:spPr>
      <dgm:t>
        <a:bodyPr/>
        <a:lstStyle/>
        <a:p>
          <a:r>
            <a:rPr lang="en-US" dirty="0"/>
            <a:t>Multiple Regression</a:t>
          </a:r>
        </a:p>
      </dgm:t>
    </dgm:pt>
    <dgm:pt modelId="{1BA488F3-337D-4C55-91D3-5002E2C3EC45}" type="parTrans" cxnId="{96DFE989-A7A7-484A-97C3-DD5F4728D568}">
      <dgm:prSet/>
      <dgm:spPr/>
      <dgm:t>
        <a:bodyPr/>
        <a:lstStyle/>
        <a:p>
          <a:endParaRPr lang="en-US"/>
        </a:p>
      </dgm:t>
    </dgm:pt>
    <dgm:pt modelId="{08A423DC-2DB0-4EC5-957F-F5181D4F9DFA}" type="sibTrans" cxnId="{96DFE989-A7A7-484A-97C3-DD5F4728D568}">
      <dgm:prSet/>
      <dgm:spPr/>
      <dgm:t>
        <a:bodyPr/>
        <a:lstStyle/>
        <a:p>
          <a:endParaRPr lang="en-US"/>
        </a:p>
      </dgm:t>
    </dgm:pt>
    <dgm:pt modelId="{E95845B9-AD0F-417B-9C4C-0B9098893169}" type="asst">
      <dgm:prSet/>
      <dgm:spPr>
        <a:solidFill>
          <a:srgbClr val="002060"/>
        </a:solidFill>
      </dgm:spPr>
      <dgm:t>
        <a:bodyPr/>
        <a:lstStyle/>
        <a:p>
          <a:r>
            <a:rPr lang="en-US" dirty="0"/>
            <a:t>Linear</a:t>
          </a:r>
        </a:p>
      </dgm:t>
    </dgm:pt>
    <dgm:pt modelId="{4A193174-5FB2-45E4-974A-538E489013E1}" type="parTrans" cxnId="{F1B53765-7A70-4161-B76C-D22A5F2D202E}">
      <dgm:prSet/>
      <dgm:spPr/>
      <dgm:t>
        <a:bodyPr/>
        <a:lstStyle/>
        <a:p>
          <a:endParaRPr lang="en-US"/>
        </a:p>
      </dgm:t>
    </dgm:pt>
    <dgm:pt modelId="{720474AE-DD37-470D-B5EC-1A434CB72824}" type="sibTrans" cxnId="{F1B53765-7A70-4161-B76C-D22A5F2D202E}">
      <dgm:prSet/>
      <dgm:spPr/>
      <dgm:t>
        <a:bodyPr/>
        <a:lstStyle/>
        <a:p>
          <a:endParaRPr lang="en-US"/>
        </a:p>
      </dgm:t>
    </dgm:pt>
    <dgm:pt modelId="{9A0CE400-DD51-4721-BDCE-B5046395A138}" type="asst">
      <dgm:prSet/>
      <dgm:spPr/>
      <dgm:t>
        <a:bodyPr/>
        <a:lstStyle/>
        <a:p>
          <a:r>
            <a:rPr lang="en-US" dirty="0"/>
            <a:t>Non-linear</a:t>
          </a:r>
        </a:p>
      </dgm:t>
    </dgm:pt>
    <dgm:pt modelId="{263C734C-1860-49B2-9E51-D5638A809B7A}" type="parTrans" cxnId="{C594CD38-19E4-4A46-8BCA-A2EB09A1FAEF}">
      <dgm:prSet/>
      <dgm:spPr/>
      <dgm:t>
        <a:bodyPr/>
        <a:lstStyle/>
        <a:p>
          <a:endParaRPr lang="en-US"/>
        </a:p>
      </dgm:t>
    </dgm:pt>
    <dgm:pt modelId="{B3E6414E-6CAF-4DE9-B998-9F3087DB13E6}" type="sibTrans" cxnId="{C594CD38-19E4-4A46-8BCA-A2EB09A1FAEF}">
      <dgm:prSet/>
      <dgm:spPr/>
      <dgm:t>
        <a:bodyPr/>
        <a:lstStyle/>
        <a:p>
          <a:endParaRPr lang="en-US"/>
        </a:p>
      </dgm:t>
    </dgm:pt>
    <dgm:pt modelId="{26C86752-7A02-4580-A961-6A38A9EF4D80}" type="asst">
      <dgm:prSet/>
      <dgm:spPr>
        <a:solidFill>
          <a:srgbClr val="002060"/>
        </a:solidFill>
      </dgm:spPr>
      <dgm:t>
        <a:bodyPr/>
        <a:lstStyle/>
        <a:p>
          <a:r>
            <a:rPr lang="en-US" dirty="0"/>
            <a:t>Linear</a:t>
          </a:r>
        </a:p>
      </dgm:t>
    </dgm:pt>
    <dgm:pt modelId="{7E511D51-20E6-4B44-BD94-183CF0F75E48}" type="parTrans" cxnId="{966E84F3-7F25-4F95-8B19-3AFFB35B06E7}">
      <dgm:prSet/>
      <dgm:spPr/>
      <dgm:t>
        <a:bodyPr/>
        <a:lstStyle/>
        <a:p>
          <a:endParaRPr lang="en-US"/>
        </a:p>
      </dgm:t>
    </dgm:pt>
    <dgm:pt modelId="{28CB6107-0285-410B-88F9-9B2856AB2478}" type="sibTrans" cxnId="{966E84F3-7F25-4F95-8B19-3AFFB35B06E7}">
      <dgm:prSet/>
      <dgm:spPr/>
      <dgm:t>
        <a:bodyPr/>
        <a:lstStyle/>
        <a:p>
          <a:endParaRPr lang="en-US"/>
        </a:p>
      </dgm:t>
    </dgm:pt>
    <dgm:pt modelId="{91EE022A-F83F-4C07-B8CB-26B7F22B1025}" type="asst">
      <dgm:prSet/>
      <dgm:spPr/>
      <dgm:t>
        <a:bodyPr/>
        <a:lstStyle/>
        <a:p>
          <a:r>
            <a:rPr lang="en-US" dirty="0"/>
            <a:t>Non-linear</a:t>
          </a:r>
        </a:p>
      </dgm:t>
    </dgm:pt>
    <dgm:pt modelId="{DF82A9F4-E895-42AB-B4E4-811F94AEBEFC}" type="parTrans" cxnId="{F7BB4ED0-264D-4809-AD6F-CF89C7E35392}">
      <dgm:prSet/>
      <dgm:spPr/>
      <dgm:t>
        <a:bodyPr/>
        <a:lstStyle/>
        <a:p>
          <a:endParaRPr lang="en-US"/>
        </a:p>
      </dgm:t>
    </dgm:pt>
    <dgm:pt modelId="{649680A4-AD26-47CA-8699-2AB0078CD601}" type="sibTrans" cxnId="{F7BB4ED0-264D-4809-AD6F-CF89C7E35392}">
      <dgm:prSet/>
      <dgm:spPr/>
      <dgm:t>
        <a:bodyPr/>
        <a:lstStyle/>
        <a:p>
          <a:endParaRPr lang="en-US"/>
        </a:p>
      </dgm:t>
    </dgm:pt>
    <dgm:pt modelId="{B8E3C5B1-4107-4988-BC8D-E9EEE0A91FF4}" type="pres">
      <dgm:prSet presAssocID="{2BE9260C-DCDF-40B8-8FC1-B6CAC5899520}" presName="hierChild1" presStyleCnt="0">
        <dgm:presLayoutVars>
          <dgm:orgChart val="1"/>
          <dgm:chPref val="1"/>
          <dgm:dir/>
          <dgm:animOne val="branch"/>
          <dgm:animLvl val="lvl"/>
          <dgm:resizeHandles/>
        </dgm:presLayoutVars>
      </dgm:prSet>
      <dgm:spPr/>
    </dgm:pt>
    <dgm:pt modelId="{7799D637-548C-4677-BA9C-AB9A5583C5F4}" type="pres">
      <dgm:prSet presAssocID="{99F5856C-4C33-4812-8633-8453C404F60B}" presName="hierRoot1" presStyleCnt="0">
        <dgm:presLayoutVars>
          <dgm:hierBranch val="init"/>
        </dgm:presLayoutVars>
      </dgm:prSet>
      <dgm:spPr/>
    </dgm:pt>
    <dgm:pt modelId="{D3C91326-4785-4F2B-B44D-0B77E509EF02}" type="pres">
      <dgm:prSet presAssocID="{99F5856C-4C33-4812-8633-8453C404F60B}" presName="rootComposite1" presStyleCnt="0"/>
      <dgm:spPr/>
    </dgm:pt>
    <dgm:pt modelId="{4E58AEE4-7621-4482-B72C-886F6ADB2E0C}" type="pres">
      <dgm:prSet presAssocID="{99F5856C-4C33-4812-8633-8453C404F60B}" presName="rootText1" presStyleLbl="node0" presStyleIdx="0" presStyleCnt="1" custScaleY="110699" custLinFactY="-84505" custLinFactNeighborX="210" custLinFactNeighborY="-100000">
        <dgm:presLayoutVars>
          <dgm:chPref val="3"/>
        </dgm:presLayoutVars>
      </dgm:prSet>
      <dgm:spPr/>
    </dgm:pt>
    <dgm:pt modelId="{9494F199-F41E-4DAF-9250-ADDB15F9DA16}" type="pres">
      <dgm:prSet presAssocID="{99F5856C-4C33-4812-8633-8453C404F60B}" presName="rootConnector1" presStyleLbl="node1" presStyleIdx="0" presStyleCnt="0"/>
      <dgm:spPr/>
    </dgm:pt>
    <dgm:pt modelId="{3AB7AC39-5DE0-4D06-9168-DBFF316079B0}" type="pres">
      <dgm:prSet presAssocID="{99F5856C-4C33-4812-8633-8453C404F60B}" presName="hierChild2" presStyleCnt="0"/>
      <dgm:spPr/>
    </dgm:pt>
    <dgm:pt modelId="{ADAE0BA8-6F15-4D3E-874B-F456B234EB4B}" type="pres">
      <dgm:prSet presAssocID="{99F5856C-4C33-4812-8633-8453C404F60B}" presName="hierChild3" presStyleCnt="0"/>
      <dgm:spPr/>
    </dgm:pt>
    <dgm:pt modelId="{912F2571-7847-406C-9FA1-E083981965BC}" type="pres">
      <dgm:prSet presAssocID="{C883A1F0-D10B-4103-BAE4-526588AF49FA}" presName="Name111" presStyleLbl="parChTrans1D2" presStyleIdx="0" presStyleCnt="2"/>
      <dgm:spPr/>
    </dgm:pt>
    <dgm:pt modelId="{83CC06E2-2CFE-4AB3-9DB9-0446A5666DD0}" type="pres">
      <dgm:prSet presAssocID="{EE2690E7-5FDB-4BE1-9C5F-9007B304829C}" presName="hierRoot3" presStyleCnt="0">
        <dgm:presLayoutVars>
          <dgm:hierBranch val="init"/>
        </dgm:presLayoutVars>
      </dgm:prSet>
      <dgm:spPr/>
    </dgm:pt>
    <dgm:pt modelId="{DC400873-4CCB-415F-B6F4-575DD70F0942}" type="pres">
      <dgm:prSet presAssocID="{EE2690E7-5FDB-4BE1-9C5F-9007B304829C}" presName="rootComposite3" presStyleCnt="0"/>
      <dgm:spPr/>
    </dgm:pt>
    <dgm:pt modelId="{9A2547F4-5263-4153-83B9-32B1770C4E2E}" type="pres">
      <dgm:prSet presAssocID="{EE2690E7-5FDB-4BE1-9C5F-9007B304829C}" presName="rootText3" presStyleLbl="asst1" presStyleIdx="0" presStyleCnt="6" custScaleX="128493">
        <dgm:presLayoutVars>
          <dgm:chPref val="3"/>
        </dgm:presLayoutVars>
      </dgm:prSet>
      <dgm:spPr/>
    </dgm:pt>
    <dgm:pt modelId="{7E15F22E-E66D-4235-B9BB-EE29BFD215C4}" type="pres">
      <dgm:prSet presAssocID="{EE2690E7-5FDB-4BE1-9C5F-9007B304829C}" presName="rootConnector3" presStyleLbl="asst1" presStyleIdx="0" presStyleCnt="6"/>
      <dgm:spPr/>
    </dgm:pt>
    <dgm:pt modelId="{DEB3CD29-C189-455A-9E40-B48F4FAEA162}" type="pres">
      <dgm:prSet presAssocID="{EE2690E7-5FDB-4BE1-9C5F-9007B304829C}" presName="hierChild6" presStyleCnt="0"/>
      <dgm:spPr/>
    </dgm:pt>
    <dgm:pt modelId="{8EDD7D53-B0FB-43DB-980D-51D9C2967154}" type="pres">
      <dgm:prSet presAssocID="{EE2690E7-5FDB-4BE1-9C5F-9007B304829C}" presName="hierChild7" presStyleCnt="0"/>
      <dgm:spPr/>
    </dgm:pt>
    <dgm:pt modelId="{9D134F8A-7D0C-4E3F-B307-8FFF31C3940C}" type="pres">
      <dgm:prSet presAssocID="{4A193174-5FB2-45E4-974A-538E489013E1}" presName="Name111" presStyleLbl="parChTrans1D3" presStyleIdx="0" presStyleCnt="4"/>
      <dgm:spPr/>
    </dgm:pt>
    <dgm:pt modelId="{49E9D478-7D2D-44EF-B2A6-563BC5B92922}" type="pres">
      <dgm:prSet presAssocID="{E95845B9-AD0F-417B-9C4C-0B9098893169}" presName="hierRoot3" presStyleCnt="0">
        <dgm:presLayoutVars>
          <dgm:hierBranch val="init"/>
        </dgm:presLayoutVars>
      </dgm:prSet>
      <dgm:spPr/>
    </dgm:pt>
    <dgm:pt modelId="{5D5BEECE-269F-49FC-9413-91800F57D237}" type="pres">
      <dgm:prSet presAssocID="{E95845B9-AD0F-417B-9C4C-0B9098893169}" presName="rootComposite3" presStyleCnt="0"/>
      <dgm:spPr/>
    </dgm:pt>
    <dgm:pt modelId="{8DB59530-F141-48CE-AEB0-0A8CD827C1BB}" type="pres">
      <dgm:prSet presAssocID="{E95845B9-AD0F-417B-9C4C-0B9098893169}" presName="rootText3" presStyleLbl="asst1" presStyleIdx="1" presStyleCnt="6" custScaleX="131066">
        <dgm:presLayoutVars>
          <dgm:chPref val="3"/>
        </dgm:presLayoutVars>
      </dgm:prSet>
      <dgm:spPr/>
    </dgm:pt>
    <dgm:pt modelId="{68DBEE4B-E314-49F1-9EDC-0268FCEB4C3E}" type="pres">
      <dgm:prSet presAssocID="{E95845B9-AD0F-417B-9C4C-0B9098893169}" presName="rootConnector3" presStyleLbl="asst1" presStyleIdx="1" presStyleCnt="6"/>
      <dgm:spPr/>
    </dgm:pt>
    <dgm:pt modelId="{7D4506FA-B64E-4889-B2E5-69490AA0DBEE}" type="pres">
      <dgm:prSet presAssocID="{E95845B9-AD0F-417B-9C4C-0B9098893169}" presName="hierChild6" presStyleCnt="0"/>
      <dgm:spPr/>
    </dgm:pt>
    <dgm:pt modelId="{E6D4CA8D-AF2B-4489-BC89-41EAE42545E4}" type="pres">
      <dgm:prSet presAssocID="{E95845B9-AD0F-417B-9C4C-0B9098893169}" presName="hierChild7" presStyleCnt="0"/>
      <dgm:spPr/>
    </dgm:pt>
    <dgm:pt modelId="{78DF5175-580A-4CAE-9E45-AA00FFFEE701}" type="pres">
      <dgm:prSet presAssocID="{263C734C-1860-49B2-9E51-D5638A809B7A}" presName="Name111" presStyleLbl="parChTrans1D3" presStyleIdx="1" presStyleCnt="4"/>
      <dgm:spPr/>
    </dgm:pt>
    <dgm:pt modelId="{D83CBAD4-8FC5-461D-A5BB-E33BF8C908D6}" type="pres">
      <dgm:prSet presAssocID="{9A0CE400-DD51-4721-BDCE-B5046395A138}" presName="hierRoot3" presStyleCnt="0">
        <dgm:presLayoutVars>
          <dgm:hierBranch val="init"/>
        </dgm:presLayoutVars>
      </dgm:prSet>
      <dgm:spPr/>
    </dgm:pt>
    <dgm:pt modelId="{A017E275-5501-4052-AFC2-DAF422D1D333}" type="pres">
      <dgm:prSet presAssocID="{9A0CE400-DD51-4721-BDCE-B5046395A138}" presName="rootComposite3" presStyleCnt="0"/>
      <dgm:spPr/>
    </dgm:pt>
    <dgm:pt modelId="{44FCA3DA-881B-4023-96CC-009C39CE3DDF}" type="pres">
      <dgm:prSet presAssocID="{9A0CE400-DD51-4721-BDCE-B5046395A138}" presName="rootText3" presStyleLbl="asst1" presStyleIdx="2" presStyleCnt="6" custScaleX="113397">
        <dgm:presLayoutVars>
          <dgm:chPref val="3"/>
        </dgm:presLayoutVars>
      </dgm:prSet>
      <dgm:spPr/>
    </dgm:pt>
    <dgm:pt modelId="{64D22CED-4C60-45C8-BD62-084D54DA7620}" type="pres">
      <dgm:prSet presAssocID="{9A0CE400-DD51-4721-BDCE-B5046395A138}" presName="rootConnector3" presStyleLbl="asst1" presStyleIdx="2" presStyleCnt="6"/>
      <dgm:spPr/>
    </dgm:pt>
    <dgm:pt modelId="{5FF2192C-F46F-4C19-8D9D-541BA9AF0A78}" type="pres">
      <dgm:prSet presAssocID="{9A0CE400-DD51-4721-BDCE-B5046395A138}" presName="hierChild6" presStyleCnt="0"/>
      <dgm:spPr/>
    </dgm:pt>
    <dgm:pt modelId="{AC9E596B-8AC2-4287-8778-46FF208AB0FF}" type="pres">
      <dgm:prSet presAssocID="{9A0CE400-DD51-4721-BDCE-B5046395A138}" presName="hierChild7" presStyleCnt="0"/>
      <dgm:spPr/>
    </dgm:pt>
    <dgm:pt modelId="{6E446E5D-593A-4049-8A95-77FF7D85C2C9}" type="pres">
      <dgm:prSet presAssocID="{1BA488F3-337D-4C55-91D3-5002E2C3EC45}" presName="Name111" presStyleLbl="parChTrans1D2" presStyleIdx="1" presStyleCnt="2"/>
      <dgm:spPr/>
    </dgm:pt>
    <dgm:pt modelId="{AE556253-7F95-4F85-BF57-16721D181EB3}" type="pres">
      <dgm:prSet presAssocID="{F3B2F55E-E78D-472D-842C-F948B459AA48}" presName="hierRoot3" presStyleCnt="0">
        <dgm:presLayoutVars>
          <dgm:hierBranch val="init"/>
        </dgm:presLayoutVars>
      </dgm:prSet>
      <dgm:spPr/>
    </dgm:pt>
    <dgm:pt modelId="{5FFFB23E-D943-42B1-8AC3-A878BE2DB3E1}" type="pres">
      <dgm:prSet presAssocID="{F3B2F55E-E78D-472D-842C-F948B459AA48}" presName="rootComposite3" presStyleCnt="0"/>
      <dgm:spPr/>
    </dgm:pt>
    <dgm:pt modelId="{292B0183-17C1-4E5A-BD2F-826BF519A3E7}" type="pres">
      <dgm:prSet presAssocID="{F3B2F55E-E78D-472D-842C-F948B459AA48}" presName="rootText3" presStyleLbl="asst1" presStyleIdx="3" presStyleCnt="6" custScaleX="136350">
        <dgm:presLayoutVars>
          <dgm:chPref val="3"/>
        </dgm:presLayoutVars>
      </dgm:prSet>
      <dgm:spPr/>
    </dgm:pt>
    <dgm:pt modelId="{61B8C692-D6E6-49E0-8F6B-871FAD1A94C9}" type="pres">
      <dgm:prSet presAssocID="{F3B2F55E-E78D-472D-842C-F948B459AA48}" presName="rootConnector3" presStyleLbl="asst1" presStyleIdx="3" presStyleCnt="6"/>
      <dgm:spPr/>
    </dgm:pt>
    <dgm:pt modelId="{20707F4C-03E8-4C6F-9E63-79E3223E72F9}" type="pres">
      <dgm:prSet presAssocID="{F3B2F55E-E78D-472D-842C-F948B459AA48}" presName="hierChild6" presStyleCnt="0"/>
      <dgm:spPr/>
    </dgm:pt>
    <dgm:pt modelId="{FD3DA85E-5A5F-469F-B080-8741AD8A50E8}" type="pres">
      <dgm:prSet presAssocID="{F3B2F55E-E78D-472D-842C-F948B459AA48}" presName="hierChild7" presStyleCnt="0"/>
      <dgm:spPr/>
    </dgm:pt>
    <dgm:pt modelId="{7C7B5D30-A650-4241-BDBB-3FA3E95129FF}" type="pres">
      <dgm:prSet presAssocID="{7E511D51-20E6-4B44-BD94-183CF0F75E48}" presName="Name111" presStyleLbl="parChTrans1D3" presStyleIdx="2" presStyleCnt="4"/>
      <dgm:spPr/>
    </dgm:pt>
    <dgm:pt modelId="{7D3E90A7-A296-402D-8809-56D6E25034C5}" type="pres">
      <dgm:prSet presAssocID="{26C86752-7A02-4580-A961-6A38A9EF4D80}" presName="hierRoot3" presStyleCnt="0">
        <dgm:presLayoutVars>
          <dgm:hierBranch val="init"/>
        </dgm:presLayoutVars>
      </dgm:prSet>
      <dgm:spPr/>
    </dgm:pt>
    <dgm:pt modelId="{0D0C38F8-7311-4F43-99E8-00C3D453E33F}" type="pres">
      <dgm:prSet presAssocID="{26C86752-7A02-4580-A961-6A38A9EF4D80}" presName="rootComposite3" presStyleCnt="0"/>
      <dgm:spPr/>
    </dgm:pt>
    <dgm:pt modelId="{7D6B5482-3D44-4610-916A-F77E75FA5955}" type="pres">
      <dgm:prSet presAssocID="{26C86752-7A02-4580-A961-6A38A9EF4D80}" presName="rootText3" presStyleLbl="asst1" presStyleIdx="4" presStyleCnt="6" custScaleX="118622">
        <dgm:presLayoutVars>
          <dgm:chPref val="3"/>
        </dgm:presLayoutVars>
      </dgm:prSet>
      <dgm:spPr/>
    </dgm:pt>
    <dgm:pt modelId="{33BB35B3-62DD-4E19-96F4-71BAEAF08E9F}" type="pres">
      <dgm:prSet presAssocID="{26C86752-7A02-4580-A961-6A38A9EF4D80}" presName="rootConnector3" presStyleLbl="asst1" presStyleIdx="4" presStyleCnt="6"/>
      <dgm:spPr/>
    </dgm:pt>
    <dgm:pt modelId="{5889D4AF-6CD1-42D0-A4B4-59135BCADA30}" type="pres">
      <dgm:prSet presAssocID="{26C86752-7A02-4580-A961-6A38A9EF4D80}" presName="hierChild6" presStyleCnt="0"/>
      <dgm:spPr/>
    </dgm:pt>
    <dgm:pt modelId="{6E159117-1C30-4528-9BEC-85E677519CAE}" type="pres">
      <dgm:prSet presAssocID="{26C86752-7A02-4580-A961-6A38A9EF4D80}" presName="hierChild7" presStyleCnt="0"/>
      <dgm:spPr/>
    </dgm:pt>
    <dgm:pt modelId="{1AD466FA-0F2A-42DA-BDEA-AD6D63CD2825}" type="pres">
      <dgm:prSet presAssocID="{DF82A9F4-E895-42AB-B4E4-811F94AEBEFC}" presName="Name111" presStyleLbl="parChTrans1D3" presStyleIdx="3" presStyleCnt="4"/>
      <dgm:spPr/>
    </dgm:pt>
    <dgm:pt modelId="{A982D3A2-9134-48A2-8042-36C8F5ABCDB8}" type="pres">
      <dgm:prSet presAssocID="{91EE022A-F83F-4C07-B8CB-26B7F22B1025}" presName="hierRoot3" presStyleCnt="0">
        <dgm:presLayoutVars>
          <dgm:hierBranch val="init"/>
        </dgm:presLayoutVars>
      </dgm:prSet>
      <dgm:spPr/>
    </dgm:pt>
    <dgm:pt modelId="{C6CF0F50-07D8-4CA3-9EBF-DE0062C4D792}" type="pres">
      <dgm:prSet presAssocID="{91EE022A-F83F-4C07-B8CB-26B7F22B1025}" presName="rootComposite3" presStyleCnt="0"/>
      <dgm:spPr/>
    </dgm:pt>
    <dgm:pt modelId="{57F33529-4337-4F84-818D-9BFAF0BAD5C1}" type="pres">
      <dgm:prSet presAssocID="{91EE022A-F83F-4C07-B8CB-26B7F22B1025}" presName="rootText3" presStyleLbl="asst1" presStyleIdx="5" presStyleCnt="6" custScaleX="104316">
        <dgm:presLayoutVars>
          <dgm:chPref val="3"/>
        </dgm:presLayoutVars>
      </dgm:prSet>
      <dgm:spPr/>
    </dgm:pt>
    <dgm:pt modelId="{E627192C-59D3-4B5C-9F40-48C3918F423A}" type="pres">
      <dgm:prSet presAssocID="{91EE022A-F83F-4C07-B8CB-26B7F22B1025}" presName="rootConnector3" presStyleLbl="asst1" presStyleIdx="5" presStyleCnt="6"/>
      <dgm:spPr/>
    </dgm:pt>
    <dgm:pt modelId="{F1FC47F3-6B10-4648-A988-D9372C70423F}" type="pres">
      <dgm:prSet presAssocID="{91EE022A-F83F-4C07-B8CB-26B7F22B1025}" presName="hierChild6" presStyleCnt="0"/>
      <dgm:spPr/>
    </dgm:pt>
    <dgm:pt modelId="{139DE0DB-B684-4B7C-8EFF-8E4C79CFE583}" type="pres">
      <dgm:prSet presAssocID="{91EE022A-F83F-4C07-B8CB-26B7F22B1025}" presName="hierChild7" presStyleCnt="0"/>
      <dgm:spPr/>
    </dgm:pt>
  </dgm:ptLst>
  <dgm:cxnLst>
    <dgm:cxn modelId="{5B7EE02A-6D08-4021-B45C-7C6F7CF29225}" type="presOf" srcId="{E95845B9-AD0F-417B-9C4C-0B9098893169}" destId="{8DB59530-F141-48CE-AEB0-0A8CD827C1BB}" srcOrd="0" destOrd="0" presId="urn:microsoft.com/office/officeart/2005/8/layout/orgChart1"/>
    <dgm:cxn modelId="{B4024E2F-48CF-44C2-815E-523B0F50C6AD}" type="presOf" srcId="{2BE9260C-DCDF-40B8-8FC1-B6CAC5899520}" destId="{B8E3C5B1-4107-4988-BC8D-E9EEE0A91FF4}" srcOrd="0" destOrd="0" presId="urn:microsoft.com/office/officeart/2005/8/layout/orgChart1"/>
    <dgm:cxn modelId="{30691131-2EB6-48AD-B0CD-385A86446D9C}" type="presOf" srcId="{F3B2F55E-E78D-472D-842C-F948B459AA48}" destId="{61B8C692-D6E6-49E0-8F6B-871FAD1A94C9}" srcOrd="1" destOrd="0" presId="urn:microsoft.com/office/officeart/2005/8/layout/orgChart1"/>
    <dgm:cxn modelId="{1CB2F834-D72C-42B9-828B-080035E5B18F}" type="presOf" srcId="{26C86752-7A02-4580-A961-6A38A9EF4D80}" destId="{7D6B5482-3D44-4610-916A-F77E75FA5955}" srcOrd="0" destOrd="0" presId="urn:microsoft.com/office/officeart/2005/8/layout/orgChart1"/>
    <dgm:cxn modelId="{C594CD38-19E4-4A46-8BCA-A2EB09A1FAEF}" srcId="{EE2690E7-5FDB-4BE1-9C5F-9007B304829C}" destId="{9A0CE400-DD51-4721-BDCE-B5046395A138}" srcOrd="1" destOrd="0" parTransId="{263C734C-1860-49B2-9E51-D5638A809B7A}" sibTransId="{B3E6414E-6CAF-4DE9-B998-9F3087DB13E6}"/>
    <dgm:cxn modelId="{0E3E4C40-9711-4C3A-A6D1-F2DCE2D898FB}" type="presOf" srcId="{26C86752-7A02-4580-A961-6A38A9EF4D80}" destId="{33BB35B3-62DD-4E19-96F4-71BAEAF08E9F}" srcOrd="1" destOrd="0" presId="urn:microsoft.com/office/officeart/2005/8/layout/orgChart1"/>
    <dgm:cxn modelId="{B224C240-6C89-4B79-80BE-B6CE69A89385}" srcId="{2BE9260C-DCDF-40B8-8FC1-B6CAC5899520}" destId="{99F5856C-4C33-4812-8633-8453C404F60B}" srcOrd="0" destOrd="0" parTransId="{3EA95E0E-57D8-494B-A83E-DE05AB144684}" sibTransId="{0193EFE7-86A9-49C4-8CCB-64EEE4A9A790}"/>
    <dgm:cxn modelId="{F459465E-414C-4768-B3B4-0F21DAD0E089}" type="presOf" srcId="{7E511D51-20E6-4B44-BD94-183CF0F75E48}" destId="{7C7B5D30-A650-4241-BDBB-3FA3E95129FF}" srcOrd="0" destOrd="0" presId="urn:microsoft.com/office/officeart/2005/8/layout/orgChart1"/>
    <dgm:cxn modelId="{F1B53765-7A70-4161-B76C-D22A5F2D202E}" srcId="{EE2690E7-5FDB-4BE1-9C5F-9007B304829C}" destId="{E95845B9-AD0F-417B-9C4C-0B9098893169}" srcOrd="0" destOrd="0" parTransId="{4A193174-5FB2-45E4-974A-538E489013E1}" sibTransId="{720474AE-DD37-470D-B5EC-1A434CB72824}"/>
    <dgm:cxn modelId="{02AA6545-EAC2-48A3-8E6D-0B188B30FD73}" type="presOf" srcId="{EE2690E7-5FDB-4BE1-9C5F-9007B304829C}" destId="{9A2547F4-5263-4153-83B9-32B1770C4E2E}" srcOrd="0" destOrd="0" presId="urn:microsoft.com/office/officeart/2005/8/layout/orgChart1"/>
    <dgm:cxn modelId="{40CE6666-83DA-45C7-9250-309309AA5960}" type="presOf" srcId="{F3B2F55E-E78D-472D-842C-F948B459AA48}" destId="{292B0183-17C1-4E5A-BD2F-826BF519A3E7}" srcOrd="0" destOrd="0" presId="urn:microsoft.com/office/officeart/2005/8/layout/orgChart1"/>
    <dgm:cxn modelId="{D48D6C67-687E-4FD3-A329-62E3C27A5DF9}" type="presOf" srcId="{DF82A9F4-E895-42AB-B4E4-811F94AEBEFC}" destId="{1AD466FA-0F2A-42DA-BDEA-AD6D63CD2825}" srcOrd="0" destOrd="0" presId="urn:microsoft.com/office/officeart/2005/8/layout/orgChart1"/>
    <dgm:cxn modelId="{4609024C-97D6-42B3-8A10-0B0F01CC182C}" type="presOf" srcId="{99F5856C-4C33-4812-8633-8453C404F60B}" destId="{4E58AEE4-7621-4482-B72C-886F6ADB2E0C}" srcOrd="0" destOrd="0" presId="urn:microsoft.com/office/officeart/2005/8/layout/orgChart1"/>
    <dgm:cxn modelId="{4FDCF851-B4DB-4BE1-8458-9B9CF90ACDB4}" type="presOf" srcId="{9A0CE400-DD51-4721-BDCE-B5046395A138}" destId="{64D22CED-4C60-45C8-BD62-084D54DA7620}" srcOrd="1" destOrd="0" presId="urn:microsoft.com/office/officeart/2005/8/layout/orgChart1"/>
    <dgm:cxn modelId="{9C44C454-2FA5-466E-BBB0-68D7ECF04E9F}" type="presOf" srcId="{263C734C-1860-49B2-9E51-D5638A809B7A}" destId="{78DF5175-580A-4CAE-9E45-AA00FFFEE701}" srcOrd="0" destOrd="0" presId="urn:microsoft.com/office/officeart/2005/8/layout/orgChart1"/>
    <dgm:cxn modelId="{F207FD5A-085B-46A8-9DB2-24FAFFB7929A}" srcId="{99F5856C-4C33-4812-8633-8453C404F60B}" destId="{EE2690E7-5FDB-4BE1-9C5F-9007B304829C}" srcOrd="0" destOrd="0" parTransId="{C883A1F0-D10B-4103-BAE4-526588AF49FA}" sibTransId="{49D36CF0-A4F3-4B8C-964B-73CB05394490}"/>
    <dgm:cxn modelId="{E21D0F84-473F-429A-BD69-E06505F3560A}" type="presOf" srcId="{EE2690E7-5FDB-4BE1-9C5F-9007B304829C}" destId="{7E15F22E-E66D-4235-B9BB-EE29BFD215C4}" srcOrd="1" destOrd="0" presId="urn:microsoft.com/office/officeart/2005/8/layout/orgChart1"/>
    <dgm:cxn modelId="{96DFE989-A7A7-484A-97C3-DD5F4728D568}" srcId="{99F5856C-4C33-4812-8633-8453C404F60B}" destId="{F3B2F55E-E78D-472D-842C-F948B459AA48}" srcOrd="1" destOrd="0" parTransId="{1BA488F3-337D-4C55-91D3-5002E2C3EC45}" sibTransId="{08A423DC-2DB0-4EC5-957F-F5181D4F9DFA}"/>
    <dgm:cxn modelId="{B845EF93-C56A-418F-8F39-586D8BB5654A}" type="presOf" srcId="{4A193174-5FB2-45E4-974A-538E489013E1}" destId="{9D134F8A-7D0C-4E3F-B307-8FFF31C3940C}" srcOrd="0" destOrd="0" presId="urn:microsoft.com/office/officeart/2005/8/layout/orgChart1"/>
    <dgm:cxn modelId="{F6D94F9A-4E30-4D77-B3E9-4FA5CDE15002}" type="presOf" srcId="{E95845B9-AD0F-417B-9C4C-0B9098893169}" destId="{68DBEE4B-E314-49F1-9EDC-0268FCEB4C3E}" srcOrd="1" destOrd="0" presId="urn:microsoft.com/office/officeart/2005/8/layout/orgChart1"/>
    <dgm:cxn modelId="{F5B650A2-A1AD-49E6-BBD9-99649DDF5404}" type="presOf" srcId="{9A0CE400-DD51-4721-BDCE-B5046395A138}" destId="{44FCA3DA-881B-4023-96CC-009C39CE3DDF}" srcOrd="0" destOrd="0" presId="urn:microsoft.com/office/officeart/2005/8/layout/orgChart1"/>
    <dgm:cxn modelId="{4F41FFC3-8321-4629-B253-3D7B4CFF23FD}" type="presOf" srcId="{91EE022A-F83F-4C07-B8CB-26B7F22B1025}" destId="{E627192C-59D3-4B5C-9F40-48C3918F423A}" srcOrd="1" destOrd="0" presId="urn:microsoft.com/office/officeart/2005/8/layout/orgChart1"/>
    <dgm:cxn modelId="{F7BB4ED0-264D-4809-AD6F-CF89C7E35392}" srcId="{F3B2F55E-E78D-472D-842C-F948B459AA48}" destId="{91EE022A-F83F-4C07-B8CB-26B7F22B1025}" srcOrd="1" destOrd="0" parTransId="{DF82A9F4-E895-42AB-B4E4-811F94AEBEFC}" sibTransId="{649680A4-AD26-47CA-8699-2AB0078CD601}"/>
    <dgm:cxn modelId="{AF13F7DA-C567-44EC-8526-25725E992916}" type="presOf" srcId="{91EE022A-F83F-4C07-B8CB-26B7F22B1025}" destId="{57F33529-4337-4F84-818D-9BFAF0BAD5C1}" srcOrd="0" destOrd="0" presId="urn:microsoft.com/office/officeart/2005/8/layout/orgChart1"/>
    <dgm:cxn modelId="{3645DDDC-47AB-4B6D-8B2D-48382D11BE12}" type="presOf" srcId="{99F5856C-4C33-4812-8633-8453C404F60B}" destId="{9494F199-F41E-4DAF-9250-ADDB15F9DA16}" srcOrd="1" destOrd="0" presId="urn:microsoft.com/office/officeart/2005/8/layout/orgChart1"/>
    <dgm:cxn modelId="{2C465BF1-3313-4048-9DE3-351261765371}" type="presOf" srcId="{C883A1F0-D10B-4103-BAE4-526588AF49FA}" destId="{912F2571-7847-406C-9FA1-E083981965BC}" srcOrd="0" destOrd="0" presId="urn:microsoft.com/office/officeart/2005/8/layout/orgChart1"/>
    <dgm:cxn modelId="{966E84F3-7F25-4F95-8B19-3AFFB35B06E7}" srcId="{F3B2F55E-E78D-472D-842C-F948B459AA48}" destId="{26C86752-7A02-4580-A961-6A38A9EF4D80}" srcOrd="0" destOrd="0" parTransId="{7E511D51-20E6-4B44-BD94-183CF0F75E48}" sibTransId="{28CB6107-0285-410B-88F9-9B2856AB2478}"/>
    <dgm:cxn modelId="{217F1EF9-CF3A-4BC0-9682-CC6DAC31692A}" type="presOf" srcId="{1BA488F3-337D-4C55-91D3-5002E2C3EC45}" destId="{6E446E5D-593A-4049-8A95-77FF7D85C2C9}" srcOrd="0" destOrd="0" presId="urn:microsoft.com/office/officeart/2005/8/layout/orgChart1"/>
    <dgm:cxn modelId="{C4FFAA84-2D51-4790-8E47-A67F6225386D}" type="presParOf" srcId="{B8E3C5B1-4107-4988-BC8D-E9EEE0A91FF4}" destId="{7799D637-548C-4677-BA9C-AB9A5583C5F4}" srcOrd="0" destOrd="0" presId="urn:microsoft.com/office/officeart/2005/8/layout/orgChart1"/>
    <dgm:cxn modelId="{87FA2698-CC4B-41A2-AA10-DF8F6C214320}" type="presParOf" srcId="{7799D637-548C-4677-BA9C-AB9A5583C5F4}" destId="{D3C91326-4785-4F2B-B44D-0B77E509EF02}" srcOrd="0" destOrd="0" presId="urn:microsoft.com/office/officeart/2005/8/layout/orgChart1"/>
    <dgm:cxn modelId="{B07F7E0B-C275-4B16-9A13-2E411E53E07C}" type="presParOf" srcId="{D3C91326-4785-4F2B-B44D-0B77E509EF02}" destId="{4E58AEE4-7621-4482-B72C-886F6ADB2E0C}" srcOrd="0" destOrd="0" presId="urn:microsoft.com/office/officeart/2005/8/layout/orgChart1"/>
    <dgm:cxn modelId="{CF5882CB-C7E6-4D70-8E2B-B9C55E60EB20}" type="presParOf" srcId="{D3C91326-4785-4F2B-B44D-0B77E509EF02}" destId="{9494F199-F41E-4DAF-9250-ADDB15F9DA16}" srcOrd="1" destOrd="0" presId="urn:microsoft.com/office/officeart/2005/8/layout/orgChart1"/>
    <dgm:cxn modelId="{73CAD206-A07B-4A0F-BD7D-D353D006173E}" type="presParOf" srcId="{7799D637-548C-4677-BA9C-AB9A5583C5F4}" destId="{3AB7AC39-5DE0-4D06-9168-DBFF316079B0}" srcOrd="1" destOrd="0" presId="urn:microsoft.com/office/officeart/2005/8/layout/orgChart1"/>
    <dgm:cxn modelId="{DBE03CB4-0576-438A-BD77-7674CB8761DC}" type="presParOf" srcId="{7799D637-548C-4677-BA9C-AB9A5583C5F4}" destId="{ADAE0BA8-6F15-4D3E-874B-F456B234EB4B}" srcOrd="2" destOrd="0" presId="urn:microsoft.com/office/officeart/2005/8/layout/orgChart1"/>
    <dgm:cxn modelId="{E636E062-568A-40F0-B775-F12191D44971}" type="presParOf" srcId="{ADAE0BA8-6F15-4D3E-874B-F456B234EB4B}" destId="{912F2571-7847-406C-9FA1-E083981965BC}" srcOrd="0" destOrd="0" presId="urn:microsoft.com/office/officeart/2005/8/layout/orgChart1"/>
    <dgm:cxn modelId="{0DBDCE6D-C68C-433B-A6EC-59927420C02C}" type="presParOf" srcId="{ADAE0BA8-6F15-4D3E-874B-F456B234EB4B}" destId="{83CC06E2-2CFE-4AB3-9DB9-0446A5666DD0}" srcOrd="1" destOrd="0" presId="urn:microsoft.com/office/officeart/2005/8/layout/orgChart1"/>
    <dgm:cxn modelId="{324A9CA5-3AD7-4222-96F1-93466E20588C}" type="presParOf" srcId="{83CC06E2-2CFE-4AB3-9DB9-0446A5666DD0}" destId="{DC400873-4CCB-415F-B6F4-575DD70F0942}" srcOrd="0" destOrd="0" presId="urn:microsoft.com/office/officeart/2005/8/layout/orgChart1"/>
    <dgm:cxn modelId="{210E32D2-E910-4D9F-93FA-CDF98833CCE6}" type="presParOf" srcId="{DC400873-4CCB-415F-B6F4-575DD70F0942}" destId="{9A2547F4-5263-4153-83B9-32B1770C4E2E}" srcOrd="0" destOrd="0" presId="urn:microsoft.com/office/officeart/2005/8/layout/orgChart1"/>
    <dgm:cxn modelId="{1CAE027F-2F3B-44FF-9766-3E9C2D33116C}" type="presParOf" srcId="{DC400873-4CCB-415F-B6F4-575DD70F0942}" destId="{7E15F22E-E66D-4235-B9BB-EE29BFD215C4}" srcOrd="1" destOrd="0" presId="urn:microsoft.com/office/officeart/2005/8/layout/orgChart1"/>
    <dgm:cxn modelId="{F007D5E6-9F26-4654-B96D-C4A1FF4EF760}" type="presParOf" srcId="{83CC06E2-2CFE-4AB3-9DB9-0446A5666DD0}" destId="{DEB3CD29-C189-455A-9E40-B48F4FAEA162}" srcOrd="1" destOrd="0" presId="urn:microsoft.com/office/officeart/2005/8/layout/orgChart1"/>
    <dgm:cxn modelId="{2BAD72A1-21ED-4DAA-879E-E1D12D7927FA}" type="presParOf" srcId="{83CC06E2-2CFE-4AB3-9DB9-0446A5666DD0}" destId="{8EDD7D53-B0FB-43DB-980D-51D9C2967154}" srcOrd="2" destOrd="0" presId="urn:microsoft.com/office/officeart/2005/8/layout/orgChart1"/>
    <dgm:cxn modelId="{12D9CFE0-6802-4E57-91D4-3D23BB3EE8C5}" type="presParOf" srcId="{8EDD7D53-B0FB-43DB-980D-51D9C2967154}" destId="{9D134F8A-7D0C-4E3F-B307-8FFF31C3940C}" srcOrd="0" destOrd="0" presId="urn:microsoft.com/office/officeart/2005/8/layout/orgChart1"/>
    <dgm:cxn modelId="{AF96167E-B1B6-43E8-A360-615DBF1F8DB2}" type="presParOf" srcId="{8EDD7D53-B0FB-43DB-980D-51D9C2967154}" destId="{49E9D478-7D2D-44EF-B2A6-563BC5B92922}" srcOrd="1" destOrd="0" presId="urn:microsoft.com/office/officeart/2005/8/layout/orgChart1"/>
    <dgm:cxn modelId="{26D898B5-3CBD-4291-87DA-7CD78E9CC008}" type="presParOf" srcId="{49E9D478-7D2D-44EF-B2A6-563BC5B92922}" destId="{5D5BEECE-269F-49FC-9413-91800F57D237}" srcOrd="0" destOrd="0" presId="urn:microsoft.com/office/officeart/2005/8/layout/orgChart1"/>
    <dgm:cxn modelId="{D43D4FEC-EDF8-4EB4-847D-78DAC6D96D76}" type="presParOf" srcId="{5D5BEECE-269F-49FC-9413-91800F57D237}" destId="{8DB59530-F141-48CE-AEB0-0A8CD827C1BB}" srcOrd="0" destOrd="0" presId="urn:microsoft.com/office/officeart/2005/8/layout/orgChart1"/>
    <dgm:cxn modelId="{B1E6AA3D-91EA-4158-A324-604E86AEC51B}" type="presParOf" srcId="{5D5BEECE-269F-49FC-9413-91800F57D237}" destId="{68DBEE4B-E314-49F1-9EDC-0268FCEB4C3E}" srcOrd="1" destOrd="0" presId="urn:microsoft.com/office/officeart/2005/8/layout/orgChart1"/>
    <dgm:cxn modelId="{7909F700-36DE-47A1-8132-3E7C194D462E}" type="presParOf" srcId="{49E9D478-7D2D-44EF-B2A6-563BC5B92922}" destId="{7D4506FA-B64E-4889-B2E5-69490AA0DBEE}" srcOrd="1" destOrd="0" presId="urn:microsoft.com/office/officeart/2005/8/layout/orgChart1"/>
    <dgm:cxn modelId="{C703759F-4A33-464A-811B-FE39A04C443B}" type="presParOf" srcId="{49E9D478-7D2D-44EF-B2A6-563BC5B92922}" destId="{E6D4CA8D-AF2B-4489-BC89-41EAE42545E4}" srcOrd="2" destOrd="0" presId="urn:microsoft.com/office/officeart/2005/8/layout/orgChart1"/>
    <dgm:cxn modelId="{9A8DC950-C3D6-4D65-821E-F175C1459A6E}" type="presParOf" srcId="{8EDD7D53-B0FB-43DB-980D-51D9C2967154}" destId="{78DF5175-580A-4CAE-9E45-AA00FFFEE701}" srcOrd="2" destOrd="0" presId="urn:microsoft.com/office/officeart/2005/8/layout/orgChart1"/>
    <dgm:cxn modelId="{DC08DC38-DCBC-41D1-8BED-3A69D4D4EA0D}" type="presParOf" srcId="{8EDD7D53-B0FB-43DB-980D-51D9C2967154}" destId="{D83CBAD4-8FC5-461D-A5BB-E33BF8C908D6}" srcOrd="3" destOrd="0" presId="urn:microsoft.com/office/officeart/2005/8/layout/orgChart1"/>
    <dgm:cxn modelId="{FFCE5349-72F1-42F4-820B-A6A331A49872}" type="presParOf" srcId="{D83CBAD4-8FC5-461D-A5BB-E33BF8C908D6}" destId="{A017E275-5501-4052-AFC2-DAF422D1D333}" srcOrd="0" destOrd="0" presId="urn:microsoft.com/office/officeart/2005/8/layout/orgChart1"/>
    <dgm:cxn modelId="{CC02BE08-2B2F-4D73-AD25-8E6349B8E5FD}" type="presParOf" srcId="{A017E275-5501-4052-AFC2-DAF422D1D333}" destId="{44FCA3DA-881B-4023-96CC-009C39CE3DDF}" srcOrd="0" destOrd="0" presId="urn:microsoft.com/office/officeart/2005/8/layout/orgChart1"/>
    <dgm:cxn modelId="{720B0CB0-D330-4931-BF93-668622EE5F2C}" type="presParOf" srcId="{A017E275-5501-4052-AFC2-DAF422D1D333}" destId="{64D22CED-4C60-45C8-BD62-084D54DA7620}" srcOrd="1" destOrd="0" presId="urn:microsoft.com/office/officeart/2005/8/layout/orgChart1"/>
    <dgm:cxn modelId="{038743A3-0B6E-4FEF-A215-FC27E8E3A348}" type="presParOf" srcId="{D83CBAD4-8FC5-461D-A5BB-E33BF8C908D6}" destId="{5FF2192C-F46F-4C19-8D9D-541BA9AF0A78}" srcOrd="1" destOrd="0" presId="urn:microsoft.com/office/officeart/2005/8/layout/orgChart1"/>
    <dgm:cxn modelId="{68EE455F-FC5B-4860-B4C3-5DF9BCA4E25E}" type="presParOf" srcId="{D83CBAD4-8FC5-461D-A5BB-E33BF8C908D6}" destId="{AC9E596B-8AC2-4287-8778-46FF208AB0FF}" srcOrd="2" destOrd="0" presId="urn:microsoft.com/office/officeart/2005/8/layout/orgChart1"/>
    <dgm:cxn modelId="{82686405-DB91-4C82-9919-B1F2EB3BCF52}" type="presParOf" srcId="{ADAE0BA8-6F15-4D3E-874B-F456B234EB4B}" destId="{6E446E5D-593A-4049-8A95-77FF7D85C2C9}" srcOrd="2" destOrd="0" presId="urn:microsoft.com/office/officeart/2005/8/layout/orgChart1"/>
    <dgm:cxn modelId="{359D52A3-1916-47D1-8012-A23D0A83C059}" type="presParOf" srcId="{ADAE0BA8-6F15-4D3E-874B-F456B234EB4B}" destId="{AE556253-7F95-4F85-BF57-16721D181EB3}" srcOrd="3" destOrd="0" presId="urn:microsoft.com/office/officeart/2005/8/layout/orgChart1"/>
    <dgm:cxn modelId="{91A9E443-A07E-44C6-9F08-5A13C9BB4AE0}" type="presParOf" srcId="{AE556253-7F95-4F85-BF57-16721D181EB3}" destId="{5FFFB23E-D943-42B1-8AC3-A878BE2DB3E1}" srcOrd="0" destOrd="0" presId="urn:microsoft.com/office/officeart/2005/8/layout/orgChart1"/>
    <dgm:cxn modelId="{20DF44D1-09F1-45C5-956B-6AEAED69FE5D}" type="presParOf" srcId="{5FFFB23E-D943-42B1-8AC3-A878BE2DB3E1}" destId="{292B0183-17C1-4E5A-BD2F-826BF519A3E7}" srcOrd="0" destOrd="0" presId="urn:microsoft.com/office/officeart/2005/8/layout/orgChart1"/>
    <dgm:cxn modelId="{383488DB-A3F9-42A7-9488-784756BAFC1F}" type="presParOf" srcId="{5FFFB23E-D943-42B1-8AC3-A878BE2DB3E1}" destId="{61B8C692-D6E6-49E0-8F6B-871FAD1A94C9}" srcOrd="1" destOrd="0" presId="urn:microsoft.com/office/officeart/2005/8/layout/orgChart1"/>
    <dgm:cxn modelId="{9C0B17C1-EC1D-4DCD-AA62-308D2A665C84}" type="presParOf" srcId="{AE556253-7F95-4F85-BF57-16721D181EB3}" destId="{20707F4C-03E8-4C6F-9E63-79E3223E72F9}" srcOrd="1" destOrd="0" presId="urn:microsoft.com/office/officeart/2005/8/layout/orgChart1"/>
    <dgm:cxn modelId="{07DF1BAD-92F3-4763-822D-E89E2C46E4D1}" type="presParOf" srcId="{AE556253-7F95-4F85-BF57-16721D181EB3}" destId="{FD3DA85E-5A5F-469F-B080-8741AD8A50E8}" srcOrd="2" destOrd="0" presId="urn:microsoft.com/office/officeart/2005/8/layout/orgChart1"/>
    <dgm:cxn modelId="{8787A323-7D0E-469E-8B0F-EED32589D309}" type="presParOf" srcId="{FD3DA85E-5A5F-469F-B080-8741AD8A50E8}" destId="{7C7B5D30-A650-4241-BDBB-3FA3E95129FF}" srcOrd="0" destOrd="0" presId="urn:microsoft.com/office/officeart/2005/8/layout/orgChart1"/>
    <dgm:cxn modelId="{C412DF6C-46DA-40E0-93E3-5C8CBE7E8AC6}" type="presParOf" srcId="{FD3DA85E-5A5F-469F-B080-8741AD8A50E8}" destId="{7D3E90A7-A296-402D-8809-56D6E25034C5}" srcOrd="1" destOrd="0" presId="urn:microsoft.com/office/officeart/2005/8/layout/orgChart1"/>
    <dgm:cxn modelId="{3F85EE9D-CA72-4F07-8BC1-CC5AA96C6B2E}" type="presParOf" srcId="{7D3E90A7-A296-402D-8809-56D6E25034C5}" destId="{0D0C38F8-7311-4F43-99E8-00C3D453E33F}" srcOrd="0" destOrd="0" presId="urn:microsoft.com/office/officeart/2005/8/layout/orgChart1"/>
    <dgm:cxn modelId="{A07B58DA-4F6C-4A56-A0E0-F9E98C1EC26C}" type="presParOf" srcId="{0D0C38F8-7311-4F43-99E8-00C3D453E33F}" destId="{7D6B5482-3D44-4610-916A-F77E75FA5955}" srcOrd="0" destOrd="0" presId="urn:microsoft.com/office/officeart/2005/8/layout/orgChart1"/>
    <dgm:cxn modelId="{A5FE2332-115E-4567-9B99-C752B100C235}" type="presParOf" srcId="{0D0C38F8-7311-4F43-99E8-00C3D453E33F}" destId="{33BB35B3-62DD-4E19-96F4-71BAEAF08E9F}" srcOrd="1" destOrd="0" presId="urn:microsoft.com/office/officeart/2005/8/layout/orgChart1"/>
    <dgm:cxn modelId="{FA14B5A5-10A9-464E-8430-485A4634DA40}" type="presParOf" srcId="{7D3E90A7-A296-402D-8809-56D6E25034C5}" destId="{5889D4AF-6CD1-42D0-A4B4-59135BCADA30}" srcOrd="1" destOrd="0" presId="urn:microsoft.com/office/officeart/2005/8/layout/orgChart1"/>
    <dgm:cxn modelId="{371D380E-5767-4071-AE94-E289A94ECC82}" type="presParOf" srcId="{7D3E90A7-A296-402D-8809-56D6E25034C5}" destId="{6E159117-1C30-4528-9BEC-85E677519CAE}" srcOrd="2" destOrd="0" presId="urn:microsoft.com/office/officeart/2005/8/layout/orgChart1"/>
    <dgm:cxn modelId="{078AEEF0-C460-4360-B726-9DCA8F868907}" type="presParOf" srcId="{FD3DA85E-5A5F-469F-B080-8741AD8A50E8}" destId="{1AD466FA-0F2A-42DA-BDEA-AD6D63CD2825}" srcOrd="2" destOrd="0" presId="urn:microsoft.com/office/officeart/2005/8/layout/orgChart1"/>
    <dgm:cxn modelId="{E6EDD59C-BC3C-40B6-9832-B488E070D4E5}" type="presParOf" srcId="{FD3DA85E-5A5F-469F-B080-8741AD8A50E8}" destId="{A982D3A2-9134-48A2-8042-36C8F5ABCDB8}" srcOrd="3" destOrd="0" presId="urn:microsoft.com/office/officeart/2005/8/layout/orgChart1"/>
    <dgm:cxn modelId="{2494EC15-BA37-4377-B03B-2F4B75E21132}" type="presParOf" srcId="{A982D3A2-9134-48A2-8042-36C8F5ABCDB8}" destId="{C6CF0F50-07D8-4CA3-9EBF-DE0062C4D792}" srcOrd="0" destOrd="0" presId="urn:microsoft.com/office/officeart/2005/8/layout/orgChart1"/>
    <dgm:cxn modelId="{F73C1D3A-C799-4C06-A49A-1ADAD7D09A07}" type="presParOf" srcId="{C6CF0F50-07D8-4CA3-9EBF-DE0062C4D792}" destId="{57F33529-4337-4F84-818D-9BFAF0BAD5C1}" srcOrd="0" destOrd="0" presId="urn:microsoft.com/office/officeart/2005/8/layout/orgChart1"/>
    <dgm:cxn modelId="{76157D7F-23BB-407B-A027-E97FC31B7703}" type="presParOf" srcId="{C6CF0F50-07D8-4CA3-9EBF-DE0062C4D792}" destId="{E627192C-59D3-4B5C-9F40-48C3918F423A}" srcOrd="1" destOrd="0" presId="urn:microsoft.com/office/officeart/2005/8/layout/orgChart1"/>
    <dgm:cxn modelId="{58026905-9454-4637-B4FD-C59CAF7A5B77}" type="presParOf" srcId="{A982D3A2-9134-48A2-8042-36C8F5ABCDB8}" destId="{F1FC47F3-6B10-4648-A988-D9372C70423F}" srcOrd="1" destOrd="0" presId="urn:microsoft.com/office/officeart/2005/8/layout/orgChart1"/>
    <dgm:cxn modelId="{4224B93D-199B-41B2-81FF-02C4E842BEA3}" type="presParOf" srcId="{A982D3A2-9134-48A2-8042-36C8F5ABCDB8}" destId="{139DE0DB-B684-4B7C-8EFF-8E4C79CFE58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466FA-0F2A-42DA-BDEA-AD6D63CD2825}">
      <dsp:nvSpPr>
        <dsp:cNvPr id="0" name=""/>
        <dsp:cNvSpPr/>
      </dsp:nvSpPr>
      <dsp:spPr>
        <a:xfrm>
          <a:off x="5176989" y="2382813"/>
          <a:ext cx="130691" cy="572555"/>
        </a:xfrm>
        <a:custGeom>
          <a:avLst/>
          <a:gdLst/>
          <a:ahLst/>
          <a:cxnLst/>
          <a:rect l="0" t="0" r="0" b="0"/>
          <a:pathLst>
            <a:path>
              <a:moveTo>
                <a:pt x="0" y="0"/>
              </a:moveTo>
              <a:lnTo>
                <a:pt x="0" y="572555"/>
              </a:lnTo>
              <a:lnTo>
                <a:pt x="130691" y="57255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7B5D30-A650-4241-BDBB-3FA3E95129FF}">
      <dsp:nvSpPr>
        <dsp:cNvPr id="0" name=""/>
        <dsp:cNvSpPr/>
      </dsp:nvSpPr>
      <dsp:spPr>
        <a:xfrm>
          <a:off x="5046297" y="2382813"/>
          <a:ext cx="130691" cy="572555"/>
        </a:xfrm>
        <a:custGeom>
          <a:avLst/>
          <a:gdLst/>
          <a:ahLst/>
          <a:cxnLst/>
          <a:rect l="0" t="0" r="0" b="0"/>
          <a:pathLst>
            <a:path>
              <a:moveTo>
                <a:pt x="130691" y="0"/>
              </a:moveTo>
              <a:lnTo>
                <a:pt x="130691" y="572555"/>
              </a:lnTo>
              <a:lnTo>
                <a:pt x="0" y="57255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446E5D-593A-4049-8A95-77FF7D85C2C9}">
      <dsp:nvSpPr>
        <dsp:cNvPr id="0" name=""/>
        <dsp:cNvSpPr/>
      </dsp:nvSpPr>
      <dsp:spPr>
        <a:xfrm>
          <a:off x="3441748" y="688927"/>
          <a:ext cx="886676" cy="1382714"/>
        </a:xfrm>
        <a:custGeom>
          <a:avLst/>
          <a:gdLst/>
          <a:ahLst/>
          <a:cxnLst/>
          <a:rect l="0" t="0" r="0" b="0"/>
          <a:pathLst>
            <a:path>
              <a:moveTo>
                <a:pt x="0" y="0"/>
              </a:moveTo>
              <a:lnTo>
                <a:pt x="0" y="1382714"/>
              </a:lnTo>
              <a:lnTo>
                <a:pt x="886676" y="13827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DF5175-580A-4CAE-9E45-AA00FFFEE701}">
      <dsp:nvSpPr>
        <dsp:cNvPr id="0" name=""/>
        <dsp:cNvSpPr/>
      </dsp:nvSpPr>
      <dsp:spPr>
        <a:xfrm>
          <a:off x="1766314" y="2382813"/>
          <a:ext cx="130691" cy="572555"/>
        </a:xfrm>
        <a:custGeom>
          <a:avLst/>
          <a:gdLst/>
          <a:ahLst/>
          <a:cxnLst/>
          <a:rect l="0" t="0" r="0" b="0"/>
          <a:pathLst>
            <a:path>
              <a:moveTo>
                <a:pt x="0" y="0"/>
              </a:moveTo>
              <a:lnTo>
                <a:pt x="0" y="572555"/>
              </a:lnTo>
              <a:lnTo>
                <a:pt x="130691" y="57255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D134F8A-7D0C-4E3F-B307-8FFF31C3940C}">
      <dsp:nvSpPr>
        <dsp:cNvPr id="0" name=""/>
        <dsp:cNvSpPr/>
      </dsp:nvSpPr>
      <dsp:spPr>
        <a:xfrm>
          <a:off x="1635622" y="2382813"/>
          <a:ext cx="130691" cy="572555"/>
        </a:xfrm>
        <a:custGeom>
          <a:avLst/>
          <a:gdLst/>
          <a:ahLst/>
          <a:cxnLst/>
          <a:rect l="0" t="0" r="0" b="0"/>
          <a:pathLst>
            <a:path>
              <a:moveTo>
                <a:pt x="130691" y="0"/>
              </a:moveTo>
              <a:lnTo>
                <a:pt x="130691" y="572555"/>
              </a:lnTo>
              <a:lnTo>
                <a:pt x="0" y="57255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2F2571-7847-406C-9FA1-E083981965BC}">
      <dsp:nvSpPr>
        <dsp:cNvPr id="0" name=""/>
        <dsp:cNvSpPr/>
      </dsp:nvSpPr>
      <dsp:spPr>
        <a:xfrm>
          <a:off x="2565981" y="688927"/>
          <a:ext cx="875767" cy="1382714"/>
        </a:xfrm>
        <a:custGeom>
          <a:avLst/>
          <a:gdLst/>
          <a:ahLst/>
          <a:cxnLst/>
          <a:rect l="0" t="0" r="0" b="0"/>
          <a:pathLst>
            <a:path>
              <a:moveTo>
                <a:pt x="875767" y="0"/>
              </a:moveTo>
              <a:lnTo>
                <a:pt x="875767" y="1382714"/>
              </a:lnTo>
              <a:lnTo>
                <a:pt x="0" y="13827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58AEE4-7621-4482-B72C-886F6ADB2E0C}">
      <dsp:nvSpPr>
        <dsp:cNvPr id="0" name=""/>
        <dsp:cNvSpPr/>
      </dsp:nvSpPr>
      <dsp:spPr>
        <a:xfrm>
          <a:off x="2819405" y="0"/>
          <a:ext cx="1244685" cy="688927"/>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Regression Models</a:t>
          </a:r>
        </a:p>
      </dsp:txBody>
      <dsp:txXfrm>
        <a:off x="2819405" y="0"/>
        <a:ext cx="1244685" cy="688927"/>
      </dsp:txXfrm>
    </dsp:sp>
    <dsp:sp modelId="{9A2547F4-5263-4153-83B9-32B1770C4E2E}">
      <dsp:nvSpPr>
        <dsp:cNvPr id="0" name=""/>
        <dsp:cNvSpPr/>
      </dsp:nvSpPr>
      <dsp:spPr>
        <a:xfrm>
          <a:off x="966647" y="1760470"/>
          <a:ext cx="1599333" cy="622342"/>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Simple Regression</a:t>
          </a:r>
        </a:p>
      </dsp:txBody>
      <dsp:txXfrm>
        <a:off x="966647" y="1760470"/>
        <a:ext cx="1599333" cy="622342"/>
      </dsp:txXfrm>
    </dsp:sp>
    <dsp:sp modelId="{8DB59530-F141-48CE-AEB0-0A8CD827C1BB}">
      <dsp:nvSpPr>
        <dsp:cNvPr id="0" name=""/>
        <dsp:cNvSpPr/>
      </dsp:nvSpPr>
      <dsp:spPr>
        <a:xfrm>
          <a:off x="4262" y="2644197"/>
          <a:ext cx="1631359" cy="622342"/>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Linear</a:t>
          </a:r>
        </a:p>
      </dsp:txBody>
      <dsp:txXfrm>
        <a:off x="4262" y="2644197"/>
        <a:ext cx="1631359" cy="622342"/>
      </dsp:txXfrm>
    </dsp:sp>
    <dsp:sp modelId="{44FCA3DA-881B-4023-96CC-009C39CE3DDF}">
      <dsp:nvSpPr>
        <dsp:cNvPr id="0" name=""/>
        <dsp:cNvSpPr/>
      </dsp:nvSpPr>
      <dsp:spPr>
        <a:xfrm>
          <a:off x="1897006" y="2644197"/>
          <a:ext cx="1411436" cy="62234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Non-linear</a:t>
          </a:r>
        </a:p>
      </dsp:txBody>
      <dsp:txXfrm>
        <a:off x="1897006" y="2644197"/>
        <a:ext cx="1411436" cy="622342"/>
      </dsp:txXfrm>
    </dsp:sp>
    <dsp:sp modelId="{292B0183-17C1-4E5A-BD2F-826BF519A3E7}">
      <dsp:nvSpPr>
        <dsp:cNvPr id="0" name=""/>
        <dsp:cNvSpPr/>
      </dsp:nvSpPr>
      <dsp:spPr>
        <a:xfrm>
          <a:off x="4328424" y="1760470"/>
          <a:ext cx="1697128" cy="622342"/>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Multiple Regression</a:t>
          </a:r>
        </a:p>
      </dsp:txBody>
      <dsp:txXfrm>
        <a:off x="4328424" y="1760470"/>
        <a:ext cx="1697128" cy="622342"/>
      </dsp:txXfrm>
    </dsp:sp>
    <dsp:sp modelId="{7D6B5482-3D44-4610-916A-F77E75FA5955}">
      <dsp:nvSpPr>
        <dsp:cNvPr id="0" name=""/>
        <dsp:cNvSpPr/>
      </dsp:nvSpPr>
      <dsp:spPr>
        <a:xfrm>
          <a:off x="3569826" y="2644197"/>
          <a:ext cx="1476471" cy="622342"/>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Linear</a:t>
          </a:r>
        </a:p>
      </dsp:txBody>
      <dsp:txXfrm>
        <a:off x="3569826" y="2644197"/>
        <a:ext cx="1476471" cy="622342"/>
      </dsp:txXfrm>
    </dsp:sp>
    <dsp:sp modelId="{57F33529-4337-4F84-818D-9BFAF0BAD5C1}">
      <dsp:nvSpPr>
        <dsp:cNvPr id="0" name=""/>
        <dsp:cNvSpPr/>
      </dsp:nvSpPr>
      <dsp:spPr>
        <a:xfrm>
          <a:off x="5307681" y="2644197"/>
          <a:ext cx="1298406" cy="62234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Non-linear</a:t>
          </a:r>
        </a:p>
      </dsp:txBody>
      <dsp:txXfrm>
        <a:off x="5307681" y="2644197"/>
        <a:ext cx="1298406" cy="62234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2B96B6C2-0FC1-4CF8-84FA-60B7E5857307}" type="datetimeFigureOut">
              <a:rPr lang="en-US"/>
              <a:pPr>
                <a:defRPr/>
              </a:pPr>
              <a:t>10/26/2025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F85C1B33-E3C8-4D7F-9975-FCA148DDC337}" type="slidenum">
              <a:rPr lang="en-US"/>
              <a:pPr>
                <a:defRPr/>
              </a:pPr>
              <a:t>‹#›</a:t>
            </a:fld>
            <a:endParaRPr lang="en-US"/>
          </a:p>
        </p:txBody>
      </p:sp>
    </p:spTree>
    <p:extLst>
      <p:ext uri="{BB962C8B-B14F-4D97-AF65-F5344CB8AC3E}">
        <p14:creationId xmlns:p14="http://schemas.microsoft.com/office/powerpoint/2010/main" val="36482851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2EFC62C1-8235-402C-B656-F15A19DD268A}" type="datetimeFigureOut">
              <a:rPr lang="en-US"/>
              <a:pPr>
                <a:defRPr/>
              </a:pPr>
              <a:t>10/26/2025</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7890E1FB-CF6E-4C7F-8B6F-3B597627AE98}" type="slidenum">
              <a:rPr lang="en-US"/>
              <a:pPr>
                <a:defRPr/>
              </a:pPr>
              <a:t>‹#›</a:t>
            </a:fld>
            <a:endParaRPr lang="en-US"/>
          </a:p>
        </p:txBody>
      </p:sp>
    </p:spTree>
    <p:extLst>
      <p:ext uri="{BB962C8B-B14F-4D97-AF65-F5344CB8AC3E}">
        <p14:creationId xmlns:p14="http://schemas.microsoft.com/office/powerpoint/2010/main" val="31398818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pPr defTabSz="921566"/>
            <a:fld id="{57831057-4C13-4C1E-9320-4E43E59FB56D}" type="slidenum">
              <a:rPr lang="en-US" smtClean="0"/>
              <a:pPr defTabSz="921566"/>
              <a:t>8</a:t>
            </a:fld>
            <a:endParaRPr lang="en-US" dirty="0"/>
          </a:p>
        </p:txBody>
      </p:sp>
      <p:sp>
        <p:nvSpPr>
          <p:cNvPr id="75779" name="Rectangle 2"/>
          <p:cNvSpPr>
            <a:spLocks noGrp="1" noRot="1" noChangeAspect="1" noChangeArrowheads="1" noTextEdit="1"/>
          </p:cNvSpPr>
          <p:nvPr>
            <p:ph type="sldImg"/>
          </p:nvPr>
        </p:nvSpPr>
        <p:spPr>
          <a:xfrm>
            <a:off x="1181100" y="696913"/>
            <a:ext cx="4648200" cy="3486150"/>
          </a:xfrm>
          <a:ln/>
        </p:spPr>
      </p:sp>
      <p:sp>
        <p:nvSpPr>
          <p:cNvPr id="757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pPr defTabSz="921617"/>
            <a:fld id="{CC5863DD-B9CB-46A6-AE1C-A7B32FA529D8}" type="slidenum">
              <a:rPr lang="en-US" smtClean="0"/>
              <a:pPr defTabSz="921617"/>
              <a:t>21</a:t>
            </a:fld>
            <a:endParaRPr lang="en-US" dirty="0"/>
          </a:p>
        </p:txBody>
      </p:sp>
      <p:sp>
        <p:nvSpPr>
          <p:cNvPr id="76803" name="Rectangle 2"/>
          <p:cNvSpPr>
            <a:spLocks noGrp="1" noRot="1" noChangeAspect="1" noChangeArrowheads="1" noTextEdit="1"/>
          </p:cNvSpPr>
          <p:nvPr>
            <p:ph type="sldImg"/>
          </p:nvPr>
        </p:nvSpPr>
        <p:spPr>
          <a:xfrm>
            <a:off x="1181100" y="696913"/>
            <a:ext cx="4648200" cy="3486150"/>
          </a:xfrm>
          <a:ln/>
        </p:spPr>
      </p:sp>
      <p:sp>
        <p:nvSpPr>
          <p:cNvPr id="768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pPr defTabSz="921617"/>
            <a:fld id="{D4AE28BB-10A4-427E-8C2B-5C414995E4E8}" type="slidenum">
              <a:rPr lang="en-US" smtClean="0"/>
              <a:pPr defTabSz="921617"/>
              <a:t>23</a:t>
            </a:fld>
            <a:endParaRPr lang="en-US" dirty="0"/>
          </a:p>
        </p:txBody>
      </p:sp>
      <p:sp>
        <p:nvSpPr>
          <p:cNvPr id="77827" name="Rectangle 2"/>
          <p:cNvSpPr>
            <a:spLocks noGrp="1" noRot="1" noChangeAspect="1" noChangeArrowheads="1" noTextEdit="1"/>
          </p:cNvSpPr>
          <p:nvPr>
            <p:ph type="sldImg"/>
          </p:nvPr>
        </p:nvSpPr>
        <p:spPr>
          <a:xfrm>
            <a:off x="1181100" y="696913"/>
            <a:ext cx="4648200" cy="3486150"/>
          </a:xfrm>
          <a:ln/>
        </p:spPr>
      </p:sp>
      <p:sp>
        <p:nvSpPr>
          <p:cNvPr id="778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pPr defTabSz="921617"/>
            <a:fld id="{D4AE28BB-10A4-427E-8C2B-5C414995E4E8}" type="slidenum">
              <a:rPr lang="en-US" smtClean="0"/>
              <a:pPr defTabSz="921617"/>
              <a:t>24</a:t>
            </a:fld>
            <a:endParaRPr lang="en-US" dirty="0"/>
          </a:p>
        </p:txBody>
      </p:sp>
      <p:sp>
        <p:nvSpPr>
          <p:cNvPr id="77827" name="Rectangle 2"/>
          <p:cNvSpPr>
            <a:spLocks noGrp="1" noRot="1" noChangeAspect="1" noChangeArrowheads="1" noTextEdit="1"/>
          </p:cNvSpPr>
          <p:nvPr>
            <p:ph type="sldImg"/>
          </p:nvPr>
        </p:nvSpPr>
        <p:spPr>
          <a:xfrm>
            <a:off x="1181100" y="696913"/>
            <a:ext cx="4648200" cy="3486150"/>
          </a:xfrm>
          <a:ln/>
        </p:spPr>
      </p:sp>
      <p:sp>
        <p:nvSpPr>
          <p:cNvPr id="778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05061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pPr defTabSz="921617"/>
            <a:fld id="{21C73B5C-DBF8-4A9F-88C8-44F1F8FCEA19}" type="slidenum">
              <a:rPr lang="en-US" smtClean="0"/>
              <a:pPr defTabSz="921617"/>
              <a:t>25</a:t>
            </a:fld>
            <a:endParaRPr lang="en-US" dirty="0"/>
          </a:p>
        </p:txBody>
      </p:sp>
      <p:sp>
        <p:nvSpPr>
          <p:cNvPr id="78851" name="Rectangle 2"/>
          <p:cNvSpPr>
            <a:spLocks noGrp="1" noRot="1" noChangeAspect="1" noChangeArrowheads="1" noTextEdit="1"/>
          </p:cNvSpPr>
          <p:nvPr>
            <p:ph type="sldImg"/>
          </p:nvPr>
        </p:nvSpPr>
        <p:spPr>
          <a:xfrm>
            <a:off x="1181100" y="696913"/>
            <a:ext cx="4648200" cy="3486150"/>
          </a:xfrm>
          <a:ln/>
        </p:spPr>
      </p:sp>
      <p:sp>
        <p:nvSpPr>
          <p:cNvPr id="788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pPr defTabSz="921617"/>
            <a:fld id="{A4B6F174-360E-4F8D-AA7E-DCCC0689B16D}" type="slidenum">
              <a:rPr lang="en-US" smtClean="0"/>
              <a:pPr defTabSz="921617"/>
              <a:t>44</a:t>
            </a:fld>
            <a:endParaRPr lang="en-US" dirty="0"/>
          </a:p>
        </p:txBody>
      </p:sp>
      <p:sp>
        <p:nvSpPr>
          <p:cNvPr id="86019" name="Rectangle 2"/>
          <p:cNvSpPr>
            <a:spLocks noGrp="1" noRot="1" noChangeAspect="1" noChangeArrowheads="1" noTextEdit="1"/>
          </p:cNvSpPr>
          <p:nvPr>
            <p:ph type="sldImg"/>
          </p:nvPr>
        </p:nvSpPr>
        <p:spPr>
          <a:xfrm>
            <a:off x="1181100" y="696913"/>
            <a:ext cx="4648200" cy="3486150"/>
          </a:xfrm>
          <a:solidFill>
            <a:srgbClr val="FFFFFF"/>
          </a:solidFill>
          <a:ln/>
        </p:spPr>
      </p:sp>
      <p:sp>
        <p:nvSpPr>
          <p:cNvPr id="86020" name="Rectangle 3"/>
          <p:cNvSpPr>
            <a:spLocks noGrp="1" noChangeArrowheads="1"/>
          </p:cNvSpPr>
          <p:nvPr>
            <p:ph type="body" idx="1"/>
          </p:nvPr>
        </p:nvSpPr>
        <p:spPr>
          <a:xfrm>
            <a:off x="701849" y="4416425"/>
            <a:ext cx="5606703" cy="4183063"/>
          </a:xfrm>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pPr defTabSz="921617"/>
            <a:fld id="{C4B8C817-1EF8-4790-AEB9-D45FB7BA4C11}" type="slidenum">
              <a:rPr lang="en-US" smtClean="0"/>
              <a:pPr defTabSz="921617"/>
              <a:t>48</a:t>
            </a:fld>
            <a:endParaRPr lang="en-US" dirty="0"/>
          </a:p>
        </p:txBody>
      </p:sp>
      <p:sp>
        <p:nvSpPr>
          <p:cNvPr id="94211" name="Rectangle 2"/>
          <p:cNvSpPr>
            <a:spLocks noGrp="1" noRot="1" noChangeAspect="1" noChangeArrowheads="1" noTextEdit="1"/>
          </p:cNvSpPr>
          <p:nvPr>
            <p:ph type="sldImg"/>
          </p:nvPr>
        </p:nvSpPr>
        <p:spPr>
          <a:xfrm>
            <a:off x="1181100" y="696913"/>
            <a:ext cx="4648200" cy="3486150"/>
          </a:xfrm>
          <a:ln/>
        </p:spPr>
      </p:sp>
      <p:sp>
        <p:nvSpPr>
          <p:cNvPr id="942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1"/>
            <a:ext cx="7772400" cy="1909763"/>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959330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1" y="353354"/>
            <a:ext cx="8252114" cy="518388"/>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628650" y="1205347"/>
            <a:ext cx="7886700" cy="4971616"/>
          </a:xfrm>
        </p:spPr>
        <p:txBody>
          <a:bodyPr>
            <a:normAutofit/>
          </a:bodyPr>
          <a:lstStyle>
            <a:lvl1pPr>
              <a:defRPr sz="1800"/>
            </a:lvl1pPr>
            <a:lvl2pPr>
              <a:defRPr sz="1800"/>
            </a:lvl2pPr>
            <a:lvl3pPr>
              <a:defRPr sz="18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cxnSp>
        <p:nvCxnSpPr>
          <p:cNvPr id="7" name="Straight Connector 6">
            <a:extLst>
              <a:ext uri="{FF2B5EF4-FFF2-40B4-BE49-F238E27FC236}">
                <a16:creationId xmlns:a16="http://schemas.microsoft.com/office/drawing/2014/main" id="{E3B06AE8-595F-4075-A0E9-F01D24F783BA}"/>
              </a:ext>
            </a:extLst>
          </p:cNvPr>
          <p:cNvCxnSpPr/>
          <p:nvPr userDrawn="1"/>
        </p:nvCxnSpPr>
        <p:spPr>
          <a:xfrm>
            <a:off x="628650" y="1024140"/>
            <a:ext cx="78867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25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3894560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CCEAE7-0A64-4A5A-956E-C62386054A53}" type="datetimeFigureOut">
              <a:rPr lang="en-IN" smtClean="0"/>
              <a:t>26-10-2025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2624634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CCEAE7-0A64-4A5A-956E-C62386054A53}" type="datetimeFigureOut">
              <a:rPr lang="en-IN" smtClean="0"/>
              <a:t>26-10-2025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865556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CCEAE7-0A64-4A5A-956E-C62386054A53}" type="datetimeFigureOut">
              <a:rPr lang="en-IN" smtClean="0"/>
              <a:t>26-10-2025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2828279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CCEAE7-0A64-4A5A-956E-C62386054A53}" type="datetimeFigureOut">
              <a:rPr lang="en-IN" smtClean="0"/>
              <a:t>26-10-2025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968880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7CCEAE7-0A64-4A5A-956E-C62386054A53}" type="datetimeFigureOut">
              <a:rPr lang="en-IN" smtClean="0"/>
              <a:t>26-10-2025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58936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7CCEAE7-0A64-4A5A-956E-C62386054A53}" type="datetimeFigureOut">
              <a:rPr lang="en-IN" smtClean="0"/>
              <a:t>26-10-2025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3629512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917802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306178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grpSp>
        <p:nvGrpSpPr>
          <p:cNvPr id="13" name="Group 11"/>
          <p:cNvGrpSpPr>
            <a:grpSpLocks/>
          </p:cNvGrpSpPr>
          <p:nvPr userDrawn="1"/>
        </p:nvGrpSpPr>
        <p:grpSpPr bwMode="auto">
          <a:xfrm>
            <a:off x="0" y="-1"/>
            <a:ext cx="9144000" cy="304801"/>
            <a:chOff x="0" y="0"/>
            <a:chExt cx="9144000" cy="304800"/>
          </a:xfrm>
        </p:grpSpPr>
        <p:sp>
          <p:nvSpPr>
            <p:cNvPr id="14" name="Rectangle 13"/>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sp>
          <p:nvSpPr>
            <p:cNvPr id="15" name="Rectangle 14"/>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grpSp>
        <p:nvGrpSpPr>
          <p:cNvPr id="16" name="Group 11"/>
          <p:cNvGrpSpPr>
            <a:grpSpLocks/>
          </p:cNvGrpSpPr>
          <p:nvPr userDrawn="1"/>
        </p:nvGrpSpPr>
        <p:grpSpPr bwMode="auto">
          <a:xfrm>
            <a:off x="0" y="6553200"/>
            <a:ext cx="9144000" cy="304800"/>
            <a:chOff x="0" y="0"/>
            <a:chExt cx="9144000" cy="304800"/>
          </a:xfrm>
        </p:grpSpPr>
        <p:sp>
          <p:nvSpPr>
            <p:cNvPr id="17" name="Rectangle 16"/>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dirty="0"/>
            </a:p>
          </p:txBody>
        </p:sp>
        <p:sp>
          <p:nvSpPr>
            <p:cNvPr id="18" name="Rectangle 17"/>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spTree>
    <p:extLst>
      <p:ext uri="{BB962C8B-B14F-4D97-AF65-F5344CB8AC3E}">
        <p14:creationId xmlns:p14="http://schemas.microsoft.com/office/powerpoint/2010/main" val="2832518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grpSp>
        <p:nvGrpSpPr>
          <p:cNvPr id="2" name="Group 10"/>
          <p:cNvGrpSpPr>
            <a:grpSpLocks/>
          </p:cNvGrpSpPr>
          <p:nvPr userDrawn="1"/>
        </p:nvGrpSpPr>
        <p:grpSpPr bwMode="auto">
          <a:xfrm>
            <a:off x="0" y="0"/>
            <a:ext cx="9144000" cy="304800"/>
            <a:chOff x="0" y="0"/>
            <a:chExt cx="9144000" cy="304800"/>
          </a:xfrm>
        </p:grpSpPr>
        <p:sp>
          <p:nvSpPr>
            <p:cNvPr id="3" name="Rectangle 2"/>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5" name="Group 11"/>
          <p:cNvGrpSpPr>
            <a:grpSpLocks/>
          </p:cNvGrpSpPr>
          <p:nvPr userDrawn="1"/>
        </p:nvGrpSpPr>
        <p:grpSpPr bwMode="auto">
          <a:xfrm>
            <a:off x="0" y="6553200"/>
            <a:ext cx="9144000" cy="304800"/>
            <a:chOff x="0" y="0"/>
            <a:chExt cx="9144000" cy="304800"/>
          </a:xfrm>
        </p:grpSpPr>
        <p:sp>
          <p:nvSpPr>
            <p:cNvPr id="6" name="Rectangle 5"/>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extLst>
      <p:ext uri="{BB962C8B-B14F-4D97-AF65-F5344CB8AC3E}">
        <p14:creationId xmlns:p14="http://schemas.microsoft.com/office/powerpoint/2010/main" val="3459662047"/>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88D134D0-407F-4B20-B354-B65CA04F45F3}" type="datetimeFigureOut">
              <a:rPr lang="en-US"/>
              <a:pPr>
                <a:defRPr/>
              </a:pPr>
              <a:t>10/26/2025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2D999BD-0613-461C-879F-1ABE27C381B6}" type="slidenum">
              <a:rPr lang="en-US"/>
              <a:pPr>
                <a:defRPr/>
              </a:pPr>
              <a:t>‹#›</a:t>
            </a:fld>
            <a:endParaRPr lang="en-US"/>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A0F28E7-A9F1-44A3-844B-8AD8FB6692E7}" type="datetimeFigureOut">
              <a:rPr lang="en-US"/>
              <a:pPr>
                <a:defRPr/>
              </a:pPr>
              <a:t>10/26/2025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050532B-F680-42A5-B67E-A0149319C7D0}" type="slidenum">
              <a:rPr lang="en-US"/>
              <a:pPr>
                <a:defRPr/>
              </a:pPr>
              <a:t>‹#›</a:t>
            </a:fld>
            <a:endParaRPr lang="en-US"/>
          </a:p>
        </p:txBody>
      </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980DA64-93C4-4E7E-8695-1F709B4B6BD3}" type="datetimeFigureOut">
              <a:rPr lang="en-US"/>
              <a:pPr>
                <a:defRPr/>
              </a:pPr>
              <a:t>10/26/2025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064C3A9-9DFE-4DCE-BC97-9A983EF95978}" type="slidenum">
              <a:rPr lang="en-US"/>
              <a:pPr>
                <a:defRPr/>
              </a:pPr>
              <a:t>‹#›</a:t>
            </a:fld>
            <a:endParaRPr lang="en-US"/>
          </a:p>
        </p:txBody>
      </p:sp>
    </p:spTree>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455802FF-0B66-494C-89CC-188E713DC275}" type="datetimeFigureOut">
              <a:rPr lang="en-US"/>
              <a:pPr>
                <a:defRPr/>
              </a:pPr>
              <a:t>10/26/2025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8A9BEE-EC77-446F-8985-90A65AD6695A}" type="slidenum">
              <a:rPr lang="en-US"/>
              <a:pPr>
                <a:defRPr/>
              </a:pPr>
              <a:t>‹#›</a:t>
            </a:fld>
            <a:endParaRPr lang="en-US"/>
          </a:p>
        </p:txBody>
      </p:sp>
    </p:spTree>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DA47B6AB-18CB-4C52-BE6D-70BCB929061E}" type="datetimeFigureOut">
              <a:rPr lang="en-US"/>
              <a:pPr>
                <a:defRPr/>
              </a:pPr>
              <a:t>10/26/2025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7C3725F-84C8-4461-9A3C-D915238A3428}" type="slidenum">
              <a:rPr lang="en-US"/>
              <a:pPr>
                <a:defRPr/>
              </a:pPr>
              <a:t>‹#›</a:t>
            </a:fld>
            <a:endParaRPr lang="en-US"/>
          </a:p>
        </p:txBody>
      </p:sp>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71E2E53-B91D-47F8-B5F0-85ABE195D4E8}" type="datetimeFigureOut">
              <a:rPr lang="en-US"/>
              <a:pPr>
                <a:defRPr/>
              </a:pPr>
              <a:t>10/26/2025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07F21C3-0FE4-4938-BFC2-23254B954DA2}" type="slidenum">
              <a:rPr lang="en-US"/>
              <a:pPr>
                <a:defRPr/>
              </a:pPr>
              <a:t>‹#›</a:t>
            </a:fld>
            <a:endParaRPr lang="en-US"/>
          </a:p>
        </p:txBody>
      </p:sp>
    </p:spTree>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13D7C46-0DF8-4D1B-970D-C70232602894}" type="datetimeFigureOut">
              <a:rPr lang="en-US"/>
              <a:pPr>
                <a:defRPr/>
              </a:pPr>
              <a:t>10/26/2025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61A0746-800B-46DE-99DC-2F8FE8070B16}" type="slidenum">
              <a:rPr lang="en-US"/>
              <a:pPr>
                <a:defRPr/>
              </a:pPr>
              <a:t>‹#›</a:t>
            </a:fld>
            <a:endParaRPr lang="en-US"/>
          </a:p>
        </p:txBody>
      </p:sp>
    </p:spTree>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21647C6-E5CD-42B5-8F4E-D5348491ED01}" type="datetimeFigureOut">
              <a:rPr lang="en-US"/>
              <a:pPr>
                <a:defRPr/>
              </a:pPr>
              <a:t>10/26/2025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A8F6E2E-8FFC-4E33-977E-934AB189A1C8}" type="slidenum">
              <a:rPr lang="en-US"/>
              <a:pPr>
                <a:defRPr/>
              </a:pPr>
              <a:t>‹#›</a:t>
            </a:fld>
            <a:endParaRPr lang="en-US"/>
          </a:p>
        </p:txBody>
      </p:sp>
    </p:spTree>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4BB46A0-88AE-4C81-BB0D-0F3C00D93954}" type="datetimeFigureOut">
              <a:rPr lang="en-US"/>
              <a:pPr>
                <a:defRPr/>
              </a:pPr>
              <a:t>10/26/2025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2A871CC-6F68-4BF0-B8B8-4E3C1BF99A48}" type="slidenum">
              <a:rPr lang="en-US"/>
              <a:pPr>
                <a:defRPr/>
              </a:pPr>
              <a:t>‹#›</a:t>
            </a:fld>
            <a:endParaRPr lang="en-US"/>
          </a:p>
        </p:txBody>
      </p:sp>
    </p:spTree>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DCE4AE0-EAD8-460D-A717-70FD23A93E31}" type="datetimeFigureOut">
              <a:rPr lang="en-US"/>
              <a:pPr>
                <a:defRPr/>
              </a:pPr>
              <a:t>10/26/2025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33175AE-3CE3-4112-AB54-719FB061AA53}" type="slidenum">
              <a:rPr lang="en-US"/>
              <a:pPr>
                <a:defRPr/>
              </a:pPr>
              <a:t>‹#›</a:t>
            </a:fld>
            <a:endParaRPr lang="en-US"/>
          </a:p>
        </p:txBody>
      </p:sp>
    </p:spTree>
  </p:cSld>
  <p:clrMapOvr>
    <a:masterClrMapping/>
  </p:clrMapOvr>
  <p:transition spd="slow">
    <p:push di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1DA5348-ACD5-48B2-996B-29FAE4481FC5}" type="datetimeFigureOut">
              <a:rPr lang="en-US"/>
              <a:pPr>
                <a:defRPr/>
              </a:pPr>
              <a:t>10/26/2025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9DD0B7D-B284-44DD-824A-DF071E97A04C}" type="slidenum">
              <a:rPr lang="en-US"/>
              <a:pPr>
                <a:defRPr/>
              </a:pPr>
              <a:t>‹#›</a:t>
            </a:fld>
            <a:endParaRPr lang="en-US"/>
          </a:p>
        </p:txBody>
      </p:sp>
    </p:spTree>
  </p:cSld>
  <p:clrMapOvr>
    <a:masterClrMapping/>
  </p:clrMapOvr>
  <p:transition spd="slow">
    <p:push dir="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21745121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cxnSp>
        <p:nvCxnSpPr>
          <p:cNvPr id="7" name="Straight Connector 6">
            <a:extLst>
              <a:ext uri="{FF2B5EF4-FFF2-40B4-BE49-F238E27FC236}">
                <a16:creationId xmlns:a16="http://schemas.microsoft.com/office/drawing/2014/main" id="{8E0157C2-3994-4665-BFC7-CA39C25C3C24}"/>
              </a:ext>
            </a:extLst>
          </p:cNvPr>
          <p:cNvCxnSpPr/>
          <p:nvPr userDrawn="1"/>
        </p:nvCxnSpPr>
        <p:spPr>
          <a:xfrm>
            <a:off x="628650" y="1024140"/>
            <a:ext cx="78867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8" name="Group 11">
            <a:extLst>
              <a:ext uri="{FF2B5EF4-FFF2-40B4-BE49-F238E27FC236}">
                <a16:creationId xmlns:a16="http://schemas.microsoft.com/office/drawing/2014/main" id="{B17F16C7-E041-0705-5312-D08189BE8C7A}"/>
              </a:ext>
            </a:extLst>
          </p:cNvPr>
          <p:cNvGrpSpPr>
            <a:grpSpLocks/>
          </p:cNvGrpSpPr>
          <p:nvPr userDrawn="1"/>
        </p:nvGrpSpPr>
        <p:grpSpPr bwMode="auto">
          <a:xfrm>
            <a:off x="0" y="6553200"/>
            <a:ext cx="9144000" cy="304800"/>
            <a:chOff x="0" y="0"/>
            <a:chExt cx="9144000" cy="304800"/>
          </a:xfrm>
        </p:grpSpPr>
        <p:sp>
          <p:nvSpPr>
            <p:cNvPr id="9" name="Rectangle 8">
              <a:extLst>
                <a:ext uri="{FF2B5EF4-FFF2-40B4-BE49-F238E27FC236}">
                  <a16:creationId xmlns:a16="http://schemas.microsoft.com/office/drawing/2014/main" id="{6AC324D5-36DF-5D43-2C58-DB81FE7CEB19}"/>
                </a:ext>
              </a:extLst>
            </p:cNvPr>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U. Dinesh Kumar, IIM Bangalore</a:t>
              </a:r>
            </a:p>
          </p:txBody>
        </p:sp>
        <p:sp>
          <p:nvSpPr>
            <p:cNvPr id="10" name="Rectangle 9">
              <a:extLst>
                <a:ext uri="{FF2B5EF4-FFF2-40B4-BE49-F238E27FC236}">
                  <a16:creationId xmlns:a16="http://schemas.microsoft.com/office/drawing/2014/main" id="{BB76986A-66D4-5EE4-FDC9-09F579ECA549}"/>
                </a:ext>
              </a:extLst>
            </p:cNvPr>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extLst>
      <p:ext uri="{BB962C8B-B14F-4D97-AF65-F5344CB8AC3E}">
        <p14:creationId xmlns:p14="http://schemas.microsoft.com/office/powerpoint/2010/main" val="38237395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9880214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CCEAE7-0A64-4A5A-956E-C62386054A53}" type="datetimeFigureOut">
              <a:rPr lang="en-IN" smtClean="0"/>
              <a:t>26-10-2025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38142655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CCEAE7-0A64-4A5A-956E-C62386054A53}" type="datetimeFigureOut">
              <a:rPr lang="en-IN" smtClean="0"/>
              <a:t>26-10-2025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38741625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CCEAE7-0A64-4A5A-956E-C62386054A53}" type="datetimeFigureOut">
              <a:rPr lang="en-IN" smtClean="0"/>
              <a:t>26-10-2025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9F432A-A286-4FD0-94BB-B7E132F665BA}" type="slidenum">
              <a:rPr lang="en-IN" smtClean="0"/>
              <a:t>‹#›</a:t>
            </a:fld>
            <a:endParaRPr lang="en-IN"/>
          </a:p>
        </p:txBody>
      </p:sp>
      <p:grpSp>
        <p:nvGrpSpPr>
          <p:cNvPr id="6" name="Group 11">
            <a:extLst>
              <a:ext uri="{FF2B5EF4-FFF2-40B4-BE49-F238E27FC236}">
                <a16:creationId xmlns:a16="http://schemas.microsoft.com/office/drawing/2014/main" id="{6D89A725-40F4-9B1F-92E6-CB1094AA7510}"/>
              </a:ext>
            </a:extLst>
          </p:cNvPr>
          <p:cNvGrpSpPr>
            <a:grpSpLocks/>
          </p:cNvGrpSpPr>
          <p:nvPr userDrawn="1"/>
        </p:nvGrpSpPr>
        <p:grpSpPr bwMode="auto">
          <a:xfrm>
            <a:off x="0" y="6553200"/>
            <a:ext cx="9144000" cy="304800"/>
            <a:chOff x="0" y="0"/>
            <a:chExt cx="9144000" cy="304800"/>
          </a:xfrm>
        </p:grpSpPr>
        <p:sp>
          <p:nvSpPr>
            <p:cNvPr id="7" name="Rectangle 6">
              <a:extLst>
                <a:ext uri="{FF2B5EF4-FFF2-40B4-BE49-F238E27FC236}">
                  <a16:creationId xmlns:a16="http://schemas.microsoft.com/office/drawing/2014/main" id="{6FEB5230-A6C7-2264-30B9-4D16A658BE55}"/>
                </a:ext>
              </a:extLst>
            </p:cNvPr>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U. Dinesh Kumar, IIM Bangalore</a:t>
              </a:r>
            </a:p>
          </p:txBody>
        </p:sp>
        <p:sp>
          <p:nvSpPr>
            <p:cNvPr id="8" name="Rectangle 7">
              <a:extLst>
                <a:ext uri="{FF2B5EF4-FFF2-40B4-BE49-F238E27FC236}">
                  <a16:creationId xmlns:a16="http://schemas.microsoft.com/office/drawing/2014/main" id="{D5614085-2DF9-D223-6A33-3E8515357FEE}"/>
                </a:ext>
              </a:extLst>
            </p:cNvPr>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extLst>
      <p:ext uri="{BB962C8B-B14F-4D97-AF65-F5344CB8AC3E}">
        <p14:creationId xmlns:p14="http://schemas.microsoft.com/office/powerpoint/2010/main" val="34100333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CCEAE7-0A64-4A5A-956E-C62386054A53}" type="datetimeFigureOut">
              <a:rPr lang="en-IN" smtClean="0"/>
              <a:t>26-10-2025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89F432A-A286-4FD0-94BB-B7E132F665BA}" type="slidenum">
              <a:rPr lang="en-IN" smtClean="0"/>
              <a:t>‹#›</a:t>
            </a:fld>
            <a:endParaRPr lang="en-IN"/>
          </a:p>
        </p:txBody>
      </p:sp>
      <p:grpSp>
        <p:nvGrpSpPr>
          <p:cNvPr id="5" name="Group 11">
            <a:extLst>
              <a:ext uri="{FF2B5EF4-FFF2-40B4-BE49-F238E27FC236}">
                <a16:creationId xmlns:a16="http://schemas.microsoft.com/office/drawing/2014/main" id="{6826DAC3-147D-9D5C-FC10-E7B02B3A59E6}"/>
              </a:ext>
            </a:extLst>
          </p:cNvPr>
          <p:cNvGrpSpPr>
            <a:grpSpLocks/>
          </p:cNvGrpSpPr>
          <p:nvPr userDrawn="1"/>
        </p:nvGrpSpPr>
        <p:grpSpPr bwMode="auto">
          <a:xfrm>
            <a:off x="0" y="6553200"/>
            <a:ext cx="9144000" cy="304800"/>
            <a:chOff x="0" y="0"/>
            <a:chExt cx="9144000" cy="304800"/>
          </a:xfrm>
        </p:grpSpPr>
        <p:sp>
          <p:nvSpPr>
            <p:cNvPr id="6" name="Rectangle 5">
              <a:extLst>
                <a:ext uri="{FF2B5EF4-FFF2-40B4-BE49-F238E27FC236}">
                  <a16:creationId xmlns:a16="http://schemas.microsoft.com/office/drawing/2014/main" id="{B1D8B5CE-3801-EE2C-8666-7DD4F6B90C6C}"/>
                </a:ext>
              </a:extLst>
            </p:cNvPr>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U. Dinesh Kumar, IIM Bangalore</a:t>
              </a:r>
            </a:p>
          </p:txBody>
        </p:sp>
        <p:sp>
          <p:nvSpPr>
            <p:cNvPr id="7" name="Rectangle 6">
              <a:extLst>
                <a:ext uri="{FF2B5EF4-FFF2-40B4-BE49-F238E27FC236}">
                  <a16:creationId xmlns:a16="http://schemas.microsoft.com/office/drawing/2014/main" id="{6FFC3992-1960-CE11-5608-AD50FDD64F3E}"/>
                </a:ext>
              </a:extLst>
            </p:cNvPr>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extLst>
      <p:ext uri="{BB962C8B-B14F-4D97-AF65-F5344CB8AC3E}">
        <p14:creationId xmlns:p14="http://schemas.microsoft.com/office/powerpoint/2010/main" val="25360572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7CCEAE7-0A64-4A5A-956E-C62386054A53}" type="datetimeFigureOut">
              <a:rPr lang="en-IN" smtClean="0"/>
              <a:t>26-10-2025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8403351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7CCEAE7-0A64-4A5A-956E-C62386054A53}" type="datetimeFigureOut">
              <a:rPr lang="en-IN" smtClean="0"/>
              <a:t>26-10-2025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2232578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3191379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137108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800"/>
            <a:ext cx="8016586" cy="113072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7CCEAE7-0A64-4A5A-956E-C62386054A53}" type="datetimeFigureOut">
              <a:rPr lang="en-IN" smtClean="0"/>
              <a:t>26-10-2025</a:t>
            </a:fld>
            <a:endParaRPr lang="en-IN"/>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89F432A-A286-4FD0-94BB-B7E132F665BA}" type="slidenum">
              <a:rPr lang="en-IN" smtClean="0"/>
              <a:t>‹#›</a:t>
            </a:fld>
            <a:endParaRPr lang="en-IN"/>
          </a:p>
        </p:txBody>
      </p:sp>
      <p:grpSp>
        <p:nvGrpSpPr>
          <p:cNvPr id="7" name="Group 11">
            <a:extLst>
              <a:ext uri="{FF2B5EF4-FFF2-40B4-BE49-F238E27FC236}">
                <a16:creationId xmlns:a16="http://schemas.microsoft.com/office/drawing/2014/main" id="{3B4EE827-5960-409F-8452-E1B0E1D857CB}"/>
              </a:ext>
            </a:extLst>
          </p:cNvPr>
          <p:cNvGrpSpPr>
            <a:grpSpLocks/>
          </p:cNvGrpSpPr>
          <p:nvPr userDrawn="1"/>
        </p:nvGrpSpPr>
        <p:grpSpPr bwMode="auto">
          <a:xfrm>
            <a:off x="0" y="-1"/>
            <a:ext cx="9144000" cy="304801"/>
            <a:chOff x="0" y="0"/>
            <a:chExt cx="9144000" cy="304800"/>
          </a:xfrm>
        </p:grpSpPr>
        <p:sp>
          <p:nvSpPr>
            <p:cNvPr id="8" name="Rectangle 7">
              <a:extLst>
                <a:ext uri="{FF2B5EF4-FFF2-40B4-BE49-F238E27FC236}">
                  <a16:creationId xmlns:a16="http://schemas.microsoft.com/office/drawing/2014/main" id="{B1B37F0E-B170-4FEF-8C15-2F265A44DAF0}"/>
                </a:ext>
              </a:extLst>
            </p:cNvPr>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sp>
          <p:nvSpPr>
            <p:cNvPr id="9" name="Rectangle 8">
              <a:extLst>
                <a:ext uri="{FF2B5EF4-FFF2-40B4-BE49-F238E27FC236}">
                  <a16:creationId xmlns:a16="http://schemas.microsoft.com/office/drawing/2014/main" id="{93231E49-AD5D-44B0-B00E-C40B30F11C69}"/>
                </a:ext>
              </a:extLst>
            </p:cNvPr>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grpSp>
        <p:nvGrpSpPr>
          <p:cNvPr id="10" name="Group 11">
            <a:extLst>
              <a:ext uri="{FF2B5EF4-FFF2-40B4-BE49-F238E27FC236}">
                <a16:creationId xmlns:a16="http://schemas.microsoft.com/office/drawing/2014/main" id="{6A291EF1-4854-4584-9B1F-F7970B6220AA}"/>
              </a:ext>
            </a:extLst>
          </p:cNvPr>
          <p:cNvGrpSpPr>
            <a:grpSpLocks/>
          </p:cNvGrpSpPr>
          <p:nvPr userDrawn="1"/>
        </p:nvGrpSpPr>
        <p:grpSpPr bwMode="auto">
          <a:xfrm>
            <a:off x="-4" y="6567070"/>
            <a:ext cx="9144000" cy="304801"/>
            <a:chOff x="0" y="0"/>
            <a:chExt cx="9144000" cy="304800"/>
          </a:xfrm>
        </p:grpSpPr>
        <p:sp>
          <p:nvSpPr>
            <p:cNvPr id="11" name="Rectangle 10">
              <a:extLst>
                <a:ext uri="{FF2B5EF4-FFF2-40B4-BE49-F238E27FC236}">
                  <a16:creationId xmlns:a16="http://schemas.microsoft.com/office/drawing/2014/main" id="{FA03095F-F6F4-488A-ABE9-7EBAC0421518}"/>
                </a:ext>
              </a:extLst>
            </p:cNvPr>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sp>
          <p:nvSpPr>
            <p:cNvPr id="12" name="Rectangle 11">
              <a:extLst>
                <a:ext uri="{FF2B5EF4-FFF2-40B4-BE49-F238E27FC236}">
                  <a16:creationId xmlns:a16="http://schemas.microsoft.com/office/drawing/2014/main" id="{5CDD023F-DDA6-4678-B1D0-956BF81FFF15}"/>
                </a:ext>
              </a:extLst>
            </p:cNvPr>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sp>
        <p:nvSpPr>
          <p:cNvPr id="13" name="Rectangle 12">
            <a:extLst>
              <a:ext uri="{FF2B5EF4-FFF2-40B4-BE49-F238E27FC236}">
                <a16:creationId xmlns:a16="http://schemas.microsoft.com/office/drawing/2014/main" id="{2DB49E3B-F0B5-4BA3-A39C-C63CE998F693}"/>
              </a:ext>
            </a:extLst>
          </p:cNvPr>
          <p:cNvSpPr/>
          <p:nvPr userDrawn="1"/>
        </p:nvSpPr>
        <p:spPr bwMode="auto">
          <a:xfrm>
            <a:off x="4572000" y="655320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900" dirty="0"/>
              <a:t>Business Analytics – The Science of Data Driven Decision Making</a:t>
            </a:r>
          </a:p>
        </p:txBody>
      </p:sp>
    </p:spTree>
    <p:extLst>
      <p:ext uri="{BB962C8B-B14F-4D97-AF65-F5344CB8AC3E}">
        <p14:creationId xmlns:p14="http://schemas.microsoft.com/office/powerpoint/2010/main" val="1187334169"/>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fontAlgn="auto">
              <a:spcBef>
                <a:spcPts val="0"/>
              </a:spcBef>
              <a:spcAft>
                <a:spcPts val="0"/>
              </a:spcAft>
              <a:defRPr sz="900">
                <a:solidFill>
                  <a:schemeClr val="tx1">
                    <a:tint val="75000"/>
                  </a:schemeClr>
                </a:solidFill>
                <a:latin typeface="+mn-lt"/>
              </a:defRPr>
            </a:lvl1pPr>
          </a:lstStyle>
          <a:p>
            <a:pPr>
              <a:defRPr/>
            </a:pPr>
            <a:fld id="{AC45A60D-A17B-4D4A-B163-12D8130C8F08}" type="datetimeFigureOut">
              <a:rPr lang="en-US"/>
              <a:pPr>
                <a:defRPr/>
              </a:pPr>
              <a:t>10/26/2025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fontAlgn="auto">
              <a:spcBef>
                <a:spcPts val="0"/>
              </a:spcBef>
              <a:spcAft>
                <a:spcPts val="0"/>
              </a:spcAft>
              <a:defRPr sz="9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fontAlgn="auto">
              <a:spcBef>
                <a:spcPts val="0"/>
              </a:spcBef>
              <a:spcAft>
                <a:spcPts val="0"/>
              </a:spcAft>
              <a:defRPr sz="900">
                <a:solidFill>
                  <a:schemeClr val="tx1">
                    <a:tint val="75000"/>
                  </a:schemeClr>
                </a:solidFill>
                <a:latin typeface="+mn-lt"/>
              </a:defRPr>
            </a:lvl1pPr>
          </a:lstStyle>
          <a:p>
            <a:pPr>
              <a:defRPr/>
            </a:pPr>
            <a:fld id="{E9ED72F2-8ADF-458D-90F8-1CA28AE3966B}" type="slidenum">
              <a:rPr lang="en-US"/>
              <a:pPr>
                <a:defRPr/>
              </a:pPr>
              <a:t>‹#›</a:t>
            </a:fld>
            <a:endParaRPr lang="en-US"/>
          </a:p>
        </p:txBody>
      </p:sp>
      <p:grpSp>
        <p:nvGrpSpPr>
          <p:cNvPr id="7" name="Group 10"/>
          <p:cNvGrpSpPr>
            <a:grpSpLocks/>
          </p:cNvGrpSpPr>
          <p:nvPr userDrawn="1"/>
        </p:nvGrpSpPr>
        <p:grpSpPr bwMode="auto">
          <a:xfrm>
            <a:off x="0" y="0"/>
            <a:ext cx="9144000" cy="304800"/>
            <a:chOff x="0" y="0"/>
            <a:chExt cx="9144000" cy="304800"/>
          </a:xfrm>
        </p:grpSpPr>
        <p:sp>
          <p:nvSpPr>
            <p:cNvPr id="8" name="Rectangle 7"/>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1"/>
          <p:cNvGrpSpPr>
            <a:grpSpLocks/>
          </p:cNvGrpSpPr>
          <p:nvPr userDrawn="1"/>
        </p:nvGrpSpPr>
        <p:grpSpPr bwMode="auto">
          <a:xfrm>
            <a:off x="0" y="6553200"/>
            <a:ext cx="9144000" cy="304800"/>
            <a:chOff x="0" y="0"/>
            <a:chExt cx="9144000" cy="304800"/>
          </a:xfrm>
        </p:grpSpPr>
        <p:sp>
          <p:nvSpPr>
            <p:cNvPr id="11" name="Rectangle 10"/>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spd="slow">
    <p:push dir="u"/>
  </p:transition>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900" algn="ctr" rtl="0" fontAlgn="base">
        <a:spcBef>
          <a:spcPct val="0"/>
        </a:spcBef>
        <a:spcAft>
          <a:spcPct val="0"/>
        </a:spcAft>
        <a:defRPr sz="3300">
          <a:solidFill>
            <a:schemeClr val="tx1"/>
          </a:solidFill>
          <a:latin typeface="Calibri" pitchFamily="34" charset="0"/>
        </a:defRPr>
      </a:lvl6pPr>
      <a:lvl7pPr marL="685800" algn="ctr" rtl="0" fontAlgn="base">
        <a:spcBef>
          <a:spcPct val="0"/>
        </a:spcBef>
        <a:spcAft>
          <a:spcPct val="0"/>
        </a:spcAft>
        <a:defRPr sz="3300">
          <a:solidFill>
            <a:schemeClr val="tx1"/>
          </a:solidFill>
          <a:latin typeface="Calibri" pitchFamily="34" charset="0"/>
        </a:defRPr>
      </a:lvl7pPr>
      <a:lvl8pPr marL="1028700" algn="ctr" rtl="0" fontAlgn="base">
        <a:spcBef>
          <a:spcPct val="0"/>
        </a:spcBef>
        <a:spcAft>
          <a:spcPct val="0"/>
        </a:spcAft>
        <a:defRPr sz="3300">
          <a:solidFill>
            <a:schemeClr val="tx1"/>
          </a:solidFill>
          <a:latin typeface="Calibri" pitchFamily="34" charset="0"/>
        </a:defRPr>
      </a:lvl8pPr>
      <a:lvl9pPr marL="1371600" algn="ctr" rtl="0" fontAlgn="base">
        <a:spcBef>
          <a:spcPct val="0"/>
        </a:spcBef>
        <a:spcAft>
          <a:spcPct val="0"/>
        </a:spcAft>
        <a:defRPr sz="3300">
          <a:solidFill>
            <a:schemeClr val="tx1"/>
          </a:solidFill>
          <a:latin typeface="Calibri" pitchFamily="34" charset="0"/>
        </a:defRPr>
      </a:lvl9pPr>
    </p:titleStyle>
    <p:bodyStyle>
      <a:lvl1pPr marL="257175" indent="-257175"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CCEAE7-0A64-4A5A-956E-C62386054A53}" type="datetimeFigureOut">
              <a:rPr lang="en-IN" smtClean="0"/>
              <a:t>26-10-2025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9F432A-A286-4FD0-94BB-B7E132F665BA}" type="slidenum">
              <a:rPr lang="en-IN" smtClean="0"/>
              <a:t>‹#›</a:t>
            </a:fld>
            <a:endParaRPr lang="en-IN"/>
          </a:p>
        </p:txBody>
      </p:sp>
      <p:grpSp>
        <p:nvGrpSpPr>
          <p:cNvPr id="7" name="Group 11">
            <a:extLst>
              <a:ext uri="{FF2B5EF4-FFF2-40B4-BE49-F238E27FC236}">
                <a16:creationId xmlns:a16="http://schemas.microsoft.com/office/drawing/2014/main" id="{599BAA02-3352-4293-A1D5-0BF587C32DB9}"/>
              </a:ext>
            </a:extLst>
          </p:cNvPr>
          <p:cNvGrpSpPr>
            <a:grpSpLocks/>
          </p:cNvGrpSpPr>
          <p:nvPr userDrawn="1"/>
        </p:nvGrpSpPr>
        <p:grpSpPr bwMode="auto">
          <a:xfrm>
            <a:off x="0" y="-1"/>
            <a:ext cx="9144000" cy="304801"/>
            <a:chOff x="0" y="0"/>
            <a:chExt cx="9144000" cy="304800"/>
          </a:xfrm>
        </p:grpSpPr>
        <p:sp>
          <p:nvSpPr>
            <p:cNvPr id="8" name="Rectangle 7">
              <a:extLst>
                <a:ext uri="{FF2B5EF4-FFF2-40B4-BE49-F238E27FC236}">
                  <a16:creationId xmlns:a16="http://schemas.microsoft.com/office/drawing/2014/main" id="{5BB41483-0CF6-4336-B52E-3D6C7D5E684D}"/>
                </a:ext>
              </a:extLst>
            </p:cNvPr>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sp>
          <p:nvSpPr>
            <p:cNvPr id="9" name="Rectangle 8">
              <a:extLst>
                <a:ext uri="{FF2B5EF4-FFF2-40B4-BE49-F238E27FC236}">
                  <a16:creationId xmlns:a16="http://schemas.microsoft.com/office/drawing/2014/main" id="{DF109C96-6B7C-4077-BAB4-44852985595A}"/>
                </a:ext>
              </a:extLst>
            </p:cNvPr>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grpSp>
        <p:nvGrpSpPr>
          <p:cNvPr id="10" name="Group 11">
            <a:extLst>
              <a:ext uri="{FF2B5EF4-FFF2-40B4-BE49-F238E27FC236}">
                <a16:creationId xmlns:a16="http://schemas.microsoft.com/office/drawing/2014/main" id="{69E83FCE-4E25-4272-B9D8-E3D49FFAC605}"/>
              </a:ext>
            </a:extLst>
          </p:cNvPr>
          <p:cNvGrpSpPr>
            <a:grpSpLocks/>
          </p:cNvGrpSpPr>
          <p:nvPr userDrawn="1"/>
        </p:nvGrpSpPr>
        <p:grpSpPr bwMode="auto">
          <a:xfrm>
            <a:off x="-4" y="6567070"/>
            <a:ext cx="9144000" cy="304801"/>
            <a:chOff x="0" y="0"/>
            <a:chExt cx="9144000" cy="304800"/>
          </a:xfrm>
        </p:grpSpPr>
        <p:sp>
          <p:nvSpPr>
            <p:cNvPr id="11" name="Rectangle 10">
              <a:extLst>
                <a:ext uri="{FF2B5EF4-FFF2-40B4-BE49-F238E27FC236}">
                  <a16:creationId xmlns:a16="http://schemas.microsoft.com/office/drawing/2014/main" id="{A422F0C0-BD44-45EA-ACF7-BA97A075D1D7}"/>
                </a:ext>
              </a:extLst>
            </p:cNvPr>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sp>
          <p:nvSpPr>
            <p:cNvPr id="12" name="Rectangle 11">
              <a:extLst>
                <a:ext uri="{FF2B5EF4-FFF2-40B4-BE49-F238E27FC236}">
                  <a16:creationId xmlns:a16="http://schemas.microsoft.com/office/drawing/2014/main" id="{2ED8E3F0-8256-4B98-850E-77CCDFB18338}"/>
                </a:ext>
              </a:extLst>
            </p:cNvPr>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sp>
        <p:nvSpPr>
          <p:cNvPr id="13" name="Rectangle 12">
            <a:extLst>
              <a:ext uri="{FF2B5EF4-FFF2-40B4-BE49-F238E27FC236}">
                <a16:creationId xmlns:a16="http://schemas.microsoft.com/office/drawing/2014/main" id="{7C664B8B-6A32-4C0B-A005-01EE504EC4A8}"/>
              </a:ext>
            </a:extLst>
          </p:cNvPr>
          <p:cNvSpPr/>
          <p:nvPr userDrawn="1"/>
        </p:nvSpPr>
        <p:spPr bwMode="auto">
          <a:xfrm>
            <a:off x="4572000" y="655320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900" dirty="0"/>
              <a:t>Business Analytics – The Science of Data Driven Decision Making</a:t>
            </a:r>
          </a:p>
        </p:txBody>
      </p:sp>
    </p:spTree>
    <p:extLst>
      <p:ext uri="{BB962C8B-B14F-4D97-AF65-F5344CB8AC3E}">
        <p14:creationId xmlns:p14="http://schemas.microsoft.com/office/powerpoint/2010/main" val="2529885749"/>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hyperlink" Target="Galton%20Data.xls" TargetMode="External"/><Relationship Id="rId2" Type="http://schemas.openxmlformats.org/officeDocument/2006/relationships/image" Target="../media/image3.jpe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hyperlink" Target="history_regression%20paper%20by%20Galton.pdf" TargetMode="External"/><Relationship Id="rId2" Type="http://schemas.openxmlformats.org/officeDocument/2006/relationships/image" Target="../media/image4.gif"/><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s>
</file>

<file path=ppt/slides/_rels/slide2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6.bin"/><Relationship Id="rId1" Type="http://schemas.openxmlformats.org/officeDocument/2006/relationships/slideLayout" Target="../slideLayouts/slideLayout30.xml"/><Relationship Id="rId6" Type="http://schemas.openxmlformats.org/officeDocument/2006/relationships/oleObject" Target="../embeddings/oleObject8.bin"/><Relationship Id="rId5" Type="http://schemas.openxmlformats.org/officeDocument/2006/relationships/image" Target="../media/image13.wmf"/><Relationship Id="rId4"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7.wmf"/><Relationship Id="rId2" Type="http://schemas.openxmlformats.org/officeDocument/2006/relationships/oleObject" Target="../embeddings/oleObject9.bin"/><Relationship Id="rId1" Type="http://schemas.openxmlformats.org/officeDocument/2006/relationships/slideLayout" Target="../slideLayouts/slideLayout26.xml"/><Relationship Id="rId6" Type="http://schemas.openxmlformats.org/officeDocument/2006/relationships/oleObject" Target="../embeddings/oleObject11.bin"/><Relationship Id="rId5" Type="http://schemas.openxmlformats.org/officeDocument/2006/relationships/image" Target="../media/image16.wmf"/><Relationship Id="rId4" Type="http://schemas.openxmlformats.org/officeDocument/2006/relationships/oleObject" Target="../embeddings/oleObject10.bin"/></Relationships>
</file>

<file path=ppt/slides/_rels/slide3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2.bin"/><Relationship Id="rId1" Type="http://schemas.openxmlformats.org/officeDocument/2006/relationships/slideLayout" Target="../slideLayouts/slideLayout26.xml"/><Relationship Id="rId5" Type="http://schemas.openxmlformats.org/officeDocument/2006/relationships/image" Target="../media/image19.wmf"/><Relationship Id="rId4" Type="http://schemas.openxmlformats.org/officeDocument/2006/relationships/oleObject" Target="../embeddings/oleObject1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4.bin"/><Relationship Id="rId1" Type="http://schemas.openxmlformats.org/officeDocument/2006/relationships/slideLayout" Target="../slideLayouts/slideLayout26.xml"/><Relationship Id="rId6" Type="http://schemas.openxmlformats.org/officeDocument/2006/relationships/oleObject" Target="../embeddings/oleObject16.bin"/><Relationship Id="rId5" Type="http://schemas.openxmlformats.org/officeDocument/2006/relationships/image" Target="../media/image21.wmf"/><Relationship Id="rId4" Type="http://schemas.openxmlformats.org/officeDocument/2006/relationships/oleObject" Target="../embeddings/oleObject15.bin"/></Relationships>
</file>

<file path=ppt/slides/_rels/slide3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7.bin"/><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8.bin"/><Relationship Id="rId1" Type="http://schemas.openxmlformats.org/officeDocument/2006/relationships/slideLayout" Target="../slideLayouts/slideLayout26.xml"/><Relationship Id="rId5" Type="http://schemas.openxmlformats.org/officeDocument/2006/relationships/image" Target="../media/image25.wmf"/><Relationship Id="rId4" Type="http://schemas.openxmlformats.org/officeDocument/2006/relationships/oleObject" Target="../embeddings/oleObject19.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0.bin"/><Relationship Id="rId1" Type="http://schemas.openxmlformats.org/officeDocument/2006/relationships/slideLayout" Target="../slideLayouts/slideLayout26.xml"/><Relationship Id="rId5" Type="http://schemas.openxmlformats.org/officeDocument/2006/relationships/image" Target="../media/image27.wmf"/><Relationship Id="rId4" Type="http://schemas.openxmlformats.org/officeDocument/2006/relationships/oleObject" Target="../embeddings/oleObject21.bin"/></Relationships>
</file>

<file path=ppt/slides/_rels/slide43.x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22.bin"/><Relationship Id="rId1" Type="http://schemas.openxmlformats.org/officeDocument/2006/relationships/slideLayout" Target="../slideLayouts/slideLayout26.xml"/><Relationship Id="rId6" Type="http://schemas.openxmlformats.org/officeDocument/2006/relationships/oleObject" Target="../embeddings/oleObject24.bin"/><Relationship Id="rId5" Type="http://schemas.openxmlformats.org/officeDocument/2006/relationships/image" Target="../media/image29.wmf"/><Relationship Id="rId4" Type="http://schemas.openxmlformats.org/officeDocument/2006/relationships/oleObject" Target="../embeddings/oleObject23.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6.xml"/><Relationship Id="rId1" Type="http://schemas.openxmlformats.org/officeDocument/2006/relationships/slideLayout" Target="../slideLayouts/slideLayout31.xml"/><Relationship Id="rId6" Type="http://schemas.openxmlformats.org/officeDocument/2006/relationships/image" Target="../media/image32.wmf"/><Relationship Id="rId5" Type="http://schemas.openxmlformats.org/officeDocument/2006/relationships/oleObject" Target="../embeddings/oleObject26.bin"/><Relationship Id="rId4" Type="http://schemas.openxmlformats.org/officeDocument/2006/relationships/image" Target="../media/image31.wmf"/></Relationships>
</file>

<file path=ppt/slides/_rels/slide45.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27.bin"/><Relationship Id="rId1" Type="http://schemas.openxmlformats.org/officeDocument/2006/relationships/slideLayout" Target="../slideLayouts/slideLayout26.xml"/><Relationship Id="rId5" Type="http://schemas.openxmlformats.org/officeDocument/2006/relationships/image" Target="../media/image34.wmf"/><Relationship Id="rId4" Type="http://schemas.openxmlformats.org/officeDocument/2006/relationships/oleObject" Target="../embeddings/oleObject28.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9.bin"/><Relationship Id="rId1" Type="http://schemas.openxmlformats.org/officeDocument/2006/relationships/slideLayout" Target="../slideLayouts/slideLayout31.xml"/><Relationship Id="rId5" Type="http://schemas.openxmlformats.org/officeDocument/2006/relationships/image" Target="../media/image36.wmf"/><Relationship Id="rId4" Type="http://schemas.openxmlformats.org/officeDocument/2006/relationships/oleObject" Target="../embeddings/oleObject30.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1.bin"/><Relationship Id="rId7"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31.xml"/><Relationship Id="rId6" Type="http://schemas.openxmlformats.org/officeDocument/2006/relationships/image" Target="../media/image38.wmf"/><Relationship Id="rId5" Type="http://schemas.openxmlformats.org/officeDocument/2006/relationships/oleObject" Target="../embeddings/oleObject32.bin"/><Relationship Id="rId4" Type="http://schemas.openxmlformats.org/officeDocument/2006/relationships/image" Target="../media/image37.wmf"/></Relationships>
</file>

<file path=ppt/slides/_rels/slide52.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33.bin"/><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4.bin"/><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5.bin"/><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6.bin"/><Relationship Id="rId1" Type="http://schemas.openxmlformats.org/officeDocument/2006/relationships/slideLayout" Target="../slideLayouts/slideLayout26.xml"/><Relationship Id="rId5" Type="http://schemas.openxmlformats.org/officeDocument/2006/relationships/image" Target="../media/image43.png"/><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6.bin"/><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6.bin"/><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6.bin"/><Relationship Id="rId1" Type="http://schemas.openxmlformats.org/officeDocument/2006/relationships/slideLayout" Target="../slideLayouts/slideLayout26.xml"/><Relationship Id="rId4" Type="http://schemas.openxmlformats.org/officeDocument/2006/relationships/image" Target="../media/image44.png"/></Relationships>
</file>

<file path=ppt/slides/_rels/slide60.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6.bin"/><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6.bin"/><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37.bin"/><Relationship Id="rId1" Type="http://schemas.openxmlformats.org/officeDocument/2006/relationships/slideLayout" Target="../slideLayouts/slideLayout26.xml"/><Relationship Id="rId5" Type="http://schemas.openxmlformats.org/officeDocument/2006/relationships/image" Target="../media/image48.wmf"/><Relationship Id="rId4" Type="http://schemas.openxmlformats.org/officeDocument/2006/relationships/oleObject" Target="../embeddings/oleObject38.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39.bin"/><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40.bin"/><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56.wmf"/><Relationship Id="rId3" Type="http://schemas.openxmlformats.org/officeDocument/2006/relationships/image" Target="../media/image51.emf"/><Relationship Id="rId7" Type="http://schemas.openxmlformats.org/officeDocument/2006/relationships/image" Target="../media/image53.wmf"/><Relationship Id="rId12" Type="http://schemas.openxmlformats.org/officeDocument/2006/relationships/oleObject" Target="../embeddings/oleObject46.bin"/><Relationship Id="rId2" Type="http://schemas.openxmlformats.org/officeDocument/2006/relationships/oleObject" Target="../embeddings/oleObject41.bin"/><Relationship Id="rId1" Type="http://schemas.openxmlformats.org/officeDocument/2006/relationships/slideLayout" Target="../slideLayouts/slideLayout26.xml"/><Relationship Id="rId6" Type="http://schemas.openxmlformats.org/officeDocument/2006/relationships/oleObject" Target="../embeddings/oleObject43.bin"/><Relationship Id="rId11" Type="http://schemas.openxmlformats.org/officeDocument/2006/relationships/image" Target="../media/image55.wmf"/><Relationship Id="rId5" Type="http://schemas.openxmlformats.org/officeDocument/2006/relationships/image" Target="../media/image52.wmf"/><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54.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47.bin"/><Relationship Id="rId1" Type="http://schemas.openxmlformats.org/officeDocument/2006/relationships/slideLayout" Target="../slideLayouts/slideLayout26.xml"/><Relationship Id="rId4" Type="http://schemas.openxmlformats.org/officeDocument/2006/relationships/image" Target="../media/image59.png"/></Relationships>
</file>

<file path=ppt/slides/_rels/slide75.x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62.wmf"/><Relationship Id="rId2" Type="http://schemas.openxmlformats.org/officeDocument/2006/relationships/oleObject" Target="../embeddings/oleObject48.bin"/><Relationship Id="rId1" Type="http://schemas.openxmlformats.org/officeDocument/2006/relationships/slideLayout" Target="../slideLayouts/slideLayout26.xml"/><Relationship Id="rId6" Type="http://schemas.openxmlformats.org/officeDocument/2006/relationships/oleObject" Target="../embeddings/oleObject50.bin"/><Relationship Id="rId5" Type="http://schemas.openxmlformats.org/officeDocument/2006/relationships/image" Target="../media/image61.wmf"/><Relationship Id="rId4" Type="http://schemas.openxmlformats.org/officeDocument/2006/relationships/oleObject" Target="../embeddings/oleObject49.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image" Target="NULL"/><Relationship Id="rId1" Type="http://schemas.openxmlformats.org/officeDocument/2006/relationships/slideLayout" Target="../slideLayouts/slideLayout26.xml"/><Relationship Id="rId6" Type="http://schemas.openxmlformats.org/officeDocument/2006/relationships/image" Target="../media/image64.wmf"/><Relationship Id="rId5" Type="http://schemas.openxmlformats.org/officeDocument/2006/relationships/oleObject" Target="../embeddings/oleObject52.bin"/><Relationship Id="rId4" Type="http://schemas.openxmlformats.org/officeDocument/2006/relationships/image" Target="../media/image63.wmf"/></Relationships>
</file>

<file path=ppt/slides/_rels/slide78.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53.bin"/><Relationship Id="rId1" Type="http://schemas.openxmlformats.org/officeDocument/2006/relationships/slideLayout" Target="../slideLayouts/slideLayout26.xml"/></Relationships>
</file>

<file path=ppt/slides/_rels/slide79.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54.bin"/><Relationship Id="rId1" Type="http://schemas.openxmlformats.org/officeDocument/2006/relationships/slideLayout" Target="../slideLayouts/slideLayout26.xml"/></Relationships>
</file>

<file path=ppt/slides/_rels/slide80.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oleObject" Target="../embeddings/oleObject55.bin"/><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oleObject" Target="../embeddings/oleObject61.bin"/><Relationship Id="rId18" Type="http://schemas.openxmlformats.org/officeDocument/2006/relationships/image" Target="../media/image74.wmf"/><Relationship Id="rId3" Type="http://schemas.openxmlformats.org/officeDocument/2006/relationships/image" Target="../media/image68.wmf"/><Relationship Id="rId7" Type="http://schemas.openxmlformats.org/officeDocument/2006/relationships/image" Target="../media/image70.wmf"/><Relationship Id="rId12" Type="http://schemas.openxmlformats.org/officeDocument/2006/relationships/image" Target="../media/image72.wmf"/><Relationship Id="rId17" Type="http://schemas.openxmlformats.org/officeDocument/2006/relationships/oleObject" Target="../embeddings/oleObject64.bin"/><Relationship Id="rId2" Type="http://schemas.openxmlformats.org/officeDocument/2006/relationships/oleObject" Target="../embeddings/oleObject56.bin"/><Relationship Id="rId16" Type="http://schemas.openxmlformats.org/officeDocument/2006/relationships/image" Target="../media/image73.wmf"/><Relationship Id="rId1" Type="http://schemas.openxmlformats.org/officeDocument/2006/relationships/slideLayout" Target="../slideLayouts/slideLayout26.xml"/><Relationship Id="rId6" Type="http://schemas.openxmlformats.org/officeDocument/2006/relationships/oleObject" Target="../embeddings/oleObject58.bin"/><Relationship Id="rId11" Type="http://schemas.openxmlformats.org/officeDocument/2006/relationships/oleObject" Target="../embeddings/oleObject60.bin"/><Relationship Id="rId5" Type="http://schemas.openxmlformats.org/officeDocument/2006/relationships/image" Target="../media/image69.wmf"/><Relationship Id="rId15" Type="http://schemas.openxmlformats.org/officeDocument/2006/relationships/oleObject" Target="../embeddings/oleObject63.bin"/><Relationship Id="rId10" Type="http://schemas.openxmlformats.org/officeDocument/2006/relationships/image" Target="NULL"/><Relationship Id="rId4" Type="http://schemas.openxmlformats.org/officeDocument/2006/relationships/oleObject" Target="../embeddings/oleObject57.bin"/><Relationship Id="rId9" Type="http://schemas.openxmlformats.org/officeDocument/2006/relationships/image" Target="../media/image71.wmf"/><Relationship Id="rId14" Type="http://schemas.openxmlformats.org/officeDocument/2006/relationships/oleObject" Target="../embeddings/oleObject62.bin"/></Relationships>
</file>

<file path=ppt/slides/_rels/slide85.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65.bin"/><Relationship Id="rId1" Type="http://schemas.openxmlformats.org/officeDocument/2006/relationships/slideLayout" Target="../slideLayouts/slideLayout26.xml"/><Relationship Id="rId5" Type="http://schemas.openxmlformats.org/officeDocument/2006/relationships/image" Target="../media/image76.wmf"/><Relationship Id="rId4" Type="http://schemas.openxmlformats.org/officeDocument/2006/relationships/oleObject" Target="../embeddings/oleObject66.bin"/></Relationships>
</file>

<file path=ppt/slides/_rels/slide86.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67.bin"/><Relationship Id="rId1" Type="http://schemas.openxmlformats.org/officeDocument/2006/relationships/slideLayout" Target="../slideLayouts/slideLayout26.xml"/><Relationship Id="rId5" Type="http://schemas.openxmlformats.org/officeDocument/2006/relationships/image" Target="../media/image78.wmf"/><Relationship Id="rId4" Type="http://schemas.openxmlformats.org/officeDocument/2006/relationships/oleObject" Target="../embeddings/oleObject68.bin"/></Relationships>
</file>

<file path=ppt/slides/_rels/slide87.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oleObject" Target="../embeddings/oleObject69.bin"/><Relationship Id="rId1" Type="http://schemas.openxmlformats.org/officeDocument/2006/relationships/slideLayout" Target="../slideLayouts/slideLayout26.xml"/><Relationship Id="rId5" Type="http://schemas.openxmlformats.org/officeDocument/2006/relationships/image" Target="../media/image80.wmf"/><Relationship Id="rId4" Type="http://schemas.openxmlformats.org/officeDocument/2006/relationships/oleObject" Target="../embeddings/oleObject70.bin"/></Relationships>
</file>

<file path=ppt/slides/_rels/slide88.xml.rels><?xml version="1.0" encoding="UTF-8" standalone="yes"?>
<Relationships xmlns="http://schemas.openxmlformats.org/package/2006/relationships"><Relationship Id="rId2" Type="http://schemas.openxmlformats.org/officeDocument/2006/relationships/hyperlink" Target="http://www.huffingtonpost.com/greg-hodge/online-dating-lies_b_1930053.html" TargetMode="Externa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itle 1"/>
          <p:cNvSpPr>
            <a:spLocks noGrp="1"/>
          </p:cNvSpPr>
          <p:nvPr>
            <p:ph type="title"/>
          </p:nvPr>
        </p:nvSpPr>
        <p:spPr>
          <a:xfrm>
            <a:off x="1485900" y="2343150"/>
            <a:ext cx="6172200" cy="857250"/>
          </a:xfrm>
        </p:spPr>
        <p:txBody>
          <a:bodyPr>
            <a:normAutofit fontScale="90000"/>
          </a:bodyPr>
          <a:lstStyle/>
          <a:p>
            <a:pPr algn="r" eaLnBrk="1" hangingPunct="1"/>
            <a:r>
              <a:rPr lang="en-US" sz="2100" dirty="0">
                <a:latin typeface="Britannic Bold" pitchFamily="34" charset="0"/>
              </a:rPr>
              <a:t>If you torture the data long enough, it will confess!</a:t>
            </a:r>
            <a:br>
              <a:rPr lang="en-US" sz="2100" dirty="0">
                <a:latin typeface="Britannic Bold" pitchFamily="34" charset="0"/>
              </a:rPr>
            </a:br>
            <a:r>
              <a:rPr lang="en-US" sz="1800" dirty="0">
                <a:latin typeface="Britannic Bold" pitchFamily="34" charset="0"/>
              </a:rPr>
              <a:t>- Ronald </a:t>
            </a:r>
            <a:r>
              <a:rPr lang="en-US" sz="1800" dirty="0" err="1">
                <a:latin typeface="Britannic Bold" pitchFamily="34" charset="0"/>
              </a:rPr>
              <a:t>Coase</a:t>
            </a:r>
            <a:endParaRPr lang="en-US" sz="1800" dirty="0">
              <a:latin typeface="Britannic Bold" pitchFamily="34" charset="0"/>
            </a:endParaRPr>
          </a:p>
        </p:txBody>
      </p:sp>
      <p:pic>
        <p:nvPicPr>
          <p:cNvPr id="26627" name="Picture 6" descr="hammer"/>
          <p:cNvPicPr>
            <a:picLocks noChangeAspect="1" noChangeArrowheads="1" noCrop="1"/>
          </p:cNvPicPr>
          <p:nvPr/>
        </p:nvPicPr>
        <p:blipFill>
          <a:blip r:embed="rId2" cstate="print"/>
          <a:srcRect/>
          <a:stretch>
            <a:fillRect/>
          </a:stretch>
        </p:blipFill>
        <p:spPr bwMode="auto">
          <a:xfrm>
            <a:off x="6019800" y="3429000"/>
            <a:ext cx="1478757" cy="914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fade">
                                      <p:cBhvr>
                                        <p:cTn id="7" dur="1000"/>
                                        <p:tgtEl>
                                          <p:spTgt spid="26626"/>
                                        </p:tgtEl>
                                      </p:cBhvr>
                                    </p:animEffect>
                                    <p:anim calcmode="lin" valueType="num">
                                      <p:cBhvr>
                                        <p:cTn id="8" dur="1000" fill="hold"/>
                                        <p:tgtEl>
                                          <p:spTgt spid="26626"/>
                                        </p:tgtEl>
                                        <p:attrNameLst>
                                          <p:attrName>ppt_x</p:attrName>
                                        </p:attrNameLst>
                                      </p:cBhvr>
                                      <p:tavLst>
                                        <p:tav tm="0">
                                          <p:val>
                                            <p:strVal val="#ppt_x"/>
                                          </p:val>
                                        </p:tav>
                                        <p:tav tm="100000">
                                          <p:val>
                                            <p:strVal val="#ppt_x"/>
                                          </p:val>
                                        </p:tav>
                                      </p:tavLst>
                                    </p:anim>
                                    <p:anim calcmode="lin" valueType="num">
                                      <p:cBhvr>
                                        <p:cTn id="9" dur="1000" fill="hold"/>
                                        <p:tgtEl>
                                          <p:spTgt spid="266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Title 1"/>
          <p:cNvSpPr>
            <a:spLocks noGrp="1"/>
          </p:cNvSpPr>
          <p:nvPr>
            <p:ph type="title"/>
          </p:nvPr>
        </p:nvSpPr>
        <p:spPr>
          <a:xfrm>
            <a:off x="628650" y="457200"/>
            <a:ext cx="7886700" cy="549274"/>
          </a:xfrm>
        </p:spPr>
        <p:txBody>
          <a:bodyPr/>
          <a:lstStyle/>
          <a:p>
            <a:pPr eaLnBrk="1" hangingPunct="1"/>
            <a:r>
              <a:rPr lang="en-US" sz="3000" b="1" dirty="0">
                <a:solidFill>
                  <a:srgbClr val="C00000"/>
                </a:solidFill>
              </a:rPr>
              <a:t>What is Regression?</a:t>
            </a:r>
          </a:p>
        </p:txBody>
      </p:sp>
      <p:sp>
        <p:nvSpPr>
          <p:cNvPr id="28675" name="Content Placeholder 2"/>
          <p:cNvSpPr>
            <a:spLocks noGrp="1"/>
          </p:cNvSpPr>
          <p:nvPr>
            <p:ph idx="1"/>
          </p:nvPr>
        </p:nvSpPr>
        <p:spPr>
          <a:xfrm>
            <a:off x="457200" y="1143000"/>
            <a:ext cx="8058150" cy="5257800"/>
          </a:xfrm>
        </p:spPr>
        <p:txBody>
          <a:bodyPr>
            <a:normAutofit lnSpcReduction="10000"/>
          </a:bodyPr>
          <a:lstStyle/>
          <a:p>
            <a:pPr algn="just" eaLnBrk="1" hangingPunct="1"/>
            <a:r>
              <a:rPr lang="en-US" sz="2200" dirty="0">
                <a:latin typeface="Calibri" panose="020F0502020204030204" pitchFamily="34" charset="0"/>
                <a:cs typeface="Calibri" panose="020F0502020204030204" pitchFamily="34" charset="0"/>
              </a:rPr>
              <a:t>Regression is a tool for finding </a:t>
            </a:r>
            <a:r>
              <a:rPr lang="en-US" sz="2200" dirty="0">
                <a:solidFill>
                  <a:srgbClr val="C00000"/>
                </a:solidFill>
                <a:latin typeface="Calibri" panose="020F0502020204030204" pitchFamily="34" charset="0"/>
                <a:cs typeface="Calibri" panose="020F0502020204030204" pitchFamily="34" charset="0"/>
              </a:rPr>
              <a:t>existence of an association relationship</a:t>
            </a:r>
            <a:r>
              <a:rPr lang="en-US" sz="2200" dirty="0">
                <a:latin typeface="Calibri" panose="020F0502020204030204" pitchFamily="34" charset="0"/>
                <a:cs typeface="Calibri" panose="020F0502020204030204" pitchFamily="34" charset="0"/>
              </a:rPr>
              <a:t> between a dependent variable (</a:t>
            </a:r>
            <a:r>
              <a:rPr lang="en-US" sz="2200" dirty="0">
                <a:solidFill>
                  <a:srgbClr val="C00000"/>
                </a:solidFill>
                <a:latin typeface="Calibri" panose="020F0502020204030204" pitchFamily="34" charset="0"/>
                <a:cs typeface="Calibri" panose="020F0502020204030204" pitchFamily="34" charset="0"/>
              </a:rPr>
              <a:t>Y</a:t>
            </a:r>
            <a:r>
              <a:rPr lang="en-US" sz="2200" dirty="0">
                <a:latin typeface="Calibri" panose="020F0502020204030204" pitchFamily="34" charset="0"/>
                <a:cs typeface="Calibri" panose="020F0502020204030204" pitchFamily="34" charset="0"/>
              </a:rPr>
              <a:t>) and one or more independent variables (</a:t>
            </a:r>
            <a:r>
              <a:rPr lang="en-US" sz="2200" dirty="0">
                <a:solidFill>
                  <a:srgbClr val="C00000"/>
                </a:solidFill>
                <a:latin typeface="Calibri" panose="020F0502020204030204" pitchFamily="34" charset="0"/>
                <a:cs typeface="Calibri" panose="020F0502020204030204" pitchFamily="34" charset="0"/>
              </a:rPr>
              <a:t>X</a:t>
            </a:r>
            <a:r>
              <a:rPr lang="en-US" sz="2200" baseline="-25000" dirty="0">
                <a:solidFill>
                  <a:srgbClr val="C00000"/>
                </a:solidFill>
                <a:latin typeface="Calibri" panose="020F0502020204030204" pitchFamily="34" charset="0"/>
                <a:cs typeface="Calibri" panose="020F0502020204030204" pitchFamily="34" charset="0"/>
              </a:rPr>
              <a:t>1</a:t>
            </a:r>
            <a:r>
              <a:rPr lang="en-US" sz="2200" dirty="0">
                <a:solidFill>
                  <a:srgbClr val="C00000"/>
                </a:solidFill>
                <a:latin typeface="Calibri" panose="020F0502020204030204" pitchFamily="34" charset="0"/>
                <a:cs typeface="Calibri" panose="020F0502020204030204" pitchFamily="34" charset="0"/>
              </a:rPr>
              <a:t>, X</a:t>
            </a:r>
            <a:r>
              <a:rPr lang="en-US" sz="2200" baseline="-25000" dirty="0">
                <a:solidFill>
                  <a:srgbClr val="C00000"/>
                </a:solidFill>
                <a:latin typeface="Calibri" panose="020F0502020204030204" pitchFamily="34" charset="0"/>
                <a:cs typeface="Calibri" panose="020F0502020204030204" pitchFamily="34" charset="0"/>
              </a:rPr>
              <a:t>2</a:t>
            </a:r>
            <a:r>
              <a:rPr lang="en-US" sz="2200" dirty="0">
                <a:solidFill>
                  <a:srgbClr val="C00000"/>
                </a:solidFill>
                <a:latin typeface="Calibri" panose="020F0502020204030204" pitchFamily="34" charset="0"/>
                <a:cs typeface="Calibri" panose="020F0502020204030204" pitchFamily="34" charset="0"/>
              </a:rPr>
              <a:t>, …, </a:t>
            </a:r>
            <a:r>
              <a:rPr lang="en-US" sz="2200" dirty="0" err="1">
                <a:solidFill>
                  <a:srgbClr val="C00000"/>
                </a:solidFill>
                <a:latin typeface="Calibri" panose="020F0502020204030204" pitchFamily="34" charset="0"/>
                <a:cs typeface="Calibri" panose="020F0502020204030204" pitchFamily="34" charset="0"/>
              </a:rPr>
              <a:t>X</a:t>
            </a:r>
            <a:r>
              <a:rPr lang="en-US" sz="2200" baseline="-25000" dirty="0" err="1">
                <a:solidFill>
                  <a:srgbClr val="C00000"/>
                </a:solidFill>
                <a:latin typeface="Calibri" panose="020F0502020204030204" pitchFamily="34" charset="0"/>
                <a:cs typeface="Calibri" panose="020F0502020204030204" pitchFamily="34" charset="0"/>
              </a:rPr>
              <a:t>n</a:t>
            </a:r>
            <a:r>
              <a:rPr lang="en-US" sz="2200" dirty="0">
                <a:latin typeface="Calibri" panose="020F0502020204030204" pitchFamily="34" charset="0"/>
                <a:cs typeface="Calibri" panose="020F0502020204030204" pitchFamily="34" charset="0"/>
              </a:rPr>
              <a:t>) in a study.</a:t>
            </a:r>
          </a:p>
          <a:p>
            <a:pPr algn="just" eaLnBrk="1" hangingPunct="1"/>
            <a:endParaRPr lang="en-US" sz="2200" dirty="0">
              <a:latin typeface="Calibri" panose="020F0502020204030204" pitchFamily="34" charset="0"/>
              <a:cs typeface="Calibri" panose="020F0502020204030204" pitchFamily="34" charset="0"/>
            </a:endParaRPr>
          </a:p>
          <a:p>
            <a:pPr algn="just" eaLnBrk="1" hangingPunct="1"/>
            <a:r>
              <a:rPr lang="en-US" sz="2200" dirty="0">
                <a:latin typeface="Calibri" panose="020F0502020204030204" pitchFamily="34" charset="0"/>
                <a:cs typeface="Calibri" panose="020F0502020204030204" pitchFamily="34" charset="0"/>
              </a:rPr>
              <a:t>The relationship can be linear or non-linear.</a:t>
            </a:r>
          </a:p>
          <a:p>
            <a:pPr algn="just" eaLnBrk="1" hangingPunct="1"/>
            <a:endParaRPr lang="en-US" sz="2200" dirty="0">
              <a:latin typeface="Calibri" panose="020F0502020204030204" pitchFamily="34" charset="0"/>
              <a:cs typeface="Calibri" panose="020F0502020204030204" pitchFamily="34" charset="0"/>
            </a:endParaRPr>
          </a:p>
          <a:p>
            <a:pPr algn="just" eaLnBrk="1" hangingPunct="1"/>
            <a:r>
              <a:rPr lang="en-US" sz="2200" dirty="0">
                <a:latin typeface="Calibri" panose="020F0502020204030204" pitchFamily="34" charset="0"/>
                <a:cs typeface="Calibri" panose="020F0502020204030204" pitchFamily="34" charset="0"/>
              </a:rPr>
              <a:t>A dependent variable (</a:t>
            </a:r>
            <a:r>
              <a:rPr lang="en-US" sz="2200" b="1" dirty="0">
                <a:solidFill>
                  <a:srgbClr val="C00000"/>
                </a:solidFill>
                <a:latin typeface="Calibri" panose="020F0502020204030204" pitchFamily="34" charset="0"/>
                <a:cs typeface="Calibri" panose="020F0502020204030204" pitchFamily="34" charset="0"/>
              </a:rPr>
              <a:t>response variable</a:t>
            </a:r>
            <a:r>
              <a:rPr lang="en-US" sz="2200" b="1" dirty="0">
                <a:latin typeface="Calibri" panose="020F0502020204030204" pitchFamily="34" charset="0"/>
                <a:cs typeface="Calibri" panose="020F0502020204030204" pitchFamily="34" charset="0"/>
              </a:rPr>
              <a:t>)</a:t>
            </a:r>
            <a:r>
              <a:rPr lang="en-US" sz="2200" dirty="0">
                <a:latin typeface="Calibri" panose="020F0502020204030204" pitchFamily="34" charset="0"/>
                <a:cs typeface="Calibri" panose="020F0502020204030204" pitchFamily="34" charset="0"/>
              </a:rPr>
              <a:t> “measures an outcome of a study (also called </a:t>
            </a:r>
            <a:r>
              <a:rPr lang="en-US" sz="2200" b="1" dirty="0">
                <a:solidFill>
                  <a:srgbClr val="C00000"/>
                </a:solidFill>
                <a:latin typeface="Calibri" panose="020F0502020204030204" pitchFamily="34" charset="0"/>
                <a:cs typeface="Calibri" panose="020F0502020204030204" pitchFamily="34" charset="0"/>
              </a:rPr>
              <a:t>outcome variable</a:t>
            </a:r>
            <a:r>
              <a:rPr lang="en-US" sz="2200" dirty="0">
                <a:latin typeface="Calibri" panose="020F0502020204030204" pitchFamily="34" charset="0"/>
                <a:cs typeface="Calibri" panose="020F0502020204030204" pitchFamily="34" charset="0"/>
              </a:rPr>
              <a:t>)”.</a:t>
            </a:r>
          </a:p>
          <a:p>
            <a:pPr algn="just" eaLnBrk="1" hangingPunct="1"/>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An independent variable (</a:t>
            </a:r>
            <a:r>
              <a:rPr lang="en-US" sz="2200" b="1" dirty="0">
                <a:solidFill>
                  <a:srgbClr val="C00000"/>
                </a:solidFill>
                <a:latin typeface="Calibri" panose="020F0502020204030204" pitchFamily="34" charset="0"/>
                <a:cs typeface="Calibri" panose="020F0502020204030204" pitchFamily="34" charset="0"/>
              </a:rPr>
              <a:t>explanatory variable</a:t>
            </a:r>
            <a:r>
              <a:rPr lang="en-US" sz="2200" b="1" dirty="0">
                <a:latin typeface="Calibri" panose="020F0502020204030204" pitchFamily="34" charset="0"/>
                <a:cs typeface="Calibri" panose="020F0502020204030204" pitchFamily="34" charset="0"/>
              </a:rPr>
              <a:t>)</a:t>
            </a:r>
            <a:r>
              <a:rPr lang="en-US" sz="2200" dirty="0">
                <a:latin typeface="Calibri" panose="020F0502020204030204" pitchFamily="34" charset="0"/>
                <a:cs typeface="Calibri" panose="020F0502020204030204" pitchFamily="34" charset="0"/>
              </a:rPr>
              <a:t> “explains changes in a response variable”.</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Regression often set values of explanatory variable to see how it affects response variable (predict response variable)</a:t>
            </a:r>
          </a:p>
          <a:p>
            <a:pPr algn="just" eaLnBrk="1" hangingPunct="1"/>
            <a:endParaRPr lang="en-US" sz="2200" dirty="0">
              <a:latin typeface="Calibri" panose="020F0502020204030204" pitchFamily="34" charset="0"/>
              <a:cs typeface="Calibri" panose="020F0502020204030204" pitchFamily="34" charset="0"/>
            </a:endParaRPr>
          </a:p>
          <a:p>
            <a:pPr algn="just" eaLnBrk="1" hangingPunct="1"/>
            <a:endParaRPr lang="en-US" sz="2200" dirty="0">
              <a:latin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barn(inVertical)">
                                      <p:cBhvr>
                                        <p:cTn id="7" dur="500"/>
                                        <p:tgtEl>
                                          <p:spTgt spid="2867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8675">
                                            <p:txEl>
                                              <p:pRg st="0" end="0"/>
                                            </p:txEl>
                                          </p:spTgt>
                                        </p:tgtEl>
                                        <p:attrNameLst>
                                          <p:attrName>style.visibility</p:attrName>
                                        </p:attrNameLst>
                                      </p:cBhvr>
                                      <p:to>
                                        <p:strVal val="visible"/>
                                      </p:to>
                                    </p:set>
                                    <p:animEffect transition="in" filter="fade">
                                      <p:cBhvr>
                                        <p:cTn id="12" dur="1000"/>
                                        <p:tgtEl>
                                          <p:spTgt spid="28675">
                                            <p:txEl>
                                              <p:pRg st="0" end="0"/>
                                            </p:txEl>
                                          </p:spTgt>
                                        </p:tgtEl>
                                      </p:cBhvr>
                                    </p:animEffect>
                                    <p:anim calcmode="lin" valueType="num">
                                      <p:cBhvr>
                                        <p:cTn id="13" dur="10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86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Effect transition="in" filter="fade">
                                      <p:cBhvr>
                                        <p:cTn id="19" dur="1000"/>
                                        <p:tgtEl>
                                          <p:spTgt spid="28675">
                                            <p:txEl>
                                              <p:pRg st="2" end="2"/>
                                            </p:txEl>
                                          </p:spTgt>
                                        </p:tgtEl>
                                      </p:cBhvr>
                                    </p:animEffect>
                                    <p:anim calcmode="lin" valueType="num">
                                      <p:cBhvr>
                                        <p:cTn id="20" dur="10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286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8675">
                                            <p:txEl>
                                              <p:pRg st="4" end="4"/>
                                            </p:txEl>
                                          </p:spTgt>
                                        </p:tgtEl>
                                        <p:attrNameLst>
                                          <p:attrName>style.visibility</p:attrName>
                                        </p:attrNameLst>
                                      </p:cBhvr>
                                      <p:to>
                                        <p:strVal val="visible"/>
                                      </p:to>
                                    </p:set>
                                    <p:animEffect transition="in" filter="fade">
                                      <p:cBhvr>
                                        <p:cTn id="26" dur="1000"/>
                                        <p:tgtEl>
                                          <p:spTgt spid="28675">
                                            <p:txEl>
                                              <p:pRg st="4" end="4"/>
                                            </p:txEl>
                                          </p:spTgt>
                                        </p:tgtEl>
                                      </p:cBhvr>
                                    </p:animEffect>
                                    <p:anim calcmode="lin" valueType="num">
                                      <p:cBhvr>
                                        <p:cTn id="27" dur="10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2867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8675">
                                            <p:txEl>
                                              <p:pRg st="6" end="6"/>
                                            </p:txEl>
                                          </p:spTgt>
                                        </p:tgtEl>
                                        <p:attrNameLst>
                                          <p:attrName>style.visibility</p:attrName>
                                        </p:attrNameLst>
                                      </p:cBhvr>
                                      <p:to>
                                        <p:strVal val="visible"/>
                                      </p:to>
                                    </p:set>
                                    <p:animEffect transition="in" filter="fade">
                                      <p:cBhvr>
                                        <p:cTn id="33" dur="1000"/>
                                        <p:tgtEl>
                                          <p:spTgt spid="28675">
                                            <p:txEl>
                                              <p:pRg st="6" end="6"/>
                                            </p:txEl>
                                          </p:spTgt>
                                        </p:tgtEl>
                                      </p:cBhvr>
                                    </p:animEffect>
                                    <p:anim calcmode="lin" valueType="num">
                                      <p:cBhvr>
                                        <p:cTn id="34" dur="1000" fill="hold"/>
                                        <p:tgtEl>
                                          <p:spTgt spid="28675">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2867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8675">
                                            <p:txEl>
                                              <p:pRg st="8" end="8"/>
                                            </p:txEl>
                                          </p:spTgt>
                                        </p:tgtEl>
                                        <p:attrNameLst>
                                          <p:attrName>style.visibility</p:attrName>
                                        </p:attrNameLst>
                                      </p:cBhvr>
                                      <p:to>
                                        <p:strVal val="visible"/>
                                      </p:to>
                                    </p:set>
                                    <p:animEffect transition="in" filter="fade">
                                      <p:cBhvr>
                                        <p:cTn id="40" dur="1000"/>
                                        <p:tgtEl>
                                          <p:spTgt spid="28675">
                                            <p:txEl>
                                              <p:pRg st="8" end="8"/>
                                            </p:txEl>
                                          </p:spTgt>
                                        </p:tgtEl>
                                      </p:cBhvr>
                                    </p:animEffect>
                                    <p:anim calcmode="lin" valueType="num">
                                      <p:cBhvr>
                                        <p:cTn id="41" dur="1000" fill="hold"/>
                                        <p:tgtEl>
                                          <p:spTgt spid="28675">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2867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5"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7886700" cy="570391"/>
          </a:xfrm>
        </p:spPr>
        <p:txBody>
          <a:bodyPr>
            <a:noAutofit/>
          </a:bodyPr>
          <a:lstStyle/>
          <a:p>
            <a:r>
              <a:rPr lang="en-US" sz="3200" b="1" dirty="0">
                <a:solidFill>
                  <a:srgbClr val="C00000"/>
                </a:solidFill>
              </a:rPr>
              <a:t>Regression</a:t>
            </a:r>
            <a:r>
              <a:rPr lang="en-US" sz="4800" b="1" dirty="0">
                <a:solidFill>
                  <a:srgbClr val="C00000"/>
                </a:solidFill>
              </a:rPr>
              <a:t> </a:t>
            </a:r>
          </a:p>
        </p:txBody>
      </p:sp>
      <p:sp>
        <p:nvSpPr>
          <p:cNvPr id="4" name="TextBox 3"/>
          <p:cNvSpPr txBox="1"/>
          <p:nvPr/>
        </p:nvSpPr>
        <p:spPr>
          <a:xfrm>
            <a:off x="625133" y="1100808"/>
            <a:ext cx="7753350" cy="1938992"/>
          </a:xfrm>
          <a:prstGeom prst="rect">
            <a:avLst/>
          </a:prstGeom>
          <a:noFill/>
        </p:spPr>
        <p:txBody>
          <a:bodyPr wrap="square" rtlCol="0">
            <a:spAutoFit/>
          </a:bodyPr>
          <a:lstStyle/>
          <a:p>
            <a:pPr algn="just"/>
            <a:r>
              <a:rPr lang="en-US" sz="2400" dirty="0">
                <a:latin typeface="Calibri" panose="020F0502020204030204" pitchFamily="34" charset="0"/>
                <a:cs typeface="Calibri" panose="020F0502020204030204" pitchFamily="34" charset="0"/>
              </a:rPr>
              <a:t>Regression is a </a:t>
            </a:r>
            <a:r>
              <a:rPr lang="en-US" sz="2400" b="1" dirty="0">
                <a:solidFill>
                  <a:srgbClr val="C00000"/>
                </a:solidFill>
                <a:latin typeface="Calibri" panose="020F0502020204030204" pitchFamily="34" charset="0"/>
                <a:cs typeface="Calibri" panose="020F0502020204030204" pitchFamily="34" charset="0"/>
              </a:rPr>
              <a:t>supervised learning algorithm</a:t>
            </a:r>
            <a:r>
              <a:rPr lang="en-US" sz="2400" dirty="0">
                <a:latin typeface="Calibri" panose="020F0502020204030204" pitchFamily="34" charset="0"/>
                <a:cs typeface="Calibri" panose="020F0502020204030204" pitchFamily="34" charset="0"/>
              </a:rPr>
              <a:t> under Machine Learning terminology</a:t>
            </a:r>
          </a:p>
          <a:p>
            <a:pPr algn="just"/>
            <a:endParaRPr lang="en-US" sz="2400" dirty="0">
              <a:latin typeface="Calibri" panose="020F0502020204030204" pitchFamily="34" charset="0"/>
              <a:cs typeface="Calibri" panose="020F0502020204030204" pitchFamily="34" charset="0"/>
            </a:endParaRPr>
          </a:p>
          <a:p>
            <a:pPr algn="just"/>
            <a:endParaRPr lang="en-US" sz="2400" dirty="0">
              <a:latin typeface="Calibri" panose="020F0502020204030204" pitchFamily="34" charset="0"/>
              <a:cs typeface="Calibri" panose="020F0502020204030204" pitchFamily="34" charset="0"/>
            </a:endParaRPr>
          </a:p>
          <a:p>
            <a:pPr algn="just"/>
            <a:r>
              <a:rPr lang="en-US" sz="2400" dirty="0">
                <a:latin typeface="Calibri" panose="020F0502020204030204" pitchFamily="34" charset="0"/>
                <a:cs typeface="Calibri" panose="020F0502020204030204" pitchFamily="34" charset="0"/>
              </a:rPr>
              <a:t>An important tool in </a:t>
            </a:r>
            <a:r>
              <a:rPr lang="en-US" sz="2400" b="1" dirty="0">
                <a:solidFill>
                  <a:srgbClr val="C00000"/>
                </a:solidFill>
                <a:latin typeface="Calibri" panose="020F0502020204030204" pitchFamily="34" charset="0"/>
                <a:cs typeface="Calibri" panose="020F0502020204030204" pitchFamily="34" charset="0"/>
              </a:rPr>
              <a:t>Predictive Analytics</a:t>
            </a:r>
          </a:p>
        </p:txBody>
      </p:sp>
    </p:spTree>
    <p:extLst>
      <p:ext uri="{BB962C8B-B14F-4D97-AF65-F5344CB8AC3E}">
        <p14:creationId xmlns:p14="http://schemas.microsoft.com/office/powerpoint/2010/main" val="46509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42950" y="1371600"/>
            <a:ext cx="7658100" cy="3505200"/>
          </a:xfrm>
        </p:spPr>
        <p:txBody>
          <a:bodyPr>
            <a:noAutofit/>
          </a:bodyPr>
          <a:lstStyle/>
          <a:p>
            <a:pPr algn="just"/>
            <a:r>
              <a:rPr lang="en-US" sz="3200" b="1" dirty="0">
                <a:solidFill>
                  <a:srgbClr val="C00000"/>
                </a:solidFill>
              </a:rPr>
              <a:t>Regression model establishes existence of association between two variables, but not causation.</a:t>
            </a:r>
          </a:p>
        </p:txBody>
      </p:sp>
    </p:spTree>
    <p:extLst>
      <p:ext uri="{BB962C8B-B14F-4D97-AF65-F5344CB8AC3E}">
        <p14:creationId xmlns:p14="http://schemas.microsoft.com/office/powerpoint/2010/main" val="248750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91772" y="1371600"/>
            <a:ext cx="7162800" cy="2209800"/>
          </a:xfrm>
          <a:prstGeom prst="roundRect">
            <a:avLst/>
          </a:prstGeom>
        </p:spPr>
        <p:style>
          <a:lnRef idx="1">
            <a:schemeClr val="accent1"/>
          </a:lnRef>
          <a:fillRef idx="3">
            <a:schemeClr val="accent1"/>
          </a:fillRef>
          <a:effectRef idx="2">
            <a:schemeClr val="accent1"/>
          </a:effectRef>
          <a:fontRef idx="minor">
            <a:schemeClr val="lt1"/>
          </a:fontRef>
        </p:style>
        <p:txBody>
          <a:bodyPr>
            <a:normAutofit/>
          </a:bodyPr>
          <a:lstStyle/>
          <a:p>
            <a:pPr algn="just"/>
            <a:r>
              <a:rPr lang="en-US" sz="2100" dirty="0"/>
              <a:t>Girlfriends and wives create such a “distraction” that Indian batsmen can’t make runs, bowlers fail to take wickets and fielders drop simple catches.  </a:t>
            </a:r>
          </a:p>
        </p:txBody>
      </p:sp>
      <p:sp>
        <p:nvSpPr>
          <p:cNvPr id="4" name="TextBox 3"/>
          <p:cNvSpPr txBox="1"/>
          <p:nvPr/>
        </p:nvSpPr>
        <p:spPr>
          <a:xfrm>
            <a:off x="1219200" y="3733800"/>
            <a:ext cx="6934200" cy="1273016"/>
          </a:xfrm>
          <a:prstGeom prst="upArrowCallou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2400" dirty="0">
                <a:ln w="0"/>
                <a:solidFill>
                  <a:srgbClr val="002060"/>
                </a:solidFill>
                <a:effectLst>
                  <a:outerShdw blurRad="38100" dist="19050" dir="2700000" algn="tl" rotWithShape="0">
                    <a:schemeClr val="dk1">
                      <a:alpha val="40000"/>
                    </a:schemeClr>
                  </a:outerShdw>
                </a:effectLst>
              </a:rPr>
              <a:t>Regression is not designed to capture causal relationship</a:t>
            </a:r>
          </a:p>
        </p:txBody>
      </p:sp>
      <p:sp>
        <p:nvSpPr>
          <p:cNvPr id="5" name="TextBox 4">
            <a:extLst>
              <a:ext uri="{FF2B5EF4-FFF2-40B4-BE49-F238E27FC236}">
                <a16:creationId xmlns:a16="http://schemas.microsoft.com/office/drawing/2014/main" id="{D7BCE277-4086-47BD-984E-D4AE94F447FF}"/>
              </a:ext>
            </a:extLst>
          </p:cNvPr>
          <p:cNvSpPr txBox="1"/>
          <p:nvPr/>
        </p:nvSpPr>
        <p:spPr>
          <a:xfrm>
            <a:off x="1017563" y="909935"/>
            <a:ext cx="7161628" cy="461665"/>
          </a:xfrm>
          <a:prstGeom prst="rect">
            <a:avLst/>
          </a:prstGeom>
          <a:noFill/>
        </p:spPr>
        <p:txBody>
          <a:bodyPr wrap="square" rtlCol="0">
            <a:spAutoFit/>
          </a:bodyPr>
          <a:lstStyle/>
          <a:p>
            <a:r>
              <a:rPr lang="en-US" sz="2400" b="1" dirty="0">
                <a:solidFill>
                  <a:srgbClr val="C00000"/>
                </a:solidFill>
                <a:latin typeface="+mj-lt"/>
              </a:rPr>
              <a:t>BCCI Bans Girlfriends and Wives</a:t>
            </a:r>
          </a:p>
        </p:txBody>
      </p:sp>
    </p:spTree>
    <p:extLst>
      <p:ext uri="{BB962C8B-B14F-4D97-AF65-F5344CB8AC3E}">
        <p14:creationId xmlns:p14="http://schemas.microsoft.com/office/powerpoint/2010/main" val="387194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00"/>
            <a:ext cx="7239000" cy="1143000"/>
          </a:xfrm>
        </p:spPr>
        <p:txBody>
          <a:bodyPr>
            <a:normAutofit/>
          </a:bodyPr>
          <a:lstStyle/>
          <a:p>
            <a:pPr algn="ctr"/>
            <a:r>
              <a:rPr lang="en-US" sz="2800" b="1" dirty="0">
                <a:solidFill>
                  <a:srgbClr val="C00000"/>
                </a:solidFill>
              </a:rPr>
              <a:t>Dependent and Independent are just terms used!</a:t>
            </a:r>
          </a:p>
        </p:txBody>
      </p:sp>
      <p:sp>
        <p:nvSpPr>
          <p:cNvPr id="3" name="TextBox 2"/>
          <p:cNvSpPr txBox="1"/>
          <p:nvPr/>
        </p:nvSpPr>
        <p:spPr>
          <a:xfrm>
            <a:off x="1543050" y="3257550"/>
            <a:ext cx="6000750" cy="1384995"/>
          </a:xfrm>
          <a:prstGeom prst="rect">
            <a:avLst/>
          </a:prstGeom>
          <a:noFill/>
        </p:spPr>
        <p:txBody>
          <a:bodyPr wrap="square" rtlCol="0">
            <a:spAutoFit/>
          </a:bodyPr>
          <a:lstStyle/>
          <a:p>
            <a:pPr algn="ctr"/>
            <a:r>
              <a:rPr lang="en-US" sz="2100" b="1" dirty="0">
                <a:solidFill>
                  <a:srgbClr val="C00000"/>
                </a:solidFill>
                <a:latin typeface="+mn-lt"/>
              </a:rPr>
              <a:t>Married Men Earn More Money!</a:t>
            </a:r>
          </a:p>
          <a:p>
            <a:pPr algn="ctr"/>
            <a:endParaRPr lang="en-US" sz="2100" b="1" dirty="0">
              <a:solidFill>
                <a:srgbClr val="C00000"/>
              </a:solidFill>
              <a:latin typeface="+mn-lt"/>
            </a:endParaRPr>
          </a:p>
          <a:p>
            <a:pPr algn="ctr"/>
            <a:r>
              <a:rPr lang="en-US" sz="2100" b="1" dirty="0">
                <a:solidFill>
                  <a:srgbClr val="C00000"/>
                </a:solidFill>
                <a:latin typeface="+mn-lt"/>
              </a:rPr>
              <a:t>Is marriage leading to more money or More Money leading to Marriage?</a:t>
            </a:r>
          </a:p>
        </p:txBody>
      </p:sp>
    </p:spTree>
    <p:extLst>
      <p:ext uri="{BB962C8B-B14F-4D97-AF65-F5344CB8AC3E}">
        <p14:creationId xmlns:p14="http://schemas.microsoft.com/office/powerpoint/2010/main" val="123277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19350"/>
            <a:ext cx="7315200" cy="1238250"/>
          </a:xfrm>
        </p:spPr>
        <p:txBody>
          <a:bodyPr/>
          <a:lstStyle/>
          <a:p>
            <a:pPr algn="ctr"/>
            <a:r>
              <a:rPr lang="en-US" sz="2400" b="1" dirty="0">
                <a:solidFill>
                  <a:srgbClr val="C00000"/>
                </a:solidFill>
              </a:rPr>
              <a:t>Regression helps to validate hypothesis</a:t>
            </a:r>
          </a:p>
        </p:txBody>
      </p:sp>
    </p:spTree>
    <p:extLst>
      <p:ext uri="{BB962C8B-B14F-4D97-AF65-F5344CB8AC3E}">
        <p14:creationId xmlns:p14="http://schemas.microsoft.com/office/powerpoint/2010/main" val="133531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1186" name="Rectangle 2"/>
          <p:cNvSpPr>
            <a:spLocks noGrp="1" noRot="1" noChangeArrowheads="1"/>
          </p:cNvSpPr>
          <p:nvPr>
            <p:ph type="title"/>
          </p:nvPr>
        </p:nvSpPr>
        <p:spPr>
          <a:xfrm>
            <a:off x="571500" y="304800"/>
            <a:ext cx="7886700" cy="701674"/>
          </a:xfrm>
        </p:spPr>
        <p:txBody>
          <a:bodyPr>
            <a:normAutofit/>
          </a:bodyPr>
          <a:lstStyle/>
          <a:p>
            <a:pPr algn="ctr" eaLnBrk="1" hangingPunct="1"/>
            <a:r>
              <a:rPr lang="en-US" dirty="0">
                <a:solidFill>
                  <a:srgbClr val="C00000"/>
                </a:solidFill>
                <a:latin typeface="Britannic Bold" pitchFamily="34" charset="0"/>
              </a:rPr>
              <a:t>Interesting Hypotheses</a:t>
            </a:r>
          </a:p>
        </p:txBody>
      </p:sp>
      <p:sp>
        <p:nvSpPr>
          <p:cNvPr id="23555" name="Rectangle 3"/>
          <p:cNvSpPr>
            <a:spLocks noGrp="1" noChangeArrowheads="1"/>
          </p:cNvSpPr>
          <p:nvPr>
            <p:ph idx="1"/>
          </p:nvPr>
        </p:nvSpPr>
        <p:spPr>
          <a:xfrm>
            <a:off x="571500" y="1253330"/>
            <a:ext cx="8077200" cy="4766469"/>
          </a:xfrm>
        </p:spPr>
        <p:txBody>
          <a:bodyPr>
            <a:normAutofit lnSpcReduction="10000"/>
          </a:bodyPr>
          <a:lstStyle/>
          <a:p>
            <a:pPr algn="just" eaLnBrk="1" hangingPunct="1"/>
            <a:r>
              <a:rPr lang="en-US" dirty="0">
                <a:latin typeface="Bell MT" pitchFamily="18" charset="0"/>
              </a:rPr>
              <a:t>Good looking couples are more likely to have girl child(</a:t>
            </a:r>
            <a:r>
              <a:rPr lang="en-US" dirty="0" err="1">
                <a:latin typeface="Bell MT" pitchFamily="18" charset="0"/>
              </a:rPr>
              <a:t>ren</a:t>
            </a:r>
            <a:r>
              <a:rPr lang="en-US" dirty="0">
                <a:latin typeface="Bell MT" pitchFamily="18" charset="0"/>
              </a:rPr>
              <a:t>)!</a:t>
            </a:r>
          </a:p>
          <a:p>
            <a:pPr algn="just" eaLnBrk="1" hangingPunct="1"/>
            <a:r>
              <a:rPr lang="en-US" dirty="0">
                <a:solidFill>
                  <a:srgbClr val="C00000"/>
                </a:solidFill>
                <a:latin typeface="Bell MT" pitchFamily="18" charset="0"/>
              </a:rPr>
              <a:t>Married people are more happier than singles!!!</a:t>
            </a:r>
          </a:p>
          <a:p>
            <a:pPr algn="just" eaLnBrk="1" hangingPunct="1"/>
            <a:r>
              <a:rPr lang="en-US" dirty="0">
                <a:latin typeface="Bell MT" pitchFamily="18" charset="0"/>
              </a:rPr>
              <a:t>Vegetarians miss fewer flights.</a:t>
            </a:r>
          </a:p>
          <a:p>
            <a:pPr algn="just" eaLnBrk="1" hangingPunct="1"/>
            <a:r>
              <a:rPr lang="en-US" dirty="0">
                <a:solidFill>
                  <a:srgbClr val="C00000"/>
                </a:solidFill>
                <a:latin typeface="Bell MT" pitchFamily="18" charset="0"/>
              </a:rPr>
              <a:t>Black cars have more chance of involving in an accident than white cars in moon light.</a:t>
            </a:r>
          </a:p>
          <a:p>
            <a:pPr algn="just" eaLnBrk="1" hangingPunct="1"/>
            <a:r>
              <a:rPr lang="en-US" dirty="0">
                <a:latin typeface="Bell MT" pitchFamily="18" charset="0"/>
              </a:rPr>
              <a:t>Women use camera phone more than men.</a:t>
            </a:r>
          </a:p>
          <a:p>
            <a:pPr algn="just" eaLnBrk="1" hangingPunct="1"/>
            <a:r>
              <a:rPr lang="en-US" dirty="0">
                <a:solidFill>
                  <a:srgbClr val="C00000"/>
                </a:solidFill>
                <a:latin typeface="Bell MT" pitchFamily="18" charset="0"/>
              </a:rPr>
              <a:t>Left handed men earn more money!</a:t>
            </a:r>
          </a:p>
          <a:p>
            <a:pPr algn="just" eaLnBrk="1" hangingPunct="1"/>
            <a:r>
              <a:rPr lang="en-US" dirty="0">
                <a:latin typeface="Bell MT" pitchFamily="18" charset="0"/>
              </a:rPr>
              <a:t>Smokers are better sales people.</a:t>
            </a:r>
          </a:p>
          <a:p>
            <a:pPr algn="just" eaLnBrk="1" hangingPunct="1"/>
            <a:r>
              <a:rPr lang="en-US" dirty="0">
                <a:solidFill>
                  <a:srgbClr val="C00000"/>
                </a:solidFill>
                <a:latin typeface="Bell MT" pitchFamily="18" charset="0"/>
              </a:rPr>
              <a:t>Those who whistle at workplace are more efficient.</a:t>
            </a:r>
          </a:p>
          <a:p>
            <a:pPr algn="just" eaLnBrk="1" hangingPunct="1"/>
            <a:endParaRPr lang="en-US" dirty="0">
              <a:solidFill>
                <a:srgbClr val="C00000"/>
              </a:solidFill>
              <a:latin typeface="Bell MT" pitchFamily="18" charset="0"/>
            </a:endParaRPr>
          </a:p>
          <a:p>
            <a:pPr algn="just" eaLnBrk="1" hangingPunct="1"/>
            <a:endParaRPr lang="en-US" dirty="0">
              <a:latin typeface="Bell MT" pitchFamily="18" charset="0"/>
            </a:endParaRPr>
          </a:p>
        </p:txBody>
      </p:sp>
    </p:spTree>
    <p:extLst>
      <p:ext uri="{BB962C8B-B14F-4D97-AF65-F5344CB8AC3E}">
        <p14:creationId xmlns:p14="http://schemas.microsoft.com/office/powerpoint/2010/main" val="174993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1186"/>
                                        </p:tgtEl>
                                        <p:attrNameLst>
                                          <p:attrName>style.visibility</p:attrName>
                                        </p:attrNameLst>
                                      </p:cBhvr>
                                      <p:to>
                                        <p:strVal val="visible"/>
                                      </p:to>
                                    </p:set>
                                    <p:animEffect transition="in" filter="barn(inVertical)">
                                      <p:cBhvr>
                                        <p:cTn id="7" dur="500"/>
                                        <p:tgtEl>
                                          <p:spTgt spid="2211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5">
                                            <p:txEl>
                                              <p:pRg st="0" end="0"/>
                                            </p:txEl>
                                          </p:spTgt>
                                        </p:tgtEl>
                                        <p:attrNameLst>
                                          <p:attrName>style.visibility</p:attrName>
                                        </p:attrNameLst>
                                      </p:cBhvr>
                                      <p:to>
                                        <p:strVal val="visible"/>
                                      </p:to>
                                    </p:set>
                                    <p:animEffect transition="in" filter="fade">
                                      <p:cBhvr>
                                        <p:cTn id="12" dur="2000"/>
                                        <p:tgtEl>
                                          <p:spTgt spid="2355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555">
                                            <p:txEl>
                                              <p:pRg st="1" end="1"/>
                                            </p:txEl>
                                          </p:spTgt>
                                        </p:tgtEl>
                                        <p:attrNameLst>
                                          <p:attrName>style.visibility</p:attrName>
                                        </p:attrNameLst>
                                      </p:cBhvr>
                                      <p:to>
                                        <p:strVal val="visible"/>
                                      </p:to>
                                    </p:set>
                                    <p:animEffect transition="in" filter="fade">
                                      <p:cBhvr>
                                        <p:cTn id="17" dur="2000"/>
                                        <p:tgtEl>
                                          <p:spTgt spid="2355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555">
                                            <p:txEl>
                                              <p:pRg st="2" end="2"/>
                                            </p:txEl>
                                          </p:spTgt>
                                        </p:tgtEl>
                                        <p:attrNameLst>
                                          <p:attrName>style.visibility</p:attrName>
                                        </p:attrNameLst>
                                      </p:cBhvr>
                                      <p:to>
                                        <p:strVal val="visible"/>
                                      </p:to>
                                    </p:set>
                                    <p:animEffect transition="in" filter="fade">
                                      <p:cBhvr>
                                        <p:cTn id="22" dur="2000"/>
                                        <p:tgtEl>
                                          <p:spTgt spid="2355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555">
                                            <p:txEl>
                                              <p:pRg st="3" end="3"/>
                                            </p:txEl>
                                          </p:spTgt>
                                        </p:tgtEl>
                                        <p:attrNameLst>
                                          <p:attrName>style.visibility</p:attrName>
                                        </p:attrNameLst>
                                      </p:cBhvr>
                                      <p:to>
                                        <p:strVal val="visible"/>
                                      </p:to>
                                    </p:set>
                                    <p:animEffect transition="in" filter="fade">
                                      <p:cBhvr>
                                        <p:cTn id="27" dur="2000"/>
                                        <p:tgtEl>
                                          <p:spTgt spid="2355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555">
                                            <p:txEl>
                                              <p:pRg st="4" end="4"/>
                                            </p:txEl>
                                          </p:spTgt>
                                        </p:tgtEl>
                                        <p:attrNameLst>
                                          <p:attrName>style.visibility</p:attrName>
                                        </p:attrNameLst>
                                      </p:cBhvr>
                                      <p:to>
                                        <p:strVal val="visible"/>
                                      </p:to>
                                    </p:set>
                                    <p:animEffect transition="in" filter="fade">
                                      <p:cBhvr>
                                        <p:cTn id="32" dur="2000"/>
                                        <p:tgtEl>
                                          <p:spTgt spid="2355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555">
                                            <p:txEl>
                                              <p:pRg st="5" end="5"/>
                                            </p:txEl>
                                          </p:spTgt>
                                        </p:tgtEl>
                                        <p:attrNameLst>
                                          <p:attrName>style.visibility</p:attrName>
                                        </p:attrNameLst>
                                      </p:cBhvr>
                                      <p:to>
                                        <p:strVal val="visible"/>
                                      </p:to>
                                    </p:set>
                                    <p:animEffect transition="in" filter="fade">
                                      <p:cBhvr>
                                        <p:cTn id="37" dur="2000"/>
                                        <p:tgtEl>
                                          <p:spTgt spid="2355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555">
                                            <p:txEl>
                                              <p:pRg st="6" end="6"/>
                                            </p:txEl>
                                          </p:spTgt>
                                        </p:tgtEl>
                                        <p:attrNameLst>
                                          <p:attrName>style.visibility</p:attrName>
                                        </p:attrNameLst>
                                      </p:cBhvr>
                                      <p:to>
                                        <p:strVal val="visible"/>
                                      </p:to>
                                    </p:set>
                                    <p:animEffect transition="in" filter="fade">
                                      <p:cBhvr>
                                        <p:cTn id="42" dur="2000"/>
                                        <p:tgtEl>
                                          <p:spTgt spid="2355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555">
                                            <p:txEl>
                                              <p:pRg st="7" end="7"/>
                                            </p:txEl>
                                          </p:spTgt>
                                        </p:tgtEl>
                                        <p:attrNameLst>
                                          <p:attrName>style.visibility</p:attrName>
                                        </p:attrNameLst>
                                      </p:cBhvr>
                                      <p:to>
                                        <p:strVal val="visible"/>
                                      </p:to>
                                    </p:set>
                                    <p:animEffect transition="in" filter="fade">
                                      <p:cBhvr>
                                        <p:cTn id="47" dur="2000"/>
                                        <p:tgtEl>
                                          <p:spTgt spid="23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p:bldP spid="23555"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itle 1"/>
          <p:cNvSpPr>
            <a:spLocks noGrp="1"/>
          </p:cNvSpPr>
          <p:nvPr>
            <p:ph type="title"/>
          </p:nvPr>
        </p:nvSpPr>
        <p:spPr>
          <a:xfrm>
            <a:off x="628650" y="533399"/>
            <a:ext cx="7886700" cy="533401"/>
          </a:xfrm>
        </p:spPr>
        <p:txBody>
          <a:bodyPr>
            <a:normAutofit/>
          </a:bodyPr>
          <a:lstStyle/>
          <a:p>
            <a:pPr algn="ctr"/>
            <a:r>
              <a:rPr lang="en-US" sz="3200" b="1" dirty="0">
                <a:solidFill>
                  <a:srgbClr val="C00000"/>
                </a:solidFill>
              </a:rPr>
              <a:t>Regression - Definition</a:t>
            </a:r>
          </a:p>
        </p:txBody>
      </p:sp>
      <p:sp>
        <p:nvSpPr>
          <p:cNvPr id="30723" name="Content Placeholder 2"/>
          <p:cNvSpPr>
            <a:spLocks noGrp="1"/>
          </p:cNvSpPr>
          <p:nvPr>
            <p:ph idx="1"/>
          </p:nvPr>
        </p:nvSpPr>
        <p:spPr>
          <a:xfrm>
            <a:off x="628650" y="1292224"/>
            <a:ext cx="8058150" cy="4351338"/>
          </a:xfrm>
        </p:spPr>
        <p:txBody>
          <a:bodyPr>
            <a:normAutofit/>
          </a:bodyPr>
          <a:lstStyle/>
          <a:p>
            <a:pPr algn="just">
              <a:buFont typeface="Wingdings 3" pitchFamily="18" charset="2"/>
              <a:buNone/>
            </a:pPr>
            <a:r>
              <a:rPr lang="en-US" dirty="0"/>
              <a:t>	</a:t>
            </a:r>
          </a:p>
          <a:p>
            <a:pPr algn="just">
              <a:buFont typeface="Wingdings 3" pitchFamily="18" charset="2"/>
              <a:buNone/>
            </a:pPr>
            <a:r>
              <a:rPr lang="en-US" dirty="0">
                <a:latin typeface="Calibri" pitchFamily="34" charset="0"/>
              </a:rPr>
              <a:t>	A statistical technique that attempts to determine the </a:t>
            </a:r>
            <a:r>
              <a:rPr lang="en-US" dirty="0">
                <a:solidFill>
                  <a:srgbClr val="C00000"/>
                </a:solidFill>
                <a:latin typeface="Calibri" pitchFamily="34" charset="0"/>
              </a:rPr>
              <a:t>existence of a possible relationship</a:t>
            </a:r>
            <a:r>
              <a:rPr lang="en-US" dirty="0">
                <a:solidFill>
                  <a:srgbClr val="FF0000"/>
                </a:solidFill>
                <a:latin typeface="Calibri" pitchFamily="34" charset="0"/>
              </a:rPr>
              <a:t> </a:t>
            </a:r>
            <a:r>
              <a:rPr lang="en-US" dirty="0">
                <a:latin typeface="Calibri" pitchFamily="34" charset="0"/>
              </a:rPr>
              <a:t>between one </a:t>
            </a:r>
            <a:r>
              <a:rPr lang="en-US" b="1" dirty="0">
                <a:solidFill>
                  <a:srgbClr val="C00000"/>
                </a:solidFill>
                <a:latin typeface="Calibri" pitchFamily="34" charset="0"/>
              </a:rPr>
              <a:t>dependent variable </a:t>
            </a:r>
            <a:r>
              <a:rPr lang="en-US" dirty="0">
                <a:latin typeface="Calibri" pitchFamily="34" charset="0"/>
              </a:rPr>
              <a:t>(usually denoted by Y) and a collection of </a:t>
            </a:r>
            <a:r>
              <a:rPr lang="en-US" dirty="0">
                <a:solidFill>
                  <a:srgbClr val="C00000"/>
                </a:solidFill>
                <a:latin typeface="Calibri" pitchFamily="34" charset="0"/>
              </a:rPr>
              <a:t>Independent variables</a:t>
            </a:r>
            <a:r>
              <a:rPr lang="en-US" dirty="0">
                <a:latin typeface="Calibri" pitchFamily="34" charset="0"/>
              </a:rPr>
              <a:t>.</a:t>
            </a:r>
          </a:p>
          <a:p>
            <a:pPr algn="just">
              <a:buFont typeface="Wingdings 3" pitchFamily="18" charset="2"/>
              <a:buNone/>
            </a:pPr>
            <a:endParaRPr lang="en-US" dirty="0">
              <a:latin typeface="Calibri" pitchFamily="34" charset="0"/>
            </a:endParaRPr>
          </a:p>
          <a:p>
            <a:pPr algn="just">
              <a:buFont typeface="Wingdings 3" pitchFamily="18" charset="2"/>
              <a:buNone/>
            </a:pPr>
            <a:r>
              <a:rPr lang="en-US" dirty="0">
                <a:latin typeface="Calibri" pitchFamily="34" charset="0"/>
              </a:rPr>
              <a:t>	Regression is used for generating new hypothesis and for validating a hypothesis</a:t>
            </a:r>
          </a:p>
          <a:p>
            <a:pPr algn="just">
              <a:buFont typeface="Wingdings 3" pitchFamily="18" charset="2"/>
              <a:buNone/>
            </a:pPr>
            <a:endParaRPr lang="en-US" dirty="0">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barn(inVertical)">
                                      <p:cBhvr>
                                        <p:cTn id="7" dur="500"/>
                                        <p:tgtEl>
                                          <p:spTgt spid="307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0723">
                                            <p:txEl>
                                              <p:pRg st="0" end="0"/>
                                            </p:txEl>
                                          </p:spTgt>
                                        </p:tgtEl>
                                        <p:attrNameLst>
                                          <p:attrName>style.visibility</p:attrName>
                                        </p:attrNameLst>
                                      </p:cBhvr>
                                      <p:to>
                                        <p:strVal val="visible"/>
                                      </p:to>
                                    </p:set>
                                    <p:animEffect transition="in" filter="fade">
                                      <p:cBhvr>
                                        <p:cTn id="12" dur="1000"/>
                                        <p:tgtEl>
                                          <p:spTgt spid="30723">
                                            <p:txEl>
                                              <p:pRg st="0" end="0"/>
                                            </p:txEl>
                                          </p:spTgt>
                                        </p:tgtEl>
                                      </p:cBhvr>
                                    </p:animEffect>
                                    <p:anim calcmode="lin" valueType="num">
                                      <p:cBhvr>
                                        <p:cTn id="13" dur="1000" fill="hold"/>
                                        <p:tgtEl>
                                          <p:spTgt spid="3072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07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0723">
                                            <p:txEl>
                                              <p:pRg st="1" end="1"/>
                                            </p:txEl>
                                          </p:spTgt>
                                        </p:tgtEl>
                                        <p:attrNameLst>
                                          <p:attrName>style.visibility</p:attrName>
                                        </p:attrNameLst>
                                      </p:cBhvr>
                                      <p:to>
                                        <p:strVal val="visible"/>
                                      </p:to>
                                    </p:set>
                                    <p:animEffect transition="in" filter="fade">
                                      <p:cBhvr>
                                        <p:cTn id="19" dur="1000"/>
                                        <p:tgtEl>
                                          <p:spTgt spid="30723">
                                            <p:txEl>
                                              <p:pRg st="1" end="1"/>
                                            </p:txEl>
                                          </p:spTgt>
                                        </p:tgtEl>
                                      </p:cBhvr>
                                    </p:animEffect>
                                    <p:anim calcmode="lin" valueType="num">
                                      <p:cBhvr>
                                        <p:cTn id="20" dur="10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07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0723">
                                            <p:txEl>
                                              <p:pRg st="3" end="3"/>
                                            </p:txEl>
                                          </p:spTgt>
                                        </p:tgtEl>
                                        <p:attrNameLst>
                                          <p:attrName>style.visibility</p:attrName>
                                        </p:attrNameLst>
                                      </p:cBhvr>
                                      <p:to>
                                        <p:strVal val="visible"/>
                                      </p:to>
                                    </p:set>
                                    <p:animEffect transition="in" filter="fade">
                                      <p:cBhvr>
                                        <p:cTn id="26" dur="1000"/>
                                        <p:tgtEl>
                                          <p:spTgt spid="30723">
                                            <p:txEl>
                                              <p:pRg st="3" end="3"/>
                                            </p:txEl>
                                          </p:spTgt>
                                        </p:tgtEl>
                                      </p:cBhvr>
                                    </p:animEffect>
                                    <p:anim calcmode="lin" valueType="num">
                                      <p:cBhvr>
                                        <p:cTn id="27" dur="1000" fill="hold"/>
                                        <p:tgtEl>
                                          <p:spTgt spid="3072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072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81000"/>
            <a:ext cx="7886700" cy="625473"/>
          </a:xfrm>
        </p:spPr>
        <p:txBody>
          <a:bodyPr>
            <a:normAutofit fontScale="90000"/>
          </a:bodyPr>
          <a:lstStyle/>
          <a:p>
            <a:r>
              <a:rPr lang="en-US" sz="3200" b="1" dirty="0">
                <a:solidFill>
                  <a:srgbClr val="C00000"/>
                </a:solidFill>
              </a:rPr>
              <a:t>Dependent and Independent Variables</a:t>
            </a:r>
          </a:p>
        </p:txBody>
      </p:sp>
      <p:sp>
        <p:nvSpPr>
          <p:cNvPr id="3" name="Content Placeholder 2"/>
          <p:cNvSpPr>
            <a:spLocks noGrp="1"/>
          </p:cNvSpPr>
          <p:nvPr>
            <p:ph idx="1"/>
          </p:nvPr>
        </p:nvSpPr>
        <p:spPr>
          <a:xfrm>
            <a:off x="639200" y="1253331"/>
            <a:ext cx="8047599" cy="4351338"/>
          </a:xfrm>
        </p:spPr>
        <p:txBody>
          <a:bodyPr/>
          <a:lstStyle/>
          <a:p>
            <a:pPr algn="just"/>
            <a:r>
              <a:rPr lang="en-US" dirty="0"/>
              <a:t>Terms dependent and independent does not necessarily imply a causal relationship between two variables.</a:t>
            </a:r>
          </a:p>
          <a:p>
            <a:pPr algn="just"/>
            <a:endParaRPr lang="en-US" dirty="0"/>
          </a:p>
          <a:p>
            <a:pPr algn="just"/>
            <a:r>
              <a:rPr lang="en-US" dirty="0"/>
              <a:t>Regression is not designed to capture causality.</a:t>
            </a:r>
          </a:p>
          <a:p>
            <a:pPr algn="just"/>
            <a:endParaRPr lang="en-US" dirty="0"/>
          </a:p>
          <a:p>
            <a:pPr algn="just"/>
            <a:r>
              <a:rPr lang="en-US" dirty="0"/>
              <a:t>Purpose of regression is to predict the value of dependent variable given the value(s) independent variable(s)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58337"/>
          </a:xfrm>
        </p:spPr>
        <p:txBody>
          <a:bodyPr>
            <a:normAutofit/>
          </a:bodyPr>
          <a:lstStyle/>
          <a:p>
            <a:pPr algn="ctr"/>
            <a:r>
              <a:rPr lang="en-US" sz="3200" b="1" dirty="0">
                <a:solidFill>
                  <a:srgbClr val="C00000"/>
                </a:solidFill>
              </a:rPr>
              <a:t>Regression Nomenclature</a:t>
            </a:r>
          </a:p>
        </p:txBody>
      </p:sp>
      <p:graphicFrame>
        <p:nvGraphicFramePr>
          <p:cNvPr id="3" name="Table 2"/>
          <p:cNvGraphicFramePr>
            <a:graphicFrameLocks noGrp="1"/>
          </p:cNvGraphicFramePr>
          <p:nvPr>
            <p:extLst>
              <p:ext uri="{D42A27DB-BD31-4B8C-83A1-F6EECF244321}">
                <p14:modId xmlns:p14="http://schemas.microsoft.com/office/powerpoint/2010/main" val="37784566"/>
              </p:ext>
            </p:extLst>
          </p:nvPr>
        </p:nvGraphicFramePr>
        <p:xfrm>
          <a:off x="2000250" y="1421132"/>
          <a:ext cx="5372100" cy="4446268"/>
        </p:xfrm>
        <a:graphic>
          <a:graphicData uri="http://schemas.openxmlformats.org/drawingml/2006/table">
            <a:tbl>
              <a:tblPr firstRow="1" bandRow="1">
                <a:tableStyleId>{5C22544A-7EE6-4342-B048-85BDC9FD1C3A}</a:tableStyleId>
              </a:tblPr>
              <a:tblGrid>
                <a:gridCol w="2495550">
                  <a:extLst>
                    <a:ext uri="{9D8B030D-6E8A-4147-A177-3AD203B41FA5}">
                      <a16:colId xmlns:a16="http://schemas.microsoft.com/office/drawing/2014/main" val="20000"/>
                    </a:ext>
                  </a:extLst>
                </a:gridCol>
                <a:gridCol w="2876550">
                  <a:extLst>
                    <a:ext uri="{9D8B030D-6E8A-4147-A177-3AD203B41FA5}">
                      <a16:colId xmlns:a16="http://schemas.microsoft.com/office/drawing/2014/main" val="20001"/>
                    </a:ext>
                  </a:extLst>
                </a:gridCol>
              </a:tblGrid>
              <a:tr h="440531">
                <a:tc>
                  <a:txBody>
                    <a:bodyPr/>
                    <a:lstStyle/>
                    <a:p>
                      <a:pPr algn="ctr"/>
                      <a:r>
                        <a:rPr lang="en-US" sz="2800" b="0" dirty="0">
                          <a:solidFill>
                            <a:srgbClr val="FFFF00"/>
                          </a:solidFill>
                        </a:rPr>
                        <a:t>Dependent Variable</a:t>
                      </a:r>
                    </a:p>
                  </a:txBody>
                  <a:tcPr marL="68580" marR="68580" marT="34290" marB="34290">
                    <a:solidFill>
                      <a:srgbClr val="002060"/>
                    </a:solidFill>
                  </a:tcPr>
                </a:tc>
                <a:tc>
                  <a:txBody>
                    <a:bodyPr/>
                    <a:lstStyle/>
                    <a:p>
                      <a:pPr algn="ctr"/>
                      <a:r>
                        <a:rPr lang="en-US" sz="2800" b="0" dirty="0">
                          <a:solidFill>
                            <a:srgbClr val="FFFF00"/>
                          </a:solidFill>
                        </a:rPr>
                        <a:t>Independent Variable</a:t>
                      </a:r>
                    </a:p>
                  </a:txBody>
                  <a:tcPr marL="68580" marR="68580" marT="34290" marB="34290">
                    <a:solidFill>
                      <a:srgbClr val="002060"/>
                    </a:solidFill>
                  </a:tcPr>
                </a:tc>
                <a:extLst>
                  <a:ext uri="{0D108BD9-81ED-4DB2-BD59-A6C34878D82A}">
                    <a16:rowId xmlns:a16="http://schemas.microsoft.com/office/drawing/2014/main" val="10000"/>
                  </a:ext>
                </a:extLst>
              </a:tr>
              <a:tr h="440531">
                <a:tc>
                  <a:txBody>
                    <a:bodyPr/>
                    <a:lstStyle/>
                    <a:p>
                      <a:pPr algn="ctr"/>
                      <a:r>
                        <a:rPr lang="en-US" sz="1400" b="1" dirty="0">
                          <a:solidFill>
                            <a:schemeClr val="bg1"/>
                          </a:solidFill>
                        </a:rPr>
                        <a:t>Explained Variable</a:t>
                      </a:r>
                    </a:p>
                  </a:txBody>
                  <a:tcPr marL="68580" marR="68580" marT="34290" marB="34290">
                    <a:solidFill>
                      <a:srgbClr val="002060"/>
                    </a:solidFill>
                  </a:tcPr>
                </a:tc>
                <a:tc>
                  <a:txBody>
                    <a:bodyPr/>
                    <a:lstStyle/>
                    <a:p>
                      <a:pPr algn="ctr"/>
                      <a:r>
                        <a:rPr lang="en-US" sz="1400" b="1" dirty="0">
                          <a:solidFill>
                            <a:schemeClr val="bg1"/>
                          </a:solidFill>
                        </a:rPr>
                        <a:t>Explanatory variable</a:t>
                      </a:r>
                    </a:p>
                  </a:txBody>
                  <a:tcPr marL="68580" marR="68580" marT="34290" marB="34290">
                    <a:solidFill>
                      <a:srgbClr val="002060"/>
                    </a:solidFill>
                  </a:tcPr>
                </a:tc>
                <a:extLst>
                  <a:ext uri="{0D108BD9-81ED-4DB2-BD59-A6C34878D82A}">
                    <a16:rowId xmlns:a16="http://schemas.microsoft.com/office/drawing/2014/main" val="10001"/>
                  </a:ext>
                </a:extLst>
              </a:tr>
              <a:tr h="440531">
                <a:tc>
                  <a:txBody>
                    <a:bodyPr/>
                    <a:lstStyle/>
                    <a:p>
                      <a:pPr algn="ctr"/>
                      <a:r>
                        <a:rPr lang="en-US" sz="1400" b="1" dirty="0" err="1">
                          <a:solidFill>
                            <a:schemeClr val="bg1"/>
                          </a:solidFill>
                        </a:rPr>
                        <a:t>Regressand</a:t>
                      </a:r>
                      <a:endParaRPr lang="en-US" sz="1400" b="1" dirty="0">
                        <a:solidFill>
                          <a:schemeClr val="bg1"/>
                        </a:solidFill>
                      </a:endParaRPr>
                    </a:p>
                  </a:txBody>
                  <a:tcPr marL="68580" marR="68580" marT="34290" marB="34290">
                    <a:solidFill>
                      <a:srgbClr val="002060"/>
                    </a:solidFill>
                  </a:tcPr>
                </a:tc>
                <a:tc>
                  <a:txBody>
                    <a:bodyPr/>
                    <a:lstStyle/>
                    <a:p>
                      <a:pPr algn="ctr"/>
                      <a:r>
                        <a:rPr lang="en-US" sz="1400" b="1" dirty="0" err="1">
                          <a:solidFill>
                            <a:schemeClr val="bg1"/>
                          </a:solidFill>
                        </a:rPr>
                        <a:t>Regressor</a:t>
                      </a:r>
                      <a:endParaRPr lang="en-US" sz="1400" b="1" dirty="0">
                        <a:solidFill>
                          <a:schemeClr val="bg1"/>
                        </a:solidFill>
                      </a:endParaRPr>
                    </a:p>
                  </a:txBody>
                  <a:tcPr marL="68580" marR="68580" marT="34290" marB="34290">
                    <a:solidFill>
                      <a:srgbClr val="002060"/>
                    </a:solidFill>
                  </a:tcPr>
                </a:tc>
                <a:extLst>
                  <a:ext uri="{0D108BD9-81ED-4DB2-BD59-A6C34878D82A}">
                    <a16:rowId xmlns:a16="http://schemas.microsoft.com/office/drawing/2014/main" val="10002"/>
                  </a:ext>
                </a:extLst>
              </a:tr>
              <a:tr h="440531">
                <a:tc>
                  <a:txBody>
                    <a:bodyPr/>
                    <a:lstStyle/>
                    <a:p>
                      <a:pPr algn="ctr"/>
                      <a:r>
                        <a:rPr lang="en-US" sz="1400" b="1" dirty="0" err="1">
                          <a:solidFill>
                            <a:schemeClr val="bg1"/>
                          </a:solidFill>
                        </a:rPr>
                        <a:t>Predictand</a:t>
                      </a:r>
                      <a:endParaRPr lang="en-US" sz="1400" b="1" dirty="0">
                        <a:solidFill>
                          <a:schemeClr val="bg1"/>
                        </a:solidFill>
                      </a:endParaRPr>
                    </a:p>
                  </a:txBody>
                  <a:tcPr marL="68580" marR="68580" marT="34290" marB="34290">
                    <a:solidFill>
                      <a:srgbClr val="002060"/>
                    </a:solidFill>
                  </a:tcPr>
                </a:tc>
                <a:tc>
                  <a:txBody>
                    <a:bodyPr/>
                    <a:lstStyle/>
                    <a:p>
                      <a:pPr algn="ctr"/>
                      <a:r>
                        <a:rPr lang="en-US" sz="1400" b="1" dirty="0">
                          <a:solidFill>
                            <a:schemeClr val="bg1"/>
                          </a:solidFill>
                        </a:rPr>
                        <a:t>Predictor</a:t>
                      </a:r>
                    </a:p>
                  </a:txBody>
                  <a:tcPr marL="68580" marR="68580" marT="34290" marB="34290">
                    <a:solidFill>
                      <a:srgbClr val="002060"/>
                    </a:solidFill>
                  </a:tcPr>
                </a:tc>
                <a:extLst>
                  <a:ext uri="{0D108BD9-81ED-4DB2-BD59-A6C34878D82A}">
                    <a16:rowId xmlns:a16="http://schemas.microsoft.com/office/drawing/2014/main" val="10003"/>
                  </a:ext>
                </a:extLst>
              </a:tr>
              <a:tr h="440531">
                <a:tc>
                  <a:txBody>
                    <a:bodyPr/>
                    <a:lstStyle/>
                    <a:p>
                      <a:pPr algn="ctr"/>
                      <a:r>
                        <a:rPr lang="en-US" sz="1400" b="1" dirty="0">
                          <a:solidFill>
                            <a:schemeClr val="bg1"/>
                          </a:solidFill>
                        </a:rPr>
                        <a:t>Endogenous Variable</a:t>
                      </a:r>
                    </a:p>
                  </a:txBody>
                  <a:tcPr marL="68580" marR="68580" marT="34290" marB="34290">
                    <a:solidFill>
                      <a:srgbClr val="002060"/>
                    </a:solidFill>
                  </a:tcPr>
                </a:tc>
                <a:tc>
                  <a:txBody>
                    <a:bodyPr/>
                    <a:lstStyle/>
                    <a:p>
                      <a:pPr algn="ctr"/>
                      <a:r>
                        <a:rPr lang="en-US" sz="1400" b="1" dirty="0">
                          <a:solidFill>
                            <a:schemeClr val="bg1"/>
                          </a:solidFill>
                        </a:rPr>
                        <a:t>Exogenous Variable</a:t>
                      </a:r>
                    </a:p>
                  </a:txBody>
                  <a:tcPr marL="68580" marR="68580" marT="34290" marB="34290">
                    <a:solidFill>
                      <a:srgbClr val="002060"/>
                    </a:solidFill>
                  </a:tcPr>
                </a:tc>
                <a:extLst>
                  <a:ext uri="{0D108BD9-81ED-4DB2-BD59-A6C34878D82A}">
                    <a16:rowId xmlns:a16="http://schemas.microsoft.com/office/drawing/2014/main" val="10004"/>
                  </a:ext>
                </a:extLst>
              </a:tr>
              <a:tr h="440531">
                <a:tc>
                  <a:txBody>
                    <a:bodyPr/>
                    <a:lstStyle/>
                    <a:p>
                      <a:pPr algn="ctr"/>
                      <a:r>
                        <a:rPr lang="en-US" sz="1400" b="1" dirty="0">
                          <a:solidFill>
                            <a:schemeClr val="bg1"/>
                          </a:solidFill>
                        </a:rPr>
                        <a:t>Controlled Variable</a:t>
                      </a:r>
                    </a:p>
                  </a:txBody>
                  <a:tcPr marL="68580" marR="68580" marT="34290" marB="34290">
                    <a:solidFill>
                      <a:srgbClr val="002060"/>
                    </a:solidFill>
                  </a:tcPr>
                </a:tc>
                <a:tc>
                  <a:txBody>
                    <a:bodyPr/>
                    <a:lstStyle/>
                    <a:p>
                      <a:pPr algn="ctr"/>
                      <a:r>
                        <a:rPr lang="en-US" sz="1400" b="1" dirty="0">
                          <a:solidFill>
                            <a:schemeClr val="bg1"/>
                          </a:solidFill>
                        </a:rPr>
                        <a:t>Control Variable</a:t>
                      </a:r>
                    </a:p>
                  </a:txBody>
                  <a:tcPr marL="68580" marR="68580" marT="34290" marB="34290">
                    <a:solidFill>
                      <a:srgbClr val="002060"/>
                    </a:solidFill>
                  </a:tcPr>
                </a:tc>
                <a:extLst>
                  <a:ext uri="{0D108BD9-81ED-4DB2-BD59-A6C34878D82A}">
                    <a16:rowId xmlns:a16="http://schemas.microsoft.com/office/drawing/2014/main" val="10005"/>
                  </a:ext>
                </a:extLst>
              </a:tr>
              <a:tr h="440531">
                <a:tc>
                  <a:txBody>
                    <a:bodyPr/>
                    <a:lstStyle/>
                    <a:p>
                      <a:pPr algn="ctr"/>
                      <a:r>
                        <a:rPr lang="en-US" sz="1400" b="1" dirty="0">
                          <a:solidFill>
                            <a:schemeClr val="bg1"/>
                          </a:solidFill>
                        </a:rPr>
                        <a:t>Target</a:t>
                      </a:r>
                      <a:r>
                        <a:rPr lang="en-US" sz="1400" b="1" baseline="0" dirty="0">
                          <a:solidFill>
                            <a:schemeClr val="bg1"/>
                          </a:solidFill>
                        </a:rPr>
                        <a:t> Variable</a:t>
                      </a:r>
                      <a:endParaRPr lang="en-US" sz="1400" b="1" dirty="0">
                        <a:solidFill>
                          <a:schemeClr val="bg1"/>
                        </a:solidFill>
                      </a:endParaRPr>
                    </a:p>
                  </a:txBody>
                  <a:tcPr marL="68580" marR="68580" marT="34290" marB="34290">
                    <a:solidFill>
                      <a:srgbClr val="002060"/>
                    </a:solidFill>
                  </a:tcPr>
                </a:tc>
                <a:tc>
                  <a:txBody>
                    <a:bodyPr/>
                    <a:lstStyle/>
                    <a:p>
                      <a:pPr algn="ctr"/>
                      <a:r>
                        <a:rPr lang="en-US" sz="1400" b="1" dirty="0">
                          <a:solidFill>
                            <a:schemeClr val="bg1"/>
                          </a:solidFill>
                        </a:rPr>
                        <a:t>Stimulus Variable</a:t>
                      </a:r>
                    </a:p>
                  </a:txBody>
                  <a:tcPr marL="68580" marR="68580" marT="34290" marB="34290">
                    <a:solidFill>
                      <a:srgbClr val="002060"/>
                    </a:solidFill>
                  </a:tcPr>
                </a:tc>
                <a:extLst>
                  <a:ext uri="{0D108BD9-81ED-4DB2-BD59-A6C34878D82A}">
                    <a16:rowId xmlns:a16="http://schemas.microsoft.com/office/drawing/2014/main" val="10006"/>
                  </a:ext>
                </a:extLst>
              </a:tr>
              <a:tr h="440531">
                <a:tc>
                  <a:txBody>
                    <a:bodyPr/>
                    <a:lstStyle/>
                    <a:p>
                      <a:pPr algn="ctr"/>
                      <a:r>
                        <a:rPr lang="en-US" sz="1400" b="1" dirty="0">
                          <a:solidFill>
                            <a:schemeClr val="bg1"/>
                          </a:solidFill>
                        </a:rPr>
                        <a:t>Response Variable</a:t>
                      </a:r>
                    </a:p>
                  </a:txBody>
                  <a:tcPr marL="68580" marR="68580" marT="34290" marB="34290">
                    <a:solidFill>
                      <a:srgbClr val="002060"/>
                    </a:solidFill>
                  </a:tcPr>
                </a:tc>
                <a:tc>
                  <a:txBody>
                    <a:bodyPr/>
                    <a:lstStyle/>
                    <a:p>
                      <a:pPr algn="ctr"/>
                      <a:r>
                        <a:rPr lang="en-US" sz="1400" b="1" dirty="0">
                          <a:solidFill>
                            <a:schemeClr val="bg1"/>
                          </a:solidFill>
                        </a:rPr>
                        <a:t>Feature</a:t>
                      </a:r>
                    </a:p>
                  </a:txBody>
                  <a:tcPr marL="68580" marR="68580" marT="34290" marB="34290">
                    <a:solidFill>
                      <a:srgbClr val="002060"/>
                    </a:solidFill>
                  </a:tcPr>
                </a:tc>
                <a:extLst>
                  <a:ext uri="{0D108BD9-81ED-4DB2-BD59-A6C34878D82A}">
                    <a16:rowId xmlns:a16="http://schemas.microsoft.com/office/drawing/2014/main" val="10007"/>
                  </a:ext>
                </a:extLst>
              </a:tr>
              <a:tr h="440531">
                <a:tc>
                  <a:txBody>
                    <a:bodyPr/>
                    <a:lstStyle/>
                    <a:p>
                      <a:pPr algn="ctr"/>
                      <a:r>
                        <a:rPr lang="en-US" sz="1400" b="1" dirty="0">
                          <a:solidFill>
                            <a:schemeClr val="bg1"/>
                          </a:solidFill>
                        </a:rPr>
                        <a:t>Outcome</a:t>
                      </a:r>
                      <a:r>
                        <a:rPr lang="en-US" sz="1400" b="1" baseline="0" dirty="0">
                          <a:solidFill>
                            <a:schemeClr val="bg1"/>
                          </a:solidFill>
                        </a:rPr>
                        <a:t> variable</a:t>
                      </a:r>
                      <a:endParaRPr lang="en-US" sz="1400" b="1" dirty="0">
                        <a:solidFill>
                          <a:schemeClr val="bg1"/>
                        </a:solidFill>
                      </a:endParaRPr>
                    </a:p>
                  </a:txBody>
                  <a:tcPr marL="68580" marR="68580" marT="34290" marB="34290">
                    <a:solidFill>
                      <a:srgbClr val="002060"/>
                    </a:solidFill>
                  </a:tcPr>
                </a:tc>
                <a:tc>
                  <a:txBody>
                    <a:bodyPr/>
                    <a:lstStyle/>
                    <a:p>
                      <a:pPr algn="ctr"/>
                      <a:r>
                        <a:rPr lang="en-US" sz="1400" b="1" dirty="0">
                          <a:solidFill>
                            <a:schemeClr val="bg1"/>
                          </a:solidFill>
                        </a:rPr>
                        <a:t>Input variable</a:t>
                      </a:r>
                    </a:p>
                  </a:txBody>
                  <a:tcPr marL="68580" marR="68580" marT="34290" marB="34290">
                    <a:solidFill>
                      <a:srgbClr val="002060"/>
                    </a:solidFill>
                  </a:tcPr>
                </a:tc>
                <a:extLst>
                  <a:ext uri="{0D108BD9-81ED-4DB2-BD59-A6C34878D82A}">
                    <a16:rowId xmlns:a16="http://schemas.microsoft.com/office/drawing/2014/main" val="3350278205"/>
                  </a:ext>
                </a:extLst>
              </a:tr>
            </a:tbl>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76236"/>
            <a:ext cx="7886700" cy="609601"/>
          </a:xfrm>
        </p:spPr>
        <p:txBody>
          <a:bodyPr>
            <a:normAutofit/>
          </a:bodyPr>
          <a:lstStyle/>
          <a:p>
            <a:r>
              <a:rPr lang="en-US" sz="3000" b="1" dirty="0">
                <a:solidFill>
                  <a:srgbClr val="C00000"/>
                </a:solidFill>
              </a:rPr>
              <a:t>Regression Vs Correlation</a:t>
            </a:r>
          </a:p>
        </p:txBody>
      </p:sp>
      <p:sp>
        <p:nvSpPr>
          <p:cNvPr id="3" name="Content Placeholder 2"/>
          <p:cNvSpPr>
            <a:spLocks noGrp="1"/>
          </p:cNvSpPr>
          <p:nvPr>
            <p:ph idx="1"/>
          </p:nvPr>
        </p:nvSpPr>
        <p:spPr>
          <a:xfrm>
            <a:off x="618978" y="1371600"/>
            <a:ext cx="7896372" cy="3203575"/>
          </a:xfrm>
        </p:spPr>
        <p:txBody>
          <a:bodyPr>
            <a:normAutofit/>
          </a:bodyPr>
          <a:lstStyle/>
          <a:p>
            <a:pPr algn="just"/>
            <a:r>
              <a:rPr lang="en-US" dirty="0"/>
              <a:t>Regression is the study of, “</a:t>
            </a:r>
            <a:r>
              <a:rPr lang="en-US" dirty="0">
                <a:solidFill>
                  <a:srgbClr val="C00000"/>
                </a:solidFill>
              </a:rPr>
              <a:t>existence of a relationship</a:t>
            </a:r>
            <a:r>
              <a:rPr lang="en-US" dirty="0"/>
              <a:t>”, between two variable. The main objective is to estimate the change in mean value of independent variable.</a:t>
            </a:r>
          </a:p>
          <a:p>
            <a:pPr algn="just"/>
            <a:endParaRPr lang="en-US" dirty="0"/>
          </a:p>
          <a:p>
            <a:pPr algn="just"/>
            <a:r>
              <a:rPr lang="en-US" dirty="0"/>
              <a:t>Correlation is the study of, “</a:t>
            </a:r>
            <a:r>
              <a:rPr lang="en-US" dirty="0">
                <a:solidFill>
                  <a:srgbClr val="C00000"/>
                </a:solidFill>
              </a:rPr>
              <a:t>strength of relationship</a:t>
            </a:r>
            <a:r>
              <a:rPr lang="en-US" dirty="0"/>
              <a:t>”, between two variables.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C36D4-4A2A-09A4-36B3-F7A4F225C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A0215-3692-BE37-D5E4-2EACD3F3441E}"/>
              </a:ext>
            </a:extLst>
          </p:cNvPr>
          <p:cNvSpPr>
            <a:spLocks noGrp="1"/>
          </p:cNvSpPr>
          <p:nvPr>
            <p:ph type="title"/>
          </p:nvPr>
        </p:nvSpPr>
        <p:spPr>
          <a:xfrm>
            <a:off x="628650" y="376236"/>
            <a:ext cx="7886700" cy="609601"/>
          </a:xfrm>
        </p:spPr>
        <p:txBody>
          <a:bodyPr>
            <a:normAutofit/>
          </a:bodyPr>
          <a:lstStyle/>
          <a:p>
            <a:r>
              <a:rPr lang="en-US" sz="3000" b="1" dirty="0">
                <a:solidFill>
                  <a:srgbClr val="C00000"/>
                </a:solidFill>
              </a:rPr>
              <a:t>Correlation</a:t>
            </a:r>
          </a:p>
        </p:txBody>
      </p:sp>
      <p:sp>
        <p:nvSpPr>
          <p:cNvPr id="5" name="Content Placeholder 4">
            <a:extLst>
              <a:ext uri="{FF2B5EF4-FFF2-40B4-BE49-F238E27FC236}">
                <a16:creationId xmlns:a16="http://schemas.microsoft.com/office/drawing/2014/main" id="{04683DB3-7528-2C82-088B-66DAB737F90B}"/>
              </a:ext>
            </a:extLst>
          </p:cNvPr>
          <p:cNvSpPr>
            <a:spLocks noGrp="1"/>
          </p:cNvSpPr>
          <p:nvPr>
            <p:ph idx="1"/>
          </p:nvPr>
        </p:nvSpPr>
        <p:spPr>
          <a:xfrm>
            <a:off x="628650" y="1219200"/>
            <a:ext cx="7886700" cy="4957763"/>
          </a:xfrm>
        </p:spPr>
        <p:txBody>
          <a:bodyPr/>
          <a:lstStyle/>
          <a:p>
            <a:endParaRPr lang="en-US" dirty="0"/>
          </a:p>
          <a:p>
            <a:r>
              <a:rPr lang="en-US" dirty="0"/>
              <a:t>Sample Covariance(X,Y)=</a:t>
            </a:r>
          </a:p>
          <a:p>
            <a:endParaRPr lang="en-US" dirty="0"/>
          </a:p>
          <a:p>
            <a:r>
              <a:rPr lang="en-US" dirty="0"/>
              <a:t>(n-1): Bessel’s correction for an unbiased estimate.</a:t>
            </a:r>
          </a:p>
          <a:p>
            <a:endParaRPr lang="en-US" dirty="0"/>
          </a:p>
          <a:p>
            <a:r>
              <a:rPr lang="en-US" dirty="0"/>
              <a:t>Correlation (X,Y) = </a:t>
            </a:r>
          </a:p>
          <a:p>
            <a:pPr marL="0" indent="0">
              <a:buNone/>
            </a:pPr>
            <a:r>
              <a:rPr lang="en-US" dirty="0"/>
              <a:t>Covariance (X,Y)/ (Stdev(X)*Stdev(Y))</a:t>
            </a:r>
            <a:endParaRPr lang="en-IN" dirty="0"/>
          </a:p>
        </p:txBody>
      </p:sp>
      <p:graphicFrame>
        <p:nvGraphicFramePr>
          <p:cNvPr id="6" name="Object 5">
            <a:extLst>
              <a:ext uri="{FF2B5EF4-FFF2-40B4-BE49-F238E27FC236}">
                <a16:creationId xmlns:a16="http://schemas.microsoft.com/office/drawing/2014/main" id="{6384265D-FA81-18DD-0F37-6851E88ADB08}"/>
              </a:ext>
            </a:extLst>
          </p:cNvPr>
          <p:cNvGraphicFramePr>
            <a:graphicFrameLocks noChangeAspect="1"/>
          </p:cNvGraphicFramePr>
          <p:nvPr>
            <p:extLst>
              <p:ext uri="{D42A27DB-BD31-4B8C-83A1-F6EECF244321}">
                <p14:modId xmlns:p14="http://schemas.microsoft.com/office/powerpoint/2010/main" val="1485065730"/>
              </p:ext>
            </p:extLst>
          </p:nvPr>
        </p:nvGraphicFramePr>
        <p:xfrm>
          <a:off x="4826000" y="1371600"/>
          <a:ext cx="2413000" cy="990600"/>
        </p:xfrm>
        <a:graphic>
          <a:graphicData uri="http://schemas.openxmlformats.org/presentationml/2006/ole">
            <mc:AlternateContent xmlns:mc="http://schemas.openxmlformats.org/markup-compatibility/2006">
              <mc:Choice xmlns:v="urn:schemas-microsoft-com:vml" Requires="v">
                <p:oleObj name="Equation" r:id="rId2" imgW="1269720" imgH="482400" progId="Equation.DSMT4">
                  <p:embed/>
                </p:oleObj>
              </mc:Choice>
              <mc:Fallback>
                <p:oleObj name="Equation" r:id="rId2" imgW="1269720" imgH="482400" progId="Equation.DSMT4">
                  <p:embed/>
                  <p:pic>
                    <p:nvPicPr>
                      <p:cNvPr id="0" name=""/>
                      <p:cNvPicPr/>
                      <p:nvPr/>
                    </p:nvPicPr>
                    <p:blipFill>
                      <a:blip r:embed="rId3"/>
                      <a:stretch>
                        <a:fillRect/>
                      </a:stretch>
                    </p:blipFill>
                    <p:spPr>
                      <a:xfrm>
                        <a:off x="4826000" y="1371600"/>
                        <a:ext cx="2413000" cy="990600"/>
                      </a:xfrm>
                      <a:prstGeom prst="rect">
                        <a:avLst/>
                      </a:prstGeom>
                    </p:spPr>
                  </p:pic>
                </p:oleObj>
              </mc:Fallback>
            </mc:AlternateContent>
          </a:graphicData>
        </a:graphic>
      </p:graphicFrame>
    </p:spTree>
    <p:extLst>
      <p:ext uri="{BB962C8B-B14F-4D97-AF65-F5344CB8AC3E}">
        <p14:creationId xmlns:p14="http://schemas.microsoft.com/office/powerpoint/2010/main" val="5980588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itle 1"/>
          <p:cNvSpPr>
            <a:spLocks noGrp="1"/>
          </p:cNvSpPr>
          <p:nvPr>
            <p:ph type="title"/>
          </p:nvPr>
        </p:nvSpPr>
        <p:spPr>
          <a:xfrm>
            <a:off x="628650" y="533399"/>
            <a:ext cx="7886700" cy="514173"/>
          </a:xfrm>
        </p:spPr>
        <p:txBody>
          <a:bodyPr>
            <a:noAutofit/>
          </a:bodyPr>
          <a:lstStyle/>
          <a:p>
            <a:pPr algn="ctr" eaLnBrk="1" hangingPunct="1"/>
            <a:r>
              <a:rPr lang="en-US" sz="3200" b="1" dirty="0">
                <a:solidFill>
                  <a:srgbClr val="C00000"/>
                </a:solidFill>
              </a:rPr>
              <a:t>Regression History</a:t>
            </a:r>
          </a:p>
        </p:txBody>
      </p:sp>
      <p:sp>
        <p:nvSpPr>
          <p:cNvPr id="31747" name="Content Placeholder 2"/>
          <p:cNvSpPr>
            <a:spLocks noGrp="1"/>
          </p:cNvSpPr>
          <p:nvPr>
            <p:ph idx="1"/>
          </p:nvPr>
        </p:nvSpPr>
        <p:spPr>
          <a:xfrm>
            <a:off x="605204" y="1290815"/>
            <a:ext cx="5643196" cy="2995435"/>
          </a:xfrm>
        </p:spPr>
        <p:txBody>
          <a:bodyPr>
            <a:normAutofit/>
          </a:bodyPr>
          <a:lstStyle/>
          <a:p>
            <a:pPr algn="just" eaLnBrk="1" hangingPunct="1"/>
            <a:r>
              <a:rPr lang="en-US" sz="1800" dirty="0">
                <a:latin typeface="Calibri" pitchFamily="34" charset="0"/>
              </a:rPr>
              <a:t>Francis Galton was the first to apply regression. </a:t>
            </a:r>
          </a:p>
          <a:p>
            <a:pPr algn="just" eaLnBrk="1" hangingPunct="1"/>
            <a:endParaRPr lang="en-US" sz="1800" dirty="0">
              <a:latin typeface="Calibri" pitchFamily="34" charset="0"/>
            </a:endParaRPr>
          </a:p>
          <a:p>
            <a:pPr algn="just" eaLnBrk="1" hangingPunct="1"/>
            <a:r>
              <a:rPr lang="en-US" sz="1800" dirty="0">
                <a:latin typeface="Calibri" pitchFamily="34" charset="0"/>
              </a:rPr>
              <a:t>Claimed that height of children of tall parents  </a:t>
            </a:r>
            <a:r>
              <a:rPr lang="en-US" sz="1800" dirty="0">
                <a:solidFill>
                  <a:srgbClr val="C00000"/>
                </a:solidFill>
                <a:latin typeface="Calibri" pitchFamily="34" charset="0"/>
              </a:rPr>
              <a:t>“regress towards mean of that generation”.</a:t>
            </a:r>
          </a:p>
          <a:p>
            <a:pPr algn="just" eaLnBrk="1" hangingPunct="1">
              <a:buFont typeface="Wingdings 3" pitchFamily="18" charset="2"/>
              <a:buNone/>
            </a:pPr>
            <a:endParaRPr lang="en-US" sz="1800" dirty="0">
              <a:latin typeface="Calibri" pitchFamily="34" charset="0"/>
            </a:endParaRPr>
          </a:p>
          <a:p>
            <a:pPr algn="just" eaLnBrk="1" hangingPunct="1"/>
            <a:r>
              <a:rPr lang="en-US" sz="1800" dirty="0">
                <a:latin typeface="Calibri" pitchFamily="34" charset="0"/>
              </a:rPr>
              <a:t>Modern regression analysis is developed by R A Fisher.</a:t>
            </a:r>
          </a:p>
          <a:p>
            <a:pPr algn="just" eaLnBrk="1" hangingPunct="1"/>
            <a:endParaRPr lang="en-US" sz="1800" dirty="0">
              <a:latin typeface="Calibri" pitchFamily="34" charset="0"/>
            </a:endParaRPr>
          </a:p>
        </p:txBody>
      </p:sp>
      <p:pic>
        <p:nvPicPr>
          <p:cNvPr id="31748" name="Content Placeholder 4" descr="Galton Regression.jpg"/>
          <p:cNvPicPr>
            <a:picLocks noGrp="1" noChangeAspect="1"/>
          </p:cNvPicPr>
          <p:nvPr>
            <p:ph sz="half" idx="4294967295"/>
          </p:nvPr>
        </p:nvPicPr>
        <p:blipFill>
          <a:blip r:embed="rId2" cstate="print"/>
          <a:srcRect/>
          <a:stretch>
            <a:fillRect/>
          </a:stretch>
        </p:blipFill>
        <p:spPr>
          <a:xfrm>
            <a:off x="6629400" y="1290814"/>
            <a:ext cx="2209800" cy="2995435"/>
          </a:xfrm>
        </p:spPr>
      </p:pic>
      <p:sp>
        <p:nvSpPr>
          <p:cNvPr id="31749" name="TextBox 5"/>
          <p:cNvSpPr txBox="1">
            <a:spLocks noChangeArrowheads="1"/>
          </p:cNvSpPr>
          <p:nvPr/>
        </p:nvSpPr>
        <p:spPr bwMode="auto">
          <a:xfrm>
            <a:off x="7086600" y="4382544"/>
            <a:ext cx="1939351" cy="369332"/>
          </a:xfrm>
          <a:prstGeom prst="rect">
            <a:avLst/>
          </a:prstGeom>
          <a:noFill/>
          <a:ln w="9525">
            <a:noFill/>
            <a:miter lim="800000"/>
            <a:headEnd/>
            <a:tailEnd/>
          </a:ln>
        </p:spPr>
        <p:txBody>
          <a:bodyPr wrap="square">
            <a:spAutoFit/>
          </a:bodyPr>
          <a:lstStyle/>
          <a:p>
            <a:pPr algn="ctr" eaLnBrk="0" hangingPunct="0"/>
            <a:r>
              <a:rPr lang="en-US" dirty="0">
                <a:latin typeface="Britannic Bold" pitchFamily="34" charset="0"/>
              </a:rPr>
              <a:t>Francis Galton</a:t>
            </a:r>
          </a:p>
        </p:txBody>
      </p:sp>
      <p:sp>
        <p:nvSpPr>
          <p:cNvPr id="31750" name="TextBox 5"/>
          <p:cNvSpPr txBox="1">
            <a:spLocks noChangeArrowheads="1"/>
          </p:cNvSpPr>
          <p:nvPr/>
        </p:nvSpPr>
        <p:spPr bwMode="auto">
          <a:xfrm>
            <a:off x="661182" y="4920854"/>
            <a:ext cx="8185345" cy="646331"/>
          </a:xfrm>
          <a:prstGeom prst="rect">
            <a:avLst/>
          </a:prstGeom>
          <a:noFill/>
          <a:ln w="9525">
            <a:noFill/>
            <a:miter lim="800000"/>
            <a:headEnd/>
            <a:tailEnd/>
          </a:ln>
        </p:spPr>
        <p:txBody>
          <a:bodyPr wrap="square">
            <a:spAutoFit/>
          </a:bodyPr>
          <a:lstStyle/>
          <a:p>
            <a:pPr eaLnBrk="0" hangingPunct="0"/>
            <a:r>
              <a:rPr lang="en-US" dirty="0">
                <a:solidFill>
                  <a:srgbClr val="FF0000"/>
                </a:solidFill>
                <a:latin typeface="+mn-lt"/>
                <a:hlinkClick r:id="rId3" action="ppaction://hlinkfile"/>
              </a:rPr>
              <a:t>Ref: F Galton, “Regression towards mediocrity in hereditary stature</a:t>
            </a:r>
            <a:r>
              <a:rPr lang="en-US" i="1" dirty="0">
                <a:solidFill>
                  <a:srgbClr val="FF0000"/>
                </a:solidFill>
                <a:latin typeface="+mn-lt"/>
                <a:hlinkClick r:id="rId3" action="ppaction://hlinkfile"/>
              </a:rPr>
              <a:t>”, Nature, </a:t>
            </a:r>
            <a:r>
              <a:rPr lang="en-US" dirty="0">
                <a:solidFill>
                  <a:srgbClr val="FF0000"/>
                </a:solidFill>
                <a:latin typeface="+mn-lt"/>
                <a:hlinkClick r:id="rId3" action="ppaction://hlinkfile"/>
              </a:rPr>
              <a:t>Vol. 15, 246-263, 1886</a:t>
            </a:r>
            <a:endParaRPr lang="en-US" dirty="0">
              <a:solidFill>
                <a:srgbClr val="FF0000"/>
              </a:solidFill>
              <a:latin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barn(inVertical)">
                                      <p:cBhvr>
                                        <p:cTn id="7" dur="500"/>
                                        <p:tgtEl>
                                          <p:spTgt spid="3174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1747">
                                            <p:txEl>
                                              <p:pRg st="0" end="0"/>
                                            </p:txEl>
                                          </p:spTgt>
                                        </p:tgtEl>
                                        <p:attrNameLst>
                                          <p:attrName>style.visibility</p:attrName>
                                        </p:attrNameLst>
                                      </p:cBhvr>
                                      <p:to>
                                        <p:strVal val="visible"/>
                                      </p:to>
                                    </p:set>
                                    <p:animEffect transition="in" filter="fade">
                                      <p:cBhvr>
                                        <p:cTn id="12" dur="1000"/>
                                        <p:tgtEl>
                                          <p:spTgt spid="31747">
                                            <p:txEl>
                                              <p:pRg st="0" end="0"/>
                                            </p:txEl>
                                          </p:spTgt>
                                        </p:tgtEl>
                                      </p:cBhvr>
                                    </p:animEffect>
                                    <p:anim calcmode="lin" valueType="num">
                                      <p:cBhvr>
                                        <p:cTn id="13" dur="10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174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1747">
                                            <p:txEl>
                                              <p:pRg st="2" end="2"/>
                                            </p:txEl>
                                          </p:spTgt>
                                        </p:tgtEl>
                                        <p:attrNameLst>
                                          <p:attrName>style.visibility</p:attrName>
                                        </p:attrNameLst>
                                      </p:cBhvr>
                                      <p:to>
                                        <p:strVal val="visible"/>
                                      </p:to>
                                    </p:set>
                                    <p:animEffect transition="in" filter="fade">
                                      <p:cBhvr>
                                        <p:cTn id="19" dur="1000"/>
                                        <p:tgtEl>
                                          <p:spTgt spid="31747">
                                            <p:txEl>
                                              <p:pRg st="2" end="2"/>
                                            </p:txEl>
                                          </p:spTgt>
                                        </p:tgtEl>
                                      </p:cBhvr>
                                    </p:animEffect>
                                    <p:anim calcmode="lin" valueType="num">
                                      <p:cBhvr>
                                        <p:cTn id="20" dur="10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174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1747">
                                            <p:txEl>
                                              <p:pRg st="4" end="4"/>
                                            </p:txEl>
                                          </p:spTgt>
                                        </p:tgtEl>
                                        <p:attrNameLst>
                                          <p:attrName>style.visibility</p:attrName>
                                        </p:attrNameLst>
                                      </p:cBhvr>
                                      <p:to>
                                        <p:strVal val="visible"/>
                                      </p:to>
                                    </p:set>
                                    <p:animEffect transition="in" filter="fade">
                                      <p:cBhvr>
                                        <p:cTn id="26" dur="1000"/>
                                        <p:tgtEl>
                                          <p:spTgt spid="31747">
                                            <p:txEl>
                                              <p:pRg st="4" end="4"/>
                                            </p:txEl>
                                          </p:spTgt>
                                        </p:tgtEl>
                                      </p:cBhvr>
                                    </p:animEffect>
                                    <p:anim calcmode="lin" valueType="num">
                                      <p:cBhvr>
                                        <p:cTn id="27" dur="10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174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1748"/>
                                        </p:tgtEl>
                                        <p:attrNameLst>
                                          <p:attrName>style.visibility</p:attrName>
                                        </p:attrNameLst>
                                      </p:cBhvr>
                                      <p:to>
                                        <p:strVal val="visible"/>
                                      </p:to>
                                    </p:set>
                                    <p:animEffect transition="in" filter="fade">
                                      <p:cBhvr>
                                        <p:cTn id="33" dur="1000"/>
                                        <p:tgtEl>
                                          <p:spTgt spid="31748"/>
                                        </p:tgtEl>
                                      </p:cBhvr>
                                    </p:animEffect>
                                    <p:anim calcmode="lin" valueType="num">
                                      <p:cBhvr>
                                        <p:cTn id="34" dur="1000" fill="hold"/>
                                        <p:tgtEl>
                                          <p:spTgt spid="31748"/>
                                        </p:tgtEl>
                                        <p:attrNameLst>
                                          <p:attrName>ppt_x</p:attrName>
                                        </p:attrNameLst>
                                      </p:cBhvr>
                                      <p:tavLst>
                                        <p:tav tm="0">
                                          <p:val>
                                            <p:strVal val="#ppt_x"/>
                                          </p:val>
                                        </p:tav>
                                        <p:tav tm="100000">
                                          <p:val>
                                            <p:strVal val="#ppt_x"/>
                                          </p:val>
                                        </p:tav>
                                      </p:tavLst>
                                    </p:anim>
                                    <p:anim calcmode="lin" valueType="num">
                                      <p:cBhvr>
                                        <p:cTn id="35" dur="1000" fill="hold"/>
                                        <p:tgtEl>
                                          <p:spTgt spid="3174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1750"/>
                                        </p:tgtEl>
                                        <p:attrNameLst>
                                          <p:attrName>style.visibility</p:attrName>
                                        </p:attrNameLst>
                                      </p:cBhvr>
                                      <p:to>
                                        <p:strVal val="visible"/>
                                      </p:to>
                                    </p:set>
                                    <p:animEffect transition="in" filter="fade">
                                      <p:cBhvr>
                                        <p:cTn id="40" dur="1000"/>
                                        <p:tgtEl>
                                          <p:spTgt spid="31750"/>
                                        </p:tgtEl>
                                      </p:cBhvr>
                                    </p:animEffect>
                                    <p:anim calcmode="lin" valueType="num">
                                      <p:cBhvr>
                                        <p:cTn id="41" dur="1000" fill="hold"/>
                                        <p:tgtEl>
                                          <p:spTgt spid="31750"/>
                                        </p:tgtEl>
                                        <p:attrNameLst>
                                          <p:attrName>ppt_x</p:attrName>
                                        </p:attrNameLst>
                                      </p:cBhvr>
                                      <p:tavLst>
                                        <p:tav tm="0">
                                          <p:val>
                                            <p:strVal val="#ppt_x"/>
                                          </p:val>
                                        </p:tav>
                                        <p:tav tm="100000">
                                          <p:val>
                                            <p:strVal val="#ppt_x"/>
                                          </p:val>
                                        </p:tav>
                                      </p:tavLst>
                                    </p:anim>
                                    <p:anim calcmode="lin" valueType="num">
                                      <p:cBhvr>
                                        <p:cTn id="42" dur="1000" fill="hold"/>
                                        <p:tgtEl>
                                          <p:spTgt spid="317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7" grpId="0" build="p"/>
      <p:bldP spid="31750"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761999"/>
            <a:ext cx="6781800" cy="4345783"/>
          </a:xfrm>
          <a:prstGeom prst="rect">
            <a:avLst/>
          </a:prstGeom>
        </p:spPr>
      </p:pic>
      <p:sp>
        <p:nvSpPr>
          <p:cNvPr id="4" name="TextBox 3"/>
          <p:cNvSpPr txBox="1"/>
          <p:nvPr/>
        </p:nvSpPr>
        <p:spPr>
          <a:xfrm>
            <a:off x="1628775" y="5486400"/>
            <a:ext cx="5886450" cy="400110"/>
          </a:xfrm>
          <a:prstGeom prst="rect">
            <a:avLst/>
          </a:prstGeom>
          <a:noFill/>
        </p:spPr>
        <p:txBody>
          <a:bodyPr wrap="square" rtlCol="0">
            <a:spAutoFit/>
          </a:bodyPr>
          <a:lstStyle/>
          <a:p>
            <a:pPr algn="ctr"/>
            <a:r>
              <a:rPr lang="en-US" sz="2000" b="1" dirty="0">
                <a:solidFill>
                  <a:srgbClr val="FF0000"/>
                </a:solidFill>
                <a:hlinkClick r:id="rId3" action="ppaction://hlinkfile"/>
              </a:rPr>
              <a:t>Sir Francis Galton’s Regression to Mean Graph </a:t>
            </a:r>
            <a:endParaRPr lang="en-US" sz="2000" b="1" dirty="0">
              <a:solidFill>
                <a:srgbClr val="FF0000"/>
              </a:solidFill>
            </a:endParaRPr>
          </a:p>
        </p:txBody>
      </p:sp>
    </p:spTree>
    <p:extLst>
      <p:ext uri="{BB962C8B-B14F-4D97-AF65-F5344CB8AC3E}">
        <p14:creationId xmlns:p14="http://schemas.microsoft.com/office/powerpoint/2010/main" val="19935213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Title 1"/>
          <p:cNvSpPr>
            <a:spLocks noGrp="1"/>
          </p:cNvSpPr>
          <p:nvPr>
            <p:ph type="title"/>
          </p:nvPr>
        </p:nvSpPr>
        <p:spPr>
          <a:xfrm>
            <a:off x="628650" y="365127"/>
            <a:ext cx="7886700" cy="701674"/>
          </a:xfrm>
        </p:spPr>
        <p:txBody>
          <a:bodyPr>
            <a:normAutofit/>
          </a:bodyPr>
          <a:lstStyle/>
          <a:p>
            <a:pPr algn="ctr" eaLnBrk="1" hangingPunct="1"/>
            <a:r>
              <a:rPr lang="en-US" sz="3200" b="1" dirty="0">
                <a:solidFill>
                  <a:srgbClr val="C00000"/>
                </a:solidFill>
              </a:rPr>
              <a:t>Where is it used?</a:t>
            </a:r>
          </a:p>
        </p:txBody>
      </p:sp>
      <p:sp>
        <p:nvSpPr>
          <p:cNvPr id="32771" name="Content Placeholder 2"/>
          <p:cNvSpPr>
            <a:spLocks noGrp="1"/>
          </p:cNvSpPr>
          <p:nvPr>
            <p:ph idx="1"/>
          </p:nvPr>
        </p:nvSpPr>
        <p:spPr>
          <a:xfrm>
            <a:off x="629822" y="1253331"/>
            <a:ext cx="8133178" cy="4351338"/>
          </a:xfrm>
        </p:spPr>
        <p:txBody>
          <a:bodyPr>
            <a:normAutofit fontScale="85000" lnSpcReduction="20000"/>
          </a:bodyPr>
          <a:lstStyle/>
          <a:p>
            <a:pPr algn="just" eaLnBrk="1" hangingPunct="1">
              <a:buFont typeface="Wingdings" panose="05000000000000000000" pitchFamily="2" charset="2"/>
              <a:buChar char="ü"/>
            </a:pPr>
            <a:endParaRPr lang="en-US" dirty="0"/>
          </a:p>
          <a:p>
            <a:pPr algn="just" eaLnBrk="1" hangingPunct="1">
              <a:buFont typeface="Wingdings" panose="05000000000000000000" pitchFamily="2" charset="2"/>
              <a:buChar char="ü"/>
            </a:pPr>
            <a:r>
              <a:rPr lang="en-US" dirty="0"/>
              <a:t> Every functional area of management uses regression.</a:t>
            </a:r>
          </a:p>
          <a:p>
            <a:pPr algn="just" eaLnBrk="1" hangingPunct="1">
              <a:buFont typeface="Wingdings" panose="05000000000000000000" pitchFamily="2" charset="2"/>
              <a:buChar char="ü"/>
            </a:pPr>
            <a:endParaRPr lang="en-US" dirty="0"/>
          </a:p>
          <a:p>
            <a:pPr algn="just" eaLnBrk="1" hangingPunct="1">
              <a:buFont typeface="Wingdings" panose="05000000000000000000" pitchFamily="2" charset="2"/>
              <a:buChar char="ü"/>
            </a:pPr>
            <a:r>
              <a:rPr lang="en-US" dirty="0"/>
              <a:t> Finance: CAPM, Non-performing assets, probability of default, Chance of bankruptcy, credit risk.</a:t>
            </a:r>
          </a:p>
          <a:p>
            <a:pPr algn="just" eaLnBrk="1" hangingPunct="1">
              <a:buFont typeface="Wingdings" panose="05000000000000000000" pitchFamily="2" charset="2"/>
              <a:buChar char="ü"/>
            </a:pPr>
            <a:endParaRPr lang="en-US" dirty="0"/>
          </a:p>
          <a:p>
            <a:pPr algn="just" eaLnBrk="1" hangingPunct="1">
              <a:buFont typeface="Wingdings" panose="05000000000000000000" pitchFamily="2" charset="2"/>
              <a:buChar char="ü"/>
            </a:pPr>
            <a:r>
              <a:rPr lang="en-US" dirty="0"/>
              <a:t> Marketing: Sales, market share, customer satisfaction, customer churn, customer retention, customer life time value.</a:t>
            </a:r>
          </a:p>
          <a:p>
            <a:pPr algn="just" eaLnBrk="1" hangingPunct="1">
              <a:buFont typeface="Wingdings" panose="05000000000000000000" pitchFamily="2" charset="2"/>
              <a:buChar char="ü"/>
            </a:pPr>
            <a:endParaRPr lang="en-US" dirty="0"/>
          </a:p>
          <a:p>
            <a:pPr algn="just" eaLnBrk="1" hangingPunct="1">
              <a:buFont typeface="Wingdings" panose="05000000000000000000" pitchFamily="2" charset="2"/>
              <a:buChar char="ü"/>
            </a:pPr>
            <a:r>
              <a:rPr lang="en-US" dirty="0"/>
              <a:t> Operations: Inventory, productivity, efficiency.</a:t>
            </a:r>
          </a:p>
          <a:p>
            <a:pPr algn="just" eaLnBrk="1" hangingPunct="1">
              <a:buFont typeface="Wingdings" panose="05000000000000000000" pitchFamily="2" charset="2"/>
              <a:buChar char="ü"/>
            </a:pPr>
            <a:endParaRPr lang="en-US" dirty="0"/>
          </a:p>
          <a:p>
            <a:pPr algn="just" eaLnBrk="1" hangingPunct="1">
              <a:buFont typeface="Wingdings" panose="05000000000000000000" pitchFamily="2" charset="2"/>
              <a:buChar char="ü"/>
            </a:pPr>
            <a:r>
              <a:rPr lang="en-US" dirty="0"/>
              <a:t> HR – Job satisfaction, attrition.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barn(inVertical)">
                                      <p:cBhvr>
                                        <p:cTn id="7" dur="500"/>
                                        <p:tgtEl>
                                          <p:spTgt spid="3277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fade">
                                      <p:cBhvr>
                                        <p:cTn id="12" dur="1000"/>
                                        <p:tgtEl>
                                          <p:spTgt spid="32771">
                                            <p:txEl>
                                              <p:pRg st="1" end="1"/>
                                            </p:txEl>
                                          </p:spTgt>
                                        </p:tgtEl>
                                      </p:cBhvr>
                                    </p:animEffect>
                                    <p:anim calcmode="lin" valueType="num">
                                      <p:cBhvr>
                                        <p:cTn id="13" dur="10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277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animEffect transition="in" filter="fade">
                                      <p:cBhvr>
                                        <p:cTn id="19" dur="1000"/>
                                        <p:tgtEl>
                                          <p:spTgt spid="32771">
                                            <p:txEl>
                                              <p:pRg st="3" end="3"/>
                                            </p:txEl>
                                          </p:spTgt>
                                        </p:tgtEl>
                                      </p:cBhvr>
                                    </p:animEffect>
                                    <p:anim calcmode="lin" valueType="num">
                                      <p:cBhvr>
                                        <p:cTn id="20" dur="10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27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2771">
                                            <p:txEl>
                                              <p:pRg st="5" end="5"/>
                                            </p:txEl>
                                          </p:spTgt>
                                        </p:tgtEl>
                                        <p:attrNameLst>
                                          <p:attrName>style.visibility</p:attrName>
                                        </p:attrNameLst>
                                      </p:cBhvr>
                                      <p:to>
                                        <p:strVal val="visible"/>
                                      </p:to>
                                    </p:set>
                                    <p:animEffect transition="in" filter="fade">
                                      <p:cBhvr>
                                        <p:cTn id="26" dur="1000"/>
                                        <p:tgtEl>
                                          <p:spTgt spid="32771">
                                            <p:txEl>
                                              <p:pRg st="5" end="5"/>
                                            </p:txEl>
                                          </p:spTgt>
                                        </p:tgtEl>
                                      </p:cBhvr>
                                    </p:animEffect>
                                    <p:anim calcmode="lin" valueType="num">
                                      <p:cBhvr>
                                        <p:cTn id="27" dur="1000" fill="hold"/>
                                        <p:tgtEl>
                                          <p:spTgt spid="32771">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3277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2771">
                                            <p:txEl>
                                              <p:pRg st="7" end="7"/>
                                            </p:txEl>
                                          </p:spTgt>
                                        </p:tgtEl>
                                        <p:attrNameLst>
                                          <p:attrName>style.visibility</p:attrName>
                                        </p:attrNameLst>
                                      </p:cBhvr>
                                      <p:to>
                                        <p:strVal val="visible"/>
                                      </p:to>
                                    </p:set>
                                    <p:animEffect transition="in" filter="fade">
                                      <p:cBhvr>
                                        <p:cTn id="33" dur="1000"/>
                                        <p:tgtEl>
                                          <p:spTgt spid="32771">
                                            <p:txEl>
                                              <p:pRg st="7" end="7"/>
                                            </p:txEl>
                                          </p:spTgt>
                                        </p:tgtEl>
                                      </p:cBhvr>
                                    </p:animEffect>
                                    <p:anim calcmode="lin" valueType="num">
                                      <p:cBhvr>
                                        <p:cTn id="34" dur="1000" fill="hold"/>
                                        <p:tgtEl>
                                          <p:spTgt spid="32771">
                                            <p:txEl>
                                              <p:pRg st="7" end="7"/>
                                            </p:txEl>
                                          </p:spTgt>
                                        </p:tgtEl>
                                        <p:attrNameLst>
                                          <p:attrName>ppt_x</p:attrName>
                                        </p:attrNameLst>
                                      </p:cBhvr>
                                      <p:tavLst>
                                        <p:tav tm="0">
                                          <p:val>
                                            <p:strVal val="#ppt_x"/>
                                          </p:val>
                                        </p:tav>
                                        <p:tav tm="100000">
                                          <p:val>
                                            <p:strVal val="#ppt_x"/>
                                          </p:val>
                                        </p:tav>
                                      </p:tavLst>
                                    </p:anim>
                                    <p:anim calcmode="lin" valueType="num">
                                      <p:cBhvr>
                                        <p:cTn id="35" dur="1000" fill="hold"/>
                                        <p:tgtEl>
                                          <p:spTgt spid="3277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2771">
                                            <p:txEl>
                                              <p:pRg st="9" end="9"/>
                                            </p:txEl>
                                          </p:spTgt>
                                        </p:tgtEl>
                                        <p:attrNameLst>
                                          <p:attrName>style.visibility</p:attrName>
                                        </p:attrNameLst>
                                      </p:cBhvr>
                                      <p:to>
                                        <p:strVal val="visible"/>
                                      </p:to>
                                    </p:set>
                                    <p:animEffect transition="in" filter="fade">
                                      <p:cBhvr>
                                        <p:cTn id="40" dur="1000"/>
                                        <p:tgtEl>
                                          <p:spTgt spid="32771">
                                            <p:txEl>
                                              <p:pRg st="9" end="9"/>
                                            </p:txEl>
                                          </p:spTgt>
                                        </p:tgtEl>
                                      </p:cBhvr>
                                    </p:animEffect>
                                    <p:anim calcmode="lin" valueType="num">
                                      <p:cBhvr>
                                        <p:cTn id="41" dur="1000" fill="hold"/>
                                        <p:tgtEl>
                                          <p:spTgt spid="32771">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2771">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1"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itle 1"/>
          <p:cNvSpPr>
            <a:spLocks noGrp="1"/>
          </p:cNvSpPr>
          <p:nvPr>
            <p:ph type="title"/>
          </p:nvPr>
        </p:nvSpPr>
        <p:spPr>
          <a:xfrm>
            <a:off x="628650" y="330200"/>
            <a:ext cx="7886700" cy="701673"/>
          </a:xfrm>
        </p:spPr>
        <p:txBody>
          <a:bodyPr>
            <a:normAutofit/>
          </a:bodyPr>
          <a:lstStyle/>
          <a:p>
            <a:r>
              <a:rPr lang="en-US" sz="3200" b="1" dirty="0">
                <a:solidFill>
                  <a:srgbClr val="C00000"/>
                </a:solidFill>
              </a:rPr>
              <a:t>Importance of Regression</a:t>
            </a:r>
          </a:p>
        </p:txBody>
      </p:sp>
      <p:sp>
        <p:nvSpPr>
          <p:cNvPr id="33795" name="Content Placeholder 2"/>
          <p:cNvSpPr>
            <a:spLocks noGrp="1"/>
          </p:cNvSpPr>
          <p:nvPr>
            <p:ph idx="1"/>
          </p:nvPr>
        </p:nvSpPr>
        <p:spPr>
          <a:xfrm>
            <a:off x="618099" y="1253331"/>
            <a:ext cx="7886700" cy="4351338"/>
          </a:xfrm>
        </p:spPr>
        <p:txBody>
          <a:bodyPr>
            <a:normAutofit/>
          </a:bodyPr>
          <a:lstStyle/>
          <a:p>
            <a:pPr algn="just">
              <a:buFont typeface="Wingdings" panose="05000000000000000000" pitchFamily="2" charset="2"/>
              <a:buChar char="Ø"/>
            </a:pPr>
            <a:r>
              <a:rPr lang="en-US" dirty="0">
                <a:latin typeface="Calibri" pitchFamily="34" charset="0"/>
              </a:rPr>
              <a:t>In 1980, Supreme court of USA recognized regression as a valid method of identifying discrimination.</a:t>
            </a:r>
          </a:p>
          <a:p>
            <a:pPr algn="just">
              <a:buFont typeface="Wingdings" panose="05000000000000000000" pitchFamily="2" charset="2"/>
              <a:buChar char="Ø"/>
            </a:pPr>
            <a:endParaRPr lang="en-US" dirty="0">
              <a:latin typeface="Calibri" pitchFamily="34" charset="0"/>
            </a:endParaRPr>
          </a:p>
          <a:p>
            <a:pPr algn="just">
              <a:buFont typeface="Wingdings" panose="05000000000000000000" pitchFamily="2" charset="2"/>
              <a:buChar char="Ø"/>
            </a:pPr>
            <a:r>
              <a:rPr lang="en-US" dirty="0">
                <a:latin typeface="Calibri" pitchFamily="34" charset="0"/>
              </a:rPr>
              <a:t>American Food and Drug Administration (FDA) uses regression as an approved tool for validating food and drug products.</a:t>
            </a:r>
          </a:p>
          <a:p>
            <a:pPr algn="just">
              <a:buFont typeface="Wingdings" panose="05000000000000000000" pitchFamily="2" charset="2"/>
              <a:buChar char="Ø"/>
            </a:pPr>
            <a:endParaRPr lang="en-US" dirty="0">
              <a:latin typeface="Calibri" pitchFamily="34" charset="0"/>
            </a:endParaRPr>
          </a:p>
          <a:p>
            <a:pPr algn="just">
              <a:buFont typeface="Wingdings" panose="05000000000000000000" pitchFamily="2" charset="2"/>
              <a:buChar char="Ø"/>
            </a:pPr>
            <a:endParaRPr lang="en-US" dirty="0">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barn(inVertical)">
                                      <p:cBhvr>
                                        <p:cTn id="7" dur="500"/>
                                        <p:tgtEl>
                                          <p:spTgt spid="3379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3795">
                                            <p:txEl>
                                              <p:pRg st="0" end="0"/>
                                            </p:txEl>
                                          </p:spTgt>
                                        </p:tgtEl>
                                        <p:attrNameLst>
                                          <p:attrName>style.visibility</p:attrName>
                                        </p:attrNameLst>
                                      </p:cBhvr>
                                      <p:to>
                                        <p:strVal val="visible"/>
                                      </p:to>
                                    </p:set>
                                    <p:animEffect transition="in" filter="fade">
                                      <p:cBhvr>
                                        <p:cTn id="12" dur="1000"/>
                                        <p:tgtEl>
                                          <p:spTgt spid="33795">
                                            <p:txEl>
                                              <p:pRg st="0" end="0"/>
                                            </p:txEl>
                                          </p:spTgt>
                                        </p:tgtEl>
                                      </p:cBhvr>
                                    </p:animEffect>
                                    <p:anim calcmode="lin" valueType="num">
                                      <p:cBhvr>
                                        <p:cTn id="13" dur="1000" fill="hold"/>
                                        <p:tgtEl>
                                          <p:spTgt spid="3379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37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3795">
                                            <p:txEl>
                                              <p:pRg st="2" end="2"/>
                                            </p:txEl>
                                          </p:spTgt>
                                        </p:tgtEl>
                                        <p:attrNameLst>
                                          <p:attrName>style.visibility</p:attrName>
                                        </p:attrNameLst>
                                      </p:cBhvr>
                                      <p:to>
                                        <p:strVal val="visible"/>
                                      </p:to>
                                    </p:set>
                                    <p:animEffect transition="in" filter="fade">
                                      <p:cBhvr>
                                        <p:cTn id="19" dur="1000"/>
                                        <p:tgtEl>
                                          <p:spTgt spid="33795">
                                            <p:txEl>
                                              <p:pRg st="2" end="2"/>
                                            </p:txEl>
                                          </p:spTgt>
                                        </p:tgtEl>
                                      </p:cBhvr>
                                    </p:animEffect>
                                    <p:anim calcmode="lin" valueType="num">
                                      <p:cBhvr>
                                        <p:cTn id="20" dur="10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379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P spid="33795"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itle 1"/>
          <p:cNvSpPr>
            <a:spLocks noGrp="1"/>
          </p:cNvSpPr>
          <p:nvPr>
            <p:ph type="title"/>
          </p:nvPr>
        </p:nvSpPr>
        <p:spPr>
          <a:xfrm>
            <a:off x="628650" y="381000"/>
            <a:ext cx="7886700" cy="625474"/>
          </a:xfrm>
        </p:spPr>
        <p:txBody>
          <a:bodyPr>
            <a:normAutofit/>
          </a:bodyPr>
          <a:lstStyle/>
          <a:p>
            <a:pPr algn="ctr" eaLnBrk="1" hangingPunct="1"/>
            <a:r>
              <a:rPr lang="en-US" sz="3200" b="1" dirty="0">
                <a:solidFill>
                  <a:srgbClr val="C00000"/>
                </a:solidFill>
              </a:rPr>
              <a:t>Why we need Regression?</a:t>
            </a:r>
          </a:p>
        </p:txBody>
      </p:sp>
      <p:sp>
        <p:nvSpPr>
          <p:cNvPr id="34819" name="Content Placeholder 2"/>
          <p:cNvSpPr>
            <a:spLocks noGrp="1"/>
          </p:cNvSpPr>
          <p:nvPr>
            <p:ph idx="1"/>
          </p:nvPr>
        </p:nvSpPr>
        <p:spPr>
          <a:xfrm>
            <a:off x="646235" y="1143000"/>
            <a:ext cx="7886700" cy="4351338"/>
          </a:xfrm>
        </p:spPr>
        <p:txBody>
          <a:bodyPr>
            <a:normAutofit/>
          </a:bodyPr>
          <a:lstStyle/>
          <a:p>
            <a:pPr algn="just" eaLnBrk="1" hangingPunct="1">
              <a:buFont typeface="Wingdings" panose="05000000000000000000" pitchFamily="2" charset="2"/>
              <a:buChar char="Ø"/>
            </a:pPr>
            <a:endParaRPr lang="en-US" dirty="0">
              <a:latin typeface="Bell MT" pitchFamily="18" charset="0"/>
            </a:endParaRPr>
          </a:p>
          <a:p>
            <a:pPr algn="just" eaLnBrk="1" hangingPunct="1">
              <a:buFont typeface="Wingdings" panose="05000000000000000000" pitchFamily="2" charset="2"/>
              <a:buChar char="Ø"/>
            </a:pPr>
            <a:r>
              <a:rPr lang="en-US" dirty="0">
                <a:latin typeface="Bell MT" pitchFamily="18" charset="0"/>
              </a:rPr>
              <a:t> Companies would like to know about factors that has significant impact on their </a:t>
            </a:r>
            <a:r>
              <a:rPr lang="en-US" dirty="0">
                <a:solidFill>
                  <a:srgbClr val="FF0000"/>
                </a:solidFill>
                <a:latin typeface="Bell MT" pitchFamily="18" charset="0"/>
              </a:rPr>
              <a:t>Key Performance Indicators (KPI)</a:t>
            </a:r>
            <a:r>
              <a:rPr lang="en-US" dirty="0">
                <a:latin typeface="Bell MT" pitchFamily="18" charset="0"/>
              </a:rPr>
              <a:t>.</a:t>
            </a:r>
          </a:p>
          <a:p>
            <a:pPr algn="just" eaLnBrk="1" hangingPunct="1">
              <a:buFont typeface="Wingdings" panose="05000000000000000000" pitchFamily="2" charset="2"/>
              <a:buChar char="Ø"/>
            </a:pPr>
            <a:endParaRPr lang="en-US" dirty="0">
              <a:latin typeface="Bell MT" pitchFamily="18" charset="0"/>
            </a:endParaRPr>
          </a:p>
          <a:p>
            <a:pPr algn="just" eaLnBrk="1" hangingPunct="1">
              <a:buFont typeface="Wingdings" panose="05000000000000000000" pitchFamily="2" charset="2"/>
              <a:buChar char="Ø"/>
            </a:pPr>
            <a:r>
              <a:rPr lang="en-US" dirty="0">
                <a:latin typeface="Bell MT" pitchFamily="18" charset="0"/>
              </a:rPr>
              <a:t> Regression helps to create new hypothesis that may assist the companies to improve their performance.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barn(inVertical)">
                                      <p:cBhvr>
                                        <p:cTn id="7" dur="500"/>
                                        <p:tgtEl>
                                          <p:spTgt spid="3481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fade">
                                      <p:cBhvr>
                                        <p:cTn id="12" dur="1000"/>
                                        <p:tgtEl>
                                          <p:spTgt spid="34819">
                                            <p:txEl>
                                              <p:pRg st="1" end="1"/>
                                            </p:txEl>
                                          </p:spTgt>
                                        </p:tgtEl>
                                      </p:cBhvr>
                                    </p:animEffect>
                                    <p:anim calcmode="lin" valueType="num">
                                      <p:cBhvr>
                                        <p:cTn id="13" dur="1000" fill="hold"/>
                                        <p:tgtEl>
                                          <p:spTgt spid="3481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481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4819">
                                            <p:txEl>
                                              <p:pRg st="3" end="3"/>
                                            </p:txEl>
                                          </p:spTgt>
                                        </p:tgtEl>
                                        <p:attrNameLst>
                                          <p:attrName>style.visibility</p:attrName>
                                        </p:attrNameLst>
                                      </p:cBhvr>
                                      <p:to>
                                        <p:strVal val="visible"/>
                                      </p:to>
                                    </p:set>
                                    <p:animEffect transition="in" filter="fade">
                                      <p:cBhvr>
                                        <p:cTn id="19" dur="1000"/>
                                        <p:tgtEl>
                                          <p:spTgt spid="34819">
                                            <p:txEl>
                                              <p:pRg st="3" end="3"/>
                                            </p:txEl>
                                          </p:spTgt>
                                        </p:tgtEl>
                                      </p:cBhvr>
                                    </p:animEffect>
                                    <p:anim calcmode="lin" valueType="num">
                                      <p:cBhvr>
                                        <p:cTn id="20" dur="1000" fill="hold"/>
                                        <p:tgtEl>
                                          <p:spTgt spid="34819">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481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34819"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Title 1"/>
          <p:cNvSpPr>
            <a:spLocks noGrp="1"/>
          </p:cNvSpPr>
          <p:nvPr>
            <p:ph type="title"/>
          </p:nvPr>
        </p:nvSpPr>
        <p:spPr>
          <a:xfrm>
            <a:off x="1485900" y="2667000"/>
            <a:ext cx="6172200" cy="514350"/>
          </a:xfrm>
        </p:spPr>
        <p:txBody>
          <a:bodyPr>
            <a:normAutofit fontScale="90000"/>
          </a:bodyPr>
          <a:lstStyle/>
          <a:p>
            <a:pPr algn="r"/>
            <a:r>
              <a:rPr lang="en-US" b="1" dirty="0">
                <a:solidFill>
                  <a:srgbClr val="C00000"/>
                </a:solidFill>
              </a:rPr>
              <a:t>Types of Regression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fade">
                                      <p:cBhvr>
                                        <p:cTn id="7" dur="1000"/>
                                        <p:tgtEl>
                                          <p:spTgt spid="41986"/>
                                        </p:tgtEl>
                                      </p:cBhvr>
                                    </p:animEffect>
                                    <p:anim calcmode="lin" valueType="num">
                                      <p:cBhvr>
                                        <p:cTn id="8" dur="1000" fill="hold"/>
                                        <p:tgtEl>
                                          <p:spTgt spid="41986"/>
                                        </p:tgtEl>
                                        <p:attrNameLst>
                                          <p:attrName>ppt_x</p:attrName>
                                        </p:attrNameLst>
                                      </p:cBhvr>
                                      <p:tavLst>
                                        <p:tav tm="0">
                                          <p:val>
                                            <p:strVal val="#ppt_x"/>
                                          </p:val>
                                        </p:tav>
                                        <p:tav tm="100000">
                                          <p:val>
                                            <p:strVal val="#ppt_x"/>
                                          </p:val>
                                        </p:tav>
                                      </p:tavLst>
                                    </p:anim>
                                    <p:anim calcmode="lin" valueType="num">
                                      <p:cBhvr>
                                        <p:cTn id="9" dur="1000" fill="hold"/>
                                        <p:tgtEl>
                                          <p:spTgt spid="419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Title 1"/>
          <p:cNvSpPr>
            <a:spLocks noGrp="1"/>
          </p:cNvSpPr>
          <p:nvPr>
            <p:ph type="title"/>
          </p:nvPr>
        </p:nvSpPr>
        <p:spPr>
          <a:xfrm>
            <a:off x="628650" y="365127"/>
            <a:ext cx="7886700" cy="655636"/>
          </a:xfrm>
        </p:spPr>
        <p:txBody>
          <a:bodyPr>
            <a:normAutofit/>
          </a:bodyPr>
          <a:lstStyle/>
          <a:p>
            <a:pPr algn="ctr" eaLnBrk="1" hangingPunct="1"/>
            <a:r>
              <a:rPr lang="en-US" sz="3200" b="1" dirty="0">
                <a:solidFill>
                  <a:srgbClr val="C00000"/>
                </a:solidFill>
              </a:rPr>
              <a:t>Types of Regression</a:t>
            </a:r>
          </a:p>
        </p:txBody>
      </p:sp>
      <p:graphicFrame>
        <p:nvGraphicFramePr>
          <p:cNvPr id="3" name="Diagram 2"/>
          <p:cNvGraphicFramePr/>
          <p:nvPr>
            <p:extLst>
              <p:ext uri="{D42A27DB-BD31-4B8C-83A1-F6EECF244321}">
                <p14:modId xmlns:p14="http://schemas.microsoft.com/office/powerpoint/2010/main" val="719512338"/>
              </p:ext>
            </p:extLst>
          </p:nvPr>
        </p:nvGraphicFramePr>
        <p:xfrm>
          <a:off x="1143000" y="1676400"/>
          <a:ext cx="6610350" cy="4076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3012" name="TextBox 3"/>
          <p:cNvSpPr txBox="1">
            <a:spLocks noChangeArrowheads="1"/>
          </p:cNvSpPr>
          <p:nvPr/>
        </p:nvSpPr>
        <p:spPr bwMode="auto">
          <a:xfrm>
            <a:off x="2209800" y="2330548"/>
            <a:ext cx="1447800" cy="923330"/>
          </a:xfrm>
          <a:prstGeom prst="rect">
            <a:avLst/>
          </a:prstGeom>
          <a:noFill/>
          <a:ln w="9525">
            <a:noFill/>
            <a:miter lim="800000"/>
            <a:headEnd/>
            <a:tailEnd/>
          </a:ln>
        </p:spPr>
        <p:txBody>
          <a:bodyPr wrap="square">
            <a:spAutoFit/>
          </a:bodyPr>
          <a:lstStyle/>
          <a:p>
            <a:pPr algn="ctr" eaLnBrk="0" hangingPunct="0"/>
            <a:r>
              <a:rPr lang="en-US" dirty="0"/>
              <a:t>One independent variable</a:t>
            </a:r>
          </a:p>
        </p:txBody>
      </p:sp>
      <p:sp>
        <p:nvSpPr>
          <p:cNvPr id="21" name="TextBox 3">
            <a:extLst>
              <a:ext uri="{FF2B5EF4-FFF2-40B4-BE49-F238E27FC236}">
                <a16:creationId xmlns:a16="http://schemas.microsoft.com/office/drawing/2014/main" id="{D3567F85-EB37-46AA-BC8B-946B75D070BC}"/>
              </a:ext>
            </a:extLst>
          </p:cNvPr>
          <p:cNvSpPr txBox="1">
            <a:spLocks noChangeArrowheads="1"/>
          </p:cNvSpPr>
          <p:nvPr/>
        </p:nvSpPr>
        <p:spPr bwMode="auto">
          <a:xfrm>
            <a:off x="5508676" y="2334789"/>
            <a:ext cx="1752600" cy="923330"/>
          </a:xfrm>
          <a:prstGeom prst="rect">
            <a:avLst/>
          </a:prstGeom>
          <a:noFill/>
          <a:ln w="9525">
            <a:noFill/>
            <a:miter lim="800000"/>
            <a:headEnd/>
            <a:tailEnd/>
          </a:ln>
        </p:spPr>
        <p:txBody>
          <a:bodyPr wrap="square">
            <a:spAutoFit/>
          </a:bodyPr>
          <a:lstStyle/>
          <a:p>
            <a:pPr algn="ctr" eaLnBrk="0" hangingPunct="0"/>
            <a:r>
              <a:rPr lang="en-US" dirty="0"/>
              <a:t>More than One independent variable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barn(inVertical)">
                                      <p:cBhvr>
                                        <p:cTn id="7" dur="500"/>
                                        <p:tgtEl>
                                          <p:spTgt spid="43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9" name="Rectangle 2"/>
          <p:cNvSpPr>
            <a:spLocks noGrp="1" noRot="1" noChangeArrowheads="1"/>
          </p:cNvSpPr>
          <p:nvPr>
            <p:ph type="title"/>
          </p:nvPr>
        </p:nvSpPr>
        <p:spPr>
          <a:xfrm>
            <a:off x="628650" y="381000"/>
            <a:ext cx="7886700" cy="598487"/>
          </a:xfrm>
        </p:spPr>
        <p:txBody>
          <a:bodyPr/>
          <a:lstStyle/>
          <a:p>
            <a:pPr algn="ctr" eaLnBrk="1" hangingPunct="1"/>
            <a:r>
              <a:rPr lang="en-US" sz="3000" b="1" dirty="0">
                <a:solidFill>
                  <a:srgbClr val="C00000"/>
                </a:solidFill>
              </a:rPr>
              <a:t>Types of Regression</a:t>
            </a:r>
          </a:p>
        </p:txBody>
      </p:sp>
      <p:sp>
        <p:nvSpPr>
          <p:cNvPr id="1030" name="Rectangle 3"/>
          <p:cNvSpPr>
            <a:spLocks noGrp="1" noChangeArrowheads="1"/>
          </p:cNvSpPr>
          <p:nvPr>
            <p:ph idx="1"/>
          </p:nvPr>
        </p:nvSpPr>
        <p:spPr>
          <a:xfrm>
            <a:off x="687724" y="1253331"/>
            <a:ext cx="7886700" cy="3928269"/>
          </a:xfrm>
        </p:spPr>
        <p:txBody>
          <a:bodyPr>
            <a:normAutofit lnSpcReduction="10000"/>
          </a:bodyPr>
          <a:lstStyle/>
          <a:p>
            <a:pPr algn="just" eaLnBrk="1" hangingPunct="1"/>
            <a:r>
              <a:rPr lang="en-US" dirty="0">
                <a:solidFill>
                  <a:srgbClr val="C00000"/>
                </a:solidFill>
              </a:rPr>
              <a:t>Simple linear regression</a:t>
            </a:r>
            <a:r>
              <a:rPr lang="en-US" dirty="0"/>
              <a:t> – refers to a regression model between two variables.</a:t>
            </a:r>
          </a:p>
          <a:p>
            <a:pPr algn="just" eaLnBrk="1" hangingPunct="1"/>
            <a:endParaRPr lang="en-US" dirty="0"/>
          </a:p>
          <a:p>
            <a:pPr algn="just" eaLnBrk="1" hangingPunct="1"/>
            <a:endParaRPr lang="en-US" dirty="0"/>
          </a:p>
          <a:p>
            <a:pPr algn="just" eaLnBrk="1" hangingPunct="1"/>
            <a:r>
              <a:rPr lang="en-US" dirty="0">
                <a:solidFill>
                  <a:srgbClr val="C00000"/>
                </a:solidFill>
              </a:rPr>
              <a:t>Multiple linear regression</a:t>
            </a:r>
            <a:r>
              <a:rPr lang="en-US" dirty="0"/>
              <a:t> – refers to a regression model on more than one independent variables.</a:t>
            </a:r>
          </a:p>
          <a:p>
            <a:pPr algn="just" eaLnBrk="1" hangingPunct="1"/>
            <a:endParaRPr lang="en-US" dirty="0"/>
          </a:p>
          <a:p>
            <a:pPr algn="just" eaLnBrk="1" hangingPunct="1"/>
            <a:endParaRPr lang="en-US" dirty="0"/>
          </a:p>
          <a:p>
            <a:pPr algn="just" eaLnBrk="1" hangingPunct="1"/>
            <a:r>
              <a:rPr lang="en-US" dirty="0">
                <a:solidFill>
                  <a:srgbClr val="C00000"/>
                </a:solidFill>
              </a:rPr>
              <a:t>Nonlinear regression</a:t>
            </a:r>
            <a:r>
              <a:rPr lang="en-US" dirty="0"/>
              <a:t>.</a:t>
            </a:r>
          </a:p>
          <a:p>
            <a:pPr algn="just" eaLnBrk="1" hangingPunct="1"/>
            <a:endParaRPr lang="en-US" dirty="0"/>
          </a:p>
          <a:p>
            <a:pPr algn="just" eaLnBrk="1" hangingPunct="1"/>
            <a:endParaRPr lang="en-US" dirty="0"/>
          </a:p>
        </p:txBody>
      </p:sp>
      <p:graphicFrame>
        <p:nvGraphicFramePr>
          <p:cNvPr id="1026" name="Object 4"/>
          <p:cNvGraphicFramePr>
            <a:graphicFrameLocks noChangeAspect="1"/>
          </p:cNvGraphicFramePr>
          <p:nvPr>
            <p:extLst>
              <p:ext uri="{D42A27DB-BD31-4B8C-83A1-F6EECF244321}">
                <p14:modId xmlns:p14="http://schemas.microsoft.com/office/powerpoint/2010/main" val="623243393"/>
              </p:ext>
            </p:extLst>
          </p:nvPr>
        </p:nvGraphicFramePr>
        <p:xfrm>
          <a:off x="1714502" y="2318296"/>
          <a:ext cx="2324098" cy="501104"/>
        </p:xfrm>
        <a:graphic>
          <a:graphicData uri="http://schemas.openxmlformats.org/presentationml/2006/ole">
            <mc:AlternateContent xmlns:mc="http://schemas.openxmlformats.org/markup-compatibility/2006">
              <mc:Choice xmlns:v="urn:schemas-microsoft-com:vml" Requires="v">
                <p:oleObj name="Equation" r:id="rId3" imgW="1104840" imgH="228600" progId="Equation.3">
                  <p:embed/>
                </p:oleObj>
              </mc:Choice>
              <mc:Fallback>
                <p:oleObj name="Equation" r:id="rId3" imgW="1104840" imgH="228600" progId="Equation.3">
                  <p:embed/>
                  <p:pic>
                    <p:nvPicPr>
                      <p:cNvPr id="0" name="Object 4"/>
                      <p:cNvPicPr>
                        <a:picLocks noChangeAspect="1" noChangeArrowheads="1"/>
                      </p:cNvPicPr>
                      <p:nvPr/>
                    </p:nvPicPr>
                    <p:blipFill>
                      <a:blip r:embed="rId4"/>
                      <a:srcRect/>
                      <a:stretch>
                        <a:fillRect/>
                      </a:stretch>
                    </p:blipFill>
                    <p:spPr bwMode="auto">
                      <a:xfrm>
                        <a:off x="1714502" y="2318296"/>
                        <a:ext cx="2324098" cy="501104"/>
                      </a:xfrm>
                      <a:prstGeom prst="rect">
                        <a:avLst/>
                      </a:prstGeom>
                      <a:noFill/>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67506117"/>
              </p:ext>
            </p:extLst>
          </p:nvPr>
        </p:nvGraphicFramePr>
        <p:xfrm>
          <a:off x="1600200" y="4072844"/>
          <a:ext cx="3415904" cy="344091"/>
        </p:xfrm>
        <a:graphic>
          <a:graphicData uri="http://schemas.openxmlformats.org/presentationml/2006/ole">
            <mc:AlternateContent xmlns:mc="http://schemas.openxmlformats.org/markup-compatibility/2006">
              <mc:Choice xmlns:v="urn:schemas-microsoft-com:vml" Requires="v">
                <p:oleObj name="Equation" r:id="rId5" imgW="2273040" imgH="228600" progId="Equation.3">
                  <p:embed/>
                </p:oleObj>
              </mc:Choice>
              <mc:Fallback>
                <p:oleObj name="Equation" r:id="rId5" imgW="2273040" imgH="228600" progId="Equation.3">
                  <p:embed/>
                  <p:pic>
                    <p:nvPicPr>
                      <p:cNvPr id="0" name="Object 4"/>
                      <p:cNvPicPr>
                        <a:picLocks noChangeAspect="1" noChangeArrowheads="1"/>
                      </p:cNvPicPr>
                      <p:nvPr/>
                    </p:nvPicPr>
                    <p:blipFill>
                      <a:blip r:embed="rId6"/>
                      <a:srcRect/>
                      <a:stretch>
                        <a:fillRect/>
                      </a:stretch>
                    </p:blipFill>
                    <p:spPr bwMode="auto">
                      <a:xfrm>
                        <a:off x="1600200" y="4072844"/>
                        <a:ext cx="3415904" cy="344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2351524265"/>
              </p:ext>
            </p:extLst>
          </p:nvPr>
        </p:nvGraphicFramePr>
        <p:xfrm>
          <a:off x="1714502" y="5407847"/>
          <a:ext cx="3086098" cy="688154"/>
        </p:xfrm>
        <a:graphic>
          <a:graphicData uri="http://schemas.openxmlformats.org/presentationml/2006/ole">
            <mc:AlternateContent xmlns:mc="http://schemas.openxmlformats.org/markup-compatibility/2006">
              <mc:Choice xmlns:v="urn:schemas-microsoft-com:vml" Requires="v">
                <p:oleObj name="Equation" r:id="rId7" imgW="1803240" imgH="431640" progId="Equation.3">
                  <p:embed/>
                </p:oleObj>
              </mc:Choice>
              <mc:Fallback>
                <p:oleObj name="Equation" r:id="rId7" imgW="1803240" imgH="431640" progId="Equation.3">
                  <p:embed/>
                  <p:pic>
                    <p:nvPicPr>
                      <p:cNvPr id="0" name=""/>
                      <p:cNvPicPr/>
                      <p:nvPr/>
                    </p:nvPicPr>
                    <p:blipFill>
                      <a:blip r:embed="rId8"/>
                      <a:stretch>
                        <a:fillRect/>
                      </a:stretch>
                    </p:blipFill>
                    <p:spPr>
                      <a:xfrm>
                        <a:off x="1714502" y="5407847"/>
                        <a:ext cx="3086098" cy="688154"/>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29"/>
                                        </p:tgtEl>
                                        <p:attrNameLst>
                                          <p:attrName>style.visibility</p:attrName>
                                        </p:attrNameLst>
                                      </p:cBhvr>
                                      <p:to>
                                        <p:strVal val="visible"/>
                                      </p:to>
                                    </p:set>
                                    <p:animEffect transition="in" filter="barn(inVertical)">
                                      <p:cBhvr>
                                        <p:cTn id="7" dur="500"/>
                                        <p:tgtEl>
                                          <p:spTgt spid="102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30">
                                            <p:txEl>
                                              <p:pRg st="0" end="0"/>
                                            </p:txEl>
                                          </p:spTgt>
                                        </p:tgtEl>
                                        <p:attrNameLst>
                                          <p:attrName>style.visibility</p:attrName>
                                        </p:attrNameLst>
                                      </p:cBhvr>
                                      <p:to>
                                        <p:strVal val="visible"/>
                                      </p:to>
                                    </p:set>
                                    <p:animEffect transition="in" filter="fade">
                                      <p:cBhvr>
                                        <p:cTn id="12" dur="1000"/>
                                        <p:tgtEl>
                                          <p:spTgt spid="1030">
                                            <p:txEl>
                                              <p:pRg st="0" end="0"/>
                                            </p:txEl>
                                          </p:spTgt>
                                        </p:tgtEl>
                                      </p:cBhvr>
                                    </p:animEffect>
                                    <p:anim calcmode="lin" valueType="num">
                                      <p:cBhvr>
                                        <p:cTn id="13" dur="1000" fill="hold"/>
                                        <p:tgtEl>
                                          <p:spTgt spid="103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03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1000"/>
                                        <p:tgtEl>
                                          <p:spTgt spid="1026"/>
                                        </p:tgtEl>
                                      </p:cBhvr>
                                    </p:animEffect>
                                    <p:anim calcmode="lin" valueType="num">
                                      <p:cBhvr>
                                        <p:cTn id="20" dur="1000" fill="hold"/>
                                        <p:tgtEl>
                                          <p:spTgt spid="1026"/>
                                        </p:tgtEl>
                                        <p:attrNameLst>
                                          <p:attrName>ppt_x</p:attrName>
                                        </p:attrNameLst>
                                      </p:cBhvr>
                                      <p:tavLst>
                                        <p:tav tm="0">
                                          <p:val>
                                            <p:strVal val="#ppt_x"/>
                                          </p:val>
                                        </p:tav>
                                        <p:tav tm="100000">
                                          <p:val>
                                            <p:strVal val="#ppt_x"/>
                                          </p:val>
                                        </p:tav>
                                      </p:tavLst>
                                    </p:anim>
                                    <p:anim calcmode="lin" valueType="num">
                                      <p:cBhvr>
                                        <p:cTn id="21"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30">
                                            <p:txEl>
                                              <p:pRg st="3" end="3"/>
                                            </p:txEl>
                                          </p:spTgt>
                                        </p:tgtEl>
                                        <p:attrNameLst>
                                          <p:attrName>style.visibility</p:attrName>
                                        </p:attrNameLst>
                                      </p:cBhvr>
                                      <p:to>
                                        <p:strVal val="visible"/>
                                      </p:to>
                                    </p:set>
                                    <p:animEffect transition="in" filter="fade">
                                      <p:cBhvr>
                                        <p:cTn id="26" dur="1000"/>
                                        <p:tgtEl>
                                          <p:spTgt spid="1030">
                                            <p:txEl>
                                              <p:pRg st="3" end="3"/>
                                            </p:txEl>
                                          </p:spTgt>
                                        </p:tgtEl>
                                      </p:cBhvr>
                                    </p:animEffect>
                                    <p:anim calcmode="lin" valueType="num">
                                      <p:cBhvr>
                                        <p:cTn id="27" dur="1000" fill="hold"/>
                                        <p:tgtEl>
                                          <p:spTgt spid="1030">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03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030">
                                            <p:txEl>
                                              <p:pRg st="6" end="6"/>
                                            </p:txEl>
                                          </p:spTgt>
                                        </p:tgtEl>
                                        <p:attrNameLst>
                                          <p:attrName>style.visibility</p:attrName>
                                        </p:attrNameLst>
                                      </p:cBhvr>
                                      <p:to>
                                        <p:strVal val="visible"/>
                                      </p:to>
                                    </p:set>
                                    <p:animEffect transition="in" filter="fade">
                                      <p:cBhvr>
                                        <p:cTn id="40" dur="1000"/>
                                        <p:tgtEl>
                                          <p:spTgt spid="1030">
                                            <p:txEl>
                                              <p:pRg st="6" end="6"/>
                                            </p:txEl>
                                          </p:spTgt>
                                        </p:tgtEl>
                                      </p:cBhvr>
                                    </p:animEffect>
                                    <p:anim calcmode="lin" valueType="num">
                                      <p:cBhvr>
                                        <p:cTn id="41" dur="1000" fill="hold"/>
                                        <p:tgtEl>
                                          <p:spTgt spid="1030">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103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1000"/>
                                        <p:tgtEl>
                                          <p:spTgt spid="3"/>
                                        </p:tgtEl>
                                      </p:cBhvr>
                                    </p:animEffect>
                                    <p:anim calcmode="lin" valueType="num">
                                      <p:cBhvr>
                                        <p:cTn id="48" dur="1000" fill="hold"/>
                                        <p:tgtEl>
                                          <p:spTgt spid="3"/>
                                        </p:tgtEl>
                                        <p:attrNameLst>
                                          <p:attrName>ppt_x</p:attrName>
                                        </p:attrNameLst>
                                      </p:cBhvr>
                                      <p:tavLst>
                                        <p:tav tm="0">
                                          <p:val>
                                            <p:strVal val="#ppt_x"/>
                                          </p:val>
                                        </p:tav>
                                        <p:tav tm="100000">
                                          <p:val>
                                            <p:strVal val="#ppt_x"/>
                                          </p:val>
                                        </p:tav>
                                      </p:tavLst>
                                    </p:anim>
                                    <p:anim calcmode="lin" valueType="num">
                                      <p:cBhvr>
                                        <p:cTn id="4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1" name="Title 1"/>
          <p:cNvSpPr>
            <a:spLocks noGrp="1"/>
          </p:cNvSpPr>
          <p:nvPr>
            <p:ph type="title"/>
          </p:nvPr>
        </p:nvSpPr>
        <p:spPr>
          <a:xfrm>
            <a:off x="628650" y="533400"/>
            <a:ext cx="7886700" cy="533401"/>
          </a:xfrm>
        </p:spPr>
        <p:txBody>
          <a:bodyPr>
            <a:normAutofit/>
          </a:bodyPr>
          <a:lstStyle/>
          <a:p>
            <a:pPr eaLnBrk="1" hangingPunct="1"/>
            <a:r>
              <a:rPr lang="en-US" sz="3200" b="1" dirty="0">
                <a:solidFill>
                  <a:srgbClr val="C00000"/>
                </a:solidFill>
              </a:rPr>
              <a:t>Linear Regression</a:t>
            </a:r>
          </a:p>
        </p:txBody>
      </p:sp>
      <p:sp>
        <p:nvSpPr>
          <p:cNvPr id="2052" name="Content Placeholder 2"/>
          <p:cNvSpPr>
            <a:spLocks noGrp="1"/>
          </p:cNvSpPr>
          <p:nvPr>
            <p:ph idx="1"/>
          </p:nvPr>
        </p:nvSpPr>
        <p:spPr>
          <a:xfrm>
            <a:off x="628650" y="1066801"/>
            <a:ext cx="7886700" cy="2971799"/>
          </a:xfrm>
        </p:spPr>
        <p:txBody>
          <a:bodyPr>
            <a:normAutofit/>
          </a:bodyPr>
          <a:lstStyle/>
          <a:p>
            <a:pPr algn="just" eaLnBrk="1" hangingPunct="1"/>
            <a:endParaRPr lang="en-US" dirty="0"/>
          </a:p>
          <a:p>
            <a:pPr algn="just" eaLnBrk="1" hangingPunct="1"/>
            <a:r>
              <a:rPr lang="en-US" dirty="0"/>
              <a:t>Linear regression stands for a function that is linear in regression coefficients.</a:t>
            </a:r>
          </a:p>
          <a:p>
            <a:pPr algn="just" eaLnBrk="1" hangingPunct="1"/>
            <a:endParaRPr lang="en-US" dirty="0"/>
          </a:p>
          <a:p>
            <a:pPr algn="just" eaLnBrk="1" hangingPunct="1"/>
            <a:r>
              <a:rPr lang="en-US" dirty="0"/>
              <a:t>The following equation will  be treated as linear as far as regression is concerned. </a:t>
            </a:r>
          </a:p>
          <a:p>
            <a:pPr algn="just" eaLnBrk="1" hangingPunct="1"/>
            <a:endParaRPr lang="en-US" dirty="0"/>
          </a:p>
        </p:txBody>
      </p:sp>
      <p:graphicFrame>
        <p:nvGraphicFramePr>
          <p:cNvPr id="2050" name="Object 4"/>
          <p:cNvGraphicFramePr>
            <a:graphicFrameLocks noChangeAspect="1"/>
          </p:cNvGraphicFramePr>
          <p:nvPr>
            <p:extLst>
              <p:ext uri="{D42A27DB-BD31-4B8C-83A1-F6EECF244321}">
                <p14:modId xmlns:p14="http://schemas.microsoft.com/office/powerpoint/2010/main" val="1255689900"/>
              </p:ext>
            </p:extLst>
          </p:nvPr>
        </p:nvGraphicFramePr>
        <p:xfrm>
          <a:off x="1925638" y="4383088"/>
          <a:ext cx="3767137" cy="509587"/>
        </p:xfrm>
        <a:graphic>
          <a:graphicData uri="http://schemas.openxmlformats.org/presentationml/2006/ole">
            <mc:AlternateContent xmlns:mc="http://schemas.openxmlformats.org/markup-compatibility/2006">
              <mc:Choice xmlns:v="urn:schemas-microsoft-com:vml" Requires="v">
                <p:oleObj name="Equation" r:id="rId2" imgW="1955520" imgH="241200" progId="Equation.DSMT4">
                  <p:embed/>
                </p:oleObj>
              </mc:Choice>
              <mc:Fallback>
                <p:oleObj name="Equation" r:id="rId2" imgW="1955520" imgH="241200" progId="Equation.DSMT4">
                  <p:embed/>
                  <p:pic>
                    <p:nvPicPr>
                      <p:cNvPr id="0" name="Object 4"/>
                      <p:cNvPicPr>
                        <a:picLocks noChangeAspect="1" noChangeArrowheads="1"/>
                      </p:cNvPicPr>
                      <p:nvPr/>
                    </p:nvPicPr>
                    <p:blipFill>
                      <a:blip r:embed="rId3"/>
                      <a:srcRect/>
                      <a:stretch>
                        <a:fillRect/>
                      </a:stretch>
                    </p:blipFill>
                    <p:spPr bwMode="auto">
                      <a:xfrm>
                        <a:off x="1925638" y="4383088"/>
                        <a:ext cx="3767137" cy="509587"/>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barn(inVertical)">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052">
                                            <p:txEl>
                                              <p:pRg st="1" end="1"/>
                                            </p:txEl>
                                          </p:spTgt>
                                        </p:tgtEl>
                                        <p:attrNameLst>
                                          <p:attrName>style.visibility</p:attrName>
                                        </p:attrNameLst>
                                      </p:cBhvr>
                                      <p:to>
                                        <p:strVal val="visible"/>
                                      </p:to>
                                    </p:set>
                                    <p:animEffect transition="in" filter="fade">
                                      <p:cBhvr>
                                        <p:cTn id="12" dur="1000"/>
                                        <p:tgtEl>
                                          <p:spTgt spid="2052">
                                            <p:txEl>
                                              <p:pRg st="1" end="1"/>
                                            </p:txEl>
                                          </p:spTgt>
                                        </p:tgtEl>
                                      </p:cBhvr>
                                    </p:animEffect>
                                    <p:anim calcmode="lin" valueType="num">
                                      <p:cBhvr>
                                        <p:cTn id="13" dur="1000" fill="hold"/>
                                        <p:tgtEl>
                                          <p:spTgt spid="205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05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52">
                                            <p:txEl>
                                              <p:pRg st="3" end="3"/>
                                            </p:txEl>
                                          </p:spTgt>
                                        </p:tgtEl>
                                        <p:attrNameLst>
                                          <p:attrName>style.visibility</p:attrName>
                                        </p:attrNameLst>
                                      </p:cBhvr>
                                      <p:to>
                                        <p:strVal val="visible"/>
                                      </p:to>
                                    </p:set>
                                    <p:animEffect transition="in" filter="fade">
                                      <p:cBhvr>
                                        <p:cTn id="19" dur="1000"/>
                                        <p:tgtEl>
                                          <p:spTgt spid="2052">
                                            <p:txEl>
                                              <p:pRg st="3" end="3"/>
                                            </p:txEl>
                                          </p:spTgt>
                                        </p:tgtEl>
                                      </p:cBhvr>
                                    </p:animEffect>
                                    <p:anim calcmode="lin" valueType="num">
                                      <p:cBhvr>
                                        <p:cTn id="20" dur="1000" fill="hold"/>
                                        <p:tgtEl>
                                          <p:spTgt spid="205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05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050"/>
                                        </p:tgtEl>
                                        <p:attrNameLst>
                                          <p:attrName>style.visibility</p:attrName>
                                        </p:attrNameLst>
                                      </p:cBhvr>
                                      <p:to>
                                        <p:strVal val="visible"/>
                                      </p:to>
                                    </p:set>
                                    <p:animEffect transition="in" filter="fade">
                                      <p:cBhvr>
                                        <p:cTn id="26" dur="1000"/>
                                        <p:tgtEl>
                                          <p:spTgt spid="2050"/>
                                        </p:tgtEl>
                                      </p:cBhvr>
                                    </p:animEffect>
                                    <p:anim calcmode="lin" valueType="num">
                                      <p:cBhvr>
                                        <p:cTn id="27" dur="1000" fill="hold"/>
                                        <p:tgtEl>
                                          <p:spTgt spid="2050"/>
                                        </p:tgtEl>
                                        <p:attrNameLst>
                                          <p:attrName>ppt_x</p:attrName>
                                        </p:attrNameLst>
                                      </p:cBhvr>
                                      <p:tavLst>
                                        <p:tav tm="0">
                                          <p:val>
                                            <p:strVal val="#ppt_x"/>
                                          </p:val>
                                        </p:tav>
                                        <p:tav tm="100000">
                                          <p:val>
                                            <p:strVal val="#ppt_x"/>
                                          </p:val>
                                        </p:tav>
                                      </p:tavLst>
                                    </p:anim>
                                    <p:anim calcmode="lin" valueType="num">
                                      <p:cBhvr>
                                        <p:cTn id="28"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p:bldP spid="2052"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p:cNvSpPr>
            <a:spLocks noGrp="1" noRot="1" noChangeArrowheads="1"/>
          </p:cNvSpPr>
          <p:nvPr>
            <p:ph type="title"/>
          </p:nvPr>
        </p:nvSpPr>
        <p:spPr>
          <a:xfrm>
            <a:off x="1295400" y="2590800"/>
            <a:ext cx="7010400" cy="1066800"/>
          </a:xfrm>
        </p:spPr>
        <p:txBody>
          <a:bodyPr>
            <a:noAutofit/>
          </a:bodyPr>
          <a:lstStyle/>
          <a:p>
            <a:pPr algn="r" eaLnBrk="1" hangingPunct="1"/>
            <a:r>
              <a:rPr lang="en-US" sz="3200" b="1" dirty="0">
                <a:solidFill>
                  <a:srgbClr val="C00000"/>
                </a:solidFill>
              </a:rPr>
              <a:t>Regression Model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barn(inVertical)">
                                      <p:cBhvr>
                                        <p:cTn id="7" dur="500"/>
                                        <p:tgtEl>
                                          <p:spTgt spid="45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EA54FB-E72F-4761-B62A-CB23C3A838AC}"/>
              </a:ext>
            </a:extLst>
          </p:cNvPr>
          <p:cNvSpPr>
            <a:spLocks noGrp="1"/>
          </p:cNvSpPr>
          <p:nvPr>
            <p:ph type="title"/>
          </p:nvPr>
        </p:nvSpPr>
        <p:spPr>
          <a:xfrm>
            <a:off x="628650" y="365127"/>
            <a:ext cx="8134350" cy="701674"/>
          </a:xfrm>
        </p:spPr>
        <p:txBody>
          <a:bodyPr>
            <a:noAutofit/>
          </a:bodyPr>
          <a:lstStyle/>
          <a:p>
            <a:br>
              <a:rPr lang="en-GB" sz="2800" b="1" dirty="0">
                <a:solidFill>
                  <a:srgbClr val="C00000"/>
                </a:solidFill>
              </a:rPr>
            </a:br>
            <a:r>
              <a:rPr lang="en-GB" sz="2800" b="1" dirty="0">
                <a:solidFill>
                  <a:srgbClr val="C00000"/>
                </a:solidFill>
              </a:rPr>
              <a:t>Simple Linear Regression Model Building</a:t>
            </a:r>
            <a:br>
              <a:rPr lang="en-IN" sz="2800" dirty="0"/>
            </a:br>
            <a:endParaRPr lang="en-IN" sz="2800" dirty="0"/>
          </a:p>
        </p:txBody>
      </p:sp>
      <p:sp>
        <p:nvSpPr>
          <p:cNvPr id="6" name="TextBox 5">
            <a:extLst>
              <a:ext uri="{FF2B5EF4-FFF2-40B4-BE49-F238E27FC236}">
                <a16:creationId xmlns:a16="http://schemas.microsoft.com/office/drawing/2014/main" id="{FBCF9925-0F06-4258-8212-AD58792920C6}"/>
              </a:ext>
            </a:extLst>
          </p:cNvPr>
          <p:cNvSpPr txBox="1"/>
          <p:nvPr/>
        </p:nvSpPr>
        <p:spPr>
          <a:xfrm>
            <a:off x="504825" y="1219200"/>
            <a:ext cx="8134350" cy="5016758"/>
          </a:xfrm>
          <a:prstGeom prst="rect">
            <a:avLst/>
          </a:prstGeom>
          <a:noFill/>
        </p:spPr>
        <p:txBody>
          <a:bodyPr wrap="square" rtlCol="0">
            <a:spAutoFit/>
          </a:bodyPr>
          <a:lstStyle/>
          <a:p>
            <a:r>
              <a:rPr lang="en-GB" sz="2000" dirty="0">
                <a:latin typeface="+mn-lt"/>
              </a:rPr>
              <a:t>A simple linear regression model is developed to understand how the value of a KPI is associated with changes in the values of an independent variable.  </a:t>
            </a:r>
          </a:p>
          <a:p>
            <a:endParaRPr lang="en-GB" sz="2000" dirty="0">
              <a:latin typeface="+mn-lt"/>
            </a:endParaRPr>
          </a:p>
          <a:p>
            <a:r>
              <a:rPr lang="en-GB" sz="2000" dirty="0">
                <a:latin typeface="+mn-lt"/>
              </a:rPr>
              <a:t>Some examples are as follows:</a:t>
            </a:r>
          </a:p>
          <a:p>
            <a:endParaRPr lang="en-IN" sz="2000" dirty="0">
              <a:latin typeface="+mn-lt"/>
            </a:endParaRPr>
          </a:p>
          <a:p>
            <a:pPr marL="257175" indent="-257175">
              <a:buFont typeface="+mj-lt"/>
              <a:buAutoNum type="arabicPeriod"/>
            </a:pPr>
            <a:r>
              <a:rPr lang="en-GB" sz="2000" dirty="0">
                <a:latin typeface="+mn-lt"/>
              </a:rPr>
              <a:t>A hospital may be interested in finding how the total treatment cost of a patient varies with the body weight of the patient.</a:t>
            </a:r>
          </a:p>
          <a:p>
            <a:pPr marL="257175" indent="-257175">
              <a:buFont typeface="+mj-lt"/>
              <a:buAutoNum type="arabicPeriod"/>
            </a:pPr>
            <a:r>
              <a:rPr lang="en-GB" sz="2000" dirty="0">
                <a:latin typeface="+mn-lt"/>
              </a:rPr>
              <a:t>E-commerce companies such as Amazon, </a:t>
            </a:r>
            <a:r>
              <a:rPr lang="en-GB" sz="2000" dirty="0" err="1">
                <a:latin typeface="+mn-lt"/>
              </a:rPr>
              <a:t>Bigbasket</a:t>
            </a:r>
            <a:r>
              <a:rPr lang="en-GB" sz="2000" dirty="0">
                <a:latin typeface="+mn-lt"/>
              </a:rPr>
              <a:t> and Flipkart would like to understand the number of customer visits to their portal and the revenue.</a:t>
            </a:r>
            <a:endParaRPr lang="en-IN" sz="2000" dirty="0">
              <a:latin typeface="+mn-lt"/>
            </a:endParaRPr>
          </a:p>
          <a:p>
            <a:pPr marL="257175" indent="-257175">
              <a:buFont typeface="+mj-lt"/>
              <a:buAutoNum type="arabicPeriod"/>
            </a:pPr>
            <a:r>
              <a:rPr lang="en-GB" sz="2000" dirty="0">
                <a:latin typeface="+mn-lt"/>
              </a:rPr>
              <a:t>Retailers such as Walmart, Target, Reliance Retail, Hyper City, etc. would be interested in understanding the impact of price cut promotions on the revenue of their private labels (store brands or house brands).</a:t>
            </a:r>
            <a:endParaRPr lang="en-IN" sz="2000" dirty="0">
              <a:latin typeface="+mn-lt"/>
            </a:endParaRPr>
          </a:p>
          <a:p>
            <a:pPr marL="257175" indent="-257175">
              <a:buFont typeface="+mj-lt"/>
              <a:buAutoNum type="arabicPeriod"/>
            </a:pPr>
            <a:r>
              <a:rPr lang="en-GB" sz="2000" dirty="0">
                <a:latin typeface="+mn-lt"/>
              </a:rPr>
              <a:t>Original equipment manufacturers (OEMs) would like to know the impact of duration of warranty on the profit.</a:t>
            </a:r>
            <a:endParaRPr lang="en-IN" sz="2000" dirty="0">
              <a:latin typeface="+mn-lt"/>
            </a:endParaRPr>
          </a:p>
          <a:p>
            <a:endParaRPr lang="en-IN" sz="2000" dirty="0">
              <a:latin typeface="+mn-lt"/>
            </a:endParaRPr>
          </a:p>
        </p:txBody>
      </p:sp>
    </p:spTree>
    <p:extLst>
      <p:ext uri="{BB962C8B-B14F-4D97-AF65-F5344CB8AC3E}">
        <p14:creationId xmlns:p14="http://schemas.microsoft.com/office/powerpoint/2010/main" val="74243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72233-CE95-453C-9E29-7CB5A7D9CCE1}"/>
              </a:ext>
            </a:extLst>
          </p:cNvPr>
          <p:cNvSpPr>
            <a:spLocks noGrp="1"/>
          </p:cNvSpPr>
          <p:nvPr>
            <p:ph type="title"/>
          </p:nvPr>
        </p:nvSpPr>
        <p:spPr>
          <a:xfrm>
            <a:off x="628650" y="365127"/>
            <a:ext cx="7886700" cy="701674"/>
          </a:xfrm>
        </p:spPr>
        <p:txBody>
          <a:bodyPr>
            <a:normAutofit fontScale="90000"/>
          </a:bodyPr>
          <a:lstStyle/>
          <a:p>
            <a:r>
              <a:rPr lang="en-GB" sz="3200" b="1" dirty="0">
                <a:solidFill>
                  <a:srgbClr val="C00000"/>
                </a:solidFill>
              </a:rPr>
              <a:t>Framework for SLR model development</a:t>
            </a:r>
            <a:endParaRPr lang="en-IN" sz="3200" b="1" dirty="0">
              <a:solidFill>
                <a:srgbClr val="C00000"/>
              </a:solidFill>
            </a:endParaRPr>
          </a:p>
        </p:txBody>
      </p:sp>
      <p:pic>
        <p:nvPicPr>
          <p:cNvPr id="6" name="Content Placeholder 5">
            <a:extLst>
              <a:ext uri="{FF2B5EF4-FFF2-40B4-BE49-F238E27FC236}">
                <a16:creationId xmlns:a16="http://schemas.microsoft.com/office/drawing/2014/main" id="{8514519C-4494-4A9A-8A97-EE2265E73194}"/>
              </a:ext>
            </a:extLst>
          </p:cNvPr>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bwMode="auto">
          <a:xfrm>
            <a:off x="628650" y="1466100"/>
            <a:ext cx="7886700" cy="4172699"/>
          </a:xfrm>
          <a:prstGeom prst="rect">
            <a:avLst/>
          </a:prstGeom>
          <a:noFill/>
          <a:effectLst>
            <a:glow rad="63500">
              <a:schemeClr val="accent6">
                <a:satMod val="175000"/>
                <a:alpha val="40000"/>
              </a:schemeClr>
            </a:glow>
            <a:outerShdw blurRad="50800" dist="38100" dir="8100000" algn="tr" rotWithShape="0">
              <a:prstClr val="black">
                <a:alpha val="4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2E2387-5EDC-41EF-BC16-1E1FB0040E49}"/>
              </a:ext>
            </a:extLst>
          </p:cNvPr>
          <p:cNvSpPr>
            <a:spLocks noGrp="1"/>
          </p:cNvSpPr>
          <p:nvPr>
            <p:ph type="title"/>
          </p:nvPr>
        </p:nvSpPr>
        <p:spPr>
          <a:xfrm>
            <a:off x="628650" y="381000"/>
            <a:ext cx="8058150" cy="625473"/>
          </a:xfrm>
        </p:spPr>
        <p:txBody>
          <a:bodyPr>
            <a:normAutofit/>
          </a:bodyPr>
          <a:lstStyle/>
          <a:p>
            <a:pPr algn="just"/>
            <a:r>
              <a:rPr lang="en-GB" sz="3200" b="1" dirty="0">
                <a:solidFill>
                  <a:srgbClr val="C00000"/>
                </a:solidFill>
              </a:rPr>
              <a:t>Regression model building STEPS </a:t>
            </a:r>
            <a:endParaRPr lang="en-IN" sz="6600" b="1" dirty="0">
              <a:solidFill>
                <a:srgbClr val="C00000"/>
              </a:solidFill>
            </a:endParaRPr>
          </a:p>
        </p:txBody>
      </p:sp>
      <p:sp>
        <p:nvSpPr>
          <p:cNvPr id="4" name="Subtitle 3">
            <a:extLst>
              <a:ext uri="{FF2B5EF4-FFF2-40B4-BE49-F238E27FC236}">
                <a16:creationId xmlns:a16="http://schemas.microsoft.com/office/drawing/2014/main" id="{4FD4EC40-ED53-4BA3-B705-FC7A8B984248}"/>
              </a:ext>
            </a:extLst>
          </p:cNvPr>
          <p:cNvSpPr>
            <a:spLocks noGrp="1"/>
          </p:cNvSpPr>
          <p:nvPr>
            <p:ph idx="1"/>
          </p:nvPr>
        </p:nvSpPr>
        <p:spPr>
          <a:xfrm>
            <a:off x="533400" y="1143000"/>
            <a:ext cx="8153400" cy="4918870"/>
          </a:xfrm>
        </p:spPr>
        <p:txBody>
          <a:bodyPr>
            <a:noAutofit/>
          </a:bodyPr>
          <a:lstStyle/>
          <a:p>
            <a:pPr marL="0" indent="0" algn="just">
              <a:buNone/>
            </a:pPr>
            <a:r>
              <a:rPr lang="en-GB" sz="2400" b="1" dirty="0">
                <a:solidFill>
                  <a:srgbClr val="0070C0"/>
                </a:solidFill>
                <a:ea typeface="+mj-ea"/>
                <a:cs typeface="+mj-cs"/>
              </a:rPr>
              <a:t>Step 1: Collect/Extract Data</a:t>
            </a:r>
          </a:p>
          <a:p>
            <a:pPr algn="just"/>
            <a:r>
              <a:rPr lang="en-GB" sz="2000" dirty="0">
                <a:ea typeface="+mj-ea"/>
                <a:cs typeface="+mj-cs"/>
              </a:rPr>
              <a:t>The first step in building a regression model is to collect and/or extract data from different sources for the identified problem (or KPI). Data collection, however can be time-consuming and expensive. </a:t>
            </a:r>
          </a:p>
          <a:p>
            <a:pPr marL="214313" indent="-214313" algn="just">
              <a:buFont typeface="Arial" panose="020B0604020202020204" pitchFamily="34" charset="0"/>
              <a:buChar char="•"/>
            </a:pPr>
            <a:r>
              <a:rPr lang="en-GB" sz="2000" dirty="0">
                <a:ea typeface="+mj-ea"/>
                <a:cs typeface="+mj-cs"/>
              </a:rPr>
              <a:t>Since ERP (enterprise resource planning) systems that are used for collecting and storing the data are not designed for analytics applications (which is probably changing in the recent past), data extraction from the ERP systems becomes a time-consuming process.  </a:t>
            </a:r>
            <a:endParaRPr lang="en-IN" sz="2000" dirty="0">
              <a:ea typeface="+mj-ea"/>
              <a:cs typeface="+mj-cs"/>
            </a:endParaRPr>
          </a:p>
          <a:p>
            <a:pPr marL="214313" indent="-214313" algn="just">
              <a:buFont typeface="Arial" panose="020B0604020202020204" pitchFamily="34" charset="0"/>
              <a:buChar char="•"/>
            </a:pPr>
            <a:r>
              <a:rPr lang="en-GB" sz="2000" dirty="0">
                <a:ea typeface="+mj-ea"/>
                <a:cs typeface="+mj-cs"/>
              </a:rPr>
              <a:t>Another issue with data collection is that it can be expensive. For example, let us assume that a modeller believes that the amount spent by a customer in a retail store would be dependent on the customer’s income. However, not many customers may like to reveal their income, thus making it difficult and expensive to collect the required data.   In general, data that is seen as too personal may be difficult to collect and verify. Also regulations across many countries forbid collecting/sharing sensitive personal information.</a:t>
            </a:r>
            <a:endParaRPr lang="en-IN" sz="2000" dirty="0">
              <a:ea typeface="+mj-ea"/>
              <a:cs typeface="+mj-cs"/>
            </a:endParaRPr>
          </a:p>
          <a:p>
            <a:pPr algn="l"/>
            <a:endParaRPr lang="en-IN" sz="2000" dirty="0">
              <a:ea typeface="+mj-ea"/>
              <a:cs typeface="+mj-cs"/>
            </a:endParaRPr>
          </a:p>
          <a:p>
            <a:pPr algn="l"/>
            <a:endParaRPr lang="en-GB" sz="2000" dirty="0">
              <a:ea typeface="+mj-ea"/>
              <a:cs typeface="+mj-cs"/>
            </a:endParaRPr>
          </a:p>
          <a:p>
            <a:pPr algn="l"/>
            <a:endParaRPr lang="en-IN" sz="2000" dirty="0">
              <a:ea typeface="+mj-ea"/>
              <a:cs typeface="+mj-cs"/>
            </a:endParaRPr>
          </a:p>
          <a:p>
            <a:endParaRPr lang="en-I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1000"/>
                                        <p:tgtEl>
                                          <p:spTgt spid="4">
                                            <p:txEl>
                                              <p:pRg st="1" end="1"/>
                                            </p:txEl>
                                          </p:spTgt>
                                        </p:tgtEl>
                                      </p:cBhvr>
                                    </p:animEffect>
                                    <p:anim calcmode="lin" valueType="num">
                                      <p:cBhvr>
                                        <p:cTn id="2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1000"/>
                                        <p:tgtEl>
                                          <p:spTgt spid="4">
                                            <p:txEl>
                                              <p:pRg st="2" end="2"/>
                                            </p:txEl>
                                          </p:spTgt>
                                        </p:tgtEl>
                                      </p:cBhvr>
                                    </p:animEffect>
                                    <p:anim calcmode="lin" valueType="num">
                                      <p:cBhvr>
                                        <p:cTn id="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Effect transition="in" filter="fade">
                                      <p:cBhvr>
                                        <p:cTn id="33" dur="1000"/>
                                        <p:tgtEl>
                                          <p:spTgt spid="4">
                                            <p:txEl>
                                              <p:pRg st="3" end="3"/>
                                            </p:txEl>
                                          </p:spTgt>
                                        </p:tgtEl>
                                      </p:cBhvr>
                                    </p:animEffect>
                                    <p:anim calcmode="lin" valueType="num">
                                      <p:cBhvr>
                                        <p:cTn id="3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34F2CAC-3A71-4A00-944B-525027A084E4}"/>
              </a:ext>
            </a:extLst>
          </p:cNvPr>
          <p:cNvSpPr>
            <a:spLocks noGrp="1"/>
          </p:cNvSpPr>
          <p:nvPr>
            <p:ph idx="4294967295"/>
          </p:nvPr>
        </p:nvSpPr>
        <p:spPr>
          <a:xfrm>
            <a:off x="571500" y="762000"/>
            <a:ext cx="8001000" cy="5334000"/>
          </a:xfrm>
        </p:spPr>
        <p:txBody>
          <a:bodyPr>
            <a:normAutofit/>
          </a:bodyPr>
          <a:lstStyle/>
          <a:p>
            <a:pPr marL="0" indent="0" algn="just">
              <a:buNone/>
            </a:pPr>
            <a:r>
              <a:rPr lang="en-GB" sz="2400" b="1" dirty="0">
                <a:solidFill>
                  <a:srgbClr val="0070C0"/>
                </a:solidFill>
              </a:rPr>
              <a:t>Step 2:  Pre-process the Data</a:t>
            </a:r>
          </a:p>
          <a:p>
            <a:pPr marL="0" indent="0" algn="just">
              <a:buNone/>
            </a:pPr>
            <a:r>
              <a:rPr lang="en-GB" sz="2400" dirty="0"/>
              <a:t>Pre-processing the data is an important stage in the regression model building and is required for many reasons. For example, Francis Galton multiplied the height of every female by 1.08 to make it comparable to the heights of males (Hanley, 2004). </a:t>
            </a:r>
            <a:endParaRPr lang="en-IN" sz="2400" dirty="0"/>
          </a:p>
          <a:p>
            <a:pPr marL="0" indent="0" algn="just">
              <a:buNone/>
            </a:pPr>
            <a:r>
              <a:rPr lang="en-GB" sz="2400" dirty="0"/>
              <a:t>An important aspect of data pre-processing is that the modeller has to decide how he/she would use the data in the model building. Many new variables (such as ratio of variables or product of variables) can be derived and can be used in model building.</a:t>
            </a:r>
          </a:p>
          <a:p>
            <a:pPr marL="0" indent="0" algn="just">
              <a:buNone/>
            </a:pPr>
            <a:r>
              <a:rPr lang="en-GB" sz="2400" dirty="0"/>
              <a:t>Categorical variables (Qualitative variables or nominal scale variables) in the dataset cannot be used directly in the model since it can create model misspecification.</a:t>
            </a:r>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1000"/>
                                        <p:tgtEl>
                                          <p:spTgt spid="5">
                                            <p:txEl>
                                              <p:pRg st="3" end="3"/>
                                            </p:txEl>
                                          </p:spTgt>
                                        </p:tgtEl>
                                      </p:cBhvr>
                                    </p:animEffect>
                                    <p:anim calcmode="lin" valueType="num">
                                      <p:cBhvr>
                                        <p:cTn id="2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EB20CC-BEE4-4EC7-AE99-89C5CFA04FEE}"/>
              </a:ext>
            </a:extLst>
          </p:cNvPr>
          <p:cNvSpPr>
            <a:spLocks noGrp="1"/>
          </p:cNvSpPr>
          <p:nvPr>
            <p:ph idx="4294967295"/>
          </p:nvPr>
        </p:nvSpPr>
        <p:spPr>
          <a:xfrm>
            <a:off x="347002" y="463795"/>
            <a:ext cx="8458200" cy="609599"/>
          </a:xfrm>
        </p:spPr>
        <p:txBody>
          <a:bodyPr>
            <a:noAutofit/>
          </a:bodyPr>
          <a:lstStyle/>
          <a:p>
            <a:pPr marL="0" indent="0">
              <a:buNone/>
            </a:pPr>
            <a:r>
              <a:rPr lang="en-GB" sz="2200" b="1" dirty="0">
                <a:solidFill>
                  <a:srgbClr val="0070C0"/>
                </a:solidFill>
                <a:latin typeface="+mj-lt"/>
              </a:rPr>
              <a:t>Step 3: Divide the Data into Training and Validation Data Sets</a:t>
            </a:r>
          </a:p>
        </p:txBody>
      </p:sp>
      <p:sp>
        <p:nvSpPr>
          <p:cNvPr id="2" name="TextBox 1">
            <a:extLst>
              <a:ext uri="{FF2B5EF4-FFF2-40B4-BE49-F238E27FC236}">
                <a16:creationId xmlns:a16="http://schemas.microsoft.com/office/drawing/2014/main" id="{EAA33C21-3842-4A91-A201-7FCB89F2FEED}"/>
              </a:ext>
            </a:extLst>
          </p:cNvPr>
          <p:cNvSpPr txBox="1"/>
          <p:nvPr/>
        </p:nvSpPr>
        <p:spPr>
          <a:xfrm>
            <a:off x="336451" y="1212601"/>
            <a:ext cx="8382000" cy="3046988"/>
          </a:xfrm>
          <a:prstGeom prst="rect">
            <a:avLst/>
          </a:prstGeom>
          <a:noFill/>
        </p:spPr>
        <p:txBody>
          <a:bodyPr wrap="square" rtlCol="0">
            <a:spAutoFit/>
          </a:bodyPr>
          <a:lstStyle/>
          <a:p>
            <a:pPr marL="0" indent="0" algn="just">
              <a:buNone/>
            </a:pPr>
            <a:r>
              <a:rPr lang="en-GB" sz="2400" dirty="0">
                <a:latin typeface="+mn-lt"/>
              </a:rPr>
              <a:t>In this stage the data is divided into two subsets (sometimes more than two subsets): </a:t>
            </a:r>
            <a:r>
              <a:rPr lang="en-GB" sz="2400" b="1" dirty="0">
                <a:latin typeface="+mn-lt"/>
              </a:rPr>
              <a:t>training data set</a:t>
            </a:r>
            <a:r>
              <a:rPr lang="en-GB" sz="2400" dirty="0">
                <a:latin typeface="+mn-lt"/>
              </a:rPr>
              <a:t> and </a:t>
            </a:r>
            <a:r>
              <a:rPr lang="en-GB" sz="2400" b="1" dirty="0">
                <a:latin typeface="+mn-lt"/>
              </a:rPr>
              <a:t>validation data set</a:t>
            </a:r>
            <a:r>
              <a:rPr lang="en-GB" sz="2400" dirty="0">
                <a:latin typeface="+mn-lt"/>
              </a:rPr>
              <a:t>. The proportion of training data set is usually between 70% and 80% and the remaining data is treated as the validation data</a:t>
            </a:r>
          </a:p>
          <a:p>
            <a:pPr marL="0" indent="0" algn="just">
              <a:buNone/>
            </a:pPr>
            <a:endParaRPr lang="en-GB" sz="2400" dirty="0">
              <a:latin typeface="+mn-lt"/>
            </a:endParaRPr>
          </a:p>
          <a:p>
            <a:pPr marL="0" indent="0" algn="just">
              <a:buNone/>
            </a:pPr>
            <a:r>
              <a:rPr lang="en-GB" sz="2400" dirty="0">
                <a:latin typeface="+mn-lt"/>
              </a:rPr>
              <a:t>In many cases, the original data set may be partitioned into three partitions: training, validation and test data. This is done especially in machine learning algorithms. </a:t>
            </a:r>
            <a:endParaRPr lang="en-US" sz="2400" dirty="0">
              <a:latin typeface="+mn-lt"/>
            </a:endParaRPr>
          </a:p>
        </p:txBody>
      </p:sp>
      <p:sp>
        <p:nvSpPr>
          <p:cNvPr id="4" name="Content Placeholder 2">
            <a:extLst>
              <a:ext uri="{FF2B5EF4-FFF2-40B4-BE49-F238E27FC236}">
                <a16:creationId xmlns:a16="http://schemas.microsoft.com/office/drawing/2014/main" id="{EAC54C1D-917C-42A9-90D3-E0FF68A139F2}"/>
              </a:ext>
            </a:extLst>
          </p:cNvPr>
          <p:cNvSpPr txBox="1">
            <a:spLocks/>
          </p:cNvSpPr>
          <p:nvPr/>
        </p:nvSpPr>
        <p:spPr>
          <a:xfrm>
            <a:off x="304799" y="4874666"/>
            <a:ext cx="8458199" cy="12261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GB" sz="2400" dirty="0"/>
              <a:t>Descriptive statistics will help us to understand the variability in the model and visualization of the data through, say, a box plot which will show if there are outliers in the data. </a:t>
            </a:r>
            <a:endParaRPr lang="en-IN" sz="2400" dirty="0">
              <a:solidFill>
                <a:srgbClr val="C00000"/>
              </a:solidFill>
            </a:endParaRPr>
          </a:p>
        </p:txBody>
      </p:sp>
      <p:sp>
        <p:nvSpPr>
          <p:cNvPr id="6" name="TextBox 5">
            <a:extLst>
              <a:ext uri="{FF2B5EF4-FFF2-40B4-BE49-F238E27FC236}">
                <a16:creationId xmlns:a16="http://schemas.microsoft.com/office/drawing/2014/main" id="{4C496CF1-2160-4815-9CF2-334601D797A5}"/>
              </a:ext>
            </a:extLst>
          </p:cNvPr>
          <p:cNvSpPr txBox="1"/>
          <p:nvPr/>
        </p:nvSpPr>
        <p:spPr>
          <a:xfrm>
            <a:off x="336451" y="4293586"/>
            <a:ext cx="8077200" cy="430887"/>
          </a:xfrm>
          <a:prstGeom prst="rect">
            <a:avLst/>
          </a:prstGeom>
          <a:noFill/>
        </p:spPr>
        <p:txBody>
          <a:bodyPr wrap="square" rtlCol="0">
            <a:spAutoFit/>
          </a:bodyPr>
          <a:lstStyle/>
          <a:p>
            <a:r>
              <a:rPr lang="en-GB" sz="2200" b="1" dirty="0">
                <a:solidFill>
                  <a:srgbClr val="0070C0"/>
                </a:solidFill>
                <a:latin typeface="+mj-lt"/>
              </a:rPr>
              <a:t>Step 4: Perform Descriptive Analytics</a:t>
            </a:r>
            <a:endParaRPr lang="en-US" sz="2200" b="1" dirty="0">
              <a:solidFill>
                <a:srgbClr val="0070C0"/>
              </a:solidFill>
              <a:latin typeface="+mj-lt"/>
            </a:endParaRPr>
          </a:p>
        </p:txBody>
      </p:sp>
    </p:spTree>
    <p:extLst>
      <p:ext uri="{BB962C8B-B14F-4D97-AF65-F5344CB8AC3E}">
        <p14:creationId xmlns:p14="http://schemas.microsoft.com/office/powerpoint/2010/main" val="33723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5F581F-2FFC-4AED-8B84-66722434D51E}"/>
              </a:ext>
            </a:extLst>
          </p:cNvPr>
          <p:cNvSpPr>
            <a:spLocks noGrp="1"/>
          </p:cNvSpPr>
          <p:nvPr>
            <p:ph idx="4294967295"/>
          </p:nvPr>
        </p:nvSpPr>
        <p:spPr>
          <a:xfrm>
            <a:off x="304800" y="457201"/>
            <a:ext cx="8458199" cy="533399"/>
          </a:xfrm>
        </p:spPr>
        <p:txBody>
          <a:bodyPr>
            <a:noAutofit/>
          </a:bodyPr>
          <a:lstStyle/>
          <a:p>
            <a:pPr marL="0" indent="0" algn="just">
              <a:buNone/>
            </a:pPr>
            <a:r>
              <a:rPr lang="en-GB" sz="2400" b="1" dirty="0">
                <a:solidFill>
                  <a:srgbClr val="0070C0"/>
                </a:solidFill>
                <a:latin typeface="+mj-lt"/>
              </a:rPr>
              <a:t>Step 5: Define the Functional Form of Relationship</a:t>
            </a:r>
          </a:p>
          <a:p>
            <a:pPr marL="0" indent="0">
              <a:buNone/>
            </a:pPr>
            <a:endParaRPr lang="en-IN" sz="2400" b="1" dirty="0">
              <a:solidFill>
                <a:srgbClr val="0070C0"/>
              </a:solidFill>
              <a:latin typeface="+mj-lt"/>
            </a:endParaRPr>
          </a:p>
        </p:txBody>
      </p:sp>
      <p:pic>
        <p:nvPicPr>
          <p:cNvPr id="4" name="Picture 3">
            <a:extLst>
              <a:ext uri="{FF2B5EF4-FFF2-40B4-BE49-F238E27FC236}">
                <a16:creationId xmlns:a16="http://schemas.microsoft.com/office/drawing/2014/main" id="{234BEFBA-FA6D-4208-94C9-E2CAFA2D7BC4}"/>
              </a:ext>
            </a:extLst>
          </p:cNvPr>
          <p:cNvPicPr/>
          <p:nvPr/>
        </p:nvPicPr>
        <p:blipFill>
          <a:blip r:embed="rId2" cstate="print">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228600" y="3124200"/>
            <a:ext cx="4114801" cy="3276600"/>
          </a:xfrm>
          <a:prstGeom prst="rect">
            <a:avLst/>
          </a:prstGeom>
          <a:noFill/>
        </p:spPr>
      </p:pic>
      <p:pic>
        <p:nvPicPr>
          <p:cNvPr id="5" name="Picture 4">
            <a:extLst>
              <a:ext uri="{FF2B5EF4-FFF2-40B4-BE49-F238E27FC236}">
                <a16:creationId xmlns:a16="http://schemas.microsoft.com/office/drawing/2014/main" id="{326B4CFA-4FF6-4DAB-B049-6C318AF7F830}"/>
              </a:ext>
            </a:extLst>
          </p:cNvPr>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4495802" y="3124199"/>
            <a:ext cx="4419600" cy="3276600"/>
          </a:xfrm>
          <a:prstGeom prst="rect">
            <a:avLst/>
          </a:prstGeom>
          <a:solidFill>
            <a:schemeClr val="tx2">
              <a:lumMod val="50000"/>
              <a:alpha val="78000"/>
            </a:schemeClr>
          </a:solidFill>
        </p:spPr>
      </p:pic>
      <p:sp>
        <p:nvSpPr>
          <p:cNvPr id="6" name="TextBox 5">
            <a:extLst>
              <a:ext uri="{FF2B5EF4-FFF2-40B4-BE49-F238E27FC236}">
                <a16:creationId xmlns:a16="http://schemas.microsoft.com/office/drawing/2014/main" id="{34AD180A-2582-4DCF-8E84-23BBF0889110}"/>
              </a:ext>
            </a:extLst>
          </p:cNvPr>
          <p:cNvSpPr txBox="1"/>
          <p:nvPr/>
        </p:nvSpPr>
        <p:spPr>
          <a:xfrm>
            <a:off x="304798" y="2595881"/>
            <a:ext cx="4191004" cy="338554"/>
          </a:xfrm>
          <a:prstGeom prst="rect">
            <a:avLst/>
          </a:prstGeom>
          <a:noFill/>
        </p:spPr>
        <p:txBody>
          <a:bodyPr wrap="square" rtlCol="0">
            <a:spAutoFit/>
          </a:bodyPr>
          <a:lstStyle/>
          <a:p>
            <a:r>
              <a:rPr lang="en-GB" sz="1600" b="1" dirty="0">
                <a:solidFill>
                  <a:srgbClr val="C00000"/>
                </a:solidFill>
                <a:latin typeface="+mn-lt"/>
              </a:rPr>
              <a:t>Linear relationship between </a:t>
            </a:r>
            <a:r>
              <a:rPr lang="en-GB" sz="1600" b="1" i="1" dirty="0">
                <a:solidFill>
                  <a:srgbClr val="C00000"/>
                </a:solidFill>
                <a:latin typeface="+mn-lt"/>
              </a:rPr>
              <a:t>X</a:t>
            </a:r>
            <a:r>
              <a:rPr lang="en-GB" sz="1600" b="1" baseline="-25000" dirty="0">
                <a:solidFill>
                  <a:srgbClr val="C00000"/>
                </a:solidFill>
                <a:latin typeface="+mn-lt"/>
              </a:rPr>
              <a:t>1</a:t>
            </a:r>
            <a:r>
              <a:rPr lang="en-GB" sz="1600" b="1" dirty="0">
                <a:solidFill>
                  <a:srgbClr val="C00000"/>
                </a:solidFill>
                <a:latin typeface="+mn-lt"/>
              </a:rPr>
              <a:t> and </a:t>
            </a:r>
            <a:r>
              <a:rPr lang="en-GB" sz="1600" b="1" i="1" dirty="0">
                <a:solidFill>
                  <a:srgbClr val="C00000"/>
                </a:solidFill>
                <a:latin typeface="+mn-lt"/>
              </a:rPr>
              <a:t>Y</a:t>
            </a:r>
            <a:r>
              <a:rPr lang="en-GB" sz="1600" b="1" baseline="-25000" dirty="0">
                <a:solidFill>
                  <a:srgbClr val="C00000"/>
                </a:solidFill>
                <a:latin typeface="+mn-lt"/>
              </a:rPr>
              <a:t>1</a:t>
            </a:r>
            <a:endParaRPr lang="en-IN" sz="1600" b="1" dirty="0">
              <a:solidFill>
                <a:srgbClr val="C00000"/>
              </a:solidFill>
              <a:latin typeface="+mn-lt"/>
            </a:endParaRPr>
          </a:p>
        </p:txBody>
      </p:sp>
      <p:sp>
        <p:nvSpPr>
          <p:cNvPr id="7" name="TextBox 6">
            <a:extLst>
              <a:ext uri="{FF2B5EF4-FFF2-40B4-BE49-F238E27FC236}">
                <a16:creationId xmlns:a16="http://schemas.microsoft.com/office/drawing/2014/main" id="{87484F96-DF27-416E-8E30-059BF275F682}"/>
              </a:ext>
            </a:extLst>
          </p:cNvPr>
          <p:cNvSpPr txBox="1"/>
          <p:nvPr/>
        </p:nvSpPr>
        <p:spPr>
          <a:xfrm>
            <a:off x="4457110" y="2595175"/>
            <a:ext cx="4686890" cy="338554"/>
          </a:xfrm>
          <a:prstGeom prst="rect">
            <a:avLst/>
          </a:prstGeom>
          <a:noFill/>
        </p:spPr>
        <p:txBody>
          <a:bodyPr wrap="square" rtlCol="0">
            <a:spAutoFit/>
          </a:bodyPr>
          <a:lstStyle/>
          <a:p>
            <a:r>
              <a:rPr lang="en-GB" sz="1600" b="1" dirty="0">
                <a:solidFill>
                  <a:srgbClr val="C00000"/>
                </a:solidFill>
              </a:rPr>
              <a:t>Log-linear relationship between </a:t>
            </a:r>
            <a:r>
              <a:rPr lang="en-GB" sz="1600" b="1" i="1" dirty="0">
                <a:solidFill>
                  <a:srgbClr val="C00000"/>
                </a:solidFill>
              </a:rPr>
              <a:t>X</a:t>
            </a:r>
            <a:r>
              <a:rPr lang="en-GB" sz="1600" b="1" baseline="-25000" dirty="0">
                <a:solidFill>
                  <a:srgbClr val="C00000"/>
                </a:solidFill>
              </a:rPr>
              <a:t>2</a:t>
            </a:r>
            <a:r>
              <a:rPr lang="en-GB" sz="1600" b="1" dirty="0">
                <a:solidFill>
                  <a:srgbClr val="C00000"/>
                </a:solidFill>
              </a:rPr>
              <a:t> and </a:t>
            </a:r>
            <a:r>
              <a:rPr lang="en-GB" sz="1600" b="1" i="1" dirty="0">
                <a:solidFill>
                  <a:srgbClr val="C00000"/>
                </a:solidFill>
              </a:rPr>
              <a:t>Y</a:t>
            </a:r>
            <a:r>
              <a:rPr lang="en-GB" sz="1600" b="1" baseline="-25000" dirty="0">
                <a:solidFill>
                  <a:srgbClr val="C00000"/>
                </a:solidFill>
              </a:rPr>
              <a:t>2</a:t>
            </a:r>
            <a:r>
              <a:rPr lang="en-GB" sz="1600" b="1" dirty="0">
                <a:solidFill>
                  <a:srgbClr val="C00000"/>
                </a:solidFill>
              </a:rPr>
              <a:t>.</a:t>
            </a:r>
            <a:endParaRPr lang="en-IN" sz="1600" b="1" dirty="0">
              <a:solidFill>
                <a:srgbClr val="C00000"/>
              </a:solidFill>
            </a:endParaRPr>
          </a:p>
        </p:txBody>
      </p:sp>
      <p:sp>
        <p:nvSpPr>
          <p:cNvPr id="2" name="TextBox 1">
            <a:extLst>
              <a:ext uri="{FF2B5EF4-FFF2-40B4-BE49-F238E27FC236}">
                <a16:creationId xmlns:a16="http://schemas.microsoft.com/office/drawing/2014/main" id="{0AA356B4-965E-4EE3-8531-0F91298E27F3}"/>
              </a:ext>
            </a:extLst>
          </p:cNvPr>
          <p:cNvSpPr txBox="1"/>
          <p:nvPr/>
        </p:nvSpPr>
        <p:spPr>
          <a:xfrm>
            <a:off x="266703" y="1127523"/>
            <a:ext cx="8458198" cy="1446550"/>
          </a:xfrm>
          <a:prstGeom prst="rect">
            <a:avLst/>
          </a:prstGeom>
          <a:noFill/>
        </p:spPr>
        <p:txBody>
          <a:bodyPr wrap="square" rtlCol="0">
            <a:spAutoFit/>
          </a:bodyPr>
          <a:lstStyle/>
          <a:p>
            <a:r>
              <a:rPr lang="en-GB" sz="2200" dirty="0">
                <a:latin typeface="+mn-lt"/>
              </a:rPr>
              <a:t>For better predictive ability (model accuracy) it is important to specify the correct functional form between the dependent variable and the independent variable. Scatter plots may assist the modeller to define the right functional form.  </a:t>
            </a:r>
            <a:endParaRPr lang="en-US" sz="2200" dirty="0">
              <a:latin typeface="+mn-lt"/>
            </a:endParaRPr>
          </a:p>
        </p:txBody>
      </p:sp>
    </p:spTree>
    <p:extLst>
      <p:ext uri="{BB962C8B-B14F-4D97-AF65-F5344CB8AC3E}">
        <p14:creationId xmlns:p14="http://schemas.microsoft.com/office/powerpoint/2010/main" val="288366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61FCC-6244-40CC-8BA0-8ACB15C69B37}"/>
              </a:ext>
            </a:extLst>
          </p:cNvPr>
          <p:cNvSpPr>
            <a:spLocks noGrp="1"/>
          </p:cNvSpPr>
          <p:nvPr>
            <p:ph type="title"/>
          </p:nvPr>
        </p:nvSpPr>
        <p:spPr>
          <a:xfrm>
            <a:off x="76200" y="365127"/>
            <a:ext cx="8610600" cy="490450"/>
          </a:xfrm>
        </p:spPr>
        <p:txBody>
          <a:bodyPr>
            <a:noAutofit/>
          </a:bodyPr>
          <a:lstStyle/>
          <a:p>
            <a:r>
              <a:rPr lang="en-GB" sz="2800" b="1" dirty="0">
                <a:solidFill>
                  <a:srgbClr val="0070C0"/>
                </a:solidFill>
              </a:rPr>
              <a:t>Step 6:  Estimate the Regression Parameters</a:t>
            </a:r>
            <a:endParaRPr lang="en-US" sz="2800" dirty="0">
              <a:solidFill>
                <a:srgbClr val="0070C0"/>
              </a:solidFill>
            </a:endParaRPr>
          </a:p>
        </p:txBody>
      </p:sp>
      <p:sp>
        <p:nvSpPr>
          <p:cNvPr id="3" name="Content Placeholder 2">
            <a:extLst>
              <a:ext uri="{FF2B5EF4-FFF2-40B4-BE49-F238E27FC236}">
                <a16:creationId xmlns:a16="http://schemas.microsoft.com/office/drawing/2014/main" id="{4C44ED5E-998C-40F3-8303-19BE7F1D1C8E}"/>
              </a:ext>
            </a:extLst>
          </p:cNvPr>
          <p:cNvSpPr>
            <a:spLocks noGrp="1"/>
          </p:cNvSpPr>
          <p:nvPr>
            <p:ph idx="4294967295"/>
          </p:nvPr>
        </p:nvSpPr>
        <p:spPr>
          <a:xfrm>
            <a:off x="381000" y="1030375"/>
            <a:ext cx="7962900" cy="5200650"/>
          </a:xfrm>
        </p:spPr>
        <p:txBody>
          <a:bodyPr>
            <a:noAutofit/>
          </a:bodyPr>
          <a:lstStyle/>
          <a:p>
            <a:pPr marL="0" indent="0" algn="just">
              <a:buNone/>
            </a:pPr>
            <a:r>
              <a:rPr lang="en-GB" sz="2400" dirty="0"/>
              <a:t>Once the functional form is specified, the next step is to estimate the regression parameters. The method of </a:t>
            </a:r>
            <a:r>
              <a:rPr lang="en-GB" sz="2400" b="1" dirty="0"/>
              <a:t>Ordinary Least Squares (OLS)</a:t>
            </a:r>
            <a:r>
              <a:rPr lang="en-GB" sz="2400" dirty="0"/>
              <a:t> is used to estimate the regression parameters. </a:t>
            </a:r>
          </a:p>
          <a:p>
            <a:pPr marL="0" indent="0" algn="just">
              <a:buNone/>
            </a:pPr>
            <a:endParaRPr lang="en-IN" sz="2400" dirty="0"/>
          </a:p>
          <a:p>
            <a:pPr marL="0" indent="0" algn="just">
              <a:buNone/>
            </a:pPr>
            <a:r>
              <a:rPr lang="en-GB" sz="2400" dirty="0"/>
              <a:t>OLS fits regression line through a set of data points such that the sum of the squared distances between the actual observations in the sample and the regression line is minimized (i.e.,                  is minimized ).</a:t>
            </a:r>
          </a:p>
          <a:p>
            <a:pPr marL="0" indent="0" algn="just">
              <a:buNone/>
            </a:pPr>
            <a:endParaRPr lang="en-GB" sz="2400" dirty="0"/>
          </a:p>
          <a:p>
            <a:pPr marL="0" indent="0" algn="just">
              <a:buNone/>
            </a:pPr>
            <a:r>
              <a:rPr lang="en-GB" sz="2400" dirty="0"/>
              <a:t>OLS provides the Best Linear Unbiased Estimate (BLUE). That is,                  where    is the population parameter and     is estimated parameter value from the sample.</a:t>
            </a:r>
            <a:endParaRPr lang="en-IN" sz="2400" dirty="0"/>
          </a:p>
          <a:p>
            <a:pPr marL="0" indent="0">
              <a:buNone/>
            </a:pPr>
            <a:endParaRPr lang="en-IN" sz="2400" dirty="0"/>
          </a:p>
        </p:txBody>
      </p:sp>
      <p:sp>
        <p:nvSpPr>
          <p:cNvPr id="4" name="Rectangle 2">
            <a:extLst>
              <a:ext uri="{FF2B5EF4-FFF2-40B4-BE49-F238E27FC236}">
                <a16:creationId xmlns:a16="http://schemas.microsoft.com/office/drawing/2014/main" id="{627EE315-9D2C-4B16-AA04-3BB1E1C217FA}"/>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788B8C6D-97E6-44CA-BD77-8C711D2D1C9A}"/>
              </a:ext>
            </a:extLst>
          </p:cNvPr>
          <p:cNvGraphicFramePr>
            <a:graphicFrameLocks noChangeAspect="1"/>
          </p:cNvGraphicFramePr>
          <p:nvPr>
            <p:extLst>
              <p:ext uri="{D42A27DB-BD31-4B8C-83A1-F6EECF244321}">
                <p14:modId xmlns:p14="http://schemas.microsoft.com/office/powerpoint/2010/main" val="1638566556"/>
              </p:ext>
            </p:extLst>
          </p:nvPr>
        </p:nvGraphicFramePr>
        <p:xfrm>
          <a:off x="2362200" y="3886200"/>
          <a:ext cx="1461636" cy="483397"/>
        </p:xfrm>
        <a:graphic>
          <a:graphicData uri="http://schemas.openxmlformats.org/presentationml/2006/ole">
            <mc:AlternateContent xmlns:mc="http://schemas.openxmlformats.org/markup-compatibility/2006">
              <mc:Choice xmlns:v="urn:schemas-microsoft-com:vml" Requires="v">
                <p:oleObj name="Equation" r:id="rId2" imgW="749300" imgH="469900" progId="Equation.3">
                  <p:embed/>
                </p:oleObj>
              </mc:Choice>
              <mc:Fallback>
                <p:oleObj name="Equation" r:id="rId2" imgW="749300" imgH="4699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886200"/>
                        <a:ext cx="1461636" cy="483397"/>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F91C8960-BD9C-4416-B4EE-D33E139973DD}"/>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B30EB370-B9E0-4563-BC96-D1A2A2C2D15A}"/>
              </a:ext>
            </a:extLst>
          </p:cNvPr>
          <p:cNvGraphicFramePr>
            <a:graphicFrameLocks noChangeAspect="1"/>
          </p:cNvGraphicFramePr>
          <p:nvPr>
            <p:extLst>
              <p:ext uri="{D42A27DB-BD31-4B8C-83A1-F6EECF244321}">
                <p14:modId xmlns:p14="http://schemas.microsoft.com/office/powerpoint/2010/main" val="3506439244"/>
              </p:ext>
            </p:extLst>
          </p:nvPr>
        </p:nvGraphicFramePr>
        <p:xfrm>
          <a:off x="990600" y="5181600"/>
          <a:ext cx="1104900" cy="483397"/>
        </p:xfrm>
        <a:graphic>
          <a:graphicData uri="http://schemas.openxmlformats.org/presentationml/2006/ole">
            <mc:AlternateContent xmlns:mc="http://schemas.openxmlformats.org/markup-compatibility/2006">
              <mc:Choice xmlns:v="urn:schemas-microsoft-com:vml" Requires="v">
                <p:oleObj name="Equation" r:id="rId4" imgW="863225" imgH="507780" progId="Equation.3">
                  <p:embed/>
                </p:oleObj>
              </mc:Choice>
              <mc:Fallback>
                <p:oleObj name="Equation" r:id="rId4" imgW="863225" imgH="5077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5181600"/>
                        <a:ext cx="1104900" cy="483397"/>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7BD0F4A1-F44D-4841-B376-FF2A253C6178}"/>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5DE1F94E-331D-4073-8162-8EBC99CBFE24}"/>
              </a:ext>
            </a:extLst>
          </p:cNvPr>
          <p:cNvGraphicFramePr>
            <a:graphicFrameLocks noChangeAspect="1"/>
          </p:cNvGraphicFramePr>
          <p:nvPr>
            <p:extLst>
              <p:ext uri="{D42A27DB-BD31-4B8C-83A1-F6EECF244321}">
                <p14:modId xmlns:p14="http://schemas.microsoft.com/office/powerpoint/2010/main" val="3894895917"/>
              </p:ext>
            </p:extLst>
          </p:nvPr>
        </p:nvGraphicFramePr>
        <p:xfrm>
          <a:off x="7696200" y="5143959"/>
          <a:ext cx="304800" cy="415530"/>
        </p:xfrm>
        <a:graphic>
          <a:graphicData uri="http://schemas.openxmlformats.org/presentationml/2006/ole">
            <mc:AlternateContent xmlns:mc="http://schemas.openxmlformats.org/markup-compatibility/2006">
              <mc:Choice xmlns:v="urn:schemas-microsoft-com:vml" Requires="v">
                <p:oleObj name="Equation" r:id="rId6" imgW="152334" imgH="330057" progId="Equation.3">
                  <p:embed/>
                </p:oleObj>
              </mc:Choice>
              <mc:Fallback>
                <p:oleObj name="Equation" r:id="rId6" imgW="152334" imgH="330057"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96200" y="5143959"/>
                        <a:ext cx="304800" cy="415530"/>
                      </a:xfrm>
                      <a:prstGeom prst="rect">
                        <a:avLst/>
                      </a:prstGeom>
                      <a:noFill/>
                    </p:spPr>
                  </p:pic>
                </p:oleObj>
              </mc:Fallback>
            </mc:AlternateContent>
          </a:graphicData>
        </a:graphic>
      </p:graphicFrame>
    </p:spTree>
    <p:extLst>
      <p:ext uri="{BB962C8B-B14F-4D97-AF65-F5344CB8AC3E}">
        <p14:creationId xmlns:p14="http://schemas.microsoft.com/office/powerpoint/2010/main" val="218492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C06F2-6DDB-4DCA-91F1-313ABE7EACBF}"/>
              </a:ext>
            </a:extLst>
          </p:cNvPr>
          <p:cNvSpPr>
            <a:spLocks noGrp="1"/>
          </p:cNvSpPr>
          <p:nvPr>
            <p:ph type="title"/>
          </p:nvPr>
        </p:nvSpPr>
        <p:spPr>
          <a:xfrm>
            <a:off x="190500" y="533400"/>
            <a:ext cx="8763000" cy="625474"/>
          </a:xfrm>
        </p:spPr>
        <p:txBody>
          <a:bodyPr>
            <a:normAutofit/>
          </a:bodyPr>
          <a:lstStyle/>
          <a:p>
            <a:pPr marL="0" indent="0"/>
            <a:r>
              <a:rPr lang="en-GB" sz="2800" b="1" dirty="0">
                <a:solidFill>
                  <a:srgbClr val="0070C0"/>
                </a:solidFill>
              </a:rPr>
              <a:t>Step 7: Perform Regression Model Diagnostics</a:t>
            </a:r>
            <a:endParaRPr lang="en-US" sz="2800" dirty="0">
              <a:solidFill>
                <a:srgbClr val="0070C0"/>
              </a:solidFill>
            </a:endParaRPr>
          </a:p>
        </p:txBody>
      </p:sp>
      <p:sp>
        <p:nvSpPr>
          <p:cNvPr id="3" name="Content Placeholder 2">
            <a:extLst>
              <a:ext uri="{FF2B5EF4-FFF2-40B4-BE49-F238E27FC236}">
                <a16:creationId xmlns:a16="http://schemas.microsoft.com/office/drawing/2014/main" id="{CDE3DB6E-8CB4-47EB-AD90-BEEB0D3BA81E}"/>
              </a:ext>
            </a:extLst>
          </p:cNvPr>
          <p:cNvSpPr>
            <a:spLocks noGrp="1"/>
          </p:cNvSpPr>
          <p:nvPr>
            <p:ph idx="4294967295"/>
          </p:nvPr>
        </p:nvSpPr>
        <p:spPr>
          <a:xfrm>
            <a:off x="381000" y="1828800"/>
            <a:ext cx="8382000" cy="3505200"/>
          </a:xfrm>
        </p:spPr>
        <p:txBody>
          <a:bodyPr>
            <a:normAutofit/>
          </a:bodyPr>
          <a:lstStyle/>
          <a:p>
            <a:pPr marL="0" indent="0" algn="just">
              <a:buNone/>
            </a:pPr>
            <a:r>
              <a:rPr lang="en-GB" sz="2400" dirty="0"/>
              <a:t>Regression is often misused since many times the modeller fails to perform necessary diagnostics tests before applying the model. </a:t>
            </a:r>
          </a:p>
          <a:p>
            <a:pPr marL="0" indent="0" algn="just">
              <a:buNone/>
            </a:pPr>
            <a:r>
              <a:rPr lang="en-GB" sz="2400" dirty="0"/>
              <a:t>Before it can be applied it is necessary that the model created is validated for all model assumptions including the definition of the function form.</a:t>
            </a:r>
          </a:p>
          <a:p>
            <a:pPr marL="0" indent="0" algn="just">
              <a:buNone/>
            </a:pPr>
            <a:r>
              <a:rPr lang="en-GB" sz="2400" dirty="0"/>
              <a:t>If the model assumptions are violated, then the modeller has to use some remedial measure; it is also possible that there is no association relationship between the variables at all. </a:t>
            </a:r>
            <a:endParaRPr lang="en-IN" sz="2400" dirty="0"/>
          </a:p>
        </p:txBody>
      </p:sp>
    </p:spTree>
    <p:extLst>
      <p:ext uri="{BB962C8B-B14F-4D97-AF65-F5344CB8AC3E}">
        <p14:creationId xmlns:p14="http://schemas.microsoft.com/office/powerpoint/2010/main" val="7841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19458-3FA5-4CED-8109-D30777EC116A}"/>
              </a:ext>
            </a:extLst>
          </p:cNvPr>
          <p:cNvSpPr>
            <a:spLocks noGrp="1"/>
          </p:cNvSpPr>
          <p:nvPr>
            <p:ph type="title"/>
          </p:nvPr>
        </p:nvSpPr>
        <p:spPr>
          <a:xfrm>
            <a:off x="152400" y="365127"/>
            <a:ext cx="8686800" cy="701674"/>
          </a:xfrm>
        </p:spPr>
        <p:txBody>
          <a:bodyPr>
            <a:noAutofit/>
          </a:bodyPr>
          <a:lstStyle/>
          <a:p>
            <a:r>
              <a:rPr lang="en-GB" sz="2800" b="1" dirty="0">
                <a:solidFill>
                  <a:srgbClr val="0070C0"/>
                </a:solidFill>
              </a:rPr>
              <a:t>Step 8: Validate the Model using the Validation Data Set</a:t>
            </a:r>
            <a:endParaRPr lang="en-US" sz="2800" dirty="0">
              <a:solidFill>
                <a:srgbClr val="0070C0"/>
              </a:solidFill>
            </a:endParaRPr>
          </a:p>
        </p:txBody>
      </p:sp>
      <p:sp>
        <p:nvSpPr>
          <p:cNvPr id="3" name="Content Placeholder 2">
            <a:extLst>
              <a:ext uri="{FF2B5EF4-FFF2-40B4-BE49-F238E27FC236}">
                <a16:creationId xmlns:a16="http://schemas.microsoft.com/office/drawing/2014/main" id="{2E4A5850-0F9B-4B13-822E-2631BA49874C}"/>
              </a:ext>
            </a:extLst>
          </p:cNvPr>
          <p:cNvSpPr>
            <a:spLocks noGrp="1"/>
          </p:cNvSpPr>
          <p:nvPr>
            <p:ph idx="4294967295"/>
          </p:nvPr>
        </p:nvSpPr>
        <p:spPr>
          <a:xfrm>
            <a:off x="381000" y="1371601"/>
            <a:ext cx="8458200" cy="2057399"/>
          </a:xfrm>
        </p:spPr>
        <p:txBody>
          <a:bodyPr>
            <a:normAutofit lnSpcReduction="10000"/>
          </a:bodyPr>
          <a:lstStyle/>
          <a:p>
            <a:pPr marL="0" indent="0" algn="just">
              <a:buNone/>
            </a:pPr>
            <a:r>
              <a:rPr lang="en-GB" sz="2400" dirty="0"/>
              <a:t>A major concern in analytics is over-fitting, that is, the model may perform very well in the training data set but may perform badly in validation data set. It is important to ensure that the model performance is consistent in the validation data set as was in the training data set. In fact, the model may be cross-validated using multiple training and test data sets.</a:t>
            </a:r>
            <a:endParaRPr lang="en-IN" sz="2400" dirty="0"/>
          </a:p>
        </p:txBody>
      </p:sp>
      <p:sp>
        <p:nvSpPr>
          <p:cNvPr id="4" name="TextBox 3">
            <a:extLst>
              <a:ext uri="{FF2B5EF4-FFF2-40B4-BE49-F238E27FC236}">
                <a16:creationId xmlns:a16="http://schemas.microsoft.com/office/drawing/2014/main" id="{4D429E1D-27CC-4EF6-8B1C-C4C1F68F02C4}"/>
              </a:ext>
            </a:extLst>
          </p:cNvPr>
          <p:cNvSpPr txBox="1"/>
          <p:nvPr/>
        </p:nvSpPr>
        <p:spPr>
          <a:xfrm>
            <a:off x="377483" y="3886200"/>
            <a:ext cx="8458200" cy="523220"/>
          </a:xfrm>
          <a:prstGeom prst="rect">
            <a:avLst/>
          </a:prstGeom>
          <a:noFill/>
        </p:spPr>
        <p:txBody>
          <a:bodyPr wrap="square" rtlCol="0">
            <a:spAutoFit/>
          </a:bodyPr>
          <a:lstStyle/>
          <a:p>
            <a:r>
              <a:rPr lang="en-GB" sz="2800" b="1" dirty="0">
                <a:solidFill>
                  <a:srgbClr val="0070C0"/>
                </a:solidFill>
                <a:latin typeface="+mj-lt"/>
              </a:rPr>
              <a:t>Step 9: Decide on the Model Deployment</a:t>
            </a:r>
            <a:r>
              <a:rPr lang="en-US" sz="2800" b="1" dirty="0">
                <a:solidFill>
                  <a:srgbClr val="0070C0"/>
                </a:solidFill>
                <a:latin typeface="+mj-lt"/>
              </a:rPr>
              <a:t>	</a:t>
            </a:r>
            <a:endParaRPr lang="en-GB" sz="2800" b="1" dirty="0">
              <a:solidFill>
                <a:srgbClr val="0070C0"/>
              </a:solidFill>
              <a:latin typeface="+mj-lt"/>
            </a:endParaRPr>
          </a:p>
        </p:txBody>
      </p:sp>
      <p:sp>
        <p:nvSpPr>
          <p:cNvPr id="5" name="Content Placeholder 2">
            <a:extLst>
              <a:ext uri="{FF2B5EF4-FFF2-40B4-BE49-F238E27FC236}">
                <a16:creationId xmlns:a16="http://schemas.microsoft.com/office/drawing/2014/main" id="{27099902-193F-4254-9C4C-DE5953739CDD}"/>
              </a:ext>
            </a:extLst>
          </p:cNvPr>
          <p:cNvSpPr txBox="1">
            <a:spLocks/>
          </p:cNvSpPr>
          <p:nvPr/>
        </p:nvSpPr>
        <p:spPr>
          <a:xfrm>
            <a:off x="377482" y="4757410"/>
            <a:ext cx="8458199" cy="914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spcAft>
                <a:spcPts val="0"/>
              </a:spcAft>
              <a:buFont typeface="Arial" panose="020B0604020202020204" pitchFamily="34" charset="0"/>
              <a:buNone/>
            </a:pPr>
            <a:r>
              <a:rPr lang="en-GB" sz="2400"/>
              <a:t>The final step in the regression model is to generate actionable items and business rules that can be used by the organization</a:t>
            </a:r>
            <a:endParaRPr lang="en-IN" sz="2400" dirty="0"/>
          </a:p>
        </p:txBody>
      </p:sp>
    </p:spTree>
    <p:extLst>
      <p:ext uri="{BB962C8B-B14F-4D97-AF65-F5344CB8AC3E}">
        <p14:creationId xmlns:p14="http://schemas.microsoft.com/office/powerpoint/2010/main" val="1812323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77DA-EFDB-4601-8592-9FDDDDA21E68}"/>
              </a:ext>
            </a:extLst>
          </p:cNvPr>
          <p:cNvSpPr>
            <a:spLocks noGrp="1"/>
          </p:cNvSpPr>
          <p:nvPr>
            <p:ph type="title"/>
          </p:nvPr>
        </p:nvSpPr>
        <p:spPr>
          <a:xfrm>
            <a:off x="628650" y="304800"/>
            <a:ext cx="8058150" cy="701674"/>
          </a:xfrm>
        </p:spPr>
        <p:txBody>
          <a:bodyPr>
            <a:noAutofit/>
          </a:bodyPr>
          <a:lstStyle/>
          <a:p>
            <a:pPr algn="ctr"/>
            <a:r>
              <a:rPr lang="en-GB" sz="2800" b="1" dirty="0">
                <a:solidFill>
                  <a:srgbClr val="C00000"/>
                </a:solidFill>
              </a:rPr>
              <a:t>Estimation of Parameters using Ordinary Least Squares</a:t>
            </a:r>
            <a:endParaRPr lang="en-IN" sz="2800" dirty="0">
              <a:solidFill>
                <a:srgbClr val="C00000"/>
              </a:solidFill>
            </a:endParaRPr>
          </a:p>
        </p:txBody>
      </p:sp>
      <p:sp>
        <p:nvSpPr>
          <p:cNvPr id="3" name="Content Placeholder 2">
            <a:extLst>
              <a:ext uri="{FF2B5EF4-FFF2-40B4-BE49-F238E27FC236}">
                <a16:creationId xmlns:a16="http://schemas.microsoft.com/office/drawing/2014/main" id="{9AD70518-9C90-4E6A-8700-26E123B229A2}"/>
              </a:ext>
            </a:extLst>
          </p:cNvPr>
          <p:cNvSpPr>
            <a:spLocks noGrp="1"/>
          </p:cNvSpPr>
          <p:nvPr>
            <p:ph idx="1"/>
          </p:nvPr>
        </p:nvSpPr>
        <p:spPr>
          <a:xfrm>
            <a:off x="628650" y="1825625"/>
            <a:ext cx="7886700" cy="1984375"/>
          </a:xfrm>
        </p:spPr>
        <p:txBody>
          <a:bodyPr>
            <a:noAutofit/>
          </a:bodyPr>
          <a:lstStyle/>
          <a:p>
            <a:pPr marL="0" indent="0" algn="just">
              <a:buNone/>
            </a:pPr>
            <a:r>
              <a:rPr lang="en-GB" sz="2400" dirty="0"/>
              <a:t>Given a set of dependent variable values (</a:t>
            </a:r>
            <a:r>
              <a:rPr lang="en-GB" sz="2400" i="1" dirty="0"/>
              <a:t>Y</a:t>
            </a:r>
            <a:r>
              <a:rPr lang="en-GB" sz="2400" i="1" baseline="-25000" dirty="0"/>
              <a:t>i</a:t>
            </a:r>
            <a:r>
              <a:rPr lang="en-GB" sz="2400" dirty="0"/>
              <a:t>) and the corresponding independent variable values (</a:t>
            </a:r>
            <a:r>
              <a:rPr lang="en-GB" sz="2400" i="1" dirty="0"/>
              <a:t>X</a:t>
            </a:r>
            <a:r>
              <a:rPr lang="en-GB" sz="2400" i="1" baseline="-25000" dirty="0"/>
              <a:t>i</a:t>
            </a:r>
            <a:r>
              <a:rPr lang="en-GB" sz="2400" dirty="0"/>
              <a:t>), each subject to a random error (</a:t>
            </a:r>
            <a:r>
              <a:rPr lang="en-GB" sz="2400" i="1" dirty="0">
                <a:sym typeface="Symbol" panose="05050102010706020507" pitchFamily="18" charset="2"/>
              </a:rPr>
              <a:t></a:t>
            </a:r>
            <a:r>
              <a:rPr lang="en-GB" sz="2400" i="1" baseline="-25000" dirty="0" err="1"/>
              <a:t>i</a:t>
            </a:r>
            <a:r>
              <a:rPr lang="en-GB" sz="2400" dirty="0"/>
              <a:t>), one has to find the best equation to represent the relationship between the dependent and independent variables. </a:t>
            </a:r>
          </a:p>
          <a:p>
            <a:pPr marL="0" indent="0" algn="just">
              <a:buNone/>
            </a:pPr>
            <a:endParaRPr lang="en-GB" sz="2400" dirty="0"/>
          </a:p>
          <a:p>
            <a:pPr marL="0" indent="0" algn="just">
              <a:buNone/>
            </a:pPr>
            <a:endParaRPr lang="en-IN" sz="2400" dirty="0"/>
          </a:p>
          <a:p>
            <a:endParaRPr lang="en-IN" sz="2400" dirty="0"/>
          </a:p>
        </p:txBody>
      </p:sp>
    </p:spTree>
    <p:extLst>
      <p:ext uri="{BB962C8B-B14F-4D97-AF65-F5344CB8AC3E}">
        <p14:creationId xmlns:p14="http://schemas.microsoft.com/office/powerpoint/2010/main" val="1885312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261D24-2304-4CED-89E9-D440CD63098D}"/>
              </a:ext>
            </a:extLst>
          </p:cNvPr>
          <p:cNvSpPr>
            <a:spLocks noGrp="1"/>
          </p:cNvSpPr>
          <p:nvPr>
            <p:ph idx="1"/>
          </p:nvPr>
        </p:nvSpPr>
        <p:spPr>
          <a:xfrm>
            <a:off x="1485900" y="1543051"/>
            <a:ext cx="6172200" cy="3908822"/>
          </a:xfrm>
        </p:spPr>
        <p:txBody>
          <a:bodyPr/>
          <a:lstStyle/>
          <a:p>
            <a:pPr marL="0" indent="0" algn="just">
              <a:buNone/>
            </a:pPr>
            <a:r>
              <a:rPr lang="en-GB" sz="1500" dirty="0"/>
              <a:t>In ordinary least squares, the objective is find the optimal values of  </a:t>
            </a:r>
            <a:r>
              <a:rPr lang="en-GB" sz="1500" baseline="-25000" dirty="0"/>
              <a:t>0</a:t>
            </a:r>
            <a:r>
              <a:rPr lang="en-GB" sz="1500" dirty="0"/>
              <a:t> and   </a:t>
            </a:r>
            <a:r>
              <a:rPr lang="en-GB" sz="1500" baseline="-25000" dirty="0"/>
              <a:t>1 </a:t>
            </a:r>
            <a:r>
              <a:rPr lang="en-GB" sz="1500" dirty="0"/>
              <a:t>that will minimize the </a:t>
            </a:r>
            <a:r>
              <a:rPr lang="en-GB" sz="1500" b="1" dirty="0"/>
              <a:t>Sum of Squared Errors</a:t>
            </a:r>
            <a:r>
              <a:rPr lang="en-GB" sz="1500" dirty="0"/>
              <a:t> (SSE) given in </a:t>
            </a:r>
            <a:r>
              <a:rPr lang="en-GB" sz="1500" dirty="0" err="1"/>
              <a:t>belwo</a:t>
            </a:r>
            <a:r>
              <a:rPr lang="en-GB" sz="1500" dirty="0"/>
              <a:t> </a:t>
            </a:r>
            <a:r>
              <a:rPr lang="en-GB" sz="1500" dirty="0" err="1"/>
              <a:t>Eq</a:t>
            </a:r>
            <a:r>
              <a:rPr lang="en-GB" sz="1500" dirty="0"/>
              <a:t>:</a:t>
            </a:r>
          </a:p>
          <a:p>
            <a:pPr marL="0" indent="0" algn="just">
              <a:buNone/>
            </a:pPr>
            <a:endParaRPr lang="en-GB" sz="1500" dirty="0"/>
          </a:p>
          <a:p>
            <a:pPr marL="0" indent="0" algn="just">
              <a:buNone/>
            </a:pPr>
            <a:endParaRPr lang="en-GB" sz="1500" dirty="0"/>
          </a:p>
          <a:p>
            <a:pPr marL="0" indent="0" algn="just">
              <a:buNone/>
            </a:pPr>
            <a:endParaRPr lang="en-IN" sz="1500" dirty="0"/>
          </a:p>
          <a:p>
            <a:pPr marL="0" indent="0" algn="just">
              <a:buNone/>
            </a:pPr>
            <a:r>
              <a:rPr lang="en-GB" sz="1500" dirty="0"/>
              <a:t>To find the optimal values of </a:t>
            </a:r>
            <a:r>
              <a:rPr lang="en-GB" sz="1500" dirty="0">
                <a:sym typeface="Symbol" panose="05050102010706020507" pitchFamily="18" charset="2"/>
              </a:rPr>
              <a:t></a:t>
            </a:r>
            <a:r>
              <a:rPr lang="en-GB" sz="1500" baseline="-25000" dirty="0"/>
              <a:t>0  </a:t>
            </a:r>
            <a:r>
              <a:rPr lang="en-GB" sz="1500" dirty="0"/>
              <a:t>and </a:t>
            </a:r>
            <a:r>
              <a:rPr lang="en-GB" sz="1500" dirty="0">
                <a:sym typeface="Symbol" panose="05050102010706020507" pitchFamily="18" charset="2"/>
              </a:rPr>
              <a:t></a:t>
            </a:r>
            <a:r>
              <a:rPr lang="en-GB" sz="1500" baseline="-25000" dirty="0"/>
              <a:t>1 </a:t>
            </a:r>
            <a:r>
              <a:rPr lang="en-GB" sz="1500" dirty="0"/>
              <a:t>that will minimize SSE, we have to equate the partial derivative of SSE with respect to</a:t>
            </a:r>
            <a:r>
              <a:rPr lang="en-GB" sz="1500" dirty="0">
                <a:sym typeface="Symbol" panose="05050102010706020507" pitchFamily="18" charset="2"/>
              </a:rPr>
              <a:t> </a:t>
            </a:r>
            <a:r>
              <a:rPr lang="en-GB" sz="1500" baseline="-25000" dirty="0"/>
              <a:t>0</a:t>
            </a:r>
            <a:r>
              <a:rPr lang="en-GB" sz="1500" dirty="0"/>
              <a:t> and </a:t>
            </a:r>
            <a:r>
              <a:rPr lang="en-GB" sz="1500" dirty="0">
                <a:sym typeface="Symbol" panose="05050102010706020507" pitchFamily="18" charset="2"/>
              </a:rPr>
              <a:t></a:t>
            </a:r>
            <a:r>
              <a:rPr lang="en-GB" sz="1500" baseline="-25000" dirty="0"/>
              <a:t>1 </a:t>
            </a:r>
            <a:r>
              <a:rPr lang="en-GB" sz="1500" dirty="0"/>
              <a:t>to zero. </a:t>
            </a:r>
            <a:endParaRPr lang="en-IN" sz="1500" dirty="0"/>
          </a:p>
          <a:p>
            <a:pPr marL="0" indent="0">
              <a:buNone/>
            </a:pPr>
            <a:endParaRPr lang="en-GB" sz="1500" dirty="0"/>
          </a:p>
          <a:p>
            <a:pPr marL="0" indent="0">
              <a:buNone/>
            </a:pPr>
            <a:endParaRPr lang="en-GB" sz="1500" dirty="0"/>
          </a:p>
          <a:p>
            <a:pPr marL="0" indent="0">
              <a:buNone/>
            </a:pPr>
            <a:endParaRPr lang="en-IN" dirty="0"/>
          </a:p>
        </p:txBody>
      </p:sp>
      <p:sp>
        <p:nvSpPr>
          <p:cNvPr id="4" name="Rectangle 2">
            <a:extLst>
              <a:ext uri="{FF2B5EF4-FFF2-40B4-BE49-F238E27FC236}">
                <a16:creationId xmlns:a16="http://schemas.microsoft.com/office/drawing/2014/main" id="{B2DBF30F-C3C9-4874-A9E2-B14BCF7B2E17}"/>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cxnSp>
        <p:nvCxnSpPr>
          <p:cNvPr id="7" name="Straight Arrow Connector 6">
            <a:extLst>
              <a:ext uri="{FF2B5EF4-FFF2-40B4-BE49-F238E27FC236}">
                <a16:creationId xmlns:a16="http://schemas.microsoft.com/office/drawing/2014/main" id="{348ABF3D-4BA3-4B38-BB14-F9CE135B4455}"/>
              </a:ext>
            </a:extLst>
          </p:cNvPr>
          <p:cNvCxnSpPr>
            <a:cxnSpLocks/>
          </p:cNvCxnSpPr>
          <p:nvPr/>
        </p:nvCxnSpPr>
        <p:spPr>
          <a:xfrm>
            <a:off x="6915150" y="1600200"/>
            <a:ext cx="0" cy="2286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BE8DD31-0779-4934-811A-60A51166ED81}"/>
              </a:ext>
            </a:extLst>
          </p:cNvPr>
          <p:cNvCxnSpPr>
            <a:cxnSpLocks/>
          </p:cNvCxnSpPr>
          <p:nvPr/>
        </p:nvCxnSpPr>
        <p:spPr>
          <a:xfrm>
            <a:off x="7486650" y="1600200"/>
            <a:ext cx="0" cy="2286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Rectangle 5">
            <a:extLst>
              <a:ext uri="{FF2B5EF4-FFF2-40B4-BE49-F238E27FC236}">
                <a16:creationId xmlns:a16="http://schemas.microsoft.com/office/drawing/2014/main" id="{4329DE7F-C1FB-4578-8F9E-32E6DC0D2C94}"/>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11" name="Object 10">
            <a:extLst>
              <a:ext uri="{FF2B5EF4-FFF2-40B4-BE49-F238E27FC236}">
                <a16:creationId xmlns:a16="http://schemas.microsoft.com/office/drawing/2014/main" id="{B9142A95-7ED2-40F4-838B-5014D0F9271B}"/>
              </a:ext>
            </a:extLst>
          </p:cNvPr>
          <p:cNvGraphicFramePr>
            <a:graphicFrameLocks noChangeAspect="1"/>
          </p:cNvGraphicFramePr>
          <p:nvPr>
            <p:extLst>
              <p:ext uri="{D42A27DB-BD31-4B8C-83A1-F6EECF244321}">
                <p14:modId xmlns:p14="http://schemas.microsoft.com/office/powerpoint/2010/main" val="2760974885"/>
              </p:ext>
            </p:extLst>
          </p:nvPr>
        </p:nvGraphicFramePr>
        <p:xfrm>
          <a:off x="1543050" y="2171700"/>
          <a:ext cx="2628900" cy="457200"/>
        </p:xfrm>
        <a:graphic>
          <a:graphicData uri="http://schemas.openxmlformats.org/presentationml/2006/ole">
            <mc:AlternateContent xmlns:mc="http://schemas.openxmlformats.org/markup-compatibility/2006">
              <mc:Choice xmlns:v="urn:schemas-microsoft-com:vml" Requires="v">
                <p:oleObj name="Equation" r:id="rId2" imgW="2171700" imgH="444500" progId="Equation.3">
                  <p:embed/>
                </p:oleObj>
              </mc:Choice>
              <mc:Fallback>
                <p:oleObj name="Equation" r:id="rId2" imgW="2171700" imgH="4445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50" y="2171700"/>
                        <a:ext cx="2628900" cy="457200"/>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16" name="Rectangle 8">
            <a:extLst>
              <a:ext uri="{FF2B5EF4-FFF2-40B4-BE49-F238E27FC236}">
                <a16:creationId xmlns:a16="http://schemas.microsoft.com/office/drawing/2014/main" id="{571BD0E8-7407-4464-BF50-AEA50252B18C}"/>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17" name="Object 16">
            <a:extLst>
              <a:ext uri="{FF2B5EF4-FFF2-40B4-BE49-F238E27FC236}">
                <a16:creationId xmlns:a16="http://schemas.microsoft.com/office/drawing/2014/main" id="{D4305B17-458A-48BF-B6BB-AF234DD9FEA7}"/>
              </a:ext>
            </a:extLst>
          </p:cNvPr>
          <p:cNvGraphicFramePr>
            <a:graphicFrameLocks noChangeAspect="1"/>
          </p:cNvGraphicFramePr>
          <p:nvPr>
            <p:extLst>
              <p:ext uri="{D42A27DB-BD31-4B8C-83A1-F6EECF244321}">
                <p14:modId xmlns:p14="http://schemas.microsoft.com/office/powerpoint/2010/main" val="461632508"/>
              </p:ext>
            </p:extLst>
          </p:nvPr>
        </p:nvGraphicFramePr>
        <p:xfrm>
          <a:off x="1543050" y="3752850"/>
          <a:ext cx="4171950" cy="514350"/>
        </p:xfrm>
        <a:graphic>
          <a:graphicData uri="http://schemas.openxmlformats.org/presentationml/2006/ole">
            <mc:AlternateContent xmlns:mc="http://schemas.openxmlformats.org/markup-compatibility/2006">
              <mc:Choice xmlns:v="urn:schemas-microsoft-com:vml" Requires="v">
                <p:oleObj name="Equation" r:id="rId4" imgW="3746500" imgH="482600" progId="Equation.3">
                  <p:embed/>
                </p:oleObj>
              </mc:Choice>
              <mc:Fallback>
                <p:oleObj name="Equation" r:id="rId4" imgW="3746500" imgH="482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3050" y="3752850"/>
                        <a:ext cx="4171950" cy="514350"/>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21" name="Rectangle 14">
            <a:extLst>
              <a:ext uri="{FF2B5EF4-FFF2-40B4-BE49-F238E27FC236}">
                <a16:creationId xmlns:a16="http://schemas.microsoft.com/office/drawing/2014/main" id="{EB90AE26-CA77-424E-8FD2-0E4A8FB1C5C7}"/>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24" name="Object 23">
            <a:extLst>
              <a:ext uri="{FF2B5EF4-FFF2-40B4-BE49-F238E27FC236}">
                <a16:creationId xmlns:a16="http://schemas.microsoft.com/office/drawing/2014/main" id="{24A27B0F-6913-47C3-89D7-9C4B14F879FA}"/>
              </a:ext>
            </a:extLst>
          </p:cNvPr>
          <p:cNvGraphicFramePr>
            <a:graphicFrameLocks noChangeAspect="1"/>
          </p:cNvGraphicFramePr>
          <p:nvPr>
            <p:extLst>
              <p:ext uri="{D42A27DB-BD31-4B8C-83A1-F6EECF244321}">
                <p14:modId xmlns:p14="http://schemas.microsoft.com/office/powerpoint/2010/main" val="3375466251"/>
              </p:ext>
            </p:extLst>
          </p:nvPr>
        </p:nvGraphicFramePr>
        <p:xfrm>
          <a:off x="1581150" y="4572000"/>
          <a:ext cx="4286250" cy="457200"/>
        </p:xfrm>
        <a:graphic>
          <a:graphicData uri="http://schemas.openxmlformats.org/presentationml/2006/ole">
            <mc:AlternateContent xmlns:mc="http://schemas.openxmlformats.org/markup-compatibility/2006">
              <mc:Choice xmlns:v="urn:schemas-microsoft-com:vml" Requires="v">
                <p:oleObj name="Equation" r:id="rId6" imgW="4013200" imgH="457200" progId="Equation.3">
                  <p:embed/>
                </p:oleObj>
              </mc:Choice>
              <mc:Fallback>
                <p:oleObj name="Equation" r:id="rId6" imgW="4013200" imgH="457200" progId="Equation.3">
                  <p:embed/>
                  <p:pic>
                    <p:nvPicPr>
                      <p:cNvPr id="6" name="Object 5">
                        <a:extLst>
                          <a:ext uri="{FF2B5EF4-FFF2-40B4-BE49-F238E27FC236}">
                            <a16:creationId xmlns:a16="http://schemas.microsoft.com/office/drawing/2014/main" id="{C985F02B-3415-445A-80B1-FBCCE05FCF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1150" y="4572000"/>
                        <a:ext cx="4286250" cy="457200"/>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2" name="TextBox 1">
            <a:extLst>
              <a:ext uri="{FF2B5EF4-FFF2-40B4-BE49-F238E27FC236}">
                <a16:creationId xmlns:a16="http://schemas.microsoft.com/office/drawing/2014/main" id="{E97415D7-0511-4B41-BD90-96C9C55EFA0C}"/>
              </a:ext>
            </a:extLst>
          </p:cNvPr>
          <p:cNvSpPr txBox="1"/>
          <p:nvPr/>
        </p:nvSpPr>
        <p:spPr>
          <a:xfrm>
            <a:off x="1295400" y="457200"/>
            <a:ext cx="6343650" cy="523220"/>
          </a:xfrm>
          <a:prstGeom prst="rect">
            <a:avLst/>
          </a:prstGeom>
          <a:noFill/>
        </p:spPr>
        <p:txBody>
          <a:bodyPr wrap="square" rtlCol="0">
            <a:spAutoFit/>
          </a:bodyPr>
          <a:lstStyle/>
          <a:p>
            <a:pPr algn="ctr"/>
            <a:r>
              <a:rPr lang="en-IN" sz="2800" b="1" dirty="0">
                <a:solidFill>
                  <a:srgbClr val="C00000"/>
                </a:solidFill>
              </a:rPr>
              <a:t>OLS Estimation</a:t>
            </a:r>
          </a:p>
        </p:txBody>
      </p:sp>
    </p:spTree>
    <p:extLst>
      <p:ext uri="{BB962C8B-B14F-4D97-AF65-F5344CB8AC3E}">
        <p14:creationId xmlns:p14="http://schemas.microsoft.com/office/powerpoint/2010/main" val="385442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anim calcmode="lin" valueType="num">
                                      <p:cBhvr>
                                        <p:cTn id="29" dur="1000" fill="hold"/>
                                        <p:tgtEl>
                                          <p:spTgt spid="17"/>
                                        </p:tgtEl>
                                        <p:attrNameLst>
                                          <p:attrName>ppt_x</p:attrName>
                                        </p:attrNameLst>
                                      </p:cBhvr>
                                      <p:tavLst>
                                        <p:tav tm="0">
                                          <p:val>
                                            <p:strVal val="#ppt_x"/>
                                          </p:val>
                                        </p:tav>
                                        <p:tav tm="100000">
                                          <p:val>
                                            <p:strVal val="#ppt_x"/>
                                          </p:val>
                                        </p:tav>
                                      </p:tavLst>
                                    </p:anim>
                                    <p:anim calcmode="lin" valueType="num">
                                      <p:cBhvr>
                                        <p:cTn id="3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1000"/>
                                        <p:tgtEl>
                                          <p:spTgt spid="24"/>
                                        </p:tgtEl>
                                      </p:cBhvr>
                                    </p:animEffect>
                                    <p:anim calcmode="lin" valueType="num">
                                      <p:cBhvr>
                                        <p:cTn id="36" dur="1000" fill="hold"/>
                                        <p:tgtEl>
                                          <p:spTgt spid="24"/>
                                        </p:tgtEl>
                                        <p:attrNameLst>
                                          <p:attrName>ppt_x</p:attrName>
                                        </p:attrNameLst>
                                      </p:cBhvr>
                                      <p:tavLst>
                                        <p:tav tm="0">
                                          <p:val>
                                            <p:strVal val="#ppt_x"/>
                                          </p:val>
                                        </p:tav>
                                        <p:tav tm="100000">
                                          <p:val>
                                            <p:strVal val="#ppt_x"/>
                                          </p:val>
                                        </p:tav>
                                      </p:tavLst>
                                    </p:anim>
                                    <p:anim calcmode="lin" valueType="num">
                                      <p:cBhvr>
                                        <p:cTn id="3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9ACCD15-AF41-4D61-B1F5-40992CE4F5A4}"/>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sp>
        <p:nvSpPr>
          <p:cNvPr id="8" name="Rectangle 5">
            <a:extLst>
              <a:ext uri="{FF2B5EF4-FFF2-40B4-BE49-F238E27FC236}">
                <a16:creationId xmlns:a16="http://schemas.microsoft.com/office/drawing/2014/main" id="{F113FF63-0799-4011-BC80-8EEFD6D22100}"/>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sp>
        <p:nvSpPr>
          <p:cNvPr id="13" name="Rectangle 10">
            <a:extLst>
              <a:ext uri="{FF2B5EF4-FFF2-40B4-BE49-F238E27FC236}">
                <a16:creationId xmlns:a16="http://schemas.microsoft.com/office/drawing/2014/main" id="{36B68572-47F0-48C6-B275-C12C0664D195}"/>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sp>
        <p:nvSpPr>
          <p:cNvPr id="15" name="Rectangle 15">
            <a:extLst>
              <a:ext uri="{FF2B5EF4-FFF2-40B4-BE49-F238E27FC236}">
                <a16:creationId xmlns:a16="http://schemas.microsoft.com/office/drawing/2014/main" id="{B8A54792-99F9-4589-8EEA-8C815E25A5BF}"/>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16" name="Object 15">
            <a:extLst>
              <a:ext uri="{FF2B5EF4-FFF2-40B4-BE49-F238E27FC236}">
                <a16:creationId xmlns:a16="http://schemas.microsoft.com/office/drawing/2014/main" id="{B1A459F8-2BB0-4D40-BEF7-A57396AED6AD}"/>
              </a:ext>
            </a:extLst>
          </p:cNvPr>
          <p:cNvGraphicFramePr>
            <a:graphicFrameLocks noChangeAspect="1"/>
          </p:cNvGraphicFramePr>
          <p:nvPr>
            <p:extLst>
              <p:ext uri="{D42A27DB-BD31-4B8C-83A1-F6EECF244321}">
                <p14:modId xmlns:p14="http://schemas.microsoft.com/office/powerpoint/2010/main" val="494744475"/>
              </p:ext>
            </p:extLst>
          </p:nvPr>
        </p:nvGraphicFramePr>
        <p:xfrm>
          <a:off x="1543050" y="4171950"/>
          <a:ext cx="4632158" cy="1466850"/>
        </p:xfrm>
        <a:graphic>
          <a:graphicData uri="http://schemas.openxmlformats.org/presentationml/2006/ole">
            <mc:AlternateContent xmlns:mc="http://schemas.openxmlformats.org/markup-compatibility/2006">
              <mc:Choice xmlns:v="urn:schemas-microsoft-com:vml" Requires="v">
                <p:oleObj name="Equation" r:id="rId2" imgW="2336800" imgH="952500" progId="Equation.3">
                  <p:embed/>
                </p:oleObj>
              </mc:Choice>
              <mc:Fallback>
                <p:oleObj name="Equation" r:id="rId2" imgW="2336800" imgH="952500"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50" y="4171950"/>
                        <a:ext cx="4632158" cy="1466850"/>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17" name="TextBox 16">
            <a:extLst>
              <a:ext uri="{FF2B5EF4-FFF2-40B4-BE49-F238E27FC236}">
                <a16:creationId xmlns:a16="http://schemas.microsoft.com/office/drawing/2014/main" id="{18E7397D-1264-4EF6-8BC3-26FE28DA6716}"/>
              </a:ext>
            </a:extLst>
          </p:cNvPr>
          <p:cNvSpPr txBox="1"/>
          <p:nvPr/>
        </p:nvSpPr>
        <p:spPr>
          <a:xfrm>
            <a:off x="1295400" y="457200"/>
            <a:ext cx="6343650" cy="523220"/>
          </a:xfrm>
          <a:prstGeom prst="rect">
            <a:avLst/>
          </a:prstGeom>
          <a:noFill/>
        </p:spPr>
        <p:txBody>
          <a:bodyPr wrap="square" rtlCol="0">
            <a:spAutoFit/>
          </a:bodyPr>
          <a:lstStyle/>
          <a:p>
            <a:pPr algn="ctr"/>
            <a:r>
              <a:rPr lang="en-IN" sz="2800" b="1" dirty="0">
                <a:solidFill>
                  <a:srgbClr val="C00000"/>
                </a:solidFill>
              </a:rPr>
              <a:t>OLS Estimation</a:t>
            </a:r>
          </a:p>
        </p:txBody>
      </p:sp>
      <p:sp>
        <p:nvSpPr>
          <p:cNvPr id="11" name="TextBox 10">
            <a:extLst>
              <a:ext uri="{FF2B5EF4-FFF2-40B4-BE49-F238E27FC236}">
                <a16:creationId xmlns:a16="http://schemas.microsoft.com/office/drawing/2014/main" id="{681C3B17-E273-43AC-AEC2-D41FCEFC72E9}"/>
              </a:ext>
            </a:extLst>
          </p:cNvPr>
          <p:cNvSpPr txBox="1"/>
          <p:nvPr/>
        </p:nvSpPr>
        <p:spPr>
          <a:xfrm>
            <a:off x="1143001" y="1600200"/>
            <a:ext cx="6857999" cy="646331"/>
          </a:xfrm>
          <a:prstGeom prst="rect">
            <a:avLst/>
          </a:prstGeom>
          <a:noFill/>
        </p:spPr>
        <p:txBody>
          <a:bodyPr wrap="square" rtlCol="0">
            <a:spAutoFit/>
          </a:bodyPr>
          <a:lstStyle/>
          <a:p>
            <a:r>
              <a:rPr lang="en-IN" dirty="0"/>
              <a:t>Solving the system of equations for </a:t>
            </a:r>
            <a:r>
              <a:rPr lang="en-IN" dirty="0">
                <a:sym typeface="Symbol" panose="05050102010706020507" pitchFamily="18" charset="2"/>
              </a:rPr>
              <a:t>0 and 1, we get the estimated values as follows:</a:t>
            </a:r>
            <a:endParaRPr lang="en-IN" dirty="0"/>
          </a:p>
        </p:txBody>
      </p:sp>
      <p:graphicFrame>
        <p:nvGraphicFramePr>
          <p:cNvPr id="18" name="Object 17">
            <a:extLst>
              <a:ext uri="{FF2B5EF4-FFF2-40B4-BE49-F238E27FC236}">
                <a16:creationId xmlns:a16="http://schemas.microsoft.com/office/drawing/2014/main" id="{499B7A0D-D2F9-460E-B634-1F9105DCF2EC}"/>
              </a:ext>
            </a:extLst>
          </p:cNvPr>
          <p:cNvGraphicFramePr>
            <a:graphicFrameLocks noChangeAspect="1"/>
          </p:cNvGraphicFramePr>
          <p:nvPr>
            <p:extLst>
              <p:ext uri="{D42A27DB-BD31-4B8C-83A1-F6EECF244321}">
                <p14:modId xmlns:p14="http://schemas.microsoft.com/office/powerpoint/2010/main" val="144937395"/>
              </p:ext>
            </p:extLst>
          </p:nvPr>
        </p:nvGraphicFramePr>
        <p:xfrm>
          <a:off x="1543049" y="2809190"/>
          <a:ext cx="2757893" cy="772210"/>
        </p:xfrm>
        <a:graphic>
          <a:graphicData uri="http://schemas.openxmlformats.org/presentationml/2006/ole">
            <mc:AlternateContent xmlns:mc="http://schemas.openxmlformats.org/markup-compatibility/2006">
              <mc:Choice xmlns:v="urn:schemas-microsoft-com:vml" Requires="v">
                <p:oleObj name="Equation" r:id="rId4" imgW="863225" imgH="355446" progId="Equation.3">
                  <p:embed/>
                </p:oleObj>
              </mc:Choice>
              <mc:Fallback>
                <p:oleObj name="Equation" r:id="rId4" imgW="863225" imgH="355446" progId="Equation.3">
                  <p:embed/>
                  <p:pic>
                    <p:nvPicPr>
                      <p:cNvPr id="22" name="Object 21">
                        <a:extLst>
                          <a:ext uri="{FF2B5EF4-FFF2-40B4-BE49-F238E27FC236}">
                            <a16:creationId xmlns:a16="http://schemas.microsoft.com/office/drawing/2014/main" id="{95893BE3-A902-49B0-BF83-578783E8EE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3049" y="2809190"/>
                        <a:ext cx="2757893" cy="772210"/>
                      </a:xfrm>
                      <a:prstGeom prst="rect">
                        <a:avLst/>
                      </a:prstGeom>
                      <a:solidFill>
                        <a:schemeClr val="accent2">
                          <a:lumMod val="20000"/>
                          <a:lumOff val="8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2841976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191F3B-5FD0-444A-8B0B-1F2AFE689240}"/>
              </a:ext>
            </a:extLst>
          </p:cNvPr>
          <p:cNvSpPr>
            <a:spLocks noGrp="1"/>
          </p:cNvSpPr>
          <p:nvPr>
            <p:ph idx="1"/>
          </p:nvPr>
        </p:nvSpPr>
        <p:spPr>
          <a:xfrm>
            <a:off x="636856" y="1371600"/>
            <a:ext cx="7886700" cy="3429000"/>
          </a:xfrm>
        </p:spPr>
        <p:txBody>
          <a:bodyPr/>
          <a:lstStyle/>
          <a:p>
            <a:pPr marL="0" indent="0" algn="just">
              <a:buNone/>
            </a:pPr>
            <a:r>
              <a:rPr lang="en-GB" b="1" dirty="0">
                <a:solidFill>
                  <a:schemeClr val="accent1"/>
                </a:solidFill>
              </a:rPr>
              <a:t>Salary of Graduating MBA Students versus Their Percentage Marks in Grade 10</a:t>
            </a:r>
            <a:br>
              <a:rPr lang="en-IN" dirty="0"/>
            </a:br>
            <a:endParaRPr lang="en-GB" dirty="0"/>
          </a:p>
          <a:p>
            <a:pPr marL="0" indent="0" algn="just">
              <a:buNone/>
            </a:pPr>
            <a:r>
              <a:rPr lang="en-GB" dirty="0"/>
              <a:t>Table in next slide provides the salary of 50 graduating MBA students of a Business School in 2016 and their corresponding percentage marks in grade 10 .  Develop a linear regression model by estimating the model parameters.</a:t>
            </a:r>
            <a:endParaRPr lang="en-IN" dirty="0"/>
          </a:p>
          <a:p>
            <a:endParaRPr lang="en-IN" dirty="0"/>
          </a:p>
        </p:txBody>
      </p:sp>
      <p:sp>
        <p:nvSpPr>
          <p:cNvPr id="5" name="Title 4">
            <a:extLst>
              <a:ext uri="{FF2B5EF4-FFF2-40B4-BE49-F238E27FC236}">
                <a16:creationId xmlns:a16="http://schemas.microsoft.com/office/drawing/2014/main" id="{C3E5AD94-B978-434C-BA3F-B4FCE8AD44A3}"/>
              </a:ext>
            </a:extLst>
          </p:cNvPr>
          <p:cNvSpPr>
            <a:spLocks noGrp="1"/>
          </p:cNvSpPr>
          <p:nvPr>
            <p:ph type="title"/>
          </p:nvPr>
        </p:nvSpPr>
        <p:spPr>
          <a:xfrm>
            <a:off x="628650" y="336991"/>
            <a:ext cx="7886700" cy="701673"/>
          </a:xfrm>
        </p:spPr>
        <p:txBody>
          <a:bodyPr>
            <a:normAutofit/>
          </a:bodyPr>
          <a:lstStyle/>
          <a:p>
            <a:r>
              <a:rPr lang="en-US" sz="3200" b="1" dirty="0">
                <a:solidFill>
                  <a:srgbClr val="C00000"/>
                </a:solidFill>
              </a:rPr>
              <a:t>Example :</a:t>
            </a:r>
          </a:p>
        </p:txBody>
      </p:sp>
    </p:spTree>
    <p:extLst>
      <p:ext uri="{BB962C8B-B14F-4D97-AF65-F5344CB8AC3E}">
        <p14:creationId xmlns:p14="http://schemas.microsoft.com/office/powerpoint/2010/main" val="4269248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FB84A-CA59-4E43-8774-6E69E883504D}"/>
              </a:ext>
            </a:extLst>
          </p:cNvPr>
          <p:cNvSpPr>
            <a:spLocks noGrp="1"/>
          </p:cNvSpPr>
          <p:nvPr>
            <p:ph type="title"/>
          </p:nvPr>
        </p:nvSpPr>
        <p:spPr>
          <a:xfrm>
            <a:off x="761999" y="419392"/>
            <a:ext cx="7620002" cy="474701"/>
          </a:xfrm>
        </p:spPr>
        <p:txBody>
          <a:bodyPr>
            <a:noAutofit/>
          </a:bodyPr>
          <a:lstStyle/>
          <a:p>
            <a:pPr algn="just"/>
            <a:r>
              <a:rPr lang="en-GB" sz="2000" b="1" dirty="0"/>
              <a:t>Salary of MBA students versus their grade 10 marks</a:t>
            </a:r>
            <a:endParaRPr lang="en-IN" sz="2000" b="1" dirty="0"/>
          </a:p>
        </p:txBody>
      </p:sp>
      <p:graphicFrame>
        <p:nvGraphicFramePr>
          <p:cNvPr id="6" name="Table 5">
            <a:extLst>
              <a:ext uri="{FF2B5EF4-FFF2-40B4-BE49-F238E27FC236}">
                <a16:creationId xmlns:a16="http://schemas.microsoft.com/office/drawing/2014/main" id="{491FB839-FBBE-41EE-8824-5B80CFEA305E}"/>
              </a:ext>
            </a:extLst>
          </p:cNvPr>
          <p:cNvGraphicFramePr>
            <a:graphicFrameLocks noGrp="1"/>
          </p:cNvGraphicFramePr>
          <p:nvPr>
            <p:extLst>
              <p:ext uri="{D42A27DB-BD31-4B8C-83A1-F6EECF244321}">
                <p14:modId xmlns:p14="http://schemas.microsoft.com/office/powerpoint/2010/main" val="175623831"/>
              </p:ext>
            </p:extLst>
          </p:nvPr>
        </p:nvGraphicFramePr>
        <p:xfrm>
          <a:off x="761999" y="1162288"/>
          <a:ext cx="7620002" cy="5276320"/>
        </p:xfrm>
        <a:graphic>
          <a:graphicData uri="http://schemas.openxmlformats.org/drawingml/2006/table">
            <a:tbl>
              <a:tblPr firstRow="1" firstCol="1" bandRow="1">
                <a:tableStyleId>{5C22544A-7EE6-4342-B048-85BDC9FD1C3A}</a:tableStyleId>
              </a:tblPr>
              <a:tblGrid>
                <a:gridCol w="1085342">
                  <a:extLst>
                    <a:ext uri="{9D8B030D-6E8A-4147-A177-3AD203B41FA5}">
                      <a16:colId xmlns:a16="http://schemas.microsoft.com/office/drawing/2014/main" val="2032687489"/>
                    </a:ext>
                  </a:extLst>
                </a:gridCol>
                <a:gridCol w="1469733">
                  <a:extLst>
                    <a:ext uri="{9D8B030D-6E8A-4147-A177-3AD203B41FA5}">
                      <a16:colId xmlns:a16="http://schemas.microsoft.com/office/drawing/2014/main" val="1149296531"/>
                    </a:ext>
                  </a:extLst>
                </a:gridCol>
                <a:gridCol w="1334065">
                  <a:extLst>
                    <a:ext uri="{9D8B030D-6E8A-4147-A177-3AD203B41FA5}">
                      <a16:colId xmlns:a16="http://schemas.microsoft.com/office/drawing/2014/main" val="104169812"/>
                    </a:ext>
                  </a:extLst>
                </a:gridCol>
                <a:gridCol w="1085342">
                  <a:extLst>
                    <a:ext uri="{9D8B030D-6E8A-4147-A177-3AD203B41FA5}">
                      <a16:colId xmlns:a16="http://schemas.microsoft.com/office/drawing/2014/main" val="3336931672"/>
                    </a:ext>
                  </a:extLst>
                </a:gridCol>
                <a:gridCol w="1334065">
                  <a:extLst>
                    <a:ext uri="{9D8B030D-6E8A-4147-A177-3AD203B41FA5}">
                      <a16:colId xmlns:a16="http://schemas.microsoft.com/office/drawing/2014/main" val="241006141"/>
                    </a:ext>
                  </a:extLst>
                </a:gridCol>
                <a:gridCol w="1311455">
                  <a:extLst>
                    <a:ext uri="{9D8B030D-6E8A-4147-A177-3AD203B41FA5}">
                      <a16:colId xmlns:a16="http://schemas.microsoft.com/office/drawing/2014/main" val="2933618125"/>
                    </a:ext>
                  </a:extLst>
                </a:gridCol>
              </a:tblGrid>
              <a:tr h="518995">
                <a:tc>
                  <a:txBody>
                    <a:bodyPr/>
                    <a:lstStyle/>
                    <a:p>
                      <a:pPr algn="l" rtl="0" fontAlgn="ctr"/>
                      <a:r>
                        <a:rPr lang="en-US" sz="1200" u="none" strike="noStrike">
                          <a:effectLst/>
                        </a:rPr>
                        <a:t>S. No.</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l" rtl="0" fontAlgn="ctr"/>
                      <a:r>
                        <a:rPr lang="en-US" sz="1200" u="none" strike="noStrike">
                          <a:effectLst/>
                        </a:rPr>
                        <a:t>Percentage in Grade 10</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l" rtl="0" fontAlgn="ctr"/>
                      <a:r>
                        <a:rPr lang="en-US" sz="1200" u="none" strike="noStrike">
                          <a:effectLst/>
                        </a:rPr>
                        <a:t>Salary</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l" rtl="0" fontAlgn="ctr"/>
                      <a:r>
                        <a:rPr lang="en-US" sz="1200" u="none" strike="noStrike">
                          <a:effectLst/>
                        </a:rPr>
                        <a:t>S. No.</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l" rtl="0" fontAlgn="ctr"/>
                      <a:r>
                        <a:rPr lang="en-US" sz="1200" u="none" strike="noStrike">
                          <a:effectLst/>
                        </a:rPr>
                        <a:t>Percentage in Grade 10</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l" rtl="0" fontAlgn="ctr"/>
                      <a:r>
                        <a:rPr lang="en-US" sz="1200" u="none" strike="noStrike">
                          <a:effectLst/>
                        </a:rPr>
                        <a:t>Salary</a:t>
                      </a:r>
                      <a:endParaRPr lang="en-US" sz="1200" b="1" i="0" u="none" strike="noStrike">
                        <a:solidFill>
                          <a:srgbClr val="FFFFFF"/>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2463890927"/>
                  </a:ext>
                </a:extLst>
              </a:tr>
              <a:tr h="187178">
                <a:tc>
                  <a:txBody>
                    <a:bodyPr/>
                    <a:lstStyle/>
                    <a:p>
                      <a:pPr algn="r" rtl="0" fontAlgn="ctr"/>
                      <a:r>
                        <a:rPr lang="en-US" sz="1200" u="none" strike="noStrike">
                          <a:effectLst/>
                        </a:rPr>
                        <a:t>1</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62</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270000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26</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64.6</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250000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626156654"/>
                  </a:ext>
                </a:extLst>
              </a:tr>
              <a:tr h="178671">
                <a:tc>
                  <a:txBody>
                    <a:bodyPr/>
                    <a:lstStyle/>
                    <a:p>
                      <a:pPr algn="r" rtl="0" fontAlgn="ctr"/>
                      <a:r>
                        <a:rPr lang="en-US" sz="1200" u="none" strike="noStrike">
                          <a:effectLst/>
                        </a:rPr>
                        <a:t>2</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76.33</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200000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27</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180000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1522374685"/>
                  </a:ext>
                </a:extLst>
              </a:tr>
              <a:tr h="178671">
                <a:tc>
                  <a:txBody>
                    <a:bodyPr/>
                    <a:lstStyle/>
                    <a:p>
                      <a:pPr algn="r" rtl="0" fontAlgn="ctr"/>
                      <a:r>
                        <a:rPr lang="en-US" sz="1200" u="none" strike="noStrike">
                          <a:effectLst/>
                        </a:rPr>
                        <a:t>3</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72</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240000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74</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218000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19398844"/>
                  </a:ext>
                </a:extLst>
              </a:tr>
              <a:tr h="178671">
                <a:tc>
                  <a:txBody>
                    <a:bodyPr/>
                    <a:lstStyle/>
                    <a:p>
                      <a:pPr algn="r" rtl="0" fontAlgn="ctr"/>
                      <a:r>
                        <a:rPr lang="en-US" sz="1200" u="none" strike="noStrike">
                          <a:effectLst/>
                        </a:rPr>
                        <a:t>4</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250000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29</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360000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2712360327"/>
                  </a:ext>
                </a:extLst>
              </a:tr>
              <a:tr h="178671">
                <a:tc>
                  <a:txBody>
                    <a:bodyPr/>
                    <a:lstStyle/>
                    <a:p>
                      <a:pPr algn="r" rtl="0" fontAlgn="ctr"/>
                      <a:r>
                        <a:rPr lang="en-US" sz="1200" u="none" strike="noStrike">
                          <a:effectLst/>
                        </a:rPr>
                        <a:t>5</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61</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180000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67</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150000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2836935944"/>
                  </a:ext>
                </a:extLst>
              </a:tr>
              <a:tr h="178671">
                <a:tc>
                  <a:txBody>
                    <a:bodyPr/>
                    <a:lstStyle/>
                    <a:p>
                      <a:pPr algn="r" rtl="0" fontAlgn="ctr"/>
                      <a:r>
                        <a:rPr lang="en-US" sz="1200" u="none" strike="noStrike">
                          <a:effectLst/>
                        </a:rPr>
                        <a:t>6</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55</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300000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31</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75</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250000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2781345780"/>
                  </a:ext>
                </a:extLst>
              </a:tr>
              <a:tr h="178671">
                <a:tc>
                  <a:txBody>
                    <a:bodyPr/>
                    <a:lstStyle/>
                    <a:p>
                      <a:pPr algn="r" rtl="0" fontAlgn="ctr"/>
                      <a:r>
                        <a:rPr lang="en-US" sz="1200" u="none" strike="noStrike">
                          <a:effectLst/>
                        </a:rPr>
                        <a:t>7</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260000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32</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200000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753691493"/>
                  </a:ext>
                </a:extLst>
              </a:tr>
              <a:tr h="178671">
                <a:tc>
                  <a:txBody>
                    <a:bodyPr/>
                    <a:lstStyle/>
                    <a:p>
                      <a:pPr algn="r" rtl="0" fontAlgn="ctr"/>
                      <a:r>
                        <a:rPr lang="en-US" sz="1200" u="none" strike="noStrike">
                          <a:effectLst/>
                        </a:rPr>
                        <a:t>8</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235000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33</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55</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300000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1439643071"/>
                  </a:ext>
                </a:extLst>
              </a:tr>
              <a:tr h="178671">
                <a:tc>
                  <a:txBody>
                    <a:bodyPr/>
                    <a:lstStyle/>
                    <a:p>
                      <a:pPr algn="r" rtl="0" fontAlgn="ctr"/>
                      <a:r>
                        <a:rPr lang="en-US" sz="1200" u="none" strike="noStrike">
                          <a:effectLst/>
                        </a:rPr>
                        <a:t>9</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82.8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425000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34</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330000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110184173"/>
                  </a:ext>
                </a:extLst>
              </a:tr>
              <a:tr h="178671">
                <a:tc>
                  <a:txBody>
                    <a:bodyPr/>
                    <a:lstStyle/>
                    <a:p>
                      <a:pPr algn="r" rtl="0" fontAlgn="ctr"/>
                      <a:r>
                        <a:rPr lang="en-US" sz="1200" u="none" strike="noStrike">
                          <a:effectLst/>
                        </a:rPr>
                        <a:t>10</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59</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240000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35</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50.08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265000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935630475"/>
                  </a:ext>
                </a:extLst>
              </a:tr>
              <a:tr h="178671">
                <a:tc>
                  <a:txBody>
                    <a:bodyPr/>
                    <a:lstStyle/>
                    <a:p>
                      <a:pPr algn="r" rtl="0" fontAlgn="ctr"/>
                      <a:r>
                        <a:rPr lang="en-US" sz="1200" u="none" strike="noStrike">
                          <a:effectLst/>
                        </a:rPr>
                        <a:t>11</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250000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36</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56</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340000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2207535623"/>
                  </a:ext>
                </a:extLst>
              </a:tr>
              <a:tr h="178671">
                <a:tc>
                  <a:txBody>
                    <a:bodyPr/>
                    <a:lstStyle/>
                    <a:p>
                      <a:pPr algn="r" rtl="0" fontAlgn="ctr"/>
                      <a:r>
                        <a:rPr lang="en-US" sz="1200" u="none" strike="noStrike">
                          <a:effectLst/>
                        </a:rPr>
                        <a:t>12</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180000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37</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177600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918050493"/>
                  </a:ext>
                </a:extLst>
              </a:tr>
              <a:tr h="178671">
                <a:tc>
                  <a:txBody>
                    <a:bodyPr/>
                    <a:lstStyle/>
                    <a:p>
                      <a:pPr algn="r" rtl="0" fontAlgn="ctr"/>
                      <a:r>
                        <a:rPr lang="en-US" sz="1200" u="none" strike="noStrike">
                          <a:effectLst/>
                        </a:rPr>
                        <a:t>13</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66</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428000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52</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236000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454644253"/>
                  </a:ext>
                </a:extLst>
              </a:tr>
              <a:tr h="178671">
                <a:tc>
                  <a:txBody>
                    <a:bodyPr/>
                    <a:lstStyle/>
                    <a:p>
                      <a:pPr algn="r" rtl="0" fontAlgn="ctr"/>
                      <a:r>
                        <a:rPr lang="en-US" sz="1200" u="none" strike="noStrike">
                          <a:effectLst/>
                        </a:rPr>
                        <a:t>14</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83</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450000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39</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54</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265000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4285542393"/>
                  </a:ext>
                </a:extLst>
              </a:tr>
              <a:tr h="178671">
                <a:tc>
                  <a:txBody>
                    <a:bodyPr/>
                    <a:lstStyle/>
                    <a:p>
                      <a:pPr algn="r" rtl="0" fontAlgn="ctr"/>
                      <a:r>
                        <a:rPr lang="en-US" sz="1200" u="none" strike="noStrike">
                          <a:effectLst/>
                        </a:rPr>
                        <a:t>15</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300000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52</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200000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336436369"/>
                  </a:ext>
                </a:extLst>
              </a:tr>
              <a:tr h="178671">
                <a:tc>
                  <a:txBody>
                    <a:bodyPr/>
                    <a:lstStyle/>
                    <a:p>
                      <a:pPr algn="r" rtl="0" fontAlgn="ctr"/>
                      <a:r>
                        <a:rPr lang="en-US" sz="1200" u="none" strike="noStrike">
                          <a:effectLst/>
                        </a:rPr>
                        <a:t>16</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37.33</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240000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41</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76</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393000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407276512"/>
                  </a:ext>
                </a:extLst>
              </a:tr>
              <a:tr h="178671">
                <a:tc>
                  <a:txBody>
                    <a:bodyPr/>
                    <a:lstStyle/>
                    <a:p>
                      <a:pPr algn="r" rtl="0" fontAlgn="ctr"/>
                      <a:r>
                        <a:rPr lang="en-US" sz="1200" u="none" strike="noStrike">
                          <a:effectLst/>
                        </a:rPr>
                        <a:t>17</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79</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252000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42</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64.8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360000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2002117847"/>
                  </a:ext>
                </a:extLst>
              </a:tr>
              <a:tr h="178671">
                <a:tc>
                  <a:txBody>
                    <a:bodyPr/>
                    <a:lstStyle/>
                    <a:p>
                      <a:pPr algn="r" rtl="0" fontAlgn="ctr"/>
                      <a:r>
                        <a:rPr lang="en-US" sz="1200" u="none" strike="noStrike">
                          <a:effectLst/>
                        </a:rPr>
                        <a:t>18</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68.4</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280000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43</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74.4</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300000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2825250091"/>
                  </a:ext>
                </a:extLst>
              </a:tr>
              <a:tr h="178671">
                <a:tc>
                  <a:txBody>
                    <a:bodyPr/>
                    <a:lstStyle/>
                    <a:p>
                      <a:pPr algn="r" rtl="0" fontAlgn="ctr"/>
                      <a:r>
                        <a:rPr lang="en-US" sz="1200" u="none" strike="noStrike">
                          <a:effectLst/>
                        </a:rPr>
                        <a:t>19</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231000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44</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74.5</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250000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498323948"/>
                  </a:ext>
                </a:extLst>
              </a:tr>
              <a:tr h="178671">
                <a:tc>
                  <a:txBody>
                    <a:bodyPr/>
                    <a:lstStyle/>
                    <a:p>
                      <a:pPr algn="r" rtl="0" fontAlgn="ctr"/>
                      <a:r>
                        <a:rPr lang="en-US" sz="1200" u="none" strike="noStrike">
                          <a:effectLst/>
                        </a:rPr>
                        <a:t>20</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59</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224000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45</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73.5</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360000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911982843"/>
                  </a:ext>
                </a:extLst>
              </a:tr>
              <a:tr h="178671">
                <a:tc>
                  <a:txBody>
                    <a:bodyPr/>
                    <a:lstStyle/>
                    <a:p>
                      <a:pPr algn="r" rtl="0" fontAlgn="ctr"/>
                      <a:r>
                        <a:rPr lang="en-US" sz="1200" u="none" strike="noStrike">
                          <a:effectLst/>
                        </a:rPr>
                        <a:t>21</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63</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120000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46</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57.58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180000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425296228"/>
                  </a:ext>
                </a:extLst>
              </a:tr>
              <a:tr h="178671">
                <a:tc>
                  <a:txBody>
                    <a:bodyPr/>
                    <a:lstStyle/>
                    <a:p>
                      <a:pPr algn="r" rtl="0" fontAlgn="ctr"/>
                      <a:r>
                        <a:rPr lang="en-US" sz="1200" u="none" strike="noStrike">
                          <a:effectLst/>
                        </a:rPr>
                        <a:t>22</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260000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47</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180000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549078374"/>
                  </a:ext>
                </a:extLst>
              </a:tr>
              <a:tr h="178671">
                <a:tc>
                  <a:txBody>
                    <a:bodyPr/>
                    <a:lstStyle/>
                    <a:p>
                      <a:pPr algn="r" rtl="0" fontAlgn="ctr"/>
                      <a:r>
                        <a:rPr lang="en-US" sz="1200" u="none" strike="noStrike">
                          <a:effectLst/>
                        </a:rPr>
                        <a:t>23</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69</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300000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69</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270000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1136641897"/>
                  </a:ext>
                </a:extLst>
              </a:tr>
              <a:tr h="178671">
                <a:tc>
                  <a:txBody>
                    <a:bodyPr/>
                    <a:lstStyle/>
                    <a:p>
                      <a:pPr algn="r" rtl="0" fontAlgn="ctr"/>
                      <a:r>
                        <a:rPr lang="en-US" sz="1200" u="none" strike="noStrike">
                          <a:effectLst/>
                        </a:rPr>
                        <a:t>24</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52</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120000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49</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66</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240000</a:t>
                      </a:r>
                      <a:endParaRPr lang="en-US" sz="1200" b="0" i="0" u="none" strike="noStrike">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3877556728"/>
                  </a:ext>
                </a:extLst>
              </a:tr>
              <a:tr h="178671">
                <a:tc>
                  <a:txBody>
                    <a:bodyPr/>
                    <a:lstStyle/>
                    <a:p>
                      <a:pPr algn="r" rtl="0" fontAlgn="ctr"/>
                      <a:r>
                        <a:rPr lang="en-US" sz="1200" u="none" strike="noStrike">
                          <a:effectLst/>
                        </a:rPr>
                        <a:t>25</a:t>
                      </a:r>
                      <a:endParaRPr lang="en-US" sz="1200" b="1" i="0" u="none" strike="noStrike">
                        <a:solidFill>
                          <a:srgbClr val="FFFFFF"/>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49</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120000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50</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a:effectLst/>
                        </a:rPr>
                        <a:t>60.8</a:t>
                      </a:r>
                      <a:endParaRPr lang="en-US" sz="1200" b="0" i="0" u="none" strike="noStrike">
                        <a:solidFill>
                          <a:srgbClr val="000000"/>
                        </a:solidFill>
                        <a:effectLst/>
                        <a:latin typeface="Gill Sans MT" panose="020B0502020104020203" pitchFamily="34" charset="0"/>
                      </a:endParaRPr>
                    </a:p>
                  </a:txBody>
                  <a:tcPr marL="7413" marR="7413" marT="7413" marB="0" anchor="ctr"/>
                </a:tc>
                <a:tc>
                  <a:txBody>
                    <a:bodyPr/>
                    <a:lstStyle/>
                    <a:p>
                      <a:pPr algn="r" rtl="0" fontAlgn="ctr"/>
                      <a:r>
                        <a:rPr lang="en-US" sz="1200" u="none" strike="noStrike" dirty="0">
                          <a:effectLst/>
                        </a:rPr>
                        <a:t>300000</a:t>
                      </a:r>
                      <a:endParaRPr lang="en-US" sz="1200" b="0" i="0" u="none" strike="noStrike" dirty="0">
                        <a:solidFill>
                          <a:srgbClr val="000000"/>
                        </a:solidFill>
                        <a:effectLst/>
                        <a:latin typeface="Gill Sans MT" panose="020B0502020104020203" pitchFamily="34" charset="0"/>
                      </a:endParaRPr>
                    </a:p>
                  </a:txBody>
                  <a:tcPr marL="7413" marR="7413" marT="7413" marB="0" anchor="ctr"/>
                </a:tc>
                <a:extLst>
                  <a:ext uri="{0D108BD9-81ED-4DB2-BD59-A6C34878D82A}">
                    <a16:rowId xmlns:a16="http://schemas.microsoft.com/office/drawing/2014/main" val="2145494078"/>
                  </a:ext>
                </a:extLst>
              </a:tr>
            </a:tbl>
          </a:graphicData>
        </a:graphic>
      </p:graphicFrame>
    </p:spTree>
    <p:extLst>
      <p:ext uri="{BB962C8B-B14F-4D97-AF65-F5344CB8AC3E}">
        <p14:creationId xmlns:p14="http://schemas.microsoft.com/office/powerpoint/2010/main" val="34437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F0006-8A2E-4B6F-8082-E72832E38590}"/>
              </a:ext>
            </a:extLst>
          </p:cNvPr>
          <p:cNvSpPr>
            <a:spLocks noGrp="1"/>
          </p:cNvSpPr>
          <p:nvPr>
            <p:ph type="title"/>
          </p:nvPr>
        </p:nvSpPr>
        <p:spPr>
          <a:xfrm>
            <a:off x="628650" y="403227"/>
            <a:ext cx="7886700" cy="663573"/>
          </a:xfrm>
        </p:spPr>
        <p:txBody>
          <a:bodyPr>
            <a:normAutofit/>
          </a:bodyPr>
          <a:lstStyle/>
          <a:p>
            <a:pPr algn="just"/>
            <a:r>
              <a:rPr lang="en-IN" sz="3200" b="1" dirty="0">
                <a:solidFill>
                  <a:srgbClr val="C00000"/>
                </a:solidFill>
              </a:rPr>
              <a:t>Solution</a:t>
            </a:r>
          </a:p>
        </p:txBody>
      </p:sp>
      <p:sp>
        <p:nvSpPr>
          <p:cNvPr id="3" name="Content Placeholder 2">
            <a:extLst>
              <a:ext uri="{FF2B5EF4-FFF2-40B4-BE49-F238E27FC236}">
                <a16:creationId xmlns:a16="http://schemas.microsoft.com/office/drawing/2014/main" id="{82907C08-4490-4CCA-856B-B09C8B99A2E4}"/>
              </a:ext>
            </a:extLst>
          </p:cNvPr>
          <p:cNvSpPr>
            <a:spLocks noGrp="1"/>
          </p:cNvSpPr>
          <p:nvPr>
            <p:ph idx="1"/>
          </p:nvPr>
        </p:nvSpPr>
        <p:spPr>
          <a:xfrm>
            <a:off x="628650" y="1143001"/>
            <a:ext cx="7981950" cy="5349872"/>
          </a:xfrm>
        </p:spPr>
        <p:txBody>
          <a:bodyPr>
            <a:normAutofit fontScale="92500" lnSpcReduction="10000"/>
          </a:bodyPr>
          <a:lstStyle/>
          <a:p>
            <a:pPr marL="0" indent="0" algn="just">
              <a:buNone/>
            </a:pPr>
            <a:r>
              <a:rPr lang="en-GB" dirty="0"/>
              <a:t>Using </a:t>
            </a:r>
            <a:r>
              <a:rPr lang="en-GB" dirty="0" err="1"/>
              <a:t>Eqs</a:t>
            </a:r>
            <a:r>
              <a:rPr lang="en-GB" dirty="0"/>
              <a:t>., the estimated values of  </a:t>
            </a:r>
            <a:r>
              <a:rPr lang="en-GB" baseline="-25000" dirty="0"/>
              <a:t>0</a:t>
            </a:r>
            <a:r>
              <a:rPr lang="en-GB" dirty="0"/>
              <a:t> and   </a:t>
            </a:r>
            <a:r>
              <a:rPr lang="en-GB" baseline="-25000" dirty="0"/>
              <a:t>1</a:t>
            </a:r>
            <a:r>
              <a:rPr lang="en-GB" dirty="0"/>
              <a:t> are given </a:t>
            </a:r>
            <a:r>
              <a:rPr lang="en-US" dirty="0"/>
              <a:t>by</a:t>
            </a:r>
          </a:p>
          <a:p>
            <a:pPr marL="0" indent="0" algn="just">
              <a:buNone/>
            </a:pPr>
            <a:endParaRPr lang="en-US" dirty="0"/>
          </a:p>
          <a:p>
            <a:pPr marL="0" indent="0" algn="just">
              <a:buNone/>
            </a:pPr>
            <a:endParaRPr lang="en-US" dirty="0"/>
          </a:p>
          <a:p>
            <a:pPr marL="0" indent="0" algn="just">
              <a:buNone/>
            </a:pPr>
            <a:r>
              <a:rPr lang="en-GB" dirty="0"/>
              <a:t>The corresponding regression equation is given by</a:t>
            </a:r>
          </a:p>
          <a:p>
            <a:pPr marL="0" indent="0" algn="just">
              <a:buNone/>
            </a:pPr>
            <a:endParaRPr lang="en-GB" dirty="0"/>
          </a:p>
          <a:p>
            <a:pPr marL="0" indent="0" algn="just">
              <a:buNone/>
            </a:pPr>
            <a:endParaRPr lang="en-GB" dirty="0"/>
          </a:p>
          <a:p>
            <a:pPr marL="0" indent="0" algn="just">
              <a:buNone/>
            </a:pPr>
            <a:endParaRPr lang="en-GB" dirty="0"/>
          </a:p>
          <a:p>
            <a:pPr marL="0" indent="0" algn="just">
              <a:buNone/>
            </a:pPr>
            <a:r>
              <a:rPr lang="en-GB" dirty="0"/>
              <a:t>Where     is the predicted value of Y for a given value of </a:t>
            </a:r>
            <a:r>
              <a:rPr lang="en-GB" i="1" dirty="0"/>
              <a:t>X</a:t>
            </a:r>
            <a:r>
              <a:rPr lang="en-GB" i="1" baseline="-25000" dirty="0"/>
              <a:t>i</a:t>
            </a:r>
            <a:r>
              <a:rPr lang="en-GB" sz="1350" dirty="0"/>
              <a:t>.</a:t>
            </a:r>
            <a:r>
              <a:rPr lang="en-GB" dirty="0"/>
              <a:t> .</a:t>
            </a:r>
          </a:p>
          <a:p>
            <a:pPr marL="0" indent="0" algn="just">
              <a:buNone/>
            </a:pPr>
            <a:r>
              <a:rPr lang="en-GB" dirty="0"/>
              <a:t>The equation can be interpreted as follows: for every one percentage increase in grade 10 marks, the salary of the MBA students will increase at the rate of 3076.1774 on an average.  The notations </a:t>
            </a:r>
            <a:endParaRPr lang="en-IN" sz="1350" dirty="0"/>
          </a:p>
          <a:p>
            <a:pPr marL="0" indent="0">
              <a:buNone/>
            </a:pPr>
            <a:endParaRPr lang="en-US" dirty="0"/>
          </a:p>
          <a:p>
            <a:pPr marL="0" indent="0">
              <a:buNone/>
            </a:pPr>
            <a:endParaRPr lang="en-IN" dirty="0"/>
          </a:p>
          <a:p>
            <a:endParaRPr lang="en-IN" dirty="0"/>
          </a:p>
        </p:txBody>
      </p:sp>
      <p:cxnSp>
        <p:nvCxnSpPr>
          <p:cNvPr id="4" name="Straight Arrow Connector 3">
            <a:extLst>
              <a:ext uri="{FF2B5EF4-FFF2-40B4-BE49-F238E27FC236}">
                <a16:creationId xmlns:a16="http://schemas.microsoft.com/office/drawing/2014/main" id="{5C1DC10D-B70A-4692-AB77-A1D59DDE5302}"/>
              </a:ext>
            </a:extLst>
          </p:cNvPr>
          <p:cNvCxnSpPr>
            <a:cxnSpLocks/>
          </p:cNvCxnSpPr>
          <p:nvPr/>
        </p:nvCxnSpPr>
        <p:spPr>
          <a:xfrm>
            <a:off x="5410200" y="1200150"/>
            <a:ext cx="0" cy="2286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B745E473-1B7C-4BA6-B5DA-7BB952247C92}"/>
              </a:ext>
            </a:extLst>
          </p:cNvPr>
          <p:cNvCxnSpPr>
            <a:cxnSpLocks/>
          </p:cNvCxnSpPr>
          <p:nvPr/>
        </p:nvCxnSpPr>
        <p:spPr>
          <a:xfrm>
            <a:off x="6324600" y="1167618"/>
            <a:ext cx="0" cy="2286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Rectangle 2">
            <a:extLst>
              <a:ext uri="{FF2B5EF4-FFF2-40B4-BE49-F238E27FC236}">
                <a16:creationId xmlns:a16="http://schemas.microsoft.com/office/drawing/2014/main" id="{4B11687A-0B4F-4D0F-AB1B-D0BDA68E7905}"/>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E7BCC674-D7B3-40AE-A1E6-C1E5397FACFA}"/>
              </a:ext>
            </a:extLst>
          </p:cNvPr>
          <p:cNvGraphicFramePr>
            <a:graphicFrameLocks noChangeAspect="1"/>
          </p:cNvGraphicFramePr>
          <p:nvPr>
            <p:extLst>
              <p:ext uri="{D42A27DB-BD31-4B8C-83A1-F6EECF244321}">
                <p14:modId xmlns:p14="http://schemas.microsoft.com/office/powerpoint/2010/main" val="2310520135"/>
              </p:ext>
            </p:extLst>
          </p:nvPr>
        </p:nvGraphicFramePr>
        <p:xfrm>
          <a:off x="1281565" y="1790700"/>
          <a:ext cx="4433432" cy="647700"/>
        </p:xfrm>
        <a:graphic>
          <a:graphicData uri="http://schemas.openxmlformats.org/presentationml/2006/ole">
            <mc:AlternateContent xmlns:mc="http://schemas.openxmlformats.org/markup-compatibility/2006">
              <mc:Choice xmlns:v="urn:schemas-microsoft-com:vml" Requires="v">
                <p:oleObj name="Equation" r:id="rId2" imgW="2336800" imgH="355600" progId="Equation.3">
                  <p:embed/>
                </p:oleObj>
              </mc:Choice>
              <mc:Fallback>
                <p:oleObj name="Equation" r:id="rId2" imgW="2336800" imgH="3556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5" y="1790700"/>
                        <a:ext cx="4433432" cy="647700"/>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8" name="Rectangle 4">
            <a:extLst>
              <a:ext uri="{FF2B5EF4-FFF2-40B4-BE49-F238E27FC236}">
                <a16:creationId xmlns:a16="http://schemas.microsoft.com/office/drawing/2014/main" id="{BE5791FF-F071-4203-AD20-74C1B02F9E50}"/>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333C637D-902B-4E86-BF07-B4DDABCD6D4A}"/>
              </a:ext>
            </a:extLst>
          </p:cNvPr>
          <p:cNvGraphicFramePr>
            <a:graphicFrameLocks noChangeAspect="1"/>
          </p:cNvGraphicFramePr>
          <p:nvPr>
            <p:extLst>
              <p:ext uri="{D42A27DB-BD31-4B8C-83A1-F6EECF244321}">
                <p14:modId xmlns:p14="http://schemas.microsoft.com/office/powerpoint/2010/main" val="2009813114"/>
              </p:ext>
            </p:extLst>
          </p:nvPr>
        </p:nvGraphicFramePr>
        <p:xfrm>
          <a:off x="1281565" y="3162300"/>
          <a:ext cx="4433432" cy="571500"/>
        </p:xfrm>
        <a:graphic>
          <a:graphicData uri="http://schemas.openxmlformats.org/presentationml/2006/ole">
            <mc:AlternateContent xmlns:mc="http://schemas.openxmlformats.org/markup-compatibility/2006">
              <mc:Choice xmlns:v="urn:schemas-microsoft-com:vml" Requires="v">
                <p:oleObj name="Equation" r:id="rId4" imgW="1993900" imgH="355600" progId="Equation.3">
                  <p:embed/>
                </p:oleObj>
              </mc:Choice>
              <mc:Fallback>
                <p:oleObj name="Equation" r:id="rId4" imgW="1993900" imgH="355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1565" y="3162300"/>
                        <a:ext cx="4433432" cy="571500"/>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10" name="Rectangle 6">
            <a:extLst>
              <a:ext uri="{FF2B5EF4-FFF2-40B4-BE49-F238E27FC236}">
                <a16:creationId xmlns:a16="http://schemas.microsoft.com/office/drawing/2014/main" id="{7C1B0624-3653-4304-A492-CAA310A63D3C}"/>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11" name="Object 10">
            <a:extLst>
              <a:ext uri="{FF2B5EF4-FFF2-40B4-BE49-F238E27FC236}">
                <a16:creationId xmlns:a16="http://schemas.microsoft.com/office/drawing/2014/main" id="{887D8897-84BE-4E42-8DE5-0517AD0D07B1}"/>
              </a:ext>
            </a:extLst>
          </p:cNvPr>
          <p:cNvGraphicFramePr>
            <a:graphicFrameLocks noChangeAspect="1"/>
          </p:cNvGraphicFramePr>
          <p:nvPr>
            <p:extLst>
              <p:ext uri="{D42A27DB-BD31-4B8C-83A1-F6EECF244321}">
                <p14:modId xmlns:p14="http://schemas.microsoft.com/office/powerpoint/2010/main" val="2994502367"/>
              </p:ext>
            </p:extLst>
          </p:nvPr>
        </p:nvGraphicFramePr>
        <p:xfrm>
          <a:off x="1828800" y="4191000"/>
          <a:ext cx="457200" cy="432770"/>
        </p:xfrm>
        <a:graphic>
          <a:graphicData uri="http://schemas.openxmlformats.org/presentationml/2006/ole">
            <mc:AlternateContent xmlns:mc="http://schemas.openxmlformats.org/markup-compatibility/2006">
              <mc:Choice xmlns:v="urn:schemas-microsoft-com:vml" Requires="v">
                <p:oleObj name="Equation" r:id="rId6" imgW="152268" imgH="317225" progId="Equation.3">
                  <p:embed/>
                </p:oleObj>
              </mc:Choice>
              <mc:Fallback>
                <p:oleObj name="Equation" r:id="rId6" imgW="152268" imgH="317225"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4191000"/>
                        <a:ext cx="457200" cy="432770"/>
                      </a:xfrm>
                      <a:prstGeom prst="rect">
                        <a:avLst/>
                      </a:prstGeom>
                      <a:noFill/>
                    </p:spPr>
                  </p:pic>
                </p:oleObj>
              </mc:Fallback>
            </mc:AlternateContent>
          </a:graphicData>
        </a:graphic>
      </p:graphicFrame>
    </p:spTree>
    <p:extLst>
      <p:ext uri="{BB962C8B-B14F-4D97-AF65-F5344CB8AC3E}">
        <p14:creationId xmlns:p14="http://schemas.microsoft.com/office/powerpoint/2010/main" val="287066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1000"/>
                                        <p:tgtEl>
                                          <p:spTgt spid="3">
                                            <p:txEl>
                                              <p:pRg st="7" end="7"/>
                                            </p:txEl>
                                          </p:spTgt>
                                        </p:tgtEl>
                                      </p:cBhvr>
                                    </p:animEffect>
                                    <p:anim calcmode="lin" valueType="num">
                                      <p:cBhvr>
                                        <p:cTn id="4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6AA940-366F-49CB-B338-6F316BE8E41A}"/>
              </a:ext>
            </a:extLst>
          </p:cNvPr>
          <p:cNvSpPr>
            <a:spLocks noGrp="1"/>
          </p:cNvSpPr>
          <p:nvPr>
            <p:ph idx="1"/>
          </p:nvPr>
        </p:nvSpPr>
        <p:spPr>
          <a:xfrm>
            <a:off x="762000" y="1249682"/>
            <a:ext cx="7439465" cy="1950717"/>
          </a:xfrm>
        </p:spPr>
        <p:txBody>
          <a:bodyPr>
            <a:normAutofit/>
          </a:bodyPr>
          <a:lstStyle/>
          <a:p>
            <a:pPr marL="0" indent="0" algn="just">
              <a:buNone/>
            </a:pPr>
            <a:r>
              <a:rPr lang="en-GB" sz="2400" dirty="0"/>
              <a:t>               are used to denote that these are estimated values of the regression coefficients from the sample of 50 students.  </a:t>
            </a:r>
          </a:p>
          <a:p>
            <a:pPr marL="0" indent="0" algn="just">
              <a:buNone/>
            </a:pPr>
            <a:r>
              <a:rPr lang="en-GB" sz="2400" dirty="0"/>
              <a:t>The Microsoft Excel output for SLR model is shown in Table </a:t>
            </a:r>
            <a:endParaRPr lang="en-IN" sz="2400" dirty="0"/>
          </a:p>
        </p:txBody>
      </p:sp>
      <p:sp>
        <p:nvSpPr>
          <p:cNvPr id="4" name="Rectangle 2">
            <a:extLst>
              <a:ext uri="{FF2B5EF4-FFF2-40B4-BE49-F238E27FC236}">
                <a16:creationId xmlns:a16="http://schemas.microsoft.com/office/drawing/2014/main" id="{CBABC375-D80D-4007-AF99-B192F60E8C89}"/>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9BC4247F-F720-4ADD-A893-8D444A8220D3}"/>
              </a:ext>
            </a:extLst>
          </p:cNvPr>
          <p:cNvGraphicFramePr>
            <a:graphicFrameLocks noChangeAspect="1"/>
          </p:cNvGraphicFramePr>
          <p:nvPr>
            <p:extLst>
              <p:ext uri="{D42A27DB-BD31-4B8C-83A1-F6EECF244321}">
                <p14:modId xmlns:p14="http://schemas.microsoft.com/office/powerpoint/2010/main" val="4142807606"/>
              </p:ext>
            </p:extLst>
          </p:nvPr>
        </p:nvGraphicFramePr>
        <p:xfrm>
          <a:off x="974188" y="1200149"/>
          <a:ext cx="1004434" cy="476251"/>
        </p:xfrm>
        <a:graphic>
          <a:graphicData uri="http://schemas.openxmlformats.org/presentationml/2006/ole">
            <mc:AlternateContent xmlns:mc="http://schemas.openxmlformats.org/markup-compatibility/2006">
              <mc:Choice xmlns:v="urn:schemas-microsoft-com:vml" Requires="v">
                <p:oleObj name="Equation" r:id="rId2" imgW="660113" imgH="355446" progId="Equation.3">
                  <p:embed/>
                </p:oleObj>
              </mc:Choice>
              <mc:Fallback>
                <p:oleObj name="Equation" r:id="rId2" imgW="660113" imgH="355446"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188" y="1200149"/>
                        <a:ext cx="1004434" cy="476251"/>
                      </a:xfrm>
                      <a:prstGeom prst="rect">
                        <a:avLst/>
                      </a:prstGeom>
                      <a:noFill/>
                    </p:spPr>
                  </p:pic>
                </p:oleObj>
              </mc:Fallback>
            </mc:AlternateContent>
          </a:graphicData>
        </a:graphic>
      </p:graphicFrame>
      <p:graphicFrame>
        <p:nvGraphicFramePr>
          <p:cNvPr id="6" name="Table 5">
            <a:extLst>
              <a:ext uri="{FF2B5EF4-FFF2-40B4-BE49-F238E27FC236}">
                <a16:creationId xmlns:a16="http://schemas.microsoft.com/office/drawing/2014/main" id="{CD2B48F9-D0AB-47E3-9FA6-D2B93C3DAE9B}"/>
              </a:ext>
            </a:extLst>
          </p:cNvPr>
          <p:cNvGraphicFramePr>
            <a:graphicFrameLocks noGrp="1"/>
          </p:cNvGraphicFramePr>
          <p:nvPr>
            <p:extLst>
              <p:ext uri="{D42A27DB-BD31-4B8C-83A1-F6EECF244321}">
                <p14:modId xmlns:p14="http://schemas.microsoft.com/office/powerpoint/2010/main" val="1449575509"/>
              </p:ext>
            </p:extLst>
          </p:nvPr>
        </p:nvGraphicFramePr>
        <p:xfrm>
          <a:off x="1447800" y="3652913"/>
          <a:ext cx="5531417" cy="1676399"/>
        </p:xfrm>
        <a:graphic>
          <a:graphicData uri="http://schemas.openxmlformats.org/drawingml/2006/table">
            <a:tbl>
              <a:tblPr firstRow="1" firstCol="1" bandRow="1">
                <a:tableStyleId>{5C22544A-7EE6-4342-B048-85BDC9FD1C3A}</a:tableStyleId>
              </a:tblPr>
              <a:tblGrid>
                <a:gridCol w="1741580">
                  <a:extLst>
                    <a:ext uri="{9D8B030D-6E8A-4147-A177-3AD203B41FA5}">
                      <a16:colId xmlns:a16="http://schemas.microsoft.com/office/drawing/2014/main" val="2776972094"/>
                    </a:ext>
                  </a:extLst>
                </a:gridCol>
                <a:gridCol w="1066800">
                  <a:extLst>
                    <a:ext uri="{9D8B030D-6E8A-4147-A177-3AD203B41FA5}">
                      <a16:colId xmlns:a16="http://schemas.microsoft.com/office/drawing/2014/main" val="3749518025"/>
                    </a:ext>
                  </a:extLst>
                </a:gridCol>
                <a:gridCol w="1066800">
                  <a:extLst>
                    <a:ext uri="{9D8B030D-6E8A-4147-A177-3AD203B41FA5}">
                      <a16:colId xmlns:a16="http://schemas.microsoft.com/office/drawing/2014/main" val="1236776547"/>
                    </a:ext>
                  </a:extLst>
                </a:gridCol>
                <a:gridCol w="762000">
                  <a:extLst>
                    <a:ext uri="{9D8B030D-6E8A-4147-A177-3AD203B41FA5}">
                      <a16:colId xmlns:a16="http://schemas.microsoft.com/office/drawing/2014/main" val="323749718"/>
                    </a:ext>
                  </a:extLst>
                </a:gridCol>
                <a:gridCol w="894237">
                  <a:extLst>
                    <a:ext uri="{9D8B030D-6E8A-4147-A177-3AD203B41FA5}">
                      <a16:colId xmlns:a16="http://schemas.microsoft.com/office/drawing/2014/main" val="3601593224"/>
                    </a:ext>
                  </a:extLst>
                </a:gridCol>
              </a:tblGrid>
              <a:tr h="663191">
                <a:tc>
                  <a:txBody>
                    <a:bodyPr/>
                    <a:lstStyle/>
                    <a:p>
                      <a:pPr algn="just">
                        <a:lnSpc>
                          <a:spcPct val="150000"/>
                        </a:lnSpc>
                        <a:spcAft>
                          <a:spcPts val="0"/>
                        </a:spcAft>
                      </a:pPr>
                      <a:r>
                        <a:rPr lang="en-GB" sz="1200">
                          <a:effectLst/>
                        </a:rPr>
                        <a:t> </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dirty="0">
                          <a:effectLst/>
                        </a:rPr>
                        <a:t>Coefficients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a:effectLst/>
                        </a:rPr>
                        <a:t>Standard Error</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a:effectLst/>
                        </a:rPr>
                        <a:t>t-stat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a:effectLst/>
                        </a:rPr>
                        <a:t>p-value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338192929"/>
                  </a:ext>
                </a:extLst>
              </a:tr>
              <a:tr h="506604">
                <a:tc>
                  <a:txBody>
                    <a:bodyPr/>
                    <a:lstStyle/>
                    <a:p>
                      <a:pPr algn="just">
                        <a:lnSpc>
                          <a:spcPct val="150000"/>
                        </a:lnSpc>
                        <a:spcAft>
                          <a:spcPts val="0"/>
                        </a:spcAft>
                      </a:pPr>
                      <a:r>
                        <a:rPr lang="en-GB" sz="1200">
                          <a:effectLst/>
                        </a:rPr>
                        <a:t>Intercept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a:effectLst/>
                        </a:rPr>
                        <a:t>61555.35534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a:effectLst/>
                        </a:rPr>
                        <a:t>66701.901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a:effectLst/>
                        </a:rPr>
                        <a:t>0.9228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a:effectLst/>
                        </a:rPr>
                        <a:t>0.3607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3087127040"/>
                  </a:ext>
                </a:extLst>
              </a:tr>
              <a:tr h="506604">
                <a:tc>
                  <a:txBody>
                    <a:bodyPr/>
                    <a:lstStyle/>
                    <a:p>
                      <a:pPr algn="just">
                        <a:lnSpc>
                          <a:spcPct val="150000"/>
                        </a:lnSpc>
                        <a:spcAft>
                          <a:spcPts val="0"/>
                        </a:spcAft>
                      </a:pPr>
                      <a:r>
                        <a:rPr lang="en-GB" sz="1200">
                          <a:effectLst/>
                        </a:rPr>
                        <a:t>Percentage in grade 10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dirty="0">
                          <a:effectLst/>
                        </a:rPr>
                        <a:t>3076.177438</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a:effectLst/>
                        </a:rPr>
                        <a:t>1031.5258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a:effectLst/>
                        </a:rPr>
                        <a:t>2.9821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just">
                        <a:lnSpc>
                          <a:spcPct val="150000"/>
                        </a:lnSpc>
                        <a:spcAft>
                          <a:spcPts val="0"/>
                        </a:spcAft>
                      </a:pPr>
                      <a:r>
                        <a:rPr lang="en-GB" sz="1200" dirty="0">
                          <a:effectLst/>
                        </a:rPr>
                        <a:t>0.0044</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3982654370"/>
                  </a:ext>
                </a:extLst>
              </a:tr>
            </a:tbl>
          </a:graphicData>
        </a:graphic>
      </p:graphicFrame>
      <p:sp>
        <p:nvSpPr>
          <p:cNvPr id="7" name="Title 1">
            <a:extLst>
              <a:ext uri="{FF2B5EF4-FFF2-40B4-BE49-F238E27FC236}">
                <a16:creationId xmlns:a16="http://schemas.microsoft.com/office/drawing/2014/main" id="{EE4CE385-3540-41D1-92DF-4B0CB985789A}"/>
              </a:ext>
            </a:extLst>
          </p:cNvPr>
          <p:cNvSpPr>
            <a:spLocks noGrp="1"/>
          </p:cNvSpPr>
          <p:nvPr>
            <p:ph type="title"/>
          </p:nvPr>
        </p:nvSpPr>
        <p:spPr>
          <a:xfrm>
            <a:off x="628650" y="365127"/>
            <a:ext cx="7886700" cy="663573"/>
          </a:xfrm>
        </p:spPr>
        <p:txBody>
          <a:bodyPr>
            <a:normAutofit/>
          </a:bodyPr>
          <a:lstStyle/>
          <a:p>
            <a:pPr algn="just"/>
            <a:r>
              <a:rPr lang="en-IN" sz="3200" b="1" dirty="0">
                <a:solidFill>
                  <a:srgbClr val="C00000"/>
                </a:solidFill>
              </a:rPr>
              <a:t>Solution Continued</a:t>
            </a:r>
          </a:p>
        </p:txBody>
      </p:sp>
    </p:spTree>
    <p:extLst>
      <p:ext uri="{BB962C8B-B14F-4D97-AF65-F5344CB8AC3E}">
        <p14:creationId xmlns:p14="http://schemas.microsoft.com/office/powerpoint/2010/main" val="41540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inVertical)">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69695-FCAF-4F38-B679-91CE5614A65F}"/>
              </a:ext>
            </a:extLst>
          </p:cNvPr>
          <p:cNvSpPr>
            <a:spLocks noGrp="1"/>
          </p:cNvSpPr>
          <p:nvPr>
            <p:ph type="title"/>
          </p:nvPr>
        </p:nvSpPr>
        <p:spPr>
          <a:xfrm>
            <a:off x="628650" y="381000"/>
            <a:ext cx="8134350" cy="625474"/>
          </a:xfrm>
        </p:spPr>
        <p:txBody>
          <a:bodyPr>
            <a:noAutofit/>
          </a:bodyPr>
          <a:lstStyle/>
          <a:p>
            <a:pPr algn="ctr"/>
            <a:r>
              <a:rPr lang="en-GB" sz="2800" b="1" dirty="0">
                <a:solidFill>
                  <a:srgbClr val="C00000"/>
                </a:solidFill>
              </a:rPr>
              <a:t>Interpretation of Simple Linear Regression Coefficients</a:t>
            </a:r>
            <a:endParaRPr lang="en-IN" sz="2800" dirty="0">
              <a:solidFill>
                <a:srgbClr val="C00000"/>
              </a:solidFill>
            </a:endParaRPr>
          </a:p>
        </p:txBody>
      </p:sp>
      <p:sp>
        <p:nvSpPr>
          <p:cNvPr id="3" name="Content Placeholder 2">
            <a:extLst>
              <a:ext uri="{FF2B5EF4-FFF2-40B4-BE49-F238E27FC236}">
                <a16:creationId xmlns:a16="http://schemas.microsoft.com/office/drawing/2014/main" id="{D650763F-718B-445E-8E5F-A25919F2230A}"/>
              </a:ext>
            </a:extLst>
          </p:cNvPr>
          <p:cNvSpPr>
            <a:spLocks noGrp="1"/>
          </p:cNvSpPr>
          <p:nvPr>
            <p:ph idx="1"/>
          </p:nvPr>
        </p:nvSpPr>
        <p:spPr>
          <a:xfrm>
            <a:off x="504824" y="1253330"/>
            <a:ext cx="8258175" cy="5071269"/>
          </a:xfrm>
        </p:spPr>
        <p:txBody>
          <a:bodyPr>
            <a:normAutofit lnSpcReduction="10000"/>
          </a:bodyPr>
          <a:lstStyle/>
          <a:p>
            <a:pPr algn="just"/>
            <a:r>
              <a:rPr lang="en-GB" sz="2200" dirty="0"/>
              <a:t>Interpretation of regression coefficients is important for understanding the relationship between the response variable and the explanatory variable and the impact of change in the values of explanatory variables on the response variable. </a:t>
            </a:r>
          </a:p>
          <a:p>
            <a:pPr marL="0" indent="0" algn="just">
              <a:buNone/>
            </a:pPr>
            <a:endParaRPr lang="en-GB" sz="2200" dirty="0"/>
          </a:p>
          <a:p>
            <a:pPr algn="just"/>
            <a:r>
              <a:rPr lang="en-GB" sz="2200" dirty="0"/>
              <a:t>The interpretation will depend on the functional form of the relationship between the response and the explanatory variables.</a:t>
            </a:r>
          </a:p>
          <a:p>
            <a:pPr algn="just"/>
            <a:endParaRPr lang="en-GB" sz="2200" dirty="0"/>
          </a:p>
          <a:p>
            <a:r>
              <a:rPr lang="en-GB" sz="2200" dirty="0"/>
              <a:t>Interpretation of   </a:t>
            </a:r>
            <a:r>
              <a:rPr lang="en-GB" sz="2200" dirty="0">
                <a:sym typeface="Symbol" panose="05050102010706020507" pitchFamily="18" charset="2"/>
              </a:rPr>
              <a:t></a:t>
            </a:r>
            <a:r>
              <a:rPr lang="en-GB" sz="2200" baseline="-25000" dirty="0"/>
              <a:t>0</a:t>
            </a:r>
            <a:r>
              <a:rPr lang="en-GB" sz="2200" dirty="0"/>
              <a:t> and </a:t>
            </a:r>
            <a:r>
              <a:rPr lang="en-GB" sz="2200" dirty="0">
                <a:sym typeface="Symbol" panose="05050102010706020507" pitchFamily="18" charset="2"/>
              </a:rPr>
              <a:t></a:t>
            </a:r>
            <a:r>
              <a:rPr lang="en-GB" sz="2200" baseline="-25000" dirty="0"/>
              <a:t>1</a:t>
            </a:r>
            <a:r>
              <a:rPr lang="en-GB" sz="2200" dirty="0"/>
              <a:t> in </a:t>
            </a:r>
            <a:r>
              <a:rPr lang="en-GB" sz="2200" i="1" dirty="0"/>
              <a:t>Y</a:t>
            </a:r>
            <a:r>
              <a:rPr lang="en-GB" sz="2200" dirty="0"/>
              <a:t> =  </a:t>
            </a:r>
            <a:r>
              <a:rPr lang="en-GB" sz="2200" baseline="-25000" dirty="0"/>
              <a:t>0</a:t>
            </a:r>
            <a:r>
              <a:rPr lang="en-GB" sz="2200" dirty="0"/>
              <a:t> +  </a:t>
            </a:r>
            <a:r>
              <a:rPr lang="en-GB" sz="2200" baseline="-25000" dirty="0"/>
              <a:t>1</a:t>
            </a:r>
            <a:r>
              <a:rPr lang="en-GB" sz="2200" dirty="0"/>
              <a:t> </a:t>
            </a:r>
            <a:r>
              <a:rPr lang="en-GB" sz="2200" i="1" dirty="0"/>
              <a:t>X</a:t>
            </a:r>
          </a:p>
          <a:p>
            <a:endParaRPr lang="en-GB" sz="2200" i="1" dirty="0"/>
          </a:p>
          <a:p>
            <a:pPr marL="0" indent="0">
              <a:buNone/>
            </a:pPr>
            <a:r>
              <a:rPr lang="en-GB" sz="2200" dirty="0"/>
              <a:t>When the functional form is </a:t>
            </a:r>
            <a:r>
              <a:rPr lang="en-GB" sz="2200" i="1" dirty="0"/>
              <a:t>Y</a:t>
            </a:r>
            <a:r>
              <a:rPr lang="en-GB" sz="2200" dirty="0"/>
              <a:t> = </a:t>
            </a:r>
            <a:r>
              <a:rPr lang="en-GB" sz="2200" dirty="0">
                <a:sym typeface="Symbol" panose="05050102010706020507" pitchFamily="18" charset="2"/>
              </a:rPr>
              <a:t></a:t>
            </a:r>
            <a:r>
              <a:rPr lang="en-GB" sz="2200" baseline="-25000" dirty="0"/>
              <a:t>0</a:t>
            </a:r>
            <a:r>
              <a:rPr lang="en-GB" sz="2200" dirty="0"/>
              <a:t> + </a:t>
            </a:r>
            <a:r>
              <a:rPr lang="en-GB" sz="2200" dirty="0">
                <a:sym typeface="Symbol" panose="05050102010706020507" pitchFamily="18" charset="2"/>
              </a:rPr>
              <a:t></a:t>
            </a:r>
            <a:r>
              <a:rPr lang="en-GB" sz="2200" baseline="-25000" dirty="0"/>
              <a:t>1</a:t>
            </a:r>
            <a:r>
              <a:rPr lang="en-GB" sz="2200" dirty="0"/>
              <a:t> </a:t>
            </a:r>
            <a:r>
              <a:rPr lang="en-GB" sz="2200" i="1" dirty="0"/>
              <a:t>X</a:t>
            </a:r>
            <a:r>
              <a:rPr lang="en-GB" sz="2200" b="1" dirty="0"/>
              <a:t>, </a:t>
            </a:r>
            <a:r>
              <a:rPr lang="en-GB" sz="2200" dirty="0"/>
              <a:t>the value of </a:t>
            </a:r>
            <a:r>
              <a:rPr lang="en-GB" sz="2200" dirty="0">
                <a:sym typeface="Symbol" panose="05050102010706020507" pitchFamily="18" charset="2"/>
              </a:rPr>
              <a:t></a:t>
            </a:r>
            <a:r>
              <a:rPr lang="en-GB" sz="2200" baseline="-25000" dirty="0"/>
              <a:t>0</a:t>
            </a:r>
            <a:r>
              <a:rPr lang="en-GB" sz="2200" b="1" baseline="-25000" dirty="0"/>
              <a:t> </a:t>
            </a:r>
            <a:r>
              <a:rPr lang="en-GB" sz="2200" dirty="0"/>
              <a:t>= </a:t>
            </a:r>
            <a:r>
              <a:rPr lang="en-GB" sz="2200" i="1" dirty="0"/>
              <a:t>E</a:t>
            </a:r>
            <a:r>
              <a:rPr lang="en-GB" sz="2200" dirty="0"/>
              <a:t>(</a:t>
            </a:r>
            <a:r>
              <a:rPr lang="en-GB" sz="2200" i="1" dirty="0"/>
              <a:t>Y|X</a:t>
            </a:r>
            <a:r>
              <a:rPr lang="en-GB" sz="2200" dirty="0"/>
              <a:t>=0).</a:t>
            </a:r>
          </a:p>
          <a:p>
            <a:pPr marL="0" indent="0">
              <a:buNone/>
            </a:pPr>
            <a:r>
              <a:rPr lang="en-GB" sz="2200" dirty="0"/>
              <a:t> </a:t>
            </a:r>
            <a:r>
              <a:rPr lang="en-GB" sz="2200" dirty="0">
                <a:sym typeface="Symbol" panose="05050102010706020507" pitchFamily="18" charset="2"/>
              </a:rPr>
              <a:t></a:t>
            </a:r>
            <a:r>
              <a:rPr lang="en-GB" sz="2200" baseline="-25000" dirty="0"/>
              <a:t>1</a:t>
            </a:r>
            <a:r>
              <a:rPr lang="en-GB" sz="2200" dirty="0"/>
              <a:t> =        that is </a:t>
            </a:r>
            <a:r>
              <a:rPr lang="en-GB" sz="2200" dirty="0">
                <a:sym typeface="Symbol" panose="05050102010706020507" pitchFamily="18" charset="2"/>
              </a:rPr>
              <a:t></a:t>
            </a:r>
            <a:r>
              <a:rPr lang="en-GB" sz="2200" baseline="-25000" dirty="0"/>
              <a:t>1</a:t>
            </a:r>
            <a:r>
              <a:rPr lang="en-GB" sz="2200" dirty="0"/>
              <a:t> is the change in the value of </a:t>
            </a:r>
            <a:r>
              <a:rPr lang="en-GB" sz="2200" i="1" dirty="0"/>
              <a:t>Y</a:t>
            </a:r>
            <a:r>
              <a:rPr lang="en-GB" sz="2200" dirty="0"/>
              <a:t> for the unit change in the value of </a:t>
            </a:r>
            <a:r>
              <a:rPr lang="en-GB" sz="2200" i="1" dirty="0"/>
              <a:t>X</a:t>
            </a:r>
            <a:r>
              <a:rPr lang="en-GB" sz="2200" dirty="0"/>
              <a:t>. Where         is the partial derivative of Y with respect to X.  </a:t>
            </a:r>
            <a:endParaRPr lang="en-IN" sz="2200" dirty="0"/>
          </a:p>
          <a:p>
            <a:pPr algn="just"/>
            <a:endParaRPr lang="en-IN" sz="2200" dirty="0"/>
          </a:p>
        </p:txBody>
      </p:sp>
      <p:graphicFrame>
        <p:nvGraphicFramePr>
          <p:cNvPr id="15" name="Object 14">
            <a:extLst>
              <a:ext uri="{FF2B5EF4-FFF2-40B4-BE49-F238E27FC236}">
                <a16:creationId xmlns:a16="http://schemas.microsoft.com/office/drawing/2014/main" id="{D319DF4F-608C-4FAB-9514-3A85D8DBFDEF}"/>
              </a:ext>
            </a:extLst>
          </p:cNvPr>
          <p:cNvGraphicFramePr>
            <a:graphicFrameLocks noChangeAspect="1"/>
          </p:cNvGraphicFramePr>
          <p:nvPr>
            <p:extLst>
              <p:ext uri="{D42A27DB-BD31-4B8C-83A1-F6EECF244321}">
                <p14:modId xmlns:p14="http://schemas.microsoft.com/office/powerpoint/2010/main" val="3141198316"/>
              </p:ext>
            </p:extLst>
          </p:nvPr>
        </p:nvGraphicFramePr>
        <p:xfrm>
          <a:off x="3429011" y="5295900"/>
          <a:ext cx="685789" cy="571500"/>
        </p:xfrm>
        <a:graphic>
          <a:graphicData uri="http://schemas.openxmlformats.org/presentationml/2006/ole">
            <mc:AlternateContent xmlns:mc="http://schemas.openxmlformats.org/markup-compatibility/2006">
              <mc:Choice xmlns:v="urn:schemas-microsoft-com:vml" Requires="v">
                <p:oleObj name="Equation" r:id="rId2" imgW="266469" imgH="393359" progId="Equation.3">
                  <p:embed/>
                </p:oleObj>
              </mc:Choice>
              <mc:Fallback>
                <p:oleObj name="Equation" r:id="rId2" imgW="266469" imgH="393359" progId="Equation.3">
                  <p:embed/>
                  <p:pic>
                    <p:nvPicPr>
                      <p:cNvPr id="15" name="Object 14">
                        <a:extLst>
                          <a:ext uri="{FF2B5EF4-FFF2-40B4-BE49-F238E27FC236}">
                            <a16:creationId xmlns:a16="http://schemas.microsoft.com/office/drawing/2014/main" id="{C3448ACD-522F-4297-9A6C-333AA12D6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11" y="5295900"/>
                        <a:ext cx="685789" cy="571500"/>
                      </a:xfrm>
                      <a:prstGeom prst="rect">
                        <a:avLst/>
                      </a:prstGeom>
                      <a:noFill/>
                    </p:spPr>
                  </p:pic>
                </p:oleObj>
              </mc:Fallback>
            </mc:AlternateContent>
          </a:graphicData>
        </a:graphic>
      </p:graphicFrame>
      <p:graphicFrame>
        <p:nvGraphicFramePr>
          <p:cNvPr id="16" name="Object 15">
            <a:extLst>
              <a:ext uri="{FF2B5EF4-FFF2-40B4-BE49-F238E27FC236}">
                <a16:creationId xmlns:a16="http://schemas.microsoft.com/office/drawing/2014/main" id="{2D29FF13-3F0F-4937-8EC5-6E961C4F6F04}"/>
              </a:ext>
            </a:extLst>
          </p:cNvPr>
          <p:cNvGraphicFramePr>
            <a:graphicFrameLocks noChangeAspect="1"/>
          </p:cNvGraphicFramePr>
          <p:nvPr>
            <p:extLst>
              <p:ext uri="{D42A27DB-BD31-4B8C-83A1-F6EECF244321}">
                <p14:modId xmlns:p14="http://schemas.microsoft.com/office/powerpoint/2010/main" val="2539910809"/>
              </p:ext>
            </p:extLst>
          </p:nvPr>
        </p:nvGraphicFramePr>
        <p:xfrm>
          <a:off x="1226237" y="4953000"/>
          <a:ext cx="526364" cy="506144"/>
        </p:xfrm>
        <a:graphic>
          <a:graphicData uri="http://schemas.openxmlformats.org/presentationml/2006/ole">
            <mc:AlternateContent xmlns:mc="http://schemas.openxmlformats.org/markup-compatibility/2006">
              <mc:Choice xmlns:v="urn:schemas-microsoft-com:vml" Requires="v">
                <p:oleObj name="Equation" r:id="rId2" imgW="266469" imgH="393359" progId="Equation.3">
                  <p:embed/>
                </p:oleObj>
              </mc:Choice>
              <mc:Fallback>
                <p:oleObj name="Equation" r:id="rId2" imgW="266469" imgH="393359" progId="Equation.3">
                  <p:embed/>
                  <p:pic>
                    <p:nvPicPr>
                      <p:cNvPr id="15" name="Object 14">
                        <a:extLst>
                          <a:ext uri="{FF2B5EF4-FFF2-40B4-BE49-F238E27FC236}">
                            <a16:creationId xmlns:a16="http://schemas.microsoft.com/office/drawing/2014/main" id="{C3448ACD-522F-4297-9A6C-333AA12D6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237" y="4953000"/>
                        <a:ext cx="526364" cy="506144"/>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350A3E7F-9940-D75F-8081-BE96F358935C}"/>
              </a:ext>
            </a:extLst>
          </p:cNvPr>
          <p:cNvGraphicFramePr>
            <a:graphicFrameLocks noChangeAspect="1"/>
          </p:cNvGraphicFramePr>
          <p:nvPr>
            <p:extLst>
              <p:ext uri="{D42A27DB-BD31-4B8C-83A1-F6EECF244321}">
                <p14:modId xmlns:p14="http://schemas.microsoft.com/office/powerpoint/2010/main" val="3421440796"/>
              </p:ext>
            </p:extLst>
          </p:nvPr>
        </p:nvGraphicFramePr>
        <p:xfrm>
          <a:off x="4724400" y="3987800"/>
          <a:ext cx="152400" cy="203200"/>
        </p:xfrm>
        <a:graphic>
          <a:graphicData uri="http://schemas.openxmlformats.org/presentationml/2006/ole">
            <mc:AlternateContent xmlns:mc="http://schemas.openxmlformats.org/markup-compatibility/2006">
              <mc:Choice xmlns:v="urn:schemas-microsoft-com:vml" Requires="v">
                <p:oleObj name="Equation" r:id="rId4" imgW="152280" imgH="203040" progId="Equation.DSMT4">
                  <p:embed/>
                </p:oleObj>
              </mc:Choice>
              <mc:Fallback>
                <p:oleObj name="Equation" r:id="rId4" imgW="152280" imgH="203040" progId="Equation.DSMT4">
                  <p:embed/>
                  <p:pic>
                    <p:nvPicPr>
                      <p:cNvPr id="0" name=""/>
                      <p:cNvPicPr/>
                      <p:nvPr/>
                    </p:nvPicPr>
                    <p:blipFill>
                      <a:blip r:embed="rId5"/>
                      <a:stretch>
                        <a:fillRect/>
                      </a:stretch>
                    </p:blipFill>
                    <p:spPr>
                      <a:xfrm>
                        <a:off x="4724400" y="3987800"/>
                        <a:ext cx="152400" cy="2032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DFD272D3-7248-2809-31CC-792A078A5F17}"/>
              </a:ext>
            </a:extLst>
          </p:cNvPr>
          <p:cNvGraphicFramePr>
            <a:graphicFrameLocks noChangeAspect="1"/>
          </p:cNvGraphicFramePr>
          <p:nvPr>
            <p:extLst>
              <p:ext uri="{D42A27DB-BD31-4B8C-83A1-F6EECF244321}">
                <p14:modId xmlns:p14="http://schemas.microsoft.com/office/powerpoint/2010/main" val="2178303901"/>
              </p:ext>
            </p:extLst>
          </p:nvPr>
        </p:nvGraphicFramePr>
        <p:xfrm>
          <a:off x="5276248" y="3987800"/>
          <a:ext cx="133952" cy="203200"/>
        </p:xfrm>
        <a:graphic>
          <a:graphicData uri="http://schemas.openxmlformats.org/presentationml/2006/ole">
            <mc:AlternateContent xmlns:mc="http://schemas.openxmlformats.org/markup-compatibility/2006">
              <mc:Choice xmlns:v="urn:schemas-microsoft-com:vml" Requires="v">
                <p:oleObj name="Equation" r:id="rId4" imgW="152280" imgH="203040" progId="Equation.DSMT4">
                  <p:embed/>
                </p:oleObj>
              </mc:Choice>
              <mc:Fallback>
                <p:oleObj name="Equation" r:id="rId4" imgW="152280" imgH="203040" progId="Equation.DSMT4">
                  <p:embed/>
                  <p:pic>
                    <p:nvPicPr>
                      <p:cNvPr id="0" name=""/>
                      <p:cNvPicPr/>
                      <p:nvPr/>
                    </p:nvPicPr>
                    <p:blipFill>
                      <a:blip r:embed="rId5"/>
                      <a:stretch>
                        <a:fillRect/>
                      </a:stretch>
                    </p:blipFill>
                    <p:spPr>
                      <a:xfrm>
                        <a:off x="5276248" y="3987800"/>
                        <a:ext cx="133952" cy="203200"/>
                      </a:xfrm>
                      <a:prstGeom prst="rect">
                        <a:avLst/>
                      </a:prstGeom>
                    </p:spPr>
                  </p:pic>
                </p:oleObj>
              </mc:Fallback>
            </mc:AlternateContent>
          </a:graphicData>
        </a:graphic>
      </p:graphicFrame>
    </p:spTree>
    <p:extLst>
      <p:ext uri="{BB962C8B-B14F-4D97-AF65-F5344CB8AC3E}">
        <p14:creationId xmlns:p14="http://schemas.microsoft.com/office/powerpoint/2010/main" val="2122428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1000"/>
                                        <p:tgtEl>
                                          <p:spTgt spid="3">
                                            <p:txEl>
                                              <p:pRg st="6" end="6"/>
                                            </p:txEl>
                                          </p:spTgt>
                                        </p:tgtEl>
                                      </p:cBhvr>
                                    </p:animEffect>
                                    <p:anim calcmode="lin" valueType="num">
                                      <p:cBhvr>
                                        <p:cTn id="3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1000"/>
                                        <p:tgtEl>
                                          <p:spTgt spid="3">
                                            <p:txEl>
                                              <p:pRg st="7" end="7"/>
                                            </p:txEl>
                                          </p:spTgt>
                                        </p:tgtEl>
                                      </p:cBhvr>
                                    </p:animEffect>
                                    <p:anim calcmode="lin" valueType="num">
                                      <p:cBhvr>
                                        <p:cTn id="4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7A87A-2C5D-40A1-A61F-E903F5158F40}"/>
              </a:ext>
            </a:extLst>
          </p:cNvPr>
          <p:cNvSpPr>
            <a:spLocks noGrp="1"/>
          </p:cNvSpPr>
          <p:nvPr>
            <p:ph type="title"/>
          </p:nvPr>
        </p:nvSpPr>
        <p:spPr>
          <a:xfrm>
            <a:off x="381000" y="365126"/>
            <a:ext cx="8382000" cy="665249"/>
          </a:xfrm>
        </p:spPr>
        <p:txBody>
          <a:bodyPr>
            <a:noAutofit/>
          </a:bodyPr>
          <a:lstStyle/>
          <a:p>
            <a:pPr algn="ctr"/>
            <a:r>
              <a:rPr lang="en-GB" sz="2800" b="1" dirty="0">
                <a:solidFill>
                  <a:srgbClr val="C00000"/>
                </a:solidFill>
              </a:rPr>
              <a:t>Validation of the Simple Linear Regression Model</a:t>
            </a:r>
            <a:endParaRPr lang="en-IN" sz="2800" dirty="0">
              <a:solidFill>
                <a:srgbClr val="C00000"/>
              </a:solidFill>
            </a:endParaRPr>
          </a:p>
        </p:txBody>
      </p:sp>
      <p:sp>
        <p:nvSpPr>
          <p:cNvPr id="3" name="Content Placeholder 2">
            <a:extLst>
              <a:ext uri="{FF2B5EF4-FFF2-40B4-BE49-F238E27FC236}">
                <a16:creationId xmlns:a16="http://schemas.microsoft.com/office/drawing/2014/main" id="{58120296-C421-4D68-A502-D717C4F6106B}"/>
              </a:ext>
            </a:extLst>
          </p:cNvPr>
          <p:cNvSpPr>
            <a:spLocks noGrp="1"/>
          </p:cNvSpPr>
          <p:nvPr>
            <p:ph idx="1"/>
          </p:nvPr>
        </p:nvSpPr>
        <p:spPr>
          <a:xfrm>
            <a:off x="533400" y="1253330"/>
            <a:ext cx="8077200" cy="5071269"/>
          </a:xfrm>
        </p:spPr>
        <p:txBody>
          <a:bodyPr>
            <a:noAutofit/>
          </a:bodyPr>
          <a:lstStyle/>
          <a:p>
            <a:pPr marL="0" indent="0">
              <a:buNone/>
            </a:pPr>
            <a:r>
              <a:rPr lang="en-GB" sz="2200" dirty="0"/>
              <a:t>It is important to validate the regression model to ensure its validity and goodness of fit before it can be used for practical applications. The following measures are used to validate the simple linear regression models:</a:t>
            </a:r>
          </a:p>
          <a:p>
            <a:pPr marL="0" indent="0">
              <a:buNone/>
            </a:pPr>
            <a:endParaRPr lang="en-IN" sz="2200" dirty="0"/>
          </a:p>
          <a:p>
            <a:pPr lvl="0"/>
            <a:r>
              <a:rPr lang="en-GB" sz="2200" dirty="0"/>
              <a:t>Co-efficient of determination (</a:t>
            </a:r>
            <a:r>
              <a:rPr lang="en-GB" sz="2200" i="1" dirty="0"/>
              <a:t>R</a:t>
            </a:r>
            <a:r>
              <a:rPr lang="en-GB" sz="2200" dirty="0"/>
              <a:t>-square).</a:t>
            </a:r>
            <a:endParaRPr lang="en-IN" sz="2200" dirty="0"/>
          </a:p>
          <a:p>
            <a:r>
              <a:rPr lang="en-GB" sz="2200" dirty="0"/>
              <a:t>Hypothesis test for the regression coefficient</a:t>
            </a:r>
          </a:p>
          <a:p>
            <a:pPr lvl="0"/>
            <a:r>
              <a:rPr lang="en-GB" sz="2200" dirty="0"/>
              <a:t>Analysis of Variance for overall model validity (relevant more for multiple linear regression).</a:t>
            </a:r>
            <a:endParaRPr lang="en-IN" sz="2200" dirty="0"/>
          </a:p>
          <a:p>
            <a:pPr lvl="0"/>
            <a:r>
              <a:rPr lang="en-GB" sz="2200" dirty="0"/>
              <a:t>Residual analysis to validate the regression model assumptions.</a:t>
            </a:r>
            <a:endParaRPr lang="en-IN" sz="2200" dirty="0"/>
          </a:p>
          <a:p>
            <a:pPr lvl="0"/>
            <a:r>
              <a:rPr lang="en-GB" sz="2200" dirty="0"/>
              <a:t>Outlier analysis.</a:t>
            </a:r>
          </a:p>
          <a:p>
            <a:pPr marL="0" indent="0">
              <a:buNone/>
            </a:pPr>
            <a:endParaRPr lang="en-IN" sz="2200" dirty="0"/>
          </a:p>
          <a:p>
            <a:pPr marL="0" indent="0">
              <a:buNone/>
            </a:pPr>
            <a:r>
              <a:rPr lang="en-GB" sz="2200" dirty="0"/>
              <a:t>The above measures and tests are essential, but not exhaustive.</a:t>
            </a:r>
            <a:endParaRPr lang="en-IN" sz="2200" dirty="0"/>
          </a:p>
          <a:p>
            <a:pPr marL="0" indent="0">
              <a:buNone/>
            </a:pPr>
            <a:endParaRPr lang="en-IN" sz="2200" dirty="0"/>
          </a:p>
        </p:txBody>
      </p:sp>
      <p:sp>
        <p:nvSpPr>
          <p:cNvPr id="7" name="Rectangle 5">
            <a:extLst>
              <a:ext uri="{FF2B5EF4-FFF2-40B4-BE49-F238E27FC236}">
                <a16:creationId xmlns:a16="http://schemas.microsoft.com/office/drawing/2014/main" id="{5F3FC611-4578-44A7-9C43-14F6EFF07A02}"/>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31635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1000"/>
                                        <p:tgtEl>
                                          <p:spTgt spid="3">
                                            <p:txEl>
                                              <p:pRg st="8" end="8"/>
                                            </p:txEl>
                                          </p:spTgt>
                                        </p:tgtEl>
                                      </p:cBhvr>
                                    </p:animEffect>
                                    <p:anim calcmode="lin" valueType="num">
                                      <p:cBhvr>
                                        <p:cTn id="5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84797C-C846-4487-ADDC-7DF71D992CC8}"/>
              </a:ext>
            </a:extLst>
          </p:cNvPr>
          <p:cNvSpPr>
            <a:spLocks noGrp="1"/>
          </p:cNvSpPr>
          <p:nvPr>
            <p:ph type="title"/>
          </p:nvPr>
        </p:nvSpPr>
        <p:spPr>
          <a:xfrm>
            <a:off x="628650" y="365126"/>
            <a:ext cx="7886700" cy="658811"/>
          </a:xfrm>
        </p:spPr>
        <p:txBody>
          <a:bodyPr>
            <a:normAutofit fontScale="90000"/>
          </a:bodyPr>
          <a:lstStyle/>
          <a:p>
            <a:pPr algn="ctr"/>
            <a:r>
              <a:rPr lang="en-GB" sz="2800" b="1" dirty="0">
                <a:solidFill>
                  <a:srgbClr val="C00000"/>
                </a:solidFill>
              </a:rPr>
              <a:t>Coefficient of Determination (R-Square or R</a:t>
            </a:r>
            <a:r>
              <a:rPr lang="en-GB" sz="2800" b="1" baseline="30000" dirty="0">
                <a:solidFill>
                  <a:srgbClr val="C00000"/>
                </a:solidFill>
              </a:rPr>
              <a:t>2</a:t>
            </a:r>
            <a:r>
              <a:rPr lang="en-GB" sz="2800" b="1" dirty="0">
                <a:solidFill>
                  <a:srgbClr val="C00000"/>
                </a:solidFill>
              </a:rPr>
              <a:t>)</a:t>
            </a:r>
            <a:endParaRPr lang="en-IN" sz="2800" dirty="0">
              <a:solidFill>
                <a:srgbClr val="C00000"/>
              </a:solidFill>
            </a:endParaRPr>
          </a:p>
        </p:txBody>
      </p:sp>
      <p:sp>
        <p:nvSpPr>
          <p:cNvPr id="4" name="Content Placeholder 3">
            <a:extLst>
              <a:ext uri="{FF2B5EF4-FFF2-40B4-BE49-F238E27FC236}">
                <a16:creationId xmlns:a16="http://schemas.microsoft.com/office/drawing/2014/main" id="{D9DE6B13-C5BF-46CA-8DC3-226C346E3514}"/>
              </a:ext>
            </a:extLst>
          </p:cNvPr>
          <p:cNvSpPr>
            <a:spLocks noGrp="1"/>
          </p:cNvSpPr>
          <p:nvPr>
            <p:ph idx="1"/>
          </p:nvPr>
        </p:nvSpPr>
        <p:spPr>
          <a:xfrm>
            <a:off x="628650" y="1219202"/>
            <a:ext cx="7886700" cy="2052636"/>
          </a:xfrm>
        </p:spPr>
        <p:txBody>
          <a:bodyPr>
            <a:normAutofit/>
          </a:bodyPr>
          <a:lstStyle/>
          <a:p>
            <a:pPr algn="just"/>
            <a:r>
              <a:rPr lang="en-GB" sz="2400" dirty="0"/>
              <a:t>The co-efficient of determination (or </a:t>
            </a:r>
            <a:r>
              <a:rPr lang="en-GB" sz="2400" i="1" dirty="0"/>
              <a:t>R</a:t>
            </a:r>
            <a:r>
              <a:rPr lang="en-GB" sz="2400" dirty="0"/>
              <a:t>-square or R</a:t>
            </a:r>
            <a:r>
              <a:rPr lang="en-GB" sz="2400" baseline="30000" dirty="0"/>
              <a:t>2</a:t>
            </a:r>
            <a:r>
              <a:rPr lang="en-GB" sz="2400" dirty="0"/>
              <a:t>) measures the percentage of variation in </a:t>
            </a:r>
            <a:r>
              <a:rPr lang="en-GB" sz="2400" i="1" dirty="0"/>
              <a:t>Y</a:t>
            </a:r>
            <a:r>
              <a:rPr lang="en-GB" sz="2400" dirty="0"/>
              <a:t> explained by the model (</a:t>
            </a:r>
            <a:r>
              <a:rPr lang="en-GB" sz="2400" dirty="0">
                <a:sym typeface="Symbol" panose="05050102010706020507" pitchFamily="18" charset="2"/>
              </a:rPr>
              <a:t></a:t>
            </a:r>
            <a:r>
              <a:rPr lang="en-GB" sz="2400" baseline="-25000" dirty="0"/>
              <a:t>0</a:t>
            </a:r>
            <a:r>
              <a:rPr lang="en-GB" sz="2400" dirty="0"/>
              <a:t> + </a:t>
            </a:r>
            <a:r>
              <a:rPr lang="en-GB" sz="2400" dirty="0">
                <a:sym typeface="Symbol" panose="05050102010706020507" pitchFamily="18" charset="2"/>
              </a:rPr>
              <a:t></a:t>
            </a:r>
            <a:r>
              <a:rPr lang="en-GB" sz="2400" baseline="-25000" dirty="0"/>
              <a:t>1</a:t>
            </a:r>
            <a:r>
              <a:rPr lang="en-GB" sz="2400" dirty="0"/>
              <a:t> </a:t>
            </a:r>
            <a:r>
              <a:rPr lang="en-GB" sz="2400" i="1" dirty="0"/>
              <a:t>X</a:t>
            </a:r>
            <a:r>
              <a:rPr lang="en-GB" sz="2400" dirty="0"/>
              <a:t>).</a:t>
            </a:r>
            <a:endParaRPr lang="en-IN" sz="2400" dirty="0"/>
          </a:p>
          <a:p>
            <a:pPr algn="just"/>
            <a:r>
              <a:rPr lang="en-GB" sz="2400" dirty="0"/>
              <a:t>The simple linear regression model can be broken into explained variation and unexplained variation as shown in</a:t>
            </a:r>
            <a:endParaRPr lang="en-IN" sz="2400" dirty="0"/>
          </a:p>
        </p:txBody>
      </p:sp>
      <p:sp>
        <p:nvSpPr>
          <p:cNvPr id="2" name="Rectangle 2">
            <a:extLst>
              <a:ext uri="{FF2B5EF4-FFF2-40B4-BE49-F238E27FC236}">
                <a16:creationId xmlns:a16="http://schemas.microsoft.com/office/drawing/2014/main" id="{C52A3FE6-3CB3-46C5-8A68-81719C42FA94}"/>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72752CCE-ED8D-44B1-956A-A4103092F8F8}"/>
              </a:ext>
            </a:extLst>
          </p:cNvPr>
          <p:cNvGraphicFramePr>
            <a:graphicFrameLocks noChangeAspect="1"/>
          </p:cNvGraphicFramePr>
          <p:nvPr>
            <p:extLst>
              <p:ext uri="{D42A27DB-BD31-4B8C-83A1-F6EECF244321}">
                <p14:modId xmlns:p14="http://schemas.microsoft.com/office/powerpoint/2010/main" val="2163705615"/>
              </p:ext>
            </p:extLst>
          </p:nvPr>
        </p:nvGraphicFramePr>
        <p:xfrm>
          <a:off x="1405009" y="3470586"/>
          <a:ext cx="6324600" cy="841706"/>
        </p:xfrm>
        <a:graphic>
          <a:graphicData uri="http://schemas.openxmlformats.org/presentationml/2006/ole">
            <mc:AlternateContent xmlns:mc="http://schemas.openxmlformats.org/markup-compatibility/2006">
              <mc:Choice xmlns:v="urn:schemas-microsoft-com:vml" Requires="v">
                <p:oleObj name="Equation" r:id="rId2" imgW="3822700" imgH="571500" progId="Equation.3">
                  <p:embed/>
                </p:oleObj>
              </mc:Choice>
              <mc:Fallback>
                <p:oleObj name="Equation" r:id="rId2" imgW="3822700" imgH="5715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009" y="3470586"/>
                        <a:ext cx="6324600" cy="841706"/>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12" name="Rectangle 11">
            <a:extLst>
              <a:ext uri="{FF2B5EF4-FFF2-40B4-BE49-F238E27FC236}">
                <a16:creationId xmlns:a16="http://schemas.microsoft.com/office/drawing/2014/main" id="{7A859FEC-F525-4C94-8DE0-45CBA2ABE984}"/>
              </a:ext>
            </a:extLst>
          </p:cNvPr>
          <p:cNvSpPr/>
          <p:nvPr/>
        </p:nvSpPr>
        <p:spPr>
          <a:xfrm>
            <a:off x="623959" y="4648200"/>
            <a:ext cx="7986641" cy="1200329"/>
          </a:xfrm>
          <a:prstGeom prst="rect">
            <a:avLst/>
          </a:prstGeom>
        </p:spPr>
        <p:txBody>
          <a:bodyPr wrap="square">
            <a:spAutoFit/>
          </a:bodyPr>
          <a:lstStyle/>
          <a:p>
            <a:pPr marL="0" indent="0" algn="just">
              <a:buNone/>
            </a:pPr>
            <a:r>
              <a:rPr lang="en-GB" sz="2400" dirty="0">
                <a:latin typeface="+mn-lt"/>
              </a:rPr>
              <a:t>In absence of the predictive model for </a:t>
            </a:r>
            <a:r>
              <a:rPr lang="en-GB" sz="2400" i="1" dirty="0">
                <a:latin typeface="+mn-lt"/>
              </a:rPr>
              <a:t>Y</a:t>
            </a:r>
            <a:r>
              <a:rPr lang="en-GB" sz="2400" i="1" baseline="-25000" dirty="0">
                <a:latin typeface="+mn-lt"/>
              </a:rPr>
              <a:t>i</a:t>
            </a:r>
            <a:r>
              <a:rPr lang="en-GB" sz="2400" dirty="0">
                <a:latin typeface="+mn-lt"/>
              </a:rPr>
              <a:t>, the users will use the mean value of </a:t>
            </a:r>
            <a:r>
              <a:rPr lang="en-GB" sz="2400" i="1" dirty="0">
                <a:latin typeface="+mn-lt"/>
              </a:rPr>
              <a:t>Y­</a:t>
            </a:r>
            <a:r>
              <a:rPr lang="en-GB" sz="2400" i="1" baseline="-25000" dirty="0">
                <a:latin typeface="+mn-lt"/>
              </a:rPr>
              <a:t>i</a:t>
            </a:r>
            <a:r>
              <a:rPr lang="en-GB" sz="2400" dirty="0">
                <a:latin typeface="+mn-lt"/>
              </a:rPr>
              <a:t>. Thus, the total deviation is measured as the difference between </a:t>
            </a:r>
            <a:r>
              <a:rPr lang="en-GB" sz="2400" i="1" dirty="0">
                <a:latin typeface="+mn-lt"/>
              </a:rPr>
              <a:t>Y</a:t>
            </a:r>
            <a:r>
              <a:rPr lang="en-GB" sz="2400" i="1" baseline="-25000" dirty="0">
                <a:latin typeface="+mn-lt"/>
              </a:rPr>
              <a:t>i</a:t>
            </a:r>
            <a:r>
              <a:rPr lang="en-GB" sz="2400" dirty="0">
                <a:latin typeface="+mn-lt"/>
              </a:rPr>
              <a:t> and mean value of Y</a:t>
            </a:r>
            <a:r>
              <a:rPr lang="en-GB" sz="2400" baseline="-25000" dirty="0">
                <a:latin typeface="+mn-lt"/>
              </a:rPr>
              <a:t>i</a:t>
            </a:r>
            <a:r>
              <a:rPr lang="en-GB" sz="2400" dirty="0">
                <a:latin typeface="+mn-lt"/>
              </a:rPr>
              <a:t> (</a:t>
            </a:r>
            <a:r>
              <a:rPr lang="en-GB" sz="2400" dirty="0" err="1">
                <a:latin typeface="+mn-lt"/>
              </a:rPr>
              <a:t>i.e.,</a:t>
            </a:r>
            <a:r>
              <a:rPr lang="en-GB" sz="2400" i="1" dirty="0" err="1">
                <a:latin typeface="+mn-lt"/>
              </a:rPr>
              <a:t>Y</a:t>
            </a:r>
            <a:r>
              <a:rPr lang="en-GB" sz="2400" i="1" baseline="-25000" dirty="0" err="1">
                <a:latin typeface="+mn-lt"/>
              </a:rPr>
              <a:t>i</a:t>
            </a:r>
            <a:r>
              <a:rPr lang="en-GB" sz="2400" dirty="0">
                <a:latin typeface="+mn-lt"/>
              </a:rPr>
              <a:t> -   ).</a:t>
            </a:r>
            <a:endParaRPr lang="en-IN" sz="2400" dirty="0">
              <a:latin typeface="+mn-lt"/>
            </a:endParaRPr>
          </a:p>
        </p:txBody>
      </p:sp>
      <p:graphicFrame>
        <p:nvGraphicFramePr>
          <p:cNvPr id="8" name="Object 7">
            <a:extLst>
              <a:ext uri="{FF2B5EF4-FFF2-40B4-BE49-F238E27FC236}">
                <a16:creationId xmlns:a16="http://schemas.microsoft.com/office/drawing/2014/main" id="{83E63003-BCAC-40CF-90A2-1EB44759118E}"/>
              </a:ext>
            </a:extLst>
          </p:cNvPr>
          <p:cNvGraphicFramePr>
            <a:graphicFrameLocks noChangeAspect="1"/>
          </p:cNvGraphicFramePr>
          <p:nvPr>
            <p:extLst>
              <p:ext uri="{D42A27DB-BD31-4B8C-83A1-F6EECF244321}">
                <p14:modId xmlns:p14="http://schemas.microsoft.com/office/powerpoint/2010/main" val="510715433"/>
              </p:ext>
            </p:extLst>
          </p:nvPr>
        </p:nvGraphicFramePr>
        <p:xfrm>
          <a:off x="6883400" y="5257800"/>
          <a:ext cx="279400" cy="533400"/>
        </p:xfrm>
        <a:graphic>
          <a:graphicData uri="http://schemas.openxmlformats.org/presentationml/2006/ole">
            <mc:AlternateContent xmlns:mc="http://schemas.openxmlformats.org/markup-compatibility/2006">
              <mc:Choice xmlns:v="urn:schemas-microsoft-com:vml" Requires="v">
                <p:oleObj name="Equation" r:id="rId4" imgW="139680" imgH="266400" progId="Equation.DSMT4">
                  <p:embed/>
                </p:oleObj>
              </mc:Choice>
              <mc:Fallback>
                <p:oleObj name="Equation" r:id="rId4" imgW="139680" imgH="266400" progId="Equation.DSMT4">
                  <p:embed/>
                  <p:pic>
                    <p:nvPicPr>
                      <p:cNvPr id="0" name=""/>
                      <p:cNvPicPr/>
                      <p:nvPr/>
                    </p:nvPicPr>
                    <p:blipFill>
                      <a:blip r:embed="rId5"/>
                      <a:stretch>
                        <a:fillRect/>
                      </a:stretch>
                    </p:blipFill>
                    <p:spPr>
                      <a:xfrm>
                        <a:off x="6883400" y="5257800"/>
                        <a:ext cx="279400" cy="5334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 calcmode="lin" valueType="num">
                                      <p:cBhvr additive="base">
                                        <p:cTn id="1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F1BB5-BC3A-499C-ABE0-38CCE65B717A}"/>
              </a:ext>
            </a:extLst>
          </p:cNvPr>
          <p:cNvSpPr>
            <a:spLocks noGrp="1"/>
          </p:cNvSpPr>
          <p:nvPr>
            <p:ph type="title"/>
          </p:nvPr>
        </p:nvSpPr>
        <p:spPr>
          <a:xfrm>
            <a:off x="457200" y="365127"/>
            <a:ext cx="8229600" cy="687392"/>
          </a:xfrm>
        </p:spPr>
        <p:txBody>
          <a:bodyPr>
            <a:noAutofit/>
          </a:bodyPr>
          <a:lstStyle/>
          <a:p>
            <a:pPr algn="just"/>
            <a:r>
              <a:rPr lang="en-GB" sz="2800" b="1" dirty="0">
                <a:solidFill>
                  <a:srgbClr val="C00000"/>
                </a:solidFill>
              </a:rPr>
              <a:t>Description of total deviation, explained deviation and unexplained deviation</a:t>
            </a:r>
            <a:endParaRPr lang="en-IN" sz="2800" b="1" dirty="0">
              <a:solidFill>
                <a:srgbClr val="C00000"/>
              </a:solidFill>
            </a:endParaRPr>
          </a:p>
        </p:txBody>
      </p:sp>
      <p:graphicFrame>
        <p:nvGraphicFramePr>
          <p:cNvPr id="10" name="Content Placeholder 9">
            <a:extLst>
              <a:ext uri="{FF2B5EF4-FFF2-40B4-BE49-F238E27FC236}">
                <a16:creationId xmlns:a16="http://schemas.microsoft.com/office/drawing/2014/main" id="{E5F92AB1-A580-40DC-9C52-480890153DC4}"/>
              </a:ext>
            </a:extLst>
          </p:cNvPr>
          <p:cNvGraphicFramePr>
            <a:graphicFrameLocks noGrp="1"/>
          </p:cNvGraphicFramePr>
          <p:nvPr>
            <p:ph idx="1"/>
            <p:extLst>
              <p:ext uri="{D42A27DB-BD31-4B8C-83A1-F6EECF244321}">
                <p14:modId xmlns:p14="http://schemas.microsoft.com/office/powerpoint/2010/main" val="177688696"/>
              </p:ext>
            </p:extLst>
          </p:nvPr>
        </p:nvGraphicFramePr>
        <p:xfrm>
          <a:off x="628650" y="1825625"/>
          <a:ext cx="7886700" cy="3486151"/>
        </p:xfrm>
        <a:graphic>
          <a:graphicData uri="http://schemas.openxmlformats.org/drawingml/2006/table">
            <a:tbl>
              <a:tblPr firstRow="1" bandRow="1">
                <a:tableStyleId>{125E5076-3810-47DD-B79F-674D7AD40C01}</a:tableStyleId>
              </a:tblPr>
              <a:tblGrid>
                <a:gridCol w="2419350">
                  <a:extLst>
                    <a:ext uri="{9D8B030D-6E8A-4147-A177-3AD203B41FA5}">
                      <a16:colId xmlns:a16="http://schemas.microsoft.com/office/drawing/2014/main" val="2166438830"/>
                    </a:ext>
                  </a:extLst>
                </a:gridCol>
                <a:gridCol w="1828800">
                  <a:extLst>
                    <a:ext uri="{9D8B030D-6E8A-4147-A177-3AD203B41FA5}">
                      <a16:colId xmlns:a16="http://schemas.microsoft.com/office/drawing/2014/main" val="722026899"/>
                    </a:ext>
                  </a:extLst>
                </a:gridCol>
                <a:gridCol w="3638550">
                  <a:extLst>
                    <a:ext uri="{9D8B030D-6E8A-4147-A177-3AD203B41FA5}">
                      <a16:colId xmlns:a16="http://schemas.microsoft.com/office/drawing/2014/main" val="3664699367"/>
                    </a:ext>
                  </a:extLst>
                </a:gridCol>
              </a:tblGrid>
              <a:tr h="544029">
                <a:tc>
                  <a:txBody>
                    <a:bodyPr/>
                    <a:lstStyle/>
                    <a:p>
                      <a:pPr algn="just">
                        <a:lnSpc>
                          <a:spcPct val="150000"/>
                        </a:lnSpc>
                        <a:spcAft>
                          <a:spcPts val="0"/>
                        </a:spcAft>
                      </a:pPr>
                      <a:r>
                        <a:rPr lang="en-GB" sz="1200" dirty="0">
                          <a:effectLst/>
                        </a:rPr>
                        <a:t>Variation Type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337" marR="66337" marT="0" marB="0"/>
                </a:tc>
                <a:tc>
                  <a:txBody>
                    <a:bodyPr/>
                    <a:lstStyle/>
                    <a:p>
                      <a:pPr algn="just">
                        <a:lnSpc>
                          <a:spcPct val="150000"/>
                        </a:lnSpc>
                        <a:spcAft>
                          <a:spcPts val="0"/>
                        </a:spcAft>
                      </a:pPr>
                      <a:r>
                        <a:rPr lang="en-GB" sz="1100" dirty="0">
                          <a:effectLst/>
                        </a:rPr>
                        <a:t>Measure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337" marR="66337" marT="0" marB="0"/>
                </a:tc>
                <a:tc>
                  <a:txBody>
                    <a:bodyPr/>
                    <a:lstStyle/>
                    <a:p>
                      <a:pPr algn="just">
                        <a:lnSpc>
                          <a:spcPct val="150000"/>
                        </a:lnSpc>
                        <a:spcAft>
                          <a:spcPts val="0"/>
                        </a:spcAft>
                      </a:pPr>
                      <a:r>
                        <a:rPr lang="en-GB" sz="1200" dirty="0">
                          <a:effectLst/>
                        </a:rPr>
                        <a:t>Description</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337" marR="66337" marT="0" marB="0"/>
                </a:tc>
                <a:extLst>
                  <a:ext uri="{0D108BD9-81ED-4DB2-BD59-A6C34878D82A}">
                    <a16:rowId xmlns:a16="http://schemas.microsoft.com/office/drawing/2014/main" val="1824464979"/>
                  </a:ext>
                </a:extLst>
              </a:tr>
              <a:tr h="772901">
                <a:tc>
                  <a:txBody>
                    <a:bodyPr/>
                    <a:lstStyle/>
                    <a:p>
                      <a:pPr algn="just">
                        <a:lnSpc>
                          <a:spcPct val="150000"/>
                        </a:lnSpc>
                        <a:spcAft>
                          <a:spcPts val="0"/>
                        </a:spcAft>
                      </a:pPr>
                      <a:r>
                        <a:rPr lang="en-GB" sz="1200" dirty="0">
                          <a:effectLst/>
                        </a:rPr>
                        <a:t>Total Deviation</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337" marR="66337" marT="0" marB="0"/>
                </a:tc>
                <a:tc>
                  <a:txBody>
                    <a:bodyPr/>
                    <a:lstStyle/>
                    <a:p>
                      <a:r>
                        <a:rPr lang="en-IN" sz="1800" dirty="0"/>
                        <a:t>(              )</a:t>
                      </a:r>
                    </a:p>
                  </a:txBody>
                  <a:tcPr marL="88449" marR="88449" marT="34290" marB="34290"/>
                </a:tc>
                <a:tc>
                  <a:txBody>
                    <a:bodyPr/>
                    <a:lstStyle/>
                    <a:p>
                      <a:pPr algn="just">
                        <a:lnSpc>
                          <a:spcPct val="150000"/>
                        </a:lnSpc>
                        <a:spcAft>
                          <a:spcPts val="0"/>
                        </a:spcAft>
                      </a:pPr>
                      <a:r>
                        <a:rPr lang="en-GB" sz="1200" dirty="0">
                          <a:effectLst/>
                        </a:rPr>
                        <a:t>Total deviation is the difference between the actual value and the mean value.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337" marR="66337" marT="0" marB="0"/>
                </a:tc>
                <a:extLst>
                  <a:ext uri="{0D108BD9-81ED-4DB2-BD59-A6C34878D82A}">
                    <a16:rowId xmlns:a16="http://schemas.microsoft.com/office/drawing/2014/main" val="1513942133"/>
                  </a:ext>
                </a:extLst>
              </a:tr>
              <a:tr h="1106688">
                <a:tc>
                  <a:txBody>
                    <a:bodyPr/>
                    <a:lstStyle/>
                    <a:p>
                      <a:pPr algn="just">
                        <a:lnSpc>
                          <a:spcPct val="150000"/>
                        </a:lnSpc>
                        <a:spcAft>
                          <a:spcPts val="0"/>
                        </a:spcAft>
                      </a:pPr>
                      <a:r>
                        <a:rPr lang="en-GB" sz="1200" dirty="0">
                          <a:effectLst/>
                        </a:rPr>
                        <a:t>Deviation explained by the model</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337" marR="66337" marT="0" marB="0"/>
                </a:tc>
                <a:tc>
                  <a:txBody>
                    <a:bodyPr/>
                    <a:lstStyle/>
                    <a:p>
                      <a:r>
                        <a:rPr lang="en-IN" sz="1800" dirty="0"/>
                        <a:t>(              ) </a:t>
                      </a:r>
                    </a:p>
                  </a:txBody>
                  <a:tcPr marL="88449" marR="88449" marT="34290" marB="34290"/>
                </a:tc>
                <a:tc>
                  <a:txBody>
                    <a:bodyPr/>
                    <a:lstStyle/>
                    <a:p>
                      <a:pPr algn="just">
                        <a:lnSpc>
                          <a:spcPct val="150000"/>
                        </a:lnSpc>
                        <a:spcAft>
                          <a:spcPts val="0"/>
                        </a:spcAft>
                      </a:pPr>
                      <a:r>
                        <a:rPr lang="en-GB" sz="1200" dirty="0">
                          <a:effectLst/>
                        </a:rPr>
                        <a:t>Deviation explained by the model is the difference between the estimated value of Y</a:t>
                      </a:r>
                      <a:r>
                        <a:rPr lang="en-GB" sz="1200" baseline="-25000" dirty="0">
                          <a:effectLst/>
                        </a:rPr>
                        <a:t>i</a:t>
                      </a:r>
                      <a:r>
                        <a:rPr lang="en-GB" sz="1200" dirty="0">
                          <a:effectLst/>
                        </a:rPr>
                        <a:t> and the mean value of Y</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337" marR="66337" marT="0" marB="0"/>
                </a:tc>
                <a:extLst>
                  <a:ext uri="{0D108BD9-81ED-4DB2-BD59-A6C34878D82A}">
                    <a16:rowId xmlns:a16="http://schemas.microsoft.com/office/drawing/2014/main" val="1387930546"/>
                  </a:ext>
                </a:extLst>
              </a:tr>
              <a:tr h="1062533">
                <a:tc>
                  <a:txBody>
                    <a:bodyPr/>
                    <a:lstStyle/>
                    <a:p>
                      <a:pPr algn="just">
                        <a:lnSpc>
                          <a:spcPct val="150000"/>
                        </a:lnSpc>
                        <a:spcAft>
                          <a:spcPts val="0"/>
                        </a:spcAft>
                      </a:pPr>
                      <a:r>
                        <a:rPr lang="en-GB" sz="1200" dirty="0">
                          <a:effectLst/>
                        </a:rPr>
                        <a:t>Deviation not explained by model</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337" marR="66337" marT="0" marB="0"/>
                </a:tc>
                <a:tc>
                  <a:txBody>
                    <a:bodyPr/>
                    <a:lstStyle/>
                    <a:p>
                      <a:r>
                        <a:rPr lang="en-IN" sz="1800" dirty="0"/>
                        <a:t>(             )</a:t>
                      </a:r>
                    </a:p>
                  </a:txBody>
                  <a:tcPr marL="88449" marR="88449" marT="34290" marB="34290"/>
                </a:tc>
                <a:tc>
                  <a:txBody>
                    <a:bodyPr/>
                    <a:lstStyle/>
                    <a:p>
                      <a:pPr algn="just">
                        <a:lnSpc>
                          <a:spcPct val="150000"/>
                        </a:lnSpc>
                        <a:spcAft>
                          <a:spcPts val="0"/>
                        </a:spcAft>
                      </a:pPr>
                      <a:r>
                        <a:rPr lang="en-GB" sz="1200" dirty="0">
                          <a:effectLst/>
                        </a:rPr>
                        <a:t>Deviation not explained by the model is the difference between the actual value and the predicted value of Y</a:t>
                      </a:r>
                      <a:r>
                        <a:rPr lang="en-GB" sz="1200" baseline="-25000" dirty="0">
                          <a:effectLst/>
                        </a:rPr>
                        <a:t>i</a:t>
                      </a:r>
                      <a:r>
                        <a:rPr lang="en-GB" sz="1200" dirty="0">
                          <a:effectLst/>
                        </a:rPr>
                        <a:t> (error in prediction)</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337" marR="66337" marT="0" marB="0"/>
                </a:tc>
                <a:extLst>
                  <a:ext uri="{0D108BD9-81ED-4DB2-BD59-A6C34878D82A}">
                    <a16:rowId xmlns:a16="http://schemas.microsoft.com/office/drawing/2014/main" val="2988454392"/>
                  </a:ext>
                </a:extLst>
              </a:tr>
            </a:tbl>
          </a:graphicData>
        </a:graphic>
      </p:graphicFrame>
      <p:sp>
        <p:nvSpPr>
          <p:cNvPr id="11" name="Rectangle 5">
            <a:extLst>
              <a:ext uri="{FF2B5EF4-FFF2-40B4-BE49-F238E27FC236}">
                <a16:creationId xmlns:a16="http://schemas.microsoft.com/office/drawing/2014/main" id="{1977311A-B796-4F1D-911B-543D39F3FCFF}"/>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12" name="Object 11">
            <a:extLst>
              <a:ext uri="{FF2B5EF4-FFF2-40B4-BE49-F238E27FC236}">
                <a16:creationId xmlns:a16="http://schemas.microsoft.com/office/drawing/2014/main" id="{05222724-A262-4802-8ABF-08139D230698}"/>
              </a:ext>
            </a:extLst>
          </p:cNvPr>
          <p:cNvGraphicFramePr>
            <a:graphicFrameLocks noChangeAspect="1"/>
          </p:cNvGraphicFramePr>
          <p:nvPr>
            <p:extLst>
              <p:ext uri="{D42A27DB-BD31-4B8C-83A1-F6EECF244321}">
                <p14:modId xmlns:p14="http://schemas.microsoft.com/office/powerpoint/2010/main" val="2319922118"/>
              </p:ext>
            </p:extLst>
          </p:nvPr>
        </p:nvGraphicFramePr>
        <p:xfrm>
          <a:off x="3200400" y="2354266"/>
          <a:ext cx="857250" cy="571499"/>
        </p:xfrm>
        <a:graphic>
          <a:graphicData uri="http://schemas.openxmlformats.org/presentationml/2006/ole">
            <mc:AlternateContent xmlns:mc="http://schemas.openxmlformats.org/markup-compatibility/2006">
              <mc:Choice xmlns:v="urn:schemas-microsoft-com:vml" Requires="v">
                <p:oleObj name="Equation" r:id="rId2" imgW="393359" imgH="355292" progId="Equation.3">
                  <p:embed/>
                </p:oleObj>
              </mc:Choice>
              <mc:Fallback>
                <p:oleObj name="Equation" r:id="rId2" imgW="393359" imgH="355292"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354266"/>
                        <a:ext cx="857250" cy="571499"/>
                      </a:xfrm>
                      <a:prstGeom prst="rect">
                        <a:avLst/>
                      </a:prstGeom>
                      <a:solidFill>
                        <a:schemeClr val="bg1"/>
                      </a:solidFill>
                    </p:spPr>
                  </p:pic>
                </p:oleObj>
              </mc:Fallback>
            </mc:AlternateContent>
          </a:graphicData>
        </a:graphic>
      </p:graphicFrame>
      <p:sp>
        <p:nvSpPr>
          <p:cNvPr id="13" name="Rectangle 7">
            <a:extLst>
              <a:ext uri="{FF2B5EF4-FFF2-40B4-BE49-F238E27FC236}">
                <a16:creationId xmlns:a16="http://schemas.microsoft.com/office/drawing/2014/main" id="{80010084-7810-4D35-9628-5356BA3D860E}"/>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14" name="Object 13">
            <a:extLst>
              <a:ext uri="{FF2B5EF4-FFF2-40B4-BE49-F238E27FC236}">
                <a16:creationId xmlns:a16="http://schemas.microsoft.com/office/drawing/2014/main" id="{00A3D1CD-0AC0-4CE6-B82F-E2D86E8E3083}"/>
              </a:ext>
            </a:extLst>
          </p:cNvPr>
          <p:cNvGraphicFramePr>
            <a:graphicFrameLocks noChangeAspect="1"/>
          </p:cNvGraphicFramePr>
          <p:nvPr>
            <p:extLst>
              <p:ext uri="{D42A27DB-BD31-4B8C-83A1-F6EECF244321}">
                <p14:modId xmlns:p14="http://schemas.microsoft.com/office/powerpoint/2010/main" val="2935276051"/>
              </p:ext>
            </p:extLst>
          </p:nvPr>
        </p:nvGraphicFramePr>
        <p:xfrm>
          <a:off x="3257990" y="3143250"/>
          <a:ext cx="742950" cy="571499"/>
        </p:xfrm>
        <a:graphic>
          <a:graphicData uri="http://schemas.openxmlformats.org/presentationml/2006/ole">
            <mc:AlternateContent xmlns:mc="http://schemas.openxmlformats.org/markup-compatibility/2006">
              <mc:Choice xmlns:v="urn:schemas-microsoft-com:vml" Requires="v">
                <p:oleObj name="Equation" r:id="rId4" imgW="368140" imgH="355446" progId="Equation.3">
                  <p:embed/>
                </p:oleObj>
              </mc:Choice>
              <mc:Fallback>
                <p:oleObj name="Equation" r:id="rId4" imgW="368140" imgH="355446"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7990" y="3143250"/>
                        <a:ext cx="742950" cy="571499"/>
                      </a:xfrm>
                      <a:prstGeom prst="rect">
                        <a:avLst/>
                      </a:prstGeom>
                      <a:solidFill>
                        <a:schemeClr val="bg1"/>
                      </a:solidFill>
                    </p:spPr>
                  </p:pic>
                </p:oleObj>
              </mc:Fallback>
            </mc:AlternateContent>
          </a:graphicData>
        </a:graphic>
      </p:graphicFrame>
      <p:sp>
        <p:nvSpPr>
          <p:cNvPr id="15" name="Rectangle 9">
            <a:extLst>
              <a:ext uri="{FF2B5EF4-FFF2-40B4-BE49-F238E27FC236}">
                <a16:creationId xmlns:a16="http://schemas.microsoft.com/office/drawing/2014/main" id="{C46D8EAA-FD0C-4CB0-A86B-DDC0BC59C783}"/>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16" name="Object 15">
            <a:extLst>
              <a:ext uri="{FF2B5EF4-FFF2-40B4-BE49-F238E27FC236}">
                <a16:creationId xmlns:a16="http://schemas.microsoft.com/office/drawing/2014/main" id="{D52B933F-E398-4905-95D1-C7B8A0FE4784}"/>
              </a:ext>
            </a:extLst>
          </p:cNvPr>
          <p:cNvGraphicFramePr>
            <a:graphicFrameLocks noChangeAspect="1"/>
          </p:cNvGraphicFramePr>
          <p:nvPr>
            <p:extLst>
              <p:ext uri="{D42A27DB-BD31-4B8C-83A1-F6EECF244321}">
                <p14:modId xmlns:p14="http://schemas.microsoft.com/office/powerpoint/2010/main" val="2992152773"/>
              </p:ext>
            </p:extLst>
          </p:nvPr>
        </p:nvGraphicFramePr>
        <p:xfrm>
          <a:off x="3257550" y="4227513"/>
          <a:ext cx="742950" cy="571499"/>
        </p:xfrm>
        <a:graphic>
          <a:graphicData uri="http://schemas.openxmlformats.org/presentationml/2006/ole">
            <mc:AlternateContent xmlns:mc="http://schemas.openxmlformats.org/markup-compatibility/2006">
              <mc:Choice xmlns:v="urn:schemas-microsoft-com:vml" Requires="v">
                <p:oleObj name="Equation" r:id="rId6" imgW="418918" imgH="355446" progId="Equation.3">
                  <p:embed/>
                </p:oleObj>
              </mc:Choice>
              <mc:Fallback>
                <p:oleObj name="Equation" r:id="rId6" imgW="418918" imgH="355446"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57550" y="4227513"/>
                        <a:ext cx="742950" cy="571499"/>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88929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789E7E-4B64-433F-84DC-617195CE8119}"/>
              </a:ext>
            </a:extLst>
          </p:cNvPr>
          <p:cNvSpPr>
            <a:spLocks noGrp="1"/>
          </p:cNvSpPr>
          <p:nvPr>
            <p:ph idx="4294967295"/>
          </p:nvPr>
        </p:nvSpPr>
        <p:spPr>
          <a:xfrm>
            <a:off x="685800" y="684126"/>
            <a:ext cx="8077200" cy="5335674"/>
          </a:xfrm>
        </p:spPr>
        <p:txBody>
          <a:bodyPr>
            <a:noAutofit/>
          </a:bodyPr>
          <a:lstStyle/>
          <a:p>
            <a:pPr marL="0" indent="0" algn="just">
              <a:buNone/>
            </a:pPr>
            <a:r>
              <a:rPr lang="en-GB" sz="2200" dirty="0"/>
              <a:t>The relationship between the total deviation, explained deviation and the unexplained deviation is given as follows:</a:t>
            </a:r>
          </a:p>
          <a:p>
            <a:pPr marL="0" indent="0" algn="just">
              <a:buNone/>
            </a:pPr>
            <a:endParaRPr lang="en-GB" sz="2200" dirty="0"/>
          </a:p>
          <a:p>
            <a:pPr marL="0" indent="0" algn="just">
              <a:buNone/>
            </a:pPr>
            <a:endParaRPr lang="en-GB" sz="2200" dirty="0"/>
          </a:p>
          <a:p>
            <a:pPr marL="0" indent="0" algn="just">
              <a:buNone/>
            </a:pPr>
            <a:endParaRPr lang="en-GB" sz="2200" dirty="0"/>
          </a:p>
          <a:p>
            <a:pPr marL="0" indent="0" algn="just">
              <a:buNone/>
            </a:pPr>
            <a:r>
              <a:rPr lang="en-GB" sz="2200" dirty="0"/>
              <a:t>It can be proved mathematically that sum of squares of total variation is equal to sum of squares of explained variation plus sum of squares of unexplained variation </a:t>
            </a:r>
          </a:p>
          <a:p>
            <a:pPr marL="0" indent="0" algn="just">
              <a:buNone/>
            </a:pPr>
            <a:endParaRPr lang="en-GB" sz="2200" dirty="0"/>
          </a:p>
          <a:p>
            <a:pPr marL="0" indent="0" algn="just">
              <a:buNone/>
            </a:pPr>
            <a:endParaRPr lang="en-GB" sz="2200" dirty="0"/>
          </a:p>
          <a:p>
            <a:pPr marL="0" indent="0" algn="just">
              <a:buNone/>
            </a:pPr>
            <a:endParaRPr lang="en-GB" sz="2200" dirty="0"/>
          </a:p>
          <a:p>
            <a:pPr marL="0" indent="0" algn="just">
              <a:buNone/>
            </a:pPr>
            <a:r>
              <a:rPr lang="en-GB" sz="2200" dirty="0"/>
              <a:t>where SST is the sum of squares of total variation, SSR is the sum of squares of variation explained by the regression model and SSE is the sum of squares of errors or unexplained variation. </a:t>
            </a:r>
            <a:endParaRPr lang="en-IN" sz="2200" dirty="0"/>
          </a:p>
        </p:txBody>
      </p:sp>
      <p:sp>
        <p:nvSpPr>
          <p:cNvPr id="4" name="Rectangle 2">
            <a:extLst>
              <a:ext uri="{FF2B5EF4-FFF2-40B4-BE49-F238E27FC236}">
                <a16:creationId xmlns:a16="http://schemas.microsoft.com/office/drawing/2014/main" id="{E9920950-56B6-42DF-9D34-C998F8AF8FCE}"/>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7A308F86-365B-48BD-BA4A-971A503A5890}"/>
              </a:ext>
            </a:extLst>
          </p:cNvPr>
          <p:cNvGraphicFramePr>
            <a:graphicFrameLocks noChangeAspect="1"/>
          </p:cNvGraphicFramePr>
          <p:nvPr>
            <p:extLst>
              <p:ext uri="{D42A27DB-BD31-4B8C-83A1-F6EECF244321}">
                <p14:modId xmlns:p14="http://schemas.microsoft.com/office/powerpoint/2010/main" val="651207114"/>
              </p:ext>
            </p:extLst>
          </p:nvPr>
        </p:nvGraphicFramePr>
        <p:xfrm>
          <a:off x="1933575" y="1663700"/>
          <a:ext cx="4875213" cy="685800"/>
        </p:xfrm>
        <a:graphic>
          <a:graphicData uri="http://schemas.openxmlformats.org/presentationml/2006/ole">
            <mc:AlternateContent xmlns:mc="http://schemas.openxmlformats.org/markup-compatibility/2006">
              <mc:Choice xmlns:v="urn:schemas-microsoft-com:vml" Requires="v">
                <p:oleObj name="Equation" r:id="rId3" imgW="3720960" imgH="571320" progId="Equation.DSMT4">
                  <p:embed/>
                </p:oleObj>
              </mc:Choice>
              <mc:Fallback>
                <p:oleObj name="Equation" r:id="rId3" imgW="3720960" imgH="571320" progId="Equation.DSMT4">
                  <p:embed/>
                  <p:pic>
                    <p:nvPicPr>
                      <p:cNvPr id="0" name="Object 1"/>
                      <p:cNvPicPr>
                        <a:picLocks noChangeAspect="1" noChangeArrowheads="1"/>
                      </p:cNvPicPr>
                      <p:nvPr/>
                    </p:nvPicPr>
                    <p:blipFill>
                      <a:blip r:embed="rId4"/>
                      <a:srcRect/>
                      <a:stretch>
                        <a:fillRect/>
                      </a:stretch>
                    </p:blipFill>
                    <p:spPr bwMode="auto">
                      <a:xfrm>
                        <a:off x="1933575" y="1663700"/>
                        <a:ext cx="4875213" cy="685800"/>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6" name="Rectangle 4">
            <a:extLst>
              <a:ext uri="{FF2B5EF4-FFF2-40B4-BE49-F238E27FC236}">
                <a16:creationId xmlns:a16="http://schemas.microsoft.com/office/drawing/2014/main" id="{612EB1BB-95B8-4337-A2DC-9D7EFA293891}"/>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6AC159E3-8351-4DB2-BA92-4880FC964877}"/>
              </a:ext>
            </a:extLst>
          </p:cNvPr>
          <p:cNvGraphicFramePr>
            <a:graphicFrameLocks noChangeAspect="1"/>
          </p:cNvGraphicFramePr>
          <p:nvPr>
            <p:extLst>
              <p:ext uri="{D42A27DB-BD31-4B8C-83A1-F6EECF244321}">
                <p14:modId xmlns:p14="http://schemas.microsoft.com/office/powerpoint/2010/main" val="670125388"/>
              </p:ext>
            </p:extLst>
          </p:nvPr>
        </p:nvGraphicFramePr>
        <p:xfrm>
          <a:off x="894616" y="3821912"/>
          <a:ext cx="7019925" cy="902488"/>
        </p:xfrm>
        <a:graphic>
          <a:graphicData uri="http://schemas.openxmlformats.org/presentationml/2006/ole">
            <mc:AlternateContent xmlns:mc="http://schemas.openxmlformats.org/markup-compatibility/2006">
              <mc:Choice xmlns:v="urn:schemas-microsoft-com:vml" Requires="v">
                <p:oleObj name="Equation" r:id="rId5" imgW="2501900" imgH="749300" progId="Equation.3">
                  <p:embed/>
                </p:oleObj>
              </mc:Choice>
              <mc:Fallback>
                <p:oleObj name="Equation" r:id="rId5" imgW="2501900" imgH="749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4616" y="3821912"/>
                        <a:ext cx="7019925" cy="902488"/>
                      </a:xfrm>
                      <a:prstGeom prst="rect">
                        <a:avLst/>
                      </a:prstGeom>
                      <a:solidFill>
                        <a:schemeClr val="accent2">
                          <a:lumMod val="20000"/>
                          <a:lumOff val="80000"/>
                        </a:schemeClr>
                      </a:solidFill>
                      <a:ln>
                        <a:solidFill>
                          <a:schemeClr val="accent1"/>
                        </a:solid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53012C-0C49-4B59-8D96-48C441CEAB06}"/>
              </a:ext>
            </a:extLst>
          </p:cNvPr>
          <p:cNvSpPr>
            <a:spLocks noGrp="1"/>
          </p:cNvSpPr>
          <p:nvPr>
            <p:ph idx="1"/>
          </p:nvPr>
        </p:nvSpPr>
        <p:spPr>
          <a:xfrm>
            <a:off x="609600" y="1329927"/>
            <a:ext cx="7924800" cy="4156473"/>
          </a:xfrm>
        </p:spPr>
        <p:txBody>
          <a:bodyPr>
            <a:normAutofit/>
          </a:bodyPr>
          <a:lstStyle/>
          <a:p>
            <a:pPr marL="0" indent="0" algn="just">
              <a:buNone/>
            </a:pPr>
            <a:r>
              <a:rPr lang="en-GB" sz="2400" dirty="0"/>
              <a:t>The coefficient of determination (</a:t>
            </a:r>
            <a:r>
              <a:rPr lang="en-GB" sz="2400" i="1" dirty="0"/>
              <a:t>R</a:t>
            </a:r>
            <a:r>
              <a:rPr lang="en-GB" sz="2400" baseline="30000" dirty="0"/>
              <a:t>2</a:t>
            </a:r>
            <a:r>
              <a:rPr lang="en-GB" sz="2400" dirty="0"/>
              <a:t>) is given </a:t>
            </a:r>
            <a:r>
              <a:rPr lang="en-US" sz="2400" dirty="0"/>
              <a:t>by</a:t>
            </a:r>
          </a:p>
          <a:p>
            <a:pPr marL="0" indent="0" algn="just">
              <a:buNone/>
            </a:pPr>
            <a:endParaRPr lang="en-US" sz="2400" dirty="0"/>
          </a:p>
          <a:p>
            <a:pPr marL="0" indent="0" algn="just">
              <a:buNone/>
            </a:pPr>
            <a:endParaRPr lang="en-US" sz="2400" dirty="0"/>
          </a:p>
          <a:p>
            <a:pPr marL="0" indent="0" algn="just">
              <a:buNone/>
            </a:pPr>
            <a:endParaRPr lang="en-US" sz="2400" dirty="0"/>
          </a:p>
          <a:p>
            <a:pPr marL="0" indent="0" algn="just">
              <a:buNone/>
            </a:pPr>
            <a:r>
              <a:rPr lang="en-GB" sz="2400" dirty="0"/>
              <a:t>Since SSR = SST – SSE, the above Eq. can be written as</a:t>
            </a:r>
            <a:endParaRPr lang="en-IN" sz="2400" dirty="0"/>
          </a:p>
          <a:p>
            <a:endParaRPr lang="en-IN" sz="2400" dirty="0"/>
          </a:p>
        </p:txBody>
      </p:sp>
      <p:sp>
        <p:nvSpPr>
          <p:cNvPr id="4" name="Rectangle 2">
            <a:extLst>
              <a:ext uri="{FF2B5EF4-FFF2-40B4-BE49-F238E27FC236}">
                <a16:creationId xmlns:a16="http://schemas.microsoft.com/office/drawing/2014/main" id="{04CDE33C-F38A-45A2-876F-1610D57997B7}"/>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173666AA-CB1C-4091-AE45-2080663A9DB8}"/>
              </a:ext>
            </a:extLst>
          </p:cNvPr>
          <p:cNvGraphicFramePr>
            <a:graphicFrameLocks noChangeAspect="1"/>
          </p:cNvGraphicFramePr>
          <p:nvPr>
            <p:extLst>
              <p:ext uri="{D42A27DB-BD31-4B8C-83A1-F6EECF244321}">
                <p14:modId xmlns:p14="http://schemas.microsoft.com/office/powerpoint/2010/main" val="4239510835"/>
              </p:ext>
            </p:extLst>
          </p:nvPr>
        </p:nvGraphicFramePr>
        <p:xfrm>
          <a:off x="903288" y="1879600"/>
          <a:ext cx="5430837" cy="965200"/>
        </p:xfrm>
        <a:graphic>
          <a:graphicData uri="http://schemas.openxmlformats.org/presentationml/2006/ole">
            <mc:AlternateContent xmlns:mc="http://schemas.openxmlformats.org/markup-compatibility/2006">
              <mc:Choice xmlns:v="urn:schemas-microsoft-com:vml" Requires="v">
                <p:oleObj name="Equation" r:id="rId2" imgW="5029200" imgH="888840" progId="Equation.DSMT4">
                  <p:embed/>
                </p:oleObj>
              </mc:Choice>
              <mc:Fallback>
                <p:oleObj name="Equation" r:id="rId2" imgW="5029200" imgH="888840" progId="Equation.DSMT4">
                  <p:embed/>
                  <p:pic>
                    <p:nvPicPr>
                      <p:cNvPr id="0" name="Object 1"/>
                      <p:cNvPicPr>
                        <a:picLocks noChangeAspect="1" noChangeArrowheads="1"/>
                      </p:cNvPicPr>
                      <p:nvPr/>
                    </p:nvPicPr>
                    <p:blipFill>
                      <a:blip r:embed="rId3"/>
                      <a:srcRect/>
                      <a:stretch>
                        <a:fillRect/>
                      </a:stretch>
                    </p:blipFill>
                    <p:spPr bwMode="auto">
                      <a:xfrm>
                        <a:off x="903288" y="1879600"/>
                        <a:ext cx="5430837" cy="965200"/>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6" name="Rectangle 4">
            <a:extLst>
              <a:ext uri="{FF2B5EF4-FFF2-40B4-BE49-F238E27FC236}">
                <a16:creationId xmlns:a16="http://schemas.microsoft.com/office/drawing/2014/main" id="{4DA21D1F-AA49-403C-A372-0B9D08929116}"/>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CD3A6E8C-1918-4986-BF00-41D53E5E44A0}"/>
              </a:ext>
            </a:extLst>
          </p:cNvPr>
          <p:cNvGraphicFramePr>
            <a:graphicFrameLocks noChangeAspect="1"/>
          </p:cNvGraphicFramePr>
          <p:nvPr>
            <p:extLst>
              <p:ext uri="{D42A27DB-BD31-4B8C-83A1-F6EECF244321}">
                <p14:modId xmlns:p14="http://schemas.microsoft.com/office/powerpoint/2010/main" val="2900517797"/>
              </p:ext>
            </p:extLst>
          </p:nvPr>
        </p:nvGraphicFramePr>
        <p:xfrm>
          <a:off x="1181100" y="4030663"/>
          <a:ext cx="4873625" cy="930275"/>
        </p:xfrm>
        <a:graphic>
          <a:graphicData uri="http://schemas.openxmlformats.org/presentationml/2006/ole">
            <mc:AlternateContent xmlns:mc="http://schemas.openxmlformats.org/markup-compatibility/2006">
              <mc:Choice xmlns:v="urn:schemas-microsoft-com:vml" Requires="v">
                <p:oleObj name="Equation" r:id="rId4" imgW="1917360" imgH="888840" progId="Equation.DSMT4">
                  <p:embed/>
                </p:oleObj>
              </mc:Choice>
              <mc:Fallback>
                <p:oleObj name="Equation" r:id="rId4" imgW="1917360" imgH="888840" progId="Equation.DSMT4">
                  <p:embed/>
                  <p:pic>
                    <p:nvPicPr>
                      <p:cNvPr id="0" name="Object 3"/>
                      <p:cNvPicPr>
                        <a:picLocks noChangeAspect="1" noChangeArrowheads="1"/>
                      </p:cNvPicPr>
                      <p:nvPr/>
                    </p:nvPicPr>
                    <p:blipFill>
                      <a:blip r:embed="rId5"/>
                      <a:srcRect/>
                      <a:stretch>
                        <a:fillRect/>
                      </a:stretch>
                    </p:blipFill>
                    <p:spPr bwMode="auto">
                      <a:xfrm>
                        <a:off x="1181100" y="4030663"/>
                        <a:ext cx="4873625" cy="930275"/>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2" name="TextBox 1">
            <a:extLst>
              <a:ext uri="{FF2B5EF4-FFF2-40B4-BE49-F238E27FC236}">
                <a16:creationId xmlns:a16="http://schemas.microsoft.com/office/drawing/2014/main" id="{9B441949-99D1-4940-B69B-4F98D53ECDCA}"/>
              </a:ext>
            </a:extLst>
          </p:cNvPr>
          <p:cNvSpPr txBox="1"/>
          <p:nvPr/>
        </p:nvSpPr>
        <p:spPr>
          <a:xfrm>
            <a:off x="685800" y="543580"/>
            <a:ext cx="7848600" cy="523220"/>
          </a:xfrm>
          <a:prstGeom prst="rect">
            <a:avLst/>
          </a:prstGeom>
          <a:noFill/>
        </p:spPr>
        <p:txBody>
          <a:bodyPr wrap="square" rtlCol="0">
            <a:spAutoFit/>
          </a:bodyPr>
          <a:lstStyle/>
          <a:p>
            <a:r>
              <a:rPr lang="en-IN" sz="2800" b="1" dirty="0">
                <a:solidFill>
                  <a:srgbClr val="C00000"/>
                </a:solidFill>
                <a:latin typeface="Calibri" panose="020F0502020204030204" pitchFamily="34" charset="0"/>
                <a:cs typeface="Calibri" panose="020F0502020204030204" pitchFamily="34" charset="0"/>
              </a:rPr>
              <a:t>Coefficient of Determination or R-Square</a:t>
            </a:r>
          </a:p>
        </p:txBody>
      </p:sp>
    </p:spTree>
    <p:extLst>
      <p:ext uri="{BB962C8B-B14F-4D97-AF65-F5344CB8AC3E}">
        <p14:creationId xmlns:p14="http://schemas.microsoft.com/office/powerpoint/2010/main" val="2791296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7D8F6E-94CD-484E-B8B1-A98E4FD141F8}"/>
              </a:ext>
            </a:extLst>
          </p:cNvPr>
          <p:cNvSpPr>
            <a:spLocks noGrp="1"/>
          </p:cNvSpPr>
          <p:nvPr>
            <p:ph idx="1"/>
          </p:nvPr>
        </p:nvSpPr>
        <p:spPr>
          <a:xfrm>
            <a:off x="457200" y="1253330"/>
            <a:ext cx="8153400" cy="4918869"/>
          </a:xfrm>
        </p:spPr>
        <p:txBody>
          <a:bodyPr>
            <a:noAutofit/>
          </a:bodyPr>
          <a:lstStyle/>
          <a:p>
            <a:pPr marL="0" indent="0" algn="just">
              <a:buNone/>
            </a:pPr>
            <a:r>
              <a:rPr lang="en-GB" sz="2200" dirty="0"/>
              <a:t>Thus, </a:t>
            </a:r>
            <a:r>
              <a:rPr lang="en-GB" sz="2200" i="1" dirty="0"/>
              <a:t>R</a:t>
            </a:r>
            <a:r>
              <a:rPr lang="en-GB" sz="2200" i="1" baseline="30000" dirty="0"/>
              <a:t>2</a:t>
            </a:r>
            <a:r>
              <a:rPr lang="en-GB" sz="2200" dirty="0"/>
              <a:t> is the proportion of variation in response variable </a:t>
            </a:r>
            <a:r>
              <a:rPr lang="en-GB" sz="2200" i="1" dirty="0"/>
              <a:t>Y</a:t>
            </a:r>
            <a:r>
              <a:rPr lang="en-GB" sz="2200" dirty="0"/>
              <a:t> explained by the regression model.  Coefficient of determination (</a:t>
            </a:r>
            <a:r>
              <a:rPr lang="en-GB" sz="2200" i="1" dirty="0"/>
              <a:t>R</a:t>
            </a:r>
            <a:r>
              <a:rPr lang="en-GB" sz="2200" i="1" baseline="30000" dirty="0"/>
              <a:t>2</a:t>
            </a:r>
            <a:r>
              <a:rPr lang="en-GB" sz="2200" dirty="0"/>
              <a:t>) has the following properties:</a:t>
            </a:r>
          </a:p>
          <a:p>
            <a:pPr marL="0" indent="0" algn="just">
              <a:buNone/>
            </a:pPr>
            <a:endParaRPr lang="en-IN" sz="2200" dirty="0"/>
          </a:p>
          <a:p>
            <a:pPr lvl="0" algn="just"/>
            <a:r>
              <a:rPr lang="en-GB" sz="2200" dirty="0"/>
              <a:t>The value of </a:t>
            </a:r>
            <a:r>
              <a:rPr lang="en-GB" sz="2200" i="1" dirty="0"/>
              <a:t>R</a:t>
            </a:r>
            <a:r>
              <a:rPr lang="en-GB" sz="2200" i="1" baseline="30000" dirty="0"/>
              <a:t>2</a:t>
            </a:r>
            <a:r>
              <a:rPr lang="en-GB" sz="2200" dirty="0"/>
              <a:t> lies between 0 and 1.</a:t>
            </a:r>
            <a:endParaRPr lang="en-IN" sz="2200" dirty="0"/>
          </a:p>
          <a:p>
            <a:pPr lvl="0" algn="just"/>
            <a:r>
              <a:rPr lang="en-GB" sz="2200" dirty="0"/>
              <a:t>Higher value of </a:t>
            </a:r>
            <a:r>
              <a:rPr lang="en-GB" sz="2200" i="1" dirty="0"/>
              <a:t>R</a:t>
            </a:r>
            <a:r>
              <a:rPr lang="en-GB" sz="2200" i="1" baseline="30000" dirty="0"/>
              <a:t>2</a:t>
            </a:r>
            <a:r>
              <a:rPr lang="en-GB" sz="2200" dirty="0"/>
              <a:t> implies better fit, but one should be aware of spurious regression.</a:t>
            </a:r>
            <a:endParaRPr lang="en-IN" sz="2200" dirty="0"/>
          </a:p>
          <a:p>
            <a:pPr lvl="0" algn="just"/>
            <a:r>
              <a:rPr lang="en-GB" sz="2200" dirty="0"/>
              <a:t>Mathematically, the square of correlation coefficient is equal to coefficient of determination (i.e., </a:t>
            </a:r>
            <a:r>
              <a:rPr lang="en-GB" sz="2200" i="1" dirty="0"/>
              <a:t>r</a:t>
            </a:r>
            <a:r>
              <a:rPr lang="en-GB" sz="2200" i="1" baseline="30000" dirty="0"/>
              <a:t>2</a:t>
            </a:r>
            <a:r>
              <a:rPr lang="en-GB" sz="2200" dirty="0"/>
              <a:t> = </a:t>
            </a:r>
            <a:r>
              <a:rPr lang="en-GB" sz="2200" i="1" dirty="0"/>
              <a:t>R</a:t>
            </a:r>
            <a:r>
              <a:rPr lang="en-GB" sz="2200" i="1" baseline="30000" dirty="0"/>
              <a:t>2</a:t>
            </a:r>
            <a:r>
              <a:rPr lang="en-GB" sz="2200" dirty="0"/>
              <a:t>).</a:t>
            </a:r>
            <a:endParaRPr lang="en-IN" sz="2200" dirty="0"/>
          </a:p>
          <a:p>
            <a:pPr algn="just"/>
            <a:r>
              <a:rPr lang="en-GB" sz="2200" dirty="0"/>
              <a:t>We do not put any minimum threshold for </a:t>
            </a:r>
            <a:r>
              <a:rPr lang="en-GB" sz="2200" i="1" dirty="0"/>
              <a:t>R</a:t>
            </a:r>
            <a:r>
              <a:rPr lang="en-GB" sz="2200" i="1" baseline="30000" dirty="0"/>
              <a:t>2</a:t>
            </a:r>
            <a:r>
              <a:rPr lang="en-GB" sz="2200" dirty="0"/>
              <a:t>; higher value of </a:t>
            </a:r>
            <a:r>
              <a:rPr lang="en-GB" sz="2200" i="1" dirty="0"/>
              <a:t>R</a:t>
            </a:r>
            <a:r>
              <a:rPr lang="en-GB" sz="2200" i="1" baseline="30000" dirty="0"/>
              <a:t>2</a:t>
            </a:r>
            <a:r>
              <a:rPr lang="en-GB" sz="2200" dirty="0"/>
              <a:t> implies better fit. However, a minimum value of </a:t>
            </a:r>
            <a:r>
              <a:rPr lang="en-GB" sz="2200" i="1" dirty="0"/>
              <a:t>R</a:t>
            </a:r>
            <a:r>
              <a:rPr lang="en-GB" sz="2200" i="1" baseline="30000" dirty="0"/>
              <a:t>2</a:t>
            </a:r>
            <a:r>
              <a:rPr lang="en-GB" sz="2200" dirty="0"/>
              <a:t> for a given significance value </a:t>
            </a:r>
            <a:r>
              <a:rPr lang="en-GB" sz="2200" i="1" dirty="0">
                <a:sym typeface="Symbol" panose="05050102010706020507" pitchFamily="18" charset="2"/>
              </a:rPr>
              <a:t></a:t>
            </a:r>
            <a:r>
              <a:rPr lang="en-GB" sz="2200" dirty="0"/>
              <a:t> can be derived using the relationship between the F-statistic and </a:t>
            </a:r>
            <a:r>
              <a:rPr lang="en-GB" sz="2200" i="1" dirty="0"/>
              <a:t>R</a:t>
            </a:r>
            <a:r>
              <a:rPr lang="en-GB" sz="2200" i="1" baseline="30000" dirty="0"/>
              <a:t>2</a:t>
            </a:r>
            <a:r>
              <a:rPr lang="en-GB" sz="2200" dirty="0"/>
              <a:t> </a:t>
            </a:r>
            <a:endParaRPr lang="en-IN" sz="2200" dirty="0"/>
          </a:p>
        </p:txBody>
      </p:sp>
      <p:sp>
        <p:nvSpPr>
          <p:cNvPr id="7" name="TextBox 6">
            <a:extLst>
              <a:ext uri="{FF2B5EF4-FFF2-40B4-BE49-F238E27FC236}">
                <a16:creationId xmlns:a16="http://schemas.microsoft.com/office/drawing/2014/main" id="{471B25D8-1F9E-43C1-AD49-2E810FB2F696}"/>
              </a:ext>
            </a:extLst>
          </p:cNvPr>
          <p:cNvSpPr txBox="1"/>
          <p:nvPr/>
        </p:nvSpPr>
        <p:spPr>
          <a:xfrm>
            <a:off x="685800" y="533399"/>
            <a:ext cx="7848600" cy="523220"/>
          </a:xfrm>
          <a:prstGeom prst="rect">
            <a:avLst/>
          </a:prstGeom>
          <a:noFill/>
        </p:spPr>
        <p:txBody>
          <a:bodyPr wrap="square" rtlCol="0">
            <a:spAutoFit/>
          </a:bodyPr>
          <a:lstStyle/>
          <a:p>
            <a:r>
              <a:rPr lang="en-IN" sz="2800" b="1" dirty="0">
                <a:solidFill>
                  <a:srgbClr val="C00000"/>
                </a:solidFill>
                <a:latin typeface="Calibri" panose="020F0502020204030204" pitchFamily="34" charset="0"/>
                <a:cs typeface="Calibri" panose="020F0502020204030204" pitchFamily="34" charset="0"/>
              </a:rPr>
              <a:t>Coefficient of Determination or R-Square</a:t>
            </a:r>
          </a:p>
        </p:txBody>
      </p:sp>
    </p:spTree>
    <p:extLst>
      <p:ext uri="{BB962C8B-B14F-4D97-AF65-F5344CB8AC3E}">
        <p14:creationId xmlns:p14="http://schemas.microsoft.com/office/powerpoint/2010/main" val="88929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523E2-DA39-4835-A0A7-645422737B32}"/>
              </a:ext>
            </a:extLst>
          </p:cNvPr>
          <p:cNvSpPr>
            <a:spLocks noGrp="1"/>
          </p:cNvSpPr>
          <p:nvPr>
            <p:ph type="title"/>
          </p:nvPr>
        </p:nvSpPr>
        <p:spPr>
          <a:xfrm>
            <a:off x="628650" y="381000"/>
            <a:ext cx="7886700" cy="625474"/>
          </a:xfrm>
        </p:spPr>
        <p:txBody>
          <a:bodyPr>
            <a:noAutofit/>
          </a:bodyPr>
          <a:lstStyle/>
          <a:p>
            <a:br>
              <a:rPr lang="en-GB" sz="3200" b="1" i="1" dirty="0">
                <a:solidFill>
                  <a:srgbClr val="C00000"/>
                </a:solidFill>
              </a:rPr>
            </a:br>
            <a:r>
              <a:rPr lang="en-GB" sz="3200" b="1" dirty="0">
                <a:solidFill>
                  <a:srgbClr val="C00000"/>
                </a:solidFill>
              </a:rPr>
              <a:t>Spurious Regression</a:t>
            </a:r>
            <a:br>
              <a:rPr lang="en-IN" sz="3200" dirty="0">
                <a:solidFill>
                  <a:srgbClr val="C00000"/>
                </a:solidFill>
              </a:rPr>
            </a:br>
            <a:endParaRPr lang="en-IN" sz="3200" dirty="0">
              <a:solidFill>
                <a:srgbClr val="C00000"/>
              </a:solidFill>
            </a:endParaRPr>
          </a:p>
        </p:txBody>
      </p:sp>
      <p:sp>
        <p:nvSpPr>
          <p:cNvPr id="4" name="Content Placeholder 3">
            <a:extLst>
              <a:ext uri="{FF2B5EF4-FFF2-40B4-BE49-F238E27FC236}">
                <a16:creationId xmlns:a16="http://schemas.microsoft.com/office/drawing/2014/main" id="{EA29D36F-B376-458A-9151-E6FA8957F299}"/>
              </a:ext>
            </a:extLst>
          </p:cNvPr>
          <p:cNvSpPr>
            <a:spLocks noGrp="1"/>
          </p:cNvSpPr>
          <p:nvPr>
            <p:ph idx="1"/>
          </p:nvPr>
        </p:nvSpPr>
        <p:spPr>
          <a:xfrm>
            <a:off x="485776" y="1263649"/>
            <a:ext cx="7886700" cy="993775"/>
          </a:xfrm>
        </p:spPr>
        <p:txBody>
          <a:bodyPr/>
          <a:lstStyle/>
          <a:p>
            <a:pPr marL="0" indent="0" algn="just">
              <a:buNone/>
            </a:pPr>
            <a:r>
              <a:rPr lang="en-GB" dirty="0"/>
              <a:t>Number of Facebook users and the number of people who died of helium poisoning in UK</a:t>
            </a:r>
            <a:endParaRPr lang="en-IN" dirty="0"/>
          </a:p>
        </p:txBody>
      </p:sp>
      <p:graphicFrame>
        <p:nvGraphicFramePr>
          <p:cNvPr id="5" name="Table 4">
            <a:extLst>
              <a:ext uri="{FF2B5EF4-FFF2-40B4-BE49-F238E27FC236}">
                <a16:creationId xmlns:a16="http://schemas.microsoft.com/office/drawing/2014/main" id="{87AC14A2-8494-4C00-8E87-A9205168DDDB}"/>
              </a:ext>
            </a:extLst>
          </p:cNvPr>
          <p:cNvGraphicFramePr>
            <a:graphicFrameLocks noGrp="1"/>
          </p:cNvGraphicFramePr>
          <p:nvPr>
            <p:extLst>
              <p:ext uri="{D42A27DB-BD31-4B8C-83A1-F6EECF244321}">
                <p14:modId xmlns:p14="http://schemas.microsoft.com/office/powerpoint/2010/main" val="845652758"/>
              </p:ext>
            </p:extLst>
          </p:nvPr>
        </p:nvGraphicFramePr>
        <p:xfrm>
          <a:off x="1657351" y="2514600"/>
          <a:ext cx="5276849" cy="3140056"/>
        </p:xfrm>
        <a:graphic>
          <a:graphicData uri="http://schemas.openxmlformats.org/drawingml/2006/table">
            <a:tbl>
              <a:tblPr firstRow="1" firstCol="1" bandRow="1">
                <a:tableStyleId>{125E5076-3810-47DD-B79F-674D7AD40C01}</a:tableStyleId>
              </a:tblPr>
              <a:tblGrid>
                <a:gridCol w="488446">
                  <a:extLst>
                    <a:ext uri="{9D8B030D-6E8A-4147-A177-3AD203B41FA5}">
                      <a16:colId xmlns:a16="http://schemas.microsoft.com/office/drawing/2014/main" val="1143521189"/>
                    </a:ext>
                  </a:extLst>
                </a:gridCol>
                <a:gridCol w="2068376">
                  <a:extLst>
                    <a:ext uri="{9D8B030D-6E8A-4147-A177-3AD203B41FA5}">
                      <a16:colId xmlns:a16="http://schemas.microsoft.com/office/drawing/2014/main" val="3143645454"/>
                    </a:ext>
                  </a:extLst>
                </a:gridCol>
                <a:gridCol w="2720027">
                  <a:extLst>
                    <a:ext uri="{9D8B030D-6E8A-4147-A177-3AD203B41FA5}">
                      <a16:colId xmlns:a16="http://schemas.microsoft.com/office/drawing/2014/main" val="3178154276"/>
                    </a:ext>
                  </a:extLst>
                </a:gridCol>
              </a:tblGrid>
              <a:tr h="389525">
                <a:tc>
                  <a:txBody>
                    <a:bodyPr/>
                    <a:lstStyle/>
                    <a:p>
                      <a:pPr algn="ctr">
                        <a:lnSpc>
                          <a:spcPct val="150000"/>
                        </a:lnSpc>
                        <a:spcAft>
                          <a:spcPts val="0"/>
                        </a:spcAft>
                      </a:pPr>
                      <a:r>
                        <a:rPr lang="en-GB" sz="1100" dirty="0">
                          <a:effectLst/>
                        </a:rPr>
                        <a:t>Year</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ctr">
                        <a:lnSpc>
                          <a:spcPct val="150000"/>
                        </a:lnSpc>
                        <a:spcAft>
                          <a:spcPts val="0"/>
                        </a:spcAft>
                      </a:pPr>
                      <a:r>
                        <a:rPr lang="en-GB" sz="1100" dirty="0">
                          <a:effectLst/>
                        </a:rPr>
                        <a:t>Number of Facebook users in millions (X)</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ctr">
                        <a:lnSpc>
                          <a:spcPct val="150000"/>
                        </a:lnSpc>
                        <a:spcAft>
                          <a:spcPts val="0"/>
                        </a:spcAft>
                      </a:pPr>
                      <a:r>
                        <a:rPr lang="en-GB" sz="1100">
                          <a:effectLst/>
                        </a:rPr>
                        <a:t>Number of people who died of helium poisoning in UK (Y)</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3349111065"/>
                  </a:ext>
                </a:extLst>
              </a:tr>
              <a:tr h="296310">
                <a:tc>
                  <a:txBody>
                    <a:bodyPr/>
                    <a:lstStyle/>
                    <a:p>
                      <a:pPr algn="ctr">
                        <a:lnSpc>
                          <a:spcPct val="150000"/>
                        </a:lnSpc>
                        <a:spcAft>
                          <a:spcPts val="0"/>
                        </a:spcAft>
                      </a:pPr>
                      <a:r>
                        <a:rPr lang="en-GB" sz="1100">
                          <a:effectLst/>
                        </a:rPr>
                        <a:t>2004</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extLst>
                  <a:ext uri="{0D108BD9-81ED-4DB2-BD59-A6C34878D82A}">
                    <a16:rowId xmlns:a16="http://schemas.microsoft.com/office/drawing/2014/main" val="3924074538"/>
                  </a:ext>
                </a:extLst>
              </a:tr>
              <a:tr h="296310">
                <a:tc>
                  <a:txBody>
                    <a:bodyPr/>
                    <a:lstStyle/>
                    <a:p>
                      <a:pPr algn="ctr">
                        <a:lnSpc>
                          <a:spcPct val="150000"/>
                        </a:lnSpc>
                        <a:spcAft>
                          <a:spcPts val="0"/>
                        </a:spcAft>
                      </a:pPr>
                      <a:r>
                        <a:rPr lang="en-GB" sz="1100">
                          <a:effectLst/>
                        </a:rPr>
                        <a:t>2005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extLst>
                  <a:ext uri="{0D108BD9-81ED-4DB2-BD59-A6C34878D82A}">
                    <a16:rowId xmlns:a16="http://schemas.microsoft.com/office/drawing/2014/main" val="2321357795"/>
                  </a:ext>
                </a:extLst>
              </a:tr>
              <a:tr h="296310">
                <a:tc>
                  <a:txBody>
                    <a:bodyPr/>
                    <a:lstStyle/>
                    <a:p>
                      <a:pPr algn="ctr">
                        <a:lnSpc>
                          <a:spcPct val="150000"/>
                        </a:lnSpc>
                        <a:spcAft>
                          <a:spcPts val="0"/>
                        </a:spcAft>
                      </a:pPr>
                      <a:r>
                        <a:rPr lang="en-GB" sz="1100">
                          <a:effectLst/>
                        </a:rPr>
                        <a:t>2006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dirty="0">
                          <a:effectLst/>
                        </a:rPr>
                        <a:t>12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extLst>
                  <a:ext uri="{0D108BD9-81ED-4DB2-BD59-A6C34878D82A}">
                    <a16:rowId xmlns:a16="http://schemas.microsoft.com/office/drawing/2014/main" val="4293830522"/>
                  </a:ext>
                </a:extLst>
              </a:tr>
              <a:tr h="296310">
                <a:tc>
                  <a:txBody>
                    <a:bodyPr/>
                    <a:lstStyle/>
                    <a:p>
                      <a:pPr algn="ctr">
                        <a:lnSpc>
                          <a:spcPct val="150000"/>
                        </a:lnSpc>
                        <a:spcAft>
                          <a:spcPts val="0"/>
                        </a:spcAft>
                      </a:pPr>
                      <a:r>
                        <a:rPr lang="en-GB" sz="1100">
                          <a:effectLst/>
                        </a:rPr>
                        <a:t>2007</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58</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extLst>
                  <a:ext uri="{0D108BD9-81ED-4DB2-BD59-A6C34878D82A}">
                    <a16:rowId xmlns:a16="http://schemas.microsoft.com/office/drawing/2014/main" val="1861455325"/>
                  </a:ext>
                </a:extLst>
              </a:tr>
              <a:tr h="296310">
                <a:tc>
                  <a:txBody>
                    <a:bodyPr/>
                    <a:lstStyle/>
                    <a:p>
                      <a:pPr algn="ctr">
                        <a:lnSpc>
                          <a:spcPct val="150000"/>
                        </a:lnSpc>
                        <a:spcAft>
                          <a:spcPts val="0"/>
                        </a:spcAft>
                      </a:pPr>
                      <a:r>
                        <a:rPr lang="en-GB" sz="1100">
                          <a:effectLst/>
                        </a:rPr>
                        <a:t>2008</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145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11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extLst>
                  <a:ext uri="{0D108BD9-81ED-4DB2-BD59-A6C34878D82A}">
                    <a16:rowId xmlns:a16="http://schemas.microsoft.com/office/drawing/2014/main" val="2142773671"/>
                  </a:ext>
                </a:extLst>
              </a:tr>
              <a:tr h="296310">
                <a:tc>
                  <a:txBody>
                    <a:bodyPr/>
                    <a:lstStyle/>
                    <a:p>
                      <a:pPr algn="ctr">
                        <a:lnSpc>
                          <a:spcPct val="150000"/>
                        </a:lnSpc>
                        <a:spcAft>
                          <a:spcPts val="0"/>
                        </a:spcAft>
                      </a:pPr>
                      <a:r>
                        <a:rPr lang="en-GB" sz="1100">
                          <a:effectLst/>
                        </a:rPr>
                        <a:t>2009</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360</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21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extLst>
                  <a:ext uri="{0D108BD9-81ED-4DB2-BD59-A6C34878D82A}">
                    <a16:rowId xmlns:a16="http://schemas.microsoft.com/office/drawing/2014/main" val="2577058619"/>
                  </a:ext>
                </a:extLst>
              </a:tr>
              <a:tr h="296310">
                <a:tc>
                  <a:txBody>
                    <a:bodyPr/>
                    <a:lstStyle/>
                    <a:p>
                      <a:pPr algn="ctr">
                        <a:lnSpc>
                          <a:spcPct val="150000"/>
                        </a:lnSpc>
                        <a:spcAft>
                          <a:spcPts val="0"/>
                        </a:spcAft>
                      </a:pPr>
                      <a:r>
                        <a:rPr lang="en-GB" sz="1100">
                          <a:effectLst/>
                        </a:rPr>
                        <a:t>2010</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608</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31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extLst>
                  <a:ext uri="{0D108BD9-81ED-4DB2-BD59-A6C34878D82A}">
                    <a16:rowId xmlns:a16="http://schemas.microsoft.com/office/drawing/2014/main" val="4001710781"/>
                  </a:ext>
                </a:extLst>
              </a:tr>
              <a:tr h="296310">
                <a:tc>
                  <a:txBody>
                    <a:bodyPr/>
                    <a:lstStyle/>
                    <a:p>
                      <a:pPr algn="ctr">
                        <a:lnSpc>
                          <a:spcPct val="150000"/>
                        </a:lnSpc>
                        <a:spcAft>
                          <a:spcPts val="0"/>
                        </a:spcAft>
                      </a:pPr>
                      <a:r>
                        <a:rPr lang="en-GB" sz="1100">
                          <a:effectLst/>
                        </a:rPr>
                        <a:t>2011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845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40</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extLst>
                  <a:ext uri="{0D108BD9-81ED-4DB2-BD59-A6C34878D82A}">
                    <a16:rowId xmlns:a16="http://schemas.microsoft.com/office/drawing/2014/main" val="2026305111"/>
                  </a:ext>
                </a:extLst>
              </a:tr>
              <a:tr h="296310">
                <a:tc>
                  <a:txBody>
                    <a:bodyPr/>
                    <a:lstStyle/>
                    <a:p>
                      <a:pPr algn="ctr">
                        <a:lnSpc>
                          <a:spcPct val="150000"/>
                        </a:lnSpc>
                        <a:spcAft>
                          <a:spcPts val="0"/>
                        </a:spcAft>
                      </a:pPr>
                      <a:r>
                        <a:rPr lang="en-GB" sz="1100">
                          <a:effectLst/>
                        </a:rPr>
                        <a:t>2012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a:effectLst/>
                        </a:rPr>
                        <a:t>1056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tc>
                  <a:txBody>
                    <a:bodyPr/>
                    <a:lstStyle/>
                    <a:p>
                      <a:pPr algn="ctr">
                        <a:lnSpc>
                          <a:spcPct val="150000"/>
                        </a:lnSpc>
                        <a:spcAft>
                          <a:spcPts val="0"/>
                        </a:spcAft>
                      </a:pPr>
                      <a:r>
                        <a:rPr lang="en-GB" sz="1100" dirty="0">
                          <a:effectLst/>
                        </a:rPr>
                        <a:t>51</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b"/>
                </a:tc>
                <a:extLst>
                  <a:ext uri="{0D108BD9-81ED-4DB2-BD59-A6C34878D82A}">
                    <a16:rowId xmlns:a16="http://schemas.microsoft.com/office/drawing/2014/main" val="408277453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2227C2-0BDB-4BDD-8D65-0C320701C110}"/>
              </a:ext>
            </a:extLst>
          </p:cNvPr>
          <p:cNvSpPr>
            <a:spLocks noGrp="1"/>
          </p:cNvSpPr>
          <p:nvPr>
            <p:ph type="title"/>
          </p:nvPr>
        </p:nvSpPr>
        <p:spPr>
          <a:xfrm>
            <a:off x="457200" y="365127"/>
            <a:ext cx="8382000" cy="625474"/>
          </a:xfrm>
        </p:spPr>
        <p:txBody>
          <a:bodyPr>
            <a:noAutofit/>
          </a:bodyPr>
          <a:lstStyle/>
          <a:p>
            <a:pPr algn="ctr"/>
            <a:r>
              <a:rPr lang="en-GB" sz="2600" b="1" dirty="0">
                <a:solidFill>
                  <a:srgbClr val="C00000"/>
                </a:solidFill>
              </a:rPr>
              <a:t>Facebook users versus helium poisoning in UK</a:t>
            </a:r>
            <a:endParaRPr lang="en-IN" sz="2600" b="1" dirty="0">
              <a:solidFill>
                <a:srgbClr val="C00000"/>
              </a:solidFill>
            </a:endParaRPr>
          </a:p>
        </p:txBody>
      </p:sp>
      <p:graphicFrame>
        <p:nvGraphicFramePr>
          <p:cNvPr id="2" name="Content Placeholder 1">
            <a:extLst>
              <a:ext uri="{FF2B5EF4-FFF2-40B4-BE49-F238E27FC236}">
                <a16:creationId xmlns:a16="http://schemas.microsoft.com/office/drawing/2014/main" id="{46B14B5B-8549-4BDE-AA2E-633FB48C963A}"/>
              </a:ext>
            </a:extLst>
          </p:cNvPr>
          <p:cNvGraphicFramePr>
            <a:graphicFrameLocks noGrp="1"/>
          </p:cNvGraphicFramePr>
          <p:nvPr>
            <p:ph idx="1"/>
            <p:extLst>
              <p:ext uri="{D42A27DB-BD31-4B8C-83A1-F6EECF244321}">
                <p14:modId xmlns:p14="http://schemas.microsoft.com/office/powerpoint/2010/main" val="416586092"/>
              </p:ext>
            </p:extLst>
          </p:nvPr>
        </p:nvGraphicFramePr>
        <p:xfrm>
          <a:off x="619125" y="1115451"/>
          <a:ext cx="8058150" cy="3571105"/>
        </p:xfrm>
        <a:graphic>
          <a:graphicData uri="http://schemas.openxmlformats.org/drawingml/2006/table">
            <a:tbl>
              <a:tblPr firstRow="1" firstCol="1" bandRow="1">
                <a:tableStyleId>{125E5076-3810-47DD-B79F-674D7AD40C01}</a:tableStyleId>
              </a:tblPr>
              <a:tblGrid>
                <a:gridCol w="1425658">
                  <a:extLst>
                    <a:ext uri="{9D8B030D-6E8A-4147-A177-3AD203B41FA5}">
                      <a16:colId xmlns:a16="http://schemas.microsoft.com/office/drawing/2014/main" val="3991418323"/>
                    </a:ext>
                  </a:extLst>
                </a:gridCol>
                <a:gridCol w="1209590">
                  <a:extLst>
                    <a:ext uri="{9D8B030D-6E8A-4147-A177-3AD203B41FA5}">
                      <a16:colId xmlns:a16="http://schemas.microsoft.com/office/drawing/2014/main" val="1268033622"/>
                    </a:ext>
                  </a:extLst>
                </a:gridCol>
                <a:gridCol w="1145928">
                  <a:extLst>
                    <a:ext uri="{9D8B030D-6E8A-4147-A177-3AD203B41FA5}">
                      <a16:colId xmlns:a16="http://schemas.microsoft.com/office/drawing/2014/main" val="1183514804"/>
                    </a:ext>
                  </a:extLst>
                </a:gridCol>
                <a:gridCol w="1015709">
                  <a:extLst>
                    <a:ext uri="{9D8B030D-6E8A-4147-A177-3AD203B41FA5}">
                      <a16:colId xmlns:a16="http://schemas.microsoft.com/office/drawing/2014/main" val="3867516392"/>
                    </a:ext>
                  </a:extLst>
                </a:gridCol>
                <a:gridCol w="1015709">
                  <a:extLst>
                    <a:ext uri="{9D8B030D-6E8A-4147-A177-3AD203B41FA5}">
                      <a16:colId xmlns:a16="http://schemas.microsoft.com/office/drawing/2014/main" val="3630579050"/>
                    </a:ext>
                  </a:extLst>
                </a:gridCol>
                <a:gridCol w="1229847">
                  <a:extLst>
                    <a:ext uri="{9D8B030D-6E8A-4147-A177-3AD203B41FA5}">
                      <a16:colId xmlns:a16="http://schemas.microsoft.com/office/drawing/2014/main" val="2102899512"/>
                    </a:ext>
                  </a:extLst>
                </a:gridCol>
                <a:gridCol w="1015709">
                  <a:extLst>
                    <a:ext uri="{9D8B030D-6E8A-4147-A177-3AD203B41FA5}">
                      <a16:colId xmlns:a16="http://schemas.microsoft.com/office/drawing/2014/main" val="301800758"/>
                    </a:ext>
                  </a:extLst>
                </a:gridCol>
              </a:tblGrid>
              <a:tr h="225399">
                <a:tc gridSpan="2">
                  <a:txBody>
                    <a:bodyPr/>
                    <a:lstStyle/>
                    <a:p>
                      <a:pPr>
                        <a:lnSpc>
                          <a:spcPct val="150000"/>
                        </a:lnSpc>
                        <a:spcAft>
                          <a:spcPts val="0"/>
                        </a:spcAft>
                      </a:pPr>
                      <a:r>
                        <a:rPr lang="en-GB" sz="1200" dirty="0">
                          <a:effectLst/>
                        </a:rPr>
                        <a:t>SUMMARY OUTPUT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hMerge="1">
                  <a:txBody>
                    <a:bodyPr/>
                    <a:lstStyle/>
                    <a:p>
                      <a:endParaRPr lang="en-IN"/>
                    </a:p>
                  </a:txBody>
                  <a:tcPr/>
                </a:tc>
                <a:tc>
                  <a:txBody>
                    <a:bodyPr/>
                    <a:lstStyle/>
                    <a:p>
                      <a:pP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nSpc>
                          <a:spcPct val="107000"/>
                        </a:lnSpc>
                      </a:pPr>
                      <a:endParaRPr lang="en-IN" sz="1200" dirty="0">
                        <a:effectLst/>
                        <a:latin typeface="Calibri" panose="020F0502020204030204" pitchFamily="34" charset="0"/>
                        <a:cs typeface="Times New Roman" panose="02020603050405020304" pitchFamily="18" charset="0"/>
                      </a:endParaRPr>
                    </a:p>
                  </a:txBody>
                  <a:tcPr marL="69320" marR="69320" marT="0" marB="0" anchor="b"/>
                </a:tc>
                <a:tc>
                  <a:txBody>
                    <a:bodyPr/>
                    <a:lstStyle/>
                    <a:p>
                      <a:pP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2798108497"/>
                  </a:ext>
                </a:extLst>
              </a:tr>
              <a:tr h="225399">
                <a:tc gridSpan="2">
                  <a:txBody>
                    <a:bodyPr/>
                    <a:lstStyle/>
                    <a:p>
                      <a:pPr algn="ctr">
                        <a:lnSpc>
                          <a:spcPct val="150000"/>
                        </a:lnSpc>
                        <a:spcAft>
                          <a:spcPts val="0"/>
                        </a:spcAft>
                      </a:pPr>
                      <a:r>
                        <a:rPr lang="en-GB" sz="1200">
                          <a:effectLst/>
                        </a:rPr>
                        <a:t>Regression Statistics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hMerge="1">
                  <a:txBody>
                    <a:bodyPr/>
                    <a:lstStyle/>
                    <a:p>
                      <a:endParaRPr lang="en-IN"/>
                    </a:p>
                  </a:txBody>
                  <a:tcPr/>
                </a:tc>
                <a:tc>
                  <a:txBody>
                    <a:bodyPr/>
                    <a:lstStyle/>
                    <a:p>
                      <a:pP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2854858805"/>
                  </a:ext>
                </a:extLst>
              </a:tr>
              <a:tr h="241455">
                <a:tc>
                  <a:txBody>
                    <a:bodyPr/>
                    <a:lstStyle/>
                    <a:p>
                      <a:pPr>
                        <a:lnSpc>
                          <a:spcPct val="150000"/>
                        </a:lnSpc>
                        <a:spcAft>
                          <a:spcPts val="0"/>
                        </a:spcAft>
                      </a:pPr>
                      <a:r>
                        <a:rPr lang="en-GB" sz="1200">
                          <a:effectLst/>
                        </a:rPr>
                        <a:t>Multiple 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0.996442</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07000"/>
                        </a:lnSpc>
                      </a:pPr>
                      <a:endParaRPr lang="en-IN" sz="1200" dirty="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dirty="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3258031304"/>
                  </a:ext>
                </a:extLst>
              </a:tr>
              <a:tr h="241455">
                <a:tc>
                  <a:txBody>
                    <a:bodyPr/>
                    <a:lstStyle/>
                    <a:p>
                      <a:pPr>
                        <a:lnSpc>
                          <a:spcPct val="150000"/>
                        </a:lnSpc>
                        <a:spcAft>
                          <a:spcPts val="0"/>
                        </a:spcAft>
                      </a:pPr>
                      <a:r>
                        <a:rPr lang="en-GB" sz="1200" dirty="0">
                          <a:effectLst/>
                        </a:rPr>
                        <a:t>R Square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0.992896</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3254712783"/>
                  </a:ext>
                </a:extLst>
              </a:tr>
              <a:tr h="241455">
                <a:tc>
                  <a:txBody>
                    <a:bodyPr/>
                    <a:lstStyle/>
                    <a:p>
                      <a:pPr>
                        <a:lnSpc>
                          <a:spcPct val="150000"/>
                        </a:lnSpc>
                        <a:spcAft>
                          <a:spcPts val="0"/>
                        </a:spcAft>
                      </a:pPr>
                      <a:r>
                        <a:rPr lang="en-GB" sz="1200">
                          <a:effectLst/>
                        </a:rPr>
                        <a:t>Standard Error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1.69286</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2381875067"/>
                  </a:ext>
                </a:extLst>
              </a:tr>
              <a:tr h="241455">
                <a:tc>
                  <a:txBody>
                    <a:bodyPr/>
                    <a:lstStyle/>
                    <a:p>
                      <a:pPr>
                        <a:lnSpc>
                          <a:spcPct val="150000"/>
                        </a:lnSpc>
                        <a:spcAft>
                          <a:spcPts val="0"/>
                        </a:spcAft>
                      </a:pPr>
                      <a:r>
                        <a:rPr lang="en-GB" sz="1200">
                          <a:effectLst/>
                        </a:rPr>
                        <a:t>Observations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9</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07000"/>
                        </a:lnSpc>
                      </a:pPr>
                      <a:endParaRPr lang="en-IN" sz="1200" dirty="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3947628363"/>
                  </a:ext>
                </a:extLst>
              </a:tr>
              <a:tr h="241455">
                <a:tc>
                  <a:txBody>
                    <a:bodyPr/>
                    <a:lstStyle/>
                    <a:p>
                      <a:pPr>
                        <a:lnSpc>
                          <a:spcPct val="150000"/>
                        </a:lnSpc>
                        <a:spcAft>
                          <a:spcPts val="0"/>
                        </a:spcAft>
                      </a:pPr>
                      <a:r>
                        <a:rPr lang="en-GB" sz="1200">
                          <a:effectLst/>
                        </a:rPr>
                        <a:t>ANOVA</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119151687"/>
                  </a:ext>
                </a:extLst>
              </a:tr>
              <a:tr h="425950">
                <a:tc>
                  <a:txBody>
                    <a:bodyPr/>
                    <a:lstStyle/>
                    <a:p>
                      <a:pPr algn="ctr">
                        <a:lnSpc>
                          <a:spcPct val="150000"/>
                        </a:lnSpc>
                        <a:spcAft>
                          <a:spcPts val="0"/>
                        </a:spcAft>
                      </a:pPr>
                      <a:r>
                        <a:rPr lang="en-GB" sz="1200">
                          <a:effectLst/>
                        </a:rPr>
                        <a:t> </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SS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MS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F</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Significance F</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835465104"/>
                  </a:ext>
                </a:extLst>
              </a:tr>
              <a:tr h="241455">
                <a:tc>
                  <a:txBody>
                    <a:bodyPr/>
                    <a:lstStyle/>
                    <a:p>
                      <a:pPr>
                        <a:lnSpc>
                          <a:spcPct val="150000"/>
                        </a:lnSpc>
                        <a:spcAft>
                          <a:spcPts val="0"/>
                        </a:spcAft>
                      </a:pPr>
                      <a:r>
                        <a:rPr lang="en-GB" sz="1200">
                          <a:effectLst/>
                        </a:rPr>
                        <a:t>Regression</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1</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2803.94</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2803.94</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978.4229</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8.82E-09</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2162168113"/>
                  </a:ext>
                </a:extLst>
              </a:tr>
              <a:tr h="241455">
                <a:tc>
                  <a:txBody>
                    <a:bodyPr/>
                    <a:lstStyle/>
                    <a:p>
                      <a:pPr>
                        <a:lnSpc>
                          <a:spcPct val="150000"/>
                        </a:lnSpc>
                        <a:spcAft>
                          <a:spcPts val="0"/>
                        </a:spcAft>
                      </a:pPr>
                      <a:r>
                        <a:rPr lang="en-GB" sz="1200">
                          <a:effectLst/>
                        </a:rPr>
                        <a:t>Residual</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7</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20.06042</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2.865775</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07000"/>
                        </a:lnSpc>
                      </a:pPr>
                      <a:endParaRPr lang="en-IN" sz="1200" dirty="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1354639824"/>
                  </a:ext>
                </a:extLst>
              </a:tr>
              <a:tr h="241455">
                <a:tc>
                  <a:txBody>
                    <a:bodyPr/>
                    <a:lstStyle/>
                    <a:p>
                      <a:pPr>
                        <a:lnSpc>
                          <a:spcPct val="150000"/>
                        </a:lnSpc>
                        <a:spcAft>
                          <a:spcPts val="0"/>
                        </a:spcAft>
                      </a:pPr>
                      <a:r>
                        <a:rPr lang="en-GB" sz="1200">
                          <a:effectLst/>
                        </a:rPr>
                        <a:t>Total</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8</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2824</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 </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 </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 </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07000"/>
                        </a:lnSpc>
                      </a:pPr>
                      <a:endParaRPr lang="en-IN" sz="1200">
                        <a:effectLst/>
                        <a:latin typeface="Calibri" panose="020F0502020204030204" pitchFamily="34" charset="0"/>
                        <a:cs typeface="Times New Roman" panose="02020603050405020304" pitchFamily="18" charset="0"/>
                      </a:endParaRPr>
                    </a:p>
                  </a:txBody>
                  <a:tcPr marL="69320" marR="69320" marT="0" marB="0" anchor="b"/>
                </a:tc>
                <a:extLst>
                  <a:ext uri="{0D108BD9-81ED-4DB2-BD59-A6C34878D82A}">
                    <a16:rowId xmlns:a16="http://schemas.microsoft.com/office/drawing/2014/main" val="3929189599"/>
                  </a:ext>
                </a:extLst>
              </a:tr>
              <a:tr h="241455">
                <a:tc>
                  <a:txBody>
                    <a:bodyPr/>
                    <a:lstStyle/>
                    <a:p>
                      <a:pPr algn="ctr">
                        <a:lnSpc>
                          <a:spcPct val="150000"/>
                        </a:lnSpc>
                        <a:spcAft>
                          <a:spcPts val="0"/>
                        </a:spcAft>
                      </a:pPr>
                      <a:r>
                        <a:rPr lang="en-GB" sz="1200">
                          <a:effectLst/>
                        </a:rPr>
                        <a:t> </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Coefficients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Standard Error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t-stat</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P-value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Lower 95%</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Upper 95%</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extLst>
                  <a:ext uri="{0D108BD9-81ED-4DB2-BD59-A6C34878D82A}">
                    <a16:rowId xmlns:a16="http://schemas.microsoft.com/office/drawing/2014/main" val="2060887466"/>
                  </a:ext>
                </a:extLst>
              </a:tr>
              <a:tr h="241455">
                <a:tc>
                  <a:txBody>
                    <a:bodyPr/>
                    <a:lstStyle/>
                    <a:p>
                      <a:pPr>
                        <a:lnSpc>
                          <a:spcPct val="150000"/>
                        </a:lnSpc>
                        <a:spcAft>
                          <a:spcPts val="0"/>
                        </a:spcAft>
                      </a:pPr>
                      <a:r>
                        <a:rPr lang="en-GB" sz="1200">
                          <a:effectLst/>
                        </a:rPr>
                        <a:t>Intercept</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1.9967</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0.76169</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2.62143</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0.034338</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0.195607</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3.79783</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extLst>
                  <a:ext uri="{0D108BD9-81ED-4DB2-BD59-A6C34878D82A}">
                    <a16:rowId xmlns:a16="http://schemas.microsoft.com/office/drawing/2014/main" val="3483855030"/>
                  </a:ext>
                </a:extLst>
              </a:tr>
              <a:tr h="241455">
                <a:tc>
                  <a:txBody>
                    <a:bodyPr/>
                    <a:lstStyle/>
                    <a:p>
                      <a:pPr>
                        <a:lnSpc>
                          <a:spcPct val="150000"/>
                        </a:lnSpc>
                        <a:spcAft>
                          <a:spcPts val="0"/>
                        </a:spcAft>
                      </a:pPr>
                      <a:r>
                        <a:rPr lang="en-GB" sz="1200">
                          <a:effectLst/>
                        </a:rPr>
                        <a:t>FB</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0.0465</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0.00149</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31.27975</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8.82E-09</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a:effectLst/>
                        </a:rPr>
                        <a:t>0.043074</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tc>
                  <a:txBody>
                    <a:bodyPr/>
                    <a:lstStyle/>
                    <a:p>
                      <a:pPr algn="ctr">
                        <a:lnSpc>
                          <a:spcPct val="150000"/>
                        </a:lnSpc>
                        <a:spcAft>
                          <a:spcPts val="0"/>
                        </a:spcAft>
                      </a:pPr>
                      <a:r>
                        <a:rPr lang="en-GB" sz="1200" dirty="0">
                          <a:effectLst/>
                        </a:rPr>
                        <a:t>0.050119</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320" marR="69320" marT="0" marB="0" anchor="b"/>
                </a:tc>
                <a:extLst>
                  <a:ext uri="{0D108BD9-81ED-4DB2-BD59-A6C34878D82A}">
                    <a16:rowId xmlns:a16="http://schemas.microsoft.com/office/drawing/2014/main" val="692539168"/>
                  </a:ext>
                </a:extLst>
              </a:tr>
            </a:tbl>
          </a:graphicData>
        </a:graphic>
      </p:graphicFrame>
      <p:sp>
        <p:nvSpPr>
          <p:cNvPr id="6" name="Content Placeholder 2">
            <a:extLst>
              <a:ext uri="{FF2B5EF4-FFF2-40B4-BE49-F238E27FC236}">
                <a16:creationId xmlns:a16="http://schemas.microsoft.com/office/drawing/2014/main" id="{C20DABBF-900C-439D-A7AA-0A6518EACEFB}"/>
              </a:ext>
            </a:extLst>
          </p:cNvPr>
          <p:cNvSpPr txBox="1">
            <a:spLocks/>
          </p:cNvSpPr>
          <p:nvPr/>
        </p:nvSpPr>
        <p:spPr>
          <a:xfrm>
            <a:off x="457200" y="4876800"/>
            <a:ext cx="8382000" cy="16160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GB" sz="2000" dirty="0"/>
              <a:t>The </a:t>
            </a:r>
            <a:r>
              <a:rPr lang="en-GB" sz="2000" i="1" dirty="0"/>
              <a:t>R</a:t>
            </a:r>
            <a:r>
              <a:rPr lang="en-GB" sz="2000" dirty="0"/>
              <a:t>-square value for regression model between the number of deaths due to helium poisoning in UK and the number of Facebook users is 0.9928. That is, 99.28% variation in the number of deaths due to helium poisoning in UK is explained by the number of Facebook users. </a:t>
            </a:r>
          </a:p>
          <a:p>
            <a:pPr marL="0" indent="0" fontAlgn="auto">
              <a:spcAft>
                <a:spcPts val="0"/>
              </a:spcAft>
              <a:buFont typeface="Arial" panose="020B0604020202020204" pitchFamily="34" charset="0"/>
              <a:buNone/>
            </a:pPr>
            <a:r>
              <a:rPr lang="en-GB" sz="2000" dirty="0"/>
              <a:t>The regression model is given as   </a:t>
            </a:r>
            <a:r>
              <a:rPr lang="en-GB" sz="2000" dirty="0">
                <a:highlight>
                  <a:srgbClr val="FFFF00"/>
                </a:highlight>
              </a:rPr>
              <a:t>Y = 1.9967 + 0.0465 X</a:t>
            </a:r>
          </a:p>
          <a:p>
            <a:pPr marL="0" indent="0" fontAlgn="auto">
              <a:spcAft>
                <a:spcPts val="0"/>
              </a:spcAft>
              <a:buFont typeface="Arial" panose="020B0604020202020204" pitchFamily="34" charset="0"/>
              <a:buNone/>
            </a:pPr>
            <a:endParaRPr lang="en-IN" sz="2000" dirty="0">
              <a:highlight>
                <a:srgbClr val="FFFF00"/>
              </a:highlight>
            </a:endParaRPr>
          </a:p>
          <a:p>
            <a:pPr marL="0" indent="0" fontAlgn="auto">
              <a:spcAft>
                <a:spcPts val="0"/>
              </a:spcAft>
              <a:buFont typeface="Arial" panose="020B0604020202020204" pitchFamily="34" charset="0"/>
              <a:buNone/>
            </a:pPr>
            <a:endParaRPr lang="en-IN" sz="2000" dirty="0"/>
          </a:p>
          <a:p>
            <a:pPr fontAlgn="auto">
              <a:spcAft>
                <a:spcPts val="0"/>
              </a:spcAft>
            </a:pPr>
            <a:endParaRPr lang="en-I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 calcmode="lin" valueType="num">
                                      <p:cBhvr additive="base">
                                        <p:cTn id="2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 calcmode="lin" valueType="num">
                                      <p:cBhvr additive="base">
                                        <p:cTn id="2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4EA8C-9A66-4C8F-835C-9E4CF86AA571}"/>
              </a:ext>
            </a:extLst>
          </p:cNvPr>
          <p:cNvSpPr>
            <a:spLocks noGrp="1"/>
          </p:cNvSpPr>
          <p:nvPr>
            <p:ph type="title"/>
          </p:nvPr>
        </p:nvSpPr>
        <p:spPr>
          <a:xfrm>
            <a:off x="628650" y="365127"/>
            <a:ext cx="7886700" cy="701674"/>
          </a:xfrm>
        </p:spPr>
        <p:txBody>
          <a:bodyPr>
            <a:noAutofit/>
          </a:bodyPr>
          <a:lstStyle/>
          <a:p>
            <a:pPr algn="just"/>
            <a:r>
              <a:rPr lang="en-GB" sz="2600" b="1" dirty="0">
                <a:solidFill>
                  <a:srgbClr val="C00000"/>
                </a:solidFill>
              </a:rPr>
              <a:t>Hypothesis Test for Regression Co-efficient (t-Test)</a:t>
            </a:r>
            <a:endParaRPr lang="en-IN" sz="2600" dirty="0">
              <a:solidFill>
                <a:srgbClr val="C00000"/>
              </a:solidFill>
            </a:endParaRPr>
          </a:p>
        </p:txBody>
      </p:sp>
      <p:sp>
        <p:nvSpPr>
          <p:cNvPr id="4" name="Content Placeholder 3">
            <a:extLst>
              <a:ext uri="{FF2B5EF4-FFF2-40B4-BE49-F238E27FC236}">
                <a16:creationId xmlns:a16="http://schemas.microsoft.com/office/drawing/2014/main" id="{525AC51D-D7BF-4F1A-A954-3583E99F1B82}"/>
              </a:ext>
            </a:extLst>
          </p:cNvPr>
          <p:cNvSpPr>
            <a:spLocks noGrp="1"/>
          </p:cNvSpPr>
          <p:nvPr>
            <p:ph idx="1"/>
          </p:nvPr>
        </p:nvSpPr>
        <p:spPr>
          <a:xfrm>
            <a:off x="533400" y="1253331"/>
            <a:ext cx="8153400" cy="2023269"/>
          </a:xfrm>
        </p:spPr>
        <p:txBody>
          <a:bodyPr>
            <a:normAutofit/>
          </a:bodyPr>
          <a:lstStyle/>
          <a:p>
            <a:pPr algn="just"/>
            <a:r>
              <a:rPr lang="en-GB" sz="2400" dirty="0"/>
              <a:t>The regression co-efficient ( </a:t>
            </a:r>
            <a:r>
              <a:rPr lang="en-GB" sz="2400" dirty="0">
                <a:sym typeface="Symbol" panose="05050102010706020507" pitchFamily="18" charset="2"/>
              </a:rPr>
              <a:t></a:t>
            </a:r>
            <a:r>
              <a:rPr lang="en-GB" sz="2400" baseline="-25000" dirty="0"/>
              <a:t>1</a:t>
            </a:r>
            <a:r>
              <a:rPr lang="en-GB" sz="2400" dirty="0"/>
              <a:t>) captures the existence of a linear relationship between the response variable and the explanatory variable. </a:t>
            </a:r>
          </a:p>
          <a:p>
            <a:pPr algn="just"/>
            <a:r>
              <a:rPr lang="en-GB" sz="2400" dirty="0"/>
              <a:t>If </a:t>
            </a:r>
            <a:r>
              <a:rPr lang="en-GB" sz="2400" dirty="0">
                <a:sym typeface="Symbol" panose="05050102010706020507" pitchFamily="18" charset="2"/>
              </a:rPr>
              <a:t></a:t>
            </a:r>
            <a:r>
              <a:rPr lang="en-GB" sz="2400" baseline="-25000" dirty="0"/>
              <a:t>1</a:t>
            </a:r>
            <a:r>
              <a:rPr lang="en-GB" sz="2400" dirty="0"/>
              <a:t> = 0, we can conclude that there is no statistically significant linear relationship between the two variables. </a:t>
            </a:r>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1000"/>
                                        <p:tgtEl>
                                          <p:spTgt spid="4">
                                            <p:txEl>
                                              <p:pRg st="1" end="1"/>
                                            </p:txEl>
                                          </p:spTgt>
                                        </p:tgtEl>
                                      </p:cBhvr>
                                    </p:animEffect>
                                    <p:anim calcmode="lin" valueType="num">
                                      <p:cBhvr>
                                        <p:cTn id="2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D815E7-14B2-42E9-99F5-F1D478B2AE6A}"/>
              </a:ext>
            </a:extLst>
          </p:cNvPr>
          <p:cNvSpPr>
            <a:spLocks noGrp="1"/>
          </p:cNvSpPr>
          <p:nvPr>
            <p:ph idx="4294967295"/>
          </p:nvPr>
        </p:nvSpPr>
        <p:spPr>
          <a:xfrm>
            <a:off x="457208" y="4110336"/>
            <a:ext cx="7924800" cy="800100"/>
          </a:xfrm>
        </p:spPr>
        <p:txBody>
          <a:bodyPr>
            <a:noAutofit/>
          </a:bodyPr>
          <a:lstStyle/>
          <a:p>
            <a:pPr marL="0" indent="0" algn="just">
              <a:buNone/>
            </a:pPr>
            <a:r>
              <a:rPr lang="en-GB" sz="2400" dirty="0"/>
              <a:t>That is, the value of </a:t>
            </a:r>
            <a:r>
              <a:rPr lang="en-GB" sz="2400" dirty="0">
                <a:sym typeface="Symbol" panose="05050102010706020507" pitchFamily="18" charset="2"/>
              </a:rPr>
              <a:t></a:t>
            </a:r>
            <a:r>
              <a:rPr lang="en-GB" sz="2400" baseline="-25000" dirty="0"/>
              <a:t>1</a:t>
            </a:r>
            <a:r>
              <a:rPr lang="en-GB" sz="2400" dirty="0"/>
              <a:t> is a function of </a:t>
            </a:r>
            <a:r>
              <a:rPr lang="en-GB" sz="2400" i="1" dirty="0"/>
              <a:t>Y</a:t>
            </a:r>
            <a:r>
              <a:rPr lang="en-GB" sz="2400" i="1" baseline="-25000" dirty="0"/>
              <a:t>i</a:t>
            </a:r>
            <a:r>
              <a:rPr lang="en-GB" sz="2400" dirty="0"/>
              <a:t> (</a:t>
            </a:r>
            <a:r>
              <a:rPr lang="en-GB" sz="2400" i="1" dirty="0"/>
              <a:t>K</a:t>
            </a:r>
            <a:r>
              <a:rPr lang="en-GB" sz="2400" i="1" baseline="-25000" dirty="0"/>
              <a:t>i</a:t>
            </a:r>
            <a:r>
              <a:rPr lang="en-GB" sz="2400" dirty="0"/>
              <a:t> is a constant since </a:t>
            </a:r>
            <a:r>
              <a:rPr lang="en-GB" sz="2400" i="1" dirty="0"/>
              <a:t>X</a:t>
            </a:r>
            <a:r>
              <a:rPr lang="en-GB" sz="2400" i="1" baseline="-25000" dirty="0"/>
              <a:t>i</a:t>
            </a:r>
            <a:r>
              <a:rPr lang="en-GB" sz="2400" dirty="0"/>
              <a:t> is assumed to be non-stochastic)</a:t>
            </a:r>
            <a:endParaRPr lang="en-IN" sz="2400" dirty="0"/>
          </a:p>
        </p:txBody>
      </p:sp>
      <p:graphicFrame>
        <p:nvGraphicFramePr>
          <p:cNvPr id="4" name="Object 3">
            <a:extLst>
              <a:ext uri="{FF2B5EF4-FFF2-40B4-BE49-F238E27FC236}">
                <a16:creationId xmlns:a16="http://schemas.microsoft.com/office/drawing/2014/main" id="{F55122D7-D710-4053-AEF1-835B793EF039}"/>
              </a:ext>
            </a:extLst>
          </p:cNvPr>
          <p:cNvGraphicFramePr>
            <a:graphicFrameLocks noChangeAspect="1"/>
          </p:cNvGraphicFramePr>
          <p:nvPr>
            <p:extLst>
              <p:ext uri="{D42A27DB-BD31-4B8C-83A1-F6EECF244321}">
                <p14:modId xmlns:p14="http://schemas.microsoft.com/office/powerpoint/2010/main" val="3098000429"/>
              </p:ext>
            </p:extLst>
          </p:nvPr>
        </p:nvGraphicFramePr>
        <p:xfrm>
          <a:off x="762000" y="2955872"/>
          <a:ext cx="3124193" cy="937847"/>
        </p:xfrm>
        <a:graphic>
          <a:graphicData uri="http://schemas.openxmlformats.org/presentationml/2006/ole">
            <mc:AlternateContent xmlns:mc="http://schemas.openxmlformats.org/markup-compatibility/2006">
              <mc:Choice xmlns:v="urn:schemas-microsoft-com:vml" Requires="v">
                <p:oleObj name="Equation" r:id="rId2" imgW="2120900" imgH="863600" progId="Equation.3">
                  <p:embed/>
                </p:oleObj>
              </mc:Choice>
              <mc:Fallback>
                <p:oleObj name="Equation" r:id="rId2" imgW="2120900" imgH="8636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955872"/>
                        <a:ext cx="3124193" cy="937847"/>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9" name="TextBox 8">
            <a:extLst>
              <a:ext uri="{FF2B5EF4-FFF2-40B4-BE49-F238E27FC236}">
                <a16:creationId xmlns:a16="http://schemas.microsoft.com/office/drawing/2014/main" id="{8079C996-8157-4C6A-A764-23706FC37787}"/>
              </a:ext>
            </a:extLst>
          </p:cNvPr>
          <p:cNvSpPr txBox="1"/>
          <p:nvPr/>
        </p:nvSpPr>
        <p:spPr>
          <a:xfrm>
            <a:off x="685817" y="2286000"/>
            <a:ext cx="7467583" cy="461665"/>
          </a:xfrm>
          <a:prstGeom prst="rect">
            <a:avLst/>
          </a:prstGeom>
          <a:noFill/>
        </p:spPr>
        <p:txBody>
          <a:bodyPr wrap="square" rtlCol="0">
            <a:spAutoFit/>
          </a:bodyPr>
          <a:lstStyle/>
          <a:p>
            <a:r>
              <a:rPr lang="en-GB" sz="2400" dirty="0">
                <a:latin typeface="+mn-lt"/>
              </a:rPr>
              <a:t>Above eq. can be written as follows:</a:t>
            </a:r>
            <a:endParaRPr lang="en-US" sz="2400" dirty="0">
              <a:latin typeface="+mn-lt"/>
            </a:endParaRPr>
          </a:p>
        </p:txBody>
      </p:sp>
      <p:sp>
        <p:nvSpPr>
          <p:cNvPr id="12" name="Rectangle 11">
            <a:extLst>
              <a:ext uri="{FF2B5EF4-FFF2-40B4-BE49-F238E27FC236}">
                <a16:creationId xmlns:a16="http://schemas.microsoft.com/office/drawing/2014/main" id="{6B3FBE87-642E-4D31-9056-30F9411CEBC2}"/>
              </a:ext>
            </a:extLst>
          </p:cNvPr>
          <p:cNvSpPr/>
          <p:nvPr/>
        </p:nvSpPr>
        <p:spPr>
          <a:xfrm>
            <a:off x="228600" y="651904"/>
            <a:ext cx="5850128" cy="461665"/>
          </a:xfrm>
          <a:prstGeom prst="rect">
            <a:avLst/>
          </a:prstGeom>
        </p:spPr>
        <p:txBody>
          <a:bodyPr wrap="none">
            <a:spAutoFit/>
          </a:bodyPr>
          <a:lstStyle/>
          <a:p>
            <a:pPr marL="342900" indent="-342900">
              <a:buFont typeface="Wingdings" panose="05000000000000000000" pitchFamily="2" charset="2"/>
              <a:buChar char="Ø"/>
            </a:pPr>
            <a:r>
              <a:rPr lang="en-GB" sz="2400" dirty="0">
                <a:latin typeface="+mn-lt"/>
              </a:rPr>
              <a:t>The estimate of   </a:t>
            </a:r>
            <a:r>
              <a:rPr lang="en-GB" sz="2400" dirty="0">
                <a:latin typeface="+mn-lt"/>
                <a:sym typeface="Symbol" panose="05050102010706020507" pitchFamily="18" charset="2"/>
              </a:rPr>
              <a:t></a:t>
            </a:r>
            <a:r>
              <a:rPr lang="en-GB" sz="2400" baseline="-25000" dirty="0">
                <a:latin typeface="+mn-lt"/>
              </a:rPr>
              <a:t>1</a:t>
            </a:r>
            <a:r>
              <a:rPr lang="en-GB" sz="2400" dirty="0">
                <a:latin typeface="+mn-lt"/>
              </a:rPr>
              <a:t> using OLS is given by</a:t>
            </a:r>
          </a:p>
        </p:txBody>
      </p:sp>
      <p:graphicFrame>
        <p:nvGraphicFramePr>
          <p:cNvPr id="14" name="Object 13">
            <a:extLst>
              <a:ext uri="{FF2B5EF4-FFF2-40B4-BE49-F238E27FC236}">
                <a16:creationId xmlns:a16="http://schemas.microsoft.com/office/drawing/2014/main" id="{CDD061BF-8AA6-4151-98EB-6354A994AC07}"/>
              </a:ext>
            </a:extLst>
          </p:cNvPr>
          <p:cNvGraphicFramePr>
            <a:graphicFrameLocks noChangeAspect="1"/>
          </p:cNvGraphicFramePr>
          <p:nvPr>
            <p:extLst>
              <p:ext uri="{D42A27DB-BD31-4B8C-83A1-F6EECF244321}">
                <p14:modId xmlns:p14="http://schemas.microsoft.com/office/powerpoint/2010/main" val="3494730258"/>
              </p:ext>
            </p:extLst>
          </p:nvPr>
        </p:nvGraphicFramePr>
        <p:xfrm>
          <a:off x="762000" y="1273909"/>
          <a:ext cx="5943600" cy="938564"/>
        </p:xfrm>
        <a:graphic>
          <a:graphicData uri="http://schemas.openxmlformats.org/presentationml/2006/ole">
            <mc:AlternateContent xmlns:mc="http://schemas.openxmlformats.org/markup-compatibility/2006">
              <mc:Choice xmlns:v="urn:schemas-microsoft-com:vml" Requires="v">
                <p:oleObj name="Equation" r:id="rId4" imgW="4546600" imgH="889000" progId="Equation.3">
                  <p:embed/>
                </p:oleObj>
              </mc:Choice>
              <mc:Fallback>
                <p:oleObj name="Equation" r:id="rId4" imgW="4546600" imgH="889000" progId="Equation.3">
                  <p:embed/>
                  <p:pic>
                    <p:nvPicPr>
                      <p:cNvPr id="12" name="Object 11">
                        <a:extLst>
                          <a:ext uri="{FF2B5EF4-FFF2-40B4-BE49-F238E27FC236}">
                            <a16:creationId xmlns:a16="http://schemas.microsoft.com/office/drawing/2014/main" id="{16E91196-AD3E-4762-9887-89DE403589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273909"/>
                        <a:ext cx="5943600" cy="938564"/>
                      </a:xfrm>
                      <a:prstGeom prst="rect">
                        <a:avLst/>
                      </a:prstGeom>
                      <a:solidFill>
                        <a:schemeClr val="accent2">
                          <a:lumMod val="40000"/>
                          <a:lumOff val="60000"/>
                        </a:schemeClr>
                      </a:solidFill>
                      <a:ln>
                        <a:solidFill>
                          <a:srgbClr val="003399"/>
                        </a:solidFill>
                      </a:ln>
                    </p:spPr>
                  </p:pic>
                </p:oleObj>
              </mc:Fallback>
            </mc:AlternateContent>
          </a:graphicData>
        </a:graphic>
      </p:graphicFrame>
    </p:spTree>
    <p:extLst>
      <p:ext uri="{BB962C8B-B14F-4D97-AF65-F5344CB8AC3E}">
        <p14:creationId xmlns:p14="http://schemas.microsoft.com/office/powerpoint/2010/main" val="7865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23662E-8C98-4849-AD1A-A66A3BE2AF7F}"/>
              </a:ext>
            </a:extLst>
          </p:cNvPr>
          <p:cNvSpPr>
            <a:spLocks noGrp="1"/>
          </p:cNvSpPr>
          <p:nvPr>
            <p:ph idx="4294967295"/>
          </p:nvPr>
        </p:nvSpPr>
        <p:spPr>
          <a:xfrm>
            <a:off x="266700" y="476249"/>
            <a:ext cx="8648700" cy="2666247"/>
          </a:xfrm>
        </p:spPr>
        <p:txBody>
          <a:bodyPr>
            <a:normAutofit/>
          </a:bodyPr>
          <a:lstStyle/>
          <a:p>
            <a:pPr marL="0" indent="0">
              <a:buNone/>
            </a:pPr>
            <a:r>
              <a:rPr lang="en-GB" sz="2200" dirty="0"/>
              <a:t>The standard error of </a:t>
            </a:r>
            <a:r>
              <a:rPr lang="en-GB" sz="2000" dirty="0">
                <a:sym typeface="Symbol" panose="05050102010706020507" pitchFamily="18" charset="2"/>
              </a:rPr>
              <a:t></a:t>
            </a:r>
            <a:r>
              <a:rPr lang="en-GB" sz="2200" baseline="-25000" dirty="0"/>
              <a:t>1 </a:t>
            </a:r>
            <a:r>
              <a:rPr lang="en-GB" sz="2200" dirty="0"/>
              <a:t>is given by</a:t>
            </a:r>
          </a:p>
          <a:p>
            <a:pPr marL="0" indent="0">
              <a:buNone/>
            </a:pPr>
            <a:endParaRPr lang="en-GB" sz="2200" dirty="0"/>
          </a:p>
          <a:p>
            <a:pPr marL="0" indent="0">
              <a:buNone/>
            </a:pPr>
            <a:endParaRPr lang="en-GB" sz="2200" dirty="0"/>
          </a:p>
          <a:p>
            <a:pPr marL="0" indent="0">
              <a:buNone/>
            </a:pPr>
            <a:endParaRPr lang="en-GB" sz="2200" dirty="0"/>
          </a:p>
          <a:p>
            <a:pPr marL="0" indent="0">
              <a:buNone/>
            </a:pPr>
            <a:r>
              <a:rPr lang="en-GB" sz="2200" dirty="0"/>
              <a:t>In above Eq. </a:t>
            </a:r>
            <a:r>
              <a:rPr lang="en-GB" sz="2200" i="1" dirty="0"/>
              <a:t>S</a:t>
            </a:r>
            <a:r>
              <a:rPr lang="en-GB" sz="2200" i="1" baseline="-25000" dirty="0"/>
              <a:t>e</a:t>
            </a:r>
            <a:r>
              <a:rPr lang="en-GB" sz="2200" dirty="0"/>
              <a:t> is the standard error of estimate (or standard error of the residuals) that measures the accuracy of prediction and is given by</a:t>
            </a:r>
          </a:p>
          <a:p>
            <a:pPr marL="0" indent="0">
              <a:buNone/>
            </a:pPr>
            <a:endParaRPr lang="en-GB" sz="2200" dirty="0"/>
          </a:p>
          <a:p>
            <a:pPr marL="0" indent="0">
              <a:buNone/>
            </a:pPr>
            <a:endParaRPr lang="en-GB" sz="2200" dirty="0"/>
          </a:p>
          <a:p>
            <a:pPr marL="0" indent="0">
              <a:buNone/>
            </a:pPr>
            <a:endParaRPr lang="en-GB" sz="2200" dirty="0"/>
          </a:p>
          <a:p>
            <a:pPr marL="0" indent="0">
              <a:buNone/>
            </a:pPr>
            <a:endParaRPr lang="en-GB" sz="2200" dirty="0"/>
          </a:p>
          <a:p>
            <a:pPr marL="0" indent="0">
              <a:buNone/>
            </a:pPr>
            <a:endParaRPr lang="en-GB" sz="2200" dirty="0"/>
          </a:p>
          <a:p>
            <a:pPr marL="0" indent="0">
              <a:buNone/>
            </a:pPr>
            <a:endParaRPr lang="en-IN" sz="2200" dirty="0"/>
          </a:p>
        </p:txBody>
      </p:sp>
      <p:sp>
        <p:nvSpPr>
          <p:cNvPr id="5" name="Rectangle 2">
            <a:extLst>
              <a:ext uri="{FF2B5EF4-FFF2-40B4-BE49-F238E27FC236}">
                <a16:creationId xmlns:a16="http://schemas.microsoft.com/office/drawing/2014/main" id="{63222B6E-8F79-4A69-9A0D-3B20E8D825EA}"/>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BCA2C05B-0775-47F3-A361-23F28F3E2743}"/>
                  </a:ext>
                </a:extLst>
              </p:cNvPr>
              <p:cNvSpPr txBox="1"/>
              <p:nvPr/>
            </p:nvSpPr>
            <p:spPr bwMode="auto">
              <a:xfrm>
                <a:off x="1905000" y="1112838"/>
                <a:ext cx="3505200" cy="944562"/>
              </a:xfrm>
              <a:prstGeom prst="rect">
                <a:avLst/>
              </a:prstGeom>
              <a:solidFill>
                <a:schemeClr val="accent2">
                  <a:lumMod val="40000"/>
                  <a:lumOff val="60000"/>
                </a:schemeClr>
              </a:solidFill>
              <a:ln>
                <a:solidFill>
                  <a:schemeClr val="accent1"/>
                </a:solidFill>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𝑆</m:t>
                          </m:r>
                        </m:e>
                        <m:sub>
                          <m:r>
                            <a:rPr lang="en-IN" i="1">
                              <a:solidFill>
                                <a:srgbClr val="000000"/>
                              </a:solidFill>
                              <a:latin typeface="Cambria Math" panose="02040503050406030204" pitchFamily="18" charset="0"/>
                            </a:rPr>
                            <m:t>𝑒</m:t>
                          </m:r>
                        </m:sub>
                      </m:sSub>
                      <m:r>
                        <a:rPr lang="en-IN" i="1">
                          <a:solidFill>
                            <a:srgbClr val="000000"/>
                          </a:solidFill>
                          <a:latin typeface="Cambria Math" panose="02040503050406030204" pitchFamily="18" charset="0"/>
                        </a:rPr>
                        <m:t>(</m:t>
                      </m:r>
                      <m:limUpp>
                        <m:limUppPr>
                          <m:ctrlPr>
                            <a:rPr lang="en-IN" i="1">
                              <a:solidFill>
                                <a:srgbClr val="000000"/>
                              </a:solidFill>
                              <a:latin typeface="Cambria Math" panose="02040503050406030204" pitchFamily="18" charset="0"/>
                            </a:rPr>
                          </m:ctrlPr>
                        </m:limUpp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𝛽</m:t>
                              </m:r>
                            </m:e>
                            <m:sub>
                              <m:r>
                                <a:rPr lang="en-IN" i="1">
                                  <a:solidFill>
                                    <a:srgbClr val="000000"/>
                                  </a:solidFill>
                                  <a:latin typeface="Cambria Math" panose="02040503050406030204" pitchFamily="18" charset="0"/>
                                </a:rPr>
                                <m:t>1</m:t>
                              </m:r>
                            </m:sub>
                          </m:sSub>
                        </m:e>
                        <m:lim>
                          <m:r>
                            <a:rPr lang="en-IN" i="1">
                              <a:solidFill>
                                <a:srgbClr val="000000"/>
                              </a:solidFill>
                              <a:latin typeface="Cambria Math" panose="02040503050406030204" pitchFamily="18" charset="0"/>
                            </a:rPr>
                            <m:t>∧</m:t>
                          </m:r>
                        </m:lim>
                      </m:limUpp>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𝑆</m:t>
                              </m:r>
                            </m:e>
                            <m:sub>
                              <m:r>
                                <a:rPr lang="en-IN" i="1">
                                  <a:solidFill>
                                    <a:srgbClr val="000000"/>
                                  </a:solidFill>
                                  <a:latin typeface="Cambria Math" panose="02040503050406030204" pitchFamily="18" charset="0"/>
                                </a:rPr>
                                <m:t>𝑒</m:t>
                              </m:r>
                            </m:sub>
                          </m:sSub>
                        </m:num>
                        <m:den>
                          <m:rad>
                            <m:radPr>
                              <m:degHide m:val="on"/>
                              <m:ctrlPr>
                                <a:rPr lang="en-IN" i="1">
                                  <a:solidFill>
                                    <a:srgbClr val="000000"/>
                                  </a:solidFill>
                                  <a:latin typeface="Cambria Math" panose="02040503050406030204" pitchFamily="18" charset="0"/>
                                </a:rPr>
                              </m:ctrlPr>
                            </m:radPr>
                            <m:deg/>
                            <m:e>
                              <m:nary>
                                <m:naryPr>
                                  <m:chr m:val="∑"/>
                                  <m:subHide m:val="on"/>
                                  <m:supHide m:val="on"/>
                                  <m:ctrlPr>
                                    <a:rPr lang="en-IN" i="1" smtClean="0">
                                      <a:solidFill>
                                        <a:srgbClr val="000000"/>
                                      </a:solidFill>
                                      <a:latin typeface="Cambria Math" panose="02040503050406030204" pitchFamily="18" charset="0"/>
                                    </a:rPr>
                                  </m:ctrlPr>
                                </m:naryPr>
                                <m:sub/>
                                <m:sup/>
                                <m:e>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𝑋</m:t>
                                      </m:r>
                                    </m:e>
                                    <m:sub>
                                      <m:r>
                                        <a:rPr lang="en-IN" i="1">
                                          <a:solidFill>
                                            <a:srgbClr val="000000"/>
                                          </a:solidFill>
                                          <a:latin typeface="Cambria Math" panose="02040503050406030204" pitchFamily="18" charset="0"/>
                                        </a:rPr>
                                        <m:t>𝑖</m:t>
                                      </m:r>
                                    </m:sub>
                                  </m:sSub>
                                  <m:r>
                                    <a:rPr lang="en-IN" i="1">
                                      <a:solidFill>
                                        <a:srgbClr val="000000"/>
                                      </a:solidFill>
                                      <a:latin typeface="Cambria Math" panose="02040503050406030204" pitchFamily="18" charset="0"/>
                                    </a:rPr>
                                    <m:t>−</m:t>
                                  </m:r>
                                  <m:limUpp>
                                    <m:limUppPr>
                                      <m:ctrlPr>
                                        <a:rPr lang="en-IN" i="1">
                                          <a:solidFill>
                                            <a:srgbClr val="000000"/>
                                          </a:solidFill>
                                          <a:latin typeface="Cambria Math" panose="02040503050406030204" pitchFamily="18" charset="0"/>
                                        </a:rPr>
                                      </m:ctrlPr>
                                    </m:limUppPr>
                                    <m:e>
                                      <m:r>
                                        <a:rPr lang="en-IN" i="1">
                                          <a:solidFill>
                                            <a:srgbClr val="000000"/>
                                          </a:solidFill>
                                          <a:latin typeface="Cambria Math" panose="02040503050406030204" pitchFamily="18" charset="0"/>
                                        </a:rPr>
                                        <m:t>𝑋</m:t>
                                      </m:r>
                                    </m:e>
                                    <m:lim>
                                      <m:r>
                                        <a:rPr lang="en-IN" i="1">
                                          <a:solidFill>
                                            <a:srgbClr val="000000"/>
                                          </a:solidFill>
                                          <a:latin typeface="Cambria Math" panose="02040503050406030204" pitchFamily="18" charset="0"/>
                                        </a:rPr>
                                        <m:t>−</m:t>
                                      </m:r>
                                    </m:lim>
                                  </m:limUpp>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m:t>
                                      </m:r>
                                    </m:e>
                                    <m:sup>
                                      <m:r>
                                        <a:rPr lang="en-IN" i="1">
                                          <a:solidFill>
                                            <a:srgbClr val="000000"/>
                                          </a:solidFill>
                                          <a:latin typeface="Cambria Math" panose="02040503050406030204" pitchFamily="18" charset="0"/>
                                        </a:rPr>
                                        <m:t>2</m:t>
                                      </m:r>
                                    </m:sup>
                                  </m:sSup>
                                </m:e>
                              </m:nary>
                            </m:e>
                          </m:rad>
                        </m:den>
                      </m:f>
                    </m:oMath>
                  </m:oMathPara>
                </a14:m>
                <a:endParaRPr lang="en-IN" dirty="0"/>
              </a:p>
            </p:txBody>
          </p:sp>
        </mc:Choice>
        <mc:Fallback xmlns="">
          <p:sp>
            <p:nvSpPr>
              <p:cNvPr id="6" name="Object 5">
                <a:extLst>
                  <a:ext uri="{FF2B5EF4-FFF2-40B4-BE49-F238E27FC236}">
                    <a16:creationId xmlns:a16="http://schemas.microsoft.com/office/drawing/2014/main" id="{BCA2C05B-0775-47F3-A361-23F28F3E2743}"/>
                  </a:ext>
                </a:extLst>
              </p:cNvPr>
              <p:cNvSpPr txBox="1">
                <a:spLocks noRot="1" noChangeAspect="1" noMove="1" noResize="1" noEditPoints="1" noAdjustHandles="1" noChangeArrowheads="1" noChangeShapeType="1" noTextEdit="1"/>
              </p:cNvSpPr>
              <p:nvPr/>
            </p:nvSpPr>
            <p:spPr bwMode="auto">
              <a:xfrm>
                <a:off x="1905000" y="1112838"/>
                <a:ext cx="3505200" cy="944562"/>
              </a:xfrm>
              <a:prstGeom prst="rect">
                <a:avLst/>
              </a:prstGeom>
              <a:blipFill>
                <a:blip r:embed="rId2"/>
                <a:stretch>
                  <a:fillRect/>
                </a:stretch>
              </a:blipFill>
              <a:ln>
                <a:solidFill>
                  <a:schemeClr val="accent1"/>
                </a:solidFill>
              </a:ln>
            </p:spPr>
            <p:txBody>
              <a:bodyPr/>
              <a:lstStyle/>
              <a:p>
                <a:r>
                  <a:rPr lang="en-IN">
                    <a:noFill/>
                  </a:rPr>
                  <a:t> </a:t>
                </a:r>
              </a:p>
            </p:txBody>
          </p:sp>
        </mc:Fallback>
      </mc:AlternateContent>
      <p:sp>
        <p:nvSpPr>
          <p:cNvPr id="7" name="Rectangle 5">
            <a:extLst>
              <a:ext uri="{FF2B5EF4-FFF2-40B4-BE49-F238E27FC236}">
                <a16:creationId xmlns:a16="http://schemas.microsoft.com/office/drawing/2014/main" id="{7D987231-B4ED-466F-ADCC-D56203CE589E}"/>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8" name="Object 7">
            <a:extLst>
              <a:ext uri="{FF2B5EF4-FFF2-40B4-BE49-F238E27FC236}">
                <a16:creationId xmlns:a16="http://schemas.microsoft.com/office/drawing/2014/main" id="{0A98E69E-7AD5-4FB5-918D-EF5A14627C83}"/>
              </a:ext>
            </a:extLst>
          </p:cNvPr>
          <p:cNvGraphicFramePr>
            <a:graphicFrameLocks noChangeAspect="1"/>
          </p:cNvGraphicFramePr>
          <p:nvPr>
            <p:extLst>
              <p:ext uri="{D42A27DB-BD31-4B8C-83A1-F6EECF244321}">
                <p14:modId xmlns:p14="http://schemas.microsoft.com/office/powerpoint/2010/main" val="285485731"/>
              </p:ext>
            </p:extLst>
          </p:nvPr>
        </p:nvGraphicFramePr>
        <p:xfrm>
          <a:off x="1905000" y="3048000"/>
          <a:ext cx="3805238" cy="1089284"/>
        </p:xfrm>
        <a:graphic>
          <a:graphicData uri="http://schemas.openxmlformats.org/presentationml/2006/ole">
            <mc:AlternateContent xmlns:mc="http://schemas.openxmlformats.org/markup-compatibility/2006">
              <mc:Choice xmlns:v="urn:schemas-microsoft-com:vml" Requires="v">
                <p:oleObj name="Equation" r:id="rId3" imgW="1892300" imgH="685800" progId="Equation.3">
                  <p:embed/>
                </p:oleObj>
              </mc:Choice>
              <mc:Fallback>
                <p:oleObj name="Equation" r:id="rId3" imgW="1892300" imgH="685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3048000"/>
                        <a:ext cx="3805238" cy="1089284"/>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9" name="Content Placeholder 2">
            <a:extLst>
              <a:ext uri="{FF2B5EF4-FFF2-40B4-BE49-F238E27FC236}">
                <a16:creationId xmlns:a16="http://schemas.microsoft.com/office/drawing/2014/main" id="{B722C617-D526-4E6A-87BF-02A271D360C3}"/>
              </a:ext>
            </a:extLst>
          </p:cNvPr>
          <p:cNvSpPr txBox="1">
            <a:spLocks/>
          </p:cNvSpPr>
          <p:nvPr/>
        </p:nvSpPr>
        <p:spPr>
          <a:xfrm>
            <a:off x="228600" y="4422280"/>
            <a:ext cx="8534400" cy="10287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spcAft>
                <a:spcPts val="0"/>
              </a:spcAft>
              <a:buFont typeface="Arial" panose="020B0604020202020204" pitchFamily="34" charset="0"/>
              <a:buNone/>
            </a:pPr>
            <a:r>
              <a:rPr lang="en-GB" sz="2200" dirty="0"/>
              <a:t>The denominator in above Eq. is (</a:t>
            </a:r>
            <a:r>
              <a:rPr lang="en-GB" sz="2200" i="1" dirty="0"/>
              <a:t>n </a:t>
            </a:r>
            <a:r>
              <a:rPr lang="en-GB" sz="2200" dirty="0">
                <a:sym typeface="Symbol" panose="05050102010706020507" pitchFamily="18" charset="2"/>
              </a:rPr>
              <a:t></a:t>
            </a:r>
            <a:r>
              <a:rPr lang="en-GB" sz="2200" dirty="0"/>
              <a:t> 2) since </a:t>
            </a:r>
            <a:r>
              <a:rPr lang="en-GB" sz="2200" i="1" dirty="0">
                <a:sym typeface="Symbol" panose="05050102010706020507" pitchFamily="18" charset="2"/>
              </a:rPr>
              <a:t></a:t>
            </a:r>
            <a:r>
              <a:rPr lang="en-GB" sz="2200" baseline="-25000" dirty="0"/>
              <a:t>0</a:t>
            </a:r>
            <a:r>
              <a:rPr lang="en-GB" sz="2200" dirty="0"/>
              <a:t> and </a:t>
            </a:r>
            <a:r>
              <a:rPr lang="en-GB" sz="2200" i="1" dirty="0">
                <a:sym typeface="Symbol" panose="05050102010706020507" pitchFamily="18" charset="2"/>
              </a:rPr>
              <a:t></a:t>
            </a:r>
            <a:r>
              <a:rPr lang="en-GB" sz="2200" baseline="-25000" dirty="0"/>
              <a:t>1</a:t>
            </a:r>
            <a:r>
              <a:rPr lang="en-GB" sz="2200" dirty="0"/>
              <a:t> are estimated from the sample in estimating </a:t>
            </a:r>
            <a:r>
              <a:rPr lang="en-GB" sz="2200" i="1" dirty="0"/>
              <a:t>Y</a:t>
            </a:r>
            <a:r>
              <a:rPr lang="en-GB" sz="2200" i="1" baseline="-25000" dirty="0"/>
              <a:t>i</a:t>
            </a:r>
            <a:r>
              <a:rPr lang="en-GB" sz="2200" dirty="0"/>
              <a:t> and thus two degrees of freedom are lost. The standard error of      can be written as</a:t>
            </a:r>
          </a:p>
          <a:p>
            <a:pPr marL="0" indent="0" fontAlgn="auto">
              <a:spcAft>
                <a:spcPts val="0"/>
              </a:spcAft>
              <a:buFont typeface="Arial" panose="020B0604020202020204" pitchFamily="34" charset="0"/>
              <a:buNone/>
            </a:pPr>
            <a:endParaRPr lang="en-GB" sz="2200" dirty="0"/>
          </a:p>
          <a:p>
            <a:pPr marL="0" indent="0" fontAlgn="auto">
              <a:spcAft>
                <a:spcPts val="0"/>
              </a:spcAft>
              <a:buFont typeface="Arial" panose="020B0604020202020204" pitchFamily="34" charset="0"/>
              <a:buNone/>
            </a:pPr>
            <a:endParaRPr lang="en-IN" sz="2200" dirty="0"/>
          </a:p>
        </p:txBody>
      </p:sp>
      <p:graphicFrame>
        <p:nvGraphicFramePr>
          <p:cNvPr id="10" name="Object 9">
            <a:extLst>
              <a:ext uri="{FF2B5EF4-FFF2-40B4-BE49-F238E27FC236}">
                <a16:creationId xmlns:a16="http://schemas.microsoft.com/office/drawing/2014/main" id="{98C988E5-E4AE-4987-BF06-86010E7BA753}"/>
              </a:ext>
            </a:extLst>
          </p:cNvPr>
          <p:cNvGraphicFramePr>
            <a:graphicFrameLocks noChangeAspect="1"/>
          </p:cNvGraphicFramePr>
          <p:nvPr>
            <p:extLst>
              <p:ext uri="{D42A27DB-BD31-4B8C-83A1-F6EECF244321}">
                <p14:modId xmlns:p14="http://schemas.microsoft.com/office/powerpoint/2010/main" val="3270520487"/>
              </p:ext>
            </p:extLst>
          </p:nvPr>
        </p:nvGraphicFramePr>
        <p:xfrm>
          <a:off x="3381375" y="5038828"/>
          <a:ext cx="533400" cy="318493"/>
        </p:xfrm>
        <a:graphic>
          <a:graphicData uri="http://schemas.openxmlformats.org/presentationml/2006/ole">
            <mc:AlternateContent xmlns:mc="http://schemas.openxmlformats.org/markup-compatibility/2006">
              <mc:Choice xmlns:v="urn:schemas-microsoft-com:vml" Requires="v">
                <p:oleObj name="Equation" r:id="rId5" imgW="203024" imgH="355292" progId="Equation.3">
                  <p:embed/>
                </p:oleObj>
              </mc:Choice>
              <mc:Fallback>
                <p:oleObj name="Equation" r:id="rId5" imgW="203024" imgH="355292" progId="Equation.3">
                  <p:embed/>
                  <p:pic>
                    <p:nvPicPr>
                      <p:cNvPr id="8" name="Object 7">
                        <a:extLst>
                          <a:ext uri="{FF2B5EF4-FFF2-40B4-BE49-F238E27FC236}">
                            <a16:creationId xmlns:a16="http://schemas.microsoft.com/office/drawing/2014/main" id="{3B7A2885-675D-4EDD-BEAE-D4E4DBA549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1375" y="5038828"/>
                        <a:ext cx="533400" cy="318493"/>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1" name="Object 10">
                <a:extLst>
                  <a:ext uri="{FF2B5EF4-FFF2-40B4-BE49-F238E27FC236}">
                    <a16:creationId xmlns:a16="http://schemas.microsoft.com/office/drawing/2014/main" id="{7256D19D-2CB1-4860-B944-96CFC9AA80A3}"/>
                  </a:ext>
                </a:extLst>
              </p:cNvPr>
              <p:cNvSpPr txBox="1"/>
              <p:nvPr/>
            </p:nvSpPr>
            <p:spPr bwMode="auto">
              <a:xfrm>
                <a:off x="1766888" y="5524500"/>
                <a:ext cx="4862512" cy="1028700"/>
              </a:xfrm>
              <a:prstGeom prst="rect">
                <a:avLst/>
              </a:prstGeom>
              <a:solidFill>
                <a:schemeClr val="accent2">
                  <a:lumMod val="40000"/>
                  <a:lumOff val="60000"/>
                </a:schemeClr>
              </a:solidFill>
              <a:ln>
                <a:solidFill>
                  <a:schemeClr val="accent1"/>
                </a:solid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𝑆</m:t>
                          </m:r>
                        </m:e>
                        <m:sub>
                          <m:r>
                            <a:rPr lang="en-IN" i="1">
                              <a:solidFill>
                                <a:srgbClr val="000000"/>
                              </a:solidFill>
                              <a:latin typeface="Cambria Math" panose="02040503050406030204" pitchFamily="18" charset="0"/>
                            </a:rPr>
                            <m:t>𝑒</m:t>
                          </m:r>
                        </m:sub>
                      </m:sSub>
                      <m:r>
                        <a:rPr lang="en-IN" i="1">
                          <a:solidFill>
                            <a:srgbClr val="000000"/>
                          </a:solidFill>
                          <a:latin typeface="Cambria Math" panose="02040503050406030204" pitchFamily="18" charset="0"/>
                        </a:rPr>
                        <m:t>(</m:t>
                      </m:r>
                      <m:limUpp>
                        <m:limUppPr>
                          <m:ctrlPr>
                            <a:rPr lang="en-IN" i="1">
                              <a:solidFill>
                                <a:srgbClr val="000000"/>
                              </a:solidFill>
                              <a:latin typeface="Cambria Math" panose="02040503050406030204" pitchFamily="18" charset="0"/>
                            </a:rPr>
                          </m:ctrlPr>
                        </m:limUpp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𝛽</m:t>
                              </m:r>
                            </m:e>
                            <m:sub>
                              <m:r>
                                <a:rPr lang="en-IN" i="1">
                                  <a:solidFill>
                                    <a:srgbClr val="000000"/>
                                  </a:solidFill>
                                  <a:latin typeface="Cambria Math" panose="02040503050406030204" pitchFamily="18" charset="0"/>
                                </a:rPr>
                                <m:t>1</m:t>
                              </m:r>
                            </m:sub>
                          </m:sSub>
                        </m:e>
                        <m:lim>
                          <m:r>
                            <a:rPr lang="en-IN" i="1">
                              <a:solidFill>
                                <a:srgbClr val="000000"/>
                              </a:solidFill>
                              <a:latin typeface="Cambria Math" panose="02040503050406030204" pitchFamily="18" charset="0"/>
                            </a:rPr>
                            <m:t>∧</m:t>
                          </m:r>
                        </m:lim>
                      </m:limUpp>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𝑆</m:t>
                              </m:r>
                            </m:e>
                            <m:sub>
                              <m:r>
                                <a:rPr lang="en-IN" i="1">
                                  <a:solidFill>
                                    <a:srgbClr val="000000"/>
                                  </a:solidFill>
                                  <a:latin typeface="Cambria Math" panose="02040503050406030204" pitchFamily="18" charset="0"/>
                                </a:rPr>
                                <m:t>𝑒</m:t>
                              </m:r>
                            </m:sub>
                          </m:sSub>
                        </m:num>
                        <m:den>
                          <m:rad>
                            <m:radPr>
                              <m:degHide m:val="on"/>
                              <m:ctrlPr>
                                <a:rPr lang="en-IN" i="1">
                                  <a:solidFill>
                                    <a:srgbClr val="000000"/>
                                  </a:solidFill>
                                  <a:latin typeface="Cambria Math" panose="02040503050406030204" pitchFamily="18" charset="0"/>
                                </a:rPr>
                              </m:ctrlPr>
                            </m:radPr>
                            <m:deg/>
                            <m:e>
                              <m:nary>
                                <m:naryPr>
                                  <m:chr m:val="∑"/>
                                  <m:subHide m:val="on"/>
                                  <m:supHide m:val="on"/>
                                  <m:ctrlPr>
                                    <a:rPr lang="en-IN" i="1">
                                      <a:solidFill>
                                        <a:srgbClr val="000000"/>
                                      </a:solidFill>
                                      <a:latin typeface="Cambria Math" panose="02040503050406030204" pitchFamily="18" charset="0"/>
                                    </a:rPr>
                                  </m:ctrlPr>
                                </m:naryPr>
                                <m:sub/>
                                <m:sup/>
                                <m:e>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𝑋</m:t>
                                      </m:r>
                                    </m:e>
                                    <m:sub>
                                      <m:r>
                                        <a:rPr lang="en-IN" i="1">
                                          <a:solidFill>
                                            <a:srgbClr val="000000"/>
                                          </a:solidFill>
                                          <a:latin typeface="Cambria Math" panose="02040503050406030204" pitchFamily="18" charset="0"/>
                                        </a:rPr>
                                        <m:t>𝑖</m:t>
                                      </m:r>
                                    </m:sub>
                                  </m:sSub>
                                  <m:r>
                                    <a:rPr lang="en-IN" i="1">
                                      <a:solidFill>
                                        <a:srgbClr val="000000"/>
                                      </a:solidFill>
                                      <a:latin typeface="Cambria Math" panose="02040503050406030204" pitchFamily="18" charset="0"/>
                                    </a:rPr>
                                    <m:t>−</m:t>
                                  </m:r>
                                  <m:limUpp>
                                    <m:limUppPr>
                                      <m:ctrlPr>
                                        <a:rPr lang="en-IN" i="1">
                                          <a:solidFill>
                                            <a:srgbClr val="000000"/>
                                          </a:solidFill>
                                          <a:latin typeface="Cambria Math" panose="02040503050406030204" pitchFamily="18" charset="0"/>
                                        </a:rPr>
                                      </m:ctrlPr>
                                    </m:limUppPr>
                                    <m:e>
                                      <m:r>
                                        <a:rPr lang="en-IN" i="1">
                                          <a:solidFill>
                                            <a:srgbClr val="000000"/>
                                          </a:solidFill>
                                          <a:latin typeface="Cambria Math" panose="02040503050406030204" pitchFamily="18" charset="0"/>
                                        </a:rPr>
                                        <m:t>𝑋</m:t>
                                      </m:r>
                                    </m:e>
                                    <m:lim>
                                      <m:r>
                                        <a:rPr lang="en-IN" i="1">
                                          <a:solidFill>
                                            <a:srgbClr val="000000"/>
                                          </a:solidFill>
                                          <a:latin typeface="Cambria Math" panose="02040503050406030204" pitchFamily="18" charset="0"/>
                                        </a:rPr>
                                        <m:t>−</m:t>
                                      </m:r>
                                    </m:lim>
                                  </m:limUpp>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m:t>
                                      </m:r>
                                    </m:e>
                                    <m:sup>
                                      <m:r>
                                        <a:rPr lang="en-IN" i="1">
                                          <a:solidFill>
                                            <a:srgbClr val="000000"/>
                                          </a:solidFill>
                                          <a:latin typeface="Cambria Math" panose="02040503050406030204" pitchFamily="18" charset="0"/>
                                        </a:rPr>
                                        <m:t>2</m:t>
                                      </m:r>
                                    </m:sup>
                                  </m:sSup>
                                </m:e>
                              </m:nary>
                            </m:e>
                          </m:rad>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ad>
                            <m:radPr>
                              <m:degHide m:val="on"/>
                              <m:ctrlPr>
                                <a:rPr lang="en-IN" i="1">
                                  <a:solidFill>
                                    <a:srgbClr val="000000"/>
                                  </a:solidFill>
                                  <a:latin typeface="Cambria Math" panose="02040503050406030204" pitchFamily="18" charset="0"/>
                                </a:rPr>
                              </m:ctrlPr>
                            </m:radPr>
                            <m:deg/>
                            <m:e>
                              <m:f>
                                <m:fPr>
                                  <m:type m:val="lin"/>
                                  <m:ctrlPr>
                                    <a:rPr lang="en-IN" i="1">
                                      <a:solidFill>
                                        <a:srgbClr val="000000"/>
                                      </a:solidFill>
                                      <a:latin typeface="Cambria Math" panose="02040503050406030204" pitchFamily="18" charset="0"/>
                                    </a:rPr>
                                  </m:ctrlPr>
                                </m:fPr>
                                <m:num>
                                  <m:nary>
                                    <m:naryPr>
                                      <m:chr m:val="∑"/>
                                      <m:ctrlPr>
                                        <a:rPr lang="en-IN" i="1">
                                          <a:solidFill>
                                            <a:srgbClr val="000000"/>
                                          </a:solidFill>
                                          <a:latin typeface="Cambria Math" panose="02040503050406030204" pitchFamily="18" charset="0"/>
                                        </a:rPr>
                                      </m:ctrlPr>
                                    </m:naryPr>
                                    <m:sub>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=1</m:t>
                                      </m:r>
                                    </m:sub>
                                    <m:sup>
                                      <m:r>
                                        <a:rPr lang="en-IN" i="1">
                                          <a:solidFill>
                                            <a:srgbClr val="000000"/>
                                          </a:solidFill>
                                          <a:latin typeface="Cambria Math" panose="02040503050406030204" pitchFamily="18" charset="0"/>
                                        </a:rPr>
                                        <m:t>𝑛</m:t>
                                      </m:r>
                                    </m:sup>
                                    <m:e>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𝑌</m:t>
                                          </m:r>
                                        </m:e>
                                        <m:sub>
                                          <m:r>
                                            <a:rPr lang="en-IN" i="1">
                                              <a:solidFill>
                                                <a:srgbClr val="000000"/>
                                              </a:solidFill>
                                              <a:latin typeface="Cambria Math" panose="02040503050406030204" pitchFamily="18" charset="0"/>
                                            </a:rPr>
                                            <m:t>𝑖</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limUpp>
                                            <m:limUppPr>
                                              <m:ctrlPr>
                                                <a:rPr lang="en-IN" i="1">
                                                  <a:solidFill>
                                                    <a:srgbClr val="000000"/>
                                                  </a:solidFill>
                                                  <a:latin typeface="Cambria Math" panose="02040503050406030204" pitchFamily="18" charset="0"/>
                                                </a:rPr>
                                              </m:ctrlPr>
                                            </m:limUppPr>
                                            <m:e>
                                              <m:r>
                                                <a:rPr lang="en-IN" i="1">
                                                  <a:solidFill>
                                                    <a:srgbClr val="000000"/>
                                                  </a:solidFill>
                                                  <a:latin typeface="Cambria Math" panose="02040503050406030204" pitchFamily="18" charset="0"/>
                                                </a:rPr>
                                                <m:t>𝑌</m:t>
                                              </m:r>
                                            </m:e>
                                            <m:lim>
                                              <m:r>
                                                <a:rPr lang="en-IN" i="1">
                                                  <a:solidFill>
                                                    <a:srgbClr val="000000"/>
                                                  </a:solidFill>
                                                  <a:latin typeface="Cambria Math" panose="02040503050406030204" pitchFamily="18" charset="0"/>
                                                </a:rPr>
                                                <m:t>∧</m:t>
                                              </m:r>
                                            </m:lim>
                                          </m:limUpp>
                                        </m:e>
                                        <m:sub>
                                          <m:r>
                                            <a:rPr lang="en-IN" i="1">
                                              <a:solidFill>
                                                <a:srgbClr val="000000"/>
                                              </a:solidFill>
                                              <a:latin typeface="Cambria Math" panose="02040503050406030204" pitchFamily="18" charset="0"/>
                                            </a:rPr>
                                            <m:t>𝑖</m:t>
                                          </m:r>
                                        </m:sub>
                                      </m:sSub>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m:t>
                                          </m:r>
                                        </m:e>
                                        <m:sup>
                                          <m:r>
                                            <a:rPr lang="en-IN" i="1">
                                              <a:solidFill>
                                                <a:srgbClr val="000000"/>
                                              </a:solidFill>
                                              <a:latin typeface="Cambria Math" panose="02040503050406030204" pitchFamily="18" charset="0"/>
                                            </a:rPr>
                                            <m:t>2</m:t>
                                          </m:r>
                                        </m:sup>
                                      </m:sSup>
                                    </m:e>
                                  </m:nary>
                                </m:num>
                                <m:den>
                                  <m:r>
                                    <a:rPr lang="en-IN" i="1">
                                      <a:solidFill>
                                        <a:srgbClr val="000000"/>
                                      </a:solidFill>
                                      <a:latin typeface="Cambria Math" panose="02040503050406030204" pitchFamily="18" charset="0"/>
                                    </a:rPr>
                                    <m:t>𝑛</m:t>
                                  </m:r>
                                  <m:r>
                                    <a:rPr lang="en-IN" i="1">
                                      <a:solidFill>
                                        <a:srgbClr val="000000"/>
                                      </a:solidFill>
                                      <a:latin typeface="Cambria Math" panose="02040503050406030204" pitchFamily="18" charset="0"/>
                                    </a:rPr>
                                    <m:t>−2</m:t>
                                  </m:r>
                                </m:den>
                              </m:f>
                            </m:e>
                          </m:rad>
                        </m:num>
                        <m:den>
                          <m:rad>
                            <m:radPr>
                              <m:degHide m:val="on"/>
                              <m:ctrlPr>
                                <a:rPr lang="en-IN" i="1">
                                  <a:solidFill>
                                    <a:srgbClr val="000000"/>
                                  </a:solidFill>
                                  <a:latin typeface="Cambria Math" panose="02040503050406030204" pitchFamily="18" charset="0"/>
                                </a:rPr>
                              </m:ctrlPr>
                            </m:radPr>
                            <m:deg/>
                            <m:e>
                              <m:nary>
                                <m:naryPr>
                                  <m:chr m:val="∑"/>
                                  <m:subHide m:val="on"/>
                                  <m:supHide m:val="on"/>
                                  <m:ctrlPr>
                                    <a:rPr lang="en-IN" i="1">
                                      <a:solidFill>
                                        <a:srgbClr val="000000"/>
                                      </a:solidFill>
                                      <a:latin typeface="Cambria Math" panose="02040503050406030204" pitchFamily="18" charset="0"/>
                                    </a:rPr>
                                  </m:ctrlPr>
                                </m:naryPr>
                                <m:sub/>
                                <m:sup/>
                                <m:e>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𝑋</m:t>
                                      </m:r>
                                    </m:e>
                                    <m:sub>
                                      <m:r>
                                        <a:rPr lang="en-IN" i="1">
                                          <a:solidFill>
                                            <a:srgbClr val="000000"/>
                                          </a:solidFill>
                                          <a:latin typeface="Cambria Math" panose="02040503050406030204" pitchFamily="18" charset="0"/>
                                        </a:rPr>
                                        <m:t>𝑖</m:t>
                                      </m:r>
                                    </m:sub>
                                  </m:sSub>
                                  <m:r>
                                    <a:rPr lang="en-IN" i="1">
                                      <a:solidFill>
                                        <a:srgbClr val="000000"/>
                                      </a:solidFill>
                                      <a:latin typeface="Cambria Math" panose="02040503050406030204" pitchFamily="18" charset="0"/>
                                    </a:rPr>
                                    <m:t>−</m:t>
                                  </m:r>
                                  <m:limUpp>
                                    <m:limUppPr>
                                      <m:ctrlPr>
                                        <a:rPr lang="en-IN" i="1">
                                          <a:solidFill>
                                            <a:srgbClr val="000000"/>
                                          </a:solidFill>
                                          <a:latin typeface="Cambria Math" panose="02040503050406030204" pitchFamily="18" charset="0"/>
                                        </a:rPr>
                                      </m:ctrlPr>
                                    </m:limUppPr>
                                    <m:e>
                                      <m:r>
                                        <a:rPr lang="en-IN" i="1">
                                          <a:solidFill>
                                            <a:srgbClr val="000000"/>
                                          </a:solidFill>
                                          <a:latin typeface="Cambria Math" panose="02040503050406030204" pitchFamily="18" charset="0"/>
                                        </a:rPr>
                                        <m:t>𝑋</m:t>
                                      </m:r>
                                    </m:e>
                                    <m:lim>
                                      <m:r>
                                        <a:rPr lang="en-IN" i="1">
                                          <a:solidFill>
                                            <a:srgbClr val="000000"/>
                                          </a:solidFill>
                                          <a:latin typeface="Cambria Math" panose="02040503050406030204" pitchFamily="18" charset="0"/>
                                        </a:rPr>
                                        <m:t>−</m:t>
                                      </m:r>
                                    </m:lim>
                                  </m:limUpp>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m:t>
                                      </m:r>
                                    </m:e>
                                    <m:sup>
                                      <m:r>
                                        <a:rPr lang="en-IN" i="1">
                                          <a:solidFill>
                                            <a:srgbClr val="000000"/>
                                          </a:solidFill>
                                          <a:latin typeface="Cambria Math" panose="02040503050406030204" pitchFamily="18" charset="0"/>
                                        </a:rPr>
                                        <m:t>2</m:t>
                                      </m:r>
                                    </m:sup>
                                  </m:sSup>
                                </m:e>
                              </m:nary>
                            </m:e>
                          </m:rad>
                        </m:den>
                      </m:f>
                    </m:oMath>
                  </m:oMathPara>
                </a14:m>
                <a:endParaRPr lang="en-IN" dirty="0"/>
              </a:p>
            </p:txBody>
          </p:sp>
        </mc:Choice>
        <mc:Fallback xmlns="">
          <p:sp>
            <p:nvSpPr>
              <p:cNvPr id="11" name="Object 10">
                <a:extLst>
                  <a:ext uri="{FF2B5EF4-FFF2-40B4-BE49-F238E27FC236}">
                    <a16:creationId xmlns:a16="http://schemas.microsoft.com/office/drawing/2014/main" id="{7256D19D-2CB1-4860-B944-96CFC9AA80A3}"/>
                  </a:ext>
                </a:extLst>
              </p:cNvPr>
              <p:cNvSpPr txBox="1">
                <a:spLocks noRot="1" noChangeAspect="1" noMove="1" noResize="1" noEditPoints="1" noAdjustHandles="1" noChangeArrowheads="1" noChangeShapeType="1" noTextEdit="1"/>
              </p:cNvSpPr>
              <p:nvPr/>
            </p:nvSpPr>
            <p:spPr bwMode="auto">
              <a:xfrm>
                <a:off x="1766888" y="5524500"/>
                <a:ext cx="4862512" cy="1028700"/>
              </a:xfrm>
              <a:prstGeom prst="rect">
                <a:avLst/>
              </a:prstGeom>
              <a:blipFill>
                <a:blip r:embed="rId7"/>
                <a:stretch>
                  <a:fillRect/>
                </a:stretch>
              </a:blipFill>
              <a:ln>
                <a:solidFill>
                  <a:schemeClr val="accent1"/>
                </a:solidFill>
              </a:ln>
            </p:spPr>
            <p:txBody>
              <a:bodyPr/>
              <a:lstStyle/>
              <a:p>
                <a:r>
                  <a:rPr lang="en-IN">
                    <a:noFill/>
                  </a:rPr>
                  <a:t> </a:t>
                </a:r>
              </a:p>
            </p:txBody>
          </p:sp>
        </mc:Fallback>
      </mc:AlternateContent>
    </p:spTree>
    <p:extLst>
      <p:ext uri="{BB962C8B-B14F-4D97-AF65-F5344CB8AC3E}">
        <p14:creationId xmlns:p14="http://schemas.microsoft.com/office/powerpoint/2010/main" val="345979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1000"/>
                                        <p:tgtEl>
                                          <p:spTgt spid="9">
                                            <p:txEl>
                                              <p:pRg st="0" end="0"/>
                                            </p:txEl>
                                          </p:spTgt>
                                        </p:tgtEl>
                                      </p:cBhvr>
                                    </p:animEffect>
                                    <p:anim calcmode="lin" valueType="num">
                                      <p:cBhvr>
                                        <p:cTn id="2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3A3E54-743E-4AE3-B06F-0C61611440CB}"/>
              </a:ext>
            </a:extLst>
          </p:cNvPr>
          <p:cNvSpPr>
            <a:spLocks noGrp="1"/>
          </p:cNvSpPr>
          <p:nvPr>
            <p:ph idx="4294967295"/>
          </p:nvPr>
        </p:nvSpPr>
        <p:spPr>
          <a:xfrm>
            <a:off x="304800" y="457200"/>
            <a:ext cx="8534400" cy="4800600"/>
          </a:xfrm>
        </p:spPr>
        <p:txBody>
          <a:bodyPr>
            <a:normAutofit/>
          </a:bodyPr>
          <a:lstStyle/>
          <a:p>
            <a:pPr marL="0" indent="0">
              <a:buNone/>
            </a:pPr>
            <a:r>
              <a:rPr lang="en-GB" sz="2400" dirty="0"/>
              <a:t>The null and alternative hypotheses for the SLR model can be stated as follows:</a:t>
            </a:r>
            <a:endParaRPr lang="en-IN" sz="2400" dirty="0"/>
          </a:p>
          <a:p>
            <a:pPr marL="0" indent="0">
              <a:buNone/>
            </a:pPr>
            <a:r>
              <a:rPr lang="en-GB" sz="2400" i="1" dirty="0"/>
              <a:t>	H</a:t>
            </a:r>
            <a:r>
              <a:rPr lang="en-GB" sz="2400" baseline="-25000" dirty="0"/>
              <a:t>0</a:t>
            </a:r>
            <a:r>
              <a:rPr lang="en-GB" sz="2400" dirty="0"/>
              <a:t>: There is no relationship between </a:t>
            </a:r>
            <a:r>
              <a:rPr lang="en-GB" sz="2400" i="1" dirty="0"/>
              <a:t>X</a:t>
            </a:r>
            <a:r>
              <a:rPr lang="en-GB" sz="2400" dirty="0"/>
              <a:t> and </a:t>
            </a:r>
            <a:r>
              <a:rPr lang="en-GB" sz="2400" i="1" dirty="0"/>
              <a:t>Y</a:t>
            </a:r>
            <a:endParaRPr lang="en-IN" sz="2400" dirty="0"/>
          </a:p>
          <a:p>
            <a:pPr marL="0" indent="0">
              <a:buNone/>
            </a:pPr>
            <a:r>
              <a:rPr lang="en-GB" sz="2400" i="1" dirty="0"/>
              <a:t>	H</a:t>
            </a:r>
            <a:r>
              <a:rPr lang="en-GB" sz="2400" i="1" baseline="-25000" dirty="0"/>
              <a:t>A</a:t>
            </a:r>
            <a:r>
              <a:rPr lang="en-GB" sz="2400" dirty="0"/>
              <a:t>: There is a relationship between </a:t>
            </a:r>
            <a:r>
              <a:rPr lang="en-GB" sz="2400" i="1" dirty="0"/>
              <a:t>X</a:t>
            </a:r>
            <a:r>
              <a:rPr lang="en-GB" sz="2400" dirty="0"/>
              <a:t> and </a:t>
            </a:r>
            <a:r>
              <a:rPr lang="en-GB" sz="2400" i="1" dirty="0"/>
              <a:t>Y</a:t>
            </a:r>
            <a:endParaRPr lang="en-IN" sz="2400" dirty="0"/>
          </a:p>
          <a:p>
            <a:r>
              <a:rPr lang="en-GB" sz="2400" baseline="-25000" dirty="0"/>
              <a:t> </a:t>
            </a:r>
            <a:r>
              <a:rPr lang="en-GB" sz="2400" dirty="0">
                <a:sym typeface="Symbol" panose="05050102010706020507" pitchFamily="18" charset="2"/>
              </a:rPr>
              <a:t></a:t>
            </a:r>
            <a:r>
              <a:rPr lang="en-GB" sz="2400" baseline="-25000" dirty="0"/>
              <a:t>1</a:t>
            </a:r>
            <a:r>
              <a:rPr lang="en-GB" sz="2400" dirty="0"/>
              <a:t> = 0 would imply that there is no linear relationship between the response variable </a:t>
            </a:r>
            <a:r>
              <a:rPr lang="en-GB" sz="2400" i="1" dirty="0"/>
              <a:t>Y</a:t>
            </a:r>
            <a:r>
              <a:rPr lang="en-GB" sz="2400" dirty="0"/>
              <a:t> and the explanatory variable </a:t>
            </a:r>
            <a:r>
              <a:rPr lang="en-GB" sz="2400" i="1" dirty="0"/>
              <a:t>X</a:t>
            </a:r>
            <a:r>
              <a:rPr lang="en-GB" sz="2400" dirty="0"/>
              <a:t>. Thus, the null and alternative hypotheses can be restated as follows:</a:t>
            </a:r>
          </a:p>
          <a:p>
            <a:pPr marL="0" indent="0">
              <a:buNone/>
            </a:pPr>
            <a:endParaRPr lang="en-IN" sz="2400" dirty="0"/>
          </a:p>
          <a:p>
            <a:pPr marL="457200" lvl="1" indent="0">
              <a:buNone/>
            </a:pPr>
            <a:r>
              <a:rPr lang="en-GB" i="1" dirty="0"/>
              <a:t>H</a:t>
            </a:r>
            <a:r>
              <a:rPr lang="en-GB" baseline="-25000" dirty="0"/>
              <a:t>0</a:t>
            </a:r>
            <a:r>
              <a:rPr lang="en-GB" dirty="0"/>
              <a:t>: </a:t>
            </a:r>
            <a:r>
              <a:rPr lang="en-GB" dirty="0">
                <a:sym typeface="Symbol" panose="05050102010706020507" pitchFamily="18" charset="2"/>
              </a:rPr>
              <a:t></a:t>
            </a:r>
            <a:r>
              <a:rPr lang="en-GB" baseline="-25000" dirty="0"/>
              <a:t>1</a:t>
            </a:r>
            <a:r>
              <a:rPr lang="en-GB" dirty="0"/>
              <a:t> = 0 </a:t>
            </a:r>
            <a:endParaRPr lang="en-IN" dirty="0"/>
          </a:p>
          <a:p>
            <a:pPr marL="457200" lvl="1" indent="0">
              <a:buNone/>
            </a:pPr>
            <a:r>
              <a:rPr lang="en-GB" i="1" dirty="0"/>
              <a:t>H</a:t>
            </a:r>
            <a:r>
              <a:rPr lang="en-GB" i="1" baseline="-25000" dirty="0"/>
              <a:t>A</a:t>
            </a:r>
            <a:r>
              <a:rPr lang="en-GB" dirty="0"/>
              <a:t>: </a:t>
            </a:r>
            <a:r>
              <a:rPr lang="en-GB" dirty="0">
                <a:sym typeface="Symbol" panose="05050102010706020507" pitchFamily="18" charset="2"/>
              </a:rPr>
              <a:t></a:t>
            </a:r>
            <a:r>
              <a:rPr lang="en-GB" baseline="-25000" dirty="0"/>
              <a:t>1</a:t>
            </a:r>
            <a:r>
              <a:rPr lang="en-GB" dirty="0"/>
              <a:t> </a:t>
            </a:r>
            <a:r>
              <a:rPr lang="en-GB" dirty="0">
                <a:sym typeface="Symbol" panose="05050102010706020507" pitchFamily="18" charset="2"/>
              </a:rPr>
              <a:t></a:t>
            </a:r>
            <a:r>
              <a:rPr lang="en-GB" dirty="0"/>
              <a:t> 0 </a:t>
            </a:r>
          </a:p>
          <a:p>
            <a:r>
              <a:rPr lang="en-GB" sz="2400" dirty="0"/>
              <a:t>The corresponding </a:t>
            </a:r>
            <a:r>
              <a:rPr lang="en-GB" sz="2400" i="1" dirty="0"/>
              <a:t>t</a:t>
            </a:r>
            <a:r>
              <a:rPr lang="en-GB" sz="2400" dirty="0"/>
              <a:t>-statistic is given as</a:t>
            </a:r>
            <a:endParaRPr lang="en-IN" sz="2400" dirty="0"/>
          </a:p>
          <a:p>
            <a:endParaRPr lang="en-IN" sz="2400" dirty="0"/>
          </a:p>
        </p:txBody>
      </p:sp>
      <p:graphicFrame>
        <p:nvGraphicFramePr>
          <p:cNvPr id="11" name="Object 10">
            <a:extLst>
              <a:ext uri="{FF2B5EF4-FFF2-40B4-BE49-F238E27FC236}">
                <a16:creationId xmlns:a16="http://schemas.microsoft.com/office/drawing/2014/main" id="{914BE9CE-A521-426B-BE47-31C988F12EBB}"/>
              </a:ext>
            </a:extLst>
          </p:cNvPr>
          <p:cNvGraphicFramePr>
            <a:graphicFrameLocks noChangeAspect="1"/>
          </p:cNvGraphicFramePr>
          <p:nvPr>
            <p:extLst>
              <p:ext uri="{D42A27DB-BD31-4B8C-83A1-F6EECF244321}">
                <p14:modId xmlns:p14="http://schemas.microsoft.com/office/powerpoint/2010/main" val="2749331282"/>
              </p:ext>
            </p:extLst>
          </p:nvPr>
        </p:nvGraphicFramePr>
        <p:xfrm>
          <a:off x="1524000" y="5257800"/>
          <a:ext cx="3600450" cy="914400"/>
        </p:xfrm>
        <a:graphic>
          <a:graphicData uri="http://schemas.openxmlformats.org/presentationml/2006/ole">
            <mc:AlternateContent xmlns:mc="http://schemas.openxmlformats.org/markup-compatibility/2006">
              <mc:Choice xmlns:v="urn:schemas-microsoft-com:vml" Requires="v">
                <p:oleObj name="Equation" r:id="rId2" imgW="1943100" imgH="685800" progId="Equation.3">
                  <p:embed/>
                </p:oleObj>
              </mc:Choice>
              <mc:Fallback>
                <p:oleObj name="Equation" r:id="rId2" imgW="1943100" imgH="685800" progId="Equation.3">
                  <p:embed/>
                  <p:pic>
                    <p:nvPicPr>
                      <p:cNvPr id="5" name="Object 4">
                        <a:extLst>
                          <a:ext uri="{FF2B5EF4-FFF2-40B4-BE49-F238E27FC236}">
                            <a16:creationId xmlns:a16="http://schemas.microsoft.com/office/drawing/2014/main" id="{350A8265-A4D7-4E0B-9848-F875776227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5257800"/>
                        <a:ext cx="3600450" cy="9144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3593108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fade">
                                      <p:cBhvr>
                                        <p:cTn id="45" dur="1000"/>
                                        <p:tgtEl>
                                          <p:spTgt spid="3">
                                            <p:txEl>
                                              <p:pRg st="7" end="7"/>
                                            </p:txEl>
                                          </p:spTgt>
                                        </p:tgtEl>
                                      </p:cBhvr>
                                    </p:animEffect>
                                    <p:anim calcmode="lin" valueType="num">
                                      <p:cBhvr>
                                        <p:cTn id="4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370C6-FF6C-4C78-8510-1E39EB2994ED}"/>
              </a:ext>
            </a:extLst>
          </p:cNvPr>
          <p:cNvSpPr>
            <a:spLocks noGrp="1"/>
          </p:cNvSpPr>
          <p:nvPr>
            <p:ph type="title"/>
          </p:nvPr>
        </p:nvSpPr>
        <p:spPr>
          <a:xfrm>
            <a:off x="628650" y="365127"/>
            <a:ext cx="7886700" cy="701674"/>
          </a:xfrm>
        </p:spPr>
        <p:txBody>
          <a:bodyPr>
            <a:noAutofit/>
          </a:bodyPr>
          <a:lstStyle/>
          <a:p>
            <a:pPr algn="ctr"/>
            <a:r>
              <a:rPr lang="en-GB" sz="2400" b="1" dirty="0">
                <a:solidFill>
                  <a:srgbClr val="C00000"/>
                </a:solidFill>
              </a:rPr>
              <a:t>Test for Overall Model: Analysis of Variance (F-test)</a:t>
            </a:r>
            <a:endParaRPr lang="en-IN" sz="2400" dirty="0">
              <a:solidFill>
                <a:srgbClr val="C00000"/>
              </a:solidFill>
            </a:endParaRPr>
          </a:p>
        </p:txBody>
      </p:sp>
      <p:sp>
        <p:nvSpPr>
          <p:cNvPr id="3" name="Content Placeholder 2">
            <a:extLst>
              <a:ext uri="{FF2B5EF4-FFF2-40B4-BE49-F238E27FC236}">
                <a16:creationId xmlns:a16="http://schemas.microsoft.com/office/drawing/2014/main" id="{8D82ABDC-085B-4EE5-9CD8-F1C256A835C6}"/>
              </a:ext>
            </a:extLst>
          </p:cNvPr>
          <p:cNvSpPr>
            <a:spLocks noGrp="1"/>
          </p:cNvSpPr>
          <p:nvPr>
            <p:ph idx="1"/>
          </p:nvPr>
        </p:nvSpPr>
        <p:spPr>
          <a:xfrm>
            <a:off x="419100" y="1219200"/>
            <a:ext cx="8305800" cy="4114800"/>
          </a:xfrm>
        </p:spPr>
        <p:txBody>
          <a:bodyPr>
            <a:normAutofit fontScale="92500" lnSpcReduction="10000"/>
          </a:bodyPr>
          <a:lstStyle/>
          <a:p>
            <a:pPr marL="0" indent="0" algn="just">
              <a:buNone/>
            </a:pPr>
            <a:r>
              <a:rPr lang="en-GB" sz="2400" dirty="0"/>
              <a:t>The null and alternative hypothesis for </a:t>
            </a:r>
            <a:r>
              <a:rPr lang="en-GB" sz="2400" i="1" dirty="0"/>
              <a:t>F</a:t>
            </a:r>
            <a:r>
              <a:rPr lang="en-GB" sz="2400" dirty="0"/>
              <a:t>-test is given by</a:t>
            </a:r>
          </a:p>
          <a:p>
            <a:pPr marL="0" indent="0" algn="just">
              <a:buNone/>
            </a:pPr>
            <a:r>
              <a:rPr lang="en-GB" sz="2400" i="1" dirty="0"/>
              <a:t>	H</a:t>
            </a:r>
            <a:r>
              <a:rPr lang="en-GB" sz="2400" baseline="-25000" dirty="0"/>
              <a:t>0</a:t>
            </a:r>
            <a:r>
              <a:rPr lang="en-GB" sz="2400" dirty="0"/>
              <a:t>:  There is no statistically significant relationship    between </a:t>
            </a:r>
            <a:r>
              <a:rPr lang="en-GB" sz="2400" i="1" dirty="0"/>
              <a:t>Y</a:t>
            </a:r>
            <a:r>
              <a:rPr lang="en-GB" sz="2400" dirty="0"/>
              <a:t> and any of the explanatory variables (i.e., all regression coefficients are zero).</a:t>
            </a:r>
            <a:endParaRPr lang="en-IN" sz="2400" dirty="0"/>
          </a:p>
          <a:p>
            <a:pPr marL="0" indent="0" algn="just">
              <a:buNone/>
            </a:pPr>
            <a:r>
              <a:rPr lang="en-GB" sz="2400" i="1" dirty="0"/>
              <a:t>	H</a:t>
            </a:r>
            <a:r>
              <a:rPr lang="en-GB" sz="2400" i="1" baseline="-25000" dirty="0"/>
              <a:t>A</a:t>
            </a:r>
            <a:r>
              <a:rPr lang="en-GB" sz="2400" dirty="0"/>
              <a:t>:  There is statistically significant relationship between Y and at least one of the explanatory variables.</a:t>
            </a:r>
            <a:endParaRPr lang="en-IN" sz="2400" dirty="0"/>
          </a:p>
          <a:p>
            <a:pPr algn="just"/>
            <a:r>
              <a:rPr lang="en-GB" sz="2400" dirty="0"/>
              <a:t>Alternatively:</a:t>
            </a:r>
            <a:endParaRPr lang="en-IN" sz="2400" dirty="0"/>
          </a:p>
          <a:p>
            <a:pPr marL="0" indent="0" algn="just">
              <a:buNone/>
            </a:pPr>
            <a:r>
              <a:rPr lang="en-GB" sz="2400" i="1" dirty="0"/>
              <a:t>	H</a:t>
            </a:r>
            <a:r>
              <a:rPr lang="en-GB" sz="2400" baseline="-25000" dirty="0"/>
              <a:t>0</a:t>
            </a:r>
            <a:r>
              <a:rPr lang="en-GB" sz="2400" dirty="0"/>
              <a:t>: All regression coefficients are equal to zero</a:t>
            </a:r>
            <a:endParaRPr lang="en-IN" sz="2400" dirty="0"/>
          </a:p>
          <a:p>
            <a:pPr marL="0" indent="0" algn="just">
              <a:buNone/>
            </a:pPr>
            <a:r>
              <a:rPr lang="en-GB" sz="2400" i="1" dirty="0"/>
              <a:t>	H</a:t>
            </a:r>
            <a:r>
              <a:rPr lang="en-GB" sz="2400" i="1" baseline="-25000" dirty="0"/>
              <a:t>A</a:t>
            </a:r>
            <a:r>
              <a:rPr lang="en-GB" sz="2400" dirty="0"/>
              <a:t>: Not all regression coefficients are equal to zero</a:t>
            </a:r>
          </a:p>
          <a:p>
            <a:pPr marL="0" indent="0" algn="just">
              <a:buNone/>
            </a:pPr>
            <a:endParaRPr lang="en-GB" sz="2400" dirty="0"/>
          </a:p>
          <a:p>
            <a:pPr algn="just"/>
            <a:r>
              <a:rPr lang="en-GB" sz="2400" dirty="0"/>
              <a:t>The </a:t>
            </a:r>
            <a:r>
              <a:rPr lang="en-GB" sz="2400" i="1" dirty="0"/>
              <a:t>F</a:t>
            </a:r>
            <a:r>
              <a:rPr lang="en-GB" sz="2400" dirty="0"/>
              <a:t>-statistic is given by</a:t>
            </a:r>
          </a:p>
          <a:p>
            <a:pPr marL="0" indent="0" algn="just">
              <a:buNone/>
            </a:pPr>
            <a:endParaRPr lang="en-IN" sz="2400" dirty="0"/>
          </a:p>
          <a:p>
            <a:pPr marL="0" indent="0">
              <a:buNone/>
            </a:pPr>
            <a:endParaRPr lang="en-IN" sz="2400" dirty="0"/>
          </a:p>
          <a:p>
            <a:endParaRPr lang="en-IN" sz="2400" dirty="0"/>
          </a:p>
        </p:txBody>
      </p:sp>
      <p:graphicFrame>
        <p:nvGraphicFramePr>
          <p:cNvPr id="4" name="Object 3">
            <a:extLst>
              <a:ext uri="{FF2B5EF4-FFF2-40B4-BE49-F238E27FC236}">
                <a16:creationId xmlns:a16="http://schemas.microsoft.com/office/drawing/2014/main" id="{E499678E-7EF2-4008-9665-AF4A8944E024}"/>
              </a:ext>
            </a:extLst>
          </p:cNvPr>
          <p:cNvGraphicFramePr>
            <a:graphicFrameLocks noChangeAspect="1"/>
          </p:cNvGraphicFramePr>
          <p:nvPr>
            <p:extLst>
              <p:ext uri="{D42A27DB-BD31-4B8C-83A1-F6EECF244321}">
                <p14:modId xmlns:p14="http://schemas.microsoft.com/office/powerpoint/2010/main" val="405439547"/>
              </p:ext>
            </p:extLst>
          </p:nvPr>
        </p:nvGraphicFramePr>
        <p:xfrm>
          <a:off x="1573213" y="5476875"/>
          <a:ext cx="2797175" cy="771525"/>
        </p:xfrm>
        <a:graphic>
          <a:graphicData uri="http://schemas.openxmlformats.org/presentationml/2006/ole">
            <mc:AlternateContent xmlns:mc="http://schemas.openxmlformats.org/markup-compatibility/2006">
              <mc:Choice xmlns:v="urn:schemas-microsoft-com:vml" Requires="v">
                <p:oleObj name="Equation" r:id="rId2" imgW="1460160" imgH="393480" progId="Equation.DSMT4">
                  <p:embed/>
                </p:oleObj>
              </mc:Choice>
              <mc:Fallback>
                <p:oleObj name="Equation" r:id="rId2" imgW="1460160" imgH="393480" progId="Equation.DSMT4">
                  <p:embed/>
                  <p:pic>
                    <p:nvPicPr>
                      <p:cNvPr id="5" name="Object 4">
                        <a:extLst>
                          <a:ext uri="{FF2B5EF4-FFF2-40B4-BE49-F238E27FC236}">
                            <a16:creationId xmlns:a16="http://schemas.microsoft.com/office/drawing/2014/main" id="{FCA295AC-8FAB-42EC-B271-0B99850BEAA5}"/>
                          </a:ext>
                        </a:extLst>
                      </p:cNvPr>
                      <p:cNvPicPr>
                        <a:picLocks noChangeAspect="1" noChangeArrowheads="1"/>
                      </p:cNvPicPr>
                      <p:nvPr/>
                    </p:nvPicPr>
                    <p:blipFill>
                      <a:blip r:embed="rId3"/>
                      <a:srcRect/>
                      <a:stretch>
                        <a:fillRect/>
                      </a:stretch>
                    </p:blipFill>
                    <p:spPr bwMode="auto">
                      <a:xfrm>
                        <a:off x="1573213" y="5476875"/>
                        <a:ext cx="2797175" cy="771525"/>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221371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fade">
                                      <p:cBhvr>
                                        <p:cTn id="54" dur="1000"/>
                                        <p:tgtEl>
                                          <p:spTgt spid="3">
                                            <p:txEl>
                                              <p:pRg st="7" end="7"/>
                                            </p:txEl>
                                          </p:spTgt>
                                        </p:tgtEl>
                                      </p:cBhvr>
                                    </p:animEffect>
                                    <p:anim calcmode="lin" valueType="num">
                                      <p:cBhvr>
                                        <p:cTn id="5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1000"/>
                                        <p:tgtEl>
                                          <p:spTgt spid="4"/>
                                        </p:tgtEl>
                                      </p:cBhvr>
                                    </p:animEffect>
                                    <p:anim calcmode="lin" valueType="num">
                                      <p:cBhvr>
                                        <p:cTn id="62" dur="1000" fill="hold"/>
                                        <p:tgtEl>
                                          <p:spTgt spid="4"/>
                                        </p:tgtEl>
                                        <p:attrNameLst>
                                          <p:attrName>ppt_x</p:attrName>
                                        </p:attrNameLst>
                                      </p:cBhvr>
                                      <p:tavLst>
                                        <p:tav tm="0">
                                          <p:val>
                                            <p:strVal val="#ppt_x"/>
                                          </p:val>
                                        </p:tav>
                                        <p:tav tm="100000">
                                          <p:val>
                                            <p:strVal val="#ppt_x"/>
                                          </p:val>
                                        </p:tav>
                                      </p:tavLst>
                                    </p:anim>
                                    <p:anim calcmode="lin" valueType="num">
                                      <p:cBhvr>
                                        <p:cTn id="6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88E7-E47C-4158-BFF2-0E0A96FBE4C7}"/>
              </a:ext>
            </a:extLst>
          </p:cNvPr>
          <p:cNvSpPr>
            <a:spLocks noGrp="1"/>
          </p:cNvSpPr>
          <p:nvPr>
            <p:ph type="title"/>
          </p:nvPr>
        </p:nvSpPr>
        <p:spPr>
          <a:xfrm>
            <a:off x="628650" y="365127"/>
            <a:ext cx="7886700" cy="625473"/>
          </a:xfrm>
        </p:spPr>
        <p:txBody>
          <a:bodyPr>
            <a:noAutofit/>
          </a:bodyPr>
          <a:lstStyle/>
          <a:p>
            <a:r>
              <a:rPr lang="en-US" sz="3200" b="1" dirty="0">
                <a:solidFill>
                  <a:srgbClr val="C00000"/>
                </a:solidFill>
              </a:rPr>
              <a:t>Assumptions</a:t>
            </a:r>
          </a:p>
        </p:txBody>
      </p:sp>
      <p:sp>
        <p:nvSpPr>
          <p:cNvPr id="3" name="Content Placeholder 2">
            <a:extLst>
              <a:ext uri="{FF2B5EF4-FFF2-40B4-BE49-F238E27FC236}">
                <a16:creationId xmlns:a16="http://schemas.microsoft.com/office/drawing/2014/main" id="{1D5EF916-53F9-4C04-8754-9064AC568D03}"/>
              </a:ext>
            </a:extLst>
          </p:cNvPr>
          <p:cNvSpPr>
            <a:spLocks noGrp="1"/>
          </p:cNvSpPr>
          <p:nvPr>
            <p:ph idx="1"/>
          </p:nvPr>
        </p:nvSpPr>
        <p:spPr>
          <a:xfrm>
            <a:off x="457200" y="1200152"/>
            <a:ext cx="8381999" cy="4972048"/>
          </a:xfrm>
        </p:spPr>
        <p:txBody>
          <a:bodyPr>
            <a:noAutofit/>
          </a:bodyPr>
          <a:lstStyle/>
          <a:p>
            <a:pPr marL="0" indent="0">
              <a:buNone/>
            </a:pPr>
            <a:r>
              <a:rPr lang="en-GB" sz="2200" dirty="0"/>
              <a:t>The method of least squares gives the best equation under the assumptions stated below (Harter 1974, 1975): </a:t>
            </a:r>
          </a:p>
          <a:p>
            <a:pPr lvl="0">
              <a:buFont typeface="Wingdings" panose="05000000000000000000" pitchFamily="2" charset="2"/>
              <a:buChar char="Ø"/>
            </a:pPr>
            <a:r>
              <a:rPr lang="en-GB" sz="2200" dirty="0"/>
              <a:t>The regression model is linear in regression parameters.</a:t>
            </a:r>
            <a:endParaRPr lang="en-IN" sz="2200" dirty="0"/>
          </a:p>
          <a:p>
            <a:pPr lvl="0">
              <a:buFont typeface="Wingdings" panose="05000000000000000000" pitchFamily="2" charset="2"/>
              <a:buChar char="Ø"/>
            </a:pPr>
            <a:r>
              <a:rPr lang="en-GB" sz="2200" dirty="0"/>
              <a:t>The explanatory variable, </a:t>
            </a:r>
            <a:r>
              <a:rPr lang="en-GB" sz="2200" i="1" dirty="0"/>
              <a:t>X</a:t>
            </a:r>
            <a:r>
              <a:rPr lang="en-GB" sz="2200" dirty="0"/>
              <a:t>, is assumed to be non-stochastic (i.e., </a:t>
            </a:r>
            <a:r>
              <a:rPr lang="en-GB" sz="2200" i="1" dirty="0"/>
              <a:t>X</a:t>
            </a:r>
            <a:r>
              <a:rPr lang="en-GB" sz="2200" dirty="0"/>
              <a:t> is deterministic).</a:t>
            </a:r>
            <a:endParaRPr lang="en-IN" sz="2200" dirty="0"/>
          </a:p>
          <a:p>
            <a:pPr lvl="0">
              <a:buFont typeface="Wingdings" panose="05000000000000000000" pitchFamily="2" charset="2"/>
              <a:buChar char="Ø"/>
            </a:pPr>
            <a:r>
              <a:rPr lang="en-GB" sz="2200" dirty="0"/>
              <a:t>The conditional expected value of the residuals, </a:t>
            </a:r>
            <a:r>
              <a:rPr lang="en-GB" sz="2200" i="1" dirty="0"/>
              <a:t>E</a:t>
            </a:r>
            <a:r>
              <a:rPr lang="en-GB" sz="2200" dirty="0"/>
              <a:t>(</a:t>
            </a:r>
            <a:r>
              <a:rPr lang="en-GB" sz="2200" i="1" dirty="0">
                <a:sym typeface="Symbol" panose="05050102010706020507" pitchFamily="18" charset="2"/>
              </a:rPr>
              <a:t></a:t>
            </a:r>
            <a:r>
              <a:rPr lang="en-GB" sz="2200" i="1" baseline="-25000" dirty="0" err="1"/>
              <a:t>i</a:t>
            </a:r>
            <a:r>
              <a:rPr lang="en-GB" sz="2200" i="1" dirty="0" err="1"/>
              <a:t>|X</a:t>
            </a:r>
            <a:r>
              <a:rPr lang="en-GB" sz="2200" i="1" baseline="-25000" dirty="0" err="1"/>
              <a:t>i</a:t>
            </a:r>
            <a:r>
              <a:rPr lang="en-GB" sz="2200" dirty="0"/>
              <a:t>), is zero.</a:t>
            </a:r>
            <a:endParaRPr lang="en-IN" sz="2200" dirty="0"/>
          </a:p>
          <a:p>
            <a:pPr lvl="0">
              <a:buFont typeface="Wingdings" panose="05000000000000000000" pitchFamily="2" charset="2"/>
              <a:buChar char="Ø"/>
            </a:pPr>
            <a:r>
              <a:rPr lang="en-GB" sz="2200" dirty="0"/>
              <a:t>In case of time series data, residuals are uncorrelated, that is, </a:t>
            </a:r>
            <a:r>
              <a:rPr lang="en-GB" sz="2200" dirty="0" err="1"/>
              <a:t>Cov</a:t>
            </a:r>
            <a:r>
              <a:rPr lang="en-GB" sz="2200" dirty="0"/>
              <a:t>(</a:t>
            </a:r>
            <a:r>
              <a:rPr lang="en-GB" sz="2200" i="1" dirty="0">
                <a:sym typeface="Symbol" panose="05050102010706020507" pitchFamily="18" charset="2"/>
              </a:rPr>
              <a:t></a:t>
            </a:r>
            <a:r>
              <a:rPr lang="en-GB" sz="2200" i="1" baseline="-25000" dirty="0" err="1"/>
              <a:t>i</a:t>
            </a:r>
            <a:r>
              <a:rPr lang="en-GB" sz="2200" i="1" dirty="0"/>
              <a:t>, </a:t>
            </a:r>
            <a:r>
              <a:rPr lang="en-GB" sz="2200" i="1" dirty="0">
                <a:sym typeface="Symbol" panose="05050102010706020507" pitchFamily="18" charset="2"/>
              </a:rPr>
              <a:t></a:t>
            </a:r>
            <a:r>
              <a:rPr lang="en-GB" sz="2200" i="1" baseline="-25000" dirty="0"/>
              <a:t>j</a:t>
            </a:r>
            <a:r>
              <a:rPr lang="en-GB" sz="2200" dirty="0"/>
              <a:t>) = 0 for all </a:t>
            </a:r>
            <a:r>
              <a:rPr lang="en-GB" sz="2200" i="1" dirty="0" err="1"/>
              <a:t>i</a:t>
            </a:r>
            <a:r>
              <a:rPr lang="en-GB" sz="2200" dirty="0"/>
              <a:t> </a:t>
            </a:r>
            <a:r>
              <a:rPr lang="en-GB" sz="2200" dirty="0">
                <a:sym typeface="Symbol" panose="05050102010706020507" pitchFamily="18" charset="2"/>
              </a:rPr>
              <a:t></a:t>
            </a:r>
            <a:r>
              <a:rPr lang="en-GB" sz="2200" dirty="0"/>
              <a:t> </a:t>
            </a:r>
            <a:r>
              <a:rPr lang="en-GB" sz="2200" i="1" dirty="0"/>
              <a:t>j</a:t>
            </a:r>
            <a:r>
              <a:rPr lang="en-GB" sz="2200" dirty="0"/>
              <a:t>.</a:t>
            </a:r>
            <a:endParaRPr lang="en-IN" sz="2200" dirty="0"/>
          </a:p>
          <a:p>
            <a:pPr lvl="0">
              <a:buFont typeface="Wingdings" panose="05000000000000000000" pitchFamily="2" charset="2"/>
              <a:buChar char="Ø"/>
            </a:pPr>
            <a:r>
              <a:rPr lang="en-GB" sz="2200" dirty="0"/>
              <a:t>The residuals, </a:t>
            </a:r>
            <a:r>
              <a:rPr lang="en-GB" sz="2200" i="1" dirty="0">
                <a:sym typeface="Symbol" panose="05050102010706020507" pitchFamily="18" charset="2"/>
              </a:rPr>
              <a:t></a:t>
            </a:r>
            <a:r>
              <a:rPr lang="en-GB" sz="2200" i="1" baseline="-25000" dirty="0" err="1"/>
              <a:t>i</a:t>
            </a:r>
            <a:r>
              <a:rPr lang="en-GB" sz="2200" dirty="0"/>
              <a:t>, follow a normal distribution.</a:t>
            </a:r>
            <a:endParaRPr lang="en-IN" sz="2200" dirty="0"/>
          </a:p>
          <a:p>
            <a:pPr>
              <a:buFont typeface="Wingdings" panose="05000000000000000000" pitchFamily="2" charset="2"/>
              <a:buChar char="Ø"/>
            </a:pPr>
            <a:r>
              <a:rPr lang="en-GB" sz="2200" dirty="0"/>
              <a:t>The variance of the residuals, Var(</a:t>
            </a:r>
            <a:r>
              <a:rPr lang="en-GB" sz="2200" dirty="0">
                <a:sym typeface="Symbol" panose="05050102010706020507" pitchFamily="18" charset="2"/>
              </a:rPr>
              <a:t></a:t>
            </a:r>
            <a:r>
              <a:rPr lang="en-GB" sz="2200" dirty="0" err="1"/>
              <a:t>i|Xi</a:t>
            </a:r>
            <a:r>
              <a:rPr lang="en-GB" sz="2200" dirty="0"/>
              <a:t>), is constant for all values of Xi. When the variance of the residuals is constant for different values of Xi, it is called homoscedasticity. A non-constant variance of residuals is called heteroscedasticity</a:t>
            </a:r>
            <a:endParaRPr lang="en-IN" sz="2200" dirty="0"/>
          </a:p>
        </p:txBody>
      </p:sp>
    </p:spTree>
    <p:extLst>
      <p:ext uri="{BB962C8B-B14F-4D97-AF65-F5344CB8AC3E}">
        <p14:creationId xmlns:p14="http://schemas.microsoft.com/office/powerpoint/2010/main" val="78953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2FBBA-DAA9-42E4-B571-D098A6A105DA}"/>
              </a:ext>
            </a:extLst>
          </p:cNvPr>
          <p:cNvSpPr>
            <a:spLocks noGrp="1"/>
          </p:cNvSpPr>
          <p:nvPr>
            <p:ph type="title"/>
          </p:nvPr>
        </p:nvSpPr>
        <p:spPr>
          <a:xfrm>
            <a:off x="628650" y="441326"/>
            <a:ext cx="7886700" cy="549274"/>
          </a:xfrm>
        </p:spPr>
        <p:txBody>
          <a:bodyPr>
            <a:normAutofit/>
          </a:bodyPr>
          <a:lstStyle/>
          <a:p>
            <a:pPr algn="just"/>
            <a:r>
              <a:rPr lang="en-GB" sz="2400" b="1" dirty="0">
                <a:solidFill>
                  <a:srgbClr val="C00000"/>
                </a:solidFill>
              </a:rPr>
              <a:t>Residual Analysis</a:t>
            </a:r>
            <a:endParaRPr lang="en-IN" sz="2400" dirty="0">
              <a:solidFill>
                <a:srgbClr val="C00000"/>
              </a:solidFill>
            </a:endParaRPr>
          </a:p>
        </p:txBody>
      </p:sp>
      <p:sp>
        <p:nvSpPr>
          <p:cNvPr id="3" name="Content Placeholder 2">
            <a:extLst>
              <a:ext uri="{FF2B5EF4-FFF2-40B4-BE49-F238E27FC236}">
                <a16:creationId xmlns:a16="http://schemas.microsoft.com/office/drawing/2014/main" id="{8E7711B4-95CD-41E6-895D-69543C2F218D}"/>
              </a:ext>
            </a:extLst>
          </p:cNvPr>
          <p:cNvSpPr>
            <a:spLocks noGrp="1"/>
          </p:cNvSpPr>
          <p:nvPr>
            <p:ph idx="1"/>
          </p:nvPr>
        </p:nvSpPr>
        <p:spPr>
          <a:xfrm>
            <a:off x="457200" y="1253331"/>
            <a:ext cx="8305800" cy="3013869"/>
          </a:xfrm>
        </p:spPr>
        <p:txBody>
          <a:bodyPr>
            <a:normAutofit/>
          </a:bodyPr>
          <a:lstStyle/>
          <a:p>
            <a:pPr marL="0" indent="0" algn="just">
              <a:buNone/>
            </a:pPr>
            <a:r>
              <a:rPr lang="en-GB" sz="2400" dirty="0"/>
              <a:t>Residual (error) analysis is important to check whether the assumptions of regression models have been satisfied.</a:t>
            </a:r>
            <a:r>
              <a:rPr lang="en-GB" sz="2400" b="1" dirty="0"/>
              <a:t> </a:t>
            </a:r>
            <a:r>
              <a:rPr lang="en-GB" sz="2400" dirty="0"/>
              <a:t>It is performed to check the following:</a:t>
            </a:r>
            <a:endParaRPr lang="en-IN" sz="2400" dirty="0"/>
          </a:p>
          <a:p>
            <a:pPr algn="just"/>
            <a:r>
              <a:rPr lang="en-GB" sz="2400" dirty="0"/>
              <a:t>The residuals            are normally distributed.</a:t>
            </a:r>
            <a:endParaRPr lang="en-IN" sz="2400" dirty="0"/>
          </a:p>
          <a:p>
            <a:pPr lvl="0" algn="just"/>
            <a:r>
              <a:rPr lang="en-GB" sz="2400" dirty="0"/>
              <a:t>The variance of residual is constant (homoscedasticity).</a:t>
            </a:r>
            <a:endParaRPr lang="en-IN" sz="2400" dirty="0"/>
          </a:p>
          <a:p>
            <a:pPr lvl="0" algn="just"/>
            <a:r>
              <a:rPr lang="en-GB" sz="2400" dirty="0"/>
              <a:t>The functional form of regression is correctly specified.</a:t>
            </a:r>
            <a:endParaRPr lang="en-IN" sz="2400" dirty="0"/>
          </a:p>
          <a:p>
            <a:pPr algn="just"/>
            <a:r>
              <a:rPr lang="en-GB" sz="2400" dirty="0"/>
              <a:t>If there are any outliers </a:t>
            </a:r>
            <a:endParaRPr lang="en-IN" sz="2400" dirty="0"/>
          </a:p>
        </p:txBody>
      </p:sp>
      <p:sp>
        <p:nvSpPr>
          <p:cNvPr id="4" name="Rectangle 2">
            <a:extLst>
              <a:ext uri="{FF2B5EF4-FFF2-40B4-BE49-F238E27FC236}">
                <a16:creationId xmlns:a16="http://schemas.microsoft.com/office/drawing/2014/main" id="{9D4CB9B7-F0AC-44A6-B676-18A7A9F51F18}"/>
              </a:ext>
            </a:extLst>
          </p:cNvPr>
          <p:cNvSpPr>
            <a:spLocks noChangeArrowheads="1"/>
          </p:cNvSpPr>
          <p:nvPr/>
        </p:nvSpPr>
        <p:spPr bwMode="auto">
          <a:xfrm>
            <a:off x="3486151" y="34844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1C57B7ED-8607-4236-A33C-355B424FCE52}"/>
              </a:ext>
            </a:extLst>
          </p:cNvPr>
          <p:cNvGraphicFramePr>
            <a:graphicFrameLocks noChangeAspect="1"/>
          </p:cNvGraphicFramePr>
          <p:nvPr>
            <p:extLst>
              <p:ext uri="{D42A27DB-BD31-4B8C-83A1-F6EECF244321}">
                <p14:modId xmlns:p14="http://schemas.microsoft.com/office/powerpoint/2010/main" val="4007892792"/>
              </p:ext>
            </p:extLst>
          </p:nvPr>
        </p:nvGraphicFramePr>
        <p:xfrm>
          <a:off x="2547485" y="2362200"/>
          <a:ext cx="881515" cy="346248"/>
        </p:xfrm>
        <a:graphic>
          <a:graphicData uri="http://schemas.openxmlformats.org/presentationml/2006/ole">
            <mc:AlternateContent xmlns:mc="http://schemas.openxmlformats.org/markup-compatibility/2006">
              <mc:Choice xmlns:v="urn:schemas-microsoft-com:vml" Requires="v">
                <p:oleObj name="Equation" r:id="rId2" imgW="520474" imgH="355446" progId="Equation.3">
                  <p:embed/>
                </p:oleObj>
              </mc:Choice>
              <mc:Fallback>
                <p:oleObj name="Equation" r:id="rId2" imgW="520474" imgH="355446"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7485" y="2362200"/>
                        <a:ext cx="881515" cy="346248"/>
                      </a:xfrm>
                      <a:prstGeom prst="rect">
                        <a:avLst/>
                      </a:prstGeom>
                      <a:noFill/>
                    </p:spPr>
                  </p:pic>
                </p:oleObj>
              </mc:Fallback>
            </mc:AlternateContent>
          </a:graphicData>
        </a:graphic>
      </p:graphicFrame>
    </p:spTree>
    <p:extLst>
      <p:ext uri="{BB962C8B-B14F-4D97-AF65-F5344CB8AC3E}">
        <p14:creationId xmlns:p14="http://schemas.microsoft.com/office/powerpoint/2010/main" val="135563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26DF6-1E6A-4ACB-98E3-57F9826A1F21}"/>
              </a:ext>
            </a:extLst>
          </p:cNvPr>
          <p:cNvSpPr>
            <a:spLocks noGrp="1"/>
          </p:cNvSpPr>
          <p:nvPr>
            <p:ph type="title"/>
          </p:nvPr>
        </p:nvSpPr>
        <p:spPr>
          <a:xfrm>
            <a:off x="628650" y="365127"/>
            <a:ext cx="7886700" cy="701674"/>
          </a:xfrm>
        </p:spPr>
        <p:txBody>
          <a:bodyPr>
            <a:noAutofit/>
          </a:bodyPr>
          <a:lstStyle/>
          <a:p>
            <a:pPr algn="ctr"/>
            <a:r>
              <a:rPr lang="en-GB" sz="2600" b="1" dirty="0">
                <a:solidFill>
                  <a:srgbClr val="C00000"/>
                </a:solidFill>
              </a:rPr>
              <a:t>Checking for Normal Distribution of Residuals </a:t>
            </a:r>
            <a:endParaRPr lang="en-IN" sz="2600" b="1" dirty="0">
              <a:solidFill>
                <a:srgbClr val="C00000"/>
              </a:solidFill>
            </a:endParaRPr>
          </a:p>
        </p:txBody>
      </p:sp>
      <p:sp>
        <p:nvSpPr>
          <p:cNvPr id="3" name="Content Placeholder 2">
            <a:extLst>
              <a:ext uri="{FF2B5EF4-FFF2-40B4-BE49-F238E27FC236}">
                <a16:creationId xmlns:a16="http://schemas.microsoft.com/office/drawing/2014/main" id="{5772A16C-6C09-4ABC-8898-E2E2C734AB17}"/>
              </a:ext>
            </a:extLst>
          </p:cNvPr>
          <p:cNvSpPr>
            <a:spLocks noGrp="1"/>
          </p:cNvSpPr>
          <p:nvPr>
            <p:ph idx="1"/>
          </p:nvPr>
        </p:nvSpPr>
        <p:spPr>
          <a:xfrm>
            <a:off x="381000" y="1227616"/>
            <a:ext cx="8534400" cy="1972784"/>
          </a:xfrm>
        </p:spPr>
        <p:txBody>
          <a:bodyPr>
            <a:normAutofit/>
          </a:bodyPr>
          <a:lstStyle/>
          <a:p>
            <a:pPr algn="just"/>
            <a:r>
              <a:rPr lang="en-GB" sz="2400" dirty="0"/>
              <a:t>The easiest technique to check whether the residuals follow normal distribution is to use the P-P plot (Probability-Probability plot). </a:t>
            </a:r>
          </a:p>
          <a:p>
            <a:pPr algn="just"/>
            <a:r>
              <a:rPr lang="en-GB" sz="2400" dirty="0"/>
              <a:t>The P-P plot compares the cumulative distribution function of two probability distributions against each other</a:t>
            </a:r>
            <a:endParaRPr lang="en-IN" sz="2400" dirty="0"/>
          </a:p>
        </p:txBody>
      </p:sp>
      <p:sp>
        <p:nvSpPr>
          <p:cNvPr id="6" name="Rectangle 4">
            <a:extLst>
              <a:ext uri="{FF2B5EF4-FFF2-40B4-BE49-F238E27FC236}">
                <a16:creationId xmlns:a16="http://schemas.microsoft.com/office/drawing/2014/main" id="{B0B092DC-1AA7-4A1F-887A-E253FD854C64}"/>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BEE1A626-810F-4F1D-90F8-975D6B4CB4FE}"/>
              </a:ext>
            </a:extLst>
          </p:cNvPr>
          <p:cNvGraphicFramePr>
            <a:graphicFrameLocks noChangeAspect="1"/>
          </p:cNvGraphicFramePr>
          <p:nvPr/>
        </p:nvGraphicFramePr>
        <p:xfrm>
          <a:off x="5562600" y="652110"/>
          <a:ext cx="1066800" cy="346249"/>
        </p:xfrm>
        <a:graphic>
          <a:graphicData uri="http://schemas.openxmlformats.org/presentationml/2006/ole">
            <mc:AlternateContent xmlns:mc="http://schemas.openxmlformats.org/markup-compatibility/2006">
              <mc:Choice xmlns:v="urn:schemas-microsoft-com:vml" Requires="v">
                <p:oleObj name="Equation" r:id="rId2" imgW="520474" imgH="355446" progId="Equation.3">
                  <p:embed/>
                </p:oleObj>
              </mc:Choice>
              <mc:Fallback>
                <p:oleObj name="Equation" r:id="rId2" imgW="520474" imgH="355446" progId="Equation.3">
                  <p:embed/>
                  <p:pic>
                    <p:nvPicPr>
                      <p:cNvPr id="7" name="Object 6">
                        <a:extLst>
                          <a:ext uri="{FF2B5EF4-FFF2-40B4-BE49-F238E27FC236}">
                            <a16:creationId xmlns:a16="http://schemas.microsoft.com/office/drawing/2014/main" id="{BEE1A626-810F-4F1D-90F8-975D6B4CB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652110"/>
                        <a:ext cx="1066800" cy="346249"/>
                      </a:xfrm>
                      <a:prstGeom prst="rect">
                        <a:avLst/>
                      </a:prstGeom>
                      <a:noFill/>
                    </p:spPr>
                  </p:pic>
                </p:oleObj>
              </mc:Fallback>
            </mc:AlternateContent>
          </a:graphicData>
        </a:graphic>
      </p:graphicFrame>
      <p:pic>
        <p:nvPicPr>
          <p:cNvPr id="8" name="Content Placeholder 3">
            <a:extLst>
              <a:ext uri="{FF2B5EF4-FFF2-40B4-BE49-F238E27FC236}">
                <a16:creationId xmlns:a16="http://schemas.microsoft.com/office/drawing/2014/main" id="{D74CCAA2-4253-4E25-AC2E-420B9B45BDAF}"/>
              </a:ext>
            </a:extLst>
          </p:cNvPr>
          <p:cNvPicPr>
            <a:picLocks/>
          </p:cNvPicPr>
          <p:nvPr/>
        </p:nvPicPr>
        <p:blipFill>
          <a:blip r:embed="rId4">
            <a:duotone>
              <a:prstClr val="black"/>
              <a:schemeClr val="accent1">
                <a:tint val="45000"/>
                <a:satMod val="400000"/>
              </a:schemeClr>
            </a:duotone>
          </a:blip>
          <a:stretch>
            <a:fillRect/>
          </a:stretch>
        </p:blipFill>
        <p:spPr>
          <a:xfrm>
            <a:off x="241988" y="3219451"/>
            <a:ext cx="4190999" cy="31051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AE2F028E-B58A-4358-89DC-3E6C0413FAA7}"/>
              </a:ext>
            </a:extLst>
          </p:cNvPr>
          <p:cNvPicPr/>
          <p:nvPr/>
        </p:nvPicPr>
        <p:blipFill>
          <a:blip r:embed="rId5">
            <a:duotone>
              <a:prstClr val="black"/>
              <a:schemeClr val="accent1">
                <a:tint val="45000"/>
                <a:satMod val="400000"/>
              </a:schemeClr>
            </a:duotone>
          </a:blip>
          <a:stretch>
            <a:fillRect/>
          </a:stretch>
        </p:blipFill>
        <p:spPr>
          <a:xfrm>
            <a:off x="4715025" y="3222674"/>
            <a:ext cx="4035777" cy="31051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63919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8327A1-5630-5478-FC49-2E94E9CE8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07033-1C40-82CD-2095-8801EDDDA250}"/>
              </a:ext>
            </a:extLst>
          </p:cNvPr>
          <p:cNvSpPr>
            <a:spLocks noGrp="1"/>
          </p:cNvSpPr>
          <p:nvPr>
            <p:ph type="title"/>
          </p:nvPr>
        </p:nvSpPr>
        <p:spPr>
          <a:xfrm>
            <a:off x="628650" y="365127"/>
            <a:ext cx="7886700" cy="701674"/>
          </a:xfrm>
        </p:spPr>
        <p:txBody>
          <a:bodyPr>
            <a:noAutofit/>
          </a:bodyPr>
          <a:lstStyle/>
          <a:p>
            <a:pPr algn="ctr"/>
            <a:r>
              <a:rPr lang="en-GB" sz="2600" b="1" dirty="0">
                <a:solidFill>
                  <a:srgbClr val="C00000"/>
                </a:solidFill>
              </a:rPr>
              <a:t>Checking for Normal Distribution of Residuals </a:t>
            </a:r>
            <a:endParaRPr lang="en-IN" sz="2600" b="1" dirty="0">
              <a:solidFill>
                <a:srgbClr val="C00000"/>
              </a:solidFill>
            </a:endParaRPr>
          </a:p>
        </p:txBody>
      </p:sp>
      <p:sp>
        <p:nvSpPr>
          <p:cNvPr id="3" name="Content Placeholder 2">
            <a:extLst>
              <a:ext uri="{FF2B5EF4-FFF2-40B4-BE49-F238E27FC236}">
                <a16:creationId xmlns:a16="http://schemas.microsoft.com/office/drawing/2014/main" id="{A55CD5A3-8F27-A24F-CABD-844830485A14}"/>
              </a:ext>
            </a:extLst>
          </p:cNvPr>
          <p:cNvSpPr>
            <a:spLocks noGrp="1"/>
          </p:cNvSpPr>
          <p:nvPr>
            <p:ph idx="1"/>
          </p:nvPr>
        </p:nvSpPr>
        <p:spPr>
          <a:xfrm>
            <a:off x="381000" y="1227616"/>
            <a:ext cx="8534400" cy="5096984"/>
          </a:xfrm>
        </p:spPr>
        <p:txBody>
          <a:bodyPr>
            <a:normAutofit/>
          </a:bodyPr>
          <a:lstStyle/>
          <a:p>
            <a:pPr algn="just"/>
            <a:r>
              <a:rPr lang="en-GB" sz="2400" dirty="0"/>
              <a:t>Statistical Tests to check for the Normal Distribution of Residuals- Shapiro-Wilk’s test.</a:t>
            </a:r>
          </a:p>
          <a:p>
            <a:pPr algn="just"/>
            <a:endParaRPr lang="en-GB" sz="2400" dirty="0"/>
          </a:p>
          <a:p>
            <a:pPr algn="just"/>
            <a:r>
              <a:rPr lang="en-GB" sz="2400" dirty="0"/>
              <a:t>H0: Data comes from normal distribution</a:t>
            </a:r>
          </a:p>
          <a:p>
            <a:pPr marL="0" indent="0" algn="just">
              <a:buNone/>
            </a:pPr>
            <a:r>
              <a:rPr lang="en-GB" sz="2400" dirty="0"/>
              <a:t>   H1: Data does not follow normal distribution</a:t>
            </a:r>
          </a:p>
          <a:p>
            <a:pPr marL="0" indent="0" algn="just">
              <a:buNone/>
            </a:pPr>
            <a:endParaRPr lang="en-GB" sz="2400" dirty="0"/>
          </a:p>
          <a:p>
            <a:pPr algn="just"/>
            <a:r>
              <a:rPr lang="en-GB" sz="2400" dirty="0"/>
              <a:t>As the first step, the given data is ordered (ascending) and standardized.</a:t>
            </a:r>
          </a:p>
          <a:p>
            <a:pPr algn="just"/>
            <a:endParaRPr lang="en-GB" sz="2400" dirty="0"/>
          </a:p>
          <a:p>
            <a:pPr algn="just"/>
            <a:r>
              <a:rPr lang="en-GB" sz="2400" dirty="0"/>
              <a:t>The ordered and standardized data is matched with the quantiles of standard normal distribution.</a:t>
            </a:r>
            <a:endParaRPr lang="en-IN" sz="2400" dirty="0"/>
          </a:p>
        </p:txBody>
      </p:sp>
      <p:sp>
        <p:nvSpPr>
          <p:cNvPr id="6" name="Rectangle 4">
            <a:extLst>
              <a:ext uri="{FF2B5EF4-FFF2-40B4-BE49-F238E27FC236}">
                <a16:creationId xmlns:a16="http://schemas.microsoft.com/office/drawing/2014/main" id="{C26C50CE-1A6B-E89F-3328-F07402D9DDE9}"/>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CB0D7CF7-28C5-0309-F124-DBA941AD8E1B}"/>
              </a:ext>
            </a:extLst>
          </p:cNvPr>
          <p:cNvGraphicFramePr>
            <a:graphicFrameLocks noChangeAspect="1"/>
          </p:cNvGraphicFramePr>
          <p:nvPr/>
        </p:nvGraphicFramePr>
        <p:xfrm>
          <a:off x="5562600" y="652110"/>
          <a:ext cx="1066800" cy="346249"/>
        </p:xfrm>
        <a:graphic>
          <a:graphicData uri="http://schemas.openxmlformats.org/presentationml/2006/ole">
            <mc:AlternateContent xmlns:mc="http://schemas.openxmlformats.org/markup-compatibility/2006">
              <mc:Choice xmlns:v="urn:schemas-microsoft-com:vml" Requires="v">
                <p:oleObj name="Equation" r:id="rId2" imgW="520474" imgH="355446" progId="Equation.3">
                  <p:embed/>
                </p:oleObj>
              </mc:Choice>
              <mc:Fallback>
                <p:oleObj name="Equation" r:id="rId2" imgW="520474" imgH="355446" progId="Equation.3">
                  <p:embed/>
                  <p:pic>
                    <p:nvPicPr>
                      <p:cNvPr id="7" name="Object 6">
                        <a:extLst>
                          <a:ext uri="{FF2B5EF4-FFF2-40B4-BE49-F238E27FC236}">
                            <a16:creationId xmlns:a16="http://schemas.microsoft.com/office/drawing/2014/main" id="{BEE1A626-810F-4F1D-90F8-975D6B4CB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652110"/>
                        <a:ext cx="1066800" cy="346249"/>
                      </a:xfrm>
                      <a:prstGeom prst="rect">
                        <a:avLst/>
                      </a:prstGeom>
                      <a:noFill/>
                    </p:spPr>
                  </p:pic>
                </p:oleObj>
              </mc:Fallback>
            </mc:AlternateContent>
          </a:graphicData>
        </a:graphic>
      </p:graphicFrame>
    </p:spTree>
    <p:extLst>
      <p:ext uri="{BB962C8B-B14F-4D97-AF65-F5344CB8AC3E}">
        <p14:creationId xmlns:p14="http://schemas.microsoft.com/office/powerpoint/2010/main" val="2733679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1000"/>
                                        <p:tgtEl>
                                          <p:spTgt spid="3">
                                            <p:txEl>
                                              <p:pRg st="7" end="7"/>
                                            </p:txEl>
                                          </p:spTgt>
                                        </p:tgtEl>
                                      </p:cBhvr>
                                    </p:animEffect>
                                    <p:anim calcmode="lin" valueType="num">
                                      <p:cBhvr>
                                        <p:cTn id="4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1B2CC26-A50E-1B98-0E31-3CF7382B7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C71D8-33A7-6E95-A850-455EAD263080}"/>
              </a:ext>
            </a:extLst>
          </p:cNvPr>
          <p:cNvSpPr>
            <a:spLocks noGrp="1"/>
          </p:cNvSpPr>
          <p:nvPr>
            <p:ph type="title"/>
          </p:nvPr>
        </p:nvSpPr>
        <p:spPr>
          <a:xfrm>
            <a:off x="628650" y="365127"/>
            <a:ext cx="7886700" cy="701674"/>
          </a:xfrm>
        </p:spPr>
        <p:txBody>
          <a:bodyPr>
            <a:noAutofit/>
          </a:bodyPr>
          <a:lstStyle/>
          <a:p>
            <a:pPr algn="ctr"/>
            <a:r>
              <a:rPr lang="en-GB" sz="2600" b="1" dirty="0">
                <a:solidFill>
                  <a:srgbClr val="C00000"/>
                </a:solidFill>
              </a:rPr>
              <a:t>Checking for Normal Distribution of Residuals </a:t>
            </a:r>
            <a:endParaRPr lang="en-IN" sz="2600" b="1" dirty="0">
              <a:solidFill>
                <a:srgbClr val="C00000"/>
              </a:solidFill>
            </a:endParaRPr>
          </a:p>
        </p:txBody>
      </p:sp>
      <p:sp>
        <p:nvSpPr>
          <p:cNvPr id="3" name="Content Placeholder 2">
            <a:extLst>
              <a:ext uri="{FF2B5EF4-FFF2-40B4-BE49-F238E27FC236}">
                <a16:creationId xmlns:a16="http://schemas.microsoft.com/office/drawing/2014/main" id="{96615851-F6C9-8BB9-670C-29CC3EF10D6A}"/>
              </a:ext>
            </a:extLst>
          </p:cNvPr>
          <p:cNvSpPr>
            <a:spLocks noGrp="1"/>
          </p:cNvSpPr>
          <p:nvPr>
            <p:ph idx="1"/>
          </p:nvPr>
        </p:nvSpPr>
        <p:spPr>
          <a:xfrm>
            <a:off x="381000" y="1227616"/>
            <a:ext cx="8534400" cy="5096984"/>
          </a:xfrm>
        </p:spPr>
        <p:txBody>
          <a:bodyPr>
            <a:normAutofit/>
          </a:bodyPr>
          <a:lstStyle/>
          <a:p>
            <a:pPr algn="just"/>
            <a:r>
              <a:rPr lang="en-GB" sz="2400" dirty="0"/>
              <a:t>The Shapiro-Wilks (W) test statistic is calculated.</a:t>
            </a:r>
          </a:p>
          <a:p>
            <a:pPr algn="just"/>
            <a:endParaRPr lang="en-GB" sz="2400" dirty="0"/>
          </a:p>
          <a:p>
            <a:pPr algn="just"/>
            <a:r>
              <a:rPr lang="en-GB" sz="2400" dirty="0"/>
              <a:t>W takes values between 0 &amp;1.</a:t>
            </a:r>
          </a:p>
          <a:p>
            <a:pPr algn="just"/>
            <a:endParaRPr lang="en-GB" sz="2400" dirty="0"/>
          </a:p>
          <a:p>
            <a:pPr algn="just"/>
            <a:r>
              <a:rPr lang="en-GB" sz="2400" dirty="0"/>
              <a:t>W=1 indicates perfect fit.</a:t>
            </a:r>
          </a:p>
          <a:p>
            <a:pPr algn="just"/>
            <a:endParaRPr lang="en-GB" sz="2400" dirty="0"/>
          </a:p>
          <a:p>
            <a:pPr algn="just"/>
            <a:r>
              <a:rPr lang="en-GB" sz="2400" dirty="0"/>
              <a:t>We use p-value associated with the test to draw conclusions.</a:t>
            </a:r>
          </a:p>
          <a:p>
            <a:pPr algn="just"/>
            <a:endParaRPr lang="en-GB" sz="2400" dirty="0"/>
          </a:p>
          <a:p>
            <a:pPr algn="just"/>
            <a:r>
              <a:rPr lang="en-GB" sz="2400" dirty="0"/>
              <a:t>If p-value &gt;= alpha (0.05) then Do Not Reject H0 i.e. data is normally distributed.</a:t>
            </a:r>
            <a:endParaRPr lang="en-IN" sz="2400" dirty="0"/>
          </a:p>
        </p:txBody>
      </p:sp>
      <p:sp>
        <p:nvSpPr>
          <p:cNvPr id="6" name="Rectangle 4">
            <a:extLst>
              <a:ext uri="{FF2B5EF4-FFF2-40B4-BE49-F238E27FC236}">
                <a16:creationId xmlns:a16="http://schemas.microsoft.com/office/drawing/2014/main" id="{BDD2184C-808D-D4E3-36AC-ACC003F232AB}"/>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E472EBD1-E191-BBE7-2C3C-D90A6AE5E719}"/>
              </a:ext>
            </a:extLst>
          </p:cNvPr>
          <p:cNvGraphicFramePr>
            <a:graphicFrameLocks noChangeAspect="1"/>
          </p:cNvGraphicFramePr>
          <p:nvPr/>
        </p:nvGraphicFramePr>
        <p:xfrm>
          <a:off x="5562600" y="652110"/>
          <a:ext cx="1066800" cy="346249"/>
        </p:xfrm>
        <a:graphic>
          <a:graphicData uri="http://schemas.openxmlformats.org/presentationml/2006/ole">
            <mc:AlternateContent xmlns:mc="http://schemas.openxmlformats.org/markup-compatibility/2006">
              <mc:Choice xmlns:v="urn:schemas-microsoft-com:vml" Requires="v">
                <p:oleObj name="Equation" r:id="rId2" imgW="520474" imgH="355446" progId="Equation.3">
                  <p:embed/>
                </p:oleObj>
              </mc:Choice>
              <mc:Fallback>
                <p:oleObj name="Equation" r:id="rId2" imgW="520474" imgH="355446" progId="Equation.3">
                  <p:embed/>
                  <p:pic>
                    <p:nvPicPr>
                      <p:cNvPr id="7" name="Object 6">
                        <a:extLst>
                          <a:ext uri="{FF2B5EF4-FFF2-40B4-BE49-F238E27FC236}">
                            <a16:creationId xmlns:a16="http://schemas.microsoft.com/office/drawing/2014/main" id="{CB0D7CF7-28C5-0309-F124-DBA941AD8E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652110"/>
                        <a:ext cx="1066800" cy="346249"/>
                      </a:xfrm>
                      <a:prstGeom prst="rect">
                        <a:avLst/>
                      </a:prstGeom>
                      <a:noFill/>
                    </p:spPr>
                  </p:pic>
                </p:oleObj>
              </mc:Fallback>
            </mc:AlternateContent>
          </a:graphicData>
        </a:graphic>
      </p:graphicFrame>
    </p:spTree>
    <p:extLst>
      <p:ext uri="{BB962C8B-B14F-4D97-AF65-F5344CB8AC3E}">
        <p14:creationId xmlns:p14="http://schemas.microsoft.com/office/powerpoint/2010/main" val="63496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1000"/>
                                        <p:tgtEl>
                                          <p:spTgt spid="3">
                                            <p:txEl>
                                              <p:pRg st="6" end="6"/>
                                            </p:txEl>
                                          </p:spTgt>
                                        </p:tgtEl>
                                      </p:cBhvr>
                                    </p:animEffect>
                                    <p:anim calcmode="lin" valueType="num">
                                      <p:cBhvr>
                                        <p:cTn id="3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1000"/>
                                        <p:tgtEl>
                                          <p:spTgt spid="3">
                                            <p:txEl>
                                              <p:pRg st="8" end="8"/>
                                            </p:txEl>
                                          </p:spTgt>
                                        </p:tgtEl>
                                      </p:cBhvr>
                                    </p:animEffect>
                                    <p:anim calcmode="lin" valueType="num">
                                      <p:cBhvr>
                                        <p:cTn id="4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5C0642-12A3-5862-5133-B423FA287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13929-7515-6618-AE16-3544D4725DDF}"/>
              </a:ext>
            </a:extLst>
          </p:cNvPr>
          <p:cNvSpPr>
            <a:spLocks noGrp="1"/>
          </p:cNvSpPr>
          <p:nvPr>
            <p:ph type="title"/>
          </p:nvPr>
        </p:nvSpPr>
        <p:spPr>
          <a:xfrm>
            <a:off x="628650" y="365127"/>
            <a:ext cx="7886700" cy="701674"/>
          </a:xfrm>
        </p:spPr>
        <p:txBody>
          <a:bodyPr>
            <a:noAutofit/>
          </a:bodyPr>
          <a:lstStyle/>
          <a:p>
            <a:pPr algn="ctr"/>
            <a:r>
              <a:rPr lang="en-GB" sz="2600" b="1" dirty="0">
                <a:solidFill>
                  <a:srgbClr val="C00000"/>
                </a:solidFill>
              </a:rPr>
              <a:t>Checking for Normal Distribution of Residuals </a:t>
            </a:r>
            <a:endParaRPr lang="en-IN" sz="2600" b="1" dirty="0">
              <a:solidFill>
                <a:srgbClr val="C00000"/>
              </a:solidFill>
            </a:endParaRPr>
          </a:p>
        </p:txBody>
      </p:sp>
      <p:sp>
        <p:nvSpPr>
          <p:cNvPr id="3" name="Content Placeholder 2">
            <a:extLst>
              <a:ext uri="{FF2B5EF4-FFF2-40B4-BE49-F238E27FC236}">
                <a16:creationId xmlns:a16="http://schemas.microsoft.com/office/drawing/2014/main" id="{2299255C-E209-2209-B300-A131B9221CFF}"/>
              </a:ext>
            </a:extLst>
          </p:cNvPr>
          <p:cNvSpPr>
            <a:spLocks noGrp="1"/>
          </p:cNvSpPr>
          <p:nvPr>
            <p:ph idx="1"/>
          </p:nvPr>
        </p:nvSpPr>
        <p:spPr>
          <a:xfrm>
            <a:off x="381000" y="1066800"/>
            <a:ext cx="8534400" cy="5096984"/>
          </a:xfrm>
        </p:spPr>
        <p:txBody>
          <a:bodyPr>
            <a:normAutofit/>
          </a:bodyPr>
          <a:lstStyle/>
          <a:p>
            <a:pPr algn="just"/>
            <a:r>
              <a:rPr lang="en-GB" sz="2400" dirty="0"/>
              <a:t>Statistical Tests to check for the Normal Distribution of Residuals- Kolmogorov-Smirnov (K-S) test.</a:t>
            </a:r>
          </a:p>
          <a:p>
            <a:pPr algn="just"/>
            <a:endParaRPr lang="en-GB" sz="2400" dirty="0"/>
          </a:p>
          <a:p>
            <a:pPr algn="just"/>
            <a:r>
              <a:rPr lang="en-GB" sz="2400" dirty="0"/>
              <a:t>H0: Data comes from reference distribution</a:t>
            </a:r>
          </a:p>
          <a:p>
            <a:pPr marL="0" indent="0" algn="just">
              <a:buNone/>
            </a:pPr>
            <a:r>
              <a:rPr lang="en-GB" sz="2400" dirty="0"/>
              <a:t>   H1: Data does not come from reference distribution</a:t>
            </a:r>
          </a:p>
          <a:p>
            <a:pPr marL="0" indent="0" algn="just">
              <a:buNone/>
            </a:pPr>
            <a:endParaRPr lang="en-GB" sz="2400" dirty="0"/>
          </a:p>
        </p:txBody>
      </p:sp>
      <p:sp>
        <p:nvSpPr>
          <p:cNvPr id="6" name="Rectangle 4">
            <a:extLst>
              <a:ext uri="{FF2B5EF4-FFF2-40B4-BE49-F238E27FC236}">
                <a16:creationId xmlns:a16="http://schemas.microsoft.com/office/drawing/2014/main" id="{6435E60C-6ECF-5BD3-AC7C-20AC434DAA7F}"/>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98266281-1D40-69CA-1419-39D95B63687C}"/>
              </a:ext>
            </a:extLst>
          </p:cNvPr>
          <p:cNvGraphicFramePr>
            <a:graphicFrameLocks noChangeAspect="1"/>
          </p:cNvGraphicFramePr>
          <p:nvPr/>
        </p:nvGraphicFramePr>
        <p:xfrm>
          <a:off x="5562600" y="652110"/>
          <a:ext cx="1066800" cy="346249"/>
        </p:xfrm>
        <a:graphic>
          <a:graphicData uri="http://schemas.openxmlformats.org/presentationml/2006/ole">
            <mc:AlternateContent xmlns:mc="http://schemas.openxmlformats.org/markup-compatibility/2006">
              <mc:Choice xmlns:v="urn:schemas-microsoft-com:vml" Requires="v">
                <p:oleObj name="Equation" r:id="rId2" imgW="520474" imgH="355446" progId="Equation.3">
                  <p:embed/>
                </p:oleObj>
              </mc:Choice>
              <mc:Fallback>
                <p:oleObj name="Equation" r:id="rId2" imgW="520474" imgH="355446" progId="Equation.3">
                  <p:embed/>
                  <p:pic>
                    <p:nvPicPr>
                      <p:cNvPr id="7" name="Object 6">
                        <a:extLst>
                          <a:ext uri="{FF2B5EF4-FFF2-40B4-BE49-F238E27FC236}">
                            <a16:creationId xmlns:a16="http://schemas.microsoft.com/office/drawing/2014/main" id="{CB0D7CF7-28C5-0309-F124-DBA941AD8E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652110"/>
                        <a:ext cx="1066800" cy="346249"/>
                      </a:xfrm>
                      <a:prstGeom prst="rect">
                        <a:avLst/>
                      </a:prstGeom>
                      <a:noFill/>
                    </p:spPr>
                  </p:pic>
                </p:oleObj>
              </mc:Fallback>
            </mc:AlternateContent>
          </a:graphicData>
        </a:graphic>
      </p:graphicFrame>
      <p:pic>
        <p:nvPicPr>
          <p:cNvPr id="1026" name="Picture 2">
            <a:extLst>
              <a:ext uri="{FF2B5EF4-FFF2-40B4-BE49-F238E27FC236}">
                <a16:creationId xmlns:a16="http://schemas.microsoft.com/office/drawing/2014/main" id="{C9C760B1-D208-3EE8-F152-5C93F28425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3429000"/>
            <a:ext cx="4648200" cy="2734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05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55D79F6-B441-1AB0-4D54-4BF80A72C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27ED2-B719-7698-7939-B0043340BFD4}"/>
              </a:ext>
            </a:extLst>
          </p:cNvPr>
          <p:cNvSpPr>
            <a:spLocks noGrp="1"/>
          </p:cNvSpPr>
          <p:nvPr>
            <p:ph type="title"/>
          </p:nvPr>
        </p:nvSpPr>
        <p:spPr>
          <a:xfrm>
            <a:off x="628650" y="365127"/>
            <a:ext cx="7886700" cy="701674"/>
          </a:xfrm>
        </p:spPr>
        <p:txBody>
          <a:bodyPr>
            <a:noAutofit/>
          </a:bodyPr>
          <a:lstStyle/>
          <a:p>
            <a:pPr algn="ctr"/>
            <a:r>
              <a:rPr lang="en-GB" sz="2600" b="1" dirty="0">
                <a:solidFill>
                  <a:srgbClr val="C00000"/>
                </a:solidFill>
              </a:rPr>
              <a:t>Checking for Normal Distribution of Residuals </a:t>
            </a:r>
            <a:endParaRPr lang="en-IN" sz="2600" b="1" dirty="0">
              <a:solidFill>
                <a:srgbClr val="C00000"/>
              </a:solidFill>
            </a:endParaRPr>
          </a:p>
        </p:txBody>
      </p:sp>
      <p:sp>
        <p:nvSpPr>
          <p:cNvPr id="3" name="Content Placeholder 2">
            <a:extLst>
              <a:ext uri="{FF2B5EF4-FFF2-40B4-BE49-F238E27FC236}">
                <a16:creationId xmlns:a16="http://schemas.microsoft.com/office/drawing/2014/main" id="{4AC870D7-8D5A-12B3-F50E-DC693D49B508}"/>
              </a:ext>
            </a:extLst>
          </p:cNvPr>
          <p:cNvSpPr>
            <a:spLocks noGrp="1"/>
          </p:cNvSpPr>
          <p:nvPr>
            <p:ph idx="1"/>
          </p:nvPr>
        </p:nvSpPr>
        <p:spPr>
          <a:xfrm>
            <a:off x="381000" y="1066800"/>
            <a:ext cx="8534400" cy="5096984"/>
          </a:xfrm>
        </p:spPr>
        <p:txBody>
          <a:bodyPr>
            <a:normAutofit/>
          </a:bodyPr>
          <a:lstStyle/>
          <a:p>
            <a:pPr algn="just"/>
            <a:r>
              <a:rPr lang="en-GB" sz="2400" dirty="0"/>
              <a:t>We use p-value associated with the test to draw conclusions.</a:t>
            </a:r>
          </a:p>
          <a:p>
            <a:pPr algn="just"/>
            <a:endParaRPr lang="en-GB" sz="2400" dirty="0"/>
          </a:p>
          <a:p>
            <a:pPr algn="just"/>
            <a:r>
              <a:rPr lang="en-GB" sz="2400" dirty="0"/>
              <a:t>If p-value &gt;= alpha (0.05) then Do Not Reject H0 i.e. data comes from reference distribution (data is normally distributed).</a:t>
            </a:r>
            <a:endParaRPr lang="en-IN" sz="2400" dirty="0"/>
          </a:p>
        </p:txBody>
      </p:sp>
      <p:sp>
        <p:nvSpPr>
          <p:cNvPr id="6" name="Rectangle 4">
            <a:extLst>
              <a:ext uri="{FF2B5EF4-FFF2-40B4-BE49-F238E27FC236}">
                <a16:creationId xmlns:a16="http://schemas.microsoft.com/office/drawing/2014/main" id="{581EE615-B3F5-4D3E-AD8D-B93B6831229A}"/>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821F2433-2A7B-A5BE-CA34-BE10EEF35013}"/>
              </a:ext>
            </a:extLst>
          </p:cNvPr>
          <p:cNvGraphicFramePr>
            <a:graphicFrameLocks noChangeAspect="1"/>
          </p:cNvGraphicFramePr>
          <p:nvPr/>
        </p:nvGraphicFramePr>
        <p:xfrm>
          <a:off x="5562600" y="652110"/>
          <a:ext cx="1066800" cy="346249"/>
        </p:xfrm>
        <a:graphic>
          <a:graphicData uri="http://schemas.openxmlformats.org/presentationml/2006/ole">
            <mc:AlternateContent xmlns:mc="http://schemas.openxmlformats.org/markup-compatibility/2006">
              <mc:Choice xmlns:v="urn:schemas-microsoft-com:vml" Requires="v">
                <p:oleObj name="Equation" r:id="rId2" imgW="520474" imgH="355446" progId="Equation.3">
                  <p:embed/>
                </p:oleObj>
              </mc:Choice>
              <mc:Fallback>
                <p:oleObj name="Equation" r:id="rId2" imgW="520474" imgH="355446" progId="Equation.3">
                  <p:embed/>
                  <p:pic>
                    <p:nvPicPr>
                      <p:cNvPr id="7" name="Object 6">
                        <a:extLst>
                          <a:ext uri="{FF2B5EF4-FFF2-40B4-BE49-F238E27FC236}">
                            <a16:creationId xmlns:a16="http://schemas.microsoft.com/office/drawing/2014/main" id="{98266281-1D40-69CA-1419-39D95B636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652110"/>
                        <a:ext cx="1066800" cy="346249"/>
                      </a:xfrm>
                      <a:prstGeom prst="rect">
                        <a:avLst/>
                      </a:prstGeom>
                      <a:noFill/>
                    </p:spPr>
                  </p:pic>
                </p:oleObj>
              </mc:Fallback>
            </mc:AlternateContent>
          </a:graphicData>
        </a:graphic>
      </p:graphicFrame>
    </p:spTree>
    <p:extLst>
      <p:ext uri="{BB962C8B-B14F-4D97-AF65-F5344CB8AC3E}">
        <p14:creationId xmlns:p14="http://schemas.microsoft.com/office/powerpoint/2010/main" val="67563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995A93-4DF1-73D4-4A79-8741E479F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AE23B1-03FC-A921-D3E0-CC8ED6242CFA}"/>
              </a:ext>
            </a:extLst>
          </p:cNvPr>
          <p:cNvSpPr>
            <a:spLocks noGrp="1"/>
          </p:cNvSpPr>
          <p:nvPr>
            <p:ph type="title"/>
          </p:nvPr>
        </p:nvSpPr>
        <p:spPr>
          <a:xfrm>
            <a:off x="628650" y="365127"/>
            <a:ext cx="7886700" cy="701674"/>
          </a:xfrm>
        </p:spPr>
        <p:txBody>
          <a:bodyPr>
            <a:noAutofit/>
          </a:bodyPr>
          <a:lstStyle/>
          <a:p>
            <a:pPr algn="ctr"/>
            <a:r>
              <a:rPr lang="en-GB" sz="2600" b="1" dirty="0">
                <a:solidFill>
                  <a:srgbClr val="C00000"/>
                </a:solidFill>
              </a:rPr>
              <a:t>Checking for Normal Distribution of Residuals </a:t>
            </a:r>
            <a:endParaRPr lang="en-IN" sz="2600" b="1" dirty="0">
              <a:solidFill>
                <a:srgbClr val="C00000"/>
              </a:solidFill>
            </a:endParaRPr>
          </a:p>
        </p:txBody>
      </p:sp>
      <p:sp>
        <p:nvSpPr>
          <p:cNvPr id="3" name="Content Placeholder 2">
            <a:extLst>
              <a:ext uri="{FF2B5EF4-FFF2-40B4-BE49-F238E27FC236}">
                <a16:creationId xmlns:a16="http://schemas.microsoft.com/office/drawing/2014/main" id="{79977111-66FA-27E0-56BF-2354924BC6F7}"/>
              </a:ext>
            </a:extLst>
          </p:cNvPr>
          <p:cNvSpPr>
            <a:spLocks noGrp="1"/>
          </p:cNvSpPr>
          <p:nvPr>
            <p:ph idx="1"/>
          </p:nvPr>
        </p:nvSpPr>
        <p:spPr>
          <a:xfrm>
            <a:off x="381000" y="1201824"/>
            <a:ext cx="8534400" cy="4961959"/>
          </a:xfrm>
        </p:spPr>
        <p:txBody>
          <a:bodyPr>
            <a:normAutofit/>
          </a:bodyPr>
          <a:lstStyle/>
          <a:p>
            <a:pPr algn="just"/>
            <a:r>
              <a:rPr lang="en-GB" sz="2400" dirty="0"/>
              <a:t>Unless the residuals follow normal distribution, the t-test (used to validate the linear relationship between Y &amp; X) &amp; the F-test (used for overall model validity) results are not valid.</a:t>
            </a:r>
          </a:p>
          <a:p>
            <a:pPr algn="just"/>
            <a:endParaRPr lang="en-GB" sz="2400" dirty="0"/>
          </a:p>
          <a:p>
            <a:pPr algn="just"/>
            <a:r>
              <a:rPr lang="en-GB" sz="2400" dirty="0"/>
              <a:t>Since the results of these tests are in doubt (for non-normal residuals), there is doubt on the validity of the linear regression model.</a:t>
            </a:r>
          </a:p>
          <a:p>
            <a:pPr algn="just"/>
            <a:endParaRPr lang="en-GB" sz="2400" dirty="0"/>
          </a:p>
          <a:p>
            <a:pPr algn="just"/>
            <a:r>
              <a:rPr lang="en-GB" sz="2400" dirty="0"/>
              <a:t>Both the t-test &amp; F-test requires a normally distributed population.</a:t>
            </a:r>
          </a:p>
          <a:p>
            <a:pPr algn="just"/>
            <a:endParaRPr lang="en-GB" sz="2400" dirty="0"/>
          </a:p>
          <a:p>
            <a:pPr algn="just"/>
            <a:endParaRPr lang="en-GB" sz="2400" dirty="0"/>
          </a:p>
        </p:txBody>
      </p:sp>
      <p:sp>
        <p:nvSpPr>
          <p:cNvPr id="6" name="Rectangle 4">
            <a:extLst>
              <a:ext uri="{FF2B5EF4-FFF2-40B4-BE49-F238E27FC236}">
                <a16:creationId xmlns:a16="http://schemas.microsoft.com/office/drawing/2014/main" id="{5CCDC063-DFEF-46AC-021C-9A793D0C76E7}"/>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A89D33BF-8B54-EA46-A9B7-A2338033B48C}"/>
              </a:ext>
            </a:extLst>
          </p:cNvPr>
          <p:cNvGraphicFramePr>
            <a:graphicFrameLocks noChangeAspect="1"/>
          </p:cNvGraphicFramePr>
          <p:nvPr/>
        </p:nvGraphicFramePr>
        <p:xfrm>
          <a:off x="5562600" y="652110"/>
          <a:ext cx="1066800" cy="346249"/>
        </p:xfrm>
        <a:graphic>
          <a:graphicData uri="http://schemas.openxmlformats.org/presentationml/2006/ole">
            <mc:AlternateContent xmlns:mc="http://schemas.openxmlformats.org/markup-compatibility/2006">
              <mc:Choice xmlns:v="urn:schemas-microsoft-com:vml" Requires="v">
                <p:oleObj name="Equation" r:id="rId2" imgW="520474" imgH="355446" progId="Equation.3">
                  <p:embed/>
                </p:oleObj>
              </mc:Choice>
              <mc:Fallback>
                <p:oleObj name="Equation" r:id="rId2" imgW="520474" imgH="355446" progId="Equation.3">
                  <p:embed/>
                  <p:pic>
                    <p:nvPicPr>
                      <p:cNvPr id="7" name="Object 6">
                        <a:extLst>
                          <a:ext uri="{FF2B5EF4-FFF2-40B4-BE49-F238E27FC236}">
                            <a16:creationId xmlns:a16="http://schemas.microsoft.com/office/drawing/2014/main" id="{98266281-1D40-69CA-1419-39D95B636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652110"/>
                        <a:ext cx="1066800" cy="346249"/>
                      </a:xfrm>
                      <a:prstGeom prst="rect">
                        <a:avLst/>
                      </a:prstGeom>
                      <a:noFill/>
                    </p:spPr>
                  </p:pic>
                </p:oleObj>
              </mc:Fallback>
            </mc:AlternateContent>
          </a:graphicData>
        </a:graphic>
      </p:graphicFrame>
    </p:spTree>
    <p:extLst>
      <p:ext uri="{BB962C8B-B14F-4D97-AF65-F5344CB8AC3E}">
        <p14:creationId xmlns:p14="http://schemas.microsoft.com/office/powerpoint/2010/main" val="255435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53A9-3D8B-44FB-A788-4BDD608B8F65}"/>
              </a:ext>
            </a:extLst>
          </p:cNvPr>
          <p:cNvSpPr>
            <a:spLocks noGrp="1"/>
          </p:cNvSpPr>
          <p:nvPr>
            <p:ph type="title"/>
          </p:nvPr>
        </p:nvSpPr>
        <p:spPr>
          <a:xfrm>
            <a:off x="628650" y="365127"/>
            <a:ext cx="7886700" cy="625474"/>
          </a:xfrm>
        </p:spPr>
        <p:txBody>
          <a:bodyPr>
            <a:noAutofit/>
          </a:bodyPr>
          <a:lstStyle/>
          <a:p>
            <a:r>
              <a:rPr lang="en-GB" sz="2800" b="1" i="1" dirty="0">
                <a:solidFill>
                  <a:srgbClr val="C00000"/>
                </a:solidFill>
              </a:rPr>
              <a:t>Test of Homoscedasticity</a:t>
            </a:r>
            <a:endParaRPr lang="en-US" sz="2800" dirty="0">
              <a:solidFill>
                <a:srgbClr val="C00000"/>
              </a:solidFill>
            </a:endParaRPr>
          </a:p>
        </p:txBody>
      </p:sp>
      <p:sp>
        <p:nvSpPr>
          <p:cNvPr id="3" name="Content Placeholder 2">
            <a:extLst>
              <a:ext uri="{FF2B5EF4-FFF2-40B4-BE49-F238E27FC236}">
                <a16:creationId xmlns:a16="http://schemas.microsoft.com/office/drawing/2014/main" id="{19BFFDDE-EF27-419F-8270-611A5D319537}"/>
              </a:ext>
            </a:extLst>
          </p:cNvPr>
          <p:cNvSpPr>
            <a:spLocks noGrp="1"/>
          </p:cNvSpPr>
          <p:nvPr>
            <p:ph idx="1"/>
          </p:nvPr>
        </p:nvSpPr>
        <p:spPr>
          <a:xfrm>
            <a:off x="304800" y="1219200"/>
            <a:ext cx="8382000" cy="2362200"/>
          </a:xfrm>
        </p:spPr>
        <p:txBody>
          <a:bodyPr>
            <a:noAutofit/>
          </a:bodyPr>
          <a:lstStyle/>
          <a:p>
            <a:pPr marL="0" indent="0" algn="just">
              <a:buNone/>
            </a:pPr>
            <a:r>
              <a:rPr lang="en-GB" sz="2400" dirty="0"/>
              <a:t>An important assumption of regression model is that the residuals have constant variance (homoscedasticity) across different values of the explanatory variable (</a:t>
            </a:r>
            <a:r>
              <a:rPr lang="en-GB" sz="2400" i="1" dirty="0"/>
              <a:t>X</a:t>
            </a:r>
            <a:r>
              <a:rPr lang="en-GB" sz="2400" dirty="0"/>
              <a:t>). </a:t>
            </a:r>
          </a:p>
          <a:p>
            <a:pPr marL="0" indent="0" algn="just">
              <a:buNone/>
            </a:pPr>
            <a:r>
              <a:rPr lang="en-GB" sz="2400" dirty="0"/>
              <a:t>That is, the variance of residuals is assumed to be independent of variable </a:t>
            </a:r>
            <a:r>
              <a:rPr lang="en-GB" sz="2400" i="1" dirty="0"/>
              <a:t>X</a:t>
            </a:r>
            <a:r>
              <a:rPr lang="en-GB" sz="2400" dirty="0"/>
              <a:t>. Failure to meet this assumption will result in unreliability of the hypothesis tests. </a:t>
            </a:r>
            <a:endParaRPr lang="en-IN" sz="2400" dirty="0"/>
          </a:p>
        </p:txBody>
      </p:sp>
      <p:sp>
        <p:nvSpPr>
          <p:cNvPr id="4" name="Content Placeholder 2">
            <a:extLst>
              <a:ext uri="{FF2B5EF4-FFF2-40B4-BE49-F238E27FC236}">
                <a16:creationId xmlns:a16="http://schemas.microsoft.com/office/drawing/2014/main" id="{EDD5D652-45AD-43AF-9AE8-80ADF8E082AF}"/>
              </a:ext>
            </a:extLst>
          </p:cNvPr>
          <p:cNvSpPr txBox="1">
            <a:spLocks/>
          </p:cNvSpPr>
          <p:nvPr/>
        </p:nvSpPr>
        <p:spPr>
          <a:xfrm>
            <a:off x="381000" y="4876800"/>
            <a:ext cx="8382000" cy="9541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spcAft>
                <a:spcPts val="0"/>
              </a:spcAft>
              <a:buFont typeface="Arial" panose="020B0604020202020204" pitchFamily="34" charset="0"/>
              <a:buNone/>
            </a:pPr>
            <a:r>
              <a:rPr lang="en-GB" sz="2400" dirty="0"/>
              <a:t>Any pattern in the residual plot would indicate incorrect specification (misspecification) of the model. </a:t>
            </a:r>
            <a:endParaRPr lang="en-IN" sz="2400" dirty="0"/>
          </a:p>
        </p:txBody>
      </p:sp>
      <p:sp>
        <p:nvSpPr>
          <p:cNvPr id="5" name="TextBox 4">
            <a:extLst>
              <a:ext uri="{FF2B5EF4-FFF2-40B4-BE49-F238E27FC236}">
                <a16:creationId xmlns:a16="http://schemas.microsoft.com/office/drawing/2014/main" id="{519FCAEE-B2E2-4812-855B-7E120617D68D}"/>
              </a:ext>
            </a:extLst>
          </p:cNvPr>
          <p:cNvSpPr txBox="1"/>
          <p:nvPr/>
        </p:nvSpPr>
        <p:spPr>
          <a:xfrm>
            <a:off x="381000" y="3657600"/>
            <a:ext cx="8382000" cy="954107"/>
          </a:xfrm>
          <a:prstGeom prst="rect">
            <a:avLst/>
          </a:prstGeom>
          <a:noFill/>
        </p:spPr>
        <p:txBody>
          <a:bodyPr wrap="square" rtlCol="0">
            <a:spAutoFit/>
          </a:bodyPr>
          <a:lstStyle/>
          <a:p>
            <a:r>
              <a:rPr lang="en-GB" sz="2800" b="1" i="1" dirty="0">
                <a:solidFill>
                  <a:srgbClr val="C00000"/>
                </a:solidFill>
                <a:latin typeface="+mj-lt"/>
              </a:rPr>
              <a:t>Testing the Functional Form of Regression Model</a:t>
            </a:r>
            <a:endParaRPr lang="en-US" sz="2800" b="1" dirty="0">
              <a:solidFill>
                <a:srgbClr val="C00000"/>
              </a:solidFill>
              <a:latin typeface="+mj-lt"/>
            </a:endParaRPr>
          </a:p>
        </p:txBody>
      </p:sp>
    </p:spTree>
    <p:extLst>
      <p:ext uri="{BB962C8B-B14F-4D97-AF65-F5344CB8AC3E}">
        <p14:creationId xmlns:p14="http://schemas.microsoft.com/office/powerpoint/2010/main" val="160551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1000"/>
                                        <p:tgtEl>
                                          <p:spTgt spid="4">
                                            <p:txEl>
                                              <p:pRg st="0" end="0"/>
                                            </p:txEl>
                                          </p:spTgt>
                                        </p:tgtEl>
                                      </p:cBhvr>
                                    </p:animEffect>
                                    <p:anim calcmode="lin" valueType="num">
                                      <p:cBhvr>
                                        <p:cTn id="22"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1BB131D-1B93-4E08-BAAA-9E31BE6272F9}"/>
              </a:ext>
            </a:extLst>
          </p:cNvPr>
          <p:cNvPicPr>
            <a:picLocks noGrp="1"/>
          </p:cNvPicPr>
          <p:nvPr>
            <p:ph idx="1"/>
          </p:nvPr>
        </p:nvPicPr>
        <p:blipFill>
          <a:blip r:embed="rId2">
            <a:duotone>
              <a:prstClr val="black"/>
              <a:schemeClr val="accent1">
                <a:tint val="45000"/>
                <a:satMod val="400000"/>
              </a:schemeClr>
            </a:duotone>
          </a:blip>
          <a:stretch>
            <a:fillRect/>
          </a:stretch>
        </p:blipFill>
        <p:spPr>
          <a:xfrm>
            <a:off x="381000" y="2759794"/>
            <a:ext cx="4114800" cy="35648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9033DDEB-8228-4937-8275-316F7BECE6E8}"/>
              </a:ext>
            </a:extLst>
          </p:cNvPr>
          <p:cNvPicPr/>
          <p:nvPr/>
        </p:nvPicPr>
        <p:blipFill>
          <a:blip r:embed="rId3">
            <a:duotone>
              <a:prstClr val="black"/>
              <a:schemeClr val="accent1">
                <a:tint val="45000"/>
                <a:satMod val="400000"/>
              </a:schemeClr>
            </a:duotone>
          </a:blip>
          <a:stretch>
            <a:fillRect/>
          </a:stretch>
        </p:blipFill>
        <p:spPr>
          <a:xfrm>
            <a:off x="4724400" y="2759792"/>
            <a:ext cx="4114800" cy="35648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Content Placeholder 2">
            <a:extLst>
              <a:ext uri="{FF2B5EF4-FFF2-40B4-BE49-F238E27FC236}">
                <a16:creationId xmlns:a16="http://schemas.microsoft.com/office/drawing/2014/main" id="{181031B0-80EA-46D9-9442-87860AB181AA}"/>
              </a:ext>
            </a:extLst>
          </p:cNvPr>
          <p:cNvSpPr txBox="1">
            <a:spLocks/>
          </p:cNvSpPr>
          <p:nvPr/>
        </p:nvSpPr>
        <p:spPr>
          <a:xfrm>
            <a:off x="404446" y="1297855"/>
            <a:ext cx="8382000" cy="9541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spcAft>
                <a:spcPts val="0"/>
              </a:spcAft>
              <a:buFont typeface="Arial" panose="020B0604020202020204" pitchFamily="34" charset="0"/>
              <a:buNone/>
            </a:pPr>
            <a:r>
              <a:rPr lang="en-GB" sz="2400" dirty="0"/>
              <a:t>Any pattern in the residual plot would indicate incorrect specification (misspecification) of the model. </a:t>
            </a:r>
            <a:endParaRPr lang="en-IN" sz="2400" dirty="0"/>
          </a:p>
        </p:txBody>
      </p:sp>
      <p:sp>
        <p:nvSpPr>
          <p:cNvPr id="7" name="TextBox 6">
            <a:extLst>
              <a:ext uri="{FF2B5EF4-FFF2-40B4-BE49-F238E27FC236}">
                <a16:creationId xmlns:a16="http://schemas.microsoft.com/office/drawing/2014/main" id="{E3C421EF-3E66-47C3-8EBD-B591026D4F75}"/>
              </a:ext>
            </a:extLst>
          </p:cNvPr>
          <p:cNvSpPr txBox="1"/>
          <p:nvPr/>
        </p:nvSpPr>
        <p:spPr>
          <a:xfrm>
            <a:off x="381000" y="182374"/>
            <a:ext cx="8382000" cy="892552"/>
          </a:xfrm>
          <a:prstGeom prst="rect">
            <a:avLst/>
          </a:prstGeom>
          <a:noFill/>
        </p:spPr>
        <p:txBody>
          <a:bodyPr wrap="square" rtlCol="0">
            <a:spAutoFit/>
          </a:bodyPr>
          <a:lstStyle/>
          <a:p>
            <a:pPr algn="ctr"/>
            <a:r>
              <a:rPr lang="en-GB" sz="2600" b="1" i="1" dirty="0">
                <a:solidFill>
                  <a:srgbClr val="C00000"/>
                </a:solidFill>
                <a:latin typeface="+mj-lt"/>
              </a:rPr>
              <a:t>Testing the Functional Form of Regression Model</a:t>
            </a:r>
            <a:endParaRPr lang="en-US" sz="2600" b="1" dirty="0">
              <a:solidFill>
                <a:srgbClr val="C00000"/>
              </a:solidFill>
              <a:latin typeface="+mj-lt"/>
            </a:endParaRPr>
          </a:p>
        </p:txBody>
      </p:sp>
    </p:spTree>
    <p:extLst>
      <p:ext uri="{BB962C8B-B14F-4D97-AF65-F5344CB8AC3E}">
        <p14:creationId xmlns:p14="http://schemas.microsoft.com/office/powerpoint/2010/main" val="1325829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51EC449-E8D9-A610-A962-37B20F2AE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1E989-C9A6-14A4-0D8D-9E337842DCDF}"/>
              </a:ext>
            </a:extLst>
          </p:cNvPr>
          <p:cNvSpPr>
            <a:spLocks noGrp="1"/>
          </p:cNvSpPr>
          <p:nvPr>
            <p:ph type="title"/>
          </p:nvPr>
        </p:nvSpPr>
        <p:spPr>
          <a:xfrm>
            <a:off x="628650" y="365127"/>
            <a:ext cx="7886700" cy="625474"/>
          </a:xfrm>
        </p:spPr>
        <p:txBody>
          <a:bodyPr>
            <a:noAutofit/>
          </a:bodyPr>
          <a:lstStyle/>
          <a:p>
            <a:r>
              <a:rPr lang="en-GB" sz="2800" b="1" i="1" dirty="0">
                <a:solidFill>
                  <a:srgbClr val="C00000"/>
                </a:solidFill>
              </a:rPr>
              <a:t>Test of Homoscedasticity</a:t>
            </a:r>
            <a:endParaRPr lang="en-US" sz="2800" dirty="0">
              <a:solidFill>
                <a:srgbClr val="C00000"/>
              </a:solidFill>
            </a:endParaRPr>
          </a:p>
        </p:txBody>
      </p:sp>
      <p:sp>
        <p:nvSpPr>
          <p:cNvPr id="3" name="Content Placeholder 2">
            <a:extLst>
              <a:ext uri="{FF2B5EF4-FFF2-40B4-BE49-F238E27FC236}">
                <a16:creationId xmlns:a16="http://schemas.microsoft.com/office/drawing/2014/main" id="{4B024297-9CA1-1592-6243-94F000B3F477}"/>
              </a:ext>
            </a:extLst>
          </p:cNvPr>
          <p:cNvSpPr>
            <a:spLocks noGrp="1"/>
          </p:cNvSpPr>
          <p:nvPr>
            <p:ph idx="1"/>
          </p:nvPr>
        </p:nvSpPr>
        <p:spPr>
          <a:xfrm>
            <a:off x="304800" y="1219200"/>
            <a:ext cx="8382000" cy="5181600"/>
          </a:xfrm>
        </p:spPr>
        <p:txBody>
          <a:bodyPr>
            <a:noAutofit/>
          </a:bodyPr>
          <a:lstStyle/>
          <a:p>
            <a:pPr algn="just"/>
            <a:r>
              <a:rPr lang="en-GB" sz="2400" dirty="0"/>
              <a:t>Breusch-Pagan (B-P) Statistical test for Heteroscedasticity.</a:t>
            </a:r>
          </a:p>
          <a:p>
            <a:pPr algn="just"/>
            <a:endParaRPr lang="en-GB" sz="2400" dirty="0"/>
          </a:p>
          <a:p>
            <a:pPr algn="just"/>
            <a:r>
              <a:rPr lang="en-GB" sz="2400" dirty="0"/>
              <a:t>Collect the unstandardized residuals from the Simple Linear Regression Model</a:t>
            </a:r>
          </a:p>
          <a:p>
            <a:pPr algn="just"/>
            <a:endParaRPr lang="en-GB" sz="2400" dirty="0"/>
          </a:p>
          <a:p>
            <a:pPr algn="just"/>
            <a:endParaRPr lang="en-GB" sz="2400" dirty="0"/>
          </a:p>
          <a:p>
            <a:pPr algn="just"/>
            <a:r>
              <a:rPr lang="en-GB" sz="2400" dirty="0"/>
              <a:t>In the presence of homoscedasticity, the residuals should not be dependent on X. </a:t>
            </a:r>
          </a:p>
          <a:p>
            <a:pPr algn="just"/>
            <a:endParaRPr lang="en-GB" sz="2400" dirty="0"/>
          </a:p>
          <a:p>
            <a:pPr algn="just"/>
            <a:r>
              <a:rPr lang="en-GB" sz="2400" dirty="0"/>
              <a:t>To check this run: </a:t>
            </a:r>
            <a:endParaRPr lang="en-IN" sz="2400" dirty="0"/>
          </a:p>
        </p:txBody>
      </p:sp>
      <p:graphicFrame>
        <p:nvGraphicFramePr>
          <p:cNvPr id="6" name="Object 5">
            <a:extLst>
              <a:ext uri="{FF2B5EF4-FFF2-40B4-BE49-F238E27FC236}">
                <a16:creationId xmlns:a16="http://schemas.microsoft.com/office/drawing/2014/main" id="{B582B0E6-2F47-B44F-BE4E-13B79916185E}"/>
              </a:ext>
            </a:extLst>
          </p:cNvPr>
          <p:cNvGraphicFramePr>
            <a:graphicFrameLocks noChangeAspect="1"/>
          </p:cNvGraphicFramePr>
          <p:nvPr>
            <p:extLst>
              <p:ext uri="{D42A27DB-BD31-4B8C-83A1-F6EECF244321}">
                <p14:modId xmlns:p14="http://schemas.microsoft.com/office/powerpoint/2010/main" val="380360510"/>
              </p:ext>
            </p:extLst>
          </p:nvPr>
        </p:nvGraphicFramePr>
        <p:xfrm>
          <a:off x="628650" y="3048000"/>
          <a:ext cx="3562350" cy="533400"/>
        </p:xfrm>
        <a:graphic>
          <a:graphicData uri="http://schemas.openxmlformats.org/presentationml/2006/ole">
            <mc:AlternateContent xmlns:mc="http://schemas.openxmlformats.org/markup-compatibility/2006">
              <mc:Choice xmlns:v="urn:schemas-microsoft-com:vml" Requires="v">
                <p:oleObj name="Equation" r:id="rId2" imgW="1054080" imgH="228600" progId="Equation.DSMT4">
                  <p:embed/>
                </p:oleObj>
              </mc:Choice>
              <mc:Fallback>
                <p:oleObj name="Equation" r:id="rId2" imgW="1054080" imgH="228600" progId="Equation.DSMT4">
                  <p:embed/>
                  <p:pic>
                    <p:nvPicPr>
                      <p:cNvPr id="0" name=""/>
                      <p:cNvPicPr/>
                      <p:nvPr/>
                    </p:nvPicPr>
                    <p:blipFill>
                      <a:blip r:embed="rId3"/>
                      <a:stretch>
                        <a:fillRect/>
                      </a:stretch>
                    </p:blipFill>
                    <p:spPr>
                      <a:xfrm>
                        <a:off x="628650" y="3048000"/>
                        <a:ext cx="3562350" cy="5334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7092ECAE-2ABF-2EAA-E535-B7D18EBFC00A}"/>
              </a:ext>
            </a:extLst>
          </p:cNvPr>
          <p:cNvGraphicFramePr>
            <a:graphicFrameLocks noChangeAspect="1"/>
          </p:cNvGraphicFramePr>
          <p:nvPr>
            <p:extLst>
              <p:ext uri="{D42A27DB-BD31-4B8C-83A1-F6EECF244321}">
                <p14:modId xmlns:p14="http://schemas.microsoft.com/office/powerpoint/2010/main" val="2533436648"/>
              </p:ext>
            </p:extLst>
          </p:nvPr>
        </p:nvGraphicFramePr>
        <p:xfrm>
          <a:off x="2884488" y="5014913"/>
          <a:ext cx="2917825" cy="563562"/>
        </p:xfrm>
        <a:graphic>
          <a:graphicData uri="http://schemas.openxmlformats.org/presentationml/2006/ole">
            <mc:AlternateContent xmlns:mc="http://schemas.openxmlformats.org/markup-compatibility/2006">
              <mc:Choice xmlns:v="urn:schemas-microsoft-com:vml" Requires="v">
                <p:oleObj name="Equation" r:id="rId4" imgW="1066680" imgH="241200" progId="Equation.DSMT4">
                  <p:embed/>
                </p:oleObj>
              </mc:Choice>
              <mc:Fallback>
                <p:oleObj name="Equation" r:id="rId4" imgW="1066680" imgH="241200" progId="Equation.DSMT4">
                  <p:embed/>
                  <p:pic>
                    <p:nvPicPr>
                      <p:cNvPr id="0" name=""/>
                      <p:cNvPicPr/>
                      <p:nvPr/>
                    </p:nvPicPr>
                    <p:blipFill>
                      <a:blip r:embed="rId5"/>
                      <a:stretch>
                        <a:fillRect/>
                      </a:stretch>
                    </p:blipFill>
                    <p:spPr>
                      <a:xfrm>
                        <a:off x="2884488" y="5014913"/>
                        <a:ext cx="2917825" cy="563562"/>
                      </a:xfrm>
                      <a:prstGeom prst="rect">
                        <a:avLst/>
                      </a:prstGeom>
                    </p:spPr>
                  </p:pic>
                </p:oleObj>
              </mc:Fallback>
            </mc:AlternateContent>
          </a:graphicData>
        </a:graphic>
      </p:graphicFrame>
    </p:spTree>
    <p:extLst>
      <p:ext uri="{BB962C8B-B14F-4D97-AF65-F5344CB8AC3E}">
        <p14:creationId xmlns:p14="http://schemas.microsoft.com/office/powerpoint/2010/main" val="137716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94D297E-DD3F-EFD3-0453-4B6548089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851CD-6F3D-A6A6-8F2F-E003ADAF3178}"/>
              </a:ext>
            </a:extLst>
          </p:cNvPr>
          <p:cNvSpPr>
            <a:spLocks noGrp="1"/>
          </p:cNvSpPr>
          <p:nvPr>
            <p:ph type="title"/>
          </p:nvPr>
        </p:nvSpPr>
        <p:spPr>
          <a:xfrm>
            <a:off x="628650" y="365127"/>
            <a:ext cx="7886700" cy="625474"/>
          </a:xfrm>
        </p:spPr>
        <p:txBody>
          <a:bodyPr>
            <a:noAutofit/>
          </a:bodyPr>
          <a:lstStyle/>
          <a:p>
            <a:r>
              <a:rPr lang="en-GB" sz="2800" b="1" i="1" dirty="0">
                <a:solidFill>
                  <a:srgbClr val="C00000"/>
                </a:solidFill>
              </a:rPr>
              <a:t>Test of Homoscedasticity</a:t>
            </a:r>
            <a:endParaRPr lang="en-US" sz="2800" dirty="0">
              <a:solidFill>
                <a:srgbClr val="C00000"/>
              </a:solidFill>
            </a:endParaRPr>
          </a:p>
        </p:txBody>
      </p:sp>
      <p:sp>
        <p:nvSpPr>
          <p:cNvPr id="3" name="Content Placeholder 2">
            <a:extLst>
              <a:ext uri="{FF2B5EF4-FFF2-40B4-BE49-F238E27FC236}">
                <a16:creationId xmlns:a16="http://schemas.microsoft.com/office/drawing/2014/main" id="{BCA4395F-DC85-A36F-AD5C-00036B077025}"/>
              </a:ext>
            </a:extLst>
          </p:cNvPr>
          <p:cNvSpPr>
            <a:spLocks noGrp="1"/>
          </p:cNvSpPr>
          <p:nvPr>
            <p:ph idx="1"/>
          </p:nvPr>
        </p:nvSpPr>
        <p:spPr>
          <a:xfrm>
            <a:off x="304800" y="1219200"/>
            <a:ext cx="8382000" cy="5181600"/>
          </a:xfrm>
        </p:spPr>
        <p:txBody>
          <a:bodyPr>
            <a:noAutofit/>
          </a:bodyPr>
          <a:lstStyle/>
          <a:p>
            <a:pPr algn="just"/>
            <a:r>
              <a:rPr lang="en-GB" sz="2400" dirty="0"/>
              <a:t>H0: residuals are homoscedastic vs H1: residuals are heteroscedastic</a:t>
            </a:r>
          </a:p>
          <a:p>
            <a:pPr algn="just"/>
            <a:endParaRPr lang="en-GB" sz="2400" dirty="0"/>
          </a:p>
          <a:p>
            <a:pPr algn="just"/>
            <a:r>
              <a:rPr lang="en-GB" sz="2400" dirty="0"/>
              <a:t>The B-P test uses a chi-square test statistic. </a:t>
            </a:r>
          </a:p>
          <a:p>
            <a:pPr algn="just"/>
            <a:endParaRPr lang="en-GB" sz="2400" dirty="0"/>
          </a:p>
          <a:p>
            <a:pPr algn="just"/>
            <a:r>
              <a:rPr lang="en-GB" sz="2400" dirty="0"/>
              <a:t>Failure to meet the homoscedasticity assumption will result in the unreliability of hypothesis tests.</a:t>
            </a:r>
          </a:p>
          <a:p>
            <a:pPr algn="just"/>
            <a:endParaRPr lang="en-GB" sz="2400" dirty="0"/>
          </a:p>
          <a:p>
            <a:pPr algn="just"/>
            <a:r>
              <a:rPr lang="en-GB" sz="2400" dirty="0"/>
              <a:t>This is due to the fact that the standard errors of the coefficient estimates tend to be larger (under heteroscedasticity) than what they should be.</a:t>
            </a:r>
            <a:endParaRPr lang="en-IN" sz="2400" dirty="0"/>
          </a:p>
        </p:txBody>
      </p:sp>
    </p:spTree>
    <p:extLst>
      <p:ext uri="{BB962C8B-B14F-4D97-AF65-F5344CB8AC3E}">
        <p14:creationId xmlns:p14="http://schemas.microsoft.com/office/powerpoint/2010/main" val="1735897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9B4D8-BBEF-4FB2-92B9-731498348F9F}"/>
              </a:ext>
            </a:extLst>
          </p:cNvPr>
          <p:cNvSpPr>
            <a:spLocks noGrp="1"/>
          </p:cNvSpPr>
          <p:nvPr>
            <p:ph type="title"/>
          </p:nvPr>
        </p:nvSpPr>
        <p:spPr>
          <a:xfrm>
            <a:off x="628650" y="472212"/>
            <a:ext cx="8252114" cy="518388"/>
          </a:xfrm>
        </p:spPr>
        <p:txBody>
          <a:bodyPr/>
          <a:lstStyle/>
          <a:p>
            <a:pPr algn="just"/>
            <a:r>
              <a:rPr lang="en-GB" sz="2400" b="1" dirty="0">
                <a:solidFill>
                  <a:srgbClr val="C00000"/>
                </a:solidFill>
              </a:rPr>
              <a:t>Auto-Correlation</a:t>
            </a:r>
            <a:endParaRPr lang="en-IN" sz="2400" dirty="0">
              <a:solidFill>
                <a:srgbClr val="C00000"/>
              </a:solidFill>
            </a:endParaRPr>
          </a:p>
        </p:txBody>
      </p:sp>
      <p:sp>
        <p:nvSpPr>
          <p:cNvPr id="3" name="Content Placeholder 2">
            <a:extLst>
              <a:ext uri="{FF2B5EF4-FFF2-40B4-BE49-F238E27FC236}">
                <a16:creationId xmlns:a16="http://schemas.microsoft.com/office/drawing/2014/main" id="{0F7DF12A-B221-4838-8C29-98BFEC2D8071}"/>
              </a:ext>
            </a:extLst>
          </p:cNvPr>
          <p:cNvSpPr>
            <a:spLocks noGrp="1"/>
          </p:cNvSpPr>
          <p:nvPr>
            <p:ph idx="1"/>
          </p:nvPr>
        </p:nvSpPr>
        <p:spPr>
          <a:xfrm>
            <a:off x="628650" y="1708496"/>
            <a:ext cx="7886700" cy="1156854"/>
          </a:xfrm>
        </p:spPr>
        <p:txBody>
          <a:bodyPr/>
          <a:lstStyle/>
          <a:p>
            <a:pPr marL="0" indent="0" algn="just">
              <a:buNone/>
            </a:pPr>
            <a:r>
              <a:rPr lang="en-GB" sz="2400" dirty="0"/>
              <a:t>Auto-correlation is the correlation between successive error terms in a time-series data.  Consider a time-series model as defined below:</a:t>
            </a:r>
          </a:p>
          <a:p>
            <a:pPr marL="0" indent="0">
              <a:buNone/>
            </a:pPr>
            <a:endParaRPr lang="en-GB" sz="2400" dirty="0"/>
          </a:p>
          <a:p>
            <a:pPr marL="0" indent="0">
              <a:buNone/>
            </a:pPr>
            <a:endParaRPr lang="en-GB" sz="2400" dirty="0"/>
          </a:p>
          <a:p>
            <a:pPr marL="0" indent="0">
              <a:buNone/>
            </a:pPr>
            <a:endParaRPr lang="en-IN" sz="2400" dirty="0"/>
          </a:p>
          <a:p>
            <a:endParaRPr lang="en-IN" dirty="0"/>
          </a:p>
        </p:txBody>
      </p:sp>
      <p:sp>
        <p:nvSpPr>
          <p:cNvPr id="4" name="Rectangle 2">
            <a:extLst>
              <a:ext uri="{FF2B5EF4-FFF2-40B4-BE49-F238E27FC236}">
                <a16:creationId xmlns:a16="http://schemas.microsoft.com/office/drawing/2014/main" id="{59AA8D02-DDEA-4175-AD0B-DEBB7ED29D0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10352808-8C3F-45FF-A818-9F0243666AD3}"/>
              </a:ext>
            </a:extLst>
          </p:cNvPr>
          <p:cNvGraphicFramePr>
            <a:graphicFrameLocks noChangeAspect="1"/>
          </p:cNvGraphicFramePr>
          <p:nvPr/>
        </p:nvGraphicFramePr>
        <p:xfrm>
          <a:off x="2133600" y="3383051"/>
          <a:ext cx="3886200" cy="609600"/>
        </p:xfrm>
        <a:graphic>
          <a:graphicData uri="http://schemas.openxmlformats.org/presentationml/2006/ole">
            <mc:AlternateContent xmlns:mc="http://schemas.openxmlformats.org/markup-compatibility/2006">
              <mc:Choice xmlns:v="urn:schemas-microsoft-com:vml" Requires="v">
                <p:oleObj r:id="rId2" imgW="1231366" imgH="228501" progId="Equation.3">
                  <p:embed/>
                </p:oleObj>
              </mc:Choice>
              <mc:Fallback>
                <p:oleObj r:id="rId2" imgW="1231366" imgH="228501" progId="Equation.3">
                  <p:embed/>
                  <p:pic>
                    <p:nvPicPr>
                      <p:cNvPr id="5" name="Object 4">
                        <a:extLst>
                          <a:ext uri="{FF2B5EF4-FFF2-40B4-BE49-F238E27FC236}">
                            <a16:creationId xmlns:a16="http://schemas.microsoft.com/office/drawing/2014/main" id="{10352808-8C3F-45FF-A818-9F0243666A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383051"/>
                        <a:ext cx="3886200" cy="6096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283712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F87E-A2A5-4D94-9C49-3183B6D58C1F}"/>
              </a:ext>
            </a:extLst>
          </p:cNvPr>
          <p:cNvSpPr>
            <a:spLocks noGrp="1"/>
          </p:cNvSpPr>
          <p:nvPr>
            <p:ph type="title"/>
          </p:nvPr>
        </p:nvSpPr>
        <p:spPr>
          <a:xfrm>
            <a:off x="628650" y="509867"/>
            <a:ext cx="8252114" cy="518388"/>
          </a:xfrm>
        </p:spPr>
        <p:txBody>
          <a:bodyPr/>
          <a:lstStyle/>
          <a:p>
            <a:pPr algn="just"/>
            <a:r>
              <a:rPr lang="en-GB" sz="2800" b="1" dirty="0" err="1">
                <a:solidFill>
                  <a:srgbClr val="C00000"/>
                </a:solidFill>
              </a:rPr>
              <a:t>Durbin</a:t>
            </a:r>
            <a:r>
              <a:rPr lang="en-GB" sz="2800" b="1" dirty="0" err="1">
                <a:solidFill>
                  <a:srgbClr val="C00000"/>
                </a:solidFill>
                <a:sym typeface="Symbol" panose="05050102010706020507" pitchFamily="18" charset="2"/>
              </a:rPr>
              <a:t></a:t>
            </a:r>
            <a:r>
              <a:rPr lang="en-GB" sz="2800" b="1" dirty="0" err="1">
                <a:solidFill>
                  <a:srgbClr val="C00000"/>
                </a:solidFill>
              </a:rPr>
              <a:t>Watson</a:t>
            </a:r>
            <a:r>
              <a:rPr lang="en-GB" sz="2800" b="1" dirty="0">
                <a:solidFill>
                  <a:srgbClr val="C00000"/>
                </a:solidFill>
              </a:rPr>
              <a:t> Test for Auto-Correlation</a:t>
            </a:r>
            <a:endParaRPr lang="en-IN" sz="2800" dirty="0">
              <a:solidFill>
                <a:srgbClr val="C00000"/>
              </a:solidFill>
            </a:endParaRPr>
          </a:p>
        </p:txBody>
      </p:sp>
      <p:sp>
        <p:nvSpPr>
          <p:cNvPr id="3" name="Content Placeholder 2">
            <a:extLst>
              <a:ext uri="{FF2B5EF4-FFF2-40B4-BE49-F238E27FC236}">
                <a16:creationId xmlns:a16="http://schemas.microsoft.com/office/drawing/2014/main" id="{F9C3197E-30A8-4F92-B871-0EB11F3B9942}"/>
              </a:ext>
            </a:extLst>
          </p:cNvPr>
          <p:cNvSpPr>
            <a:spLocks noGrp="1"/>
          </p:cNvSpPr>
          <p:nvPr>
            <p:ph idx="1"/>
          </p:nvPr>
        </p:nvSpPr>
        <p:spPr>
          <a:xfrm>
            <a:off x="628650" y="1205347"/>
            <a:ext cx="7886700" cy="3290453"/>
          </a:xfrm>
        </p:spPr>
        <p:txBody>
          <a:bodyPr/>
          <a:lstStyle/>
          <a:p>
            <a:pPr marL="0" indent="0" algn="just">
              <a:buNone/>
            </a:pPr>
            <a:r>
              <a:rPr lang="en-GB" sz="2400" dirty="0" err="1"/>
              <a:t>Durbin</a:t>
            </a:r>
            <a:r>
              <a:rPr lang="en-GB" sz="2400" dirty="0" err="1">
                <a:sym typeface="Symbol" panose="05050102010706020507" pitchFamily="18" charset="2"/>
              </a:rPr>
              <a:t></a:t>
            </a:r>
            <a:r>
              <a:rPr lang="en-GB" sz="2400" dirty="0" err="1"/>
              <a:t>Watson</a:t>
            </a:r>
            <a:r>
              <a:rPr lang="en-GB" sz="2400" dirty="0"/>
              <a:t> is a hypothesis test to check the existence of auto-correlation (Durbin and Watson, 1950, . Let </a:t>
            </a:r>
            <a:r>
              <a:rPr lang="en-GB" sz="2400" i="1" dirty="0">
                <a:sym typeface="Symbol" panose="05050102010706020507" pitchFamily="18" charset="2"/>
              </a:rPr>
              <a:t></a:t>
            </a:r>
            <a:r>
              <a:rPr lang="en-GB" sz="2400" dirty="0"/>
              <a:t> be the correlation between error terms (</a:t>
            </a:r>
            <a:r>
              <a:rPr lang="en-GB" sz="2400" i="1" dirty="0">
                <a:sym typeface="Symbol" panose="05050102010706020507" pitchFamily="18" charset="2"/>
              </a:rPr>
              <a:t></a:t>
            </a:r>
            <a:r>
              <a:rPr lang="en-GB" sz="2400" i="1" baseline="-25000" dirty="0"/>
              <a:t>t</a:t>
            </a:r>
            <a:r>
              <a:rPr lang="en-GB" sz="2400" dirty="0"/>
              <a:t>, </a:t>
            </a:r>
            <a:r>
              <a:rPr lang="en-GB" sz="2400" i="1" dirty="0">
                <a:sym typeface="Symbol" panose="05050102010706020507" pitchFamily="18" charset="2"/>
              </a:rPr>
              <a:t></a:t>
            </a:r>
            <a:r>
              <a:rPr lang="en-GB" sz="2400" i="1" baseline="-25000" dirty="0"/>
              <a:t>t</a:t>
            </a:r>
            <a:r>
              <a:rPr lang="en-GB" sz="2400" baseline="-25000" dirty="0">
                <a:sym typeface="Symbol" panose="05050102010706020507" pitchFamily="18" charset="2"/>
              </a:rPr>
              <a:t></a:t>
            </a:r>
            <a:r>
              <a:rPr lang="en-GB" sz="2400" baseline="-25000" dirty="0"/>
              <a:t>1</a:t>
            </a:r>
            <a:r>
              <a:rPr lang="en-GB" sz="2400" dirty="0"/>
              <a:t>). The null and alternative hypotheses are stated below:</a:t>
            </a:r>
            <a:endParaRPr lang="en-IN" sz="2400" dirty="0"/>
          </a:p>
          <a:p>
            <a:pPr marL="0" indent="0" algn="just">
              <a:buNone/>
            </a:pPr>
            <a:r>
              <a:rPr lang="en-GB" sz="2400" dirty="0"/>
              <a:t>H0: </a:t>
            </a:r>
            <a:r>
              <a:rPr lang="en-GB" sz="2400" dirty="0">
                <a:sym typeface="Symbol" panose="05050102010706020507" pitchFamily="18" charset="2"/>
              </a:rPr>
              <a:t></a:t>
            </a:r>
            <a:r>
              <a:rPr lang="en-GB" sz="2400" dirty="0"/>
              <a:t> </a:t>
            </a:r>
            <a:r>
              <a:rPr lang="en-GB" sz="2400" dirty="0">
                <a:sym typeface="Symbol" panose="05050102010706020507" pitchFamily="18" charset="2"/>
              </a:rPr>
              <a:t></a:t>
            </a:r>
            <a:r>
              <a:rPr lang="en-GB" sz="2400" dirty="0"/>
              <a:t> 0</a:t>
            </a:r>
            <a:endParaRPr lang="en-IN" sz="2400" dirty="0"/>
          </a:p>
          <a:p>
            <a:pPr marL="0" indent="0" algn="just">
              <a:buNone/>
            </a:pPr>
            <a:r>
              <a:rPr lang="en-GB" sz="2400" dirty="0"/>
              <a:t>H1: </a:t>
            </a:r>
            <a:r>
              <a:rPr lang="en-GB" sz="2400" dirty="0">
                <a:sym typeface="Symbol" panose="05050102010706020507" pitchFamily="18" charset="2"/>
              </a:rPr>
              <a:t></a:t>
            </a:r>
            <a:r>
              <a:rPr lang="en-GB" sz="2400" dirty="0"/>
              <a:t> </a:t>
            </a:r>
            <a:r>
              <a:rPr lang="en-GB" sz="2400" dirty="0">
                <a:sym typeface="Symbol" panose="05050102010706020507" pitchFamily="18" charset="2"/>
              </a:rPr>
              <a:t></a:t>
            </a:r>
            <a:r>
              <a:rPr lang="en-GB" sz="2400" dirty="0"/>
              <a:t> 0</a:t>
            </a:r>
            <a:endParaRPr lang="en-IN" sz="2400" dirty="0"/>
          </a:p>
          <a:p>
            <a:pPr marL="0" indent="0" algn="just">
              <a:buNone/>
            </a:pPr>
            <a:r>
              <a:rPr lang="en-GB" sz="2400" dirty="0"/>
              <a:t>The </a:t>
            </a:r>
            <a:r>
              <a:rPr lang="en-GB" sz="2400" dirty="0" err="1"/>
              <a:t>Durbin</a:t>
            </a:r>
            <a:r>
              <a:rPr lang="en-GB" sz="2400" dirty="0" err="1">
                <a:sym typeface="Symbol" panose="05050102010706020507" pitchFamily="18" charset="2"/>
              </a:rPr>
              <a:t></a:t>
            </a:r>
            <a:r>
              <a:rPr lang="en-GB" sz="2400" dirty="0" err="1"/>
              <a:t>Watson</a:t>
            </a:r>
            <a:r>
              <a:rPr lang="en-GB" sz="2400" dirty="0"/>
              <a:t> statistic, D, for correlation between errors of one lag is given by</a:t>
            </a:r>
            <a:endParaRPr lang="en-IN" sz="2400" dirty="0"/>
          </a:p>
          <a:p>
            <a:endParaRPr lang="en-IN" dirty="0"/>
          </a:p>
        </p:txBody>
      </p:sp>
      <p:sp>
        <p:nvSpPr>
          <p:cNvPr id="4" name="Rectangle 2">
            <a:extLst>
              <a:ext uri="{FF2B5EF4-FFF2-40B4-BE49-F238E27FC236}">
                <a16:creationId xmlns:a16="http://schemas.microsoft.com/office/drawing/2014/main" id="{0C681E71-E6A8-457A-8533-6C7C05657F8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8C4236A8-85E0-4D15-B410-7DD2E41AA405}"/>
              </a:ext>
            </a:extLst>
          </p:cNvPr>
          <p:cNvGraphicFramePr>
            <a:graphicFrameLocks noChangeAspect="1"/>
          </p:cNvGraphicFramePr>
          <p:nvPr/>
        </p:nvGraphicFramePr>
        <p:xfrm>
          <a:off x="1676400" y="5004953"/>
          <a:ext cx="4724400" cy="1295400"/>
        </p:xfrm>
        <a:graphic>
          <a:graphicData uri="http://schemas.openxmlformats.org/presentationml/2006/ole">
            <mc:AlternateContent xmlns:mc="http://schemas.openxmlformats.org/markup-compatibility/2006">
              <mc:Choice xmlns:v="urn:schemas-microsoft-com:vml" Requires="v">
                <p:oleObj r:id="rId2" imgW="2235200" imgH="889000" progId="Equation.3">
                  <p:embed/>
                </p:oleObj>
              </mc:Choice>
              <mc:Fallback>
                <p:oleObj r:id="rId2" imgW="2235200" imgH="889000" progId="Equation.3">
                  <p:embed/>
                  <p:pic>
                    <p:nvPicPr>
                      <p:cNvPr id="5" name="Object 4">
                        <a:extLst>
                          <a:ext uri="{FF2B5EF4-FFF2-40B4-BE49-F238E27FC236}">
                            <a16:creationId xmlns:a16="http://schemas.microsoft.com/office/drawing/2014/main" id="{8C4236A8-85E0-4D15-B410-7DD2E41AA4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5004953"/>
                        <a:ext cx="4724400" cy="12954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29651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1000"/>
                                        <p:tgtEl>
                                          <p:spTgt spid="5"/>
                                        </p:tgtEl>
                                      </p:cBhvr>
                                    </p:animEffect>
                                    <p:anim calcmode="lin" valueType="num">
                                      <p:cBhvr>
                                        <p:cTn id="41" dur="1000" fill="hold"/>
                                        <p:tgtEl>
                                          <p:spTgt spid="5"/>
                                        </p:tgtEl>
                                        <p:attrNameLst>
                                          <p:attrName>ppt_x</p:attrName>
                                        </p:attrNameLst>
                                      </p:cBhvr>
                                      <p:tavLst>
                                        <p:tav tm="0">
                                          <p:val>
                                            <p:strVal val="#ppt_x"/>
                                          </p:val>
                                        </p:tav>
                                        <p:tav tm="100000">
                                          <p:val>
                                            <p:strVal val="#ppt_x"/>
                                          </p:val>
                                        </p:tav>
                                      </p:tavLst>
                                    </p:anim>
                                    <p:anim calcmode="lin" valueType="num">
                                      <p:cBhvr>
                                        <p:cTn id="4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5CFF6DA-65D9-5243-54D8-B34E961A2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055E4-44DC-D42A-62EE-F5DF0D8DDF0B}"/>
              </a:ext>
            </a:extLst>
          </p:cNvPr>
          <p:cNvSpPr>
            <a:spLocks noGrp="1"/>
          </p:cNvSpPr>
          <p:nvPr>
            <p:ph type="title"/>
          </p:nvPr>
        </p:nvSpPr>
        <p:spPr>
          <a:xfrm>
            <a:off x="628650" y="509867"/>
            <a:ext cx="8252114" cy="518388"/>
          </a:xfrm>
        </p:spPr>
        <p:txBody>
          <a:bodyPr/>
          <a:lstStyle/>
          <a:p>
            <a:pPr algn="just"/>
            <a:r>
              <a:rPr lang="en-GB" sz="2800" b="1" dirty="0" err="1">
                <a:solidFill>
                  <a:srgbClr val="C00000"/>
                </a:solidFill>
              </a:rPr>
              <a:t>Durbin</a:t>
            </a:r>
            <a:r>
              <a:rPr lang="en-GB" sz="2800" b="1" dirty="0" err="1">
                <a:solidFill>
                  <a:srgbClr val="C00000"/>
                </a:solidFill>
                <a:sym typeface="Symbol" panose="05050102010706020507" pitchFamily="18" charset="2"/>
              </a:rPr>
              <a:t></a:t>
            </a:r>
            <a:r>
              <a:rPr lang="en-GB" sz="2800" b="1" dirty="0" err="1">
                <a:solidFill>
                  <a:srgbClr val="C00000"/>
                </a:solidFill>
              </a:rPr>
              <a:t>Watson</a:t>
            </a:r>
            <a:r>
              <a:rPr lang="en-GB" sz="2800" b="1" dirty="0">
                <a:solidFill>
                  <a:srgbClr val="C00000"/>
                </a:solidFill>
              </a:rPr>
              <a:t> Test for Auto-Correlation</a:t>
            </a:r>
            <a:endParaRPr lang="en-IN" sz="2800" dirty="0">
              <a:solidFill>
                <a:srgbClr val="C00000"/>
              </a:solidFill>
            </a:endParaRPr>
          </a:p>
        </p:txBody>
      </p:sp>
      <p:sp>
        <p:nvSpPr>
          <p:cNvPr id="3" name="Content Placeholder 2">
            <a:extLst>
              <a:ext uri="{FF2B5EF4-FFF2-40B4-BE49-F238E27FC236}">
                <a16:creationId xmlns:a16="http://schemas.microsoft.com/office/drawing/2014/main" id="{C6C1B5D2-FB38-0870-59D6-A323FDA92A66}"/>
              </a:ext>
            </a:extLst>
          </p:cNvPr>
          <p:cNvSpPr>
            <a:spLocks noGrp="1"/>
          </p:cNvSpPr>
          <p:nvPr>
            <p:ph idx="1"/>
          </p:nvPr>
        </p:nvSpPr>
        <p:spPr>
          <a:xfrm>
            <a:off x="628650" y="1205347"/>
            <a:ext cx="7886700" cy="5142786"/>
          </a:xfrm>
        </p:spPr>
        <p:txBody>
          <a:bodyPr/>
          <a:lstStyle/>
          <a:p>
            <a:pPr marL="0" indent="0" algn="just">
              <a:buNone/>
            </a:pPr>
            <a:r>
              <a:rPr lang="en-US" sz="2400" dirty="0"/>
              <a:t>D=2(1-    )</a:t>
            </a:r>
          </a:p>
          <a:p>
            <a:pPr marL="0" indent="0" algn="just">
              <a:buNone/>
            </a:pPr>
            <a:endParaRPr lang="en-US" sz="2400" dirty="0"/>
          </a:p>
          <a:p>
            <a:pPr marL="0" indent="0" algn="just">
              <a:buNone/>
            </a:pPr>
            <a:r>
              <a:rPr lang="en-US" sz="2400" dirty="0"/>
              <a:t>D=2 implies</a:t>
            </a:r>
          </a:p>
          <a:p>
            <a:pPr marL="0" indent="0" algn="just">
              <a:buNone/>
            </a:pPr>
            <a:endParaRPr lang="en-US" sz="2400" dirty="0"/>
          </a:p>
          <a:p>
            <a:pPr marL="0" indent="0" algn="just">
              <a:buNone/>
            </a:pPr>
            <a:r>
              <a:rPr lang="en-US" sz="2400" dirty="0"/>
              <a:t>D=0 implies</a:t>
            </a:r>
          </a:p>
          <a:p>
            <a:pPr marL="0" indent="0" algn="just">
              <a:buNone/>
            </a:pPr>
            <a:endParaRPr lang="en-US" sz="2400" dirty="0"/>
          </a:p>
          <a:p>
            <a:pPr marL="0" indent="0" algn="just">
              <a:buNone/>
            </a:pPr>
            <a:r>
              <a:rPr lang="en-US" sz="2400" dirty="0"/>
              <a:t>D=4 implies</a:t>
            </a:r>
          </a:p>
          <a:p>
            <a:pPr marL="0" indent="0" algn="just">
              <a:buNone/>
            </a:pPr>
            <a:endParaRPr lang="en-US" sz="2400" dirty="0"/>
          </a:p>
          <a:p>
            <a:pPr marL="0" indent="0" algn="just">
              <a:buNone/>
            </a:pPr>
            <a:r>
              <a:rPr lang="en-US" sz="2400" dirty="0"/>
              <a:t>D= 1.5 implies     </a:t>
            </a:r>
            <a:endParaRPr lang="en-IN" sz="2400" dirty="0"/>
          </a:p>
          <a:p>
            <a:endParaRPr lang="en-IN" dirty="0"/>
          </a:p>
          <a:p>
            <a:pPr marL="0" indent="0">
              <a:buNone/>
            </a:pPr>
            <a:r>
              <a:rPr lang="en-IN" dirty="0"/>
              <a:t>D=2.5 implies</a:t>
            </a:r>
          </a:p>
        </p:txBody>
      </p:sp>
      <p:sp>
        <p:nvSpPr>
          <p:cNvPr id="4" name="Rectangle 2">
            <a:extLst>
              <a:ext uri="{FF2B5EF4-FFF2-40B4-BE49-F238E27FC236}">
                <a16:creationId xmlns:a16="http://schemas.microsoft.com/office/drawing/2014/main" id="{3A78342B-922A-F37F-DCCB-67F88053ADA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6A32CD38-D921-B74E-C174-570E96657F56}"/>
              </a:ext>
            </a:extLst>
          </p:cNvPr>
          <p:cNvGraphicFramePr>
            <a:graphicFrameLocks noChangeAspect="1"/>
          </p:cNvGraphicFramePr>
          <p:nvPr>
            <p:extLst>
              <p:ext uri="{D42A27DB-BD31-4B8C-83A1-F6EECF244321}">
                <p14:modId xmlns:p14="http://schemas.microsoft.com/office/powerpoint/2010/main" val="677978704"/>
              </p:ext>
            </p:extLst>
          </p:nvPr>
        </p:nvGraphicFramePr>
        <p:xfrm>
          <a:off x="1600200" y="1190107"/>
          <a:ext cx="533400" cy="466725"/>
        </p:xfrm>
        <a:graphic>
          <a:graphicData uri="http://schemas.openxmlformats.org/presentationml/2006/ole">
            <mc:AlternateContent xmlns:mc="http://schemas.openxmlformats.org/markup-compatibility/2006">
              <mc:Choice xmlns:v="urn:schemas-microsoft-com:vml" Requires="v">
                <p:oleObj name="Equation" r:id="rId2" imgW="533633" imgH="466508" progId="Equation.DSMT4">
                  <p:embed/>
                </p:oleObj>
              </mc:Choice>
              <mc:Fallback>
                <p:oleObj name="Equation" r:id="rId2" imgW="533633" imgH="466508" progId="Equation.DSMT4">
                  <p:embed/>
                  <p:pic>
                    <p:nvPicPr>
                      <p:cNvPr id="0" name=""/>
                      <p:cNvPicPr/>
                      <p:nvPr/>
                    </p:nvPicPr>
                    <p:blipFill>
                      <a:blip r:embed="rId3"/>
                      <a:stretch>
                        <a:fillRect/>
                      </a:stretch>
                    </p:blipFill>
                    <p:spPr>
                      <a:xfrm>
                        <a:off x="1600200" y="1190107"/>
                        <a:ext cx="533400" cy="466725"/>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652374C1-47E8-81A6-9190-79763A32CF25}"/>
              </a:ext>
            </a:extLst>
          </p:cNvPr>
          <p:cNvGraphicFramePr>
            <a:graphicFrameLocks noChangeAspect="1"/>
          </p:cNvGraphicFramePr>
          <p:nvPr>
            <p:extLst>
              <p:ext uri="{D42A27DB-BD31-4B8C-83A1-F6EECF244321}">
                <p14:modId xmlns:p14="http://schemas.microsoft.com/office/powerpoint/2010/main" val="3926807075"/>
              </p:ext>
            </p:extLst>
          </p:nvPr>
        </p:nvGraphicFramePr>
        <p:xfrm>
          <a:off x="2286000" y="2057400"/>
          <a:ext cx="838200" cy="457199"/>
        </p:xfrm>
        <a:graphic>
          <a:graphicData uri="http://schemas.openxmlformats.org/presentationml/2006/ole">
            <mc:AlternateContent xmlns:mc="http://schemas.openxmlformats.org/markup-compatibility/2006">
              <mc:Choice xmlns:v="urn:schemas-microsoft-com:vml" Requires="v">
                <p:oleObj name="Equation" r:id="rId4" imgW="380880" imgH="203040" progId="Equation.DSMT4">
                  <p:embed/>
                </p:oleObj>
              </mc:Choice>
              <mc:Fallback>
                <p:oleObj name="Equation" r:id="rId4" imgW="380880" imgH="203040" progId="Equation.DSMT4">
                  <p:embed/>
                  <p:pic>
                    <p:nvPicPr>
                      <p:cNvPr id="0" name=""/>
                      <p:cNvPicPr/>
                      <p:nvPr/>
                    </p:nvPicPr>
                    <p:blipFill>
                      <a:blip r:embed="rId5"/>
                      <a:stretch>
                        <a:fillRect/>
                      </a:stretch>
                    </p:blipFill>
                    <p:spPr>
                      <a:xfrm>
                        <a:off x="2286000" y="2057400"/>
                        <a:ext cx="838200" cy="457199"/>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1433F2A5-E242-2B10-FD8E-0A9BEEF500FD}"/>
              </a:ext>
            </a:extLst>
          </p:cNvPr>
          <p:cNvGraphicFramePr>
            <a:graphicFrameLocks noChangeAspect="1"/>
          </p:cNvGraphicFramePr>
          <p:nvPr>
            <p:extLst>
              <p:ext uri="{D42A27DB-BD31-4B8C-83A1-F6EECF244321}">
                <p14:modId xmlns:p14="http://schemas.microsoft.com/office/powerpoint/2010/main" val="69501310"/>
              </p:ext>
            </p:extLst>
          </p:nvPr>
        </p:nvGraphicFramePr>
        <p:xfrm>
          <a:off x="2232125" y="2946400"/>
          <a:ext cx="863600" cy="482600"/>
        </p:xfrm>
        <a:graphic>
          <a:graphicData uri="http://schemas.openxmlformats.org/presentationml/2006/ole">
            <mc:AlternateContent xmlns:mc="http://schemas.openxmlformats.org/markup-compatibility/2006">
              <mc:Choice xmlns:v="urn:schemas-microsoft-com:vml" Requires="v">
                <p:oleObj name="Equation" r:id="rId6" imgW="355320" imgH="203040" progId="Equation.DSMT4">
                  <p:embed/>
                </p:oleObj>
              </mc:Choice>
              <mc:Fallback>
                <p:oleObj name="Equation" r:id="rId6" imgW="355320" imgH="203040" progId="Equation.DSMT4">
                  <p:embed/>
                  <p:pic>
                    <p:nvPicPr>
                      <p:cNvPr id="0" name=""/>
                      <p:cNvPicPr/>
                      <p:nvPr/>
                    </p:nvPicPr>
                    <p:blipFill>
                      <a:blip r:embed="rId7"/>
                      <a:stretch>
                        <a:fillRect/>
                      </a:stretch>
                    </p:blipFill>
                    <p:spPr>
                      <a:xfrm>
                        <a:off x="2232125" y="2946400"/>
                        <a:ext cx="863600" cy="4826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1B3804F6-6C31-21F8-6ABE-92694DDDD33B}"/>
              </a:ext>
            </a:extLst>
          </p:cNvPr>
          <p:cNvGraphicFramePr>
            <a:graphicFrameLocks noChangeAspect="1"/>
          </p:cNvGraphicFramePr>
          <p:nvPr>
            <p:extLst>
              <p:ext uri="{D42A27DB-BD31-4B8C-83A1-F6EECF244321}">
                <p14:modId xmlns:p14="http://schemas.microsoft.com/office/powerpoint/2010/main" val="1018881305"/>
              </p:ext>
            </p:extLst>
          </p:nvPr>
        </p:nvGraphicFramePr>
        <p:xfrm>
          <a:off x="2286000" y="3860802"/>
          <a:ext cx="1060450" cy="482600"/>
        </p:xfrm>
        <a:graphic>
          <a:graphicData uri="http://schemas.openxmlformats.org/presentationml/2006/ole">
            <mc:AlternateContent xmlns:mc="http://schemas.openxmlformats.org/markup-compatibility/2006">
              <mc:Choice xmlns:v="urn:schemas-microsoft-com:vml" Requires="v">
                <p:oleObj name="Equation" r:id="rId8" imgW="444240" imgH="203040" progId="Equation.DSMT4">
                  <p:embed/>
                </p:oleObj>
              </mc:Choice>
              <mc:Fallback>
                <p:oleObj name="Equation" r:id="rId8" imgW="444240" imgH="203040" progId="Equation.DSMT4">
                  <p:embed/>
                  <p:pic>
                    <p:nvPicPr>
                      <p:cNvPr id="0" name=""/>
                      <p:cNvPicPr/>
                      <p:nvPr/>
                    </p:nvPicPr>
                    <p:blipFill>
                      <a:blip r:embed="rId9"/>
                      <a:stretch>
                        <a:fillRect/>
                      </a:stretch>
                    </p:blipFill>
                    <p:spPr>
                      <a:xfrm>
                        <a:off x="2286000" y="3860802"/>
                        <a:ext cx="1060450" cy="4826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1693F4B1-9BB3-914A-472B-5DB1C799792E}"/>
              </a:ext>
            </a:extLst>
          </p:cNvPr>
          <p:cNvGraphicFramePr>
            <a:graphicFrameLocks noChangeAspect="1"/>
          </p:cNvGraphicFramePr>
          <p:nvPr>
            <p:extLst>
              <p:ext uri="{D42A27DB-BD31-4B8C-83A1-F6EECF244321}">
                <p14:modId xmlns:p14="http://schemas.microsoft.com/office/powerpoint/2010/main" val="3571468731"/>
              </p:ext>
            </p:extLst>
          </p:nvPr>
        </p:nvGraphicFramePr>
        <p:xfrm>
          <a:off x="2597150" y="4775203"/>
          <a:ext cx="1498600" cy="482600"/>
        </p:xfrm>
        <a:graphic>
          <a:graphicData uri="http://schemas.openxmlformats.org/presentationml/2006/ole">
            <mc:AlternateContent xmlns:mc="http://schemas.openxmlformats.org/markup-compatibility/2006">
              <mc:Choice xmlns:v="urn:schemas-microsoft-com:vml" Requires="v">
                <p:oleObj name="Equation" r:id="rId10" imgW="558720" imgH="203040" progId="Equation.DSMT4">
                  <p:embed/>
                </p:oleObj>
              </mc:Choice>
              <mc:Fallback>
                <p:oleObj name="Equation" r:id="rId10" imgW="558720" imgH="203040" progId="Equation.DSMT4">
                  <p:embed/>
                  <p:pic>
                    <p:nvPicPr>
                      <p:cNvPr id="0" name=""/>
                      <p:cNvPicPr/>
                      <p:nvPr/>
                    </p:nvPicPr>
                    <p:blipFill>
                      <a:blip r:embed="rId11"/>
                      <a:stretch>
                        <a:fillRect/>
                      </a:stretch>
                    </p:blipFill>
                    <p:spPr>
                      <a:xfrm>
                        <a:off x="2597150" y="4775203"/>
                        <a:ext cx="1498600" cy="4826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75349A89-D10D-29DA-FD29-6B6C30BAB7E5}"/>
              </a:ext>
            </a:extLst>
          </p:cNvPr>
          <p:cNvGraphicFramePr>
            <a:graphicFrameLocks noChangeAspect="1"/>
          </p:cNvGraphicFramePr>
          <p:nvPr>
            <p:extLst>
              <p:ext uri="{D42A27DB-BD31-4B8C-83A1-F6EECF244321}">
                <p14:modId xmlns:p14="http://schemas.microsoft.com/office/powerpoint/2010/main" val="3649971185"/>
              </p:ext>
            </p:extLst>
          </p:nvPr>
        </p:nvGraphicFramePr>
        <p:xfrm>
          <a:off x="2743200" y="5791200"/>
          <a:ext cx="1352550" cy="442633"/>
        </p:xfrm>
        <a:graphic>
          <a:graphicData uri="http://schemas.openxmlformats.org/presentationml/2006/ole">
            <mc:AlternateContent xmlns:mc="http://schemas.openxmlformats.org/markup-compatibility/2006">
              <mc:Choice xmlns:v="urn:schemas-microsoft-com:vml" Requires="v">
                <p:oleObj name="Equation" r:id="rId12" imgW="647640" imgH="203040" progId="Equation.DSMT4">
                  <p:embed/>
                </p:oleObj>
              </mc:Choice>
              <mc:Fallback>
                <p:oleObj name="Equation" r:id="rId12" imgW="647640" imgH="203040" progId="Equation.DSMT4">
                  <p:embed/>
                  <p:pic>
                    <p:nvPicPr>
                      <p:cNvPr id="0" name=""/>
                      <p:cNvPicPr/>
                      <p:nvPr/>
                    </p:nvPicPr>
                    <p:blipFill>
                      <a:blip r:embed="rId13"/>
                      <a:stretch>
                        <a:fillRect/>
                      </a:stretch>
                    </p:blipFill>
                    <p:spPr>
                      <a:xfrm>
                        <a:off x="2743200" y="5791200"/>
                        <a:ext cx="1352550" cy="442633"/>
                      </a:xfrm>
                      <a:prstGeom prst="rect">
                        <a:avLst/>
                      </a:prstGeom>
                    </p:spPr>
                  </p:pic>
                </p:oleObj>
              </mc:Fallback>
            </mc:AlternateContent>
          </a:graphicData>
        </a:graphic>
      </p:graphicFrame>
    </p:spTree>
    <p:extLst>
      <p:ext uri="{BB962C8B-B14F-4D97-AF65-F5344CB8AC3E}">
        <p14:creationId xmlns:p14="http://schemas.microsoft.com/office/powerpoint/2010/main" val="503301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1000"/>
                                        <p:tgtEl>
                                          <p:spTgt spid="3">
                                            <p:txEl>
                                              <p:pRg st="6" end="6"/>
                                            </p:txEl>
                                          </p:spTgt>
                                        </p:tgtEl>
                                      </p:cBhvr>
                                    </p:animEffect>
                                    <p:anim calcmode="lin" valueType="num">
                                      <p:cBhvr>
                                        <p:cTn id="3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1000"/>
                                        <p:tgtEl>
                                          <p:spTgt spid="3">
                                            <p:txEl>
                                              <p:pRg st="8" end="8"/>
                                            </p:txEl>
                                          </p:spTgt>
                                        </p:tgtEl>
                                      </p:cBhvr>
                                    </p:animEffect>
                                    <p:anim calcmode="lin" valueType="num">
                                      <p:cBhvr>
                                        <p:cTn id="4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1000"/>
                                        <p:tgtEl>
                                          <p:spTgt spid="3">
                                            <p:txEl>
                                              <p:pRg st="10" end="10"/>
                                            </p:txEl>
                                          </p:spTgt>
                                        </p:tgtEl>
                                      </p:cBhvr>
                                    </p:animEffect>
                                    <p:anim calcmode="lin" valueType="num">
                                      <p:cBhvr>
                                        <p:cTn id="4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DBC8D69-018D-BA45-3F9B-CD3822AEC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55EEA-0490-0C9B-7752-EA5A11ABCB04}"/>
              </a:ext>
            </a:extLst>
          </p:cNvPr>
          <p:cNvSpPr>
            <a:spLocks noGrp="1"/>
          </p:cNvSpPr>
          <p:nvPr>
            <p:ph type="title"/>
          </p:nvPr>
        </p:nvSpPr>
        <p:spPr>
          <a:xfrm>
            <a:off x="628650" y="509867"/>
            <a:ext cx="8252114" cy="518388"/>
          </a:xfrm>
        </p:spPr>
        <p:txBody>
          <a:bodyPr/>
          <a:lstStyle/>
          <a:p>
            <a:pPr algn="just"/>
            <a:r>
              <a:rPr lang="en-GB" sz="2800" b="1" dirty="0" err="1">
                <a:solidFill>
                  <a:srgbClr val="C00000"/>
                </a:solidFill>
              </a:rPr>
              <a:t>Durbin</a:t>
            </a:r>
            <a:r>
              <a:rPr lang="en-GB" sz="2800" b="1" dirty="0" err="1">
                <a:solidFill>
                  <a:srgbClr val="C00000"/>
                </a:solidFill>
                <a:sym typeface="Symbol" panose="05050102010706020507" pitchFamily="18" charset="2"/>
              </a:rPr>
              <a:t></a:t>
            </a:r>
            <a:r>
              <a:rPr lang="en-GB" sz="2800" b="1" dirty="0" err="1">
                <a:solidFill>
                  <a:srgbClr val="C00000"/>
                </a:solidFill>
              </a:rPr>
              <a:t>Watson</a:t>
            </a:r>
            <a:r>
              <a:rPr lang="en-GB" sz="2800" b="1" dirty="0">
                <a:solidFill>
                  <a:srgbClr val="C00000"/>
                </a:solidFill>
              </a:rPr>
              <a:t> Test for Auto-Correlation</a:t>
            </a:r>
            <a:endParaRPr lang="en-IN" sz="2800" dirty="0">
              <a:solidFill>
                <a:srgbClr val="C00000"/>
              </a:solidFill>
            </a:endParaRPr>
          </a:p>
        </p:txBody>
      </p:sp>
      <p:sp>
        <p:nvSpPr>
          <p:cNvPr id="3" name="Content Placeholder 2">
            <a:extLst>
              <a:ext uri="{FF2B5EF4-FFF2-40B4-BE49-F238E27FC236}">
                <a16:creationId xmlns:a16="http://schemas.microsoft.com/office/drawing/2014/main" id="{A17C37F5-C151-F571-5E3B-78DD7D298460}"/>
              </a:ext>
            </a:extLst>
          </p:cNvPr>
          <p:cNvSpPr>
            <a:spLocks noGrp="1"/>
          </p:cNvSpPr>
          <p:nvPr>
            <p:ph idx="1"/>
          </p:nvPr>
        </p:nvSpPr>
        <p:spPr>
          <a:xfrm>
            <a:off x="628650" y="1205347"/>
            <a:ext cx="7886700" cy="5142786"/>
          </a:xfrm>
        </p:spPr>
        <p:txBody>
          <a:bodyPr/>
          <a:lstStyle/>
          <a:p>
            <a:pPr marL="0" indent="0" algn="just">
              <a:buNone/>
            </a:pPr>
            <a:r>
              <a:rPr lang="en-US" sz="2400" dirty="0"/>
              <a:t>D=2 implies there is no auto-correlation in the residuals.</a:t>
            </a:r>
          </a:p>
          <a:p>
            <a:pPr marL="0" indent="0" algn="just">
              <a:buNone/>
            </a:pPr>
            <a:endParaRPr lang="en-US" sz="2400" dirty="0"/>
          </a:p>
          <a:p>
            <a:pPr marL="0" indent="0" algn="just">
              <a:buNone/>
            </a:pPr>
            <a:r>
              <a:rPr lang="en-US" sz="2400" dirty="0"/>
              <a:t>2&lt;D&lt;=4 implies there is –ve auto-correlation in the residuals.</a:t>
            </a:r>
          </a:p>
          <a:p>
            <a:pPr marL="0" indent="0" algn="just">
              <a:buNone/>
            </a:pPr>
            <a:endParaRPr lang="en-US" sz="2400" dirty="0"/>
          </a:p>
          <a:p>
            <a:pPr marL="0" indent="0" algn="just">
              <a:buNone/>
            </a:pPr>
            <a:r>
              <a:rPr lang="en-US" sz="2400" dirty="0"/>
              <a:t>0&lt;=D&lt;2 implies there is +ve auto-correlation in the residuals.</a:t>
            </a:r>
          </a:p>
          <a:p>
            <a:pPr marL="0" indent="0" algn="just">
              <a:buNone/>
            </a:pPr>
            <a:endParaRPr lang="en-US" sz="2400" dirty="0"/>
          </a:p>
          <a:p>
            <a:pPr marL="0" indent="0" algn="just">
              <a:buNone/>
            </a:pPr>
            <a:r>
              <a:rPr lang="en-US" sz="2400" dirty="0"/>
              <a:t>As a rule of thumb, D values between 1.5 to 2.5 are considered to be normal. </a:t>
            </a:r>
            <a:endParaRPr lang="en-IN" dirty="0"/>
          </a:p>
        </p:txBody>
      </p:sp>
      <p:sp>
        <p:nvSpPr>
          <p:cNvPr id="4" name="Rectangle 2">
            <a:extLst>
              <a:ext uri="{FF2B5EF4-FFF2-40B4-BE49-F238E27FC236}">
                <a16:creationId xmlns:a16="http://schemas.microsoft.com/office/drawing/2014/main" id="{1AB8B805-C91A-2B4C-9BC7-8908A76A935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97569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1000"/>
                                        <p:tgtEl>
                                          <p:spTgt spid="3">
                                            <p:txEl>
                                              <p:pRg st="6" end="6"/>
                                            </p:txEl>
                                          </p:spTgt>
                                        </p:tgtEl>
                                      </p:cBhvr>
                                    </p:animEffect>
                                    <p:anim calcmode="lin" valueType="num">
                                      <p:cBhvr>
                                        <p:cTn id="3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4ADCED-487D-488B-A207-7D494F1EFC4B}"/>
              </a:ext>
            </a:extLst>
          </p:cNvPr>
          <p:cNvSpPr>
            <a:spLocks noGrp="1"/>
          </p:cNvSpPr>
          <p:nvPr>
            <p:ph idx="4294967295"/>
          </p:nvPr>
        </p:nvSpPr>
        <p:spPr>
          <a:xfrm>
            <a:off x="342900" y="1143000"/>
            <a:ext cx="8458200" cy="4191000"/>
          </a:xfrm>
        </p:spPr>
        <p:txBody>
          <a:bodyPr/>
          <a:lstStyle/>
          <a:p>
            <a:pPr marL="0" indent="0" algn="just">
              <a:buNone/>
            </a:pPr>
            <a:r>
              <a:rPr lang="en-GB" sz="2400" dirty="0"/>
              <a:t>The </a:t>
            </a:r>
            <a:r>
              <a:rPr lang="en-GB" sz="2400" dirty="0" err="1"/>
              <a:t>Durbin</a:t>
            </a:r>
            <a:r>
              <a:rPr lang="en-GB" sz="2400" dirty="0" err="1">
                <a:sym typeface="Symbol" panose="05050102010706020507" pitchFamily="18" charset="2"/>
              </a:rPr>
              <a:t></a:t>
            </a:r>
            <a:r>
              <a:rPr lang="en-GB" sz="2400" dirty="0" err="1"/>
              <a:t>Watson</a:t>
            </a:r>
            <a:r>
              <a:rPr lang="en-GB" sz="2400" dirty="0"/>
              <a:t> test has two critical values, </a:t>
            </a:r>
            <a:r>
              <a:rPr lang="en-GB" sz="2400" i="1" dirty="0"/>
              <a:t>D</a:t>
            </a:r>
            <a:r>
              <a:rPr lang="en-GB" sz="2400" i="1" baseline="-25000" dirty="0"/>
              <a:t>L</a:t>
            </a:r>
            <a:r>
              <a:rPr lang="en-GB" sz="2400" dirty="0"/>
              <a:t> and </a:t>
            </a:r>
            <a:r>
              <a:rPr lang="en-GB" sz="2400" i="1" dirty="0"/>
              <a:t>D</a:t>
            </a:r>
            <a:r>
              <a:rPr lang="en-GB" sz="2400" i="1" baseline="-25000" dirty="0"/>
              <a:t>U</a:t>
            </a:r>
            <a:r>
              <a:rPr lang="en-GB" sz="2400" dirty="0"/>
              <a:t>. The inference of the test can be made based on the following conditions:</a:t>
            </a:r>
          </a:p>
          <a:p>
            <a:pPr lvl="0" algn="just"/>
            <a:r>
              <a:rPr lang="en-GB" sz="2400" dirty="0"/>
              <a:t>If </a:t>
            </a:r>
            <a:r>
              <a:rPr lang="en-GB" sz="2400" i="1" dirty="0"/>
              <a:t>D</a:t>
            </a:r>
            <a:r>
              <a:rPr lang="en-GB" sz="2400" dirty="0"/>
              <a:t> &lt; </a:t>
            </a:r>
            <a:r>
              <a:rPr lang="en-GB" sz="2400" i="1" dirty="0"/>
              <a:t>D</a:t>
            </a:r>
            <a:r>
              <a:rPr lang="en-GB" sz="2400" i="1" baseline="-25000" dirty="0"/>
              <a:t>L</a:t>
            </a:r>
            <a:r>
              <a:rPr lang="en-GB" sz="2400" dirty="0"/>
              <a:t>, then the errors are positively correlated.</a:t>
            </a:r>
            <a:endParaRPr lang="en-IN" sz="2400" dirty="0"/>
          </a:p>
          <a:p>
            <a:pPr lvl="0" algn="just"/>
            <a:r>
              <a:rPr lang="en-GB" sz="2400" dirty="0"/>
              <a:t>If </a:t>
            </a:r>
            <a:r>
              <a:rPr lang="en-GB" sz="2400" i="1" dirty="0"/>
              <a:t>D</a:t>
            </a:r>
            <a:r>
              <a:rPr lang="en-GB" sz="2400" dirty="0"/>
              <a:t> &gt; </a:t>
            </a:r>
            <a:r>
              <a:rPr lang="en-GB" sz="2400" i="1" dirty="0"/>
              <a:t>D</a:t>
            </a:r>
            <a:r>
              <a:rPr lang="en-GB" sz="2400" i="1" baseline="-25000" dirty="0"/>
              <a:t>L</a:t>
            </a:r>
            <a:r>
              <a:rPr lang="en-GB" sz="2400" dirty="0"/>
              <a:t>, then there is no evidence for positive auto-correlation.</a:t>
            </a:r>
            <a:endParaRPr lang="en-IN" sz="2400" dirty="0"/>
          </a:p>
          <a:p>
            <a:pPr lvl="0" algn="just"/>
            <a:r>
              <a:rPr lang="en-GB" sz="2400" dirty="0"/>
              <a:t>If </a:t>
            </a:r>
            <a:r>
              <a:rPr lang="en-GB" sz="2400" i="1" dirty="0"/>
              <a:t>D</a:t>
            </a:r>
            <a:r>
              <a:rPr lang="en-GB" sz="2400" i="1" baseline="-25000" dirty="0"/>
              <a:t>L</a:t>
            </a:r>
            <a:r>
              <a:rPr lang="en-GB" sz="2400" dirty="0"/>
              <a:t> &lt; </a:t>
            </a:r>
            <a:r>
              <a:rPr lang="en-GB" sz="2400" i="1" dirty="0"/>
              <a:t>D</a:t>
            </a:r>
            <a:r>
              <a:rPr lang="en-GB" sz="2400" dirty="0"/>
              <a:t> &lt; </a:t>
            </a:r>
            <a:r>
              <a:rPr lang="en-GB" sz="2400" i="1" dirty="0"/>
              <a:t>D</a:t>
            </a:r>
            <a:r>
              <a:rPr lang="en-GB" sz="2400" i="1" baseline="-25000" dirty="0"/>
              <a:t>U</a:t>
            </a:r>
            <a:r>
              <a:rPr lang="en-GB" sz="2400" dirty="0"/>
              <a:t>, the </a:t>
            </a:r>
            <a:r>
              <a:rPr lang="en-GB" sz="2400" dirty="0" err="1"/>
              <a:t>Durbin</a:t>
            </a:r>
            <a:r>
              <a:rPr lang="en-GB" sz="2400" dirty="0" err="1">
                <a:sym typeface="Symbol" panose="05050102010706020507" pitchFamily="18" charset="2"/>
              </a:rPr>
              <a:t></a:t>
            </a:r>
            <a:r>
              <a:rPr lang="en-GB" sz="2400" dirty="0" err="1"/>
              <a:t>Watson</a:t>
            </a:r>
            <a:r>
              <a:rPr lang="en-GB" sz="2400" dirty="0"/>
              <a:t> test is inconclusive.</a:t>
            </a:r>
            <a:endParaRPr lang="en-IN" sz="2400" dirty="0"/>
          </a:p>
          <a:p>
            <a:pPr lvl="0" algn="just"/>
            <a:r>
              <a:rPr lang="en-GB" sz="2400" dirty="0"/>
              <a:t>If (4 </a:t>
            </a:r>
            <a:r>
              <a:rPr lang="en-GB" sz="2400" dirty="0">
                <a:sym typeface="Symbol" panose="05050102010706020507" pitchFamily="18" charset="2"/>
              </a:rPr>
              <a:t></a:t>
            </a:r>
            <a:r>
              <a:rPr lang="en-GB" sz="2400" dirty="0"/>
              <a:t> </a:t>
            </a:r>
            <a:r>
              <a:rPr lang="en-GB" sz="2400" i="1" dirty="0"/>
              <a:t>D</a:t>
            </a:r>
            <a:r>
              <a:rPr lang="en-GB" sz="2400" dirty="0"/>
              <a:t>) &lt; </a:t>
            </a:r>
            <a:r>
              <a:rPr lang="en-GB" sz="2400" i="1" dirty="0"/>
              <a:t>D</a:t>
            </a:r>
            <a:r>
              <a:rPr lang="en-GB" sz="2400" i="1" baseline="-25000" dirty="0"/>
              <a:t>L</a:t>
            </a:r>
            <a:r>
              <a:rPr lang="en-GB" sz="2400" dirty="0"/>
              <a:t>, then errors are negatively correlated.</a:t>
            </a:r>
            <a:endParaRPr lang="en-IN" sz="2400" dirty="0"/>
          </a:p>
          <a:p>
            <a:pPr lvl="0" algn="just"/>
            <a:r>
              <a:rPr lang="en-GB" sz="2400" dirty="0"/>
              <a:t>If (4 </a:t>
            </a:r>
            <a:r>
              <a:rPr lang="en-GB" sz="2400" dirty="0">
                <a:sym typeface="Symbol" panose="05050102010706020507" pitchFamily="18" charset="2"/>
              </a:rPr>
              <a:t></a:t>
            </a:r>
            <a:r>
              <a:rPr lang="en-GB" sz="2400" dirty="0"/>
              <a:t> </a:t>
            </a:r>
            <a:r>
              <a:rPr lang="en-GB" sz="2400" i="1" dirty="0"/>
              <a:t>D</a:t>
            </a:r>
            <a:r>
              <a:rPr lang="en-GB" sz="2400" dirty="0"/>
              <a:t>) &gt; </a:t>
            </a:r>
            <a:r>
              <a:rPr lang="en-GB" sz="2400" i="1" dirty="0"/>
              <a:t>D</a:t>
            </a:r>
            <a:r>
              <a:rPr lang="en-GB" sz="2400" i="1" baseline="-25000" dirty="0"/>
              <a:t>U</a:t>
            </a:r>
            <a:r>
              <a:rPr lang="en-GB" sz="2400" dirty="0"/>
              <a:t>, there is no evidence for negative auto-correlation.</a:t>
            </a:r>
            <a:endParaRPr lang="en-IN" sz="2400" dirty="0"/>
          </a:p>
          <a:p>
            <a:pPr lvl="0" algn="just"/>
            <a:r>
              <a:rPr lang="en-GB" sz="2400" dirty="0"/>
              <a:t>If </a:t>
            </a:r>
            <a:r>
              <a:rPr lang="en-GB" sz="2400" i="1" dirty="0"/>
              <a:t>D</a:t>
            </a:r>
            <a:r>
              <a:rPr lang="en-GB" sz="2400" i="1" baseline="-25000" dirty="0"/>
              <a:t>L</a:t>
            </a:r>
            <a:r>
              <a:rPr lang="en-GB" sz="2400" dirty="0"/>
              <a:t> &lt; (4 </a:t>
            </a:r>
            <a:r>
              <a:rPr lang="en-GB" sz="2400" dirty="0">
                <a:sym typeface="Symbol" panose="05050102010706020507" pitchFamily="18" charset="2"/>
              </a:rPr>
              <a:t></a:t>
            </a:r>
            <a:r>
              <a:rPr lang="en-GB" sz="2400" dirty="0"/>
              <a:t> </a:t>
            </a:r>
            <a:r>
              <a:rPr lang="en-GB" sz="2400" i="1" dirty="0"/>
              <a:t>D</a:t>
            </a:r>
            <a:r>
              <a:rPr lang="en-GB" sz="2400" dirty="0"/>
              <a:t>) &lt; </a:t>
            </a:r>
            <a:r>
              <a:rPr lang="en-GB" sz="2400" i="1" dirty="0"/>
              <a:t>D</a:t>
            </a:r>
            <a:r>
              <a:rPr lang="en-GB" sz="2400" i="1" baseline="-25000" dirty="0"/>
              <a:t>U</a:t>
            </a:r>
            <a:r>
              <a:rPr lang="en-GB" sz="2400" dirty="0"/>
              <a:t>, the test is inconclusive.</a:t>
            </a:r>
            <a:endParaRPr lang="en-IN" sz="2400" dirty="0"/>
          </a:p>
          <a:p>
            <a:pPr marL="0" indent="0">
              <a:buNone/>
            </a:pPr>
            <a:endParaRPr lang="en-IN" sz="2400" dirty="0"/>
          </a:p>
          <a:p>
            <a:endParaRPr lang="en-IN" dirty="0"/>
          </a:p>
        </p:txBody>
      </p:sp>
    </p:spTree>
    <p:extLst>
      <p:ext uri="{BB962C8B-B14F-4D97-AF65-F5344CB8AC3E}">
        <p14:creationId xmlns:p14="http://schemas.microsoft.com/office/powerpoint/2010/main" val="82175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AE3FD8-DEFD-3851-A2C5-318CEC48864B}"/>
              </a:ext>
            </a:extLst>
          </p:cNvPr>
          <p:cNvPicPr>
            <a:picLocks noChangeAspect="1"/>
          </p:cNvPicPr>
          <p:nvPr/>
        </p:nvPicPr>
        <p:blipFill>
          <a:blip r:embed="rId2"/>
          <a:stretch>
            <a:fillRect/>
          </a:stretch>
        </p:blipFill>
        <p:spPr>
          <a:xfrm>
            <a:off x="381000" y="1295400"/>
            <a:ext cx="8458200" cy="4648200"/>
          </a:xfrm>
          <a:prstGeom prst="rect">
            <a:avLst/>
          </a:prstGeom>
        </p:spPr>
      </p:pic>
    </p:spTree>
    <p:extLst>
      <p:ext uri="{BB962C8B-B14F-4D97-AF65-F5344CB8AC3E}">
        <p14:creationId xmlns:p14="http://schemas.microsoft.com/office/powerpoint/2010/main" val="17898725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03FE5B2-97D2-B1BF-9329-92D472579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5F339-516B-3EA1-33B8-525A2956050D}"/>
              </a:ext>
            </a:extLst>
          </p:cNvPr>
          <p:cNvSpPr>
            <a:spLocks noGrp="1"/>
          </p:cNvSpPr>
          <p:nvPr>
            <p:ph type="title"/>
          </p:nvPr>
        </p:nvSpPr>
        <p:spPr>
          <a:xfrm>
            <a:off x="628650" y="304800"/>
            <a:ext cx="8252114" cy="680237"/>
          </a:xfrm>
        </p:spPr>
        <p:txBody>
          <a:bodyPr>
            <a:normAutofit fontScale="90000"/>
          </a:bodyPr>
          <a:lstStyle/>
          <a:p>
            <a:pPr algn="just"/>
            <a:r>
              <a:rPr lang="en-GB" sz="2800" b="1" dirty="0">
                <a:solidFill>
                  <a:srgbClr val="C00000"/>
                </a:solidFill>
              </a:rPr>
              <a:t>Impacts of Auto-Correlation on Regression Model</a:t>
            </a:r>
            <a:endParaRPr lang="en-IN" sz="2800" dirty="0">
              <a:solidFill>
                <a:srgbClr val="C00000"/>
              </a:solidFill>
            </a:endParaRPr>
          </a:p>
        </p:txBody>
      </p:sp>
      <p:sp>
        <p:nvSpPr>
          <p:cNvPr id="3" name="Content Placeholder 2">
            <a:extLst>
              <a:ext uri="{FF2B5EF4-FFF2-40B4-BE49-F238E27FC236}">
                <a16:creationId xmlns:a16="http://schemas.microsoft.com/office/drawing/2014/main" id="{BCF58D59-BD4F-B061-FCEC-932AAF1807CB}"/>
              </a:ext>
            </a:extLst>
          </p:cNvPr>
          <p:cNvSpPr>
            <a:spLocks noGrp="1"/>
          </p:cNvSpPr>
          <p:nvPr>
            <p:ph idx="1"/>
          </p:nvPr>
        </p:nvSpPr>
        <p:spPr>
          <a:xfrm>
            <a:off x="628650" y="1205347"/>
            <a:ext cx="7886700" cy="5142786"/>
          </a:xfrm>
        </p:spPr>
        <p:txBody>
          <a:bodyPr/>
          <a:lstStyle/>
          <a:p>
            <a:pPr algn="just"/>
            <a:r>
              <a:rPr lang="en-IN" sz="2400" dirty="0"/>
              <a:t>In the presence of auto-correlation, the standard error estimate of the beta coefficient may be underestimated.</a:t>
            </a:r>
          </a:p>
          <a:p>
            <a:pPr algn="just"/>
            <a:endParaRPr lang="en-IN" sz="2400" dirty="0"/>
          </a:p>
          <a:p>
            <a:pPr algn="just"/>
            <a:r>
              <a:rPr lang="en-IN" sz="2400" dirty="0"/>
              <a:t>Thus the corresponding t-statistic values are over-estimated.</a:t>
            </a:r>
          </a:p>
          <a:p>
            <a:pPr algn="just"/>
            <a:endParaRPr lang="en-IN" sz="2400" dirty="0"/>
          </a:p>
          <a:p>
            <a:pPr algn="just"/>
            <a:r>
              <a:rPr lang="en-IN" sz="2400" dirty="0"/>
              <a:t>This will lead to lower p-values than actual.</a:t>
            </a:r>
          </a:p>
          <a:p>
            <a:pPr algn="just"/>
            <a:endParaRPr lang="en-IN" sz="2400" dirty="0"/>
          </a:p>
          <a:p>
            <a:pPr algn="just"/>
            <a:r>
              <a:rPr lang="en-IN" sz="2400" dirty="0"/>
              <a:t>Thus a X variable with no significant statistical relationship with Y tends to get accepted in the model.</a:t>
            </a:r>
            <a:endParaRPr lang="en-IN" dirty="0"/>
          </a:p>
        </p:txBody>
      </p:sp>
      <p:sp>
        <p:nvSpPr>
          <p:cNvPr id="4" name="Rectangle 2">
            <a:extLst>
              <a:ext uri="{FF2B5EF4-FFF2-40B4-BE49-F238E27FC236}">
                <a16:creationId xmlns:a16="http://schemas.microsoft.com/office/drawing/2014/main" id="{B37C3E13-97D4-DBE8-1EB2-578AD0A7E36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35962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1000"/>
                                        <p:tgtEl>
                                          <p:spTgt spid="3">
                                            <p:txEl>
                                              <p:pRg st="6" end="6"/>
                                            </p:txEl>
                                          </p:spTgt>
                                        </p:tgtEl>
                                      </p:cBhvr>
                                    </p:animEffect>
                                    <p:anim calcmode="lin" valueType="num">
                                      <p:cBhvr>
                                        <p:cTn id="3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86943F9-67AA-CBD4-3420-B5097BC1A1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C6D0C-13B3-0DF1-BF94-A0A1D686EC37}"/>
              </a:ext>
            </a:extLst>
          </p:cNvPr>
          <p:cNvSpPr>
            <a:spLocks noGrp="1"/>
          </p:cNvSpPr>
          <p:nvPr>
            <p:ph type="title"/>
          </p:nvPr>
        </p:nvSpPr>
        <p:spPr>
          <a:xfrm>
            <a:off x="628650" y="304801"/>
            <a:ext cx="8252114" cy="533400"/>
          </a:xfrm>
        </p:spPr>
        <p:txBody>
          <a:bodyPr>
            <a:normAutofit fontScale="90000"/>
          </a:bodyPr>
          <a:lstStyle/>
          <a:p>
            <a:pPr algn="just"/>
            <a:r>
              <a:rPr lang="en-GB" sz="2800" b="1" dirty="0">
                <a:solidFill>
                  <a:srgbClr val="C00000"/>
                </a:solidFill>
              </a:rPr>
              <a:t>Impacts of Assumptions on Regression Model</a:t>
            </a:r>
            <a:endParaRPr lang="en-IN" sz="2800" dirty="0">
              <a:solidFill>
                <a:srgbClr val="C00000"/>
              </a:solidFill>
            </a:endParaRPr>
          </a:p>
        </p:txBody>
      </p:sp>
      <p:sp>
        <p:nvSpPr>
          <p:cNvPr id="4" name="Rectangle 2">
            <a:extLst>
              <a:ext uri="{FF2B5EF4-FFF2-40B4-BE49-F238E27FC236}">
                <a16:creationId xmlns:a16="http://schemas.microsoft.com/office/drawing/2014/main" id="{32A39988-8E81-F689-FD1B-0E0B335ADA7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6" name="Table 5">
            <a:extLst>
              <a:ext uri="{FF2B5EF4-FFF2-40B4-BE49-F238E27FC236}">
                <a16:creationId xmlns:a16="http://schemas.microsoft.com/office/drawing/2014/main" id="{5530D341-E525-F2FD-D9F9-9023A975F3AD}"/>
              </a:ext>
            </a:extLst>
          </p:cNvPr>
          <p:cNvGraphicFramePr>
            <a:graphicFrameLocks noGrp="1"/>
          </p:cNvGraphicFramePr>
          <p:nvPr>
            <p:extLst>
              <p:ext uri="{D42A27DB-BD31-4B8C-83A1-F6EECF244321}">
                <p14:modId xmlns:p14="http://schemas.microsoft.com/office/powerpoint/2010/main" val="1833815697"/>
              </p:ext>
            </p:extLst>
          </p:nvPr>
        </p:nvGraphicFramePr>
        <p:xfrm>
          <a:off x="533400" y="1143000"/>
          <a:ext cx="8252116" cy="5227320"/>
        </p:xfrm>
        <a:graphic>
          <a:graphicData uri="http://schemas.openxmlformats.org/drawingml/2006/table">
            <a:tbl>
              <a:tblPr firstRow="1" bandRow="1">
                <a:tableStyleId>{5C22544A-7EE6-4342-B048-85BDC9FD1C3A}</a:tableStyleId>
              </a:tblPr>
              <a:tblGrid>
                <a:gridCol w="2063029">
                  <a:extLst>
                    <a:ext uri="{9D8B030D-6E8A-4147-A177-3AD203B41FA5}">
                      <a16:colId xmlns:a16="http://schemas.microsoft.com/office/drawing/2014/main" val="3930720374"/>
                    </a:ext>
                  </a:extLst>
                </a:gridCol>
                <a:gridCol w="2063029">
                  <a:extLst>
                    <a:ext uri="{9D8B030D-6E8A-4147-A177-3AD203B41FA5}">
                      <a16:colId xmlns:a16="http://schemas.microsoft.com/office/drawing/2014/main" val="3274358794"/>
                    </a:ext>
                  </a:extLst>
                </a:gridCol>
                <a:gridCol w="2063029">
                  <a:extLst>
                    <a:ext uri="{9D8B030D-6E8A-4147-A177-3AD203B41FA5}">
                      <a16:colId xmlns:a16="http://schemas.microsoft.com/office/drawing/2014/main" val="2973313882"/>
                    </a:ext>
                  </a:extLst>
                </a:gridCol>
                <a:gridCol w="2063029">
                  <a:extLst>
                    <a:ext uri="{9D8B030D-6E8A-4147-A177-3AD203B41FA5}">
                      <a16:colId xmlns:a16="http://schemas.microsoft.com/office/drawing/2014/main" val="2225632375"/>
                    </a:ext>
                  </a:extLst>
                </a:gridCol>
              </a:tblGrid>
              <a:tr h="370840">
                <a:tc>
                  <a:txBody>
                    <a:bodyPr/>
                    <a:lstStyle/>
                    <a:p>
                      <a:endParaRPr lang="en-IN"/>
                    </a:p>
                  </a:txBody>
                  <a:tcPr/>
                </a:tc>
                <a:tc>
                  <a:txBody>
                    <a:bodyPr/>
                    <a:lstStyle/>
                    <a:p>
                      <a:r>
                        <a:rPr lang="en-IN" dirty="0"/>
                        <a:t>SLR where residuals are normal, homoscedastic &amp; auto-correlation =0</a:t>
                      </a:r>
                    </a:p>
                  </a:txBody>
                  <a:tcPr/>
                </a:tc>
                <a:tc>
                  <a:txBody>
                    <a:bodyPr/>
                    <a:lstStyle/>
                    <a:p>
                      <a:r>
                        <a:rPr lang="en-IN" dirty="0"/>
                        <a:t>SLR where residuals are heteroscedastic</a:t>
                      </a:r>
                    </a:p>
                  </a:txBody>
                  <a:tcPr/>
                </a:tc>
                <a:tc>
                  <a:txBody>
                    <a:bodyPr/>
                    <a:lstStyle/>
                    <a:p>
                      <a:r>
                        <a:rPr lang="en-IN" dirty="0"/>
                        <a:t>SLR where residuals have auto-correlation !=0</a:t>
                      </a:r>
                    </a:p>
                  </a:txBody>
                  <a:tcPr/>
                </a:tc>
                <a:extLst>
                  <a:ext uri="{0D108BD9-81ED-4DB2-BD59-A6C34878D82A}">
                    <a16:rowId xmlns:a16="http://schemas.microsoft.com/office/drawing/2014/main" val="2824812681"/>
                  </a:ext>
                </a:extLst>
              </a:tr>
              <a:tr h="370840">
                <a:tc>
                  <a:txBody>
                    <a:bodyPr/>
                    <a:lstStyle/>
                    <a:p>
                      <a:r>
                        <a:rPr lang="en-IN" dirty="0"/>
                        <a:t>beta1 value</a:t>
                      </a:r>
                    </a:p>
                  </a:txBody>
                  <a:tcPr/>
                </a:tc>
                <a:tc>
                  <a:txBody>
                    <a:bodyPr/>
                    <a:lstStyle/>
                    <a:p>
                      <a:r>
                        <a:rPr lang="en-US" dirty="0"/>
                        <a:t>3076.1774</a:t>
                      </a:r>
                      <a:endParaRPr lang="en-IN" dirty="0"/>
                    </a:p>
                  </a:txBody>
                  <a:tcPr/>
                </a:tc>
                <a:tc>
                  <a:txBody>
                    <a:bodyPr/>
                    <a:lstStyle/>
                    <a:p>
                      <a:r>
                        <a:rPr lang="en-US" dirty="0"/>
                        <a:t>3076.1774</a:t>
                      </a:r>
                      <a:endParaRPr lang="en-IN" dirty="0"/>
                    </a:p>
                  </a:txBody>
                  <a:tcPr/>
                </a:tc>
                <a:tc>
                  <a:txBody>
                    <a:bodyPr/>
                    <a:lstStyle/>
                    <a:p>
                      <a:r>
                        <a:rPr lang="en-US" dirty="0"/>
                        <a:t>3076.1774</a:t>
                      </a:r>
                      <a:endParaRPr lang="en-IN" dirty="0"/>
                    </a:p>
                  </a:txBody>
                  <a:tcPr/>
                </a:tc>
                <a:extLst>
                  <a:ext uri="{0D108BD9-81ED-4DB2-BD59-A6C34878D82A}">
                    <a16:rowId xmlns:a16="http://schemas.microsoft.com/office/drawing/2014/main" val="3758069148"/>
                  </a:ext>
                </a:extLst>
              </a:tr>
              <a:tr h="370840">
                <a:tc>
                  <a:txBody>
                    <a:bodyPr/>
                    <a:lstStyle/>
                    <a:p>
                      <a:r>
                        <a:rPr lang="en-US" dirty="0"/>
                        <a:t>Standard error (beta1)</a:t>
                      </a:r>
                      <a:endParaRPr lang="en-IN" dirty="0"/>
                    </a:p>
                  </a:txBody>
                  <a:tcPr/>
                </a:tc>
                <a:tc>
                  <a:txBody>
                    <a:bodyPr/>
                    <a:lstStyle/>
                    <a:p>
                      <a:r>
                        <a:rPr lang="en-US" dirty="0"/>
                        <a:t>1031.526</a:t>
                      </a:r>
                      <a:endParaRPr lang="en-IN" dirty="0"/>
                    </a:p>
                  </a:txBody>
                  <a:tcPr/>
                </a:tc>
                <a:tc>
                  <a:txBody>
                    <a:bodyPr/>
                    <a:lstStyle/>
                    <a:p>
                      <a:r>
                        <a:rPr lang="en-US" dirty="0"/>
                        <a:t>2000 (example)</a:t>
                      </a:r>
                      <a:endParaRPr lang="en-IN" dirty="0"/>
                    </a:p>
                  </a:txBody>
                  <a:tcPr/>
                </a:tc>
                <a:tc>
                  <a:txBody>
                    <a:bodyPr/>
                    <a:lstStyle/>
                    <a:p>
                      <a:r>
                        <a:rPr lang="en-US" dirty="0"/>
                        <a:t>500 (example)</a:t>
                      </a:r>
                      <a:endParaRPr lang="en-IN" dirty="0"/>
                    </a:p>
                  </a:txBody>
                  <a:tcPr/>
                </a:tc>
                <a:extLst>
                  <a:ext uri="{0D108BD9-81ED-4DB2-BD59-A6C34878D82A}">
                    <a16:rowId xmlns:a16="http://schemas.microsoft.com/office/drawing/2014/main" val="1850490387"/>
                  </a:ext>
                </a:extLst>
              </a:tr>
              <a:tr h="370840">
                <a:tc>
                  <a:txBody>
                    <a:bodyPr/>
                    <a:lstStyle/>
                    <a:p>
                      <a:r>
                        <a:rPr lang="en-US" dirty="0"/>
                        <a:t>T-stat</a:t>
                      </a:r>
                      <a:endParaRPr lang="en-IN" dirty="0"/>
                    </a:p>
                  </a:txBody>
                  <a:tcPr/>
                </a:tc>
                <a:tc>
                  <a:txBody>
                    <a:bodyPr/>
                    <a:lstStyle/>
                    <a:p>
                      <a:r>
                        <a:rPr lang="en-US" dirty="0"/>
                        <a:t>2.982</a:t>
                      </a:r>
                      <a:endParaRPr lang="en-IN" dirty="0"/>
                    </a:p>
                  </a:txBody>
                  <a:tcPr/>
                </a:tc>
                <a:tc>
                  <a:txBody>
                    <a:bodyPr/>
                    <a:lstStyle/>
                    <a:p>
                      <a:r>
                        <a:rPr lang="en-US" dirty="0"/>
                        <a:t>1.54</a:t>
                      </a:r>
                      <a:endParaRPr lang="en-IN" dirty="0"/>
                    </a:p>
                  </a:txBody>
                  <a:tcPr/>
                </a:tc>
                <a:tc>
                  <a:txBody>
                    <a:bodyPr/>
                    <a:lstStyle/>
                    <a:p>
                      <a:r>
                        <a:rPr lang="en-US" dirty="0"/>
                        <a:t>6.15235</a:t>
                      </a:r>
                      <a:endParaRPr lang="en-IN" dirty="0"/>
                    </a:p>
                  </a:txBody>
                  <a:tcPr/>
                </a:tc>
                <a:extLst>
                  <a:ext uri="{0D108BD9-81ED-4DB2-BD59-A6C34878D82A}">
                    <a16:rowId xmlns:a16="http://schemas.microsoft.com/office/drawing/2014/main" val="2181177443"/>
                  </a:ext>
                </a:extLst>
              </a:tr>
              <a:tr h="370840">
                <a:tc>
                  <a:txBody>
                    <a:bodyPr/>
                    <a:lstStyle/>
                    <a:p>
                      <a:r>
                        <a:rPr lang="en-US" dirty="0"/>
                        <a:t>P-value</a:t>
                      </a:r>
                      <a:endParaRPr lang="en-IN" dirty="0"/>
                    </a:p>
                  </a:txBody>
                  <a:tcPr/>
                </a:tc>
                <a:tc>
                  <a:txBody>
                    <a:bodyPr/>
                    <a:lstStyle/>
                    <a:p>
                      <a:r>
                        <a:rPr lang="en-US" dirty="0"/>
                        <a:t>0.00449</a:t>
                      </a:r>
                      <a:endParaRPr lang="en-IN" dirty="0"/>
                    </a:p>
                  </a:txBody>
                  <a:tcPr/>
                </a:tc>
                <a:tc>
                  <a:txBody>
                    <a:bodyPr/>
                    <a:lstStyle/>
                    <a:p>
                      <a:r>
                        <a:rPr lang="en-US" dirty="0"/>
                        <a:t>0.131</a:t>
                      </a:r>
                      <a:endParaRPr lang="en-IN" dirty="0"/>
                    </a:p>
                  </a:txBody>
                  <a:tcPr/>
                </a:tc>
                <a:tc>
                  <a:txBody>
                    <a:bodyPr/>
                    <a:lstStyle/>
                    <a:p>
                      <a:r>
                        <a:rPr lang="en-US" dirty="0"/>
                        <a:t>0.000000</a:t>
                      </a:r>
                      <a:endParaRPr lang="en-IN" dirty="0"/>
                    </a:p>
                  </a:txBody>
                  <a:tcPr/>
                </a:tc>
                <a:extLst>
                  <a:ext uri="{0D108BD9-81ED-4DB2-BD59-A6C34878D82A}">
                    <a16:rowId xmlns:a16="http://schemas.microsoft.com/office/drawing/2014/main" val="3524372269"/>
                  </a:ext>
                </a:extLst>
              </a:tr>
              <a:tr h="370840">
                <a:tc>
                  <a:txBody>
                    <a:bodyPr/>
                    <a:lstStyle/>
                    <a:p>
                      <a:r>
                        <a:rPr lang="en-US" dirty="0"/>
                        <a:t>Explanation</a:t>
                      </a:r>
                      <a:endParaRPr lang="en-IN" dirty="0"/>
                    </a:p>
                  </a:txBody>
                  <a:tcPr/>
                </a:tc>
                <a:tc>
                  <a:txBody>
                    <a:bodyPr/>
                    <a:lstStyle/>
                    <a:p>
                      <a:endParaRPr lang="en-IN" dirty="0"/>
                    </a:p>
                  </a:txBody>
                  <a:tcPr/>
                </a:tc>
                <a:tc>
                  <a:txBody>
                    <a:bodyPr/>
                    <a:lstStyle/>
                    <a:p>
                      <a:r>
                        <a:rPr lang="en-US" dirty="0"/>
                        <a:t>Over-estimation of standard error leads to increase in p-value. Decision of hypothesis test changes.</a:t>
                      </a:r>
                      <a:endParaRPr lang="en-IN" dirty="0"/>
                    </a:p>
                  </a:txBody>
                  <a:tcPr/>
                </a:tc>
                <a:tc>
                  <a:txBody>
                    <a:bodyPr/>
                    <a:lstStyle/>
                    <a:p>
                      <a:r>
                        <a:rPr lang="en-US" dirty="0"/>
                        <a:t>Under-estimation of standard error leads to decrease in p-value. </a:t>
                      </a:r>
                      <a:endParaRPr lang="en-IN" dirty="0"/>
                    </a:p>
                  </a:txBody>
                  <a:tcPr/>
                </a:tc>
                <a:extLst>
                  <a:ext uri="{0D108BD9-81ED-4DB2-BD59-A6C34878D82A}">
                    <a16:rowId xmlns:a16="http://schemas.microsoft.com/office/drawing/2014/main" val="2706067037"/>
                  </a:ext>
                </a:extLst>
              </a:tr>
            </a:tbl>
          </a:graphicData>
        </a:graphic>
      </p:graphicFrame>
    </p:spTree>
    <p:extLst>
      <p:ext uri="{BB962C8B-B14F-4D97-AF65-F5344CB8AC3E}">
        <p14:creationId xmlns:p14="http://schemas.microsoft.com/office/powerpoint/2010/main" val="265732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9D133-6610-4659-836A-6FBE1DA52692}"/>
              </a:ext>
            </a:extLst>
          </p:cNvPr>
          <p:cNvSpPr>
            <a:spLocks noGrp="1"/>
          </p:cNvSpPr>
          <p:nvPr>
            <p:ph type="title"/>
          </p:nvPr>
        </p:nvSpPr>
        <p:spPr>
          <a:xfrm>
            <a:off x="628650" y="365126"/>
            <a:ext cx="7886700" cy="665249"/>
          </a:xfrm>
        </p:spPr>
        <p:txBody>
          <a:bodyPr>
            <a:normAutofit/>
          </a:bodyPr>
          <a:lstStyle/>
          <a:p>
            <a:pPr algn="just"/>
            <a:r>
              <a:rPr lang="en-GB" sz="2800" b="1" dirty="0">
                <a:solidFill>
                  <a:srgbClr val="C00000"/>
                </a:solidFill>
              </a:rPr>
              <a:t>Outlier Analysis</a:t>
            </a:r>
            <a:endParaRPr lang="en-IN" sz="2800" dirty="0">
              <a:solidFill>
                <a:srgbClr val="C00000"/>
              </a:solidFill>
            </a:endParaRPr>
          </a:p>
        </p:txBody>
      </p:sp>
      <p:sp>
        <p:nvSpPr>
          <p:cNvPr id="3" name="Content Placeholder 2">
            <a:extLst>
              <a:ext uri="{FF2B5EF4-FFF2-40B4-BE49-F238E27FC236}">
                <a16:creationId xmlns:a16="http://schemas.microsoft.com/office/drawing/2014/main" id="{1EDE4769-E5E7-4543-86D9-3A475FC059A5}"/>
              </a:ext>
            </a:extLst>
          </p:cNvPr>
          <p:cNvSpPr>
            <a:spLocks noGrp="1"/>
          </p:cNvSpPr>
          <p:nvPr>
            <p:ph idx="1"/>
          </p:nvPr>
        </p:nvSpPr>
        <p:spPr>
          <a:xfrm>
            <a:off x="571500" y="1160376"/>
            <a:ext cx="8267700" cy="2268624"/>
          </a:xfrm>
        </p:spPr>
        <p:txBody>
          <a:bodyPr>
            <a:normAutofit/>
          </a:bodyPr>
          <a:lstStyle/>
          <a:p>
            <a:pPr algn="just"/>
            <a:r>
              <a:rPr lang="en-GB" sz="2400" dirty="0"/>
              <a:t>Outliers are observations whose values show a large deviation from mean value, that is (       ) large</a:t>
            </a:r>
          </a:p>
          <a:p>
            <a:pPr algn="just"/>
            <a:r>
              <a:rPr lang="en-GB" sz="2400" dirty="0"/>
              <a:t>Presence of an outlier can have significant influence on values of regression coefficients. Thus, it is important to identify the existence of outliers in the data</a:t>
            </a:r>
            <a:endParaRPr lang="en-IN" sz="2400" dirty="0"/>
          </a:p>
        </p:txBody>
      </p:sp>
      <p:sp>
        <p:nvSpPr>
          <p:cNvPr id="4" name="Rectangle 2">
            <a:extLst>
              <a:ext uri="{FF2B5EF4-FFF2-40B4-BE49-F238E27FC236}">
                <a16:creationId xmlns:a16="http://schemas.microsoft.com/office/drawing/2014/main" id="{1A3C7167-A6BC-4C2D-BD8D-06FA54E5A363}"/>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AB9837DF-C5CC-4884-8D87-A359A23AC85B}"/>
              </a:ext>
            </a:extLst>
          </p:cNvPr>
          <p:cNvGraphicFramePr>
            <a:graphicFrameLocks noChangeAspect="1"/>
          </p:cNvGraphicFramePr>
          <p:nvPr/>
        </p:nvGraphicFramePr>
        <p:xfrm>
          <a:off x="3962400" y="1504950"/>
          <a:ext cx="762000" cy="400050"/>
        </p:xfrm>
        <a:graphic>
          <a:graphicData uri="http://schemas.openxmlformats.org/presentationml/2006/ole">
            <mc:AlternateContent xmlns:mc="http://schemas.openxmlformats.org/markup-compatibility/2006">
              <mc:Choice xmlns:v="urn:schemas-microsoft-com:vml" Requires="v">
                <p:oleObj name="Equation" r:id="rId2" imgW="406048" imgH="355292" progId="Equation.3">
                  <p:embed/>
                </p:oleObj>
              </mc:Choice>
              <mc:Fallback>
                <p:oleObj name="Equation" r:id="rId2" imgW="406048" imgH="355292" progId="Equation.3">
                  <p:embed/>
                  <p:pic>
                    <p:nvPicPr>
                      <p:cNvPr id="5" name="Object 4">
                        <a:extLst>
                          <a:ext uri="{FF2B5EF4-FFF2-40B4-BE49-F238E27FC236}">
                            <a16:creationId xmlns:a16="http://schemas.microsoft.com/office/drawing/2014/main" id="{AB9837DF-C5CC-4884-8D87-A359A23AC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504950"/>
                        <a:ext cx="762000" cy="400050"/>
                      </a:xfrm>
                      <a:prstGeom prst="rect">
                        <a:avLst/>
                      </a:prstGeom>
                      <a:noFill/>
                    </p:spPr>
                  </p:pic>
                </p:oleObj>
              </mc:Fallback>
            </mc:AlternateContent>
          </a:graphicData>
        </a:graphic>
      </p:graphicFrame>
      <p:pic>
        <p:nvPicPr>
          <p:cNvPr id="6" name="Picture 5">
            <a:extLst>
              <a:ext uri="{FF2B5EF4-FFF2-40B4-BE49-F238E27FC236}">
                <a16:creationId xmlns:a16="http://schemas.microsoft.com/office/drawing/2014/main" id="{F10FF43E-1655-488C-B3E8-9C45D8D07B61}"/>
              </a:ext>
            </a:extLst>
          </p:cNvPr>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27761" y="3202074"/>
            <a:ext cx="7086599" cy="2971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96933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38BAD-A834-4DEB-8E9A-A0F295F9D4EF}"/>
              </a:ext>
            </a:extLst>
          </p:cNvPr>
          <p:cNvSpPr>
            <a:spLocks noGrp="1"/>
          </p:cNvSpPr>
          <p:nvPr>
            <p:ph type="title"/>
          </p:nvPr>
        </p:nvSpPr>
        <p:spPr>
          <a:xfrm>
            <a:off x="628650" y="365126"/>
            <a:ext cx="7886700" cy="665249"/>
          </a:xfrm>
        </p:spPr>
        <p:txBody>
          <a:bodyPr>
            <a:normAutofit/>
          </a:bodyPr>
          <a:lstStyle/>
          <a:p>
            <a:pPr algn="just"/>
            <a:r>
              <a:rPr lang="en-GB" sz="3200" b="1" dirty="0">
                <a:solidFill>
                  <a:srgbClr val="C00000"/>
                </a:solidFill>
              </a:rPr>
              <a:t>Z-Score</a:t>
            </a:r>
            <a:endParaRPr lang="en-IN" sz="3200" dirty="0">
              <a:solidFill>
                <a:srgbClr val="C00000"/>
              </a:solidFill>
            </a:endParaRPr>
          </a:p>
        </p:txBody>
      </p:sp>
      <p:sp>
        <p:nvSpPr>
          <p:cNvPr id="3" name="Content Placeholder 2">
            <a:extLst>
              <a:ext uri="{FF2B5EF4-FFF2-40B4-BE49-F238E27FC236}">
                <a16:creationId xmlns:a16="http://schemas.microsoft.com/office/drawing/2014/main" id="{51238E65-F94E-452D-A36D-CC963CFE129E}"/>
              </a:ext>
            </a:extLst>
          </p:cNvPr>
          <p:cNvSpPr>
            <a:spLocks noGrp="1"/>
          </p:cNvSpPr>
          <p:nvPr>
            <p:ph idx="1"/>
          </p:nvPr>
        </p:nvSpPr>
        <p:spPr>
          <a:xfrm>
            <a:off x="490086" y="1253330"/>
            <a:ext cx="7886700" cy="5147469"/>
          </a:xfrm>
        </p:spPr>
        <p:txBody>
          <a:bodyPr>
            <a:normAutofit/>
          </a:bodyPr>
          <a:lstStyle/>
          <a:p>
            <a:pPr marL="0" indent="0" algn="just">
              <a:buNone/>
            </a:pPr>
            <a:r>
              <a:rPr lang="en-GB" sz="2400" dirty="0"/>
              <a:t>Z-score is the standardized distance of an observation from its mean value. For the predicted value of the dependent variable </a:t>
            </a:r>
            <a:r>
              <a:rPr lang="en-GB" sz="2400" i="1" dirty="0"/>
              <a:t>Y</a:t>
            </a:r>
            <a:r>
              <a:rPr lang="en-GB" sz="2400" dirty="0"/>
              <a:t>, the Z-score is given by</a:t>
            </a:r>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r>
              <a:rPr lang="en-GB" sz="2400" dirty="0"/>
              <a:t>Where   and    are, respectively, the mean and the standard deviation of dependent variable estimated from the sample data.    </a:t>
            </a:r>
          </a:p>
          <a:p>
            <a:pPr marL="0" indent="0" algn="just">
              <a:buNone/>
            </a:pPr>
            <a:r>
              <a:rPr lang="en-GB" sz="2400" dirty="0"/>
              <a:t>Any observation with Z-score &gt;3 or &lt;-3 may be flagged as an outlier.</a:t>
            </a:r>
          </a:p>
          <a:p>
            <a:pPr marL="0" indent="0">
              <a:buNone/>
            </a:pPr>
            <a:endParaRPr lang="en-IN" sz="2400" dirty="0"/>
          </a:p>
          <a:p>
            <a:endParaRPr lang="en-IN" sz="2400" dirty="0"/>
          </a:p>
        </p:txBody>
      </p:sp>
      <p:sp>
        <p:nvSpPr>
          <p:cNvPr id="4" name="Rectangle 2">
            <a:extLst>
              <a:ext uri="{FF2B5EF4-FFF2-40B4-BE49-F238E27FC236}">
                <a16:creationId xmlns:a16="http://schemas.microsoft.com/office/drawing/2014/main" id="{7A93BF5F-6B9B-412F-A4C8-910B3DC1CCC5}"/>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B9355D40-D7FB-44A3-BE0F-E54FE0071433}"/>
              </a:ext>
            </a:extLst>
          </p:cNvPr>
          <p:cNvGraphicFramePr>
            <a:graphicFrameLocks noChangeAspect="1"/>
          </p:cNvGraphicFramePr>
          <p:nvPr/>
        </p:nvGraphicFramePr>
        <p:xfrm>
          <a:off x="2286000" y="2743200"/>
          <a:ext cx="2667000" cy="990600"/>
        </p:xfrm>
        <a:graphic>
          <a:graphicData uri="http://schemas.openxmlformats.org/presentationml/2006/ole">
            <mc:AlternateContent xmlns:mc="http://schemas.openxmlformats.org/markup-compatibility/2006">
              <mc:Choice xmlns:v="urn:schemas-microsoft-com:vml" Requires="v">
                <p:oleObj name="Equation" r:id="rId2" imgW="838200" imgH="685800" progId="Equation.3">
                  <p:embed/>
                </p:oleObj>
              </mc:Choice>
              <mc:Fallback>
                <p:oleObj name="Equation" r:id="rId2" imgW="838200" imgH="685800" progId="Equation.3">
                  <p:embed/>
                  <p:pic>
                    <p:nvPicPr>
                      <p:cNvPr id="5" name="Object 4">
                        <a:extLst>
                          <a:ext uri="{FF2B5EF4-FFF2-40B4-BE49-F238E27FC236}">
                            <a16:creationId xmlns:a16="http://schemas.microsoft.com/office/drawing/2014/main" id="{B9355D40-D7FB-44A3-BE0F-E54FE00714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743200"/>
                        <a:ext cx="2667000" cy="990600"/>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6" name="Rectangle 4">
            <a:extLst>
              <a:ext uri="{FF2B5EF4-FFF2-40B4-BE49-F238E27FC236}">
                <a16:creationId xmlns:a16="http://schemas.microsoft.com/office/drawing/2014/main" id="{18169FC0-C410-4835-95F3-A1011181043A}"/>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9F25B67E-CB15-4F7E-A8A4-AE70B9D8AF55}"/>
              </a:ext>
            </a:extLst>
          </p:cNvPr>
          <p:cNvGraphicFramePr>
            <a:graphicFrameLocks noChangeAspect="1"/>
          </p:cNvGraphicFramePr>
          <p:nvPr/>
        </p:nvGraphicFramePr>
        <p:xfrm>
          <a:off x="1502343" y="4145757"/>
          <a:ext cx="342900" cy="381000"/>
        </p:xfrm>
        <a:graphic>
          <a:graphicData uri="http://schemas.openxmlformats.org/presentationml/2006/ole">
            <mc:AlternateContent xmlns:mc="http://schemas.openxmlformats.org/markup-compatibility/2006">
              <mc:Choice xmlns:v="urn:schemas-microsoft-com:vml" Requires="v">
                <p:oleObj name="Equation" r:id="rId4" imgW="139639" imgH="304668" progId="Equation.3">
                  <p:embed/>
                </p:oleObj>
              </mc:Choice>
              <mc:Fallback>
                <p:oleObj name="Equation" r:id="rId4" imgW="139639" imgH="304668" progId="Equation.3">
                  <p:embed/>
                  <p:pic>
                    <p:nvPicPr>
                      <p:cNvPr id="7" name="Object 6">
                        <a:extLst>
                          <a:ext uri="{FF2B5EF4-FFF2-40B4-BE49-F238E27FC236}">
                            <a16:creationId xmlns:a16="http://schemas.microsoft.com/office/drawing/2014/main" id="{9F25B67E-CB15-4F7E-A8A4-AE70B9D8AF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2343" y="4145757"/>
                        <a:ext cx="342900" cy="381000"/>
                      </a:xfrm>
                      <a:prstGeom prst="rect">
                        <a:avLst/>
                      </a:prstGeom>
                      <a:noFill/>
                    </p:spPr>
                  </p:pic>
                </p:oleObj>
              </mc:Fallback>
            </mc:AlternateContent>
          </a:graphicData>
        </a:graphic>
      </p:graphicFrame>
      <p:sp>
        <p:nvSpPr>
          <p:cNvPr id="11" name="Rectangle 9">
            <a:extLst>
              <a:ext uri="{FF2B5EF4-FFF2-40B4-BE49-F238E27FC236}">
                <a16:creationId xmlns:a16="http://schemas.microsoft.com/office/drawing/2014/main" id="{DB5A862F-8A8B-4B06-A57D-26C3A1FE0770}"/>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12" name="Object 11">
            <a:extLst>
              <a:ext uri="{FF2B5EF4-FFF2-40B4-BE49-F238E27FC236}">
                <a16:creationId xmlns:a16="http://schemas.microsoft.com/office/drawing/2014/main" id="{271735CD-8701-47E0-8E21-A47342DC2903}"/>
              </a:ext>
            </a:extLst>
          </p:cNvPr>
          <p:cNvGraphicFramePr>
            <a:graphicFrameLocks noChangeAspect="1"/>
          </p:cNvGraphicFramePr>
          <p:nvPr/>
        </p:nvGraphicFramePr>
        <p:xfrm>
          <a:off x="2286000" y="4191000"/>
          <a:ext cx="342900" cy="373857"/>
        </p:xfrm>
        <a:graphic>
          <a:graphicData uri="http://schemas.openxmlformats.org/presentationml/2006/ole">
            <mc:AlternateContent xmlns:mc="http://schemas.openxmlformats.org/markup-compatibility/2006">
              <mc:Choice xmlns:v="urn:schemas-microsoft-com:vml" Requires="v">
                <p:oleObj name="Equation" r:id="rId6" imgW="228501" imgH="215806" progId="Equation.3">
                  <p:embed/>
                </p:oleObj>
              </mc:Choice>
              <mc:Fallback>
                <p:oleObj name="Equation" r:id="rId6" imgW="228501" imgH="215806" progId="Equation.3">
                  <p:embed/>
                  <p:pic>
                    <p:nvPicPr>
                      <p:cNvPr id="12" name="Object 11">
                        <a:extLst>
                          <a:ext uri="{FF2B5EF4-FFF2-40B4-BE49-F238E27FC236}">
                            <a16:creationId xmlns:a16="http://schemas.microsoft.com/office/drawing/2014/main" id="{271735CD-8701-47E0-8E21-A47342DC29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4191000"/>
                        <a:ext cx="342900" cy="373857"/>
                      </a:xfrm>
                      <a:prstGeom prst="rect">
                        <a:avLst/>
                      </a:prstGeom>
                      <a:noFill/>
                    </p:spPr>
                  </p:pic>
                </p:oleObj>
              </mc:Fallback>
            </mc:AlternateContent>
          </a:graphicData>
        </a:graphic>
      </p:graphicFrame>
    </p:spTree>
    <p:extLst>
      <p:ext uri="{BB962C8B-B14F-4D97-AF65-F5344CB8AC3E}">
        <p14:creationId xmlns:p14="http://schemas.microsoft.com/office/powerpoint/2010/main" val="158643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1000"/>
                                        <p:tgtEl>
                                          <p:spTgt spid="3">
                                            <p:txEl>
                                              <p:pRg st="5" end="5"/>
                                            </p:txEl>
                                          </p:spTgt>
                                        </p:tgtEl>
                                      </p:cBhvr>
                                    </p:animEffect>
                                    <p:anim calcmode="lin" valueType="num">
                                      <p:cBhvr>
                                        <p:cTn id="2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1000"/>
                                        <p:tgtEl>
                                          <p:spTgt spid="3">
                                            <p:txEl>
                                              <p:pRg st="6" end="6"/>
                                            </p:txEl>
                                          </p:spTgt>
                                        </p:tgtEl>
                                      </p:cBhvr>
                                    </p:animEffect>
                                    <p:anim calcmode="lin" valueType="num">
                                      <p:cBhvr>
                                        <p:cTn id="3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65C95-8BE1-4FD5-9738-0C2791A8695C}"/>
              </a:ext>
            </a:extLst>
          </p:cNvPr>
          <p:cNvSpPr>
            <a:spLocks noGrp="1"/>
          </p:cNvSpPr>
          <p:nvPr>
            <p:ph type="title"/>
          </p:nvPr>
        </p:nvSpPr>
        <p:spPr>
          <a:xfrm>
            <a:off x="628650" y="457200"/>
            <a:ext cx="7886700" cy="625474"/>
          </a:xfrm>
        </p:spPr>
        <p:txBody>
          <a:bodyPr>
            <a:normAutofit/>
          </a:bodyPr>
          <a:lstStyle/>
          <a:p>
            <a:pPr algn="just"/>
            <a:r>
              <a:rPr lang="en-GB" sz="3200" b="1" dirty="0" err="1">
                <a:solidFill>
                  <a:srgbClr val="C00000"/>
                </a:solidFill>
              </a:rPr>
              <a:t>Mahalanobis</a:t>
            </a:r>
            <a:r>
              <a:rPr lang="en-GB" sz="3200" b="1" dirty="0">
                <a:solidFill>
                  <a:srgbClr val="C00000"/>
                </a:solidFill>
              </a:rPr>
              <a:t> Distance</a:t>
            </a:r>
            <a:endParaRPr lang="en-IN" sz="3200" dirty="0">
              <a:solidFill>
                <a:srgbClr val="C00000"/>
              </a:solidFill>
            </a:endParaRPr>
          </a:p>
        </p:txBody>
      </p:sp>
      <p:sp>
        <p:nvSpPr>
          <p:cNvPr id="3" name="Content Placeholder 2">
            <a:extLst>
              <a:ext uri="{FF2B5EF4-FFF2-40B4-BE49-F238E27FC236}">
                <a16:creationId xmlns:a16="http://schemas.microsoft.com/office/drawing/2014/main" id="{B3877B0D-C5F1-4A83-A0D8-EBADB538B403}"/>
              </a:ext>
            </a:extLst>
          </p:cNvPr>
          <p:cNvSpPr>
            <a:spLocks noGrp="1"/>
          </p:cNvSpPr>
          <p:nvPr>
            <p:ph idx="1"/>
          </p:nvPr>
        </p:nvSpPr>
        <p:spPr>
          <a:xfrm>
            <a:off x="628650" y="1295400"/>
            <a:ext cx="7886700" cy="5105400"/>
          </a:xfrm>
        </p:spPr>
        <p:txBody>
          <a:bodyPr>
            <a:normAutofit/>
          </a:bodyPr>
          <a:lstStyle/>
          <a:p>
            <a:pPr marL="0" indent="0" algn="just">
              <a:buNone/>
            </a:pPr>
            <a:r>
              <a:rPr lang="en-GB" sz="2400" dirty="0" err="1"/>
              <a:t>Mahalanobis</a:t>
            </a:r>
            <a:r>
              <a:rPr lang="en-GB" sz="2400" dirty="0"/>
              <a:t> distance is the distance between specific values of the independent variable (</a:t>
            </a:r>
            <a:r>
              <a:rPr lang="en-GB" sz="2400" i="1" dirty="0"/>
              <a:t>X</a:t>
            </a:r>
            <a:r>
              <a:rPr lang="en-GB" sz="2400" i="1" baseline="-25000" dirty="0"/>
              <a:t>i</a:t>
            </a:r>
            <a:r>
              <a:rPr lang="en-GB" sz="2400" dirty="0"/>
              <a:t>) to the centroid of all observations of the explanatory variable. Distances value of more than chi-square critical value (with degrees of freedom is equal to the number of explanatory variables) is classified as outliers.  </a:t>
            </a:r>
          </a:p>
          <a:p>
            <a:pPr marL="0" indent="0" algn="just">
              <a:buNone/>
            </a:pPr>
            <a:endParaRPr lang="en-GB" sz="2400" dirty="0"/>
          </a:p>
          <a:p>
            <a:pPr marL="0" indent="0" algn="just">
              <a:buNone/>
            </a:pPr>
            <a:r>
              <a:rPr lang="en-IN" sz="2400" dirty="0"/>
              <a:t>CHISQ.INV.RT(alpha = 0.05, degrees of freedom =1 (no of X variables))- 3.84146</a:t>
            </a:r>
          </a:p>
          <a:p>
            <a:pPr marL="0" indent="0" algn="just">
              <a:buNone/>
            </a:pPr>
            <a:endParaRPr lang="en-IN" sz="2400" dirty="0"/>
          </a:p>
          <a:p>
            <a:pPr marL="0" indent="0" algn="just">
              <a:buNone/>
            </a:pPr>
            <a:r>
              <a:rPr lang="en-IN" sz="2400" dirty="0"/>
              <a:t>An observation with Mahalanobis distance &gt; 3.84146 is an outlier.</a:t>
            </a:r>
          </a:p>
          <a:p>
            <a:endParaRPr lang="en-IN" sz="2400" dirty="0"/>
          </a:p>
        </p:txBody>
      </p:sp>
    </p:spTree>
    <p:extLst>
      <p:ext uri="{BB962C8B-B14F-4D97-AF65-F5344CB8AC3E}">
        <p14:creationId xmlns:p14="http://schemas.microsoft.com/office/powerpoint/2010/main" val="81236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A11A0-E5E3-444D-B2B0-3DB297E03FCB}"/>
              </a:ext>
            </a:extLst>
          </p:cNvPr>
          <p:cNvSpPr>
            <a:spLocks noGrp="1"/>
          </p:cNvSpPr>
          <p:nvPr>
            <p:ph type="title"/>
          </p:nvPr>
        </p:nvSpPr>
        <p:spPr>
          <a:xfrm>
            <a:off x="615755" y="381000"/>
            <a:ext cx="7886700" cy="649375"/>
          </a:xfrm>
        </p:spPr>
        <p:txBody>
          <a:bodyPr>
            <a:normAutofit/>
          </a:bodyPr>
          <a:lstStyle/>
          <a:p>
            <a:pPr algn="just"/>
            <a:r>
              <a:rPr lang="en-GB" sz="3200" b="1" dirty="0">
                <a:solidFill>
                  <a:srgbClr val="C00000"/>
                </a:solidFill>
              </a:rPr>
              <a:t>Cook’s Distance</a:t>
            </a:r>
            <a:endParaRPr lang="en-IN" sz="3200" dirty="0">
              <a:solidFill>
                <a:srgbClr val="C00000"/>
              </a:solidFill>
            </a:endParaRPr>
          </a:p>
        </p:txBody>
      </p:sp>
      <p:sp>
        <p:nvSpPr>
          <p:cNvPr id="3" name="Content Placeholder 2">
            <a:extLst>
              <a:ext uri="{FF2B5EF4-FFF2-40B4-BE49-F238E27FC236}">
                <a16:creationId xmlns:a16="http://schemas.microsoft.com/office/drawing/2014/main" id="{1110DCA0-1243-49D3-A87A-03ACE07EEE55}"/>
              </a:ext>
            </a:extLst>
          </p:cNvPr>
          <p:cNvSpPr>
            <a:spLocks noGrp="1"/>
          </p:cNvSpPr>
          <p:nvPr>
            <p:ph idx="1"/>
          </p:nvPr>
        </p:nvSpPr>
        <p:spPr>
          <a:xfrm>
            <a:off x="367164" y="1176250"/>
            <a:ext cx="8472036" cy="5300750"/>
          </a:xfrm>
        </p:spPr>
        <p:txBody>
          <a:bodyPr>
            <a:noAutofit/>
          </a:bodyPr>
          <a:lstStyle/>
          <a:p>
            <a:pPr marL="0" indent="0" algn="just">
              <a:buNone/>
            </a:pPr>
            <a:r>
              <a:rPr lang="en-GB" sz="2200" dirty="0"/>
              <a:t>Cook’s distance measures how much the predicted value of the dependent variable changes for all the observations in the sample when a particular observation is excluded from sample for the estimation of regression parameters. Cook’s distance for simple linear regression is given by</a:t>
            </a:r>
          </a:p>
          <a:p>
            <a:pPr marL="0" indent="0" algn="just">
              <a:buNone/>
            </a:pPr>
            <a:endParaRPr lang="en-GB" sz="2200" dirty="0"/>
          </a:p>
          <a:p>
            <a:pPr marL="0" indent="0" algn="just">
              <a:buNone/>
            </a:pPr>
            <a:endParaRPr lang="en-GB" sz="2200" dirty="0"/>
          </a:p>
          <a:p>
            <a:pPr marL="0" indent="0" algn="just">
              <a:buNone/>
            </a:pPr>
            <a:endParaRPr lang="en-GB" sz="2200" dirty="0"/>
          </a:p>
          <a:p>
            <a:pPr marL="0" indent="0" algn="just">
              <a:buNone/>
            </a:pPr>
            <a:r>
              <a:rPr lang="en-GB" sz="2200" dirty="0"/>
              <a:t>where </a:t>
            </a:r>
            <a:r>
              <a:rPr lang="en-GB" sz="2200" i="1" dirty="0"/>
              <a:t>D</a:t>
            </a:r>
            <a:r>
              <a:rPr lang="en-GB" sz="2200" i="1" baseline="-25000" dirty="0"/>
              <a:t>i</a:t>
            </a:r>
            <a:r>
              <a:rPr lang="en-GB" sz="2200" i="1" dirty="0"/>
              <a:t> </a:t>
            </a:r>
            <a:r>
              <a:rPr lang="en-GB" sz="2200" dirty="0"/>
              <a:t>is the Cook’s distance measure for </a:t>
            </a:r>
            <a:r>
              <a:rPr lang="en-GB" sz="2200" i="1" dirty="0" err="1"/>
              <a:t>i</a:t>
            </a:r>
            <a:r>
              <a:rPr lang="en-GB" sz="2200" baseline="30000" dirty="0" err="1"/>
              <a:t>th</a:t>
            </a:r>
            <a:r>
              <a:rPr lang="en-GB" sz="2200" dirty="0"/>
              <a:t> observation,  </a:t>
            </a:r>
          </a:p>
          <a:p>
            <a:pPr marL="0" indent="0" algn="just">
              <a:buNone/>
            </a:pPr>
            <a:r>
              <a:rPr lang="en-GB" sz="2200" dirty="0"/>
              <a:t>        is the predicted value of </a:t>
            </a:r>
            <a:r>
              <a:rPr lang="en-GB" sz="2200" i="1" dirty="0" err="1"/>
              <a:t>j</a:t>
            </a:r>
            <a:r>
              <a:rPr lang="en-GB" sz="2200" baseline="30000" dirty="0" err="1"/>
              <a:t>th</a:t>
            </a:r>
            <a:r>
              <a:rPr lang="en-GB" sz="2200" dirty="0"/>
              <a:t> observation excluding </a:t>
            </a:r>
            <a:r>
              <a:rPr lang="en-GB" sz="2200" i="1" dirty="0" err="1"/>
              <a:t>i</a:t>
            </a:r>
            <a:r>
              <a:rPr lang="en-GB" sz="2200" baseline="30000" dirty="0" err="1"/>
              <a:t>th</a:t>
            </a:r>
            <a:r>
              <a:rPr lang="en-GB" sz="2200" dirty="0"/>
              <a:t> observation.         </a:t>
            </a:r>
          </a:p>
          <a:p>
            <a:pPr marL="0" indent="0" algn="just">
              <a:buNone/>
            </a:pPr>
            <a:r>
              <a:rPr lang="en-GB" sz="2200" dirty="0"/>
              <a:t>        is the predicted value of </a:t>
            </a:r>
            <a:r>
              <a:rPr lang="en-GB" sz="2200" i="1" dirty="0" err="1"/>
              <a:t>j</a:t>
            </a:r>
            <a:r>
              <a:rPr lang="en-GB" sz="2200" baseline="30000" dirty="0" err="1"/>
              <a:t>th</a:t>
            </a:r>
            <a:r>
              <a:rPr lang="en-GB" sz="2200" dirty="0"/>
              <a:t> observation including </a:t>
            </a:r>
            <a:r>
              <a:rPr lang="en-GB" sz="2200" i="1" dirty="0" err="1"/>
              <a:t>i</a:t>
            </a:r>
            <a:r>
              <a:rPr lang="en-GB" sz="2200" baseline="30000" dirty="0" err="1"/>
              <a:t>th</a:t>
            </a:r>
            <a:r>
              <a:rPr lang="en-GB" sz="2200" dirty="0"/>
              <a:t> observation from the sample.</a:t>
            </a:r>
          </a:p>
          <a:p>
            <a:pPr marL="0" indent="0" algn="just">
              <a:buNone/>
            </a:pPr>
            <a:r>
              <a:rPr lang="en-GB" sz="2200" dirty="0"/>
              <a:t>MSE is the Mean–Squared–Error. </a:t>
            </a:r>
          </a:p>
          <a:p>
            <a:pPr marL="0" indent="0" algn="just">
              <a:buNone/>
            </a:pPr>
            <a:r>
              <a:rPr lang="en-GB" sz="2200" dirty="0"/>
              <a:t>Cook’s distance of &gt; 1 indicates outliers / highly influential observation</a:t>
            </a:r>
            <a:endParaRPr lang="en-IN" sz="2200" dirty="0"/>
          </a:p>
          <a:p>
            <a:endParaRPr lang="en-IN" sz="2200" dirty="0"/>
          </a:p>
        </p:txBody>
      </p:sp>
      <p:sp>
        <p:nvSpPr>
          <p:cNvPr id="4" name="Rectangle 2">
            <a:extLst>
              <a:ext uri="{FF2B5EF4-FFF2-40B4-BE49-F238E27FC236}">
                <a16:creationId xmlns:a16="http://schemas.microsoft.com/office/drawing/2014/main" id="{459C392D-6576-49AF-8738-BBAF5F8C3767}"/>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23E67D79-8C55-4978-B297-410B53622588}"/>
                  </a:ext>
                </a:extLst>
              </p:cNvPr>
              <p:cNvSpPr txBox="1"/>
              <p:nvPr/>
            </p:nvSpPr>
            <p:spPr bwMode="auto">
              <a:xfrm>
                <a:off x="1676400" y="2895600"/>
                <a:ext cx="3124200" cy="871538"/>
              </a:xfrm>
              <a:prstGeom prst="rect">
                <a:avLst/>
              </a:prstGeom>
              <a:solidFill>
                <a:schemeClr val="accent2">
                  <a:lumMod val="20000"/>
                  <a:lumOff val="80000"/>
                </a:schemeClr>
              </a:solidFill>
              <a:ln>
                <a:solidFill>
                  <a:schemeClr val="accent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en-IN" i="1" smtClean="0">
                              <a:solidFill>
                                <a:srgbClr val="000000"/>
                              </a:solidFill>
                              <a:latin typeface="Cambria Math" panose="02040503050406030204" pitchFamily="18" charset="0"/>
                            </a:rPr>
                          </m:ctrlPr>
                        </m:sSubPr>
                        <m:e>
                          <m:r>
                            <m:rPr>
                              <m:sty m:val="p"/>
                            </m:rPr>
                            <a:rPr lang="en-IN" i="0">
                              <a:solidFill>
                                <a:srgbClr val="000000"/>
                              </a:solidFill>
                              <a:latin typeface="Cambria Math" panose="02040503050406030204" pitchFamily="18" charset="0"/>
                            </a:rPr>
                            <m:t>D</m:t>
                          </m:r>
                        </m:e>
                        <m:sub>
                          <m:r>
                            <m:rPr>
                              <m:sty m:val="p"/>
                            </m:rPr>
                            <a:rPr lang="en-IN" i="0">
                              <a:solidFill>
                                <a:srgbClr val="000000"/>
                              </a:solidFill>
                              <a:latin typeface="Cambria Math" panose="02040503050406030204" pitchFamily="18" charset="0"/>
                            </a:rPr>
                            <m:t>i</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nary>
                            <m:naryPr>
                              <m:chr m:val="∑"/>
                              <m:supHide m:val="on"/>
                              <m:ctrlPr>
                                <a:rPr lang="en-IN" i="1">
                                  <a:solidFill>
                                    <a:srgbClr val="000000"/>
                                  </a:solidFill>
                                  <a:latin typeface="Cambria Math" panose="02040503050406030204" pitchFamily="18" charset="0"/>
                                </a:rPr>
                              </m:ctrlPr>
                            </m:naryPr>
                            <m:sub>
                              <m:r>
                                <m:rPr>
                                  <m:sty m:val="p"/>
                                </m:rPr>
                                <a:rPr lang="en-IN" i="0">
                                  <a:solidFill>
                                    <a:srgbClr val="000000"/>
                                  </a:solidFill>
                                  <a:latin typeface="Cambria Math" panose="02040503050406030204" pitchFamily="18" charset="0"/>
                                </a:rPr>
                                <m:t>j</m:t>
                              </m:r>
                            </m:sub>
                            <m:sup/>
                            <m:e>
                              <m:r>
                                <a:rPr lang="en-IN" i="1">
                                  <a:solidFill>
                                    <a:srgbClr val="000000"/>
                                  </a:solidFill>
                                  <a:latin typeface="Cambria Math" panose="02040503050406030204" pitchFamily="18" charset="0"/>
                                </a:rPr>
                                <m:t>(</m:t>
                              </m:r>
                              <m:limUpp>
                                <m:limUppPr>
                                  <m:ctrlPr>
                                    <a:rPr lang="en-IN" i="1">
                                      <a:solidFill>
                                        <a:srgbClr val="000000"/>
                                      </a:solidFill>
                                      <a:latin typeface="Cambria Math" panose="02040503050406030204" pitchFamily="18" charset="0"/>
                                    </a:rPr>
                                  </m:ctrlPr>
                                </m:limUppPr>
                                <m:e>
                                  <m:sSub>
                                    <m:sSubPr>
                                      <m:ctrlPr>
                                        <a:rPr lang="en-IN" i="1">
                                          <a:solidFill>
                                            <a:srgbClr val="000000"/>
                                          </a:solidFill>
                                          <a:latin typeface="Cambria Math" panose="02040503050406030204" pitchFamily="18" charset="0"/>
                                        </a:rPr>
                                      </m:ctrlPr>
                                    </m:sSubPr>
                                    <m:e>
                                      <m:r>
                                        <m:rPr>
                                          <m:sty m:val="p"/>
                                        </m:rPr>
                                        <a:rPr lang="en-IN" i="0">
                                          <a:solidFill>
                                            <a:srgbClr val="000000"/>
                                          </a:solidFill>
                                          <a:latin typeface="Cambria Math" panose="02040503050406030204" pitchFamily="18" charset="0"/>
                                        </a:rPr>
                                        <m:t>Y</m:t>
                                      </m:r>
                                    </m:e>
                                    <m:sub>
                                      <m:r>
                                        <m:rPr>
                                          <m:sty m:val="p"/>
                                        </m:rPr>
                                        <a:rPr lang="en-IN" i="0">
                                          <a:solidFill>
                                            <a:srgbClr val="000000"/>
                                          </a:solidFill>
                                          <a:latin typeface="Cambria Math" panose="02040503050406030204" pitchFamily="18" charset="0"/>
                                        </a:rPr>
                                        <m:t>j</m:t>
                                      </m:r>
                                    </m:sub>
                                  </m:sSub>
                                </m:e>
                                <m:lim>
                                  <m:r>
                                    <a:rPr lang="en-IN" i="1">
                                      <a:solidFill>
                                        <a:srgbClr val="000000"/>
                                      </a:solidFill>
                                      <a:latin typeface="Cambria Math" panose="02040503050406030204" pitchFamily="18" charset="0"/>
                                    </a:rPr>
                                    <m:t>∧</m:t>
                                  </m:r>
                                </m:lim>
                              </m:limUpp>
                              <m:r>
                                <a:rPr lang="en-IN" i="1">
                                  <a:solidFill>
                                    <a:srgbClr val="000000"/>
                                  </a:solidFill>
                                  <a:latin typeface="Cambria Math" panose="02040503050406030204" pitchFamily="18" charset="0"/>
                                </a:rPr>
                                <m:t>−</m:t>
                              </m:r>
                              <m:limUpp>
                                <m:limUppPr>
                                  <m:ctrlPr>
                                    <a:rPr lang="en-IN" i="1">
                                      <a:solidFill>
                                        <a:srgbClr val="000000"/>
                                      </a:solidFill>
                                      <a:latin typeface="Cambria Math" panose="02040503050406030204" pitchFamily="18" charset="0"/>
                                    </a:rPr>
                                  </m:ctrlPr>
                                </m:limUppPr>
                                <m:e>
                                  <m:sSub>
                                    <m:sSubPr>
                                      <m:ctrlPr>
                                        <a:rPr lang="en-IN" i="1">
                                          <a:solidFill>
                                            <a:srgbClr val="000000"/>
                                          </a:solidFill>
                                          <a:latin typeface="Cambria Math" panose="02040503050406030204" pitchFamily="18" charset="0"/>
                                        </a:rPr>
                                      </m:ctrlPr>
                                    </m:sSubPr>
                                    <m:e>
                                      <m:r>
                                        <m:rPr>
                                          <m:sty m:val="p"/>
                                        </m:rPr>
                                        <a:rPr lang="en-IN" i="0">
                                          <a:solidFill>
                                            <a:srgbClr val="000000"/>
                                          </a:solidFill>
                                          <a:latin typeface="Cambria Math" panose="02040503050406030204" pitchFamily="18" charset="0"/>
                                        </a:rPr>
                                        <m:t>Y</m:t>
                                      </m:r>
                                    </m:e>
                                    <m:sub>
                                      <m:r>
                                        <m:rPr>
                                          <m:sty m:val="p"/>
                                        </m:rPr>
                                        <a:rPr lang="en-IN" i="0">
                                          <a:solidFill>
                                            <a:srgbClr val="000000"/>
                                          </a:solidFill>
                                          <a:latin typeface="Cambria Math" panose="02040503050406030204" pitchFamily="18" charset="0"/>
                                        </a:rPr>
                                        <m:t>j</m:t>
                                      </m:r>
                                      <m:r>
                                        <a:rPr lang="en-IN" i="1">
                                          <a:solidFill>
                                            <a:srgbClr val="000000"/>
                                          </a:solidFill>
                                          <a:latin typeface="Cambria Math" panose="02040503050406030204" pitchFamily="18" charset="0"/>
                                        </a:rPr>
                                        <m:t>(</m:t>
                                      </m:r>
                                      <m:r>
                                        <m:rPr>
                                          <m:sty m:val="p"/>
                                        </m:rPr>
                                        <a:rPr lang="en-IN" i="0">
                                          <a:solidFill>
                                            <a:srgbClr val="000000"/>
                                          </a:solidFill>
                                          <a:latin typeface="Cambria Math" panose="02040503050406030204" pitchFamily="18" charset="0"/>
                                        </a:rPr>
                                        <m:t>i</m:t>
                                      </m:r>
                                      <m:r>
                                        <a:rPr lang="en-IN" i="1">
                                          <a:solidFill>
                                            <a:srgbClr val="000000"/>
                                          </a:solidFill>
                                          <a:latin typeface="Cambria Math" panose="02040503050406030204" pitchFamily="18" charset="0"/>
                                        </a:rPr>
                                        <m:t>)</m:t>
                                      </m:r>
                                    </m:sub>
                                  </m:sSub>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m:t>
                                      </m:r>
                                    </m:e>
                                    <m:sup>
                                      <m:r>
                                        <a:rPr lang="en-IN" i="0">
                                          <a:solidFill>
                                            <a:srgbClr val="000000"/>
                                          </a:solidFill>
                                          <a:latin typeface="Cambria Math" panose="02040503050406030204" pitchFamily="18" charset="0"/>
                                        </a:rPr>
                                        <m:t>2</m:t>
                                      </m:r>
                                    </m:sup>
                                  </m:sSup>
                                </m:e>
                                <m:lim>
                                  <m:r>
                                    <a:rPr lang="en-IN" i="1">
                                      <a:solidFill>
                                        <a:srgbClr val="000000"/>
                                      </a:solidFill>
                                      <a:latin typeface="Cambria Math" panose="02040503050406030204" pitchFamily="18" charset="0"/>
                                    </a:rPr>
                                    <m:t>∧</m:t>
                                  </m:r>
                                </m:lim>
                              </m:limUpp>
                            </m:e>
                          </m:nary>
                        </m:num>
                        <m:den>
                          <m:r>
                            <a:rPr lang="en-IN" b="0" i="1" smtClean="0">
                              <a:solidFill>
                                <a:srgbClr val="000000"/>
                              </a:solidFill>
                              <a:latin typeface="Cambria Math" panose="02040503050406030204" pitchFamily="18" charset="0"/>
                            </a:rPr>
                            <m:t>(</m:t>
                          </m:r>
                          <m:r>
                            <a:rPr lang="en-IN" b="0" i="1" smtClean="0">
                              <a:solidFill>
                                <a:srgbClr val="000000"/>
                              </a:solidFill>
                              <a:latin typeface="Cambria Math" panose="02040503050406030204" pitchFamily="18" charset="0"/>
                            </a:rPr>
                            <m:t>𝑘</m:t>
                          </m:r>
                          <m:r>
                            <a:rPr lang="en-IN" b="0" i="1" smtClean="0">
                              <a:solidFill>
                                <a:srgbClr val="000000"/>
                              </a:solidFill>
                              <a:latin typeface="Cambria Math" panose="02040503050406030204" pitchFamily="18" charset="0"/>
                            </a:rPr>
                            <m:t>+1)</m:t>
                          </m:r>
                          <m:r>
                            <m:rPr>
                              <m:nor/>
                            </m:rPr>
                            <a:rPr lang="en-IN" i="0">
                              <a:solidFill>
                                <a:srgbClr val="000000"/>
                              </a:solidFill>
                              <a:latin typeface="Cambria Math" panose="02040503050406030204" pitchFamily="18" charset="0"/>
                            </a:rPr>
                            <m:t>MSE</m:t>
                          </m:r>
                        </m:den>
                      </m:f>
                    </m:oMath>
                  </m:oMathPara>
                </a14:m>
                <a:endParaRPr lang="en-IN" dirty="0"/>
              </a:p>
            </p:txBody>
          </p:sp>
        </mc:Choice>
        <mc:Fallback xmlns="">
          <p:sp>
            <p:nvSpPr>
              <p:cNvPr id="5" name="Object 4">
                <a:extLst>
                  <a:ext uri="{FF2B5EF4-FFF2-40B4-BE49-F238E27FC236}">
                    <a16:creationId xmlns:a16="http://schemas.microsoft.com/office/drawing/2014/main" id="{23E67D79-8C55-4978-B297-410B53622588}"/>
                  </a:ext>
                </a:extLst>
              </p:cNvPr>
              <p:cNvSpPr txBox="1">
                <a:spLocks noRot="1" noChangeAspect="1" noMove="1" noResize="1" noEditPoints="1" noAdjustHandles="1" noChangeArrowheads="1" noChangeShapeType="1" noTextEdit="1"/>
              </p:cNvSpPr>
              <p:nvPr/>
            </p:nvSpPr>
            <p:spPr bwMode="auto">
              <a:xfrm>
                <a:off x="1676400" y="2895600"/>
                <a:ext cx="3124200" cy="871538"/>
              </a:xfrm>
              <a:prstGeom prst="rect">
                <a:avLst/>
              </a:prstGeom>
              <a:blipFill>
                <a:blip r:embed="rId2"/>
                <a:stretch>
                  <a:fillRect/>
                </a:stretch>
              </a:blipFill>
              <a:ln>
                <a:solidFill>
                  <a:schemeClr val="accent1"/>
                </a:solidFill>
              </a:ln>
            </p:spPr>
            <p:txBody>
              <a:bodyPr/>
              <a:lstStyle/>
              <a:p>
                <a:r>
                  <a:rPr lang="en-IN">
                    <a:noFill/>
                  </a:rPr>
                  <a:t> </a:t>
                </a:r>
              </a:p>
            </p:txBody>
          </p:sp>
        </mc:Fallback>
      </mc:AlternateContent>
      <p:sp>
        <p:nvSpPr>
          <p:cNvPr id="6" name="Rectangle 4">
            <a:extLst>
              <a:ext uri="{FF2B5EF4-FFF2-40B4-BE49-F238E27FC236}">
                <a16:creationId xmlns:a16="http://schemas.microsoft.com/office/drawing/2014/main" id="{01E004EB-096A-49F4-97EC-7FC3BDDEBDC9}"/>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AB1578C5-BA82-480C-9384-1C89AC361250}"/>
              </a:ext>
            </a:extLst>
          </p:cNvPr>
          <p:cNvGraphicFramePr>
            <a:graphicFrameLocks noChangeAspect="1"/>
          </p:cNvGraphicFramePr>
          <p:nvPr/>
        </p:nvGraphicFramePr>
        <p:xfrm>
          <a:off x="590550" y="4841700"/>
          <a:ext cx="476250" cy="514349"/>
        </p:xfrm>
        <a:graphic>
          <a:graphicData uri="http://schemas.openxmlformats.org/presentationml/2006/ole">
            <mc:AlternateContent xmlns:mc="http://schemas.openxmlformats.org/markup-compatibility/2006">
              <mc:Choice xmlns:v="urn:schemas-microsoft-com:vml" Requires="v">
                <p:oleObj name="Equation" r:id="rId3" imgW="190417" imgH="380835" progId="Equation.3">
                  <p:embed/>
                </p:oleObj>
              </mc:Choice>
              <mc:Fallback>
                <p:oleObj name="Equation" r:id="rId3" imgW="190417" imgH="380835" progId="Equation.3">
                  <p:embed/>
                  <p:pic>
                    <p:nvPicPr>
                      <p:cNvPr id="7" name="Object 6">
                        <a:extLst>
                          <a:ext uri="{FF2B5EF4-FFF2-40B4-BE49-F238E27FC236}">
                            <a16:creationId xmlns:a16="http://schemas.microsoft.com/office/drawing/2014/main" id="{AB1578C5-BA82-480C-9384-1C89AC3612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550" y="4841700"/>
                        <a:ext cx="476250" cy="514349"/>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D98B5BAB-8A47-4331-8F62-019BA771D1A4}"/>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7851F646-8488-45FD-99F8-276F5E995AF0}"/>
              </a:ext>
            </a:extLst>
          </p:cNvPr>
          <p:cNvGraphicFramePr>
            <a:graphicFrameLocks noChangeAspect="1"/>
          </p:cNvGraphicFramePr>
          <p:nvPr/>
        </p:nvGraphicFramePr>
        <p:xfrm>
          <a:off x="514350" y="4438650"/>
          <a:ext cx="476250" cy="514350"/>
        </p:xfrm>
        <a:graphic>
          <a:graphicData uri="http://schemas.openxmlformats.org/presentationml/2006/ole">
            <mc:AlternateContent xmlns:mc="http://schemas.openxmlformats.org/markup-compatibility/2006">
              <mc:Choice xmlns:v="urn:schemas-microsoft-com:vml" Requires="v">
                <p:oleObj name="Equation" r:id="rId5" imgW="317225" imgH="380670" progId="Equation.3">
                  <p:embed/>
                </p:oleObj>
              </mc:Choice>
              <mc:Fallback>
                <p:oleObj name="Equation" r:id="rId5" imgW="317225" imgH="380670" progId="Equation.3">
                  <p:embed/>
                  <p:pic>
                    <p:nvPicPr>
                      <p:cNvPr id="9" name="Object 8">
                        <a:extLst>
                          <a:ext uri="{FF2B5EF4-FFF2-40B4-BE49-F238E27FC236}">
                            <a16:creationId xmlns:a16="http://schemas.microsoft.com/office/drawing/2014/main" id="{7851F646-8488-45FD-99F8-276F5E995A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350" y="4438650"/>
                        <a:ext cx="476250" cy="514350"/>
                      </a:xfrm>
                      <a:prstGeom prst="rect">
                        <a:avLst/>
                      </a:prstGeom>
                      <a:noFill/>
                    </p:spPr>
                  </p:pic>
                </p:oleObj>
              </mc:Fallback>
            </mc:AlternateContent>
          </a:graphicData>
        </a:graphic>
      </p:graphicFrame>
    </p:spTree>
    <p:extLst>
      <p:ext uri="{BB962C8B-B14F-4D97-AF65-F5344CB8AC3E}">
        <p14:creationId xmlns:p14="http://schemas.microsoft.com/office/powerpoint/2010/main" val="2619880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1000"/>
                                        <p:tgtEl>
                                          <p:spTgt spid="3">
                                            <p:txEl>
                                              <p:pRg st="5" end="5"/>
                                            </p:txEl>
                                          </p:spTgt>
                                        </p:tgtEl>
                                      </p:cBhvr>
                                    </p:animEffect>
                                    <p:anim calcmode="lin" valueType="num">
                                      <p:cBhvr>
                                        <p:cTn id="2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1000"/>
                                        <p:tgtEl>
                                          <p:spTgt spid="3">
                                            <p:txEl>
                                              <p:pRg st="6" end="6"/>
                                            </p:txEl>
                                          </p:spTgt>
                                        </p:tgtEl>
                                      </p:cBhvr>
                                    </p:animEffect>
                                    <p:anim calcmode="lin" valueType="num">
                                      <p:cBhvr>
                                        <p:cTn id="3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1000"/>
                                        <p:tgtEl>
                                          <p:spTgt spid="3">
                                            <p:txEl>
                                              <p:pRg st="7" end="7"/>
                                            </p:txEl>
                                          </p:spTgt>
                                        </p:tgtEl>
                                      </p:cBhvr>
                                    </p:animEffect>
                                    <p:anim calcmode="lin" valueType="num">
                                      <p:cBhvr>
                                        <p:cTn id="4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0CFE5AA-168F-A9D3-EAA6-E48C68A52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3F1A0-F077-0AAB-DA38-21285A73122A}"/>
              </a:ext>
            </a:extLst>
          </p:cNvPr>
          <p:cNvSpPr>
            <a:spLocks noGrp="1"/>
          </p:cNvSpPr>
          <p:nvPr>
            <p:ph type="title"/>
          </p:nvPr>
        </p:nvSpPr>
        <p:spPr>
          <a:xfrm>
            <a:off x="615755" y="381000"/>
            <a:ext cx="7886700" cy="649375"/>
          </a:xfrm>
        </p:spPr>
        <p:txBody>
          <a:bodyPr>
            <a:normAutofit/>
          </a:bodyPr>
          <a:lstStyle/>
          <a:p>
            <a:pPr algn="just"/>
            <a:r>
              <a:rPr lang="en-GB" sz="3200" b="1" dirty="0">
                <a:solidFill>
                  <a:srgbClr val="C00000"/>
                </a:solidFill>
              </a:rPr>
              <a:t>Cook’s Distance</a:t>
            </a:r>
            <a:endParaRPr lang="en-IN" sz="3200" dirty="0">
              <a:solidFill>
                <a:srgbClr val="C00000"/>
              </a:solidFill>
            </a:endParaRPr>
          </a:p>
        </p:txBody>
      </p:sp>
      <p:sp>
        <p:nvSpPr>
          <p:cNvPr id="3" name="Content Placeholder 2">
            <a:extLst>
              <a:ext uri="{FF2B5EF4-FFF2-40B4-BE49-F238E27FC236}">
                <a16:creationId xmlns:a16="http://schemas.microsoft.com/office/drawing/2014/main" id="{494B4870-A27A-FBAB-5344-3A65D8871A33}"/>
              </a:ext>
            </a:extLst>
          </p:cNvPr>
          <p:cNvSpPr>
            <a:spLocks noGrp="1"/>
          </p:cNvSpPr>
          <p:nvPr>
            <p:ph idx="1"/>
          </p:nvPr>
        </p:nvSpPr>
        <p:spPr>
          <a:xfrm>
            <a:off x="367164" y="1176250"/>
            <a:ext cx="8472036" cy="5300750"/>
          </a:xfrm>
        </p:spPr>
        <p:txBody>
          <a:bodyPr>
            <a:noAutofit/>
          </a:bodyPr>
          <a:lstStyle/>
          <a:p>
            <a:pPr marL="0" indent="0" algn="just">
              <a:buNone/>
            </a:pPr>
            <a:r>
              <a:rPr lang="en-GB" sz="2200" dirty="0"/>
              <a:t>Calculating D1 (Cook’s distance for the 1</a:t>
            </a:r>
            <a:r>
              <a:rPr lang="en-GB" sz="2200" baseline="30000" dirty="0"/>
              <a:t>st</a:t>
            </a:r>
            <a:r>
              <a:rPr lang="en-GB" sz="2200" dirty="0"/>
              <a:t> record):</a:t>
            </a:r>
          </a:p>
          <a:p>
            <a:pPr marL="457200" indent="-457200" algn="just">
              <a:buAutoNum type="arabicPeriod"/>
            </a:pPr>
            <a:r>
              <a:rPr lang="en-GB" sz="2200" dirty="0"/>
              <a:t>Exclude the first row from your salary dataset so that your sample size is 50-1=49.</a:t>
            </a:r>
          </a:p>
          <a:p>
            <a:pPr marL="457200" indent="-457200" algn="just">
              <a:buAutoNum type="arabicPeriod"/>
            </a:pPr>
            <a:r>
              <a:rPr lang="en-GB" sz="2200" dirty="0"/>
              <a:t>Run the regression model: Salary = alpha0 + alpha1*Grade10% on the new (reduced) data set.</a:t>
            </a:r>
          </a:p>
          <a:p>
            <a:pPr marL="457200" indent="-457200" algn="just">
              <a:buAutoNum type="arabicPeriod"/>
            </a:pPr>
            <a:r>
              <a:rPr lang="en-GB" sz="2200" dirty="0"/>
              <a:t>New values of intercept &amp; slope coefficient will be obtained.</a:t>
            </a:r>
          </a:p>
          <a:p>
            <a:pPr marL="457200" indent="-457200" algn="just">
              <a:buAutoNum type="arabicPeriod"/>
            </a:pPr>
            <a:r>
              <a:rPr lang="en-GB" sz="2200" dirty="0"/>
              <a:t>Calculate the fitted / predicted values from the new model. These are labelled as:</a:t>
            </a:r>
          </a:p>
          <a:p>
            <a:pPr marL="457200" indent="-457200" algn="just">
              <a:buAutoNum type="arabicPeriod"/>
            </a:pPr>
            <a:endParaRPr lang="en-GB" sz="2200" dirty="0"/>
          </a:p>
          <a:p>
            <a:pPr marL="457200" indent="-457200" algn="just">
              <a:buAutoNum type="arabicPeriod"/>
            </a:pPr>
            <a:endParaRPr lang="en-GB" sz="2200" dirty="0"/>
          </a:p>
          <a:p>
            <a:pPr marL="457200" indent="-457200" algn="just">
              <a:buAutoNum type="arabicPeriod"/>
            </a:pPr>
            <a:r>
              <a:rPr lang="en-GB" sz="2200" dirty="0"/>
              <a:t>These are the predicted values from the new regression model obtained after excluding the first record.</a:t>
            </a:r>
          </a:p>
          <a:p>
            <a:pPr marL="0" indent="0" algn="just">
              <a:buNone/>
            </a:pPr>
            <a:endParaRPr lang="en-GB" sz="2200" dirty="0"/>
          </a:p>
          <a:p>
            <a:pPr marL="0" indent="0" algn="just">
              <a:buNone/>
            </a:pPr>
            <a:endParaRPr lang="en-GB" sz="2200" dirty="0"/>
          </a:p>
          <a:p>
            <a:endParaRPr lang="en-IN" sz="2200" dirty="0"/>
          </a:p>
        </p:txBody>
      </p:sp>
      <p:sp>
        <p:nvSpPr>
          <p:cNvPr id="4" name="Rectangle 2">
            <a:extLst>
              <a:ext uri="{FF2B5EF4-FFF2-40B4-BE49-F238E27FC236}">
                <a16:creationId xmlns:a16="http://schemas.microsoft.com/office/drawing/2014/main" id="{CE3E61D8-31DF-119D-C3E5-EE68B79B0D37}"/>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sp>
        <p:nvSpPr>
          <p:cNvPr id="6" name="Rectangle 4">
            <a:extLst>
              <a:ext uri="{FF2B5EF4-FFF2-40B4-BE49-F238E27FC236}">
                <a16:creationId xmlns:a16="http://schemas.microsoft.com/office/drawing/2014/main" id="{56CA1465-1981-B1BF-B77D-5A5676EAF610}"/>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sp>
        <p:nvSpPr>
          <p:cNvPr id="8" name="Rectangle 6">
            <a:extLst>
              <a:ext uri="{FF2B5EF4-FFF2-40B4-BE49-F238E27FC236}">
                <a16:creationId xmlns:a16="http://schemas.microsoft.com/office/drawing/2014/main" id="{A247B7C9-A915-9AAA-44E6-5C3366F0EDB1}"/>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1FF7B2F9-971D-B439-BC86-97BEC4872B6B}"/>
              </a:ext>
            </a:extLst>
          </p:cNvPr>
          <p:cNvGraphicFramePr>
            <a:graphicFrameLocks noChangeAspect="1"/>
          </p:cNvGraphicFramePr>
          <p:nvPr>
            <p:extLst>
              <p:ext uri="{D42A27DB-BD31-4B8C-83A1-F6EECF244321}">
                <p14:modId xmlns:p14="http://schemas.microsoft.com/office/powerpoint/2010/main" val="1590573382"/>
              </p:ext>
            </p:extLst>
          </p:nvPr>
        </p:nvGraphicFramePr>
        <p:xfrm>
          <a:off x="1066800" y="4191000"/>
          <a:ext cx="5486400" cy="838200"/>
        </p:xfrm>
        <a:graphic>
          <a:graphicData uri="http://schemas.openxmlformats.org/presentationml/2006/ole">
            <mc:AlternateContent xmlns:mc="http://schemas.openxmlformats.org/markup-compatibility/2006">
              <mc:Choice xmlns:v="urn:schemas-microsoft-com:vml" Requires="v">
                <p:oleObj name="Equation" r:id="rId2" imgW="2349360" imgH="330120" progId="Equation.DSMT4">
                  <p:embed/>
                </p:oleObj>
              </mc:Choice>
              <mc:Fallback>
                <p:oleObj name="Equation" r:id="rId2" imgW="2349360" imgH="330120" progId="Equation.DSMT4">
                  <p:embed/>
                  <p:pic>
                    <p:nvPicPr>
                      <p:cNvPr id="9" name="Object 8">
                        <a:extLst>
                          <a:ext uri="{FF2B5EF4-FFF2-40B4-BE49-F238E27FC236}">
                            <a16:creationId xmlns:a16="http://schemas.microsoft.com/office/drawing/2014/main" id="{7851F646-8488-45FD-99F8-276F5E995AF0}"/>
                          </a:ext>
                        </a:extLst>
                      </p:cNvPr>
                      <p:cNvPicPr>
                        <a:picLocks noChangeAspect="1" noChangeArrowheads="1"/>
                      </p:cNvPicPr>
                      <p:nvPr/>
                    </p:nvPicPr>
                    <p:blipFill>
                      <a:blip r:embed="rId3"/>
                      <a:srcRect/>
                      <a:stretch>
                        <a:fillRect/>
                      </a:stretch>
                    </p:blipFill>
                    <p:spPr bwMode="auto">
                      <a:xfrm>
                        <a:off x="1066800" y="4191000"/>
                        <a:ext cx="5486400" cy="838200"/>
                      </a:xfrm>
                      <a:prstGeom prst="rect">
                        <a:avLst/>
                      </a:prstGeom>
                      <a:noFill/>
                    </p:spPr>
                  </p:pic>
                </p:oleObj>
              </mc:Fallback>
            </mc:AlternateContent>
          </a:graphicData>
        </a:graphic>
      </p:graphicFrame>
    </p:spTree>
    <p:extLst>
      <p:ext uri="{BB962C8B-B14F-4D97-AF65-F5344CB8AC3E}">
        <p14:creationId xmlns:p14="http://schemas.microsoft.com/office/powerpoint/2010/main" val="260111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1000"/>
                                        <p:tgtEl>
                                          <p:spTgt spid="3">
                                            <p:txEl>
                                              <p:pRg st="7" end="7"/>
                                            </p:txEl>
                                          </p:spTgt>
                                        </p:tgtEl>
                                      </p:cBhvr>
                                    </p:animEffect>
                                    <p:anim calcmode="lin" valueType="num">
                                      <p:cBhvr>
                                        <p:cTn id="4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8A3D4E3-D03D-0C68-5245-A9EA804462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5A378-D83F-E987-5652-46B7D7FE6E1A}"/>
              </a:ext>
            </a:extLst>
          </p:cNvPr>
          <p:cNvSpPr>
            <a:spLocks noGrp="1"/>
          </p:cNvSpPr>
          <p:nvPr>
            <p:ph type="title"/>
          </p:nvPr>
        </p:nvSpPr>
        <p:spPr>
          <a:xfrm>
            <a:off x="615755" y="381000"/>
            <a:ext cx="7886700" cy="649375"/>
          </a:xfrm>
        </p:spPr>
        <p:txBody>
          <a:bodyPr>
            <a:normAutofit/>
          </a:bodyPr>
          <a:lstStyle/>
          <a:p>
            <a:pPr algn="just"/>
            <a:r>
              <a:rPr lang="en-GB" sz="3200" b="1" dirty="0">
                <a:solidFill>
                  <a:srgbClr val="C00000"/>
                </a:solidFill>
              </a:rPr>
              <a:t>Cook’s Distance</a:t>
            </a:r>
            <a:endParaRPr lang="en-IN" sz="3200" dirty="0">
              <a:solidFill>
                <a:srgbClr val="C00000"/>
              </a:solidFill>
            </a:endParaRPr>
          </a:p>
        </p:txBody>
      </p:sp>
      <p:sp>
        <p:nvSpPr>
          <p:cNvPr id="3" name="Content Placeholder 2">
            <a:extLst>
              <a:ext uri="{FF2B5EF4-FFF2-40B4-BE49-F238E27FC236}">
                <a16:creationId xmlns:a16="http://schemas.microsoft.com/office/drawing/2014/main" id="{11A960DA-F8F2-0740-3FAA-8D2C45D8D10B}"/>
              </a:ext>
            </a:extLst>
          </p:cNvPr>
          <p:cNvSpPr>
            <a:spLocks noGrp="1"/>
          </p:cNvSpPr>
          <p:nvPr>
            <p:ph idx="1"/>
          </p:nvPr>
        </p:nvSpPr>
        <p:spPr>
          <a:xfrm>
            <a:off x="367164" y="1176250"/>
            <a:ext cx="8472036" cy="5300750"/>
          </a:xfrm>
        </p:spPr>
        <p:txBody>
          <a:bodyPr>
            <a:noAutofit/>
          </a:bodyPr>
          <a:lstStyle/>
          <a:p>
            <a:pPr marL="0" indent="0" algn="just">
              <a:buNone/>
            </a:pPr>
            <a:r>
              <a:rPr lang="en-GB" sz="2200" dirty="0"/>
              <a:t>Calculating D2 (Cook’s distance for the 2</a:t>
            </a:r>
            <a:r>
              <a:rPr lang="en-GB" sz="2200" baseline="30000" dirty="0"/>
              <a:t>nd</a:t>
            </a:r>
            <a:r>
              <a:rPr lang="en-GB" sz="2200" dirty="0"/>
              <a:t> record):</a:t>
            </a:r>
          </a:p>
          <a:p>
            <a:pPr marL="457200" indent="-457200" algn="just">
              <a:buAutoNum type="arabicPeriod"/>
            </a:pPr>
            <a:r>
              <a:rPr lang="en-GB" sz="2200" dirty="0"/>
              <a:t>Now include the 1</a:t>
            </a:r>
            <a:r>
              <a:rPr lang="en-GB" sz="2200" baseline="30000" dirty="0"/>
              <a:t>st</a:t>
            </a:r>
            <a:r>
              <a:rPr lang="en-GB" sz="2200" dirty="0"/>
              <a:t> row &amp; drop the 2</a:t>
            </a:r>
            <a:r>
              <a:rPr lang="en-GB" sz="2200" baseline="30000" dirty="0"/>
              <a:t>nd</a:t>
            </a:r>
            <a:r>
              <a:rPr lang="en-GB" sz="2200" dirty="0"/>
              <a:t> row from the salary dataset. The dataset again has 49 rows.</a:t>
            </a:r>
          </a:p>
          <a:p>
            <a:pPr marL="457200" indent="-457200" algn="just">
              <a:buAutoNum type="arabicPeriod"/>
            </a:pPr>
            <a:r>
              <a:rPr lang="en-GB" sz="2200" dirty="0"/>
              <a:t>The remainder of the process is same as D1.</a:t>
            </a:r>
          </a:p>
          <a:p>
            <a:pPr marL="457200" indent="-457200" algn="just">
              <a:buAutoNum type="arabicPeriod"/>
            </a:pPr>
            <a:r>
              <a:rPr lang="en-GB" sz="2200" dirty="0"/>
              <a:t>These are the predicted values from the new regression model obtained after excluding the first record.</a:t>
            </a:r>
          </a:p>
          <a:p>
            <a:pPr marL="0" indent="0" algn="just">
              <a:buNone/>
            </a:pPr>
            <a:endParaRPr lang="en-GB" sz="2200" dirty="0"/>
          </a:p>
          <a:p>
            <a:pPr marL="0" indent="0" algn="just">
              <a:buNone/>
            </a:pPr>
            <a:endParaRPr lang="en-GB" sz="2200" dirty="0"/>
          </a:p>
          <a:p>
            <a:endParaRPr lang="en-IN" sz="2200" dirty="0"/>
          </a:p>
        </p:txBody>
      </p:sp>
      <p:sp>
        <p:nvSpPr>
          <p:cNvPr id="4" name="Rectangle 2">
            <a:extLst>
              <a:ext uri="{FF2B5EF4-FFF2-40B4-BE49-F238E27FC236}">
                <a16:creationId xmlns:a16="http://schemas.microsoft.com/office/drawing/2014/main" id="{9B55E094-DC8F-03F6-A31B-690423EFF220}"/>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sp>
        <p:nvSpPr>
          <p:cNvPr id="6" name="Rectangle 4">
            <a:extLst>
              <a:ext uri="{FF2B5EF4-FFF2-40B4-BE49-F238E27FC236}">
                <a16:creationId xmlns:a16="http://schemas.microsoft.com/office/drawing/2014/main" id="{3CA65AB0-C1E6-B71E-A547-0B5D058C781A}"/>
              </a:ext>
            </a:extLst>
          </p:cNvPr>
          <p:cNvSpPr>
            <a:spLocks noChangeArrowheads="1"/>
          </p:cNvSpPr>
          <p:nvPr/>
        </p:nvSpPr>
        <p:spPr bwMode="auto">
          <a:xfrm>
            <a:off x="1143001"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sp>
        <p:nvSpPr>
          <p:cNvPr id="8" name="Rectangle 6">
            <a:extLst>
              <a:ext uri="{FF2B5EF4-FFF2-40B4-BE49-F238E27FC236}">
                <a16:creationId xmlns:a16="http://schemas.microsoft.com/office/drawing/2014/main" id="{EE16AF93-C5A2-C257-F9C2-5626BA150839}"/>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93BCC79B-BF0C-C424-514A-2AF66AE31F86}"/>
              </a:ext>
            </a:extLst>
          </p:cNvPr>
          <p:cNvGraphicFramePr>
            <a:graphicFrameLocks noChangeAspect="1"/>
          </p:cNvGraphicFramePr>
          <p:nvPr>
            <p:extLst>
              <p:ext uri="{D42A27DB-BD31-4B8C-83A1-F6EECF244321}">
                <p14:modId xmlns:p14="http://schemas.microsoft.com/office/powerpoint/2010/main" val="242299575"/>
              </p:ext>
            </p:extLst>
          </p:nvPr>
        </p:nvGraphicFramePr>
        <p:xfrm>
          <a:off x="977900" y="3505200"/>
          <a:ext cx="5664200" cy="838200"/>
        </p:xfrm>
        <a:graphic>
          <a:graphicData uri="http://schemas.openxmlformats.org/presentationml/2006/ole">
            <mc:AlternateContent xmlns:mc="http://schemas.openxmlformats.org/markup-compatibility/2006">
              <mc:Choice xmlns:v="urn:schemas-microsoft-com:vml" Requires="v">
                <p:oleObj name="Equation" r:id="rId2" imgW="2425680" imgH="330120" progId="Equation.DSMT4">
                  <p:embed/>
                </p:oleObj>
              </mc:Choice>
              <mc:Fallback>
                <p:oleObj name="Equation" r:id="rId2" imgW="2425680" imgH="330120" progId="Equation.DSMT4">
                  <p:embed/>
                  <p:pic>
                    <p:nvPicPr>
                      <p:cNvPr id="9" name="Object 8">
                        <a:extLst>
                          <a:ext uri="{FF2B5EF4-FFF2-40B4-BE49-F238E27FC236}">
                            <a16:creationId xmlns:a16="http://schemas.microsoft.com/office/drawing/2014/main" id="{1FF7B2F9-971D-B439-BC86-97BEC4872B6B}"/>
                          </a:ext>
                        </a:extLst>
                      </p:cNvPr>
                      <p:cNvPicPr>
                        <a:picLocks noChangeAspect="1" noChangeArrowheads="1"/>
                      </p:cNvPicPr>
                      <p:nvPr/>
                    </p:nvPicPr>
                    <p:blipFill>
                      <a:blip r:embed="rId3"/>
                      <a:srcRect/>
                      <a:stretch>
                        <a:fillRect/>
                      </a:stretch>
                    </p:blipFill>
                    <p:spPr bwMode="auto">
                      <a:xfrm>
                        <a:off x="977900" y="3505200"/>
                        <a:ext cx="5664200" cy="838200"/>
                      </a:xfrm>
                      <a:prstGeom prst="rect">
                        <a:avLst/>
                      </a:prstGeom>
                      <a:noFill/>
                    </p:spPr>
                  </p:pic>
                </p:oleObj>
              </mc:Fallback>
            </mc:AlternateContent>
          </a:graphicData>
        </a:graphic>
      </p:graphicFrame>
    </p:spTree>
    <p:extLst>
      <p:ext uri="{BB962C8B-B14F-4D97-AF65-F5344CB8AC3E}">
        <p14:creationId xmlns:p14="http://schemas.microsoft.com/office/powerpoint/2010/main" val="298876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585F7-E76D-4F9D-A812-02F895047653}"/>
              </a:ext>
            </a:extLst>
          </p:cNvPr>
          <p:cNvSpPr>
            <a:spLocks noGrp="1"/>
          </p:cNvSpPr>
          <p:nvPr>
            <p:ph type="title"/>
          </p:nvPr>
        </p:nvSpPr>
        <p:spPr>
          <a:xfrm>
            <a:off x="628650" y="365126"/>
            <a:ext cx="7886700" cy="665249"/>
          </a:xfrm>
        </p:spPr>
        <p:txBody>
          <a:bodyPr>
            <a:normAutofit/>
          </a:bodyPr>
          <a:lstStyle/>
          <a:p>
            <a:pPr algn="just"/>
            <a:r>
              <a:rPr lang="en-GB" sz="3200" b="1" dirty="0">
                <a:solidFill>
                  <a:srgbClr val="C00000"/>
                </a:solidFill>
              </a:rPr>
              <a:t>Leverage Value</a:t>
            </a:r>
            <a:endParaRPr lang="en-IN" sz="3200" dirty="0">
              <a:solidFill>
                <a:srgbClr val="C00000"/>
              </a:solidFill>
            </a:endParaRPr>
          </a:p>
        </p:txBody>
      </p:sp>
      <p:sp>
        <p:nvSpPr>
          <p:cNvPr id="3" name="Content Placeholder 2">
            <a:extLst>
              <a:ext uri="{FF2B5EF4-FFF2-40B4-BE49-F238E27FC236}">
                <a16:creationId xmlns:a16="http://schemas.microsoft.com/office/drawing/2014/main" id="{6E8BFAE9-3ABB-4DA2-8079-D69CEBA4ADD4}"/>
              </a:ext>
            </a:extLst>
          </p:cNvPr>
          <p:cNvSpPr>
            <a:spLocks noGrp="1"/>
          </p:cNvSpPr>
          <p:nvPr>
            <p:ph idx="1"/>
          </p:nvPr>
        </p:nvSpPr>
        <p:spPr>
          <a:xfrm>
            <a:off x="513532" y="1160376"/>
            <a:ext cx="7886700" cy="3716424"/>
          </a:xfrm>
        </p:spPr>
        <p:txBody>
          <a:bodyPr>
            <a:normAutofit/>
          </a:bodyPr>
          <a:lstStyle/>
          <a:p>
            <a:pPr marL="0" indent="0" algn="just">
              <a:buNone/>
            </a:pPr>
            <a:r>
              <a:rPr lang="en-GB" sz="2400" dirty="0"/>
              <a:t>Leverage value of an observation measures the influence of that observation on the overall fit of the regression function.  Leverage value for an observation in SLR is given by</a:t>
            </a:r>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r>
              <a:rPr lang="en-GB" sz="2400" dirty="0"/>
              <a:t>Leverage value of more than 2/</a:t>
            </a:r>
            <a:r>
              <a:rPr lang="en-GB" sz="2400" i="1" dirty="0"/>
              <a:t>n</a:t>
            </a:r>
            <a:r>
              <a:rPr lang="en-GB" sz="2400" dirty="0"/>
              <a:t> or 3/</a:t>
            </a:r>
            <a:r>
              <a:rPr lang="en-GB" sz="2400" i="1" dirty="0"/>
              <a:t>n</a:t>
            </a:r>
            <a:r>
              <a:rPr lang="en-GB" sz="2400" dirty="0"/>
              <a:t> is treated as highly influential observation. In Eq. the first term (1/</a:t>
            </a:r>
            <a:r>
              <a:rPr lang="en-GB" sz="2400" i="1" dirty="0"/>
              <a:t>n</a:t>
            </a:r>
            <a:r>
              <a:rPr lang="en-GB" sz="2400" dirty="0"/>
              <a:t>) will tend to zero for large value of </a:t>
            </a:r>
            <a:r>
              <a:rPr lang="en-GB" sz="2400" i="1" dirty="0"/>
              <a:t>n</a:t>
            </a:r>
            <a:r>
              <a:rPr lang="en-GB" sz="2400" dirty="0"/>
              <a:t>.</a:t>
            </a:r>
            <a:endParaRPr lang="en-IN" sz="2400" dirty="0"/>
          </a:p>
          <a:p>
            <a:endParaRPr lang="en-IN" sz="2400" dirty="0"/>
          </a:p>
        </p:txBody>
      </p:sp>
      <p:sp>
        <p:nvSpPr>
          <p:cNvPr id="4" name="Rectangle 2">
            <a:extLst>
              <a:ext uri="{FF2B5EF4-FFF2-40B4-BE49-F238E27FC236}">
                <a16:creationId xmlns:a16="http://schemas.microsoft.com/office/drawing/2014/main" id="{336CD935-11F6-4057-82E9-730010B7EC7F}"/>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BBCC29D8-DA33-4E6A-A5F6-243864B63FCB}"/>
              </a:ext>
            </a:extLst>
          </p:cNvPr>
          <p:cNvGraphicFramePr>
            <a:graphicFrameLocks noChangeAspect="1"/>
          </p:cNvGraphicFramePr>
          <p:nvPr/>
        </p:nvGraphicFramePr>
        <p:xfrm>
          <a:off x="1447800" y="2478794"/>
          <a:ext cx="3124200" cy="950205"/>
        </p:xfrm>
        <a:graphic>
          <a:graphicData uri="http://schemas.openxmlformats.org/presentationml/2006/ole">
            <mc:AlternateContent xmlns:mc="http://schemas.openxmlformats.org/markup-compatibility/2006">
              <mc:Choice xmlns:v="urn:schemas-microsoft-com:vml" Requires="v">
                <p:oleObj name="Equation" r:id="rId2" imgW="1256755" imgH="774364" progId="Equation.3">
                  <p:embed/>
                </p:oleObj>
              </mc:Choice>
              <mc:Fallback>
                <p:oleObj name="Equation" r:id="rId2" imgW="1256755" imgH="774364" progId="Equation.3">
                  <p:embed/>
                  <p:pic>
                    <p:nvPicPr>
                      <p:cNvPr id="5" name="Object 4">
                        <a:extLst>
                          <a:ext uri="{FF2B5EF4-FFF2-40B4-BE49-F238E27FC236}">
                            <a16:creationId xmlns:a16="http://schemas.microsoft.com/office/drawing/2014/main" id="{BBCC29D8-DA33-4E6A-A5F6-243864B63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478794"/>
                        <a:ext cx="3124200" cy="950205"/>
                      </a:xfrm>
                      <a:prstGeom prst="rect">
                        <a:avLst/>
                      </a:prstGeom>
                      <a:solidFill>
                        <a:schemeClr val="accent2">
                          <a:lumMod val="20000"/>
                          <a:lumOff val="8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224291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14DF90-632D-A4D5-4287-271546D03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70436-BC2A-E296-41CB-0F5148178A1F}"/>
              </a:ext>
            </a:extLst>
          </p:cNvPr>
          <p:cNvSpPr>
            <a:spLocks noGrp="1"/>
          </p:cNvSpPr>
          <p:nvPr>
            <p:ph type="title"/>
          </p:nvPr>
        </p:nvSpPr>
        <p:spPr>
          <a:xfrm>
            <a:off x="628650" y="228601"/>
            <a:ext cx="7886700" cy="838200"/>
          </a:xfrm>
        </p:spPr>
        <p:txBody>
          <a:bodyPr>
            <a:normAutofit/>
          </a:bodyPr>
          <a:lstStyle/>
          <a:p>
            <a:pPr algn="just"/>
            <a:r>
              <a:rPr lang="en-GB" sz="3200" b="1" dirty="0">
                <a:solidFill>
                  <a:srgbClr val="C00000"/>
                </a:solidFill>
              </a:rPr>
              <a:t>Outlier Analysis for Salary Data</a:t>
            </a:r>
            <a:endParaRPr lang="en-IN" sz="3200" dirty="0">
              <a:solidFill>
                <a:srgbClr val="C00000"/>
              </a:solidFill>
            </a:endParaRPr>
          </a:p>
        </p:txBody>
      </p:sp>
      <p:graphicFrame>
        <p:nvGraphicFramePr>
          <p:cNvPr id="6" name="Table 5">
            <a:extLst>
              <a:ext uri="{FF2B5EF4-FFF2-40B4-BE49-F238E27FC236}">
                <a16:creationId xmlns:a16="http://schemas.microsoft.com/office/drawing/2014/main" id="{20757B75-966C-5E73-7CA3-807ED9B06A62}"/>
              </a:ext>
            </a:extLst>
          </p:cNvPr>
          <p:cNvGraphicFramePr>
            <a:graphicFrameLocks noGrp="1"/>
          </p:cNvGraphicFramePr>
          <p:nvPr>
            <p:extLst>
              <p:ext uri="{D42A27DB-BD31-4B8C-83A1-F6EECF244321}">
                <p14:modId xmlns:p14="http://schemas.microsoft.com/office/powerpoint/2010/main" val="546622564"/>
              </p:ext>
            </p:extLst>
          </p:nvPr>
        </p:nvGraphicFramePr>
        <p:xfrm>
          <a:off x="628650" y="1397000"/>
          <a:ext cx="7886704" cy="4033520"/>
        </p:xfrm>
        <a:graphic>
          <a:graphicData uri="http://schemas.openxmlformats.org/drawingml/2006/table">
            <a:tbl>
              <a:tblPr firstRow="1" bandRow="1">
                <a:tableStyleId>{5C22544A-7EE6-4342-B048-85BDC9FD1C3A}</a:tableStyleId>
              </a:tblPr>
              <a:tblGrid>
                <a:gridCol w="1971676">
                  <a:extLst>
                    <a:ext uri="{9D8B030D-6E8A-4147-A177-3AD203B41FA5}">
                      <a16:colId xmlns:a16="http://schemas.microsoft.com/office/drawing/2014/main" val="3550254073"/>
                    </a:ext>
                  </a:extLst>
                </a:gridCol>
                <a:gridCol w="1971676">
                  <a:extLst>
                    <a:ext uri="{9D8B030D-6E8A-4147-A177-3AD203B41FA5}">
                      <a16:colId xmlns:a16="http://schemas.microsoft.com/office/drawing/2014/main" val="795855506"/>
                    </a:ext>
                  </a:extLst>
                </a:gridCol>
                <a:gridCol w="1971676">
                  <a:extLst>
                    <a:ext uri="{9D8B030D-6E8A-4147-A177-3AD203B41FA5}">
                      <a16:colId xmlns:a16="http://schemas.microsoft.com/office/drawing/2014/main" val="3029124630"/>
                    </a:ext>
                  </a:extLst>
                </a:gridCol>
                <a:gridCol w="1971676">
                  <a:extLst>
                    <a:ext uri="{9D8B030D-6E8A-4147-A177-3AD203B41FA5}">
                      <a16:colId xmlns:a16="http://schemas.microsoft.com/office/drawing/2014/main" val="2390191616"/>
                    </a:ext>
                  </a:extLst>
                </a:gridCol>
              </a:tblGrid>
              <a:tr h="370840">
                <a:tc>
                  <a:txBody>
                    <a:bodyPr/>
                    <a:lstStyle/>
                    <a:p>
                      <a:r>
                        <a:rPr lang="en-IN" dirty="0"/>
                        <a:t>Measure</a:t>
                      </a:r>
                    </a:p>
                  </a:txBody>
                  <a:tcPr/>
                </a:tc>
                <a:tc>
                  <a:txBody>
                    <a:bodyPr/>
                    <a:lstStyle/>
                    <a:p>
                      <a:r>
                        <a:rPr lang="en-IN" dirty="0"/>
                        <a:t>Reference range for outliers</a:t>
                      </a:r>
                    </a:p>
                  </a:txBody>
                  <a:tcPr/>
                </a:tc>
                <a:tc>
                  <a:txBody>
                    <a:bodyPr/>
                    <a:lstStyle/>
                    <a:p>
                      <a:r>
                        <a:rPr lang="en-IN" dirty="0"/>
                        <a:t>Salary data records flagged as potential outliers</a:t>
                      </a:r>
                    </a:p>
                  </a:txBody>
                  <a:tcPr/>
                </a:tc>
                <a:tc>
                  <a:txBody>
                    <a:bodyPr/>
                    <a:lstStyle/>
                    <a:p>
                      <a:r>
                        <a:rPr lang="en-IN" dirty="0"/>
                        <a:t>Comments</a:t>
                      </a:r>
                    </a:p>
                  </a:txBody>
                  <a:tcPr/>
                </a:tc>
                <a:extLst>
                  <a:ext uri="{0D108BD9-81ED-4DB2-BD59-A6C34878D82A}">
                    <a16:rowId xmlns:a16="http://schemas.microsoft.com/office/drawing/2014/main" val="1797307027"/>
                  </a:ext>
                </a:extLst>
              </a:tr>
              <a:tr h="370840">
                <a:tc>
                  <a:txBody>
                    <a:bodyPr/>
                    <a:lstStyle/>
                    <a:p>
                      <a:r>
                        <a:rPr lang="en-IN" dirty="0"/>
                        <a:t>Z-score</a:t>
                      </a:r>
                    </a:p>
                  </a:txBody>
                  <a:tcPr/>
                </a:tc>
                <a:tc>
                  <a:txBody>
                    <a:bodyPr/>
                    <a:lstStyle/>
                    <a:p>
                      <a:r>
                        <a:rPr lang="en-IN" dirty="0"/>
                        <a:t>&gt;3 or &lt;-3</a:t>
                      </a:r>
                    </a:p>
                  </a:txBody>
                  <a:tcPr/>
                </a:tc>
                <a:tc>
                  <a:txBody>
                    <a:bodyPr/>
                    <a:lstStyle/>
                    <a:p>
                      <a:r>
                        <a:rPr lang="en-IN" dirty="0"/>
                        <a:t>None</a:t>
                      </a:r>
                    </a:p>
                  </a:txBody>
                  <a:tcPr/>
                </a:tc>
                <a:tc>
                  <a:txBody>
                    <a:bodyPr/>
                    <a:lstStyle/>
                    <a:p>
                      <a:endParaRPr lang="en-IN" dirty="0"/>
                    </a:p>
                  </a:txBody>
                  <a:tcPr/>
                </a:tc>
                <a:extLst>
                  <a:ext uri="{0D108BD9-81ED-4DB2-BD59-A6C34878D82A}">
                    <a16:rowId xmlns:a16="http://schemas.microsoft.com/office/drawing/2014/main" val="1709348090"/>
                  </a:ext>
                </a:extLst>
              </a:tr>
              <a:tr h="370840">
                <a:tc>
                  <a:txBody>
                    <a:bodyPr/>
                    <a:lstStyle/>
                    <a:p>
                      <a:r>
                        <a:rPr lang="en-IN" dirty="0"/>
                        <a:t>Mahalanobis distance</a:t>
                      </a:r>
                    </a:p>
                  </a:txBody>
                  <a:tcPr/>
                </a:tc>
                <a:tc>
                  <a:txBody>
                    <a:bodyPr/>
                    <a:lstStyle/>
                    <a:p>
                      <a:r>
                        <a:rPr lang="en-IN" dirty="0"/>
                        <a:t>ChiSQ critical (alpha =0.05, df=1)= 3.84</a:t>
                      </a:r>
                    </a:p>
                  </a:txBody>
                  <a:tcPr/>
                </a:tc>
                <a:tc>
                  <a:txBody>
                    <a:bodyPr/>
                    <a:lstStyle/>
                    <a:p>
                      <a:r>
                        <a:rPr lang="en-IN" dirty="0"/>
                        <a:t>16</a:t>
                      </a:r>
                      <a:r>
                        <a:rPr lang="en-IN" baseline="30000" dirty="0"/>
                        <a:t>th</a:t>
                      </a:r>
                      <a:r>
                        <a:rPr lang="en-IN" dirty="0"/>
                        <a:t> row (M distance = 7.27)</a:t>
                      </a:r>
                    </a:p>
                  </a:txBody>
                  <a:tcPr/>
                </a:tc>
                <a:tc>
                  <a:txBody>
                    <a:bodyPr/>
                    <a:lstStyle/>
                    <a:p>
                      <a:r>
                        <a:rPr lang="en-IN" dirty="0"/>
                        <a:t>Further investigation using DFFit &amp; DFBeta.</a:t>
                      </a:r>
                    </a:p>
                  </a:txBody>
                  <a:tcPr/>
                </a:tc>
                <a:extLst>
                  <a:ext uri="{0D108BD9-81ED-4DB2-BD59-A6C34878D82A}">
                    <a16:rowId xmlns:a16="http://schemas.microsoft.com/office/drawing/2014/main" val="1583856905"/>
                  </a:ext>
                </a:extLst>
              </a:tr>
              <a:tr h="370840">
                <a:tc>
                  <a:txBody>
                    <a:bodyPr/>
                    <a:lstStyle/>
                    <a:p>
                      <a:r>
                        <a:rPr lang="en-IN" dirty="0"/>
                        <a:t>Cooks distance</a:t>
                      </a:r>
                    </a:p>
                  </a:txBody>
                  <a:tcPr/>
                </a:tc>
                <a:tc>
                  <a:txBody>
                    <a:bodyPr/>
                    <a:lstStyle/>
                    <a:p>
                      <a:r>
                        <a:rPr lang="en-IN" dirty="0"/>
                        <a:t>&gt;1</a:t>
                      </a:r>
                    </a:p>
                  </a:txBody>
                  <a:tcPr/>
                </a:tc>
                <a:tc>
                  <a:txBody>
                    <a:bodyPr/>
                    <a:lstStyle/>
                    <a:p>
                      <a:r>
                        <a:rPr lang="en-IN" dirty="0"/>
                        <a:t>None</a:t>
                      </a:r>
                    </a:p>
                  </a:txBody>
                  <a:tcPr/>
                </a:tc>
                <a:tc>
                  <a:txBody>
                    <a:bodyPr/>
                    <a:lstStyle/>
                    <a:p>
                      <a:endParaRPr lang="en-IN" dirty="0"/>
                    </a:p>
                  </a:txBody>
                  <a:tcPr/>
                </a:tc>
                <a:extLst>
                  <a:ext uri="{0D108BD9-81ED-4DB2-BD59-A6C34878D82A}">
                    <a16:rowId xmlns:a16="http://schemas.microsoft.com/office/drawing/2014/main" val="854508009"/>
                  </a:ext>
                </a:extLst>
              </a:tr>
              <a:tr h="370840">
                <a:tc>
                  <a:txBody>
                    <a:bodyPr/>
                    <a:lstStyle/>
                    <a:p>
                      <a:r>
                        <a:rPr lang="en-IN" dirty="0"/>
                        <a:t>Leverage value</a:t>
                      </a:r>
                    </a:p>
                  </a:txBody>
                  <a:tcPr/>
                </a:tc>
                <a:tc>
                  <a:txBody>
                    <a:bodyPr/>
                    <a:lstStyle/>
                    <a:p>
                      <a:r>
                        <a:rPr lang="en-IN" dirty="0"/>
                        <a:t>&gt; 3/n = 3/50=0.06</a:t>
                      </a:r>
                    </a:p>
                  </a:txBody>
                  <a:tcPr/>
                </a:tc>
                <a:tc>
                  <a:txBody>
                    <a:bodyPr/>
                    <a:lstStyle/>
                    <a:p>
                      <a:r>
                        <a:rPr lang="en-IN" dirty="0"/>
                        <a:t>Row no: 9; 14 &amp; 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Further investigation using DFFit &amp; DFBeta.</a:t>
                      </a:r>
                    </a:p>
                    <a:p>
                      <a:endParaRPr lang="en-IN" dirty="0"/>
                    </a:p>
                  </a:txBody>
                  <a:tcPr/>
                </a:tc>
                <a:extLst>
                  <a:ext uri="{0D108BD9-81ED-4DB2-BD59-A6C34878D82A}">
                    <a16:rowId xmlns:a16="http://schemas.microsoft.com/office/drawing/2014/main" val="3969327567"/>
                  </a:ext>
                </a:extLst>
              </a:tr>
            </a:tbl>
          </a:graphicData>
        </a:graphic>
      </p:graphicFrame>
    </p:spTree>
    <p:extLst>
      <p:ext uri="{BB962C8B-B14F-4D97-AF65-F5344CB8AC3E}">
        <p14:creationId xmlns:p14="http://schemas.microsoft.com/office/powerpoint/2010/main" val="1796847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5C3C-4A41-465F-BAD2-1FBD046B7E1E}"/>
              </a:ext>
            </a:extLst>
          </p:cNvPr>
          <p:cNvSpPr>
            <a:spLocks noGrp="1"/>
          </p:cNvSpPr>
          <p:nvPr>
            <p:ph type="title"/>
          </p:nvPr>
        </p:nvSpPr>
        <p:spPr>
          <a:xfrm>
            <a:off x="628650" y="228601"/>
            <a:ext cx="7886700" cy="838200"/>
          </a:xfrm>
        </p:spPr>
        <p:txBody>
          <a:bodyPr>
            <a:normAutofit/>
          </a:bodyPr>
          <a:lstStyle/>
          <a:p>
            <a:pPr algn="just"/>
            <a:r>
              <a:rPr lang="en-GB" sz="3200" b="1" dirty="0" err="1">
                <a:solidFill>
                  <a:srgbClr val="C00000"/>
                </a:solidFill>
              </a:rPr>
              <a:t>DFFit</a:t>
            </a:r>
            <a:r>
              <a:rPr lang="en-GB" sz="3200" b="1" dirty="0">
                <a:solidFill>
                  <a:srgbClr val="C00000"/>
                </a:solidFill>
              </a:rPr>
              <a:t> and </a:t>
            </a:r>
            <a:r>
              <a:rPr lang="en-GB" sz="3200" b="1" dirty="0" err="1">
                <a:solidFill>
                  <a:srgbClr val="C00000"/>
                </a:solidFill>
              </a:rPr>
              <a:t>DFBeta</a:t>
            </a:r>
            <a:endParaRPr lang="en-IN" sz="3200" dirty="0">
              <a:solidFill>
                <a:srgbClr val="C00000"/>
              </a:solidFill>
            </a:endParaRPr>
          </a:p>
        </p:txBody>
      </p:sp>
      <p:sp>
        <p:nvSpPr>
          <p:cNvPr id="3" name="Content Placeholder 2">
            <a:extLst>
              <a:ext uri="{FF2B5EF4-FFF2-40B4-BE49-F238E27FC236}">
                <a16:creationId xmlns:a16="http://schemas.microsoft.com/office/drawing/2014/main" id="{4FEE3C3A-64E3-4F80-BBD8-325B508F0745}"/>
              </a:ext>
            </a:extLst>
          </p:cNvPr>
          <p:cNvSpPr>
            <a:spLocks noGrp="1"/>
          </p:cNvSpPr>
          <p:nvPr>
            <p:ph idx="1"/>
          </p:nvPr>
        </p:nvSpPr>
        <p:spPr>
          <a:xfrm>
            <a:off x="592308" y="1143000"/>
            <a:ext cx="7886700" cy="1755775"/>
          </a:xfrm>
        </p:spPr>
        <p:txBody>
          <a:bodyPr/>
          <a:lstStyle/>
          <a:p>
            <a:pPr algn="just"/>
            <a:r>
              <a:rPr lang="en-GB" dirty="0"/>
              <a:t>DFFit is the change in the predicted value of </a:t>
            </a:r>
            <a:r>
              <a:rPr lang="en-GB" i="1" dirty="0"/>
              <a:t>Y</a:t>
            </a:r>
            <a:r>
              <a:rPr lang="en-GB" i="1" baseline="-25000" dirty="0"/>
              <a:t>i</a:t>
            </a:r>
            <a:r>
              <a:rPr lang="en-GB" dirty="0"/>
              <a:t> when case </a:t>
            </a:r>
            <a:r>
              <a:rPr lang="en-GB" i="1" dirty="0" err="1"/>
              <a:t>i</a:t>
            </a:r>
            <a:r>
              <a:rPr lang="en-GB" i="1" dirty="0"/>
              <a:t> </a:t>
            </a:r>
            <a:r>
              <a:rPr lang="en-GB" dirty="0"/>
              <a:t>is removed from the data set. DFBeta is the change in the regression coefficient values when an observation </a:t>
            </a:r>
            <a:r>
              <a:rPr lang="en-GB" i="1" dirty="0" err="1"/>
              <a:t>i</a:t>
            </a:r>
            <a:r>
              <a:rPr lang="en-GB" dirty="0"/>
              <a:t> is removed from the data. </a:t>
            </a:r>
            <a:endParaRPr lang="en-IN" dirty="0"/>
          </a:p>
        </p:txBody>
      </p:sp>
      <p:graphicFrame>
        <p:nvGraphicFramePr>
          <p:cNvPr id="5" name="Table 4">
            <a:extLst>
              <a:ext uri="{FF2B5EF4-FFF2-40B4-BE49-F238E27FC236}">
                <a16:creationId xmlns:a16="http://schemas.microsoft.com/office/drawing/2014/main" id="{211B8D7B-9399-DE66-8A21-EC276B871D8F}"/>
              </a:ext>
            </a:extLst>
          </p:cNvPr>
          <p:cNvGraphicFramePr>
            <a:graphicFrameLocks noGrp="1"/>
          </p:cNvGraphicFramePr>
          <p:nvPr>
            <p:extLst>
              <p:ext uri="{D42A27DB-BD31-4B8C-83A1-F6EECF244321}">
                <p14:modId xmlns:p14="http://schemas.microsoft.com/office/powerpoint/2010/main" val="4067050142"/>
              </p:ext>
            </p:extLst>
          </p:nvPr>
        </p:nvGraphicFramePr>
        <p:xfrm>
          <a:off x="533400" y="3241040"/>
          <a:ext cx="8077200" cy="2839720"/>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2230688097"/>
                    </a:ext>
                  </a:extLst>
                </a:gridCol>
                <a:gridCol w="2019300">
                  <a:extLst>
                    <a:ext uri="{9D8B030D-6E8A-4147-A177-3AD203B41FA5}">
                      <a16:colId xmlns:a16="http://schemas.microsoft.com/office/drawing/2014/main" val="2855159185"/>
                    </a:ext>
                  </a:extLst>
                </a:gridCol>
                <a:gridCol w="2019300">
                  <a:extLst>
                    <a:ext uri="{9D8B030D-6E8A-4147-A177-3AD203B41FA5}">
                      <a16:colId xmlns:a16="http://schemas.microsoft.com/office/drawing/2014/main" val="1970522400"/>
                    </a:ext>
                  </a:extLst>
                </a:gridCol>
                <a:gridCol w="2019300">
                  <a:extLst>
                    <a:ext uri="{9D8B030D-6E8A-4147-A177-3AD203B41FA5}">
                      <a16:colId xmlns:a16="http://schemas.microsoft.com/office/drawing/2014/main" val="1174845461"/>
                    </a:ext>
                  </a:extLst>
                </a:gridCol>
              </a:tblGrid>
              <a:tr h="370840">
                <a:tc>
                  <a:txBody>
                    <a:bodyPr/>
                    <a:lstStyle/>
                    <a:p>
                      <a:r>
                        <a:rPr lang="en-IN" dirty="0"/>
                        <a:t>Row No</a:t>
                      </a:r>
                    </a:p>
                  </a:txBody>
                  <a:tcPr/>
                </a:tc>
                <a:tc>
                  <a:txBody>
                    <a:bodyPr/>
                    <a:lstStyle/>
                    <a:p>
                      <a:r>
                        <a:rPr lang="en-IN" dirty="0"/>
                        <a:t>DFFit &amp; Stdz DFFit</a:t>
                      </a:r>
                    </a:p>
                  </a:txBody>
                  <a:tcPr/>
                </a:tc>
                <a:tc>
                  <a:txBody>
                    <a:bodyPr/>
                    <a:lstStyle/>
                    <a:p>
                      <a:r>
                        <a:rPr lang="en-IN" dirty="0"/>
                        <a:t>DFBeta1 &amp; Stdz DFBeta1</a:t>
                      </a:r>
                    </a:p>
                  </a:txBody>
                  <a:tcPr/>
                </a:tc>
                <a:tc>
                  <a:txBody>
                    <a:bodyPr/>
                    <a:lstStyle/>
                    <a:p>
                      <a:r>
                        <a:rPr lang="en-IN" dirty="0"/>
                        <a:t>Reference ranges</a:t>
                      </a:r>
                    </a:p>
                  </a:txBody>
                  <a:tcPr/>
                </a:tc>
                <a:extLst>
                  <a:ext uri="{0D108BD9-81ED-4DB2-BD59-A6C34878D82A}">
                    <a16:rowId xmlns:a16="http://schemas.microsoft.com/office/drawing/2014/main" val="1335300939"/>
                  </a:ext>
                </a:extLst>
              </a:tr>
              <a:tr h="370840">
                <a:tc>
                  <a:txBody>
                    <a:bodyPr/>
                    <a:lstStyle/>
                    <a:p>
                      <a:r>
                        <a:rPr lang="en-IN" dirty="0"/>
                        <a:t>9</a:t>
                      </a:r>
                    </a:p>
                  </a:txBody>
                  <a:tcPr/>
                </a:tc>
                <a:tc>
                  <a:txBody>
                    <a:bodyPr/>
                    <a:lstStyle/>
                    <a:p>
                      <a:r>
                        <a:rPr lang="en-IN" dirty="0"/>
                        <a:t>11388.9; 0.53</a:t>
                      </a:r>
                    </a:p>
                  </a:txBody>
                  <a:tcPr/>
                </a:tc>
                <a:tc>
                  <a:txBody>
                    <a:bodyPr/>
                    <a:lstStyle/>
                    <a:p>
                      <a:r>
                        <a:rPr lang="en-IN" dirty="0"/>
                        <a:t>476.04; 0.47</a:t>
                      </a:r>
                    </a:p>
                  </a:txBody>
                  <a:tcPr/>
                </a:tc>
                <a:tc>
                  <a:txBody>
                    <a:bodyPr/>
                    <a:lstStyle/>
                    <a:p>
                      <a:r>
                        <a:rPr lang="en-IN" dirty="0"/>
                        <a:t>Ref for Stdz DFBeta = 2/ sqrt (n) = 0.283</a:t>
                      </a:r>
                    </a:p>
                  </a:txBody>
                  <a:tcPr/>
                </a:tc>
                <a:extLst>
                  <a:ext uri="{0D108BD9-81ED-4DB2-BD59-A6C34878D82A}">
                    <a16:rowId xmlns:a16="http://schemas.microsoft.com/office/drawing/2014/main" val="2787286013"/>
                  </a:ext>
                </a:extLst>
              </a:tr>
              <a:tr h="370840">
                <a:tc>
                  <a:txBody>
                    <a:bodyPr/>
                    <a:lstStyle/>
                    <a:p>
                      <a:r>
                        <a:rPr lang="en-IN" dirty="0"/>
                        <a:t>14</a:t>
                      </a:r>
                    </a:p>
                  </a:txBody>
                  <a:tcPr/>
                </a:tc>
                <a:tc>
                  <a:txBody>
                    <a:bodyPr/>
                    <a:lstStyle/>
                    <a:p>
                      <a:r>
                        <a:rPr lang="en-IN" dirty="0"/>
                        <a:t>14202.3; 0.663</a:t>
                      </a:r>
                    </a:p>
                  </a:txBody>
                  <a:tcPr/>
                </a:tc>
                <a:tc>
                  <a:txBody>
                    <a:bodyPr/>
                    <a:lstStyle/>
                    <a:p>
                      <a:r>
                        <a:rPr lang="en-IN" dirty="0"/>
                        <a:t>590; 0.59</a:t>
                      </a:r>
                    </a:p>
                  </a:txBody>
                  <a:tcPr/>
                </a:tc>
                <a:tc>
                  <a:txBody>
                    <a:bodyPr/>
                    <a:lstStyle/>
                    <a:p>
                      <a:r>
                        <a:rPr lang="en-IN" dirty="0"/>
                        <a:t>Ref for Stdz DFFit = 2*sqrt ((k+1)/n) = 0.4</a:t>
                      </a:r>
                    </a:p>
                  </a:txBody>
                  <a:tcPr/>
                </a:tc>
                <a:extLst>
                  <a:ext uri="{0D108BD9-81ED-4DB2-BD59-A6C34878D82A}">
                    <a16:rowId xmlns:a16="http://schemas.microsoft.com/office/drawing/2014/main" val="2915395159"/>
                  </a:ext>
                </a:extLst>
              </a:tr>
              <a:tr h="370840">
                <a:tc>
                  <a:txBody>
                    <a:bodyPr/>
                    <a:lstStyle/>
                    <a:p>
                      <a:r>
                        <a:rPr lang="en-IN" dirty="0"/>
                        <a:t>16</a:t>
                      </a:r>
                    </a:p>
                  </a:txBody>
                  <a:tcPr/>
                </a:tc>
                <a:tc>
                  <a:txBody>
                    <a:bodyPr/>
                    <a:lstStyle/>
                    <a:p>
                      <a:r>
                        <a:rPr lang="en-IN" dirty="0"/>
                        <a:t>12885.6; 0.441</a:t>
                      </a:r>
                    </a:p>
                  </a:txBody>
                  <a:tcPr/>
                </a:tc>
                <a:tc>
                  <a:txBody>
                    <a:bodyPr/>
                    <a:lstStyle/>
                    <a:p>
                      <a:r>
                        <a:rPr lang="en-IN" dirty="0"/>
                        <a:t>-427.03; - 0.414</a:t>
                      </a:r>
                    </a:p>
                  </a:txBody>
                  <a:tcPr/>
                </a:tc>
                <a:tc>
                  <a:txBody>
                    <a:bodyPr/>
                    <a:lstStyle/>
                    <a:p>
                      <a:endParaRPr lang="en-IN" dirty="0"/>
                    </a:p>
                  </a:txBody>
                  <a:tcPr/>
                </a:tc>
                <a:extLst>
                  <a:ext uri="{0D108BD9-81ED-4DB2-BD59-A6C34878D82A}">
                    <a16:rowId xmlns:a16="http://schemas.microsoft.com/office/drawing/2014/main" val="1985801957"/>
                  </a:ext>
                </a:extLst>
              </a:tr>
            </a:tbl>
          </a:graphicData>
        </a:graphic>
      </p:graphicFrame>
    </p:spTree>
    <p:extLst>
      <p:ext uri="{BB962C8B-B14F-4D97-AF65-F5344CB8AC3E}">
        <p14:creationId xmlns:p14="http://schemas.microsoft.com/office/powerpoint/2010/main" val="390541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04766AE-2297-0BE1-C958-40FCD3C9C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542BE-873A-02BD-14B3-6D63EB9821A8}"/>
              </a:ext>
            </a:extLst>
          </p:cNvPr>
          <p:cNvSpPr>
            <a:spLocks noGrp="1"/>
          </p:cNvSpPr>
          <p:nvPr>
            <p:ph type="title"/>
          </p:nvPr>
        </p:nvSpPr>
        <p:spPr>
          <a:xfrm>
            <a:off x="628650" y="228601"/>
            <a:ext cx="7886700" cy="838200"/>
          </a:xfrm>
        </p:spPr>
        <p:txBody>
          <a:bodyPr>
            <a:normAutofit/>
          </a:bodyPr>
          <a:lstStyle/>
          <a:p>
            <a:pPr algn="just"/>
            <a:r>
              <a:rPr lang="en-GB" sz="3200" b="1" dirty="0">
                <a:solidFill>
                  <a:srgbClr val="C00000"/>
                </a:solidFill>
              </a:rPr>
              <a:t>Handling Outliers</a:t>
            </a:r>
            <a:endParaRPr lang="en-IN" sz="3200" dirty="0">
              <a:solidFill>
                <a:srgbClr val="C00000"/>
              </a:solidFill>
            </a:endParaRPr>
          </a:p>
        </p:txBody>
      </p:sp>
      <p:sp>
        <p:nvSpPr>
          <p:cNvPr id="3" name="Content Placeholder 2">
            <a:extLst>
              <a:ext uri="{FF2B5EF4-FFF2-40B4-BE49-F238E27FC236}">
                <a16:creationId xmlns:a16="http://schemas.microsoft.com/office/drawing/2014/main" id="{9C13134A-0247-3B2B-5B15-33B9D68E3EED}"/>
              </a:ext>
            </a:extLst>
          </p:cNvPr>
          <p:cNvSpPr>
            <a:spLocks noGrp="1"/>
          </p:cNvSpPr>
          <p:nvPr>
            <p:ph idx="1"/>
          </p:nvPr>
        </p:nvSpPr>
        <p:spPr>
          <a:xfrm>
            <a:off x="592308" y="1143000"/>
            <a:ext cx="7886700" cy="5181600"/>
          </a:xfrm>
        </p:spPr>
        <p:txBody>
          <a:bodyPr>
            <a:normAutofit/>
          </a:bodyPr>
          <a:lstStyle/>
          <a:p>
            <a:pPr algn="just"/>
            <a:r>
              <a:rPr lang="en-GB" dirty="0"/>
              <a:t>Removing the outliers from the dataset. </a:t>
            </a:r>
          </a:p>
          <a:p>
            <a:pPr algn="just"/>
            <a:endParaRPr lang="en-GB" dirty="0"/>
          </a:p>
          <a:p>
            <a:pPr algn="just"/>
            <a:r>
              <a:rPr lang="en-GB" dirty="0"/>
              <a:t>Capping the extreme observations at reasonable values.</a:t>
            </a:r>
          </a:p>
          <a:p>
            <a:pPr algn="just"/>
            <a:endParaRPr lang="en-GB" dirty="0"/>
          </a:p>
          <a:p>
            <a:pPr algn="just"/>
            <a:r>
              <a:rPr lang="en-GB" dirty="0"/>
              <a:t>Robust regression algorithms – Huber regression (assigns less weight to data points identified as outliers; minimizes Huber loss function)</a:t>
            </a:r>
            <a:endParaRPr lang="en-IN" dirty="0"/>
          </a:p>
        </p:txBody>
      </p:sp>
    </p:spTree>
    <p:extLst>
      <p:ext uri="{BB962C8B-B14F-4D97-AF65-F5344CB8AC3E}">
        <p14:creationId xmlns:p14="http://schemas.microsoft.com/office/powerpoint/2010/main" val="337066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6A06D-62B7-4E50-AC1D-739EADF799C0}"/>
              </a:ext>
            </a:extLst>
          </p:cNvPr>
          <p:cNvSpPr>
            <a:spLocks noGrp="1"/>
          </p:cNvSpPr>
          <p:nvPr>
            <p:ph type="title"/>
          </p:nvPr>
        </p:nvSpPr>
        <p:spPr>
          <a:xfrm>
            <a:off x="628650" y="365126"/>
            <a:ext cx="7886700" cy="660399"/>
          </a:xfrm>
        </p:spPr>
        <p:txBody>
          <a:bodyPr>
            <a:noAutofit/>
          </a:bodyPr>
          <a:lstStyle/>
          <a:p>
            <a:pPr algn="ctr"/>
            <a:r>
              <a:rPr lang="en-GB" sz="2800" b="1" dirty="0">
                <a:solidFill>
                  <a:srgbClr val="C00000"/>
                </a:solidFill>
              </a:rPr>
              <a:t>Confidence Interval for Regression coefficients </a:t>
            </a:r>
            <a:r>
              <a:rPr lang="en-GB" sz="2800" b="1" dirty="0">
                <a:solidFill>
                  <a:srgbClr val="C00000"/>
                </a:solidFill>
                <a:sym typeface="Symbol" panose="05050102010706020507" pitchFamily="18" charset="2"/>
              </a:rPr>
              <a:t></a:t>
            </a:r>
            <a:r>
              <a:rPr lang="en-GB" sz="2800" b="1" baseline="-25000" dirty="0">
                <a:solidFill>
                  <a:srgbClr val="C00000"/>
                </a:solidFill>
              </a:rPr>
              <a:t>0</a:t>
            </a:r>
            <a:r>
              <a:rPr lang="en-GB" sz="2800" b="1" dirty="0">
                <a:solidFill>
                  <a:srgbClr val="C00000"/>
                </a:solidFill>
              </a:rPr>
              <a:t> and </a:t>
            </a:r>
            <a:r>
              <a:rPr lang="en-GB" sz="2800" b="1" dirty="0">
                <a:solidFill>
                  <a:srgbClr val="C00000"/>
                </a:solidFill>
                <a:sym typeface="Symbol" panose="05050102010706020507" pitchFamily="18" charset="2"/>
              </a:rPr>
              <a:t></a:t>
            </a:r>
            <a:r>
              <a:rPr lang="en-GB" sz="2800" b="1" baseline="-25000" dirty="0">
                <a:solidFill>
                  <a:srgbClr val="C00000"/>
                </a:solidFill>
              </a:rPr>
              <a:t>1</a:t>
            </a:r>
            <a:endParaRPr lang="en-IN" sz="2800" dirty="0">
              <a:solidFill>
                <a:srgbClr val="C00000"/>
              </a:solidFill>
            </a:endParaRPr>
          </a:p>
        </p:txBody>
      </p:sp>
      <p:sp>
        <p:nvSpPr>
          <p:cNvPr id="3" name="Content Placeholder 2">
            <a:extLst>
              <a:ext uri="{FF2B5EF4-FFF2-40B4-BE49-F238E27FC236}">
                <a16:creationId xmlns:a16="http://schemas.microsoft.com/office/drawing/2014/main" id="{6E5B3777-3EA3-46E2-AD9C-0075A568D7DD}"/>
              </a:ext>
            </a:extLst>
          </p:cNvPr>
          <p:cNvSpPr>
            <a:spLocks noGrp="1"/>
          </p:cNvSpPr>
          <p:nvPr>
            <p:ph idx="1"/>
          </p:nvPr>
        </p:nvSpPr>
        <p:spPr>
          <a:xfrm>
            <a:off x="628650" y="1266727"/>
            <a:ext cx="7962900" cy="2707446"/>
          </a:xfrm>
        </p:spPr>
        <p:txBody>
          <a:bodyPr>
            <a:normAutofit/>
          </a:bodyPr>
          <a:lstStyle/>
          <a:p>
            <a:pPr marL="0" indent="0" algn="just">
              <a:buNone/>
            </a:pPr>
            <a:r>
              <a:rPr lang="en-GB" sz="2400" dirty="0"/>
              <a:t>The standard error of estimates of    and    are given by</a:t>
            </a:r>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r>
              <a:rPr lang="en-GB" sz="2400" dirty="0"/>
              <a:t>where</a:t>
            </a:r>
            <a:endParaRPr lang="en-IN" sz="2400" dirty="0"/>
          </a:p>
          <a:p>
            <a:pPr marL="0" indent="0" algn="just">
              <a:buNone/>
            </a:pPr>
            <a:r>
              <a:rPr lang="en-GB" sz="2400" dirty="0"/>
              <a:t>  </a:t>
            </a:r>
          </a:p>
          <a:p>
            <a:pPr marL="0" indent="0" algn="just">
              <a:buNone/>
            </a:pPr>
            <a:endParaRPr lang="en-GB" sz="2400" dirty="0"/>
          </a:p>
        </p:txBody>
      </p:sp>
      <p:sp>
        <p:nvSpPr>
          <p:cNvPr id="4" name="Rectangle 2">
            <a:extLst>
              <a:ext uri="{FF2B5EF4-FFF2-40B4-BE49-F238E27FC236}">
                <a16:creationId xmlns:a16="http://schemas.microsoft.com/office/drawing/2014/main" id="{4AF69258-EB9F-4459-99D9-FF2A2A12ABB7}"/>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9D26A150-3547-4E33-AF93-DADA2CFCF87D}"/>
              </a:ext>
            </a:extLst>
          </p:cNvPr>
          <p:cNvGraphicFramePr>
            <a:graphicFrameLocks noChangeAspect="1"/>
          </p:cNvGraphicFramePr>
          <p:nvPr/>
        </p:nvGraphicFramePr>
        <p:xfrm>
          <a:off x="5029200" y="1271075"/>
          <a:ext cx="335757" cy="390525"/>
        </p:xfrm>
        <a:graphic>
          <a:graphicData uri="http://schemas.openxmlformats.org/presentationml/2006/ole">
            <mc:AlternateContent xmlns:mc="http://schemas.openxmlformats.org/markup-compatibility/2006">
              <mc:Choice xmlns:v="urn:schemas-microsoft-com:vml" Requires="v">
                <p:oleObj name="Equation" r:id="rId2" imgW="215713" imgH="342603" progId="Equation.3">
                  <p:embed/>
                </p:oleObj>
              </mc:Choice>
              <mc:Fallback>
                <p:oleObj name="Equation" r:id="rId2" imgW="215713" imgH="342603" progId="Equation.3">
                  <p:embed/>
                  <p:pic>
                    <p:nvPicPr>
                      <p:cNvPr id="5" name="Object 4">
                        <a:extLst>
                          <a:ext uri="{FF2B5EF4-FFF2-40B4-BE49-F238E27FC236}">
                            <a16:creationId xmlns:a16="http://schemas.microsoft.com/office/drawing/2014/main" id="{9D26A150-3547-4E33-AF93-DADA2CFCF8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271075"/>
                        <a:ext cx="335757" cy="390525"/>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B6335BD1-0E90-405E-9F18-250C3F772901}"/>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B77713C4-14C2-444A-B812-924DF0867AAF}"/>
              </a:ext>
            </a:extLst>
          </p:cNvPr>
          <p:cNvGraphicFramePr>
            <a:graphicFrameLocks noChangeAspect="1"/>
          </p:cNvGraphicFramePr>
          <p:nvPr/>
        </p:nvGraphicFramePr>
        <p:xfrm>
          <a:off x="5791200" y="1295400"/>
          <a:ext cx="381000" cy="374552"/>
        </p:xfrm>
        <a:graphic>
          <a:graphicData uri="http://schemas.openxmlformats.org/presentationml/2006/ole">
            <mc:AlternateContent xmlns:mc="http://schemas.openxmlformats.org/markup-compatibility/2006">
              <mc:Choice xmlns:v="urn:schemas-microsoft-com:vml" Requires="v">
                <p:oleObj name="Equation" r:id="rId4" imgW="190417" imgH="342751" progId="Equation.3">
                  <p:embed/>
                </p:oleObj>
              </mc:Choice>
              <mc:Fallback>
                <p:oleObj name="Equation" r:id="rId4" imgW="190417" imgH="342751" progId="Equation.3">
                  <p:embed/>
                  <p:pic>
                    <p:nvPicPr>
                      <p:cNvPr id="7" name="Object 6">
                        <a:extLst>
                          <a:ext uri="{FF2B5EF4-FFF2-40B4-BE49-F238E27FC236}">
                            <a16:creationId xmlns:a16="http://schemas.microsoft.com/office/drawing/2014/main" id="{B77713C4-14C2-444A-B812-924DF0867A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295400"/>
                        <a:ext cx="381000" cy="374552"/>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4F22365D-2496-4F70-A65D-F48A3D9C3758}"/>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05CDBD5E-D8FD-4FF4-8602-A08C1726A505}"/>
              </a:ext>
            </a:extLst>
          </p:cNvPr>
          <p:cNvGraphicFramePr>
            <a:graphicFrameLocks noChangeAspect="1"/>
          </p:cNvGraphicFramePr>
          <p:nvPr/>
        </p:nvGraphicFramePr>
        <p:xfrm>
          <a:off x="1638300" y="1838325"/>
          <a:ext cx="2857500" cy="828675"/>
        </p:xfrm>
        <a:graphic>
          <a:graphicData uri="http://schemas.openxmlformats.org/presentationml/2006/ole">
            <mc:AlternateContent xmlns:mc="http://schemas.openxmlformats.org/markup-compatibility/2006">
              <mc:Choice xmlns:v="urn:schemas-microsoft-com:vml" Requires="v">
                <p:oleObj name="Equation" r:id="rId6" imgW="1371600" imgH="711200" progId="Equation.3">
                  <p:embed/>
                </p:oleObj>
              </mc:Choice>
              <mc:Fallback>
                <p:oleObj name="Equation" r:id="rId6" imgW="1371600" imgH="711200" progId="Equation.3">
                  <p:embed/>
                  <p:pic>
                    <p:nvPicPr>
                      <p:cNvPr id="9" name="Object 8">
                        <a:extLst>
                          <a:ext uri="{FF2B5EF4-FFF2-40B4-BE49-F238E27FC236}">
                            <a16:creationId xmlns:a16="http://schemas.microsoft.com/office/drawing/2014/main" id="{05CDBD5E-D8FD-4FF4-8602-A08C1726A5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8300" y="1838325"/>
                        <a:ext cx="2857500" cy="828675"/>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10" name="Rectangle 8">
            <a:extLst>
              <a:ext uri="{FF2B5EF4-FFF2-40B4-BE49-F238E27FC236}">
                <a16:creationId xmlns:a16="http://schemas.microsoft.com/office/drawing/2014/main" id="{9C8048E3-95DA-49D4-A176-D564BD0AEBD5}"/>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11" name="Object 10">
            <a:extLst>
              <a:ext uri="{FF2B5EF4-FFF2-40B4-BE49-F238E27FC236}">
                <a16:creationId xmlns:a16="http://schemas.microsoft.com/office/drawing/2014/main" id="{0E874974-D773-46AE-9A5C-21A50E884D8E}"/>
              </a:ext>
            </a:extLst>
          </p:cNvPr>
          <p:cNvGraphicFramePr>
            <a:graphicFrameLocks noChangeAspect="1"/>
          </p:cNvGraphicFramePr>
          <p:nvPr/>
        </p:nvGraphicFramePr>
        <p:xfrm>
          <a:off x="4819650" y="1838325"/>
          <a:ext cx="1943100" cy="752475"/>
        </p:xfrm>
        <a:graphic>
          <a:graphicData uri="http://schemas.openxmlformats.org/presentationml/2006/ole">
            <mc:AlternateContent xmlns:mc="http://schemas.openxmlformats.org/markup-compatibility/2006">
              <mc:Choice xmlns:v="urn:schemas-microsoft-com:vml" Requires="v">
                <p:oleObj name="Equation" r:id="rId8" imgW="990170" imgH="469696" progId="Equation.3">
                  <p:embed/>
                </p:oleObj>
              </mc:Choice>
              <mc:Fallback>
                <p:oleObj name="Equation" r:id="rId8" imgW="990170" imgH="469696" progId="Equation.3">
                  <p:embed/>
                  <p:pic>
                    <p:nvPicPr>
                      <p:cNvPr id="11" name="Object 10">
                        <a:extLst>
                          <a:ext uri="{FF2B5EF4-FFF2-40B4-BE49-F238E27FC236}">
                            <a16:creationId xmlns:a16="http://schemas.microsoft.com/office/drawing/2014/main" id="{0E874974-D773-46AE-9A5C-21A50E884D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19650" y="1838325"/>
                        <a:ext cx="1943100" cy="752475"/>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12" name="Rectangle 10">
            <a:extLst>
              <a:ext uri="{FF2B5EF4-FFF2-40B4-BE49-F238E27FC236}">
                <a16:creationId xmlns:a16="http://schemas.microsoft.com/office/drawing/2014/main" id="{76C91062-081C-4A89-B5E7-5860CF3140F3}"/>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mc:AlternateContent xmlns:mc="http://schemas.openxmlformats.org/markup-compatibility/2006" xmlns:a14="http://schemas.microsoft.com/office/drawing/2010/main">
        <mc:Choice Requires="a14">
          <p:sp>
            <p:nvSpPr>
              <p:cNvPr id="13" name="Object 12">
                <a:extLst>
                  <a:ext uri="{FF2B5EF4-FFF2-40B4-BE49-F238E27FC236}">
                    <a16:creationId xmlns:a16="http://schemas.microsoft.com/office/drawing/2014/main" id="{62029A92-A345-4194-9826-5DE18EBC586F}"/>
                  </a:ext>
                </a:extLst>
              </p:cNvPr>
              <p:cNvSpPr txBox="1"/>
              <p:nvPr/>
            </p:nvSpPr>
            <p:spPr bwMode="auto">
              <a:xfrm>
                <a:off x="1905000" y="3014663"/>
                <a:ext cx="2114550" cy="828675"/>
              </a:xfrm>
              <a:prstGeom prst="rect">
                <a:avLst/>
              </a:prstGeom>
              <a:solidFill>
                <a:schemeClr val="accent2">
                  <a:lumMod val="20000"/>
                  <a:lumOff val="80000"/>
                </a:schemeClr>
              </a:solidFill>
              <a:ln>
                <a:solidFill>
                  <a:schemeClr val="accent1"/>
                </a:solid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𝑆</m:t>
                          </m:r>
                        </m:e>
                        <m:sub>
                          <m:r>
                            <a:rPr lang="en-IN" i="1">
                              <a:solidFill>
                                <a:srgbClr val="000000"/>
                              </a:solidFill>
                              <a:latin typeface="Cambria Math" panose="02040503050406030204" pitchFamily="18" charset="0"/>
                            </a:rPr>
                            <m:t>𝑒</m:t>
                          </m:r>
                        </m:sub>
                      </m:sSub>
                      <m:r>
                        <a:rPr lang="en-IN" i="1">
                          <a:solidFill>
                            <a:srgbClr val="000000"/>
                          </a:solidFill>
                          <a:latin typeface="Cambria Math" panose="02040503050406030204" pitchFamily="18" charset="0"/>
                        </a:rPr>
                        <m:t>=</m:t>
                      </m:r>
                      <m:rad>
                        <m:radPr>
                          <m:degHide m:val="on"/>
                          <m:ctrlPr>
                            <a:rPr lang="en-IN" i="1">
                              <a:solidFill>
                                <a:srgbClr val="000000"/>
                              </a:solidFill>
                              <a:latin typeface="Cambria Math" panose="02040503050406030204" pitchFamily="18" charset="0"/>
                            </a:rPr>
                          </m:ctrlPr>
                        </m:radPr>
                        <m:deg/>
                        <m:e>
                          <m:f>
                            <m:fPr>
                              <m:ctrlPr>
                                <a:rPr lang="en-IN" i="1">
                                  <a:solidFill>
                                    <a:srgbClr val="000000"/>
                                  </a:solidFill>
                                  <a:latin typeface="Cambria Math" panose="02040503050406030204" pitchFamily="18" charset="0"/>
                                </a:rPr>
                              </m:ctrlPr>
                            </m:fPr>
                            <m:num>
                              <m:sSup>
                                <m:sSupPr>
                                  <m:ctrlPr>
                                    <a:rPr lang="en-IN" i="1">
                                      <a:solidFill>
                                        <a:srgbClr val="000000"/>
                                      </a:solidFill>
                                      <a:latin typeface="Cambria Math" panose="02040503050406030204" pitchFamily="18" charset="0"/>
                                    </a:rPr>
                                  </m:ctrlPr>
                                </m:sSupPr>
                                <m:e>
                                  <m:nary>
                                    <m:naryPr>
                                      <m:chr m:val="∑"/>
                                      <m:subHide m:val="on"/>
                                      <m:supHide m:val="on"/>
                                      <m:ctrlPr>
                                        <a:rPr lang="en-IN" i="1" smtClean="0">
                                          <a:solidFill>
                                            <a:srgbClr val="000000"/>
                                          </a:solidFill>
                                          <a:latin typeface="Cambria Math" panose="02040503050406030204" pitchFamily="18" charset="0"/>
                                        </a:rPr>
                                      </m:ctrlPr>
                                    </m:naryPr>
                                    <m:sub/>
                                    <m:sup/>
                                    <m:e>
                                      <m:d>
                                        <m:dPr>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𝑌</m:t>
                                              </m:r>
                                            </m:e>
                                            <m:sub>
                                              <m:r>
                                                <a:rPr lang="en-IN" i="1">
                                                  <a:solidFill>
                                                    <a:srgbClr val="000000"/>
                                                  </a:solidFill>
                                                  <a:latin typeface="Cambria Math" panose="02040503050406030204" pitchFamily="18" charset="0"/>
                                                </a:rPr>
                                                <m:t>𝑖</m:t>
                                              </m:r>
                                            </m:sub>
                                          </m:sSub>
                                          <m:r>
                                            <a:rPr lang="en-IN" i="1">
                                              <a:solidFill>
                                                <a:srgbClr val="000000"/>
                                              </a:solidFill>
                                              <a:latin typeface="Cambria Math" panose="02040503050406030204" pitchFamily="18" charset="0"/>
                                            </a:rPr>
                                            <m:t>−</m:t>
                                          </m:r>
                                          <m:limUpp>
                                            <m:limUppPr>
                                              <m:ctrlPr>
                                                <a:rPr lang="en-IN" i="1">
                                                  <a:solidFill>
                                                    <a:srgbClr val="000000"/>
                                                  </a:solidFill>
                                                  <a:latin typeface="Cambria Math" panose="02040503050406030204" pitchFamily="18" charset="0"/>
                                                </a:rPr>
                                              </m:ctrlPr>
                                            </m:limUpp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𝑌</m:t>
                                                  </m:r>
                                                </m:e>
                                                <m:sub>
                                                  <m:r>
                                                    <a:rPr lang="en-IN" i="1">
                                                      <a:solidFill>
                                                        <a:srgbClr val="000000"/>
                                                      </a:solidFill>
                                                      <a:latin typeface="Cambria Math" panose="02040503050406030204" pitchFamily="18" charset="0"/>
                                                    </a:rPr>
                                                    <m:t>𝑖</m:t>
                                                  </m:r>
                                                </m:sub>
                                              </m:sSub>
                                            </m:e>
                                            <m:lim>
                                              <m:r>
                                                <a:rPr lang="en-IN" i="1">
                                                  <a:solidFill>
                                                    <a:srgbClr val="000000"/>
                                                  </a:solidFill>
                                                  <a:latin typeface="Cambria Math" panose="02040503050406030204" pitchFamily="18" charset="0"/>
                                                </a:rPr>
                                                <m:t>∧</m:t>
                                              </m:r>
                                            </m:lim>
                                          </m:limUpp>
                                        </m:e>
                                      </m:d>
                                    </m:e>
                                  </m:nary>
                                </m:e>
                                <m:sup>
                                  <m:r>
                                    <a:rPr lang="en-IN" i="1">
                                      <a:solidFill>
                                        <a:srgbClr val="000000"/>
                                      </a:solidFill>
                                      <a:latin typeface="Cambria Math" panose="02040503050406030204" pitchFamily="18" charset="0"/>
                                    </a:rPr>
                                    <m:t>2</m:t>
                                  </m:r>
                                </m:sup>
                              </m:sSup>
                            </m:num>
                            <m:den>
                              <m:r>
                                <a:rPr lang="en-IN" i="1">
                                  <a:solidFill>
                                    <a:srgbClr val="000000"/>
                                  </a:solidFill>
                                  <a:latin typeface="Cambria Math" panose="02040503050406030204" pitchFamily="18" charset="0"/>
                                </a:rPr>
                                <m:t>𝑛</m:t>
                              </m:r>
                              <m:r>
                                <a:rPr lang="en-IN" i="1">
                                  <a:solidFill>
                                    <a:srgbClr val="000000"/>
                                  </a:solidFill>
                                  <a:latin typeface="Cambria Math" panose="02040503050406030204" pitchFamily="18" charset="0"/>
                                </a:rPr>
                                <m:t>−2</m:t>
                              </m:r>
                            </m:den>
                          </m:f>
                        </m:e>
                      </m:rad>
                    </m:oMath>
                  </m:oMathPara>
                </a14:m>
                <a:endParaRPr lang="en-IN" dirty="0"/>
              </a:p>
            </p:txBody>
          </p:sp>
        </mc:Choice>
        <mc:Fallback xmlns="">
          <p:sp>
            <p:nvSpPr>
              <p:cNvPr id="13" name="Object 12">
                <a:extLst>
                  <a:ext uri="{FF2B5EF4-FFF2-40B4-BE49-F238E27FC236}">
                    <a16:creationId xmlns:a16="http://schemas.microsoft.com/office/drawing/2014/main" id="{62029A92-A345-4194-9826-5DE18EBC586F}"/>
                  </a:ext>
                </a:extLst>
              </p:cNvPr>
              <p:cNvSpPr txBox="1">
                <a:spLocks noRot="1" noChangeAspect="1" noMove="1" noResize="1" noEditPoints="1" noAdjustHandles="1" noChangeArrowheads="1" noChangeShapeType="1" noTextEdit="1"/>
              </p:cNvSpPr>
              <p:nvPr/>
            </p:nvSpPr>
            <p:spPr bwMode="auto">
              <a:xfrm>
                <a:off x="1905000" y="3014663"/>
                <a:ext cx="2114550" cy="828675"/>
              </a:xfrm>
              <a:prstGeom prst="rect">
                <a:avLst/>
              </a:prstGeom>
              <a:blipFill>
                <a:blip r:embed="rId10"/>
                <a:stretch>
                  <a:fillRect/>
                </a:stretch>
              </a:blipFill>
              <a:ln>
                <a:solidFill>
                  <a:schemeClr val="accent1"/>
                </a:solidFill>
              </a:ln>
            </p:spPr>
            <p:txBody>
              <a:bodyPr/>
              <a:lstStyle/>
              <a:p>
                <a:r>
                  <a:rPr lang="en-IN">
                    <a:noFill/>
                  </a:rPr>
                  <a:t> </a:t>
                </a:r>
              </a:p>
            </p:txBody>
          </p:sp>
        </mc:Fallback>
      </mc:AlternateContent>
      <p:sp>
        <p:nvSpPr>
          <p:cNvPr id="14" name="Rectangle 13">
            <a:extLst>
              <a:ext uri="{FF2B5EF4-FFF2-40B4-BE49-F238E27FC236}">
                <a16:creationId xmlns:a16="http://schemas.microsoft.com/office/drawing/2014/main" id="{97AFB91B-CCEA-476E-8E57-04DCF2D3F5F3}"/>
              </a:ext>
            </a:extLst>
          </p:cNvPr>
          <p:cNvSpPr/>
          <p:nvPr/>
        </p:nvSpPr>
        <p:spPr>
          <a:xfrm>
            <a:off x="381000" y="4069140"/>
            <a:ext cx="8382000" cy="1569660"/>
          </a:xfrm>
          <a:prstGeom prst="rect">
            <a:avLst/>
          </a:prstGeom>
        </p:spPr>
        <p:txBody>
          <a:bodyPr wrap="square">
            <a:spAutoFit/>
          </a:bodyPr>
          <a:lstStyle/>
          <a:p>
            <a:pPr marL="0" indent="0">
              <a:buNone/>
            </a:pPr>
            <a:r>
              <a:rPr lang="en-GB" sz="2400" dirty="0">
                <a:latin typeface="+mn-lt"/>
              </a:rPr>
              <a:t>Where S</a:t>
            </a:r>
            <a:r>
              <a:rPr lang="en-GB" sz="2400" baseline="-25000" dirty="0">
                <a:latin typeface="+mn-lt"/>
              </a:rPr>
              <a:t>e</a:t>
            </a:r>
            <a:r>
              <a:rPr lang="en-GB" sz="2400" dirty="0">
                <a:latin typeface="+mn-lt"/>
              </a:rPr>
              <a:t> is the standard error of residuals and SSX =</a:t>
            </a:r>
          </a:p>
          <a:p>
            <a:pPr marL="0" indent="0">
              <a:buNone/>
            </a:pPr>
            <a:endParaRPr lang="en-GB" sz="2400" dirty="0">
              <a:latin typeface="+mn-lt"/>
            </a:endParaRPr>
          </a:p>
          <a:p>
            <a:pPr marL="0" indent="0">
              <a:buNone/>
            </a:pPr>
            <a:r>
              <a:rPr lang="en-GB" sz="2400" dirty="0">
                <a:latin typeface="+mn-lt"/>
              </a:rPr>
              <a:t>The interval estimate or (1-</a:t>
            </a:r>
            <a:r>
              <a:rPr lang="en-GB" sz="2400" dirty="0">
                <a:latin typeface="+mn-lt"/>
                <a:sym typeface="Symbol" panose="05050102010706020507" pitchFamily="18" charset="2"/>
              </a:rPr>
              <a:t></a:t>
            </a:r>
            <a:r>
              <a:rPr lang="en-GB" sz="2400" dirty="0">
                <a:latin typeface="+mn-lt"/>
              </a:rPr>
              <a:t>)100% confidence interval for      and           	are given by</a:t>
            </a:r>
          </a:p>
        </p:txBody>
      </p:sp>
      <p:graphicFrame>
        <p:nvGraphicFramePr>
          <p:cNvPr id="15" name="Object 14">
            <a:extLst>
              <a:ext uri="{FF2B5EF4-FFF2-40B4-BE49-F238E27FC236}">
                <a16:creationId xmlns:a16="http://schemas.microsoft.com/office/drawing/2014/main" id="{A1E4E8E1-4B96-4D42-B617-C8D917465894}"/>
              </a:ext>
            </a:extLst>
          </p:cNvPr>
          <p:cNvGraphicFramePr>
            <a:graphicFrameLocks noChangeAspect="1"/>
          </p:cNvGraphicFramePr>
          <p:nvPr/>
        </p:nvGraphicFramePr>
        <p:xfrm>
          <a:off x="7467600" y="3974173"/>
          <a:ext cx="1295400" cy="723900"/>
        </p:xfrm>
        <a:graphic>
          <a:graphicData uri="http://schemas.openxmlformats.org/presentationml/2006/ole">
            <mc:AlternateContent xmlns:mc="http://schemas.openxmlformats.org/markup-compatibility/2006">
              <mc:Choice xmlns:v="urn:schemas-microsoft-com:vml" Requires="v">
                <p:oleObj name="Equation" r:id="rId11" imgW="800100" imgH="457200" progId="Equation.3">
                  <p:embed/>
                </p:oleObj>
              </mc:Choice>
              <mc:Fallback>
                <p:oleObj name="Equation" r:id="rId11" imgW="800100" imgH="457200" progId="Equation.3">
                  <p:embed/>
                  <p:pic>
                    <p:nvPicPr>
                      <p:cNvPr id="15" name="Object 14">
                        <a:extLst>
                          <a:ext uri="{FF2B5EF4-FFF2-40B4-BE49-F238E27FC236}">
                            <a16:creationId xmlns:a16="http://schemas.microsoft.com/office/drawing/2014/main" id="{A1E4E8E1-4B96-4D42-B617-C8D91746589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67600" y="3974173"/>
                        <a:ext cx="1295400" cy="723900"/>
                      </a:xfrm>
                      <a:prstGeom prst="rect">
                        <a:avLst/>
                      </a:prstGeom>
                      <a:noFill/>
                    </p:spPr>
                  </p:pic>
                </p:oleObj>
              </mc:Fallback>
            </mc:AlternateContent>
          </a:graphicData>
        </a:graphic>
      </p:graphicFrame>
      <p:graphicFrame>
        <p:nvGraphicFramePr>
          <p:cNvPr id="16" name="Object 15">
            <a:extLst>
              <a:ext uri="{FF2B5EF4-FFF2-40B4-BE49-F238E27FC236}">
                <a16:creationId xmlns:a16="http://schemas.microsoft.com/office/drawing/2014/main" id="{1D4C72BE-2AEF-4658-9BCE-1E7A5CA8A044}"/>
              </a:ext>
            </a:extLst>
          </p:cNvPr>
          <p:cNvGraphicFramePr>
            <a:graphicFrameLocks noChangeAspect="1"/>
          </p:cNvGraphicFramePr>
          <p:nvPr/>
        </p:nvGraphicFramePr>
        <p:xfrm>
          <a:off x="7791449" y="4698073"/>
          <a:ext cx="419100" cy="571500"/>
        </p:xfrm>
        <a:graphic>
          <a:graphicData uri="http://schemas.openxmlformats.org/presentationml/2006/ole">
            <mc:AlternateContent xmlns:mc="http://schemas.openxmlformats.org/markup-compatibility/2006">
              <mc:Choice xmlns:v="urn:schemas-microsoft-com:vml" Requires="v">
                <p:oleObj name="Equation" r:id="rId13" imgW="215713" imgH="342603" progId="Equation.3">
                  <p:embed/>
                </p:oleObj>
              </mc:Choice>
              <mc:Fallback>
                <p:oleObj name="Equation" r:id="rId13" imgW="215713" imgH="342603" progId="Equation.3">
                  <p:embed/>
                  <p:pic>
                    <p:nvPicPr>
                      <p:cNvPr id="16" name="Object 15">
                        <a:extLst>
                          <a:ext uri="{FF2B5EF4-FFF2-40B4-BE49-F238E27FC236}">
                            <a16:creationId xmlns:a16="http://schemas.microsoft.com/office/drawing/2014/main" id="{1D4C72BE-2AEF-4658-9BCE-1E7A5CA8A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1449" y="4698073"/>
                        <a:ext cx="419100" cy="571500"/>
                      </a:xfrm>
                      <a:prstGeom prst="rect">
                        <a:avLst/>
                      </a:prstGeom>
                      <a:noFill/>
                    </p:spPr>
                  </p:pic>
                </p:oleObj>
              </mc:Fallback>
            </mc:AlternateContent>
          </a:graphicData>
        </a:graphic>
      </p:graphicFrame>
      <p:graphicFrame>
        <p:nvGraphicFramePr>
          <p:cNvPr id="17" name="Object 16">
            <a:extLst>
              <a:ext uri="{FF2B5EF4-FFF2-40B4-BE49-F238E27FC236}">
                <a16:creationId xmlns:a16="http://schemas.microsoft.com/office/drawing/2014/main" id="{05D755F0-E2B7-442D-A72B-01B42A6BBE9B}"/>
              </a:ext>
            </a:extLst>
          </p:cNvPr>
          <p:cNvGraphicFramePr>
            <a:graphicFrameLocks noChangeAspect="1"/>
          </p:cNvGraphicFramePr>
          <p:nvPr/>
        </p:nvGraphicFramePr>
        <p:xfrm>
          <a:off x="704850" y="5143263"/>
          <a:ext cx="419100" cy="495537"/>
        </p:xfrm>
        <a:graphic>
          <a:graphicData uri="http://schemas.openxmlformats.org/presentationml/2006/ole">
            <mc:AlternateContent xmlns:mc="http://schemas.openxmlformats.org/markup-compatibility/2006">
              <mc:Choice xmlns:v="urn:schemas-microsoft-com:vml" Requires="v">
                <p:oleObj name="Equation" r:id="rId14" imgW="190417" imgH="342751" progId="Equation.3">
                  <p:embed/>
                </p:oleObj>
              </mc:Choice>
              <mc:Fallback>
                <p:oleObj name="Equation" r:id="rId14" imgW="190417" imgH="342751" progId="Equation.3">
                  <p:embed/>
                  <p:pic>
                    <p:nvPicPr>
                      <p:cNvPr id="17" name="Object 16">
                        <a:extLst>
                          <a:ext uri="{FF2B5EF4-FFF2-40B4-BE49-F238E27FC236}">
                            <a16:creationId xmlns:a16="http://schemas.microsoft.com/office/drawing/2014/main" id="{05D755F0-E2B7-442D-A72B-01B42A6BBE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850" y="5143263"/>
                        <a:ext cx="419100" cy="495537"/>
                      </a:xfrm>
                      <a:prstGeom prst="rect">
                        <a:avLst/>
                      </a:prstGeom>
                      <a:noFill/>
                    </p:spPr>
                  </p:pic>
                </p:oleObj>
              </mc:Fallback>
            </mc:AlternateContent>
          </a:graphicData>
        </a:graphic>
      </p:graphicFrame>
      <p:graphicFrame>
        <p:nvGraphicFramePr>
          <p:cNvPr id="18" name="Object 17">
            <a:extLst>
              <a:ext uri="{FF2B5EF4-FFF2-40B4-BE49-F238E27FC236}">
                <a16:creationId xmlns:a16="http://schemas.microsoft.com/office/drawing/2014/main" id="{C03A4BEB-96B9-4B85-A021-0BC0778FC4F4}"/>
              </a:ext>
            </a:extLst>
          </p:cNvPr>
          <p:cNvGraphicFramePr>
            <a:graphicFrameLocks noChangeAspect="1"/>
          </p:cNvGraphicFramePr>
          <p:nvPr/>
        </p:nvGraphicFramePr>
        <p:xfrm>
          <a:off x="4019548" y="5717856"/>
          <a:ext cx="2743202" cy="682944"/>
        </p:xfrm>
        <a:graphic>
          <a:graphicData uri="http://schemas.openxmlformats.org/presentationml/2006/ole">
            <mc:AlternateContent xmlns:mc="http://schemas.openxmlformats.org/markup-compatibility/2006">
              <mc:Choice xmlns:v="urn:schemas-microsoft-com:vml" Requires="v">
                <p:oleObj name="Equation" r:id="rId15" imgW="1256755" imgH="355446" progId="Equation.3">
                  <p:embed/>
                </p:oleObj>
              </mc:Choice>
              <mc:Fallback>
                <p:oleObj name="Equation" r:id="rId15" imgW="1256755" imgH="355446" progId="Equation.3">
                  <p:embed/>
                  <p:pic>
                    <p:nvPicPr>
                      <p:cNvPr id="18" name="Object 17">
                        <a:extLst>
                          <a:ext uri="{FF2B5EF4-FFF2-40B4-BE49-F238E27FC236}">
                            <a16:creationId xmlns:a16="http://schemas.microsoft.com/office/drawing/2014/main" id="{C03A4BEB-96B9-4B85-A021-0BC0778FC4F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19548" y="5717856"/>
                        <a:ext cx="2743202" cy="682944"/>
                      </a:xfrm>
                      <a:prstGeom prst="rect">
                        <a:avLst/>
                      </a:prstGeom>
                      <a:solidFill>
                        <a:schemeClr val="accent2">
                          <a:lumMod val="20000"/>
                          <a:lumOff val="80000"/>
                        </a:schemeClr>
                      </a:solidFill>
                      <a:ln>
                        <a:solidFill>
                          <a:schemeClr val="accent1"/>
                        </a:solidFill>
                      </a:ln>
                    </p:spPr>
                  </p:pic>
                </p:oleObj>
              </mc:Fallback>
            </mc:AlternateContent>
          </a:graphicData>
        </a:graphic>
      </p:graphicFrame>
      <p:graphicFrame>
        <p:nvGraphicFramePr>
          <p:cNvPr id="19" name="Object 18">
            <a:extLst>
              <a:ext uri="{FF2B5EF4-FFF2-40B4-BE49-F238E27FC236}">
                <a16:creationId xmlns:a16="http://schemas.microsoft.com/office/drawing/2014/main" id="{11D0E903-8ED9-43CE-BDBE-DE520C801671}"/>
              </a:ext>
            </a:extLst>
          </p:cNvPr>
          <p:cNvGraphicFramePr>
            <a:graphicFrameLocks noChangeAspect="1"/>
          </p:cNvGraphicFramePr>
          <p:nvPr/>
        </p:nvGraphicFramePr>
        <p:xfrm>
          <a:off x="914400" y="5743506"/>
          <a:ext cx="2743202" cy="682944"/>
        </p:xfrm>
        <a:graphic>
          <a:graphicData uri="http://schemas.openxmlformats.org/presentationml/2006/ole">
            <mc:AlternateContent xmlns:mc="http://schemas.openxmlformats.org/markup-compatibility/2006">
              <mc:Choice xmlns:v="urn:schemas-microsoft-com:vml" Requires="v">
                <p:oleObj name="Equation" r:id="rId17" imgW="1205977" imgH="355446" progId="Equation.3">
                  <p:embed/>
                </p:oleObj>
              </mc:Choice>
              <mc:Fallback>
                <p:oleObj name="Equation" r:id="rId17" imgW="1205977" imgH="355446" progId="Equation.3">
                  <p:embed/>
                  <p:pic>
                    <p:nvPicPr>
                      <p:cNvPr id="19" name="Object 18">
                        <a:extLst>
                          <a:ext uri="{FF2B5EF4-FFF2-40B4-BE49-F238E27FC236}">
                            <a16:creationId xmlns:a16="http://schemas.microsoft.com/office/drawing/2014/main" id="{11D0E903-8ED9-43CE-BDBE-DE520C80167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14400" y="5743506"/>
                        <a:ext cx="2743202" cy="682944"/>
                      </a:xfrm>
                      <a:prstGeom prst="rect">
                        <a:avLst/>
                      </a:prstGeom>
                      <a:solidFill>
                        <a:schemeClr val="accent2">
                          <a:lumMod val="20000"/>
                          <a:lumOff val="8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3907225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anim calcmode="lin" valueType="num">
                                      <p:cBhvr>
                                        <p:cTn id="26" dur="1000" fill="hold"/>
                                        <p:tgtEl>
                                          <p:spTgt spid="9"/>
                                        </p:tgtEl>
                                        <p:attrNameLst>
                                          <p:attrName>ppt_x</p:attrName>
                                        </p:attrNameLst>
                                      </p:cBhvr>
                                      <p:tavLst>
                                        <p:tav tm="0">
                                          <p:val>
                                            <p:strVal val="#ppt_x"/>
                                          </p:val>
                                        </p:tav>
                                        <p:tav tm="100000">
                                          <p:val>
                                            <p:strVal val="#ppt_x"/>
                                          </p:val>
                                        </p:tav>
                                      </p:tavLst>
                                    </p:anim>
                                    <p:anim calcmode="lin" valueType="num">
                                      <p:cBhvr>
                                        <p:cTn id="2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1000"/>
                                        <p:tgtEl>
                                          <p:spTgt spid="3">
                                            <p:txEl>
                                              <p:pRg st="4" end="4"/>
                                            </p:txEl>
                                          </p:spTgt>
                                        </p:tgtEl>
                                      </p:cBhvr>
                                    </p:animEffect>
                                    <p:anim calcmode="lin" valueType="num">
                                      <p:cBhvr>
                                        <p:cTn id="4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1000"/>
                                        <p:tgtEl>
                                          <p:spTgt spid="18"/>
                                        </p:tgtEl>
                                      </p:cBhvr>
                                    </p:animEffect>
                                    <p:anim calcmode="lin" valueType="num">
                                      <p:cBhvr>
                                        <p:cTn id="51" dur="1000" fill="hold"/>
                                        <p:tgtEl>
                                          <p:spTgt spid="18"/>
                                        </p:tgtEl>
                                        <p:attrNameLst>
                                          <p:attrName>ppt_x</p:attrName>
                                        </p:attrNameLst>
                                      </p:cBhvr>
                                      <p:tavLst>
                                        <p:tav tm="0">
                                          <p:val>
                                            <p:strVal val="#ppt_x"/>
                                          </p:val>
                                        </p:tav>
                                        <p:tav tm="100000">
                                          <p:val>
                                            <p:strVal val="#ppt_x"/>
                                          </p:val>
                                        </p:tav>
                                      </p:tavLst>
                                    </p:anim>
                                    <p:anim calcmode="lin" valueType="num">
                                      <p:cBhvr>
                                        <p:cTn id="5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1000"/>
                                        <p:tgtEl>
                                          <p:spTgt spid="19"/>
                                        </p:tgtEl>
                                      </p:cBhvr>
                                    </p:animEffect>
                                    <p:anim calcmode="lin" valueType="num">
                                      <p:cBhvr>
                                        <p:cTn id="58" dur="1000" fill="hold"/>
                                        <p:tgtEl>
                                          <p:spTgt spid="19"/>
                                        </p:tgtEl>
                                        <p:attrNameLst>
                                          <p:attrName>ppt_x</p:attrName>
                                        </p:attrNameLst>
                                      </p:cBhvr>
                                      <p:tavLst>
                                        <p:tav tm="0">
                                          <p:val>
                                            <p:strVal val="#ppt_x"/>
                                          </p:val>
                                        </p:tav>
                                        <p:tav tm="100000">
                                          <p:val>
                                            <p:strVal val="#ppt_x"/>
                                          </p:val>
                                        </p:tav>
                                      </p:tavLst>
                                    </p:anim>
                                    <p:anim calcmode="lin" valueType="num">
                                      <p:cBhvr>
                                        <p:cTn id="5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7"/>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A590B-8FE6-4EC2-B1FA-C636CCCEB46A}"/>
              </a:ext>
            </a:extLst>
          </p:cNvPr>
          <p:cNvSpPr>
            <a:spLocks noGrp="1"/>
          </p:cNvSpPr>
          <p:nvPr>
            <p:ph type="title"/>
          </p:nvPr>
        </p:nvSpPr>
        <p:spPr>
          <a:xfrm>
            <a:off x="628650" y="365126"/>
            <a:ext cx="7886700" cy="665249"/>
          </a:xfrm>
        </p:spPr>
        <p:txBody>
          <a:bodyPr>
            <a:noAutofit/>
          </a:bodyPr>
          <a:lstStyle/>
          <a:p>
            <a:pPr algn="ctr"/>
            <a:r>
              <a:rPr lang="en-GB" sz="2600" b="1" dirty="0">
                <a:solidFill>
                  <a:srgbClr val="C00000"/>
                </a:solidFill>
              </a:rPr>
              <a:t>Confidence Interval for the Expected Value of </a:t>
            </a:r>
            <a:r>
              <a:rPr lang="en-GB" sz="2600" b="1" i="1" dirty="0">
                <a:solidFill>
                  <a:srgbClr val="C00000"/>
                </a:solidFill>
              </a:rPr>
              <a:t>Y</a:t>
            </a:r>
            <a:r>
              <a:rPr lang="en-GB" sz="2600" b="1" dirty="0">
                <a:solidFill>
                  <a:srgbClr val="C00000"/>
                </a:solidFill>
              </a:rPr>
              <a:t> for a Given </a:t>
            </a:r>
            <a:r>
              <a:rPr lang="en-GB" sz="2600" b="1" i="1" dirty="0">
                <a:solidFill>
                  <a:srgbClr val="C00000"/>
                </a:solidFill>
              </a:rPr>
              <a:t>X</a:t>
            </a:r>
            <a:endParaRPr lang="en-IN" sz="2600" dirty="0">
              <a:solidFill>
                <a:srgbClr val="C00000"/>
              </a:solidFill>
            </a:endParaRPr>
          </a:p>
        </p:txBody>
      </p:sp>
      <p:sp>
        <p:nvSpPr>
          <p:cNvPr id="3" name="Content Placeholder 2">
            <a:extLst>
              <a:ext uri="{FF2B5EF4-FFF2-40B4-BE49-F238E27FC236}">
                <a16:creationId xmlns:a16="http://schemas.microsoft.com/office/drawing/2014/main" id="{F2C738BE-2DA6-4B94-AEEB-CE6377132529}"/>
              </a:ext>
            </a:extLst>
          </p:cNvPr>
          <p:cNvSpPr>
            <a:spLocks noGrp="1"/>
          </p:cNvSpPr>
          <p:nvPr>
            <p:ph idx="1"/>
          </p:nvPr>
        </p:nvSpPr>
        <p:spPr>
          <a:xfrm>
            <a:off x="628650" y="1174444"/>
            <a:ext cx="7886700" cy="2234312"/>
          </a:xfrm>
        </p:spPr>
        <p:txBody>
          <a:bodyPr>
            <a:noAutofit/>
          </a:bodyPr>
          <a:lstStyle/>
          <a:p>
            <a:pPr algn="just"/>
            <a:r>
              <a:rPr lang="en-GB" sz="2200" dirty="0"/>
              <a:t>Since the point estimates are subjected to higher levels of error, due to uncertainties around estimation of parameters and natural variation in the data around the predicted line, the user would like to know the interval estimate or the </a:t>
            </a:r>
            <a:r>
              <a:rPr lang="en-GB" sz="2200" b="1" dirty="0"/>
              <a:t>confidence interval</a:t>
            </a:r>
            <a:r>
              <a:rPr lang="en-GB" sz="2200" dirty="0"/>
              <a:t> for the conditional expected value.</a:t>
            </a:r>
          </a:p>
          <a:p>
            <a:pPr algn="just"/>
            <a:r>
              <a:rPr lang="en-GB" sz="2200" dirty="0"/>
              <a:t>The confidence interval of the expected value of </a:t>
            </a:r>
            <a:r>
              <a:rPr lang="en-GB" sz="2200" i="1" dirty="0"/>
              <a:t>Y</a:t>
            </a:r>
            <a:r>
              <a:rPr lang="en-GB" sz="2200" i="1" baseline="-25000" dirty="0"/>
              <a:t>i</a:t>
            </a:r>
            <a:r>
              <a:rPr lang="en-GB" sz="2200" dirty="0"/>
              <a:t> for a given value of </a:t>
            </a:r>
            <a:r>
              <a:rPr lang="en-GB" sz="2200" i="1" dirty="0"/>
              <a:t>X</a:t>
            </a:r>
            <a:r>
              <a:rPr lang="en-GB" sz="2200" i="1" baseline="-25000" dirty="0"/>
              <a:t>i</a:t>
            </a:r>
            <a:r>
              <a:rPr lang="en-GB" sz="2200" dirty="0"/>
              <a:t> is given by</a:t>
            </a:r>
            <a:endParaRPr lang="en-IN" sz="2200" dirty="0"/>
          </a:p>
          <a:p>
            <a:pPr algn="just"/>
            <a:endParaRPr lang="en-GB" sz="2200" dirty="0"/>
          </a:p>
          <a:p>
            <a:endParaRPr lang="en-IN" sz="2200" dirty="0"/>
          </a:p>
        </p:txBody>
      </p:sp>
      <p:sp>
        <p:nvSpPr>
          <p:cNvPr id="4" name="Rectangle 2">
            <a:extLst>
              <a:ext uri="{FF2B5EF4-FFF2-40B4-BE49-F238E27FC236}">
                <a16:creationId xmlns:a16="http://schemas.microsoft.com/office/drawing/2014/main" id="{0EAB001E-E0E8-4602-AB3A-F6778B2F84F0}"/>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781A2571-DABE-4C18-8EB4-6AFB13D4C8D5}"/>
              </a:ext>
            </a:extLst>
          </p:cNvPr>
          <p:cNvGraphicFramePr>
            <a:graphicFrameLocks noChangeAspect="1"/>
          </p:cNvGraphicFramePr>
          <p:nvPr/>
        </p:nvGraphicFramePr>
        <p:xfrm>
          <a:off x="2438400" y="3661441"/>
          <a:ext cx="3581400" cy="894156"/>
        </p:xfrm>
        <a:graphic>
          <a:graphicData uri="http://schemas.openxmlformats.org/presentationml/2006/ole">
            <mc:AlternateContent xmlns:mc="http://schemas.openxmlformats.org/markup-compatibility/2006">
              <mc:Choice xmlns:v="urn:schemas-microsoft-com:vml" Requires="v">
                <p:oleObj name="Equation" r:id="rId2" imgW="2362200" imgH="825500" progId="Equation.3">
                  <p:embed/>
                </p:oleObj>
              </mc:Choice>
              <mc:Fallback>
                <p:oleObj name="Equation" r:id="rId2" imgW="2362200" imgH="825500" progId="Equation.3">
                  <p:embed/>
                  <p:pic>
                    <p:nvPicPr>
                      <p:cNvPr id="5" name="Object 4">
                        <a:extLst>
                          <a:ext uri="{FF2B5EF4-FFF2-40B4-BE49-F238E27FC236}">
                            <a16:creationId xmlns:a16="http://schemas.microsoft.com/office/drawing/2014/main" id="{781A2571-DABE-4C18-8EB4-6AFB13D4C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661441"/>
                        <a:ext cx="3581400" cy="894156"/>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6" name="Rectangle 5">
            <a:extLst>
              <a:ext uri="{FF2B5EF4-FFF2-40B4-BE49-F238E27FC236}">
                <a16:creationId xmlns:a16="http://schemas.microsoft.com/office/drawing/2014/main" id="{AD7A2E2F-6E00-4E4D-ABCB-0E1648F01EE4}"/>
              </a:ext>
            </a:extLst>
          </p:cNvPr>
          <p:cNvSpPr/>
          <p:nvPr/>
        </p:nvSpPr>
        <p:spPr>
          <a:xfrm>
            <a:off x="733425" y="5027093"/>
            <a:ext cx="7677150" cy="769441"/>
          </a:xfrm>
          <a:prstGeom prst="rect">
            <a:avLst/>
          </a:prstGeom>
        </p:spPr>
        <p:txBody>
          <a:bodyPr wrap="square">
            <a:spAutoFit/>
          </a:bodyPr>
          <a:lstStyle/>
          <a:p>
            <a:pPr marL="285750" indent="-285750">
              <a:buFont typeface="Arial" panose="020B0604020202020204" pitchFamily="34" charset="0"/>
              <a:buChar char="•"/>
            </a:pPr>
            <a:r>
              <a:rPr lang="en-GB" sz="2200" dirty="0">
                <a:latin typeface="+mn-lt"/>
              </a:rPr>
              <a:t>Where the term                                     is the standard error of E(Y|X).  </a:t>
            </a:r>
            <a:endParaRPr lang="en-IN" sz="2200" dirty="0">
              <a:latin typeface="+mn-lt"/>
            </a:endParaRPr>
          </a:p>
        </p:txBody>
      </p:sp>
      <p:graphicFrame>
        <p:nvGraphicFramePr>
          <p:cNvPr id="7" name="Object 6">
            <a:extLst>
              <a:ext uri="{FF2B5EF4-FFF2-40B4-BE49-F238E27FC236}">
                <a16:creationId xmlns:a16="http://schemas.microsoft.com/office/drawing/2014/main" id="{37321715-CDD5-4F00-BE7D-49088DE139C0}"/>
              </a:ext>
            </a:extLst>
          </p:cNvPr>
          <p:cNvGraphicFramePr>
            <a:graphicFrameLocks noChangeAspect="1"/>
          </p:cNvGraphicFramePr>
          <p:nvPr/>
        </p:nvGraphicFramePr>
        <p:xfrm>
          <a:off x="3048000" y="4800600"/>
          <a:ext cx="2667000" cy="992707"/>
        </p:xfrm>
        <a:graphic>
          <a:graphicData uri="http://schemas.openxmlformats.org/presentationml/2006/ole">
            <mc:AlternateContent xmlns:mc="http://schemas.openxmlformats.org/markup-compatibility/2006">
              <mc:Choice xmlns:v="urn:schemas-microsoft-com:vml" Requires="v">
                <p:oleObj name="Equation" r:id="rId4" imgW="1524000" imgH="825500" progId="Equation.3">
                  <p:embed/>
                </p:oleObj>
              </mc:Choice>
              <mc:Fallback>
                <p:oleObj name="Equation" r:id="rId4" imgW="1524000" imgH="825500" progId="Equation.3">
                  <p:embed/>
                  <p:pic>
                    <p:nvPicPr>
                      <p:cNvPr id="7" name="Object 6">
                        <a:extLst>
                          <a:ext uri="{FF2B5EF4-FFF2-40B4-BE49-F238E27FC236}">
                            <a16:creationId xmlns:a16="http://schemas.microsoft.com/office/drawing/2014/main" id="{37321715-CDD5-4F00-BE7D-49088DE139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4800600"/>
                        <a:ext cx="2667000" cy="992707"/>
                      </a:xfrm>
                      <a:prstGeom prst="rect">
                        <a:avLst/>
                      </a:prstGeom>
                      <a:noFill/>
                    </p:spPr>
                  </p:pic>
                </p:oleObj>
              </mc:Fallback>
            </mc:AlternateContent>
          </a:graphicData>
        </a:graphic>
      </p:graphicFrame>
    </p:spTree>
    <p:extLst>
      <p:ext uri="{BB962C8B-B14F-4D97-AF65-F5344CB8AC3E}">
        <p14:creationId xmlns:p14="http://schemas.microsoft.com/office/powerpoint/2010/main" val="165940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0E7D4-EEA1-49FC-BD02-D85964A64EA9}"/>
              </a:ext>
            </a:extLst>
          </p:cNvPr>
          <p:cNvSpPr>
            <a:spLocks noGrp="1"/>
          </p:cNvSpPr>
          <p:nvPr>
            <p:ph type="title"/>
          </p:nvPr>
        </p:nvSpPr>
        <p:spPr>
          <a:xfrm>
            <a:off x="628650" y="149312"/>
            <a:ext cx="8134350" cy="881063"/>
          </a:xfrm>
        </p:spPr>
        <p:txBody>
          <a:bodyPr>
            <a:noAutofit/>
          </a:bodyPr>
          <a:lstStyle/>
          <a:p>
            <a:pPr algn="ctr"/>
            <a:br>
              <a:rPr lang="en-GB" sz="2600" b="1" dirty="0"/>
            </a:br>
            <a:r>
              <a:rPr lang="en-GB" sz="2600" b="1" dirty="0">
                <a:solidFill>
                  <a:srgbClr val="C00000"/>
                </a:solidFill>
              </a:rPr>
              <a:t>Prediction Interval for the Value of </a:t>
            </a:r>
            <a:r>
              <a:rPr lang="en-GB" sz="2600" b="1" i="1" dirty="0">
                <a:solidFill>
                  <a:srgbClr val="C00000"/>
                </a:solidFill>
              </a:rPr>
              <a:t>Y</a:t>
            </a:r>
            <a:r>
              <a:rPr lang="en-GB" sz="2600" b="1" dirty="0">
                <a:solidFill>
                  <a:srgbClr val="C00000"/>
                </a:solidFill>
              </a:rPr>
              <a:t> for a Given X</a:t>
            </a:r>
            <a:endParaRPr lang="en-IN" sz="2600" b="1" dirty="0"/>
          </a:p>
        </p:txBody>
      </p:sp>
      <p:sp>
        <p:nvSpPr>
          <p:cNvPr id="3" name="Content Placeholder 2">
            <a:extLst>
              <a:ext uri="{FF2B5EF4-FFF2-40B4-BE49-F238E27FC236}">
                <a16:creationId xmlns:a16="http://schemas.microsoft.com/office/drawing/2014/main" id="{FE3252BB-7B06-4137-BCE8-4C2369808B53}"/>
              </a:ext>
            </a:extLst>
          </p:cNvPr>
          <p:cNvSpPr>
            <a:spLocks noGrp="1"/>
          </p:cNvSpPr>
          <p:nvPr>
            <p:ph idx="1"/>
          </p:nvPr>
        </p:nvSpPr>
        <p:spPr>
          <a:xfrm>
            <a:off x="628650" y="1253331"/>
            <a:ext cx="8134350" cy="4537869"/>
          </a:xfrm>
        </p:spPr>
        <p:txBody>
          <a:bodyPr>
            <a:normAutofit/>
          </a:bodyPr>
          <a:lstStyle/>
          <a:p>
            <a:pPr marL="0" indent="0" algn="just">
              <a:buNone/>
            </a:pPr>
            <a:r>
              <a:rPr lang="en-GB" sz="2400" dirty="0"/>
              <a:t>The prediction interval of </a:t>
            </a:r>
            <a:r>
              <a:rPr lang="en-GB" sz="2400" i="1" dirty="0"/>
              <a:t>Y</a:t>
            </a:r>
            <a:r>
              <a:rPr lang="en-GB" sz="2400" i="1" baseline="-25000" dirty="0"/>
              <a:t>i</a:t>
            </a:r>
            <a:r>
              <a:rPr lang="en-GB" sz="2400" i="1" dirty="0"/>
              <a:t> </a:t>
            </a:r>
            <a:r>
              <a:rPr lang="en-GB" sz="2400" dirty="0"/>
              <a:t>for a given value of </a:t>
            </a:r>
            <a:r>
              <a:rPr lang="en-GB" sz="2400" i="1" dirty="0"/>
              <a:t>X</a:t>
            </a:r>
            <a:r>
              <a:rPr lang="en-GB" sz="2400" i="1" baseline="-25000" dirty="0"/>
              <a:t>i</a:t>
            </a:r>
            <a:r>
              <a:rPr lang="en-GB" sz="2400" dirty="0"/>
              <a:t> is given by</a:t>
            </a:r>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r>
              <a:rPr lang="en-GB" sz="2400" dirty="0"/>
              <a:t>where the term,   				is the standard </a:t>
            </a:r>
          </a:p>
          <a:p>
            <a:pPr marL="0" indent="0" algn="just">
              <a:buNone/>
            </a:pPr>
            <a:endParaRPr lang="en-GB" sz="2400" dirty="0"/>
          </a:p>
          <a:p>
            <a:pPr marL="0" indent="0" algn="just">
              <a:buNone/>
            </a:pPr>
            <a:endParaRPr lang="en-GB" sz="2400" dirty="0"/>
          </a:p>
          <a:p>
            <a:pPr marL="0" indent="0" algn="just">
              <a:buNone/>
            </a:pPr>
            <a:r>
              <a:rPr lang="en-GB" sz="2400" dirty="0"/>
              <a:t>error of Yi for a given Xi value.</a:t>
            </a:r>
            <a:endParaRPr lang="en-IN" sz="2400" dirty="0"/>
          </a:p>
          <a:p>
            <a:pPr marL="0" indent="0" algn="just">
              <a:buNone/>
            </a:pPr>
            <a:endParaRPr lang="en-GB" sz="2400" dirty="0"/>
          </a:p>
          <a:p>
            <a:endParaRPr lang="en-IN" sz="2400" dirty="0"/>
          </a:p>
        </p:txBody>
      </p:sp>
      <p:sp>
        <p:nvSpPr>
          <p:cNvPr id="4" name="Rectangle 2">
            <a:extLst>
              <a:ext uri="{FF2B5EF4-FFF2-40B4-BE49-F238E27FC236}">
                <a16:creationId xmlns:a16="http://schemas.microsoft.com/office/drawing/2014/main" id="{7E71B39D-7691-4D6B-B7BF-55AE5007EDC7}"/>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4DAF27ED-8120-4903-824F-4D9F025ECF26}"/>
              </a:ext>
            </a:extLst>
          </p:cNvPr>
          <p:cNvGraphicFramePr>
            <a:graphicFrameLocks noChangeAspect="1"/>
          </p:cNvGraphicFramePr>
          <p:nvPr/>
        </p:nvGraphicFramePr>
        <p:xfrm>
          <a:off x="2590800" y="1676400"/>
          <a:ext cx="3048000" cy="1032669"/>
        </p:xfrm>
        <a:graphic>
          <a:graphicData uri="http://schemas.openxmlformats.org/presentationml/2006/ole">
            <mc:AlternateContent xmlns:mc="http://schemas.openxmlformats.org/markup-compatibility/2006">
              <mc:Choice xmlns:v="urn:schemas-microsoft-com:vml" Requires="v">
                <p:oleObj name="Equation" r:id="rId2" imgW="2540000" imgH="825500" progId="Equation.3">
                  <p:embed/>
                </p:oleObj>
              </mc:Choice>
              <mc:Fallback>
                <p:oleObj name="Equation" r:id="rId2" imgW="2540000" imgH="825500" progId="Equation.3">
                  <p:embed/>
                  <p:pic>
                    <p:nvPicPr>
                      <p:cNvPr id="5" name="Object 4">
                        <a:extLst>
                          <a:ext uri="{FF2B5EF4-FFF2-40B4-BE49-F238E27FC236}">
                            <a16:creationId xmlns:a16="http://schemas.microsoft.com/office/drawing/2014/main" id="{4DAF27ED-8120-4903-824F-4D9F025ECF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676400"/>
                        <a:ext cx="3048000" cy="1032669"/>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6" name="Rectangle 4">
            <a:extLst>
              <a:ext uri="{FF2B5EF4-FFF2-40B4-BE49-F238E27FC236}">
                <a16:creationId xmlns:a16="http://schemas.microsoft.com/office/drawing/2014/main" id="{3ECC7993-8308-419C-B6C1-7962C25B4BC7}"/>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6E84559F-2388-4D5A-B206-3D41A021577F}"/>
              </a:ext>
            </a:extLst>
          </p:cNvPr>
          <p:cNvGraphicFramePr>
            <a:graphicFrameLocks noChangeAspect="1"/>
          </p:cNvGraphicFramePr>
          <p:nvPr/>
        </p:nvGraphicFramePr>
        <p:xfrm>
          <a:off x="2895600" y="3007263"/>
          <a:ext cx="2743200" cy="843473"/>
        </p:xfrm>
        <a:graphic>
          <a:graphicData uri="http://schemas.openxmlformats.org/presentationml/2006/ole">
            <mc:AlternateContent xmlns:mc="http://schemas.openxmlformats.org/markup-compatibility/2006">
              <mc:Choice xmlns:v="urn:schemas-microsoft-com:vml" Requires="v">
                <p:oleObj name="Equation" r:id="rId4" imgW="1714500" imgH="825500" progId="Equation.3">
                  <p:embed/>
                </p:oleObj>
              </mc:Choice>
              <mc:Fallback>
                <p:oleObj name="Equation" r:id="rId4" imgW="1714500" imgH="825500" progId="Equation.3">
                  <p:embed/>
                  <p:pic>
                    <p:nvPicPr>
                      <p:cNvPr id="7" name="Object 6">
                        <a:extLst>
                          <a:ext uri="{FF2B5EF4-FFF2-40B4-BE49-F238E27FC236}">
                            <a16:creationId xmlns:a16="http://schemas.microsoft.com/office/drawing/2014/main" id="{6E84559F-2388-4D5A-B206-3D41A02157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3007263"/>
                        <a:ext cx="2743200" cy="843473"/>
                      </a:xfrm>
                      <a:prstGeom prst="rect">
                        <a:avLst/>
                      </a:prstGeom>
                      <a:solidFill>
                        <a:schemeClr val="accent2">
                          <a:lumMod val="20000"/>
                          <a:lumOff val="8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89499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anim calcmode="lin" valueType="num">
                                      <p:cBhvr>
                                        <p:cTn id="43" dur="1000" fill="hold"/>
                                        <p:tgtEl>
                                          <p:spTgt spid="7"/>
                                        </p:tgtEl>
                                        <p:attrNameLst>
                                          <p:attrName>ppt_x</p:attrName>
                                        </p:attrNameLst>
                                      </p:cBhvr>
                                      <p:tavLst>
                                        <p:tav tm="0">
                                          <p:val>
                                            <p:strVal val="#ppt_x"/>
                                          </p:val>
                                        </p:tav>
                                        <p:tav tm="100000">
                                          <p:val>
                                            <p:strVal val="#ppt_x"/>
                                          </p:val>
                                        </p:tav>
                                      </p:tavLst>
                                    </p:anim>
                                    <p:anim calcmode="lin" valueType="num">
                                      <p:cBhvr>
                                        <p:cTn id="4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C4A3C7-E1CB-4E69-B4C2-C7D3162F1127}"/>
              </a:ext>
            </a:extLst>
          </p:cNvPr>
          <p:cNvSpPr>
            <a:spLocks noGrp="1"/>
          </p:cNvSpPr>
          <p:nvPr>
            <p:ph idx="1"/>
          </p:nvPr>
        </p:nvSpPr>
        <p:spPr>
          <a:xfrm>
            <a:off x="685800" y="1295401"/>
            <a:ext cx="8077200" cy="3581400"/>
          </a:xfrm>
        </p:spPr>
        <p:txBody>
          <a:bodyPr>
            <a:normAutofit/>
          </a:bodyPr>
          <a:lstStyle/>
          <a:p>
            <a:pPr marL="0" indent="0">
              <a:buNone/>
            </a:pPr>
            <a:r>
              <a:rPr lang="en-GB" sz="2400" dirty="0"/>
              <a:t>For large </a:t>
            </a:r>
            <a:r>
              <a:rPr lang="en-GB" sz="2400" i="1" dirty="0"/>
              <a:t>n</a:t>
            </a:r>
            <a:r>
              <a:rPr lang="en-GB" sz="2400" dirty="0"/>
              <a:t>, the prediction interval will converge to</a:t>
            </a:r>
          </a:p>
          <a:p>
            <a:pPr marL="0" indent="0">
              <a:buNone/>
            </a:pPr>
            <a:endParaRPr lang="en-GB" sz="2400" dirty="0"/>
          </a:p>
          <a:p>
            <a:pPr marL="0" indent="0">
              <a:buNone/>
            </a:pPr>
            <a:endParaRPr lang="en-GB" sz="2400" dirty="0"/>
          </a:p>
          <a:p>
            <a:pPr marL="0" indent="0">
              <a:buNone/>
            </a:pPr>
            <a:r>
              <a:rPr lang="en-GB" sz="2400" dirty="0"/>
              <a:t>This is because, as n </a:t>
            </a:r>
            <a:r>
              <a:rPr lang="en-GB" sz="2400" dirty="0">
                <a:sym typeface="Symbol" panose="05050102010706020507" pitchFamily="18" charset="2"/>
              </a:rPr>
              <a:t></a:t>
            </a:r>
            <a:r>
              <a:rPr lang="en-GB" sz="2400" dirty="0"/>
              <a:t> </a:t>
            </a:r>
            <a:r>
              <a:rPr lang="en-GB" sz="2400" dirty="0">
                <a:sym typeface="Symbol" panose="05050102010706020507" pitchFamily="18" charset="2"/>
              </a:rPr>
              <a:t></a:t>
            </a:r>
            <a:r>
              <a:rPr lang="en-GB" sz="2400" dirty="0"/>
              <a:t>, the term</a:t>
            </a:r>
          </a:p>
          <a:p>
            <a:pPr marL="0" indent="0">
              <a:buNone/>
            </a:pPr>
            <a:r>
              <a:rPr lang="en-GB" sz="2400" dirty="0"/>
              <a:t>                                   </a:t>
            </a:r>
          </a:p>
          <a:p>
            <a:pPr marL="0" indent="0">
              <a:buNone/>
            </a:pPr>
            <a:r>
              <a:rPr lang="en-GB" sz="2400" dirty="0"/>
              <a:t>                                  converges to 1 </a:t>
            </a:r>
            <a:endParaRPr lang="en-IN" sz="2400" dirty="0"/>
          </a:p>
          <a:p>
            <a:endParaRPr lang="en-IN" sz="2400" dirty="0"/>
          </a:p>
        </p:txBody>
      </p:sp>
      <p:sp>
        <p:nvSpPr>
          <p:cNvPr id="4" name="Rectangle 2">
            <a:extLst>
              <a:ext uri="{FF2B5EF4-FFF2-40B4-BE49-F238E27FC236}">
                <a16:creationId xmlns:a16="http://schemas.microsoft.com/office/drawing/2014/main" id="{9126BC7F-C66C-4946-AF6A-5FCB350E112F}"/>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93FA68B4-1976-49C6-A33D-6B183207CF43}"/>
              </a:ext>
            </a:extLst>
          </p:cNvPr>
          <p:cNvGraphicFramePr>
            <a:graphicFrameLocks noChangeAspect="1"/>
          </p:cNvGraphicFramePr>
          <p:nvPr/>
        </p:nvGraphicFramePr>
        <p:xfrm>
          <a:off x="905961" y="1828800"/>
          <a:ext cx="2419350" cy="746521"/>
        </p:xfrm>
        <a:graphic>
          <a:graphicData uri="http://schemas.openxmlformats.org/presentationml/2006/ole">
            <mc:AlternateContent xmlns:mc="http://schemas.openxmlformats.org/markup-compatibility/2006">
              <mc:Choice xmlns:v="urn:schemas-microsoft-com:vml" Requires="v">
                <p:oleObj name="Equation" r:id="rId2" imgW="1066800" imgH="368300" progId="Equation.3">
                  <p:embed/>
                </p:oleObj>
              </mc:Choice>
              <mc:Fallback>
                <p:oleObj name="Equation" r:id="rId2" imgW="1066800" imgH="368300" progId="Equation.3">
                  <p:embed/>
                  <p:pic>
                    <p:nvPicPr>
                      <p:cNvPr id="5" name="Object 4">
                        <a:extLst>
                          <a:ext uri="{FF2B5EF4-FFF2-40B4-BE49-F238E27FC236}">
                            <a16:creationId xmlns:a16="http://schemas.microsoft.com/office/drawing/2014/main" id="{93FA68B4-1976-49C6-A33D-6B183207C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961" y="1828800"/>
                        <a:ext cx="2419350" cy="746521"/>
                      </a:xfrm>
                      <a:prstGeom prst="rect">
                        <a:avLst/>
                      </a:prstGeom>
                      <a:solidFill>
                        <a:schemeClr val="accent2">
                          <a:lumMod val="20000"/>
                          <a:lumOff val="80000"/>
                        </a:schemeClr>
                      </a:solidFill>
                      <a:ln>
                        <a:solidFill>
                          <a:schemeClr val="accent1"/>
                        </a:solidFill>
                      </a:ln>
                    </p:spPr>
                  </p:pic>
                </p:oleObj>
              </mc:Fallback>
            </mc:AlternateContent>
          </a:graphicData>
        </a:graphic>
      </p:graphicFrame>
      <p:sp>
        <p:nvSpPr>
          <p:cNvPr id="6" name="Rectangle 4">
            <a:extLst>
              <a:ext uri="{FF2B5EF4-FFF2-40B4-BE49-F238E27FC236}">
                <a16:creationId xmlns:a16="http://schemas.microsoft.com/office/drawing/2014/main" id="{57A37246-0406-48D7-8029-4B163B941FBE}"/>
              </a:ext>
            </a:extLst>
          </p:cNvPr>
          <p:cNvSpPr>
            <a:spLocks noChangeArrowheads="1"/>
          </p:cNvSpPr>
          <p:nvPr/>
        </p:nvSpPr>
        <p:spPr bwMode="auto">
          <a:xfrm>
            <a:off x="1143001"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0408FAC4-4464-4167-BDF5-E60D1CF70BA7}"/>
              </a:ext>
            </a:extLst>
          </p:cNvPr>
          <p:cNvGraphicFramePr>
            <a:graphicFrameLocks noChangeAspect="1"/>
          </p:cNvGraphicFramePr>
          <p:nvPr/>
        </p:nvGraphicFramePr>
        <p:xfrm>
          <a:off x="905961" y="3170399"/>
          <a:ext cx="2470699" cy="1066800"/>
        </p:xfrm>
        <a:graphic>
          <a:graphicData uri="http://schemas.openxmlformats.org/presentationml/2006/ole">
            <mc:AlternateContent xmlns:mc="http://schemas.openxmlformats.org/markup-compatibility/2006">
              <mc:Choice xmlns:v="urn:schemas-microsoft-com:vml" Requires="v">
                <p:oleObj name="Equation" r:id="rId4" imgW="1397000" imgH="825500" progId="Equation.3">
                  <p:embed/>
                </p:oleObj>
              </mc:Choice>
              <mc:Fallback>
                <p:oleObj name="Equation" r:id="rId4" imgW="1397000" imgH="825500" progId="Equation.3">
                  <p:embed/>
                  <p:pic>
                    <p:nvPicPr>
                      <p:cNvPr id="7" name="Object 6">
                        <a:extLst>
                          <a:ext uri="{FF2B5EF4-FFF2-40B4-BE49-F238E27FC236}">
                            <a16:creationId xmlns:a16="http://schemas.microsoft.com/office/drawing/2014/main" id="{0408FAC4-4464-4167-BDF5-E60D1CF70B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5961" y="3170399"/>
                        <a:ext cx="2470699" cy="1066800"/>
                      </a:xfrm>
                      <a:prstGeom prst="rect">
                        <a:avLst/>
                      </a:prstGeom>
                      <a:solidFill>
                        <a:schemeClr val="accent2">
                          <a:lumMod val="20000"/>
                          <a:lumOff val="8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69042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3B2E-55DF-4D90-A27D-97DC660E3734}"/>
              </a:ext>
            </a:extLst>
          </p:cNvPr>
          <p:cNvSpPr>
            <a:spLocks noGrp="1"/>
          </p:cNvSpPr>
          <p:nvPr>
            <p:ph type="title"/>
          </p:nvPr>
        </p:nvSpPr>
        <p:spPr>
          <a:xfrm>
            <a:off x="628650" y="365127"/>
            <a:ext cx="7886700" cy="625474"/>
          </a:xfrm>
        </p:spPr>
        <p:txBody>
          <a:bodyPr>
            <a:noAutofit/>
          </a:bodyPr>
          <a:lstStyle/>
          <a:p>
            <a:pPr algn="l"/>
            <a:br>
              <a:rPr lang="en-US" sz="3200" b="1" dirty="0"/>
            </a:br>
            <a:r>
              <a:rPr lang="en-US" sz="3200" b="1" dirty="0">
                <a:solidFill>
                  <a:srgbClr val="C00000"/>
                </a:solidFill>
              </a:rPr>
              <a:t>References</a:t>
            </a:r>
            <a:br>
              <a:rPr lang="en-IN" sz="3200" b="1" dirty="0"/>
            </a:br>
            <a:endParaRPr lang="en-IN" sz="3200" b="1" dirty="0"/>
          </a:p>
        </p:txBody>
      </p:sp>
      <p:sp>
        <p:nvSpPr>
          <p:cNvPr id="3" name="Content Placeholder 2">
            <a:extLst>
              <a:ext uri="{FF2B5EF4-FFF2-40B4-BE49-F238E27FC236}">
                <a16:creationId xmlns:a16="http://schemas.microsoft.com/office/drawing/2014/main" id="{12F819C0-199B-452E-8CDF-82846FC6BF89}"/>
              </a:ext>
            </a:extLst>
          </p:cNvPr>
          <p:cNvSpPr>
            <a:spLocks noGrp="1"/>
          </p:cNvSpPr>
          <p:nvPr>
            <p:ph idx="1"/>
          </p:nvPr>
        </p:nvSpPr>
        <p:spPr>
          <a:xfrm>
            <a:off x="623961" y="1166153"/>
            <a:ext cx="7886700" cy="5326719"/>
          </a:xfrm>
        </p:spPr>
        <p:txBody>
          <a:bodyPr>
            <a:noAutofit/>
          </a:bodyPr>
          <a:lstStyle/>
          <a:p>
            <a:pPr lvl="0"/>
            <a:r>
              <a:rPr lang="en-US" sz="1800" dirty="0"/>
              <a:t>Hanley J A, (2004), “Transmuting women into men:  Galton’s Family Data on Human Stature”, </a:t>
            </a:r>
            <a:r>
              <a:rPr lang="en-US" sz="1800" i="1" dirty="0"/>
              <a:t>The American Statistician, </a:t>
            </a:r>
            <a:r>
              <a:rPr lang="en-US" sz="1800" b="1" dirty="0"/>
              <a:t>58</a:t>
            </a:r>
            <a:r>
              <a:rPr lang="en-US" sz="1800" dirty="0"/>
              <a:t>(3), 237-243.</a:t>
            </a:r>
            <a:endParaRPr lang="en-IN" sz="1800" dirty="0"/>
          </a:p>
          <a:p>
            <a:pPr lvl="0"/>
            <a:r>
              <a:rPr lang="en-US" sz="1800" dirty="0"/>
              <a:t>Harter H L, (1974), “Method of Least Squares and Some Alternatives – Part II”, </a:t>
            </a:r>
            <a:r>
              <a:rPr lang="en-US" sz="1800" i="1" dirty="0"/>
              <a:t>International Statistical Review, </a:t>
            </a:r>
            <a:r>
              <a:rPr lang="en-US" sz="1800" b="1" dirty="0"/>
              <a:t>42</a:t>
            </a:r>
            <a:r>
              <a:rPr lang="en-US" sz="1800" dirty="0"/>
              <a:t>(3), 235-282.</a:t>
            </a:r>
            <a:endParaRPr lang="en-IN" sz="1800" dirty="0"/>
          </a:p>
          <a:p>
            <a:pPr lvl="0"/>
            <a:r>
              <a:rPr lang="en-US" sz="1800" dirty="0"/>
              <a:t>Harter H L, (1975), “Method of Least Squares and Some Alternatives – Part IV”, </a:t>
            </a:r>
            <a:r>
              <a:rPr lang="en-US" sz="1800" i="1" dirty="0"/>
              <a:t>International Statistical Review, </a:t>
            </a:r>
            <a:r>
              <a:rPr lang="en-US" sz="1800" b="1" dirty="0"/>
              <a:t>43</a:t>
            </a:r>
            <a:r>
              <a:rPr lang="en-US" sz="1800" dirty="0"/>
              <a:t>(2), 125-190.</a:t>
            </a:r>
          </a:p>
          <a:p>
            <a:r>
              <a:rPr lang="en-US" sz="1800" dirty="0"/>
              <a:t>Hodge G (2012), “The Ugly Truth of Online Dating: Top 10 Lies Told by Internet Daters”, </a:t>
            </a:r>
            <a:r>
              <a:rPr lang="en-US" sz="1800" i="1" dirty="0"/>
              <a:t>The Huffington Post, </a:t>
            </a:r>
            <a:r>
              <a:rPr lang="en-US" sz="1800" dirty="0"/>
              <a:t>10 October 2012, available at </a:t>
            </a:r>
            <a:r>
              <a:rPr lang="en-US" sz="1800" u="sng" dirty="0">
                <a:hlinkClick r:id="rId2"/>
              </a:rPr>
              <a:t>http://www.huffingtonpost.com/greg-hodge/online-dating-lies_b_1930053.html</a:t>
            </a:r>
            <a:r>
              <a:rPr lang="en-US" sz="1800" dirty="0"/>
              <a:t>, accessed on 21 April 2017.</a:t>
            </a:r>
            <a:endParaRPr lang="en-IN" sz="1800" dirty="0"/>
          </a:p>
          <a:p>
            <a:pPr lvl="0"/>
            <a:r>
              <a:rPr lang="en-IN" sz="1800" dirty="0"/>
              <a:t>Galton F (1886), “Regression Towards Mediocrity in Hereditary Stature”, The Journal of the Anthropological Institute Great Britain and Ireland, 15, 246-263.</a:t>
            </a:r>
          </a:p>
          <a:p>
            <a:pPr lvl="0"/>
            <a:r>
              <a:rPr lang="en-IN" sz="1800" dirty="0" err="1"/>
              <a:t>Kutner</a:t>
            </a:r>
            <a:r>
              <a:rPr lang="en-IN" sz="1800" dirty="0"/>
              <a:t> M H, </a:t>
            </a:r>
            <a:r>
              <a:rPr lang="en-IN" sz="1800" dirty="0" err="1"/>
              <a:t>Nachtsheim</a:t>
            </a:r>
            <a:r>
              <a:rPr lang="en-IN" sz="1800" dirty="0"/>
              <a:t> C J, </a:t>
            </a:r>
            <a:r>
              <a:rPr lang="en-IN" sz="1800" dirty="0" err="1"/>
              <a:t>Neter</a:t>
            </a:r>
            <a:r>
              <a:rPr lang="en-IN" sz="1800" dirty="0"/>
              <a:t> J and Li W (2013), “Applied Linear Models”, Fifth </a:t>
            </a:r>
            <a:r>
              <a:rPr lang="en-IN" sz="1800" dirty="0" err="1"/>
              <a:t>Edtion</a:t>
            </a:r>
            <a:r>
              <a:rPr lang="en-IN" sz="1800" dirty="0"/>
              <a:t>, McGraw Hill, New Delhi.</a:t>
            </a:r>
          </a:p>
          <a:p>
            <a:pPr lvl="0"/>
            <a:r>
              <a:rPr lang="en-IN" sz="1800" dirty="0"/>
              <a:t>Waugh F V (1961), “The Place of Least Squares in Econometrics”, </a:t>
            </a:r>
            <a:r>
              <a:rPr lang="en-IN" sz="1800" dirty="0" err="1"/>
              <a:t>Econometrica</a:t>
            </a:r>
            <a:r>
              <a:rPr lang="en-IN" sz="1800" dirty="0"/>
              <a:t>, 29(3), 386-396. </a:t>
            </a:r>
          </a:p>
          <a:p>
            <a:pPr lvl="0"/>
            <a:endParaRPr lang="en-IN" sz="1800" dirty="0"/>
          </a:p>
          <a:p>
            <a:endParaRPr lang="en-IN" sz="1800" dirty="0"/>
          </a:p>
        </p:txBody>
      </p:sp>
    </p:spTree>
    <p:extLst>
      <p:ext uri="{BB962C8B-B14F-4D97-AF65-F5344CB8AC3E}">
        <p14:creationId xmlns:p14="http://schemas.microsoft.com/office/powerpoint/2010/main" val="82890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fade">
                                      <p:cBhvr>
                                        <p:cTn id="54" dur="1000"/>
                                        <p:tgtEl>
                                          <p:spTgt spid="3">
                                            <p:txEl>
                                              <p:pRg st="6" end="6"/>
                                            </p:txEl>
                                          </p:spTgt>
                                        </p:tgtEl>
                                      </p:cBhvr>
                                    </p:animEffect>
                                    <p:anim calcmode="lin" valueType="num">
                                      <p:cBhvr>
                                        <p:cTn id="5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ookman Old Style"/>
        <a:ea typeface=""/>
        <a:cs typeface=""/>
      </a:majorFont>
      <a:minorFont>
        <a:latin typeface="Gill Sans M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ookman Old Style"/>
        <a:ea typeface=""/>
        <a:cs typeface=""/>
      </a:majorFont>
      <a:minorFont>
        <a:latin typeface="Gill Sans M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041639689983243A575BB239F6EB19C" ma:contentTypeVersion="17" ma:contentTypeDescription="Create a new document." ma:contentTypeScope="" ma:versionID="7b4ed3c5c857c59c798834bbb5ae9f56">
  <xsd:schema xmlns:xsd="http://www.w3.org/2001/XMLSchema" xmlns:xs="http://www.w3.org/2001/XMLSchema" xmlns:p="http://schemas.microsoft.com/office/2006/metadata/properties" xmlns:ns2="6dcb02f9-468b-42f6-bca8-27a1beec3d0f" xmlns:ns3="9f51f41b-1389-4fd9-8715-53f051acc8f1" targetNamespace="http://schemas.microsoft.com/office/2006/metadata/properties" ma:root="true" ma:fieldsID="9b691ef5d1e24f7250626236073e1ae9" ns2:_="" ns3:_="">
    <xsd:import namespace="6dcb02f9-468b-42f6-bca8-27a1beec3d0f"/>
    <xsd:import namespace="9f51f41b-1389-4fd9-8715-53f051acc8f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3:TaxCatchAll"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cb02f9-468b-42f6-bca8-27a1beec3d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f51f41b-1389-4fd9-8715-53f051acc8f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d2bfeba8-bc0f-43d4-bc38-d21a4ddb5615}" ma:internalName="TaxCatchAll" ma:showField="CatchAllData" ma:web="9f51f41b-1389-4fd9-8715-53f051acc8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dcb02f9-468b-42f6-bca8-27a1beec3d0f">
      <Terms xmlns="http://schemas.microsoft.com/office/infopath/2007/PartnerControls"/>
    </lcf76f155ced4ddcb4097134ff3c332f>
    <TaxCatchAll xmlns="9f51f41b-1389-4fd9-8715-53f051acc8f1" xsi:nil="true"/>
  </documentManagement>
</p:properties>
</file>

<file path=customXml/itemProps1.xml><?xml version="1.0" encoding="utf-8"?>
<ds:datastoreItem xmlns:ds="http://schemas.openxmlformats.org/officeDocument/2006/customXml" ds:itemID="{CCB52E8F-1884-4FD9-BAD6-55CC878B02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cb02f9-468b-42f6-bca8-27a1beec3d0f"/>
    <ds:schemaRef ds:uri="9f51f41b-1389-4fd9-8715-53f051acc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62DE13-9824-415B-8AFF-AA4DDFBEB1DF}">
  <ds:schemaRefs>
    <ds:schemaRef ds:uri="http://schemas.microsoft.com/sharepoint/v3/contenttype/forms"/>
  </ds:schemaRefs>
</ds:datastoreItem>
</file>

<file path=customXml/itemProps3.xml><?xml version="1.0" encoding="utf-8"?>
<ds:datastoreItem xmlns:ds="http://schemas.openxmlformats.org/officeDocument/2006/customXml" ds:itemID="{2EEB8865-BB55-456D-BC32-3B10043C7632}">
  <ds:schemaRefs>
    <ds:schemaRef ds:uri="http://purl.org/dc/terms/"/>
    <ds:schemaRef ds:uri="http://www.w3.org/XML/1998/namespace"/>
    <ds:schemaRef ds:uri="http://purl.org/dc/elements/1.1/"/>
    <ds:schemaRef ds:uri="6dcb02f9-468b-42f6-bca8-27a1beec3d0f"/>
    <ds:schemaRef ds:uri="http://purl.org/dc/dcmityp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9f51f41b-1389-4fd9-8715-53f051acc8f1"/>
  </ds:schemaRefs>
</ds:datastoreItem>
</file>

<file path=docProps/app.xml><?xml version="1.0" encoding="utf-8"?>
<Properties xmlns="http://schemas.openxmlformats.org/officeDocument/2006/extended-properties" xmlns:vt="http://schemas.openxmlformats.org/officeDocument/2006/docPropsVTypes">
  <Template/>
  <TotalTime>27964</TotalTime>
  <Words>5982</Words>
  <Application>Microsoft Office PowerPoint</Application>
  <PresentationFormat>On-screen Show (4:3)</PresentationFormat>
  <Paragraphs>839</Paragraphs>
  <Slides>88</Slides>
  <Notes>7</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2</vt:i4>
      </vt:variant>
      <vt:variant>
        <vt:lpstr>Slide Titles</vt:lpstr>
      </vt:variant>
      <vt:variant>
        <vt:i4>88</vt:i4>
      </vt:variant>
    </vt:vector>
  </HeadingPairs>
  <TitlesOfParts>
    <vt:vector size="104" baseType="lpstr">
      <vt:lpstr>Arial</vt:lpstr>
      <vt:lpstr>Bell MT</vt:lpstr>
      <vt:lpstr>Bookman Old Style</vt:lpstr>
      <vt:lpstr>Britannic Bold</vt:lpstr>
      <vt:lpstr>Calibri</vt:lpstr>
      <vt:lpstr>Cambria Math</vt:lpstr>
      <vt:lpstr>Gill Sans MT</vt:lpstr>
      <vt:lpstr>Symbol</vt:lpstr>
      <vt:lpstr>Times New Roman</vt:lpstr>
      <vt:lpstr>Wingdings</vt:lpstr>
      <vt:lpstr>Wingdings 3</vt:lpstr>
      <vt:lpstr>1_Office Theme</vt:lpstr>
      <vt:lpstr>Custom Design</vt:lpstr>
      <vt:lpstr>2_Office Theme</vt:lpstr>
      <vt:lpstr>Equation</vt:lpstr>
      <vt:lpstr>Equation.3</vt:lpstr>
      <vt:lpstr>If you torture the data long enough, it will confess! - Ronald Coase</vt:lpstr>
      <vt:lpstr>What is Regression?</vt:lpstr>
      <vt:lpstr>Regression </vt:lpstr>
      <vt:lpstr>Regression model establishes existence of association between two variables, but not causation.</vt:lpstr>
      <vt:lpstr>Girlfriends and wives create such a “distraction” that Indian batsmen can’t make runs, bowlers fail to take wickets and fielders drop simple catches.  </vt:lpstr>
      <vt:lpstr>Dependent and Independent are just terms used!</vt:lpstr>
      <vt:lpstr>Regression helps to validate hypothesis</vt:lpstr>
      <vt:lpstr>Interesting Hypotheses</vt:lpstr>
      <vt:lpstr>Regression - Definition</vt:lpstr>
      <vt:lpstr>Dependent and Independent Variables</vt:lpstr>
      <vt:lpstr>Regression Nomenclature</vt:lpstr>
      <vt:lpstr>Regression Vs Correlation</vt:lpstr>
      <vt:lpstr>Correlation</vt:lpstr>
      <vt:lpstr>Regression History</vt:lpstr>
      <vt:lpstr>PowerPoint Presentation</vt:lpstr>
      <vt:lpstr>Where is it used?</vt:lpstr>
      <vt:lpstr>Importance of Regression</vt:lpstr>
      <vt:lpstr>Why we need Regression?</vt:lpstr>
      <vt:lpstr>Types of Regression</vt:lpstr>
      <vt:lpstr>Types of Regression</vt:lpstr>
      <vt:lpstr>Types of Regression</vt:lpstr>
      <vt:lpstr>Linear Regression</vt:lpstr>
      <vt:lpstr>Regression Model Development</vt:lpstr>
      <vt:lpstr> Simple Linear Regression Model Building </vt:lpstr>
      <vt:lpstr>Framework for SLR model development</vt:lpstr>
      <vt:lpstr>Regression model building STEPS </vt:lpstr>
      <vt:lpstr>PowerPoint Presentation</vt:lpstr>
      <vt:lpstr>PowerPoint Presentation</vt:lpstr>
      <vt:lpstr>PowerPoint Presentation</vt:lpstr>
      <vt:lpstr>Step 6:  Estimate the Regression Parameters</vt:lpstr>
      <vt:lpstr>Step 7: Perform Regression Model Diagnostics</vt:lpstr>
      <vt:lpstr>Step 8: Validate the Model using the Validation Data Set</vt:lpstr>
      <vt:lpstr>Estimation of Parameters using Ordinary Least Squares</vt:lpstr>
      <vt:lpstr>PowerPoint Presentation</vt:lpstr>
      <vt:lpstr>PowerPoint Presentation</vt:lpstr>
      <vt:lpstr>Example :</vt:lpstr>
      <vt:lpstr>Salary of MBA students versus their grade 10 marks</vt:lpstr>
      <vt:lpstr>Solution</vt:lpstr>
      <vt:lpstr>Solution Continued</vt:lpstr>
      <vt:lpstr>Interpretation of Simple Linear Regression Coefficients</vt:lpstr>
      <vt:lpstr>Validation of the Simple Linear Regression Model</vt:lpstr>
      <vt:lpstr>Coefficient of Determination (R-Square or R2)</vt:lpstr>
      <vt:lpstr>Description of total deviation, explained deviation and unexplained deviation</vt:lpstr>
      <vt:lpstr>PowerPoint Presentation</vt:lpstr>
      <vt:lpstr>PowerPoint Presentation</vt:lpstr>
      <vt:lpstr>PowerPoint Presentation</vt:lpstr>
      <vt:lpstr> Spurious Regression </vt:lpstr>
      <vt:lpstr>Facebook users versus helium poisoning in UK</vt:lpstr>
      <vt:lpstr>Hypothesis Test for Regression Co-efficient (t-Test)</vt:lpstr>
      <vt:lpstr>PowerPoint Presentation</vt:lpstr>
      <vt:lpstr>PowerPoint Presentation</vt:lpstr>
      <vt:lpstr>PowerPoint Presentation</vt:lpstr>
      <vt:lpstr>Test for Overall Model: Analysis of Variance (F-test)</vt:lpstr>
      <vt:lpstr>Assumptions</vt:lpstr>
      <vt:lpstr>Residual Analysis</vt:lpstr>
      <vt:lpstr>Checking for Normal Distribution of Residuals </vt:lpstr>
      <vt:lpstr>Checking for Normal Distribution of Residuals </vt:lpstr>
      <vt:lpstr>Checking for Normal Distribution of Residuals </vt:lpstr>
      <vt:lpstr>Checking for Normal Distribution of Residuals </vt:lpstr>
      <vt:lpstr>Checking for Normal Distribution of Residuals </vt:lpstr>
      <vt:lpstr>Checking for Normal Distribution of Residuals </vt:lpstr>
      <vt:lpstr>Test of Homoscedasticity</vt:lpstr>
      <vt:lpstr>PowerPoint Presentation</vt:lpstr>
      <vt:lpstr>Test of Homoscedasticity</vt:lpstr>
      <vt:lpstr>Test of Homoscedasticity</vt:lpstr>
      <vt:lpstr>Auto-Correlation</vt:lpstr>
      <vt:lpstr>DurbinWatson Test for Auto-Correlation</vt:lpstr>
      <vt:lpstr>DurbinWatson Test for Auto-Correlation</vt:lpstr>
      <vt:lpstr>DurbinWatson Test for Auto-Correlation</vt:lpstr>
      <vt:lpstr>PowerPoint Presentation</vt:lpstr>
      <vt:lpstr>PowerPoint Presentation</vt:lpstr>
      <vt:lpstr>Impacts of Auto-Correlation on Regression Model</vt:lpstr>
      <vt:lpstr>Impacts of Assumptions on Regression Model</vt:lpstr>
      <vt:lpstr>Outlier Analysis</vt:lpstr>
      <vt:lpstr>Z-Score</vt:lpstr>
      <vt:lpstr>Mahalanobis Distance</vt:lpstr>
      <vt:lpstr>Cook’s Distance</vt:lpstr>
      <vt:lpstr>Cook’s Distance</vt:lpstr>
      <vt:lpstr>Cook’s Distance</vt:lpstr>
      <vt:lpstr>Leverage Value</vt:lpstr>
      <vt:lpstr>Outlier Analysis for Salary Data</vt:lpstr>
      <vt:lpstr>DFFit and DFBeta</vt:lpstr>
      <vt:lpstr>Handling Outliers</vt:lpstr>
      <vt:lpstr>Confidence Interval for Regression coefficients 0 and 1</vt:lpstr>
      <vt:lpstr>Confidence Interval for the Expected Value of Y for a Given X</vt:lpstr>
      <vt:lpstr> Prediction Interval for the Value of Y for a Given X</vt:lpstr>
      <vt:lpstr>PowerPoint Presentation</vt:lpstr>
      <vt:lpstr> 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shephali.tandon</dc:creator>
  <cp:lastModifiedBy>Pradipta Patra</cp:lastModifiedBy>
  <cp:revision>543</cp:revision>
  <dcterms:created xsi:type="dcterms:W3CDTF">2009-06-23T09:59:21Z</dcterms:created>
  <dcterms:modified xsi:type="dcterms:W3CDTF">2025-10-26T08:19:00Z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0x010100A041639689983243A575BB239F6EB19C</vt:lpwstr>
  </property>
</Properties>
</file>