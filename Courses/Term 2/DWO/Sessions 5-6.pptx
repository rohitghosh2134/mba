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4T17:05:29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4T17:05:30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4T17:05:32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4T17:05:33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4T17:05:37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1:50:13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2:00:09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2:00:09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2:00:09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2:00:09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2:00:09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02:00:09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3B040E-1EC5-4C6D-B405-E1C985EE9F3F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814463-869F-4674-AAF4-F7C3D4D9B0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500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814463-869F-4674-AAF4-F7C3D4D9B05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837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A2AC3-3C16-84BB-7AB8-C0E106EAF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BC5BF7-620E-33B6-3FEE-C44501FA00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D9234-D03D-4599-9D59-4AF2E2B2C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37DE3-96A4-74A8-AEB7-A8CB1BB4A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40420-9C1C-9A36-522B-6B92C05F1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C63705-DC56-1490-713C-DADCBC0EEED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376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0FD62-47BA-7222-B329-129695CCF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04ED3-CA7C-6B93-B9CB-62D373BDF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99E03-EAC3-30D5-3DAE-D304FF30F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8A509-F691-41DD-E37B-08B066438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814F2-41EA-29C3-FEE9-A18F33DC6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3F1423-EB51-4A82-8F58-2FCD1FE802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597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8628B-E049-692F-53AD-850C1D9E9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25B00-A123-F431-1388-481BA147F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F2DA8-14ED-D79B-F352-7ED058FF9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177-1210-35A3-618E-08DF0DBB8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6124C-F76B-AD55-0061-4F7449510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044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6D274-C914-7DF2-D101-08648BDE6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FB25B-8D23-C88B-99FC-2470649B06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1311D-5461-0B70-B2E2-2C23C1B9C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B07F5-5958-0C9F-06F6-EAD560CDC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EB456-A0DB-5B5C-3DA2-5B3B00B18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C9A5A-0E4D-B8A8-33D6-9EBACD07C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463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499D0-BA58-4C43-BB64-57E65B862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DEC71-C88F-F39A-8A40-370DA2303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76CD9-3DCC-D42D-8701-8773C11E6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AACB62-EC14-E1B7-B967-FC7617FB9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6FEB06-ED96-4F18-B835-7BCB173609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239238-951F-4BCF-0994-183F5F004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6293E0-F57E-AA6B-F154-77402E48C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FF4D99-BB9B-6ADB-02AC-8EDBE113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85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A141C-CC63-46F0-812B-042513B7E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44E0DF-F9B3-976F-DF56-493E14986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BB2FFB-33B7-8E8A-98D0-842E233C7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0F279-403E-B53A-7870-BA415F9D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751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E40B7E-01E2-E7CF-79FC-BC1CC4D26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F611B7-4E0B-BFCC-5F38-FA72312BE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89876-DDEB-34E7-71ED-D7C7D4EAE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668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E9FF6-CB64-4EA7-5B44-DFEBC1470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10D8A-6687-893F-D03B-3EE41572D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C203D-7689-7C4C-8D98-5A693DCB8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08359-4850-268A-7395-9DBA71D61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AC486-562F-D019-9C55-987DAF567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548AE-81E7-F975-F1E0-7B386408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492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1758C-6364-1370-0D38-F7437306A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740F93-F26A-05AE-C674-684C95462E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EE8E4F-52B0-B1A8-CB56-46C6FD5C4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93592-6282-03A8-0843-2807B1A5A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0B4DD-D558-7FB1-444F-3B09FFBC2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604B6-4112-9201-F544-7A2392F5D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37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DC8F-B610-DDF8-D1EF-24FA78A2F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78A3F-D2D7-4F66-B646-3404A0CF6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3B3A6-4391-4B79-66DE-825341915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7D9E-30EC-2B18-BA72-EBA1A1671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D3367-D6EB-76DC-0D98-29A47E01F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993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11EB9C-F9A2-5266-2AE7-282374ACA2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4486F3-4DCF-8BCC-FEAC-215A890D9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F1452-9C31-5B97-5B54-B8CABAB3A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C335-0888-4425-9323-F8A7B8471FCA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79FCD-863E-DBBC-3373-ABB1E8180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42055-1789-CD25-BF17-0B77F7AFE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221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BE1B9-DCFD-373C-61F5-D59843EEA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03BA9-C6C2-A738-0CFF-8843F431C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055E9-F7C0-29D8-6BD3-D888E1EF3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8C335-0888-4425-9323-F8A7B8471FCA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BA409-F61A-2FB4-EDA0-19A137A76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DBC0F-3F5F-F402-64D0-03790FF07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4D473-710B-47B8-A7DD-EF84F7DFD2E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84D47D-8313-3092-7A3E-FEAD865F5A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4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customXml" Target="../ink/ink1.xml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3.png"/><Relationship Id="rId7" Type="http://schemas.openxmlformats.org/officeDocument/2006/relationships/customXml" Target="../ink/ink11.xml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customXml" Target="../ink/ink9.xml"/><Relationship Id="rId4" Type="http://schemas.openxmlformats.org/officeDocument/2006/relationships/customXml" Target="../ink/ink8.xml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app=desktop&amp;v=iuYlGRnC7J8&amp;ab_channel=HarvardBusinessReview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84171-4CEF-1753-28D2-E17614C574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0110" y="1122363"/>
            <a:ext cx="10275570" cy="2387600"/>
          </a:xfrm>
        </p:spPr>
        <p:txBody>
          <a:bodyPr/>
          <a:lstStyle/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Designing Work Organization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8D139E-C6D2-C4A3-E45F-01F2FBE0F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09110"/>
            <a:ext cx="9144000" cy="1954530"/>
          </a:xfrm>
        </p:spPr>
        <p:txBody>
          <a:bodyPr>
            <a:normAutofit/>
          </a:bodyPr>
          <a:lstStyle/>
          <a:p>
            <a:r>
              <a:rPr lang="en-IN" dirty="0">
                <a:latin typeface="Aptos Narrow" panose="020B0004020202020204" pitchFamily="34" charset="0"/>
              </a:rPr>
              <a:t>Session 5-6</a:t>
            </a:r>
          </a:p>
          <a:p>
            <a:endParaRPr lang="en-IN" dirty="0">
              <a:latin typeface="Aptos Narrow" panose="020B0004020202020204" pitchFamily="34" charset="0"/>
            </a:endParaRPr>
          </a:p>
          <a:p>
            <a:r>
              <a:rPr lang="en-IN" dirty="0">
                <a:latin typeface="Aptos Narrow" panose="020B0004020202020204" pitchFamily="34" charset="0"/>
              </a:rPr>
              <a:t>Prof. Parijat </a:t>
            </a:r>
            <a:r>
              <a:rPr lang="en-IN" dirty="0" err="1">
                <a:latin typeface="Aptos Narrow" panose="020B0004020202020204" pitchFamily="34" charset="0"/>
              </a:rPr>
              <a:t>Lanke</a:t>
            </a:r>
            <a:endParaRPr lang="en-IN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885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3C44E-3E6A-2203-596F-222E0EEE5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Strategy?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B6ADB-BD88-F839-B35B-618092232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4800" dirty="0"/>
              <a:t>Specific pattern of decisions and actions that managers take to use </a:t>
            </a:r>
            <a:r>
              <a:rPr lang="en-IN" sz="4800" b="1" dirty="0"/>
              <a:t>core competence </a:t>
            </a:r>
            <a:r>
              <a:rPr lang="en-IN" sz="4800" dirty="0"/>
              <a:t>to achieve a </a:t>
            </a:r>
            <a:r>
              <a:rPr lang="en-IN" sz="4800" b="1" dirty="0"/>
              <a:t>competitive advantage</a:t>
            </a:r>
            <a:r>
              <a:rPr lang="en-IN" sz="4800" dirty="0"/>
              <a:t> and outperform competition.</a:t>
            </a:r>
          </a:p>
        </p:txBody>
      </p:sp>
    </p:spTree>
    <p:extLst>
      <p:ext uri="{BB962C8B-B14F-4D97-AF65-F5344CB8AC3E}">
        <p14:creationId xmlns:p14="http://schemas.microsoft.com/office/powerpoint/2010/main" val="368169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91745-4644-976F-9C30-CAAFE3F6B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460" y="250825"/>
            <a:ext cx="10515600" cy="1040765"/>
          </a:xfrm>
        </p:spPr>
        <p:txBody>
          <a:bodyPr/>
          <a:lstStyle/>
          <a:p>
            <a:r>
              <a:rPr lang="en-IN" dirty="0"/>
              <a:t>Core Competency</a:t>
            </a:r>
          </a:p>
        </p:txBody>
      </p:sp>
      <p:pic>
        <p:nvPicPr>
          <p:cNvPr id="1026" name="Picture 2" descr="Android Apps by Uber Technologies, Inc ...">
            <a:extLst>
              <a:ext uri="{FF2B5EF4-FFF2-40B4-BE49-F238E27FC236}">
                <a16:creationId xmlns:a16="http://schemas.microsoft.com/office/drawing/2014/main" id="{257103A1-FD9A-FA0F-9974-095C3C659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960" y="183705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irbnb · GitHub">
            <a:extLst>
              <a:ext uri="{FF2B5EF4-FFF2-40B4-BE49-F238E27FC236}">
                <a16:creationId xmlns:a16="http://schemas.microsoft.com/office/drawing/2014/main" id="{D1B49DA6-4068-38B8-DE5C-675113BEF1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4840" y="3286760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931253-4664-BC7E-909D-F6C8DA435A1C}"/>
              </a:ext>
            </a:extLst>
          </p:cNvPr>
          <p:cNvSpPr txBox="1"/>
          <p:nvPr/>
        </p:nvSpPr>
        <p:spPr>
          <a:xfrm>
            <a:off x="7303770" y="3023275"/>
            <a:ext cx="43072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Something that distinguishes you from another</a:t>
            </a:r>
          </a:p>
        </p:txBody>
      </p:sp>
    </p:spTree>
    <p:extLst>
      <p:ext uri="{BB962C8B-B14F-4D97-AF65-F5344CB8AC3E}">
        <p14:creationId xmlns:p14="http://schemas.microsoft.com/office/powerpoint/2010/main" val="1806385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EB6CE-20F5-D655-D7D1-49FB65272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Sources?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F935F-5BCE-CDFB-00B5-C189E56F8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1. Specialized Resources </a:t>
            </a:r>
          </a:p>
          <a:p>
            <a:pPr marL="0" indent="0">
              <a:buNone/>
            </a:pPr>
            <a:r>
              <a:rPr lang="en-IN" dirty="0"/>
              <a:t>		Functional </a:t>
            </a:r>
          </a:p>
          <a:p>
            <a:pPr marL="0" indent="0">
              <a:buNone/>
            </a:pPr>
            <a:r>
              <a:rPr lang="en-IN" dirty="0"/>
              <a:t>		Organizational </a:t>
            </a:r>
          </a:p>
          <a:p>
            <a:pPr marL="0" indent="0">
              <a:buNone/>
            </a:pPr>
            <a:r>
              <a:rPr lang="en-IN" dirty="0"/>
              <a:t>2. Co-ordination ability – Ability to co-ordinate functional and organizational resources via control systems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Control systems?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D7758C-E0EF-98D0-E9F7-16AC48AEC4C2}"/>
              </a:ext>
            </a:extLst>
          </p:cNvPr>
          <p:cNvSpPr txBox="1"/>
          <p:nvPr/>
        </p:nvSpPr>
        <p:spPr>
          <a:xfrm>
            <a:off x="5181600" y="4525804"/>
            <a:ext cx="5379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SOPs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Cultural Norms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Mechanisms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447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10B72-CB93-24E8-D2F6-B1544259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1860"/>
            <a:ext cx="10515600" cy="1325563"/>
          </a:xfrm>
        </p:spPr>
        <p:txBody>
          <a:bodyPr/>
          <a:lstStyle/>
          <a:p>
            <a:r>
              <a:rPr lang="en-IN" dirty="0"/>
              <a:t>Value Creation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E7329-0F90-10B6-2D82-B0EEF738C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911"/>
            <a:ext cx="10515600" cy="67754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Set Itself apart, create a space for itself, create an edge over the others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6C7BDF-C9F5-7F37-B6F6-07D8DB5D0E55}"/>
              </a:ext>
            </a:extLst>
          </p:cNvPr>
          <p:cNvSpPr txBox="1">
            <a:spLocks/>
          </p:cNvSpPr>
          <p:nvPr/>
        </p:nvSpPr>
        <p:spPr>
          <a:xfrm>
            <a:off x="838200" y="20859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Competitive Advantage?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1069C2A-E49E-41E6-1210-6DFD3A2530AC}"/>
              </a:ext>
            </a:extLst>
          </p:cNvPr>
          <p:cNvGrpSpPr/>
          <p:nvPr/>
        </p:nvGrpSpPr>
        <p:grpSpPr>
          <a:xfrm>
            <a:off x="1325880" y="3429000"/>
            <a:ext cx="9037320" cy="2885439"/>
            <a:chOff x="1325880" y="3793491"/>
            <a:chExt cx="9037320" cy="288543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A69ABA3-8F37-A224-54E7-D4D41850BA33}"/>
                </a:ext>
              </a:extLst>
            </p:cNvPr>
            <p:cNvCxnSpPr>
              <a:stCxn id="7" idx="4"/>
              <a:endCxn id="8" idx="6"/>
            </p:cNvCxnSpPr>
            <p:nvPr/>
          </p:nvCxnSpPr>
          <p:spPr>
            <a:xfrm flipH="1">
              <a:off x="7046595" y="5097780"/>
              <a:ext cx="2259330" cy="9982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3D5ADE9-94A9-8D8B-3772-AE649C8CFA56}"/>
                </a:ext>
              </a:extLst>
            </p:cNvPr>
            <p:cNvCxnSpPr>
              <a:stCxn id="8" idx="2"/>
              <a:endCxn id="5" idx="4"/>
            </p:cNvCxnSpPr>
            <p:nvPr/>
          </p:nvCxnSpPr>
          <p:spPr>
            <a:xfrm flipH="1" flipV="1">
              <a:off x="2383155" y="5097780"/>
              <a:ext cx="2548890" cy="9982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096327E-4281-17D8-9649-A67AD924084D}"/>
                </a:ext>
              </a:extLst>
            </p:cNvPr>
            <p:cNvGrpSpPr/>
            <p:nvPr/>
          </p:nvGrpSpPr>
          <p:grpSpPr>
            <a:xfrm>
              <a:off x="1325880" y="3793491"/>
              <a:ext cx="9037320" cy="2885439"/>
              <a:chOff x="1325880" y="3793491"/>
              <a:chExt cx="9037320" cy="2885439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10D2614-9DD1-1D25-DEC0-EBABD6654B06}"/>
                  </a:ext>
                </a:extLst>
              </p:cNvPr>
              <p:cNvSpPr/>
              <p:nvPr/>
            </p:nvSpPr>
            <p:spPr>
              <a:xfrm>
                <a:off x="1325880" y="3931920"/>
                <a:ext cx="2114550" cy="11658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Scarce Resources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A5F78A7-9D61-855D-C27B-4725A623F03C}"/>
                  </a:ext>
                </a:extLst>
              </p:cNvPr>
              <p:cNvSpPr/>
              <p:nvPr/>
            </p:nvSpPr>
            <p:spPr>
              <a:xfrm>
                <a:off x="4895850" y="3931920"/>
                <a:ext cx="2114550" cy="11658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Strategy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DA10915-1004-EE34-B9B6-E892DD12B6E0}"/>
                  </a:ext>
                </a:extLst>
              </p:cNvPr>
              <p:cNvSpPr/>
              <p:nvPr/>
            </p:nvSpPr>
            <p:spPr>
              <a:xfrm>
                <a:off x="8248650" y="3931920"/>
                <a:ext cx="2114550" cy="11658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Core-Competence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ED6B276-1F6C-9112-B6B6-D0B8B0D4B6E1}"/>
                  </a:ext>
                </a:extLst>
              </p:cNvPr>
              <p:cNvSpPr/>
              <p:nvPr/>
            </p:nvSpPr>
            <p:spPr>
              <a:xfrm>
                <a:off x="4932045" y="5513070"/>
                <a:ext cx="2114550" cy="11658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Competitive Advantage</a:t>
                </a:r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25311FE9-113D-5451-FAE3-0814FA3E970A}"/>
                  </a:ext>
                </a:extLst>
              </p:cNvPr>
              <p:cNvCxnSpPr>
                <a:stCxn id="5" idx="6"/>
                <a:endCxn id="6" idx="2"/>
              </p:cNvCxnSpPr>
              <p:nvPr/>
            </p:nvCxnSpPr>
            <p:spPr>
              <a:xfrm>
                <a:off x="3440430" y="4514850"/>
                <a:ext cx="145542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80148AF1-4B43-44C3-F67E-625AA676E5BD}"/>
                  </a:ext>
                </a:extLst>
              </p:cNvPr>
              <p:cNvCxnSpPr>
                <a:stCxn id="6" idx="6"/>
                <a:endCxn id="7" idx="2"/>
              </p:cNvCxnSpPr>
              <p:nvPr/>
            </p:nvCxnSpPr>
            <p:spPr>
              <a:xfrm>
                <a:off x="7010400" y="4514850"/>
                <a:ext cx="123825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297532-1582-DBA0-9D47-FCF15F8752E8}"/>
                  </a:ext>
                </a:extLst>
              </p:cNvPr>
              <p:cNvSpPr txBox="1"/>
              <p:nvPr/>
            </p:nvSpPr>
            <p:spPr>
              <a:xfrm>
                <a:off x="3726180" y="3793491"/>
                <a:ext cx="6515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4000" dirty="0"/>
                  <a:t>?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F6DE306-0ACE-C67E-FCEB-C8F0A99C41F1}"/>
                  </a:ext>
                </a:extLst>
              </p:cNvPr>
              <p:cNvSpPr txBox="1"/>
              <p:nvPr/>
            </p:nvSpPr>
            <p:spPr>
              <a:xfrm>
                <a:off x="7046595" y="3881122"/>
                <a:ext cx="10896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dirty="0"/>
                  <a:t>Invest Resources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13048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CE9B6-A103-03A0-1A19-8CF51C469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Strategy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5E2B6-D086-894B-FF5F-972E26A06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6095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/>
              <a:t>Functional </a:t>
            </a:r>
            <a:r>
              <a:rPr lang="en-IN" dirty="0">
                <a:sym typeface="Wingdings" panose="05000000000000000000" pitchFamily="2" charset="2"/>
              </a:rPr>
              <a:t> Business  Corporate  Global Expansion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D2BEBE-9BEC-3829-2AEF-2BBCF54332BF}"/>
              </a:ext>
            </a:extLst>
          </p:cNvPr>
          <p:cNvSpPr txBox="1"/>
          <p:nvPr/>
        </p:nvSpPr>
        <p:spPr>
          <a:xfrm>
            <a:off x="628650" y="2844225"/>
            <a:ext cx="35890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Functional Strategy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4FF3B9-A40E-7FC6-AF0B-8B6228296D85}"/>
              </a:ext>
            </a:extLst>
          </p:cNvPr>
          <p:cNvSpPr txBox="1"/>
          <p:nvPr/>
        </p:nvSpPr>
        <p:spPr>
          <a:xfrm>
            <a:off x="1794510" y="3794760"/>
            <a:ext cx="2423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Goals --- 1. Lower Cost 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Differentiation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9206F6A-39B2-2D46-8507-A6D9B959FCAB}"/>
              </a:ext>
            </a:extLst>
          </p:cNvPr>
          <p:cNvGrpSpPr/>
          <p:nvPr/>
        </p:nvGrpSpPr>
        <p:grpSpPr>
          <a:xfrm>
            <a:off x="4861328" y="3203136"/>
            <a:ext cx="6892522" cy="3038447"/>
            <a:chOff x="4861328" y="3203136"/>
            <a:chExt cx="6892522" cy="303844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22EB0F-373B-9457-E2C3-BFF41542AED1}"/>
                </a:ext>
              </a:extLst>
            </p:cNvPr>
            <p:cNvSpPr txBox="1"/>
            <p:nvPr/>
          </p:nvSpPr>
          <p:spPr>
            <a:xfrm>
              <a:off x="9913620" y="4302591"/>
              <a:ext cx="184023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/>
                <a:t>Organic</a:t>
              </a:r>
            </a:p>
            <a:p>
              <a:pPr marL="342900" indent="-342900">
                <a:buAutoNum type="arabicPeriod"/>
              </a:pPr>
              <a:r>
                <a:rPr lang="en-IN" sz="2000" dirty="0"/>
                <a:t>Flat</a:t>
              </a:r>
            </a:p>
            <a:p>
              <a:pPr marL="342900" indent="-342900">
                <a:buAutoNum type="arabicPeriod"/>
              </a:pPr>
              <a:r>
                <a:rPr lang="en-IN" sz="2000" dirty="0"/>
                <a:t>De-Centralized</a:t>
              </a:r>
            </a:p>
            <a:p>
              <a:pPr marL="342900" indent="-342900">
                <a:buAutoNum type="arabicPeriod"/>
              </a:pPr>
              <a:r>
                <a:rPr lang="en-US" sz="2000"/>
                <a:t>Mutual Adjustment</a:t>
              </a:r>
              <a:endParaRPr lang="en-IN" sz="2000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EF13DB3-8AC1-ED55-8B96-8491389B6A32}"/>
                </a:ext>
              </a:extLst>
            </p:cNvPr>
            <p:cNvGrpSpPr/>
            <p:nvPr/>
          </p:nvGrpSpPr>
          <p:grpSpPr>
            <a:xfrm>
              <a:off x="4861328" y="3203136"/>
              <a:ext cx="6410557" cy="2357616"/>
              <a:chOff x="4861328" y="3203136"/>
              <a:chExt cx="6410557" cy="2357616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112CC74E-010D-2F55-C756-052253F79F9E}"/>
                  </a:ext>
                </a:extLst>
              </p:cNvPr>
              <p:cNvCxnSpPr/>
              <p:nvPr/>
            </p:nvCxnSpPr>
            <p:spPr>
              <a:xfrm>
                <a:off x="5463540" y="4103370"/>
                <a:ext cx="523494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8" name="Ink 7">
                    <a:extLst>
                      <a:ext uri="{FF2B5EF4-FFF2-40B4-BE49-F238E27FC236}">
                        <a16:creationId xmlns:a16="http://schemas.microsoft.com/office/drawing/2014/main" id="{FAA1AA53-2B8D-61A6-A7D4-EA04378A1163}"/>
                      </a:ext>
                    </a:extLst>
                  </p14:cNvPr>
                  <p14:cNvContentPartPr/>
                  <p14:nvPr/>
                </p14:nvContentPartPr>
                <p14:xfrm>
                  <a:off x="5863770" y="4137750"/>
                  <a:ext cx="360" cy="360"/>
                </p14:xfrm>
              </p:contentPart>
            </mc:Choice>
            <mc:Fallback xmlns="">
              <p:pic>
                <p:nvPicPr>
                  <p:cNvPr id="8" name="Ink 7">
                    <a:extLst>
                      <a:ext uri="{FF2B5EF4-FFF2-40B4-BE49-F238E27FC236}">
                        <a16:creationId xmlns:a16="http://schemas.microsoft.com/office/drawing/2014/main" id="{FAA1AA53-2B8D-61A6-A7D4-EA04378A1163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5845770" y="4119750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D7527D49-0BA8-594F-4C5D-6D356A657073}"/>
                      </a:ext>
                    </a:extLst>
                  </p14:cNvPr>
                  <p14:cNvContentPartPr/>
                  <p14:nvPr/>
                </p14:nvContentPartPr>
                <p14:xfrm>
                  <a:off x="6846210" y="4091670"/>
                  <a:ext cx="360" cy="360"/>
                </p14:xfrm>
              </p:contentPart>
            </mc:Choice>
            <mc:Fallback xmlns="">
              <p:pic>
                <p:nvPicPr>
                  <p:cNvPr id="9" name="Ink 8">
                    <a:extLst>
                      <a:ext uri="{FF2B5EF4-FFF2-40B4-BE49-F238E27FC236}">
                        <a16:creationId xmlns:a16="http://schemas.microsoft.com/office/drawing/2014/main" id="{D7527D49-0BA8-594F-4C5D-6D356A657073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6828210" y="4073670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E98F6F50-4C81-0A1D-0137-40759016E191}"/>
                      </a:ext>
                    </a:extLst>
                  </p14:cNvPr>
                  <p14:cNvContentPartPr/>
                  <p14:nvPr/>
                </p14:nvContentPartPr>
                <p14:xfrm>
                  <a:off x="9200970" y="4137750"/>
                  <a:ext cx="360" cy="360"/>
                </p14:xfrm>
              </p:contentPart>
            </mc:Choice>
            <mc:Fallback xmlns=""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E98F6F50-4C81-0A1D-0137-40759016E191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9182970" y="4119750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BC0093D1-7D4F-9D35-AFF1-F3EDCD8574E4}"/>
                      </a:ext>
                    </a:extLst>
                  </p14:cNvPr>
                  <p14:cNvContentPartPr/>
                  <p14:nvPr/>
                </p14:nvContentPartPr>
                <p14:xfrm>
                  <a:off x="10515330" y="4080150"/>
                  <a:ext cx="360" cy="36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BC0093D1-7D4F-9D35-AFF1-F3EDCD8574E4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0497330" y="4062150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8F7749A5-6047-5F19-BDDC-94937CB03F21}"/>
                      </a:ext>
                    </a:extLst>
                  </p14:cNvPr>
                  <p14:cNvContentPartPr/>
                  <p14:nvPr/>
                </p14:nvContentPartPr>
                <p14:xfrm>
                  <a:off x="6103530" y="3863070"/>
                  <a:ext cx="360" cy="36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8F7749A5-6047-5F19-BDDC-94937CB03F21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6085530" y="3845070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DECA161-7C95-DBF1-DF6F-7D9B3D7E9DB8}"/>
                  </a:ext>
                </a:extLst>
              </p:cNvPr>
              <p:cNvSpPr txBox="1"/>
              <p:nvPr/>
            </p:nvSpPr>
            <p:spPr>
              <a:xfrm>
                <a:off x="4989375" y="3678404"/>
                <a:ext cx="17487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Manufacturing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1F8C67E-494E-E658-F96F-6D180AC86F92}"/>
                  </a:ext>
                </a:extLst>
              </p:cNvPr>
              <p:cNvSpPr txBox="1"/>
              <p:nvPr/>
            </p:nvSpPr>
            <p:spPr>
              <a:xfrm>
                <a:off x="6960870" y="3203136"/>
                <a:ext cx="17487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Sales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9007CCB-ADF0-C067-CFA4-F9FFD65589CB}"/>
                  </a:ext>
                </a:extLst>
              </p:cNvPr>
              <p:cNvSpPr txBox="1"/>
              <p:nvPr/>
            </p:nvSpPr>
            <p:spPr>
              <a:xfrm>
                <a:off x="9523095" y="3653253"/>
                <a:ext cx="17487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dirty="0"/>
                  <a:t>R&amp;D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BFBAA7-B30E-6554-1102-94DC93767AD8}"/>
                  </a:ext>
                </a:extLst>
              </p:cNvPr>
              <p:cNvSpPr txBox="1"/>
              <p:nvPr/>
            </p:nvSpPr>
            <p:spPr>
              <a:xfrm>
                <a:off x="4861328" y="4237313"/>
                <a:ext cx="184023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Mechanistic</a:t>
                </a:r>
              </a:p>
              <a:p>
                <a:pPr marL="342900" indent="-342900">
                  <a:buAutoNum type="arabicPeriod"/>
                </a:pPr>
                <a:r>
                  <a:rPr lang="en-IN" sz="2000" dirty="0"/>
                  <a:t>Tall</a:t>
                </a:r>
              </a:p>
              <a:p>
                <a:pPr marL="342900" indent="-342900">
                  <a:buAutoNum type="arabicPeriod"/>
                </a:pPr>
                <a:r>
                  <a:rPr lang="en-IN" sz="2000" dirty="0"/>
                  <a:t>Centralized</a:t>
                </a:r>
              </a:p>
              <a:p>
                <a:pPr marL="342900" indent="-342900">
                  <a:buAutoNum type="arabicPeriod"/>
                </a:pPr>
                <a:r>
                  <a:rPr lang="en-IN" sz="2000" dirty="0"/>
                  <a:t>SOP</a:t>
                </a:r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192328D7-4604-3BF2-C3B0-F1974FF76FD2}"/>
                      </a:ext>
                    </a:extLst>
                  </p14:cNvPr>
                  <p14:cNvContentPartPr/>
                  <p14:nvPr/>
                </p14:nvContentPartPr>
                <p14:xfrm>
                  <a:off x="7897680" y="4103550"/>
                  <a:ext cx="360" cy="360"/>
                </p14:xfrm>
              </p:contentPart>
            </mc:Choice>
            <mc:Fallback xmlns=""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192328D7-4604-3BF2-C3B0-F1974FF76FD2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7880040" y="4085550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EB9B03E-A133-0875-82B9-3FBFDA3D79CB}"/>
                  </a:ext>
                </a:extLst>
              </p:cNvPr>
              <p:cNvSpPr txBox="1"/>
              <p:nvPr/>
            </p:nvSpPr>
            <p:spPr>
              <a:xfrm>
                <a:off x="6738165" y="4137750"/>
                <a:ext cx="3362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4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EB1D11-FF56-C606-6368-502465EADD4C}"/>
                  </a:ext>
                </a:extLst>
              </p:cNvPr>
              <p:cNvSpPr txBox="1"/>
              <p:nvPr/>
            </p:nvSpPr>
            <p:spPr>
              <a:xfrm>
                <a:off x="7729537" y="4237313"/>
                <a:ext cx="3362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1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A3013F-B32C-AED9-F981-9A6386588290}"/>
                  </a:ext>
                </a:extLst>
              </p:cNvPr>
              <p:cNvSpPr txBox="1"/>
              <p:nvPr/>
            </p:nvSpPr>
            <p:spPr>
              <a:xfrm>
                <a:off x="9032827" y="4302591"/>
                <a:ext cx="49026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2,3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3118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78C7E-205B-0384-6273-9B791A6B3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Level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FCDCC-25C8-1340-D483-7B3AAAE41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8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Functional level strategy + environment </a:t>
            </a:r>
            <a:r>
              <a:rPr lang="en-IN" dirty="0">
                <a:sym typeface="Wingdings" panose="05000000000000000000" pitchFamily="2" charset="2"/>
              </a:rPr>
              <a:t> Value Creation</a:t>
            </a:r>
          </a:p>
          <a:p>
            <a:pPr marL="0" indent="0">
              <a:buNone/>
            </a:pPr>
            <a:endParaRPr lang="en-IN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A790EB2-D7E3-421F-69DB-C0B9DC4C6CC7}"/>
              </a:ext>
            </a:extLst>
          </p:cNvPr>
          <p:cNvSpPr txBox="1">
            <a:spLocks/>
          </p:cNvSpPr>
          <p:nvPr/>
        </p:nvSpPr>
        <p:spPr>
          <a:xfrm>
            <a:off x="723900" y="2613025"/>
            <a:ext cx="10515600" cy="1146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dirty="0"/>
              <a:t>Goals – 1. Select a domain to compete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/>
              <a:t>   	  2. Position company to use the resources in environment	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9189A8-7068-C81E-0E4A-04E5E36E0A5D}"/>
              </a:ext>
            </a:extLst>
          </p:cNvPr>
          <p:cNvSpPr txBox="1">
            <a:spLocks/>
          </p:cNvSpPr>
          <p:nvPr/>
        </p:nvSpPr>
        <p:spPr>
          <a:xfrm>
            <a:off x="723900" y="4048125"/>
            <a:ext cx="10515600" cy="1146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dirty="0"/>
              <a:t>How?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17C7EC2-5E89-72E3-8B4A-4BDA5E6B8FE7}"/>
              </a:ext>
            </a:extLst>
          </p:cNvPr>
          <p:cNvGrpSpPr/>
          <p:nvPr/>
        </p:nvGrpSpPr>
        <p:grpSpPr>
          <a:xfrm>
            <a:off x="2535439" y="4432970"/>
            <a:ext cx="7865860" cy="1972777"/>
            <a:chOff x="4861328" y="3653253"/>
            <a:chExt cx="7865860" cy="197277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14B46FE-70B8-517A-BC28-81357D99D148}"/>
                </a:ext>
              </a:extLst>
            </p:cNvPr>
            <p:cNvSpPr txBox="1"/>
            <p:nvPr/>
          </p:nvSpPr>
          <p:spPr>
            <a:xfrm>
              <a:off x="9913619" y="4302591"/>
              <a:ext cx="281356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/>
                <a:t>Simple Structure</a:t>
              </a:r>
            </a:p>
            <a:p>
              <a:r>
                <a:rPr lang="en-IN" sz="2000" dirty="0"/>
                <a:t>Centralized DM</a:t>
              </a:r>
            </a:p>
            <a:p>
              <a:r>
                <a:rPr lang="en-IN" sz="2000" dirty="0"/>
                <a:t>Low differentiation</a:t>
              </a:r>
            </a:p>
            <a:p>
              <a:r>
                <a:rPr lang="en-IN" sz="2000" dirty="0"/>
                <a:t>Low Integration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E57F38C-831E-37F7-96DB-596134169817}"/>
                </a:ext>
              </a:extLst>
            </p:cNvPr>
            <p:cNvGrpSpPr/>
            <p:nvPr/>
          </p:nvGrpSpPr>
          <p:grpSpPr>
            <a:xfrm>
              <a:off x="4861328" y="3653253"/>
              <a:ext cx="6410557" cy="1907499"/>
              <a:chOff x="4861328" y="3653253"/>
              <a:chExt cx="6410557" cy="1907499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1110174-2018-F426-BD71-1DECBEFCEAB0}"/>
                  </a:ext>
                </a:extLst>
              </p:cNvPr>
              <p:cNvCxnSpPr/>
              <p:nvPr/>
            </p:nvCxnSpPr>
            <p:spPr>
              <a:xfrm>
                <a:off x="5463540" y="4103370"/>
                <a:ext cx="523494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p14="http://schemas.microsoft.com/office/powerpoint/2010/main">
            <mc:Choice Requires="p14">
              <p:contentPart p14:bwMode="auto" r:id="rId2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A0D9F06A-203E-7A3A-F829-753C288642DB}"/>
                      </a:ext>
                    </a:extLst>
                  </p14:cNvPr>
                  <p14:cNvContentPartPr/>
                  <p14:nvPr/>
                </p14:nvContentPartPr>
                <p14:xfrm>
                  <a:off x="5863770" y="4137750"/>
                  <a:ext cx="360" cy="360"/>
                </p14:xfrm>
              </p:contentPart>
            </mc:Choice>
            <mc:Fallback xmlns=""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A0D9F06A-203E-7A3A-F829-753C288642DB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5845770" y="4119750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97DF7CD6-7859-DCE9-6476-78983AF0605D}"/>
                      </a:ext>
                    </a:extLst>
                  </p14:cNvPr>
                  <p14:cNvContentPartPr/>
                  <p14:nvPr/>
                </p14:nvContentPartPr>
                <p14:xfrm>
                  <a:off x="6846210" y="4091670"/>
                  <a:ext cx="360" cy="36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97DF7CD6-7859-DCE9-6476-78983AF0605D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828210" y="4073670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89B83D56-1693-8880-CC26-20634645483E}"/>
                      </a:ext>
                    </a:extLst>
                  </p14:cNvPr>
                  <p14:cNvContentPartPr/>
                  <p14:nvPr/>
                </p14:nvContentPartPr>
                <p14:xfrm>
                  <a:off x="9200970" y="4137750"/>
                  <a:ext cx="360" cy="360"/>
                </p14:xfrm>
              </p:contentPart>
            </mc:Choice>
            <mc:Fallback xmlns=""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89B83D56-1693-8880-CC26-20634645483E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9182970" y="4119750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8C65BC52-43AC-5B59-AD8A-46183536ADC6}"/>
                      </a:ext>
                    </a:extLst>
                  </p14:cNvPr>
                  <p14:cNvContentPartPr/>
                  <p14:nvPr/>
                </p14:nvContentPartPr>
                <p14:xfrm>
                  <a:off x="10515330" y="4080150"/>
                  <a:ext cx="360" cy="360"/>
                </p14:xfrm>
              </p:contentPart>
            </mc:Choice>
            <mc:Fallback xmlns=""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8C65BC52-43AC-5B59-AD8A-46183536ADC6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0497330" y="4062150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2CA9E921-BDD1-4BB1-2652-B2AFD3A47311}"/>
                      </a:ext>
                    </a:extLst>
                  </p14:cNvPr>
                  <p14:cNvContentPartPr/>
                  <p14:nvPr/>
                </p14:nvContentPartPr>
                <p14:xfrm>
                  <a:off x="6103530" y="3863070"/>
                  <a:ext cx="360" cy="360"/>
                </p14:xfrm>
              </p:contentPart>
            </mc:Choice>
            <mc:Fallback xmlns=""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2CA9E921-BDD1-4BB1-2652-B2AFD3A47311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6085530" y="3845070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FEC111D-831B-CA48-3D7B-80A8B4DEFD0F}"/>
                  </a:ext>
                </a:extLst>
              </p:cNvPr>
              <p:cNvSpPr txBox="1"/>
              <p:nvPr/>
            </p:nvSpPr>
            <p:spPr>
              <a:xfrm>
                <a:off x="4989375" y="3678404"/>
                <a:ext cx="17487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000" dirty="0"/>
                  <a:t>Differentiation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3F95471-40CA-CE09-3E3C-5DA52DA3A27C}"/>
                  </a:ext>
                </a:extLst>
              </p:cNvPr>
              <p:cNvSpPr txBox="1"/>
              <p:nvPr/>
            </p:nvSpPr>
            <p:spPr>
              <a:xfrm>
                <a:off x="9523095" y="3653253"/>
                <a:ext cx="17487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000" dirty="0"/>
                  <a:t>Low Cost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B786C5C-6A82-71AA-22FC-AF5C071B2990}"/>
                  </a:ext>
                </a:extLst>
              </p:cNvPr>
              <p:cNvSpPr txBox="1"/>
              <p:nvPr/>
            </p:nvSpPr>
            <p:spPr>
              <a:xfrm>
                <a:off x="4861328" y="4237313"/>
                <a:ext cx="235924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Matrix</a:t>
                </a:r>
              </a:p>
              <a:p>
                <a:r>
                  <a:rPr lang="en-IN" sz="2000" dirty="0"/>
                  <a:t>Decentralized</a:t>
                </a:r>
              </a:p>
              <a:p>
                <a:r>
                  <a:rPr lang="en-IN" sz="2000" dirty="0"/>
                  <a:t>High Differentiation</a:t>
                </a:r>
              </a:p>
              <a:p>
                <a:r>
                  <a:rPr lang="en-IN" sz="2000" dirty="0"/>
                  <a:t>High Integration</a:t>
                </a:r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19" name="Ink 18">
                    <a:extLst>
                      <a:ext uri="{FF2B5EF4-FFF2-40B4-BE49-F238E27FC236}">
                        <a16:creationId xmlns:a16="http://schemas.microsoft.com/office/drawing/2014/main" id="{B04A2780-F4F4-FE4B-4A3A-AC7CDAB570E8}"/>
                      </a:ext>
                    </a:extLst>
                  </p14:cNvPr>
                  <p14:cNvContentPartPr/>
                  <p14:nvPr/>
                </p14:nvContentPartPr>
                <p14:xfrm>
                  <a:off x="7897680" y="4103550"/>
                  <a:ext cx="360" cy="360"/>
                </p14:xfrm>
              </p:contentPart>
            </mc:Choice>
            <mc:Fallback xmlns="">
              <p:pic>
                <p:nvPicPr>
                  <p:cNvPr id="19" name="Ink 18">
                    <a:extLst>
                      <a:ext uri="{FF2B5EF4-FFF2-40B4-BE49-F238E27FC236}">
                        <a16:creationId xmlns:a16="http://schemas.microsoft.com/office/drawing/2014/main" id="{B04A2780-F4F4-FE4B-4A3A-AC7CDAB570E8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7880040" y="4085550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03F7DEB-B043-18F1-313E-0DE5E637E091}"/>
                  </a:ext>
                </a:extLst>
              </p:cNvPr>
              <p:cNvSpPr txBox="1"/>
              <p:nvPr/>
            </p:nvSpPr>
            <p:spPr>
              <a:xfrm>
                <a:off x="6738165" y="4137750"/>
                <a:ext cx="3362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IN" sz="24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CA287D0-A9BB-2AA4-5810-B358D7CE3DC0}"/>
                  </a:ext>
                </a:extLst>
              </p:cNvPr>
              <p:cNvSpPr txBox="1"/>
              <p:nvPr/>
            </p:nvSpPr>
            <p:spPr>
              <a:xfrm>
                <a:off x="9032827" y="4302591"/>
                <a:ext cx="4902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IN" sz="2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06271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293B7-2B52-1FDD-AF76-3BE6B7772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Focus Strategy</a:t>
            </a:r>
          </a:p>
        </p:txBody>
      </p:sp>
      <p:pic>
        <p:nvPicPr>
          <p:cNvPr id="1026" name="Picture 2" descr="KFC - Wikipedia">
            <a:extLst>
              <a:ext uri="{FF2B5EF4-FFF2-40B4-BE49-F238E27FC236}">
                <a16:creationId xmlns:a16="http://schemas.microsoft.com/office/drawing/2014/main" id="{B70639F3-79DD-9A79-88C4-56E4458AC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1" y="2357437"/>
            <a:ext cx="3192463" cy="3390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sla's Recent Developments: A Detailed ...">
            <a:extLst>
              <a:ext uri="{FF2B5EF4-FFF2-40B4-BE49-F238E27FC236}">
                <a16:creationId xmlns:a16="http://schemas.microsoft.com/office/drawing/2014/main" id="{488CCED2-85B8-57C1-0271-976F64D13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0574" y="2357437"/>
            <a:ext cx="4746625" cy="3390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699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2279D-2177-C2AA-4AE4-4CDBB05F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276621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dirty="0">
                <a:hlinkClick r:id="rId2"/>
              </a:rPr>
              <a:t>https://www.youtube.com/watch?app=desktop&amp;v=iuYlGRnC7J8&amp;ab_channel=HarvardBusinessReview</a:t>
            </a:r>
            <a:r>
              <a:rPr lang="en-IN" dirty="0"/>
              <a:t> 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362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94856-F98E-1F68-EE76-A491777CE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754" y="238760"/>
            <a:ext cx="10515600" cy="1325563"/>
          </a:xfrm>
        </p:spPr>
        <p:txBody>
          <a:bodyPr/>
          <a:lstStyle/>
          <a:p>
            <a:r>
              <a:rPr lang="en-IN" dirty="0"/>
              <a:t>Corporate Level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A128C-FDF8-45DA-6BB2-EB6C90A31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9238"/>
            <a:ext cx="10515600" cy="5289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dirty="0"/>
              <a:t>Search for a new domain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96F3AEF-335F-05C2-BB0B-23B3508BCFED}"/>
              </a:ext>
            </a:extLst>
          </p:cNvPr>
          <p:cNvGrpSpPr/>
          <p:nvPr/>
        </p:nvGrpSpPr>
        <p:grpSpPr>
          <a:xfrm>
            <a:off x="1427324" y="2219643"/>
            <a:ext cx="3784281" cy="2437765"/>
            <a:chOff x="1427324" y="2219643"/>
            <a:chExt cx="3784281" cy="243776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9018541-FD30-685B-7EA2-2DAA48C77D1F}"/>
                </a:ext>
              </a:extLst>
            </p:cNvPr>
            <p:cNvSpPr/>
            <p:nvPr/>
          </p:nvSpPr>
          <p:spPr>
            <a:xfrm>
              <a:off x="2115503" y="2219643"/>
              <a:ext cx="2388870" cy="122301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/>
                <a:t>Vertical Integration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28B643F-67FE-7991-99F7-D54A6885B87A}"/>
                </a:ext>
              </a:extLst>
            </p:cNvPr>
            <p:cNvCxnSpPr>
              <a:cxnSpLocks/>
              <a:stCxn id="5" idx="4"/>
              <a:endCxn id="12" idx="0"/>
            </p:cNvCxnSpPr>
            <p:nvPr/>
          </p:nvCxnSpPr>
          <p:spPr>
            <a:xfrm flipH="1">
              <a:off x="2141699" y="3442653"/>
              <a:ext cx="1168239" cy="5289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851A7D7-046F-ED98-D5D4-C5491AD46ADE}"/>
                </a:ext>
              </a:extLst>
            </p:cNvPr>
            <p:cNvCxnSpPr>
              <a:cxnSpLocks/>
              <a:stCxn id="5" idx="4"/>
              <a:endCxn id="13" idx="0"/>
            </p:cNvCxnSpPr>
            <p:nvPr/>
          </p:nvCxnSpPr>
          <p:spPr>
            <a:xfrm>
              <a:off x="3309938" y="3442653"/>
              <a:ext cx="1187292" cy="5099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6F6222B-B972-0878-A4CE-D2AE5D74071C}"/>
                </a:ext>
              </a:extLst>
            </p:cNvPr>
            <p:cNvSpPr/>
            <p:nvPr/>
          </p:nvSpPr>
          <p:spPr>
            <a:xfrm>
              <a:off x="1427324" y="3971608"/>
              <a:ext cx="1428750" cy="6858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/>
                <a:t>Forward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6A0ADCC-30C4-C6E9-F520-A7F327B2EDD6}"/>
                </a:ext>
              </a:extLst>
            </p:cNvPr>
            <p:cNvSpPr/>
            <p:nvPr/>
          </p:nvSpPr>
          <p:spPr>
            <a:xfrm>
              <a:off x="3782855" y="3952558"/>
              <a:ext cx="1428750" cy="6858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/>
                <a:t>Backward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449718C-3A85-7D27-61CC-376E236C4E96}"/>
              </a:ext>
            </a:extLst>
          </p:cNvPr>
          <p:cNvGrpSpPr/>
          <p:nvPr/>
        </p:nvGrpSpPr>
        <p:grpSpPr>
          <a:xfrm>
            <a:off x="6632735" y="2205990"/>
            <a:ext cx="4294345" cy="2364740"/>
            <a:chOff x="6632735" y="2205990"/>
            <a:chExt cx="4294345" cy="236474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D1776CD-8C7A-6D2E-2D52-E11D266BE166}"/>
                </a:ext>
              </a:extLst>
            </p:cNvPr>
            <p:cNvSpPr/>
            <p:nvPr/>
          </p:nvSpPr>
          <p:spPr>
            <a:xfrm>
              <a:off x="7131367" y="2205990"/>
              <a:ext cx="2945130" cy="122301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/>
                <a:t>Diversification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C9D0F20-7311-69C4-EAA8-91C117F0869C}"/>
                </a:ext>
              </a:extLst>
            </p:cNvPr>
            <p:cNvCxnSpPr>
              <a:cxnSpLocks/>
              <a:stCxn id="6" idx="4"/>
              <a:endCxn id="16" idx="0"/>
            </p:cNvCxnSpPr>
            <p:nvPr/>
          </p:nvCxnSpPr>
          <p:spPr>
            <a:xfrm flipH="1">
              <a:off x="7347110" y="3429000"/>
              <a:ext cx="1256822" cy="4559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82271F8-B2D8-8C5C-668B-F8D2CB8068C0}"/>
                </a:ext>
              </a:extLst>
            </p:cNvPr>
            <p:cNvSpPr/>
            <p:nvPr/>
          </p:nvSpPr>
          <p:spPr>
            <a:xfrm>
              <a:off x="6632735" y="3884930"/>
              <a:ext cx="1428750" cy="6858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/>
                <a:t>Related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8D12578-AFEC-BFB1-A895-A8B1E5723C9F}"/>
                </a:ext>
              </a:extLst>
            </p:cNvPr>
            <p:cNvSpPr/>
            <p:nvPr/>
          </p:nvSpPr>
          <p:spPr>
            <a:xfrm>
              <a:off x="9025890" y="3884930"/>
              <a:ext cx="1901190" cy="6858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400" dirty="0"/>
                <a:t>Un-Related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5AD07D4-15BA-CF86-1D21-E94F36005DF4}"/>
                </a:ext>
              </a:extLst>
            </p:cNvPr>
            <p:cNvCxnSpPr>
              <a:stCxn id="6" idx="4"/>
              <a:endCxn id="17" idx="0"/>
            </p:cNvCxnSpPr>
            <p:nvPr/>
          </p:nvCxnSpPr>
          <p:spPr>
            <a:xfrm>
              <a:off x="8603932" y="3429000"/>
              <a:ext cx="1372553" cy="4559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026" name="Picture 2" descr="General Electric - Wikipedia">
            <a:extLst>
              <a:ext uri="{FF2B5EF4-FFF2-40B4-BE49-F238E27FC236}">
                <a16:creationId xmlns:a16="http://schemas.microsoft.com/office/drawing/2014/main" id="{767D84F4-65B8-71C4-3292-7BA274972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605" y="4870132"/>
            <a:ext cx="1719898" cy="1719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085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228B8-9DA6-78DD-0333-BF1A5B30B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3615"/>
          </a:xfrm>
        </p:spPr>
        <p:txBody>
          <a:bodyPr/>
          <a:lstStyle/>
          <a:p>
            <a:r>
              <a:rPr lang="en-IN" dirty="0"/>
              <a:t>Corporate Strategy +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87D54-7B64-6E58-462B-AA4009222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05300" cy="11004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600" b="1" dirty="0"/>
              <a:t>Related Diversification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EC9E47-7416-84E0-EF87-CC9F3B2A9D7B}"/>
              </a:ext>
            </a:extLst>
          </p:cNvPr>
          <p:cNvSpPr txBox="1">
            <a:spLocks/>
          </p:cNvSpPr>
          <p:nvPr/>
        </p:nvSpPr>
        <p:spPr>
          <a:xfrm>
            <a:off x="7256147" y="1825624"/>
            <a:ext cx="4164330" cy="11004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3600" b="1" dirty="0"/>
              <a:t>Un-Related Diversification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ADFA28-1A9E-9B21-FCB5-751D910CF97B}"/>
              </a:ext>
            </a:extLst>
          </p:cNvPr>
          <p:cNvSpPr txBox="1"/>
          <p:nvPr/>
        </p:nvSpPr>
        <p:spPr>
          <a:xfrm>
            <a:off x="1156333" y="3429000"/>
            <a:ext cx="36690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Matrix Structure for higher Co-ordination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9F7071-FD6C-B4DB-14B6-C804D9B87ECD}"/>
              </a:ext>
            </a:extLst>
          </p:cNvPr>
          <p:cNvSpPr txBox="1"/>
          <p:nvPr/>
        </p:nvSpPr>
        <p:spPr>
          <a:xfrm>
            <a:off x="7503797" y="3429000"/>
            <a:ext cx="36690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Conglomerate Structure </a:t>
            </a:r>
          </a:p>
        </p:txBody>
      </p:sp>
    </p:spTree>
    <p:extLst>
      <p:ext uri="{BB962C8B-B14F-4D97-AF65-F5344CB8AC3E}">
        <p14:creationId xmlns:p14="http://schemas.microsoft.com/office/powerpoint/2010/main" val="3070724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nited Technologies - Products, Competitors, Financials, Employees,  Headquarters Locations">
            <a:extLst>
              <a:ext uri="{FF2B5EF4-FFF2-40B4-BE49-F238E27FC236}">
                <a16:creationId xmlns:a16="http://schemas.microsoft.com/office/drawing/2014/main" id="{A30C6F6A-655E-595F-AEDD-0F61B413E7D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856" y="416084"/>
            <a:ext cx="6382384" cy="1412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tis India launches Ambiance elevator ...">
            <a:extLst>
              <a:ext uri="{FF2B5EF4-FFF2-40B4-BE49-F238E27FC236}">
                <a16:creationId xmlns:a16="http://schemas.microsoft.com/office/drawing/2014/main" id="{26D45AA0-D01E-77AD-2C10-021831137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03" y="2237898"/>
            <a:ext cx="4578667" cy="213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arrier 1.5 Ton Air Conditioner at Rs ...">
            <a:extLst>
              <a:ext uri="{FF2B5EF4-FFF2-40B4-BE49-F238E27FC236}">
                <a16:creationId xmlns:a16="http://schemas.microsoft.com/office/drawing/2014/main" id="{8793B3BD-9062-12A8-D496-58B177A58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2985" y="2237899"/>
            <a:ext cx="4080510" cy="2379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5E039D-181C-E96B-5FF7-87E7258AB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5856" y="4617721"/>
            <a:ext cx="1905000" cy="190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F5E834-F3EE-A904-B4DE-E46A209FB087}"/>
              </a:ext>
            </a:extLst>
          </p:cNvPr>
          <p:cNvSpPr txBox="1"/>
          <p:nvPr/>
        </p:nvSpPr>
        <p:spPr>
          <a:xfrm>
            <a:off x="3040856" y="5247055"/>
            <a:ext cx="1291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George David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B5CF93-BFF1-FD9F-651B-4E544589866B}"/>
              </a:ext>
            </a:extLst>
          </p:cNvPr>
          <p:cNvSpPr txBox="1"/>
          <p:nvPr/>
        </p:nvSpPr>
        <p:spPr>
          <a:xfrm>
            <a:off x="6457155" y="5141327"/>
            <a:ext cx="1600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Yuzuru Ito</a:t>
            </a:r>
          </a:p>
        </p:txBody>
      </p:sp>
      <p:pic>
        <p:nvPicPr>
          <p:cNvPr id="2058" name="Picture 10" descr="63,813 Ace Icon Images, Stock Photos ...">
            <a:extLst>
              <a:ext uri="{FF2B5EF4-FFF2-40B4-BE49-F238E27FC236}">
                <a16:creationId xmlns:a16="http://schemas.microsoft.com/office/drawing/2014/main" id="{60017380-F319-9BD8-4A3E-8E7E6193C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1755" y="4577031"/>
            <a:ext cx="1749585" cy="1749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337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6D3C1-66B1-4DF0-3281-69AA55BBA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Global Level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734F9-0F58-16FC-D2DF-F25FF9791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5116" y="1690688"/>
            <a:ext cx="7118683" cy="30256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Multi-domestic </a:t>
            </a:r>
            <a:r>
              <a:rPr lang="en-IN" dirty="0">
                <a:sym typeface="Wingdings" panose="05000000000000000000" pitchFamily="2" charset="2"/>
              </a:rPr>
              <a:t> Each local for it’s own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International </a:t>
            </a:r>
            <a:r>
              <a:rPr lang="en-IN" dirty="0">
                <a:sym typeface="Wingdings" panose="05000000000000000000" pitchFamily="2" charset="2"/>
              </a:rPr>
              <a:t> Some functions are centralized, all else value creation decentralized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Global </a:t>
            </a:r>
            <a:r>
              <a:rPr lang="en-IN" dirty="0">
                <a:sym typeface="Wingdings" panose="05000000000000000000" pitchFamily="2" charset="2"/>
              </a:rPr>
              <a:t> All value creation towards low cost high efficiency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Transnational </a:t>
            </a:r>
            <a:r>
              <a:rPr lang="en-IN" dirty="0">
                <a:sym typeface="Wingdings" panose="05000000000000000000" pitchFamily="2" charset="2"/>
              </a:rPr>
              <a:t> Local responsiveness + cost reduction 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71C995E-08CB-6D7C-2F72-7C9E2B32B723}"/>
              </a:ext>
            </a:extLst>
          </p:cNvPr>
          <p:cNvGrpSpPr/>
          <p:nvPr/>
        </p:nvGrpSpPr>
        <p:grpSpPr>
          <a:xfrm>
            <a:off x="239832" y="1397557"/>
            <a:ext cx="3655187" cy="3732722"/>
            <a:chOff x="239832" y="1397557"/>
            <a:chExt cx="3655187" cy="3732722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E46A907-77D6-810C-1D82-AE5B6DE048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4940" y="1876926"/>
              <a:ext cx="0" cy="283945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7680784-778F-DD57-7D63-521FEDE59231}"/>
                </a:ext>
              </a:extLst>
            </p:cNvPr>
            <p:cNvSpPr txBox="1"/>
            <p:nvPr/>
          </p:nvSpPr>
          <p:spPr>
            <a:xfrm>
              <a:off x="1740573" y="2867342"/>
              <a:ext cx="121438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Need for Co-ordination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251DDAB-22AC-8FF2-F026-2261994B89B1}"/>
                </a:ext>
              </a:extLst>
            </p:cNvPr>
            <p:cNvSpPr txBox="1"/>
            <p:nvPr/>
          </p:nvSpPr>
          <p:spPr>
            <a:xfrm>
              <a:off x="239832" y="3005842"/>
              <a:ext cx="14068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Bureaucratic Costs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2AEFC0F-905C-0629-520F-8F889A5D989B}"/>
                </a:ext>
              </a:extLst>
            </p:cNvPr>
            <p:cNvSpPr txBox="1"/>
            <p:nvPr/>
          </p:nvSpPr>
          <p:spPr>
            <a:xfrm>
              <a:off x="2614861" y="1397557"/>
              <a:ext cx="12801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Low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E1E121F-A348-BFCC-B948-404F04F9235D}"/>
                </a:ext>
              </a:extLst>
            </p:cNvPr>
            <p:cNvSpPr txBox="1"/>
            <p:nvPr/>
          </p:nvSpPr>
          <p:spPr>
            <a:xfrm>
              <a:off x="2614861" y="4760947"/>
              <a:ext cx="12801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High</a:t>
              </a:r>
            </a:p>
          </p:txBody>
        </p:sp>
      </p:grpSp>
      <p:pic>
        <p:nvPicPr>
          <p:cNvPr id="1026" name="Picture 2" descr="Netflix | Terms &amp; Conditions">
            <a:extLst>
              <a:ext uri="{FF2B5EF4-FFF2-40B4-BE49-F238E27FC236}">
                <a16:creationId xmlns:a16="http://schemas.microsoft.com/office/drawing/2014/main" id="{15A78468-0010-37D7-E610-BF98E27F6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583" y="5091112"/>
            <a:ext cx="2847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AP">
            <a:extLst>
              <a:ext uri="{FF2B5EF4-FFF2-40B4-BE49-F238E27FC236}">
                <a16:creationId xmlns:a16="http://schemas.microsoft.com/office/drawing/2014/main" id="{2E8CA832-46BC-8F8A-35E6-37473B77F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669" y="4892675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ohnson &amp; Johnson">
            <a:extLst>
              <a:ext uri="{FF2B5EF4-FFF2-40B4-BE49-F238E27FC236}">
                <a16:creationId xmlns:a16="http://schemas.microsoft.com/office/drawing/2014/main" id="{DE24B9AA-8EF2-4BC2-8EFD-90C9C3124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349" y="5196120"/>
            <a:ext cx="118110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I-generated surveys ...">
            <a:extLst>
              <a:ext uri="{FF2B5EF4-FFF2-40B4-BE49-F238E27FC236}">
                <a16:creationId xmlns:a16="http://schemas.microsoft.com/office/drawing/2014/main" id="{A29952A0-6CAD-CBC8-360A-16C09B74A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3563" y="5167311"/>
            <a:ext cx="2414153" cy="1257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665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6213808-1081-DAD1-A6D6-EC33CD048B94}"/>
              </a:ext>
            </a:extLst>
          </p:cNvPr>
          <p:cNvGrpSpPr/>
          <p:nvPr/>
        </p:nvGrpSpPr>
        <p:grpSpPr>
          <a:xfrm>
            <a:off x="1143000" y="812214"/>
            <a:ext cx="8275320" cy="5233571"/>
            <a:chOff x="571500" y="1131570"/>
            <a:chExt cx="8275320" cy="5233571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4EED206-A1A2-E2B5-924E-545A05EE8A7B}"/>
                </a:ext>
              </a:extLst>
            </p:cNvPr>
            <p:cNvCxnSpPr/>
            <p:nvPr/>
          </p:nvCxnSpPr>
          <p:spPr>
            <a:xfrm flipV="1">
              <a:off x="1988820" y="1131570"/>
              <a:ext cx="0" cy="44691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D10FD36-3E81-989B-2C1F-4CAB3FDCC382}"/>
                </a:ext>
              </a:extLst>
            </p:cNvPr>
            <p:cNvCxnSpPr/>
            <p:nvPr/>
          </p:nvCxnSpPr>
          <p:spPr>
            <a:xfrm>
              <a:off x="1954530" y="5600700"/>
              <a:ext cx="689229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C496371-0E38-5B69-E62E-B52ADDE22004}"/>
                </a:ext>
              </a:extLst>
            </p:cNvPr>
            <p:cNvSpPr txBox="1"/>
            <p:nvPr/>
          </p:nvSpPr>
          <p:spPr>
            <a:xfrm>
              <a:off x="571500" y="3429000"/>
              <a:ext cx="12115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Global Efficiency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214D760-EEA6-AF45-D5B9-C05DAE59F84E}"/>
                </a:ext>
              </a:extLst>
            </p:cNvPr>
            <p:cNvSpPr txBox="1"/>
            <p:nvPr/>
          </p:nvSpPr>
          <p:spPr>
            <a:xfrm>
              <a:off x="5158740" y="5718810"/>
              <a:ext cx="19964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Local Responsiveness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0844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1687</TotalTime>
  <Words>313</Words>
  <Application>Microsoft Office PowerPoint</Application>
  <PresentationFormat>Widescreen</PresentationFormat>
  <Paragraphs>90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ADLaM Display</vt:lpstr>
      <vt:lpstr>Aptos Narrow</vt:lpstr>
      <vt:lpstr>Arial</vt:lpstr>
      <vt:lpstr>Calibri</vt:lpstr>
      <vt:lpstr>Calibri Light</vt:lpstr>
      <vt:lpstr>Times New Roman</vt:lpstr>
      <vt:lpstr>Wingdings</vt:lpstr>
      <vt:lpstr>Office Theme</vt:lpstr>
      <vt:lpstr>Designing Work Organization </vt:lpstr>
      <vt:lpstr>Strategy? </vt:lpstr>
      <vt:lpstr>Core Competency</vt:lpstr>
      <vt:lpstr>Sources?</vt:lpstr>
      <vt:lpstr>Value Creation Cycle</vt:lpstr>
      <vt:lpstr>Strategy Levels</vt:lpstr>
      <vt:lpstr>Business Level Strategy</vt:lpstr>
      <vt:lpstr>Focus Strategy</vt:lpstr>
      <vt:lpstr>https://www.youtube.com/watch?app=desktop&amp;v=iuYlGRnC7J8&amp;ab_channel=HarvardBusinessReview  </vt:lpstr>
      <vt:lpstr>Corporate Level Strategy</vt:lpstr>
      <vt:lpstr>Corporate Strategy + Structure</vt:lpstr>
      <vt:lpstr>PowerPoint Presentation</vt:lpstr>
      <vt:lpstr>Global Level Strategy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Work Organization </dc:title>
  <dc:creator>HP LAPTOP</dc:creator>
  <cp:lastModifiedBy>HP LAPTOP</cp:lastModifiedBy>
  <cp:revision>129</cp:revision>
  <dcterms:created xsi:type="dcterms:W3CDTF">2024-10-18T11:23:31Z</dcterms:created>
  <dcterms:modified xsi:type="dcterms:W3CDTF">2025-11-01T11:01:29Z</dcterms:modified>
</cp:coreProperties>
</file>