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70" r:id="rId11"/>
    <p:sldId id="269" r:id="rId12"/>
    <p:sldId id="268" r:id="rId13"/>
    <p:sldId id="272" r:id="rId14"/>
    <p:sldId id="263" r:id="rId15"/>
    <p:sldId id="264" r:id="rId16"/>
    <p:sldId id="265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6" r:id="rId27"/>
    <p:sldId id="287" r:id="rId28"/>
    <p:sldId id="282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3B8CF-3E08-4272-8654-1AFB08CB931E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3800CE-2E0D-4381-BD0F-6163A1934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961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https://www.youtube.com/watch?v=tJxfJGo-vkI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800CE-2E0D-4381-BD0F-6163A1934A02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962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1CCC-984F-6FAF-FC88-596A4707A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A5026-9FB8-8A91-6895-2D8724D4A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DAE30-E609-9E75-4C6A-A23120562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E3E7-F58A-4203-810E-3A070F2FDEE1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5780A-E206-34A2-E612-D9A50299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363D-1645-E044-7516-579A0F8E1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BF7E-24BF-4F06-8044-2771CDE4B64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5FB5F-5A6B-ECBB-02FE-9B9FC454F2C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80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6A59C-2FF7-11B0-8814-C089EEFB0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7B80E-53D9-0EDB-EA2D-2BA3D8013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6E51D-CF26-ECB5-45BC-0A339E559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E3E7-F58A-4203-810E-3A070F2FDEE1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6C4B8-0160-FD7A-F0FA-5591ABDF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E81A5-00B1-4510-E1DF-E41EF438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BF7E-24BF-4F06-8044-2771CDE4B64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4EA4ED-98B5-1EB5-7640-6D457EB271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262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22E8-0B80-68AA-8452-32F519783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9C778-1D22-6A46-4AE3-55D877D93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6CB0E-40DE-77E0-5A1C-1CCF8387C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E3E7-F58A-4203-810E-3A070F2FDEE1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E46E-8139-99A1-BF8C-855904097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D66D7-E0BA-9558-FCDC-2E61F1373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BF7E-24BF-4F06-8044-2771CDE4B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27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8520-BFB2-28C9-8FC9-FAA32BFEA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35207-7DBD-4BDA-1B8B-17971AE38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2D9DC-AAE5-3D2E-0E76-E4B26AA3F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DC40B-298C-97EA-3FB5-FA4920FE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E3E7-F58A-4203-810E-3A070F2FDEE1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37A31-1A43-2076-8310-3F38DF02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46278-C09B-D8A5-158B-D94BDDA55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BF7E-24BF-4F06-8044-2771CDE4B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75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3D52-A5A5-8AE1-2853-9D24CE06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23C14-F09B-0FBB-2641-85A79629A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BB6B0-9C14-6E51-2943-95B6B908B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E27301-2120-16BC-1416-30E2AA442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5A8082-531A-79C1-58D4-8EE4CE7CF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ED9F43-7BF4-8C48-499B-B4A5FD68C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E3E7-F58A-4203-810E-3A070F2FDEE1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F4E87-CE5E-D34D-3B6A-E937C7920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30EE19-E9C9-6A7F-F905-6C189C95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BF7E-24BF-4F06-8044-2771CDE4B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280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EB61-5ACB-38B2-4154-314860AF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EA18A-B117-9477-3E77-6568FFD5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E3E7-F58A-4203-810E-3A070F2FDEE1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902EA-A6B6-783C-8800-511D936D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428F5-128A-BE57-6A0E-38377290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BF7E-24BF-4F06-8044-2771CDE4B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75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E6AC7-E771-5CCC-374D-A79DA9BBC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E3E7-F58A-4203-810E-3A070F2FDEE1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16FCD1-510A-1C2D-1B17-B2657838C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5C417-7B7B-9649-CF63-3B8A01DAF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BF7E-24BF-4F06-8044-2771CDE4B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938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ADB2C-ECA9-8F97-F506-5EE5CE16A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89EAD-D68E-F09D-2832-8A45C0EE2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6BD0-E89C-40C8-8300-FC9EF1D80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BE212-1C61-6128-DB6A-9C8F23D3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E3E7-F58A-4203-810E-3A070F2FDEE1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87CE7-A52A-199C-D046-C157E512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E8EEE-3381-A7FB-2AB6-6AECC52D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BF7E-24BF-4F06-8044-2771CDE4B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588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0981-04CC-753C-F655-FC19584F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1078FF-5659-FAAB-34D8-4CCCF1E028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A96E4-DF0E-3F05-2460-AEA615E9C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E18ED-E800-0348-CB2C-CB7C0352D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E3E7-F58A-4203-810E-3A070F2FDEE1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E51C0-3876-352A-C938-8BF88465A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4D58A-C241-7745-55A7-4137F80B3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BF7E-24BF-4F06-8044-2771CDE4B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04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BB67E-3C43-08F7-06FB-3ECF41B99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EE26A-7D50-FDBB-820D-3D94CE372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5E75B-FEAE-632A-A851-5D93E37D0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E3E7-F58A-4203-810E-3A070F2FDEE1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7545F-26DF-9D04-E1E6-57FAF2225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67A70-AEA0-FEC1-37E6-062EFDCD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BF7E-24BF-4F06-8044-2771CDE4B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964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50A72-FE02-0459-719F-658CD93955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1A555-6342-19CB-73CB-0978F6E80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619A9-378A-38C3-F76B-25B1EACE4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E3E7-F58A-4203-810E-3A070F2FDEE1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B6E0C-88CE-D5BA-40DA-E9EF7D695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D56C7-4455-5424-7748-5C05BDC9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BF7E-24BF-4F06-8044-2771CDE4B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70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79BF3E-B5A9-38AB-0112-B9676F76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093C5-D461-DF3B-CAAB-8E45A7D36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3B77A-D27F-B0A4-534F-55FE3DCD0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BE3E7-F58A-4203-810E-3A070F2FDEE1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65095-15B1-8F67-5F91-C25603E4A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2FBE1-B9A3-13D1-3F20-24CC63049C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5BF7E-24BF-4F06-8044-2771CDE4B64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5145CD-CE67-0A49-4EAE-969D005FD4B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254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JxfJGo-vk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820F-947D-BBD2-3FDA-3E5BEA16D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368233"/>
            <a:ext cx="11521440" cy="1346517"/>
          </a:xfrm>
        </p:spPr>
        <p:txBody>
          <a:bodyPr>
            <a:normAutofit fontScale="90000"/>
          </a:bodyPr>
          <a:lstStyle/>
          <a:p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Work Organizations</a:t>
            </a:r>
            <a:b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 &amp;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6177A-55A0-DBAC-5D9D-1A22C3488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4811"/>
            <a:ext cx="9144000" cy="68421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Parijat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Lanke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65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17019D-CCD4-4FAC-30D1-0D5BA5B05052}"/>
              </a:ext>
            </a:extLst>
          </p:cNvPr>
          <p:cNvSpPr txBox="1">
            <a:spLocks/>
          </p:cNvSpPr>
          <p:nvPr/>
        </p:nvSpPr>
        <p:spPr>
          <a:xfrm>
            <a:off x="838200" y="1256665"/>
            <a:ext cx="10515600" cy="1109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Organization?</a:t>
            </a:r>
          </a:p>
        </p:txBody>
      </p:sp>
    </p:spTree>
    <p:extLst>
      <p:ext uri="{BB962C8B-B14F-4D97-AF65-F5344CB8AC3E}">
        <p14:creationId xmlns:p14="http://schemas.microsoft.com/office/powerpoint/2010/main" val="2407585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57D40-3C46-5664-254C-3CC97A1F6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235"/>
            <a:ext cx="10515600" cy="1109345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Creation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76AF31-CE2D-6C73-AB46-F41364E28BA0}"/>
              </a:ext>
            </a:extLst>
          </p:cNvPr>
          <p:cNvGrpSpPr/>
          <p:nvPr/>
        </p:nvGrpSpPr>
        <p:grpSpPr>
          <a:xfrm>
            <a:off x="422911" y="2053030"/>
            <a:ext cx="4996457" cy="3513380"/>
            <a:chOff x="2994661" y="1509528"/>
            <a:chExt cx="4996457" cy="187790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56D5243-7032-B24C-81EB-52804EA8DEE7}"/>
                </a:ext>
              </a:extLst>
            </p:cNvPr>
            <p:cNvGrpSpPr/>
            <p:nvPr/>
          </p:nvGrpSpPr>
          <p:grpSpPr>
            <a:xfrm>
              <a:off x="2994661" y="1509528"/>
              <a:ext cx="4996457" cy="1877902"/>
              <a:chOff x="2994661" y="1509528"/>
              <a:chExt cx="4996457" cy="187790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92F01D0-E7F2-7D9E-2ED2-5CC4E32D8640}"/>
                  </a:ext>
                </a:extLst>
              </p:cNvPr>
              <p:cNvSpPr/>
              <p:nvPr/>
            </p:nvSpPr>
            <p:spPr>
              <a:xfrm>
                <a:off x="3211200" y="1509529"/>
                <a:ext cx="1932300" cy="616451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  <a:p>
                <a:pPr algn="ctr"/>
                <a:r>
                  <a:rPr lang="en-IN" dirty="0"/>
                  <a:t>Inputs</a:t>
                </a:r>
              </a:p>
              <a:p>
                <a:pPr algn="ctr"/>
                <a:endParaRPr lang="en-IN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30034DA-395C-E622-24CA-C1FF40DF59F3}"/>
                  </a:ext>
                </a:extLst>
              </p:cNvPr>
              <p:cNvSpPr/>
              <p:nvPr/>
            </p:nvSpPr>
            <p:spPr>
              <a:xfrm>
                <a:off x="6323888" y="1509528"/>
                <a:ext cx="1564361" cy="616451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  <a:p>
                <a:pPr algn="ctr"/>
                <a:r>
                  <a:rPr lang="en-IN" dirty="0"/>
                  <a:t>Process</a:t>
                </a:r>
              </a:p>
              <a:p>
                <a:pPr algn="ctr"/>
                <a:endParaRPr lang="en-IN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838F65E-E654-FFED-8E5A-D7B852147F14}"/>
                  </a:ext>
                </a:extLst>
              </p:cNvPr>
              <p:cNvSpPr/>
              <p:nvPr/>
            </p:nvSpPr>
            <p:spPr>
              <a:xfrm>
                <a:off x="6221017" y="2770979"/>
                <a:ext cx="1770101" cy="616451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  <a:p>
                <a:pPr algn="ctr"/>
                <a:r>
                  <a:rPr lang="en-IN" dirty="0"/>
                  <a:t>Output</a:t>
                </a:r>
              </a:p>
              <a:p>
                <a:pPr algn="ctr"/>
                <a:endParaRPr lang="en-IN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C49F4B4-2829-CA32-5E50-98698243E54A}"/>
                  </a:ext>
                </a:extLst>
              </p:cNvPr>
              <p:cNvSpPr/>
              <p:nvPr/>
            </p:nvSpPr>
            <p:spPr>
              <a:xfrm>
                <a:off x="2994661" y="2770979"/>
                <a:ext cx="2335228" cy="57800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Environment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0B24429-60BA-E5A8-C704-95F8821AB603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 flipV="1">
              <a:off x="5143500" y="1817754"/>
              <a:ext cx="118038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D949DD9-7020-FB84-5FA5-77D08CC539BF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 flipH="1">
              <a:off x="7106068" y="2125979"/>
              <a:ext cx="1" cy="645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7F62FEA-003E-D3BF-480E-5064E89C9138}"/>
                </a:ext>
              </a:extLst>
            </p:cNvPr>
            <p:cNvCxnSpPr>
              <a:cxnSpLocks/>
              <a:stCxn id="9" idx="1"/>
              <a:endCxn id="10" idx="3"/>
            </p:cNvCxnSpPr>
            <p:nvPr/>
          </p:nvCxnSpPr>
          <p:spPr>
            <a:xfrm flipH="1" flipV="1">
              <a:off x="5329889" y="3059984"/>
              <a:ext cx="891128" cy="192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2AAB14B-5B76-CF88-4170-E704CC1DFC62}"/>
                </a:ext>
              </a:extLst>
            </p:cNvPr>
            <p:cNvCxnSpPr>
              <a:cxnSpLocks/>
              <a:stCxn id="10" idx="0"/>
              <a:endCxn id="6" idx="2"/>
            </p:cNvCxnSpPr>
            <p:nvPr/>
          </p:nvCxnSpPr>
          <p:spPr>
            <a:xfrm flipV="1">
              <a:off x="4162275" y="2125980"/>
              <a:ext cx="15075" cy="6449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B12AC09A-3DB1-ABB6-F0F0-1F111C4D2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53272"/>
            <a:ext cx="5767171" cy="451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4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B612-6321-AF28-93DB-DD0DC9193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515"/>
            <a:ext cx="10515600" cy="823595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they Exist?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40E12-90CA-E2A1-350B-9D32B9A3DB13}"/>
              </a:ext>
            </a:extLst>
          </p:cNvPr>
          <p:cNvSpPr txBox="1"/>
          <p:nvPr/>
        </p:nvSpPr>
        <p:spPr>
          <a:xfrm>
            <a:off x="1040130" y="1943100"/>
            <a:ext cx="262890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Cooperation 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B58EF-8225-D6DD-877B-F06A07A25FA5}"/>
              </a:ext>
            </a:extLst>
          </p:cNvPr>
          <p:cNvSpPr txBox="1"/>
          <p:nvPr/>
        </p:nvSpPr>
        <p:spPr>
          <a:xfrm>
            <a:off x="4781550" y="1904920"/>
            <a:ext cx="262890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Efforts &lt; Pay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FB762-B947-DB52-AC2D-23BF63E75E4C}"/>
              </a:ext>
            </a:extLst>
          </p:cNvPr>
          <p:cNvSpPr txBox="1"/>
          <p:nvPr/>
        </p:nvSpPr>
        <p:spPr>
          <a:xfrm>
            <a:off x="8260080" y="1512212"/>
            <a:ext cx="3295650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and Explicitly Defined Goal? Really?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505FB84-0871-66BB-5559-15366C1EBDF2}"/>
              </a:ext>
            </a:extLst>
          </p:cNvPr>
          <p:cNvGrpSpPr/>
          <p:nvPr/>
        </p:nvGrpSpPr>
        <p:grpSpPr>
          <a:xfrm>
            <a:off x="361038" y="4148950"/>
            <a:ext cx="6714131" cy="2024250"/>
            <a:chOff x="1539186" y="4228960"/>
            <a:chExt cx="9248828" cy="202425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523ABB-8AA6-4564-2970-FD1E4BD7F5AB}"/>
                </a:ext>
              </a:extLst>
            </p:cNvPr>
            <p:cNvSpPr txBox="1"/>
            <p:nvPr/>
          </p:nvSpPr>
          <p:spPr>
            <a:xfrm>
              <a:off x="1539186" y="4228960"/>
              <a:ext cx="9248828" cy="5232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Transaction Costs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2ACED35-59B1-2E3F-C710-F8E401375AA0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3166110" y="4752180"/>
              <a:ext cx="2997490" cy="8713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A3F068B-CE6E-4E24-A964-5AA41A2EF4EC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6096000" y="4752180"/>
              <a:ext cx="67600" cy="8713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925E0CB-F850-C36B-17F5-FBAFDD4767B2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6163601" y="4752180"/>
              <a:ext cx="2862288" cy="8713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DD138C3-D974-00FD-C00A-CD5E1D0651E6}"/>
                </a:ext>
              </a:extLst>
            </p:cNvPr>
            <p:cNvSpPr txBox="1"/>
            <p:nvPr/>
          </p:nvSpPr>
          <p:spPr>
            <a:xfrm>
              <a:off x="1851660" y="5627285"/>
              <a:ext cx="2628900" cy="5232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Market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81D5FE-B64C-BDD6-82A1-1540A35E68BD}"/>
                </a:ext>
              </a:extLst>
            </p:cNvPr>
            <p:cNvSpPr txBox="1"/>
            <p:nvPr/>
          </p:nvSpPr>
          <p:spPr>
            <a:xfrm>
              <a:off x="4781549" y="5729990"/>
              <a:ext cx="2929889" cy="5232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Bureaucracy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79CD833-54AC-F59E-9D9A-D675A119A918}"/>
                </a:ext>
              </a:extLst>
            </p:cNvPr>
            <p:cNvSpPr txBox="1"/>
            <p:nvPr/>
          </p:nvSpPr>
          <p:spPr>
            <a:xfrm>
              <a:off x="8031480" y="5729990"/>
              <a:ext cx="2628900" cy="5232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Clans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9520D78-5C5A-BA9F-AB1F-CA3A21839FF5}"/>
              </a:ext>
            </a:extLst>
          </p:cNvPr>
          <p:cNvSpPr txBox="1"/>
          <p:nvPr/>
        </p:nvSpPr>
        <p:spPr>
          <a:xfrm>
            <a:off x="7681871" y="3553588"/>
            <a:ext cx="4149090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Contracts:</a:t>
            </a:r>
          </a:p>
          <a:p>
            <a:pPr marL="514350" indent="-514350" algn="ctr">
              <a:buAutoNum type="alphaL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 Market Contract</a:t>
            </a:r>
          </a:p>
          <a:p>
            <a:pPr marL="514350" indent="-514350" algn="ctr">
              <a:buAutoNum type="alphaL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Contingent Claim Contract</a:t>
            </a:r>
          </a:p>
          <a:p>
            <a:pPr marL="514350" indent="-514350" algn="ctr">
              <a:buAutoNum type="alphaL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Spot Contracting</a:t>
            </a:r>
          </a:p>
        </p:txBody>
      </p:sp>
    </p:spTree>
    <p:extLst>
      <p:ext uri="{BB962C8B-B14F-4D97-AF65-F5344CB8AC3E}">
        <p14:creationId xmlns:p14="http://schemas.microsoft.com/office/powerpoint/2010/main" val="347672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3552F-5001-A772-DFB9-63956FA9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Market’s Fail?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6F76E-38C6-D4BA-3230-A41D6A5F0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724"/>
          <a:stretch/>
        </p:blipFill>
        <p:spPr>
          <a:xfrm>
            <a:off x="712470" y="1773375"/>
            <a:ext cx="10767060" cy="279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1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CA2B9D-1443-FF29-A1D2-0D6BABAE6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919" y="609123"/>
            <a:ext cx="11038162" cy="5639753"/>
          </a:xfrm>
        </p:spPr>
      </p:pic>
    </p:spTree>
    <p:extLst>
      <p:ext uri="{BB962C8B-B14F-4D97-AF65-F5344CB8AC3E}">
        <p14:creationId xmlns:p14="http://schemas.microsoft.com/office/powerpoint/2010/main" val="307521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BAF0FB-BF80-D8E7-4064-60BB54A4A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5045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Jones Say, Why Org. Exist?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774280-CC06-3695-64E3-D7AE2DF1D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561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Increase Specialization and Division of Labor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Large Scale Technology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the External Environment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Economize on Transaction Costs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Exert Power and Control </a:t>
            </a:r>
          </a:p>
        </p:txBody>
      </p:sp>
    </p:spTree>
    <p:extLst>
      <p:ext uri="{BB962C8B-B14F-4D97-AF65-F5344CB8AC3E}">
        <p14:creationId xmlns:p14="http://schemas.microsoft.com/office/powerpoint/2010/main" val="80716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B985-3293-FCFC-E22C-443098728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Organization Theory?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9058-FB78-CA62-66CE-CB598D01B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614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of how organizations function and how they affect and are affected by the environment in which they operate.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DEF4A1-1305-B813-7C7B-80FCAB0EF02F}"/>
              </a:ext>
            </a:extLst>
          </p:cNvPr>
          <p:cNvSpPr txBox="1">
            <a:spLocks/>
          </p:cNvSpPr>
          <p:nvPr/>
        </p:nvSpPr>
        <p:spPr>
          <a:xfrm>
            <a:off x="838200" y="32150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Gaining Competitive Advantage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FE0A38-0D03-3071-9CC9-CC89A0336040}"/>
              </a:ext>
            </a:extLst>
          </p:cNvPr>
          <p:cNvSpPr txBox="1">
            <a:spLocks/>
          </p:cNvSpPr>
          <p:nvPr/>
        </p:nvSpPr>
        <p:spPr>
          <a:xfrm>
            <a:off x="838200" y="5023803"/>
            <a:ext cx="10515600" cy="9061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outperform competitors by value creation and resource management</a:t>
            </a:r>
          </a:p>
        </p:txBody>
      </p:sp>
    </p:spTree>
    <p:extLst>
      <p:ext uri="{BB962C8B-B14F-4D97-AF65-F5344CB8AC3E}">
        <p14:creationId xmlns:p14="http://schemas.microsoft.com/office/powerpoint/2010/main" val="3082860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8FE7-32EE-70EB-1936-05F45F369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Costs and the Choice for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5B3E5-0C96-DECD-5D05-FFFCD3F9D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6145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and When do organizations be OK with higher transaction costs or rather transact in a market vis a vis within the company?</a:t>
            </a:r>
          </a:p>
          <a:p>
            <a:pPr marL="0" indent="0" algn="ctr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E1A70A-849D-D986-BEB3-17F8DD92AD9F}"/>
              </a:ext>
            </a:extLst>
          </p:cNvPr>
          <p:cNvSpPr txBox="1">
            <a:spLocks/>
          </p:cNvSpPr>
          <p:nvPr/>
        </p:nvSpPr>
        <p:spPr>
          <a:xfrm>
            <a:off x="-118110" y="3139599"/>
            <a:ext cx="6099810" cy="150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ctr">
              <a:buFont typeface="Arial" panose="020B0604020202020204" pitchFamily="34" charset="0"/>
              <a:buAutoNum type="alpha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Assets </a:t>
            </a:r>
          </a:p>
          <a:p>
            <a:pPr marL="514350" indent="-514350" algn="ctr">
              <a:buFont typeface="Arial" panose="020B0604020202020204" pitchFamily="34" charset="0"/>
              <a:buAutoNum type="alpha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 of Uncertainty</a:t>
            </a:r>
          </a:p>
          <a:p>
            <a:pPr marL="514350" indent="-514350" algn="ctr">
              <a:buFont typeface="Arial" panose="020B0604020202020204" pitchFamily="34" charset="0"/>
              <a:buAutoNum type="alpha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Exchange Partners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2867A-AE52-9CDC-9771-32931911B2B8}"/>
              </a:ext>
            </a:extLst>
          </p:cNvPr>
          <p:cNvSpPr txBox="1"/>
          <p:nvPr/>
        </p:nvSpPr>
        <p:spPr>
          <a:xfrm>
            <a:off x="5855970" y="3199417"/>
            <a:ext cx="55968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mechanisms come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your mind when managing Transaction Costs?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FA60A-33CA-A667-530A-8FAB21462572}"/>
              </a:ext>
            </a:extLst>
          </p:cNvPr>
          <p:cNvSpPr txBox="1"/>
          <p:nvPr/>
        </p:nvSpPr>
        <p:spPr>
          <a:xfrm>
            <a:off x="1813560" y="5219044"/>
            <a:ext cx="2952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Outsourcing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36CD9B-154B-1DE7-E087-89A128012843}"/>
              </a:ext>
            </a:extLst>
          </p:cNvPr>
          <p:cNvSpPr txBox="1"/>
          <p:nvPr/>
        </p:nvSpPr>
        <p:spPr>
          <a:xfrm>
            <a:off x="5193030" y="5219044"/>
            <a:ext cx="2442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Franchising</a:t>
            </a:r>
            <a:endParaRPr lang="en-IN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CC9B81-23F0-DA1B-799B-A43D24F6B2CF}"/>
              </a:ext>
            </a:extLst>
          </p:cNvPr>
          <p:cNvSpPr txBox="1"/>
          <p:nvPr/>
        </p:nvSpPr>
        <p:spPr>
          <a:xfrm>
            <a:off x="8328662" y="5219044"/>
            <a:ext cx="18668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Keiretsu </a:t>
            </a:r>
          </a:p>
        </p:txBody>
      </p:sp>
    </p:spTree>
    <p:extLst>
      <p:ext uri="{BB962C8B-B14F-4D97-AF65-F5344CB8AC3E}">
        <p14:creationId xmlns:p14="http://schemas.microsoft.com/office/powerpoint/2010/main" val="63261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s the keiretsu system in Japan's automobile industry really losing  importance?">
            <a:extLst>
              <a:ext uri="{FF2B5EF4-FFF2-40B4-BE49-F238E27FC236}">
                <a16:creationId xmlns:a16="http://schemas.microsoft.com/office/drawing/2014/main" id="{65700E2F-BB6F-7D8B-A0D3-EDEF77B54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" y="274320"/>
            <a:ext cx="11407140" cy="621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0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E1E89-DB9F-EBCA-A09C-55923739E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499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Factors of Uncertainty in Environment</a:t>
            </a:r>
          </a:p>
        </p:txBody>
      </p:sp>
      <p:pic>
        <p:nvPicPr>
          <p:cNvPr id="1026" name="Picture 2" descr="Organizing in a Changing Global - ppt download">
            <a:extLst>
              <a:ext uri="{FF2B5EF4-FFF2-40B4-BE49-F238E27FC236}">
                <a16:creationId xmlns:a16="http://schemas.microsoft.com/office/drawing/2014/main" id="{87380AC2-D9BF-7C07-41F4-8E4FB7115F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1" t="22749" r="14344" b="9715"/>
          <a:stretch/>
        </p:blipFill>
        <p:spPr bwMode="auto">
          <a:xfrm>
            <a:off x="6747510" y="2279968"/>
            <a:ext cx="460629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1915DB-6669-3693-A52C-B483790D84FC}"/>
              </a:ext>
            </a:extLst>
          </p:cNvPr>
          <p:cNvSpPr txBox="1"/>
          <p:nvPr/>
        </p:nvSpPr>
        <p:spPr>
          <a:xfrm>
            <a:off x="1093333" y="1496646"/>
            <a:ext cx="4423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Types of Organizational Environment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729E5-D149-8DE8-DD0E-015F600432FD}"/>
              </a:ext>
            </a:extLst>
          </p:cNvPr>
          <p:cNvSpPr txBox="1"/>
          <p:nvPr/>
        </p:nvSpPr>
        <p:spPr>
          <a:xfrm>
            <a:off x="3585210" y="5985808"/>
            <a:ext cx="4831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Systems Approach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9ED1F5-E97B-37CA-BE68-118779F2D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33" y="1959928"/>
            <a:ext cx="4575947" cy="389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37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DF03-52F6-E64D-B673-E82269B57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AGENCY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B1744-25B6-28A0-53D4-83747565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510" y="1878171"/>
            <a:ext cx="10515600" cy="266636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Fiduciary Responsibility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 Hazard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Resolve?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28AFC1-25FC-E7C6-ED75-DF5A0E8B517D}"/>
              </a:ext>
            </a:extLst>
          </p:cNvPr>
          <p:cNvSpPr txBox="1">
            <a:spLocks/>
          </p:cNvSpPr>
          <p:nvPr/>
        </p:nvSpPr>
        <p:spPr>
          <a:xfrm>
            <a:off x="838200" y="4732020"/>
            <a:ext cx="10515600" cy="1535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ABFFD-A3CC-EED9-23FF-D1DFF904766A}"/>
              </a:ext>
            </a:extLst>
          </p:cNvPr>
          <p:cNvSpPr txBox="1"/>
          <p:nvPr/>
        </p:nvSpPr>
        <p:spPr>
          <a:xfrm>
            <a:off x="998220" y="4914761"/>
            <a:ext cx="10195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 Mechanisms</a:t>
            </a:r>
          </a:p>
        </p:txBody>
      </p:sp>
    </p:spTree>
    <p:extLst>
      <p:ext uri="{BB962C8B-B14F-4D97-AF65-F5344CB8AC3E}">
        <p14:creationId xmlns:p14="http://schemas.microsoft.com/office/powerpoint/2010/main" val="90516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082BF-08AE-DC81-CE0D-BC4FA637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67957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Imagine a YouTube Channel, How will you measure it’s Effectiveness?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027B0-2015-2901-73AF-4274EDCE3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1969"/>
            <a:ext cx="10515600" cy="662941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Now Compare it with a B-School</a:t>
            </a:r>
          </a:p>
        </p:txBody>
      </p:sp>
    </p:spTree>
    <p:extLst>
      <p:ext uri="{BB962C8B-B14F-4D97-AF65-F5344CB8AC3E}">
        <p14:creationId xmlns:p14="http://schemas.microsoft.com/office/powerpoint/2010/main" val="37534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BACC4-B8E7-3736-6D0C-370506C5D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E320-39CF-C629-7FA5-CA6ACEED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Resource Approach:- Secure, Manage, and Control Scarce And Valued Skills And Resources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Systems Approach:- Ability to be Innovative and Function Quickly And Responsively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Approach:- Converting Skills and Resources into Goods And Services Efficiently</a:t>
            </a:r>
          </a:p>
        </p:txBody>
      </p:sp>
    </p:spTree>
    <p:extLst>
      <p:ext uri="{BB962C8B-B14F-4D97-AF65-F5344CB8AC3E}">
        <p14:creationId xmlns:p14="http://schemas.microsoft.com/office/powerpoint/2010/main" val="2507185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E2771-D8D8-934A-25D3-2132AF0C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6208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Discuss the Outline</a:t>
            </a:r>
          </a:p>
        </p:txBody>
      </p:sp>
    </p:spTree>
    <p:extLst>
      <p:ext uri="{BB962C8B-B14F-4D97-AF65-F5344CB8AC3E}">
        <p14:creationId xmlns:p14="http://schemas.microsoft.com/office/powerpoint/2010/main" val="2867573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9E776-AAD1-B1AB-7BDE-D9D98B67C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we all here?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55CB5-021F-4334-B44A-34DB4A444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607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AB9E2-092E-4E27-D9B1-1C5CCB306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111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Henry Mintzberg and Org. Design	</a:t>
            </a:r>
          </a:p>
        </p:txBody>
      </p:sp>
    </p:spTree>
    <p:extLst>
      <p:ext uri="{BB962C8B-B14F-4D97-AF65-F5344CB8AC3E}">
        <p14:creationId xmlns:p14="http://schemas.microsoft.com/office/powerpoint/2010/main" val="720937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73EFCA-D774-2EA8-9322-F161AE23D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" y="480601"/>
            <a:ext cx="10732770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86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1D13-605E-5CA8-CC70-077CB5026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D8581-5BDB-1707-2240-4322F78CE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83658B-8019-2F34-692F-81D98E120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365124"/>
            <a:ext cx="11784330" cy="612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00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0AEDD-5C7E-5F85-6C99-1A42B9BBE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The Design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F5F86-B4CB-B4A5-805E-C7B390C88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Differentiation vs. Integration </a:t>
            </a:r>
          </a:p>
          <a:p>
            <a:endParaRPr lang="en-IN" dirty="0"/>
          </a:p>
          <a:p>
            <a:r>
              <a:rPr lang="en-IN" dirty="0"/>
              <a:t>Mechanistic vs. Organic (environmental uncertainty)</a:t>
            </a:r>
          </a:p>
          <a:p>
            <a:endParaRPr lang="en-IN" dirty="0"/>
          </a:p>
          <a:p>
            <a:r>
              <a:rPr lang="en-IN" dirty="0"/>
              <a:t>S.O.P. vs. Adjustments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0643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F0B9-1A15-3513-EEF2-68FFCBA4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93539-4F5A-9DA2-A724-C696E7200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Differentiation &amp; Integration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Centralization &amp; Decentralization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S.O.P. &amp; Mutual Adjustment</a:t>
            </a:r>
          </a:p>
        </p:txBody>
      </p:sp>
    </p:spTree>
    <p:extLst>
      <p:ext uri="{BB962C8B-B14F-4D97-AF65-F5344CB8AC3E}">
        <p14:creationId xmlns:p14="http://schemas.microsoft.com/office/powerpoint/2010/main" val="2435303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55DE-BFAC-0118-0482-6EE656619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45357-843B-52EB-8168-372DBC029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Differentiation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Differentiation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one better than other?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Differentiation?</a:t>
            </a:r>
          </a:p>
        </p:txBody>
      </p:sp>
    </p:spTree>
    <p:extLst>
      <p:ext uri="{BB962C8B-B14F-4D97-AF65-F5344CB8AC3E}">
        <p14:creationId xmlns:p14="http://schemas.microsoft.com/office/powerpoint/2010/main" val="2015291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92F4D-BD73-AC35-8D36-B50A353C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Mechanisms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1D114-BA7F-2591-2AFD-262D2FDA3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 of Authority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Contact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Liaison Role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Force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Role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Department</a:t>
            </a:r>
          </a:p>
        </p:txBody>
      </p:sp>
    </p:spTree>
    <p:extLst>
      <p:ext uri="{BB962C8B-B14F-4D97-AF65-F5344CB8AC3E}">
        <p14:creationId xmlns:p14="http://schemas.microsoft.com/office/powerpoint/2010/main" val="3832070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79E1-DE5F-1DEE-37DE-B719DA5C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Centralization vs. Decentralization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00CA8-8247-124E-B540-3DA26CF80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09009"/>
            <a:ext cx="10515600" cy="62865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gets to make decisions?</a:t>
            </a:r>
          </a:p>
        </p:txBody>
      </p:sp>
    </p:spTree>
    <p:extLst>
      <p:ext uri="{BB962C8B-B14F-4D97-AF65-F5344CB8AC3E}">
        <p14:creationId xmlns:p14="http://schemas.microsoft.com/office/powerpoint/2010/main" val="1975288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41ABB-146F-F917-89D5-30C3A34E1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330" y="2766218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Mechanistic  -------------- Organic</a:t>
            </a:r>
          </a:p>
        </p:txBody>
      </p:sp>
    </p:spTree>
    <p:extLst>
      <p:ext uri="{BB962C8B-B14F-4D97-AF65-F5344CB8AC3E}">
        <p14:creationId xmlns:p14="http://schemas.microsoft.com/office/powerpoint/2010/main" val="2212346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E577-7521-E3A2-FABC-97565795A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F3DE8-AA29-E18E-7FF9-A0BB4EA63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Organization/management centric</a:t>
            </a:r>
          </a:p>
          <a:p>
            <a:endParaRPr lang="en-IN" dirty="0"/>
          </a:p>
          <a:p>
            <a:r>
              <a:rPr lang="en-IN" dirty="0"/>
              <a:t>Crowd centric </a:t>
            </a:r>
          </a:p>
          <a:p>
            <a:endParaRPr lang="en-IN" dirty="0"/>
          </a:p>
          <a:p>
            <a:r>
              <a:rPr lang="en-IN" dirty="0"/>
              <a:t>Employee centric (</a:t>
            </a:r>
            <a:r>
              <a:rPr lang="en-IN" dirty="0">
                <a:hlinkClick r:id="rId3"/>
              </a:rPr>
              <a:t>https://www.youtube.com/watch?v=tJxfJGo-vkI</a:t>
            </a:r>
            <a:r>
              <a:rPr lang="en-IN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800385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4D54-8119-37DC-3D33-DF52C6AA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Organigraph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B6180D-10BE-A529-2C93-73A52F4B1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6365" y="2731496"/>
            <a:ext cx="1657581" cy="164805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7DD536-D15E-EF66-A598-9D9E88E64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765" y="2768255"/>
            <a:ext cx="2289959" cy="1325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D16C56-A570-7BD6-ACA2-572F2F1F5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424" y="2371577"/>
            <a:ext cx="1762371" cy="2114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99CB79-90A5-48F4-CD6C-E0C8E09DD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324" y="2609734"/>
            <a:ext cx="1800476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9546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19BB4A-68C4-7153-65C7-DCAF3ACB4B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922" r="-731"/>
          <a:stretch/>
        </p:blipFill>
        <p:spPr>
          <a:xfrm>
            <a:off x="569007" y="308610"/>
            <a:ext cx="11021013" cy="61842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C94E1F-8E62-FFD2-B483-E56D909B834E}"/>
              </a:ext>
            </a:extLst>
          </p:cNvPr>
          <p:cNvSpPr/>
          <p:nvPr/>
        </p:nvSpPr>
        <p:spPr>
          <a:xfrm>
            <a:off x="10869930" y="491490"/>
            <a:ext cx="868680" cy="788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794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94E07-A925-8EAF-CE53-5E3A32008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2CF01-AB53-554D-4A94-15AE97625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583DA0-19F3-56D3-FD90-A90D2A334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2" y="216535"/>
            <a:ext cx="11376278" cy="596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459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3900</TotalTime>
  <Words>428</Words>
  <Application>Microsoft Office PowerPoint</Application>
  <PresentationFormat>Widescreen</PresentationFormat>
  <Paragraphs>109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ADLaM Display</vt:lpstr>
      <vt:lpstr>Arial</vt:lpstr>
      <vt:lpstr>Calibri</vt:lpstr>
      <vt:lpstr>Calibri Light</vt:lpstr>
      <vt:lpstr>Times New Roman</vt:lpstr>
      <vt:lpstr>Office Theme</vt:lpstr>
      <vt:lpstr>Designing Work Organizations  Session 1 &amp; 2</vt:lpstr>
      <vt:lpstr>PowerPoint Presentation</vt:lpstr>
      <vt:lpstr>Value Creation</vt:lpstr>
      <vt:lpstr>Why Do they Exist?</vt:lpstr>
      <vt:lpstr>Why Do Market’s Fail?</vt:lpstr>
      <vt:lpstr>PowerPoint Presentation</vt:lpstr>
      <vt:lpstr>What does Jones Say, Why Org. Exist?</vt:lpstr>
      <vt:lpstr>What is Organization Theory?</vt:lpstr>
      <vt:lpstr>Transaction Costs and the Choice for it!</vt:lpstr>
      <vt:lpstr>PowerPoint Presentation</vt:lpstr>
      <vt:lpstr>Three Factors of Uncertainty in Environment</vt:lpstr>
      <vt:lpstr>AGENCY THEORY</vt:lpstr>
      <vt:lpstr>Imagine a YouTube Channel, How will you measure it’s Effectiveness?</vt:lpstr>
      <vt:lpstr>Measuring Effectiveness</vt:lpstr>
      <vt:lpstr>Let’s Discuss the Outline</vt:lpstr>
      <vt:lpstr>Why are we all here?</vt:lpstr>
      <vt:lpstr>Henry Mintzberg and Org. Design </vt:lpstr>
      <vt:lpstr>PowerPoint Presentation</vt:lpstr>
      <vt:lpstr>PowerPoint Presentation</vt:lpstr>
      <vt:lpstr>The Design Choices</vt:lpstr>
      <vt:lpstr>Design Choices</vt:lpstr>
      <vt:lpstr>Differentiation</vt:lpstr>
      <vt:lpstr>Integration Mechanisms </vt:lpstr>
      <vt:lpstr>Centralization vs. Decentralization</vt:lpstr>
      <vt:lpstr>Mechanistic  -------------- Organic</vt:lpstr>
      <vt:lpstr>Structure Types</vt:lpstr>
      <vt:lpstr>Organigraph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LAPTOP</dc:creator>
  <cp:lastModifiedBy>HP LAPTOP</cp:lastModifiedBy>
  <cp:revision>82</cp:revision>
  <dcterms:created xsi:type="dcterms:W3CDTF">2024-10-04T03:57:01Z</dcterms:created>
  <dcterms:modified xsi:type="dcterms:W3CDTF">2025-10-13T07:36:30Z</dcterms:modified>
</cp:coreProperties>
</file>